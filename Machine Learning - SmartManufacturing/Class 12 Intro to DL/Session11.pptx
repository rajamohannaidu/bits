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214747250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FF00"/>
    <a:srgbClr val="E6E7E9"/>
    <a:srgbClr val="EAE3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80" autoAdjust="0"/>
    <p:restoredTop sz="87739" autoAdjust="0"/>
  </p:normalViewPr>
  <p:slideViewPr>
    <p:cSldViewPr snapToGrid="0">
      <p:cViewPr varScale="1">
        <p:scale>
          <a:sx n="69" d="100"/>
          <a:sy n="69" d="100"/>
        </p:scale>
        <p:origin x="69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7T09:15:09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5345 8043 0,'17'0'47,"1"0"-32,-1-35 1,-17-106-1,0-35 1,0-1 0,0 89-16,0 0 15,0-71 1,0 88-16,0 54 16,0-36-1,36 53 110,-19 0-109,1 70-16,17 1 15,-17 70 1,0-88 0,-18 0-1,0-35 1,0 35 0,17-36 30,19 36-14,-36-35-17,17 17 1,-17 0 0,18-17-1,-18 0 32</inkml:trace>
  <inkml:trace contextRef="#ctx0" brushRef="#br0" timeOffset="577.16">5380 7708 0,'35'-17'141,"-17"17"-126,35-18 1,0-17 0,-18 35-1,-17 0 1,17 0 0</inkml:trace>
  <inkml:trace contextRef="#ctx0" brushRef="#br0" timeOffset="2370.31">5997 6738 0,'-53'71'94,"18"34"-63,17-34-15,18 17 0,-35-17-1,35 52 1,-18-88 0,18 36-1,0-36 1,0-17-1,0 17 1,18 1 0,35-19-1,18 36 1,-19-53 31,-16 0-32,17 0 17,17 0-17,-52 0 1,52 0 0,-52-53-1,-18 18 1,0 0-1,0 17 1,-35 0 0,-18 18 15,18 0 0,-1 0-31,-17 0 31,36 0-15,105-35 93,106-18-93,-123-17-16,-19 52 16,-34 18-16,-18 35 156,0 0-140,0 54-1,0-54 1,0 0-16,0 1 15,0-19 1,0 1 0,18-1 46</inkml:trace>
  <inkml:trace contextRef="#ctx0" brushRef="#br0" timeOffset="2611.4">6509 7549 0</inkml:trace>
  <inkml:trace contextRef="#ctx0" brushRef="#br0" timeOffset="3687">6756 6403 0,'17'53'63,"89"141"-48,-88-53 1,52 35 0,-52-87-16,0-1 15,17-53 1,-35 0-1,0 1 1,0-1 0,18-18-1,-1 19 1,1-1 15</inkml:trace>
  <inkml:trace contextRef="#ctx0" brushRef="#br0" timeOffset="4482.46">6632 6509 0,'0'-18'78,"141"-35"-47,-123 53-31,35 0 31,-35-17 1,17 17 46,-18-36-63</inkml:trace>
  <inkml:trace contextRef="#ctx0" brushRef="#br0" timeOffset="5731.11">6932 7355 0,'18'0'94,"-1"-17"-79,19 17 1,-19 0 15,54-18 16,-54 18-16,1 0 16,17-35 0,-17 35 62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1B124-F008-4812-8C3C-7322EF152ED0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1699-4C5C-4635-94E5-5AE39DBEB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9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28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39EE-BEB5-0079-9C80-D6F7B1A5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64489-06DF-F584-A69D-BD6B101D8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E6C30-7CA3-B3EB-6D73-751D400C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73E0A-C318-2789-EEEA-2AF36EA5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05C6F-9384-4208-1997-F93EBF45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3DE48-7822-1E24-B416-B3251EDCDC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118" t="1" b="3444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AFBFD7-14B8-9F8C-6A48-89B02501B7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5902045"/>
            <a:ext cx="688908" cy="6828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C87F8E4-8551-96AB-41F7-F767124BC93E}"/>
              </a:ext>
            </a:extLst>
          </p:cNvPr>
          <p:cNvSpPr/>
          <p:nvPr userDrawn="1"/>
        </p:nvSpPr>
        <p:spPr>
          <a:xfrm>
            <a:off x="3733800" y="1524794"/>
            <a:ext cx="8458200" cy="1985169"/>
          </a:xfrm>
          <a:custGeom>
            <a:avLst/>
            <a:gdLst>
              <a:gd name="connsiteX0" fmla="*/ 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0 w 6096000"/>
              <a:gd name="connsiteY4" fmla="*/ 0 h 1308100"/>
              <a:gd name="connsiteX0" fmla="*/ 58420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584200 w 6096000"/>
              <a:gd name="connsiteY4" fmla="*/ 0 h 1308100"/>
              <a:gd name="connsiteX0" fmla="*/ 305526 w 6096000"/>
              <a:gd name="connsiteY0" fmla="*/ 1270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305526 w 6096000"/>
              <a:gd name="connsiteY4" fmla="*/ 1270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1308100">
                <a:moveTo>
                  <a:pt x="305526" y="12700"/>
                </a:moveTo>
                <a:lnTo>
                  <a:pt x="6096000" y="0"/>
                </a:lnTo>
                <a:lnTo>
                  <a:pt x="6096000" y="1308100"/>
                </a:lnTo>
                <a:lnTo>
                  <a:pt x="0" y="1308100"/>
                </a:lnTo>
                <a:lnTo>
                  <a:pt x="305526" y="127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93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18E9-BEA5-8AF6-A86B-4576B92D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7D47-875A-7538-D74B-D9E38FF4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B271B-236E-BC0A-85BA-E725CD02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pPr/>
              <a:t>9/27/2024</a:t>
            </a:fld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F0FBC-935F-FA5F-B334-0866C31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BITS Pilani – Work Integrated Learning </a:t>
            </a:r>
            <a:r>
              <a:rPr lang="en-US" dirty="0" err="1"/>
              <a:t>Programmes</a:t>
            </a:r>
            <a:r>
              <a:rPr lang="en-US" dirty="0"/>
              <a:t> Division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10D98-DB67-00A5-976D-6FA274D8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ED3EE6-ECE8-3F73-1666-9246BF5E07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0" y="6192838"/>
            <a:ext cx="571500" cy="566442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EF4E408-EFA7-4496-B89B-A927839EF35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BITS Pilani – Work Integrated Learning Programmes Division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EA01541-97FB-9188-08A8-B916DA09008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499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5811C8-7B02-46CE-9E51-658D1E471C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D1E9-3E92-79FE-4F90-42592107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AD59D-3066-13E3-7FEF-AFB50D736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7A54-46DF-4DE7-C9BD-AFABA74A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402D4-1CBC-B0C9-55EE-59066C81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30A62-D3EF-7929-6652-DDB66361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1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BD1F-D673-16F5-1A6C-E9DCB27F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33D0-49D2-7BF5-8AEA-AD9003CD9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31A85-7AF9-4112-5803-FE5223ECD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C56A0-BBAB-3FF5-1F35-5254B133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CDA4D-3C44-F48E-370F-858F0F59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941F1-6759-1318-BE57-5A3FE08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4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ECA3-5CAA-4880-3684-37CC96C5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FB28-2AA0-7834-C4B1-4F5B1EA5F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0E58B-F30B-A76C-5FB7-B7D39BC4E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4CF27E-B43E-A640-771F-AA2E9B1E2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D7948-F331-CD55-0548-3A843303F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D90D0-E243-D533-87AE-FB632E05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E1DD5-9F1F-6E48-B17A-2B66752F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E2F55-11D5-BBA0-750E-75320ACC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6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1CED-FDA4-EF29-E5DB-0FA7FF4D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1AFA4-EAE9-6E09-8594-134475FD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2462B-F623-356A-FFAD-DF41B23C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CCE6-79DD-6E5F-9B04-542369C0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22BAA-6E68-1037-E22D-E73832157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0" y="6192838"/>
            <a:ext cx="571500" cy="566442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97D1675-7396-7EC5-C37A-98A2F2A4F2CA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BITS Pilani – Work Integrated Learning Programmes Division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8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BFDFA8-307C-2482-1287-C2A64C72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E9060-B074-BDC4-CA4D-DB7199CA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C5906-9983-AE43-EAB3-350CADF6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9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07C8-0019-E8F4-F015-73163229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668D-09A9-C61D-33CF-4D4A97E0D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6FEFB-24F1-9584-7DB0-5036BD34D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A3D5-CB31-7FE7-83CE-EBF00F71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FA992-3DAC-2951-B404-32B99054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F43EB-F8DE-1048-C24E-65FA4A6E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5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5D67-450D-2B99-327E-DE366D7B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350ACE-1BD6-B188-97A6-BD99DDE05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8F4CC-0145-D3ED-4A63-1AC1DCDC2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32681-B957-918E-9F62-394213D4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7CD77-A505-25A7-87DA-2E68D8B7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38BA7-1BAA-3241-A914-64D2B1AE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7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48201-6F9E-FBC6-8B50-A3016316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9975C-8C8B-145F-7B54-4EA2539C0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7474E-67E7-3332-6D99-5B3D9F84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F72B-817E-3681-6558-9ADA517B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D234C-E656-81B2-F7F8-7DF375F1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1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6A694-9FCB-C755-EC67-4BDEF037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C26B4-AC0F-A713-BC81-BBE50A598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E63A0-41A4-BADD-A70F-2BA0F52A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FC10C-006E-F20A-F687-6CF254E7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23EFC-6E58-4BD5-CB53-38565F94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43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911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6164E-F46B-656A-5FE8-0E145C10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5D2A-52A7-73BE-40C5-A991C1953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D35AF-470D-79FA-BA4D-D10373830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B2B42-F852-4C02-80DC-C8056EBC4F9E}" type="datetimeFigureOut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575E0-D692-BF94-4BDF-3B715730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AE334-5200-BBB1-46CD-EAA8172B2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811C8-7B02-46CE-9E51-658D1E471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829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33" Type="http://schemas.openxmlformats.org/officeDocument/2006/relationships/image" Target="../media/image81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32" Type="http://schemas.openxmlformats.org/officeDocument/2006/relationships/image" Target="../media/image80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31" Type="http://schemas.openxmlformats.org/officeDocument/2006/relationships/image" Target="../media/image79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Relationship Id="rId8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83.png"/><Relationship Id="rId21" Type="http://schemas.openxmlformats.org/officeDocument/2006/relationships/image" Target="../media/image101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image" Target="../media/image82.png"/><Relationship Id="rId16" Type="http://schemas.openxmlformats.org/officeDocument/2006/relationships/image" Target="../media/image96.png"/><Relationship Id="rId20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19" Type="http://schemas.openxmlformats.org/officeDocument/2006/relationships/image" Target="../media/image99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10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29" Type="http://schemas.openxmlformats.org/officeDocument/2006/relationships/image" Target="../media/image1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31" Type="http://schemas.openxmlformats.org/officeDocument/2006/relationships/image" Target="../media/image13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Relationship Id="rId30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3" Type="http://schemas.openxmlformats.org/officeDocument/2006/relationships/image" Target="../media/image133.png"/><Relationship Id="rId21" Type="http://schemas.openxmlformats.org/officeDocument/2006/relationships/image" Target="../media/image150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" Type="http://schemas.openxmlformats.org/officeDocument/2006/relationships/image" Target="../media/image132.png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23" Type="http://schemas.openxmlformats.org/officeDocument/2006/relationships/image" Target="../media/image152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4" Type="http://schemas.openxmlformats.org/officeDocument/2006/relationships/image" Target="../media/image85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jp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azure/search/retrieval-augmented-generation-overview" TargetMode="External"/><Relationship Id="rId4" Type="http://schemas.openxmlformats.org/officeDocument/2006/relationships/hyperlink" Target="https://techcommunity.microsoft.com/t5/ai-applied-ai-blog/revolutionize-your-enterprise-data-with-chatgpt-next-gen-apps-w/ba-p/3762087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1.png"/><Relationship Id="rId18" Type="http://schemas.openxmlformats.org/officeDocument/2006/relationships/image" Target="../media/image176.png"/><Relationship Id="rId3" Type="http://schemas.openxmlformats.org/officeDocument/2006/relationships/image" Target="../media/image161.png"/><Relationship Id="rId21" Type="http://schemas.openxmlformats.org/officeDocument/2006/relationships/image" Target="../media/image179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17" Type="http://schemas.openxmlformats.org/officeDocument/2006/relationships/image" Target="../media/image175.png"/><Relationship Id="rId2" Type="http://schemas.openxmlformats.org/officeDocument/2006/relationships/image" Target="../media/image160.png"/><Relationship Id="rId16" Type="http://schemas.openxmlformats.org/officeDocument/2006/relationships/image" Target="../media/image174.png"/><Relationship Id="rId20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69.png"/><Relationship Id="rId5" Type="http://schemas.openxmlformats.org/officeDocument/2006/relationships/image" Target="../media/image163.png"/><Relationship Id="rId15" Type="http://schemas.openxmlformats.org/officeDocument/2006/relationships/image" Target="../media/image173.png"/><Relationship Id="rId23" Type="http://schemas.openxmlformats.org/officeDocument/2006/relationships/hyperlink" Target="https://learn.microsoft.com/en-us/azure/ai-services/openai/concepts/use-your-data" TargetMode="External"/><Relationship Id="rId10" Type="http://schemas.openxmlformats.org/officeDocument/2006/relationships/image" Target="../media/image168.png"/><Relationship Id="rId19" Type="http://schemas.openxmlformats.org/officeDocument/2006/relationships/image" Target="../media/image177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4" Type="http://schemas.openxmlformats.org/officeDocument/2006/relationships/image" Target="../media/image172.png"/><Relationship Id="rId22" Type="http://schemas.openxmlformats.org/officeDocument/2006/relationships/image" Target="../media/image18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18" Type="http://schemas.openxmlformats.org/officeDocument/2006/relationships/image" Target="../media/image195.png"/><Relationship Id="rId3" Type="http://schemas.openxmlformats.org/officeDocument/2006/relationships/image" Target="../media/image182.png"/><Relationship Id="rId21" Type="http://schemas.openxmlformats.org/officeDocument/2006/relationships/image" Target="../media/image198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17" Type="http://schemas.openxmlformats.org/officeDocument/2006/relationships/image" Target="../media/image194.png"/><Relationship Id="rId2" Type="http://schemas.openxmlformats.org/officeDocument/2006/relationships/image" Target="../media/image181.png"/><Relationship Id="rId16" Type="http://schemas.openxmlformats.org/officeDocument/2006/relationships/image" Target="../media/image193.png"/><Relationship Id="rId20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langchain-ai/langchain" TargetMode="External"/><Relationship Id="rId11" Type="http://schemas.openxmlformats.org/officeDocument/2006/relationships/image" Target="../media/image188.png"/><Relationship Id="rId5" Type="http://schemas.openxmlformats.org/officeDocument/2006/relationships/hyperlink" Target="https://github.com/microsoft/semantic-kernel" TargetMode="External"/><Relationship Id="rId15" Type="http://schemas.openxmlformats.org/officeDocument/2006/relationships/image" Target="../media/image192.png"/><Relationship Id="rId10" Type="http://schemas.openxmlformats.org/officeDocument/2006/relationships/image" Target="../media/image187.png"/><Relationship Id="rId19" Type="http://schemas.openxmlformats.org/officeDocument/2006/relationships/image" Target="../media/image196.png"/><Relationship Id="rId4" Type="http://schemas.openxmlformats.org/officeDocument/2006/relationships/image" Target="../media/image183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Relationship Id="rId22" Type="http://schemas.openxmlformats.org/officeDocument/2006/relationships/image" Target="../media/image19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jpg"/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4" Type="http://schemas.openxmlformats.org/officeDocument/2006/relationships/image" Target="../media/image202.png"/><Relationship Id="rId9" Type="http://schemas.openxmlformats.org/officeDocument/2006/relationships/hyperlink" Target="https://github.com/microsoft/promptflow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prompting.org/docs/intro" TargetMode="External"/><Relationship Id="rId7" Type="http://schemas.openxmlformats.org/officeDocument/2006/relationships/hyperlink" Target="https://learn.microsoft.com/en-us/azure/ai-services/openai/concepts/prompt-engineering" TargetMode="External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tform.openai.com/examples" TargetMode="External"/><Relationship Id="rId5" Type="http://schemas.openxmlformats.org/officeDocument/2006/relationships/hyperlink" Target="https://www.deeplearning.ai/short-courses/chatgpt-prompt-engineering-for-developers/" TargetMode="External"/><Relationship Id="rId4" Type="http://schemas.openxmlformats.org/officeDocument/2006/relationships/hyperlink" Target="https://www.promptingguide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F95F-ED5D-7D14-004F-BB3F773AA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0" y="1714500"/>
            <a:ext cx="7848600" cy="1485900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Prompt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3432E-C589-ADB8-601E-60B423644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8600" y="5692351"/>
            <a:ext cx="9144000" cy="1000549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Session11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Arunkarthik T</a:t>
            </a:r>
          </a:p>
        </p:txBody>
      </p:sp>
    </p:spTree>
    <p:extLst>
      <p:ext uri="{BB962C8B-B14F-4D97-AF65-F5344CB8AC3E}">
        <p14:creationId xmlns:p14="http://schemas.microsoft.com/office/powerpoint/2010/main" val="248799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921507" y="0"/>
            <a:ext cx="9271000" cy="6858000"/>
            <a:chOff x="2921507" y="0"/>
            <a:chExt cx="9271000" cy="6858000"/>
          </a:xfrm>
        </p:grpSpPr>
        <p:sp>
          <p:nvSpPr>
            <p:cNvPr id="4" name="object 4"/>
            <p:cNvSpPr/>
            <p:nvPr/>
          </p:nvSpPr>
          <p:spPr>
            <a:xfrm>
              <a:off x="2921507" y="0"/>
              <a:ext cx="9271000" cy="6858000"/>
            </a:xfrm>
            <a:custGeom>
              <a:avLst/>
              <a:gdLst/>
              <a:ahLst/>
              <a:cxnLst/>
              <a:rect l="l" t="t" r="r" b="b"/>
              <a:pathLst>
                <a:path w="9271000" h="6858000">
                  <a:moveTo>
                    <a:pt x="927049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270492" y="6858000"/>
                  </a:lnTo>
                  <a:lnTo>
                    <a:pt x="9270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5155" y="2598801"/>
              <a:ext cx="4427728" cy="4918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9882" y="3208401"/>
              <a:ext cx="4420996" cy="4368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2737" y="3814826"/>
              <a:ext cx="4359656" cy="49504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372605" y="2424811"/>
            <a:ext cx="486918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Prompt</a:t>
            </a:r>
            <a:r>
              <a:rPr sz="4000" spc="-204" dirty="0"/>
              <a:t> </a:t>
            </a:r>
            <a:r>
              <a:rPr sz="4000" spc="-55" dirty="0"/>
              <a:t>Engineering</a:t>
            </a:r>
            <a:r>
              <a:rPr sz="4000" spc="-165" dirty="0"/>
              <a:t> </a:t>
            </a:r>
            <a:r>
              <a:rPr sz="4000" spc="-50" dirty="0"/>
              <a:t>- </a:t>
            </a:r>
            <a:r>
              <a:rPr sz="4000" dirty="0"/>
              <a:t>an</a:t>
            </a:r>
            <a:r>
              <a:rPr sz="4000" spc="-170" dirty="0"/>
              <a:t> </a:t>
            </a:r>
            <a:r>
              <a:rPr sz="4000" dirty="0"/>
              <a:t>Art,</a:t>
            </a:r>
            <a:r>
              <a:rPr sz="4000" spc="-185" dirty="0"/>
              <a:t> </a:t>
            </a:r>
            <a:r>
              <a:rPr sz="4000" dirty="0"/>
              <a:t>a</a:t>
            </a:r>
            <a:r>
              <a:rPr sz="4000" spc="-175" dirty="0"/>
              <a:t> </a:t>
            </a:r>
            <a:r>
              <a:rPr sz="4000" spc="-50" dirty="0"/>
              <a:t>Science,</a:t>
            </a:r>
            <a:r>
              <a:rPr sz="4000" spc="-200" dirty="0"/>
              <a:t> </a:t>
            </a:r>
            <a:r>
              <a:rPr sz="4000" spc="-25" dirty="0"/>
              <a:t>or </a:t>
            </a:r>
            <a:r>
              <a:rPr sz="4000" spc="-40" dirty="0"/>
              <a:t>your</a:t>
            </a:r>
            <a:r>
              <a:rPr sz="4000" spc="-235" dirty="0"/>
              <a:t> </a:t>
            </a:r>
            <a:r>
              <a:rPr sz="4000" spc="-20" dirty="0"/>
              <a:t>next</a:t>
            </a:r>
            <a:r>
              <a:rPr sz="4000" spc="-245" dirty="0"/>
              <a:t> </a:t>
            </a:r>
            <a:r>
              <a:rPr sz="4000" dirty="0"/>
              <a:t>Job</a:t>
            </a:r>
            <a:r>
              <a:rPr sz="4000" spc="-235" dirty="0"/>
              <a:t> </a:t>
            </a:r>
            <a:r>
              <a:rPr sz="4000" spc="-10" dirty="0"/>
              <a:t>Title?</a:t>
            </a:r>
            <a:endParaRPr sz="4000" dirty="0"/>
          </a:p>
        </p:txBody>
      </p:sp>
      <p:sp>
        <p:nvSpPr>
          <p:cNvPr id="9" name="object 9"/>
          <p:cNvSpPr txBox="1"/>
          <p:nvPr/>
        </p:nvSpPr>
        <p:spPr>
          <a:xfrm>
            <a:off x="254304" y="5238986"/>
            <a:ext cx="2231390" cy="385362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2000" spc="-10" dirty="0">
                <a:solidFill>
                  <a:srgbClr val="FFFFFF"/>
                </a:solidFill>
                <a:latin typeface="Segoe UI"/>
                <a:cs typeface="Segoe UI"/>
              </a:rPr>
              <a:t>From </a:t>
            </a:r>
            <a:r>
              <a:rPr sz="2000" spc="-10" dirty="0">
                <a:solidFill>
                  <a:srgbClr val="FFFFFF"/>
                </a:solidFill>
                <a:latin typeface="Segoe UI"/>
                <a:cs typeface="Segoe UI"/>
              </a:rPr>
              <a:t>Microsoft</a:t>
            </a:r>
            <a:endParaRPr sz="2000" dirty="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88049" y="2465290"/>
            <a:ext cx="1935480" cy="1937385"/>
            <a:chOff x="3788049" y="2465290"/>
            <a:chExt cx="1935480" cy="1937385"/>
          </a:xfrm>
        </p:grpSpPr>
        <p:sp>
          <p:nvSpPr>
            <p:cNvPr id="11" name="object 11"/>
            <p:cNvSpPr/>
            <p:nvPr/>
          </p:nvSpPr>
          <p:spPr>
            <a:xfrm>
              <a:off x="4318224" y="2465290"/>
              <a:ext cx="1405255" cy="359410"/>
            </a:xfrm>
            <a:custGeom>
              <a:avLst/>
              <a:gdLst/>
              <a:ahLst/>
              <a:cxnLst/>
              <a:rect l="l" t="t" r="r" b="b"/>
              <a:pathLst>
                <a:path w="1405254" h="359410">
                  <a:moveTo>
                    <a:pt x="1269337" y="0"/>
                  </a:moveTo>
                  <a:lnTo>
                    <a:pt x="317300" y="0"/>
                  </a:lnTo>
                  <a:lnTo>
                    <a:pt x="270414" y="3439"/>
                  </a:lnTo>
                  <a:lnTo>
                    <a:pt x="225664" y="13432"/>
                  </a:lnTo>
                  <a:lnTo>
                    <a:pt x="183539" y="29486"/>
                  </a:lnTo>
                  <a:lnTo>
                    <a:pt x="144532" y="51111"/>
                  </a:lnTo>
                  <a:lnTo>
                    <a:pt x="109133" y="77817"/>
                  </a:lnTo>
                  <a:lnTo>
                    <a:pt x="77832" y="109113"/>
                  </a:lnTo>
                  <a:lnTo>
                    <a:pt x="51122" y="144508"/>
                  </a:lnTo>
                  <a:lnTo>
                    <a:pt x="29492" y="183512"/>
                  </a:lnTo>
                  <a:lnTo>
                    <a:pt x="13435" y="225633"/>
                  </a:lnTo>
                  <a:lnTo>
                    <a:pt x="3440" y="270381"/>
                  </a:lnTo>
                  <a:lnTo>
                    <a:pt x="0" y="317266"/>
                  </a:lnTo>
                  <a:lnTo>
                    <a:pt x="0" y="358922"/>
                  </a:lnTo>
                  <a:lnTo>
                    <a:pt x="290198" y="358922"/>
                  </a:lnTo>
                  <a:lnTo>
                    <a:pt x="298979" y="337904"/>
                  </a:lnTo>
                  <a:lnTo>
                    <a:pt x="310129" y="318197"/>
                  </a:lnTo>
                  <a:lnTo>
                    <a:pt x="339267" y="283261"/>
                  </a:lnTo>
                  <a:lnTo>
                    <a:pt x="398550" y="245566"/>
                  </a:lnTo>
                  <a:lnTo>
                    <a:pt x="467908" y="232457"/>
                  </a:lnTo>
                  <a:lnTo>
                    <a:pt x="1202984" y="232457"/>
                  </a:lnTo>
                  <a:lnTo>
                    <a:pt x="1404935" y="30509"/>
                  </a:lnTo>
                  <a:lnTo>
                    <a:pt x="1403091" y="29486"/>
                  </a:lnTo>
                  <a:lnTo>
                    <a:pt x="1360970" y="13432"/>
                  </a:lnTo>
                  <a:lnTo>
                    <a:pt x="1316221" y="3439"/>
                  </a:lnTo>
                  <a:lnTo>
                    <a:pt x="1269337" y="0"/>
                  </a:lnTo>
                  <a:close/>
                </a:path>
                <a:path w="1405254" h="359410">
                  <a:moveTo>
                    <a:pt x="1202984" y="232457"/>
                  </a:moveTo>
                  <a:lnTo>
                    <a:pt x="580566" y="232457"/>
                  </a:lnTo>
                  <a:lnTo>
                    <a:pt x="616438" y="235847"/>
                  </a:lnTo>
                  <a:lnTo>
                    <a:pt x="650476" y="245800"/>
                  </a:lnTo>
                  <a:lnTo>
                    <a:pt x="709853" y="284111"/>
                  </a:lnTo>
                  <a:lnTo>
                    <a:pt x="738281" y="318711"/>
                  </a:lnTo>
                  <a:lnTo>
                    <a:pt x="757732" y="358922"/>
                  </a:lnTo>
                  <a:lnTo>
                    <a:pt x="1076517" y="358922"/>
                  </a:lnTo>
                  <a:lnTo>
                    <a:pt x="1202984" y="232457"/>
                  </a:lnTo>
                  <a:close/>
                </a:path>
              </a:pathLst>
            </a:custGeom>
            <a:solidFill>
              <a:srgbClr val="F4AC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8049" y="3048441"/>
              <a:ext cx="475615" cy="1353820"/>
            </a:xfrm>
            <a:custGeom>
              <a:avLst/>
              <a:gdLst/>
              <a:ahLst/>
              <a:cxnLst/>
              <a:rect l="l" t="t" r="r" b="b"/>
              <a:pathLst>
                <a:path w="475614" h="1353820">
                  <a:moveTo>
                    <a:pt x="475222" y="0"/>
                  </a:moveTo>
                  <a:lnTo>
                    <a:pt x="317269" y="0"/>
                  </a:lnTo>
                  <a:lnTo>
                    <a:pt x="270388" y="3440"/>
                  </a:lnTo>
                  <a:lnTo>
                    <a:pt x="225642" y="13434"/>
                  </a:lnTo>
                  <a:lnTo>
                    <a:pt x="183522" y="29492"/>
                  </a:lnTo>
                  <a:lnTo>
                    <a:pt x="144518" y="51120"/>
                  </a:lnTo>
                  <a:lnTo>
                    <a:pt x="109122" y="77829"/>
                  </a:lnTo>
                  <a:lnTo>
                    <a:pt x="77825" y="109127"/>
                  </a:lnTo>
                  <a:lnTo>
                    <a:pt x="51117" y="144523"/>
                  </a:lnTo>
                  <a:lnTo>
                    <a:pt x="29489" y="183526"/>
                  </a:lnTo>
                  <a:lnTo>
                    <a:pt x="13433" y="225645"/>
                  </a:lnTo>
                  <a:lnTo>
                    <a:pt x="3440" y="270389"/>
                  </a:lnTo>
                  <a:lnTo>
                    <a:pt x="0" y="317266"/>
                  </a:lnTo>
                  <a:lnTo>
                    <a:pt x="0" y="1264025"/>
                  </a:lnTo>
                  <a:lnTo>
                    <a:pt x="8712" y="1316791"/>
                  </a:lnTo>
                  <a:lnTo>
                    <a:pt x="28713" y="1353730"/>
                  </a:lnTo>
                  <a:lnTo>
                    <a:pt x="134595" y="1247849"/>
                  </a:lnTo>
                  <a:lnTo>
                    <a:pt x="134595" y="316756"/>
                  </a:lnTo>
                  <a:lnTo>
                    <a:pt x="141101" y="268336"/>
                  </a:lnTo>
                  <a:lnTo>
                    <a:pt x="159462" y="224823"/>
                  </a:lnTo>
                  <a:lnTo>
                    <a:pt x="187944" y="187953"/>
                  </a:lnTo>
                  <a:lnTo>
                    <a:pt x="224811" y="159466"/>
                  </a:lnTo>
                  <a:lnTo>
                    <a:pt x="268328" y="141100"/>
                  </a:lnTo>
                  <a:lnTo>
                    <a:pt x="316759" y="134591"/>
                  </a:lnTo>
                  <a:lnTo>
                    <a:pt x="433532" y="134591"/>
                  </a:lnTo>
                  <a:lnTo>
                    <a:pt x="433868" y="106841"/>
                  </a:lnTo>
                  <a:lnTo>
                    <a:pt x="438340" y="79461"/>
                  </a:lnTo>
                  <a:lnTo>
                    <a:pt x="446859" y="52782"/>
                  </a:lnTo>
                  <a:lnTo>
                    <a:pt x="459580" y="26659"/>
                  </a:lnTo>
                  <a:lnTo>
                    <a:pt x="475222" y="0"/>
                  </a:lnTo>
                  <a:close/>
                </a:path>
              </a:pathLst>
            </a:custGeom>
            <a:solidFill>
              <a:srgbClr val="27B5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98144" y="3816035"/>
              <a:ext cx="177675" cy="1776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44342" y="2832339"/>
              <a:ext cx="832485" cy="868044"/>
            </a:xfrm>
            <a:custGeom>
              <a:avLst/>
              <a:gdLst/>
              <a:ahLst/>
              <a:cxnLst/>
              <a:rect l="l" t="t" r="r" b="b"/>
              <a:pathLst>
                <a:path w="832485" h="868045">
                  <a:moveTo>
                    <a:pt x="109904" y="192820"/>
                  </a:moveTo>
                  <a:lnTo>
                    <a:pt x="73116" y="203768"/>
                  </a:lnTo>
                  <a:lnTo>
                    <a:pt x="6560" y="311315"/>
                  </a:lnTo>
                  <a:lnTo>
                    <a:pt x="0" y="330386"/>
                  </a:lnTo>
                  <a:lnTo>
                    <a:pt x="950" y="349881"/>
                  </a:lnTo>
                  <a:lnTo>
                    <a:pt x="8913" y="367699"/>
                  </a:lnTo>
                  <a:lnTo>
                    <a:pt x="23393" y="381739"/>
                  </a:lnTo>
                  <a:lnTo>
                    <a:pt x="109697" y="437983"/>
                  </a:lnTo>
                  <a:lnTo>
                    <a:pt x="105013" y="460427"/>
                  </a:lnTo>
                  <a:lnTo>
                    <a:pt x="101604" y="483308"/>
                  </a:lnTo>
                  <a:lnTo>
                    <a:pt x="99521" y="506590"/>
                  </a:lnTo>
                  <a:lnTo>
                    <a:pt x="98816" y="530239"/>
                  </a:lnTo>
                  <a:lnTo>
                    <a:pt x="99521" y="553897"/>
                  </a:lnTo>
                  <a:lnTo>
                    <a:pt x="101604" y="577195"/>
                  </a:lnTo>
                  <a:lnTo>
                    <a:pt x="105013" y="600079"/>
                  </a:lnTo>
                  <a:lnTo>
                    <a:pt x="109697" y="622494"/>
                  </a:lnTo>
                  <a:lnTo>
                    <a:pt x="23393" y="678738"/>
                  </a:lnTo>
                  <a:lnTo>
                    <a:pt x="8913" y="692794"/>
                  </a:lnTo>
                  <a:lnTo>
                    <a:pt x="950" y="710614"/>
                  </a:lnTo>
                  <a:lnTo>
                    <a:pt x="0" y="730111"/>
                  </a:lnTo>
                  <a:lnTo>
                    <a:pt x="6560" y="749197"/>
                  </a:lnTo>
                  <a:lnTo>
                    <a:pt x="59880" y="841486"/>
                  </a:lnTo>
                  <a:lnTo>
                    <a:pt x="73116" y="856705"/>
                  </a:lnTo>
                  <a:lnTo>
                    <a:pt x="90480" y="865630"/>
                  </a:lnTo>
                  <a:lnTo>
                    <a:pt x="109904" y="867643"/>
                  </a:lnTo>
                  <a:lnTo>
                    <a:pt x="129318" y="862127"/>
                  </a:lnTo>
                  <a:lnTo>
                    <a:pt x="221234" y="815472"/>
                  </a:lnTo>
                  <a:lnTo>
                    <a:pt x="226789" y="815472"/>
                  </a:lnTo>
                  <a:lnTo>
                    <a:pt x="320355" y="721908"/>
                  </a:lnTo>
                  <a:lnTo>
                    <a:pt x="294627" y="696180"/>
                  </a:lnTo>
                  <a:lnTo>
                    <a:pt x="269116" y="660091"/>
                  </a:lnTo>
                  <a:lnTo>
                    <a:pt x="249991" y="619810"/>
                  </a:lnTo>
                  <a:lnTo>
                    <a:pt x="237981" y="576067"/>
                  </a:lnTo>
                  <a:lnTo>
                    <a:pt x="233816" y="529593"/>
                  </a:lnTo>
                  <a:lnTo>
                    <a:pt x="237983" y="483119"/>
                  </a:lnTo>
                  <a:lnTo>
                    <a:pt x="249999" y="439376"/>
                  </a:lnTo>
                  <a:lnTo>
                    <a:pt x="269132" y="399094"/>
                  </a:lnTo>
                  <a:lnTo>
                    <a:pt x="294649" y="363005"/>
                  </a:lnTo>
                  <a:lnTo>
                    <a:pt x="325821" y="331839"/>
                  </a:lnTo>
                  <a:lnTo>
                    <a:pt x="361916" y="306326"/>
                  </a:lnTo>
                  <a:lnTo>
                    <a:pt x="402202" y="287198"/>
                  </a:lnTo>
                  <a:lnTo>
                    <a:pt x="445948" y="275186"/>
                  </a:lnTo>
                  <a:lnTo>
                    <a:pt x="492423" y="271019"/>
                  </a:lnTo>
                  <a:lnTo>
                    <a:pt x="771249" y="271019"/>
                  </a:lnTo>
                  <a:lnTo>
                    <a:pt x="797263" y="245005"/>
                  </a:lnTo>
                  <a:lnTo>
                    <a:pt x="221234" y="245005"/>
                  </a:lnTo>
                  <a:lnTo>
                    <a:pt x="129318" y="198350"/>
                  </a:lnTo>
                  <a:lnTo>
                    <a:pt x="109904" y="192820"/>
                  </a:lnTo>
                  <a:close/>
                </a:path>
                <a:path w="832485" h="868045">
                  <a:moveTo>
                    <a:pt x="226789" y="815472"/>
                  </a:moveTo>
                  <a:lnTo>
                    <a:pt x="221234" y="815472"/>
                  </a:lnTo>
                  <a:lnTo>
                    <a:pt x="224244" y="818018"/>
                  </a:lnTo>
                  <a:lnTo>
                    <a:pt x="226789" y="815472"/>
                  </a:lnTo>
                  <a:close/>
                </a:path>
                <a:path w="832485" h="868045">
                  <a:moveTo>
                    <a:pt x="771249" y="271019"/>
                  </a:moveTo>
                  <a:lnTo>
                    <a:pt x="492423" y="271019"/>
                  </a:lnTo>
                  <a:lnTo>
                    <a:pt x="538897" y="275186"/>
                  </a:lnTo>
                  <a:lnTo>
                    <a:pt x="582640" y="287198"/>
                  </a:lnTo>
                  <a:lnTo>
                    <a:pt x="622922" y="306326"/>
                  </a:lnTo>
                  <a:lnTo>
                    <a:pt x="659011" y="331839"/>
                  </a:lnTo>
                  <a:lnTo>
                    <a:pt x="684720" y="357547"/>
                  </a:lnTo>
                  <a:lnTo>
                    <a:pt x="771249" y="271019"/>
                  </a:lnTo>
                  <a:close/>
                </a:path>
                <a:path w="832485" h="868045">
                  <a:moveTo>
                    <a:pt x="545675" y="0"/>
                  </a:moveTo>
                  <a:lnTo>
                    <a:pt x="439103" y="0"/>
                  </a:lnTo>
                  <a:lnTo>
                    <a:pt x="402884" y="14456"/>
                  </a:lnTo>
                  <a:lnTo>
                    <a:pt x="386532" y="49851"/>
                  </a:lnTo>
                  <a:lnTo>
                    <a:pt x="380989" y="152682"/>
                  </a:lnTo>
                  <a:lnTo>
                    <a:pt x="336732" y="168676"/>
                  </a:lnTo>
                  <a:lnTo>
                    <a:pt x="295105" y="189637"/>
                  </a:lnTo>
                  <a:lnTo>
                    <a:pt x="256481" y="215201"/>
                  </a:lnTo>
                  <a:lnTo>
                    <a:pt x="221234" y="245005"/>
                  </a:lnTo>
                  <a:lnTo>
                    <a:pt x="763579" y="245005"/>
                  </a:lnTo>
                  <a:lnTo>
                    <a:pt x="728330" y="215201"/>
                  </a:lnTo>
                  <a:lnTo>
                    <a:pt x="689703" y="189637"/>
                  </a:lnTo>
                  <a:lnTo>
                    <a:pt x="648066" y="168676"/>
                  </a:lnTo>
                  <a:lnTo>
                    <a:pt x="603789" y="152682"/>
                  </a:lnTo>
                  <a:lnTo>
                    <a:pt x="598247" y="49851"/>
                  </a:lnTo>
                  <a:lnTo>
                    <a:pt x="593337" y="30284"/>
                  </a:lnTo>
                  <a:lnTo>
                    <a:pt x="581894" y="14456"/>
                  </a:lnTo>
                  <a:lnTo>
                    <a:pt x="565485" y="3863"/>
                  </a:lnTo>
                  <a:lnTo>
                    <a:pt x="545675" y="0"/>
                  </a:lnTo>
                  <a:close/>
                </a:path>
                <a:path w="832485" h="868045">
                  <a:moveTo>
                    <a:pt x="832012" y="210257"/>
                  </a:moveTo>
                  <a:lnTo>
                    <a:pt x="763579" y="245005"/>
                  </a:lnTo>
                  <a:lnTo>
                    <a:pt x="797263" y="245005"/>
                  </a:lnTo>
                  <a:lnTo>
                    <a:pt x="832012" y="210257"/>
                  </a:lnTo>
                  <a:close/>
                </a:path>
              </a:pathLst>
            </a:custGeom>
            <a:solidFill>
              <a:srgbClr val="EE41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51347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732779" y="1015746"/>
            <a:ext cx="6162040" cy="3789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1435" indent="-287020" algn="r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sz="1900" dirty="0">
                <a:latin typeface="Segoe UI"/>
                <a:cs typeface="Segoe UI"/>
              </a:rPr>
              <a:t>Generative</a:t>
            </a:r>
            <a:r>
              <a:rPr sz="1900" spc="-6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AI’s</a:t>
            </a:r>
            <a:r>
              <a:rPr sz="1900" spc="-7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impact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on</a:t>
            </a:r>
            <a:r>
              <a:rPr sz="1900" spc="-6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productivity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could</a:t>
            </a:r>
            <a:r>
              <a:rPr sz="1900" spc="-6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add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up</a:t>
            </a:r>
            <a:r>
              <a:rPr sz="1900" spc="-55" dirty="0">
                <a:latin typeface="Segoe UI"/>
                <a:cs typeface="Segoe UI"/>
              </a:rPr>
              <a:t> </a:t>
            </a:r>
            <a:r>
              <a:rPr sz="1900" spc="-25" dirty="0">
                <a:latin typeface="Segoe UI"/>
                <a:cs typeface="Segoe UI"/>
              </a:rPr>
              <a:t>to</a:t>
            </a:r>
            <a:endParaRPr sz="1900" dirty="0">
              <a:latin typeface="Segoe UI"/>
              <a:cs typeface="Segoe UI"/>
            </a:endParaRPr>
          </a:p>
          <a:p>
            <a:pPr marR="126364" algn="r">
              <a:lnSpc>
                <a:spcPct val="100000"/>
              </a:lnSpc>
            </a:pPr>
            <a:r>
              <a:rPr sz="1900" b="1" dirty="0">
                <a:latin typeface="Segoe UI"/>
                <a:cs typeface="Segoe UI"/>
              </a:rPr>
              <a:t>$4.4</a:t>
            </a:r>
            <a:r>
              <a:rPr sz="1900" b="1" spc="-8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trillion</a:t>
            </a:r>
            <a:r>
              <a:rPr sz="1900" b="1" spc="-6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annually</a:t>
            </a:r>
            <a:r>
              <a:rPr sz="1900" b="1" spc="-3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in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value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to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the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global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economy.</a:t>
            </a:r>
            <a:endParaRPr sz="19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 dirty="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900" dirty="0">
                <a:latin typeface="Segoe UI"/>
                <a:cs typeface="Segoe UI"/>
              </a:rPr>
              <a:t>About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75%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of</a:t>
            </a:r>
            <a:r>
              <a:rPr sz="1900" spc="-5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the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value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that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generative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AI</a:t>
            </a:r>
            <a:r>
              <a:rPr sz="1900" spc="-5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use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cases</a:t>
            </a:r>
            <a:endParaRPr sz="1900" dirty="0">
              <a:latin typeface="Segoe UI"/>
              <a:cs typeface="Segoe UI"/>
            </a:endParaRPr>
          </a:p>
          <a:p>
            <a:pPr marL="299085">
              <a:lnSpc>
                <a:spcPct val="100000"/>
              </a:lnSpc>
            </a:pPr>
            <a:r>
              <a:rPr sz="1900" dirty="0">
                <a:latin typeface="Segoe UI"/>
                <a:cs typeface="Segoe UI"/>
              </a:rPr>
              <a:t>could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deliver</a:t>
            </a:r>
            <a:r>
              <a:rPr sz="1900" spc="-5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falls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across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customer</a:t>
            </a:r>
            <a:endParaRPr sz="1900" dirty="0">
              <a:latin typeface="Segoe UI"/>
              <a:cs typeface="Segoe UI"/>
            </a:endParaRPr>
          </a:p>
          <a:p>
            <a:pPr marL="299085" marR="5080">
              <a:lnSpc>
                <a:spcPct val="100000"/>
              </a:lnSpc>
              <a:tabLst>
                <a:tab pos="1711960" algn="l"/>
              </a:tabLst>
            </a:pPr>
            <a:r>
              <a:rPr sz="1900" b="1" spc="-10" dirty="0">
                <a:latin typeface="Segoe UI"/>
                <a:cs typeface="Segoe UI"/>
              </a:rPr>
              <a:t>operations,</a:t>
            </a:r>
            <a:r>
              <a:rPr sz="1900" b="1" dirty="0">
                <a:latin typeface="Segoe UI"/>
                <a:cs typeface="Segoe UI"/>
              </a:rPr>
              <a:t>	</a:t>
            </a:r>
            <a:r>
              <a:rPr sz="1900" b="1" spc="-10" dirty="0">
                <a:latin typeface="Segoe UI"/>
                <a:cs typeface="Segoe UI"/>
              </a:rPr>
              <a:t>marketing,</a:t>
            </a:r>
            <a:r>
              <a:rPr sz="1900" b="1" spc="-7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sales,</a:t>
            </a:r>
            <a:r>
              <a:rPr sz="1900" b="1" spc="-7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software</a:t>
            </a:r>
            <a:r>
              <a:rPr sz="1900" b="1" spc="-85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engineering</a:t>
            </a:r>
            <a:r>
              <a:rPr sz="1900" spc="-10" dirty="0">
                <a:latin typeface="Segoe UI"/>
                <a:cs typeface="Segoe UI"/>
              </a:rPr>
              <a:t>, </a:t>
            </a:r>
            <a:r>
              <a:rPr sz="1900" dirty="0">
                <a:latin typeface="Segoe UI"/>
                <a:cs typeface="Segoe UI"/>
              </a:rPr>
              <a:t>and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R&amp;D</a:t>
            </a:r>
            <a:r>
              <a:rPr sz="1900" b="1" spc="-35" dirty="0">
                <a:latin typeface="Segoe UI"/>
                <a:cs typeface="Segoe UI"/>
              </a:rPr>
              <a:t> </a:t>
            </a:r>
            <a:r>
              <a:rPr sz="1900" spc="-50" dirty="0">
                <a:latin typeface="Segoe UI"/>
                <a:cs typeface="Segoe UI"/>
              </a:rPr>
              <a:t>.</a:t>
            </a:r>
            <a:endParaRPr sz="19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 dirty="0">
              <a:latin typeface="Segoe UI"/>
              <a:cs typeface="Segoe UI"/>
            </a:endParaRPr>
          </a:p>
          <a:p>
            <a:pPr marL="299085" marR="6540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900" dirty="0">
                <a:latin typeface="Segoe UI"/>
                <a:cs typeface="Segoe UI"/>
              </a:rPr>
              <a:t>Generative</a:t>
            </a:r>
            <a:r>
              <a:rPr sz="1900" spc="-7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AI</a:t>
            </a:r>
            <a:r>
              <a:rPr sz="1900" spc="-7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can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revolutionize</a:t>
            </a:r>
            <a:r>
              <a:rPr sz="1900" spc="-5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work</a:t>
            </a:r>
            <a:r>
              <a:rPr sz="1900" spc="-6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by</a:t>
            </a:r>
            <a:r>
              <a:rPr sz="1900" spc="-7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automating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spc="-50" dirty="0">
                <a:latin typeface="Segoe UI"/>
                <a:cs typeface="Segoe UI"/>
              </a:rPr>
              <a:t>a </a:t>
            </a:r>
            <a:r>
              <a:rPr sz="1900" dirty="0">
                <a:latin typeface="Segoe UI"/>
                <a:cs typeface="Segoe UI"/>
              </a:rPr>
              <a:t>significant</a:t>
            </a:r>
            <a:r>
              <a:rPr sz="1900" spc="-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portion</a:t>
            </a:r>
            <a:r>
              <a:rPr sz="1900" spc="-5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of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employees'</a:t>
            </a:r>
            <a:r>
              <a:rPr sz="1900" spc="-7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activities,</a:t>
            </a:r>
            <a:r>
              <a:rPr sz="1900" spc="-3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up</a:t>
            </a:r>
            <a:r>
              <a:rPr sz="1900" b="1" spc="-5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to</a:t>
            </a:r>
            <a:r>
              <a:rPr sz="1900" b="1" spc="-55" dirty="0">
                <a:latin typeface="Segoe UI"/>
                <a:cs typeface="Segoe UI"/>
              </a:rPr>
              <a:t> </a:t>
            </a:r>
            <a:r>
              <a:rPr sz="1900" b="1" spc="-25" dirty="0">
                <a:latin typeface="Segoe UI"/>
                <a:cs typeface="Segoe UI"/>
              </a:rPr>
              <a:t>60- </a:t>
            </a:r>
            <a:r>
              <a:rPr sz="1900" b="1" dirty="0">
                <a:latin typeface="Segoe UI"/>
                <a:cs typeface="Segoe UI"/>
              </a:rPr>
              <a:t>70%</a:t>
            </a:r>
            <a:r>
              <a:rPr sz="1900" b="1" spc="-8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of</a:t>
            </a:r>
            <a:r>
              <a:rPr sz="1900" b="1" spc="-8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their</a:t>
            </a:r>
            <a:r>
              <a:rPr sz="1900" b="1" spc="-6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current</a:t>
            </a:r>
            <a:r>
              <a:rPr sz="1900" b="1" spc="-8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workload</a:t>
            </a:r>
            <a:r>
              <a:rPr sz="1900" dirty="0">
                <a:latin typeface="Segoe UI"/>
                <a:cs typeface="Segoe UI"/>
              </a:rPr>
              <a:t>.</a:t>
            </a:r>
            <a:r>
              <a:rPr sz="1900" spc="-8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This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augmentation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spc="-25" dirty="0">
                <a:latin typeface="Segoe UI"/>
                <a:cs typeface="Segoe UI"/>
              </a:rPr>
              <a:t>of </a:t>
            </a:r>
            <a:r>
              <a:rPr sz="1900" dirty="0">
                <a:latin typeface="Segoe UI"/>
                <a:cs typeface="Segoe UI"/>
              </a:rPr>
              <a:t>individual</a:t>
            </a:r>
            <a:r>
              <a:rPr sz="1900" spc="-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capabilities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has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the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potential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to</a:t>
            </a:r>
            <a:r>
              <a:rPr sz="1900" spc="-5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transform </a:t>
            </a:r>
            <a:r>
              <a:rPr sz="1900" dirty="0">
                <a:latin typeface="Segoe UI"/>
                <a:cs typeface="Segoe UI"/>
              </a:rPr>
              <a:t>the</a:t>
            </a:r>
            <a:r>
              <a:rPr sz="1900" spc="-3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way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we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spc="-20" dirty="0">
                <a:latin typeface="Segoe UI"/>
                <a:cs typeface="Segoe UI"/>
              </a:rPr>
              <a:t>work.</a:t>
            </a:r>
            <a:endParaRPr sz="19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379" y="217881"/>
            <a:ext cx="5166360" cy="6328410"/>
            <a:chOff x="373379" y="217881"/>
            <a:chExt cx="5166360" cy="6328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79" y="217881"/>
              <a:ext cx="5166233" cy="632790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7804" y="573024"/>
              <a:ext cx="4516120" cy="5655945"/>
            </a:xfrm>
            <a:custGeom>
              <a:avLst/>
              <a:gdLst/>
              <a:ahLst/>
              <a:cxnLst/>
              <a:rect l="l" t="t" r="r" b="b"/>
              <a:pathLst>
                <a:path w="4516120" h="5655945">
                  <a:moveTo>
                    <a:pt x="4337812" y="0"/>
                  </a:moveTo>
                  <a:lnTo>
                    <a:pt x="177825" y="0"/>
                  </a:lnTo>
                  <a:lnTo>
                    <a:pt x="130552" y="6352"/>
                  </a:lnTo>
                  <a:lnTo>
                    <a:pt x="88074" y="24280"/>
                  </a:lnTo>
                  <a:lnTo>
                    <a:pt x="52084" y="52085"/>
                  </a:lnTo>
                  <a:lnTo>
                    <a:pt x="24278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5477738"/>
                  </a:lnTo>
                  <a:lnTo>
                    <a:pt x="6352" y="5525011"/>
                  </a:lnTo>
                  <a:lnTo>
                    <a:pt x="24278" y="5567489"/>
                  </a:lnTo>
                  <a:lnTo>
                    <a:pt x="52084" y="5603479"/>
                  </a:lnTo>
                  <a:lnTo>
                    <a:pt x="88074" y="5631285"/>
                  </a:lnTo>
                  <a:lnTo>
                    <a:pt x="130552" y="5649211"/>
                  </a:lnTo>
                  <a:lnTo>
                    <a:pt x="177825" y="5655564"/>
                  </a:lnTo>
                  <a:lnTo>
                    <a:pt x="4337812" y="5655564"/>
                  </a:lnTo>
                  <a:lnTo>
                    <a:pt x="4385069" y="5649211"/>
                  </a:lnTo>
                  <a:lnTo>
                    <a:pt x="4427539" y="5631285"/>
                  </a:lnTo>
                  <a:lnTo>
                    <a:pt x="4463526" y="5603479"/>
                  </a:lnTo>
                  <a:lnTo>
                    <a:pt x="4491331" y="5567489"/>
                  </a:lnTo>
                  <a:lnTo>
                    <a:pt x="4509259" y="5525011"/>
                  </a:lnTo>
                  <a:lnTo>
                    <a:pt x="4515612" y="5477738"/>
                  </a:lnTo>
                  <a:lnTo>
                    <a:pt x="4515612" y="177800"/>
                  </a:lnTo>
                  <a:lnTo>
                    <a:pt x="4509259" y="130542"/>
                  </a:lnTo>
                  <a:lnTo>
                    <a:pt x="4491331" y="88072"/>
                  </a:lnTo>
                  <a:lnTo>
                    <a:pt x="4463526" y="52085"/>
                  </a:lnTo>
                  <a:lnTo>
                    <a:pt x="4427539" y="24280"/>
                  </a:lnTo>
                  <a:lnTo>
                    <a:pt x="4385069" y="6352"/>
                  </a:lnTo>
                  <a:lnTo>
                    <a:pt x="4337812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804" y="573024"/>
              <a:ext cx="4516120" cy="5655945"/>
            </a:xfrm>
            <a:custGeom>
              <a:avLst/>
              <a:gdLst/>
              <a:ahLst/>
              <a:cxnLst/>
              <a:rect l="l" t="t" r="r" b="b"/>
              <a:pathLst>
                <a:path w="4516120" h="5655945">
                  <a:moveTo>
                    <a:pt x="0" y="177800"/>
                  </a:moveTo>
                  <a:lnTo>
                    <a:pt x="6352" y="130542"/>
                  </a:lnTo>
                  <a:lnTo>
                    <a:pt x="24278" y="88072"/>
                  </a:lnTo>
                  <a:lnTo>
                    <a:pt x="52084" y="52085"/>
                  </a:lnTo>
                  <a:lnTo>
                    <a:pt x="88074" y="24280"/>
                  </a:lnTo>
                  <a:lnTo>
                    <a:pt x="130552" y="6352"/>
                  </a:lnTo>
                  <a:lnTo>
                    <a:pt x="177825" y="0"/>
                  </a:lnTo>
                  <a:lnTo>
                    <a:pt x="4337812" y="0"/>
                  </a:lnTo>
                  <a:lnTo>
                    <a:pt x="4385069" y="6352"/>
                  </a:lnTo>
                  <a:lnTo>
                    <a:pt x="4427539" y="24280"/>
                  </a:lnTo>
                  <a:lnTo>
                    <a:pt x="4463526" y="52085"/>
                  </a:lnTo>
                  <a:lnTo>
                    <a:pt x="4491331" y="88072"/>
                  </a:lnTo>
                  <a:lnTo>
                    <a:pt x="4509259" y="130542"/>
                  </a:lnTo>
                  <a:lnTo>
                    <a:pt x="4515612" y="177800"/>
                  </a:lnTo>
                  <a:lnTo>
                    <a:pt x="4515612" y="5477738"/>
                  </a:lnTo>
                  <a:lnTo>
                    <a:pt x="4509259" y="5525011"/>
                  </a:lnTo>
                  <a:lnTo>
                    <a:pt x="4491331" y="5567489"/>
                  </a:lnTo>
                  <a:lnTo>
                    <a:pt x="4463526" y="5603479"/>
                  </a:lnTo>
                  <a:lnTo>
                    <a:pt x="4427539" y="5631285"/>
                  </a:lnTo>
                  <a:lnTo>
                    <a:pt x="4385069" y="5649211"/>
                  </a:lnTo>
                  <a:lnTo>
                    <a:pt x="4337812" y="5655564"/>
                  </a:lnTo>
                  <a:lnTo>
                    <a:pt x="177825" y="5655564"/>
                  </a:lnTo>
                  <a:lnTo>
                    <a:pt x="130552" y="5649211"/>
                  </a:lnTo>
                  <a:lnTo>
                    <a:pt x="88074" y="5631285"/>
                  </a:lnTo>
                  <a:lnTo>
                    <a:pt x="52084" y="5603479"/>
                  </a:lnTo>
                  <a:lnTo>
                    <a:pt x="24278" y="5567489"/>
                  </a:lnTo>
                  <a:lnTo>
                    <a:pt x="6352" y="5525011"/>
                  </a:lnTo>
                  <a:lnTo>
                    <a:pt x="0" y="5477738"/>
                  </a:lnTo>
                  <a:lnTo>
                    <a:pt x="0" y="177800"/>
                  </a:lnTo>
                  <a:close/>
                </a:path>
              </a:pathLst>
            </a:custGeom>
            <a:ln w="952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39800" y="695070"/>
            <a:ext cx="24745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Artificial</a:t>
            </a:r>
            <a:r>
              <a:rPr sz="14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urier New"/>
                <a:cs typeface="Courier New"/>
              </a:rPr>
              <a:t>Intelligence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75832" y="993647"/>
            <a:ext cx="637540" cy="586740"/>
          </a:xfrm>
          <a:custGeom>
            <a:avLst/>
            <a:gdLst/>
            <a:ahLst/>
            <a:cxnLst/>
            <a:rect l="l" t="t" r="r" b="b"/>
            <a:pathLst>
              <a:path w="637540" h="586740">
                <a:moveTo>
                  <a:pt x="169164" y="25908"/>
                </a:moveTo>
                <a:lnTo>
                  <a:pt x="167005" y="15646"/>
                </a:lnTo>
                <a:lnTo>
                  <a:pt x="161061" y="7442"/>
                </a:lnTo>
                <a:lnTo>
                  <a:pt x="152120" y="1981"/>
                </a:lnTo>
                <a:lnTo>
                  <a:pt x="140970" y="0"/>
                </a:lnTo>
                <a:lnTo>
                  <a:pt x="129806" y="1981"/>
                </a:lnTo>
                <a:lnTo>
                  <a:pt x="120865" y="7429"/>
                </a:lnTo>
                <a:lnTo>
                  <a:pt x="114922" y="15646"/>
                </a:lnTo>
                <a:lnTo>
                  <a:pt x="112776" y="25908"/>
                </a:lnTo>
                <a:lnTo>
                  <a:pt x="112776" y="77724"/>
                </a:lnTo>
                <a:lnTo>
                  <a:pt x="114922" y="87998"/>
                </a:lnTo>
                <a:lnTo>
                  <a:pt x="120865" y="96202"/>
                </a:lnTo>
                <a:lnTo>
                  <a:pt x="129806" y="101663"/>
                </a:lnTo>
                <a:lnTo>
                  <a:pt x="140970" y="103632"/>
                </a:lnTo>
                <a:lnTo>
                  <a:pt x="152120" y="101663"/>
                </a:lnTo>
                <a:lnTo>
                  <a:pt x="161061" y="96202"/>
                </a:lnTo>
                <a:lnTo>
                  <a:pt x="167005" y="87998"/>
                </a:lnTo>
                <a:lnTo>
                  <a:pt x="169164" y="77724"/>
                </a:lnTo>
                <a:lnTo>
                  <a:pt x="169164" y="25908"/>
                </a:lnTo>
                <a:close/>
              </a:path>
              <a:path w="637540" h="586740">
                <a:moveTo>
                  <a:pt x="637032" y="258953"/>
                </a:moveTo>
                <a:lnTo>
                  <a:pt x="580771" y="258953"/>
                </a:lnTo>
                <a:lnTo>
                  <a:pt x="580771" y="535051"/>
                </a:lnTo>
                <a:lnTo>
                  <a:pt x="637032" y="535051"/>
                </a:lnTo>
                <a:lnTo>
                  <a:pt x="637032" y="258953"/>
                </a:lnTo>
                <a:close/>
              </a:path>
              <a:path w="637540" h="586740">
                <a:moveTo>
                  <a:pt x="637032" y="207772"/>
                </a:moveTo>
                <a:lnTo>
                  <a:pt x="0" y="207772"/>
                </a:lnTo>
                <a:lnTo>
                  <a:pt x="0" y="258572"/>
                </a:lnTo>
                <a:lnTo>
                  <a:pt x="0" y="535432"/>
                </a:lnTo>
                <a:lnTo>
                  <a:pt x="0" y="586232"/>
                </a:lnTo>
                <a:lnTo>
                  <a:pt x="637032" y="586232"/>
                </a:lnTo>
                <a:lnTo>
                  <a:pt x="637032" y="535432"/>
                </a:lnTo>
                <a:lnTo>
                  <a:pt x="56261" y="535432"/>
                </a:lnTo>
                <a:lnTo>
                  <a:pt x="56261" y="258572"/>
                </a:lnTo>
                <a:lnTo>
                  <a:pt x="637032" y="258572"/>
                </a:lnTo>
                <a:lnTo>
                  <a:pt x="637032" y="207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32092" y="1267206"/>
            <a:ext cx="52451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Segoe UI"/>
                <a:cs typeface="Segoe UI"/>
              </a:rPr>
              <a:t>1956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75832" y="993647"/>
            <a:ext cx="637540" cy="172720"/>
          </a:xfrm>
          <a:custGeom>
            <a:avLst/>
            <a:gdLst/>
            <a:ahLst/>
            <a:cxnLst/>
            <a:rect l="l" t="t" r="r" b="b"/>
            <a:pathLst>
              <a:path w="637540" h="172719">
                <a:moveTo>
                  <a:pt x="524256" y="25908"/>
                </a:moveTo>
                <a:lnTo>
                  <a:pt x="522097" y="15646"/>
                </a:lnTo>
                <a:lnTo>
                  <a:pt x="516153" y="7442"/>
                </a:lnTo>
                <a:lnTo>
                  <a:pt x="507212" y="1981"/>
                </a:lnTo>
                <a:lnTo>
                  <a:pt x="496062" y="0"/>
                </a:lnTo>
                <a:lnTo>
                  <a:pt x="484898" y="1981"/>
                </a:lnTo>
                <a:lnTo>
                  <a:pt x="475957" y="7429"/>
                </a:lnTo>
                <a:lnTo>
                  <a:pt x="470014" y="15646"/>
                </a:lnTo>
                <a:lnTo>
                  <a:pt x="467868" y="25908"/>
                </a:lnTo>
                <a:lnTo>
                  <a:pt x="467868" y="77724"/>
                </a:lnTo>
                <a:lnTo>
                  <a:pt x="470014" y="87998"/>
                </a:lnTo>
                <a:lnTo>
                  <a:pt x="475957" y="96202"/>
                </a:lnTo>
                <a:lnTo>
                  <a:pt x="484898" y="101663"/>
                </a:lnTo>
                <a:lnTo>
                  <a:pt x="496062" y="103632"/>
                </a:lnTo>
                <a:lnTo>
                  <a:pt x="507212" y="101663"/>
                </a:lnTo>
                <a:lnTo>
                  <a:pt x="516153" y="96202"/>
                </a:lnTo>
                <a:lnTo>
                  <a:pt x="522097" y="87998"/>
                </a:lnTo>
                <a:lnTo>
                  <a:pt x="524256" y="77724"/>
                </a:lnTo>
                <a:lnTo>
                  <a:pt x="524256" y="25908"/>
                </a:lnTo>
                <a:close/>
              </a:path>
              <a:path w="637540" h="172719">
                <a:moveTo>
                  <a:pt x="637032" y="51816"/>
                </a:moveTo>
                <a:lnTo>
                  <a:pt x="562102" y="51816"/>
                </a:lnTo>
                <a:lnTo>
                  <a:pt x="562102" y="77597"/>
                </a:lnTo>
                <a:lnTo>
                  <a:pt x="556983" y="101155"/>
                </a:lnTo>
                <a:lnTo>
                  <a:pt x="543001" y="120281"/>
                </a:lnTo>
                <a:lnTo>
                  <a:pt x="522185" y="133108"/>
                </a:lnTo>
                <a:lnTo>
                  <a:pt x="496570" y="137795"/>
                </a:lnTo>
                <a:lnTo>
                  <a:pt x="470877" y="133108"/>
                </a:lnTo>
                <a:lnTo>
                  <a:pt x="450024" y="120269"/>
                </a:lnTo>
                <a:lnTo>
                  <a:pt x="436016" y="101155"/>
                </a:lnTo>
                <a:lnTo>
                  <a:pt x="430911" y="77597"/>
                </a:lnTo>
                <a:lnTo>
                  <a:pt x="430911" y="51816"/>
                </a:lnTo>
                <a:lnTo>
                  <a:pt x="206121" y="51816"/>
                </a:lnTo>
                <a:lnTo>
                  <a:pt x="206121" y="77597"/>
                </a:lnTo>
                <a:lnTo>
                  <a:pt x="201002" y="101155"/>
                </a:lnTo>
                <a:lnTo>
                  <a:pt x="187007" y="120281"/>
                </a:lnTo>
                <a:lnTo>
                  <a:pt x="166141" y="133108"/>
                </a:lnTo>
                <a:lnTo>
                  <a:pt x="140462" y="137795"/>
                </a:lnTo>
                <a:lnTo>
                  <a:pt x="114833" y="133108"/>
                </a:lnTo>
                <a:lnTo>
                  <a:pt x="94018" y="120269"/>
                </a:lnTo>
                <a:lnTo>
                  <a:pt x="80035" y="101155"/>
                </a:lnTo>
                <a:lnTo>
                  <a:pt x="74930" y="77597"/>
                </a:lnTo>
                <a:lnTo>
                  <a:pt x="74930" y="51816"/>
                </a:lnTo>
                <a:lnTo>
                  <a:pt x="0" y="51816"/>
                </a:lnTo>
                <a:lnTo>
                  <a:pt x="0" y="172212"/>
                </a:lnTo>
                <a:lnTo>
                  <a:pt x="637032" y="172212"/>
                </a:lnTo>
                <a:lnTo>
                  <a:pt x="637032" y="51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03109" y="855980"/>
            <a:ext cx="3914140" cy="974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5" dirty="0"/>
              <a:t>Artificial</a:t>
            </a:r>
            <a:r>
              <a:rPr sz="2000" spc="-65" dirty="0"/>
              <a:t> </a:t>
            </a:r>
            <a:r>
              <a:rPr sz="2000" spc="-10" dirty="0"/>
              <a:t>Intelligence</a:t>
            </a:r>
            <a:endParaRPr sz="2000"/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field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computer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science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that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seeks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create </a:t>
            </a:r>
            <a:r>
              <a:rPr sz="1400" dirty="0">
                <a:latin typeface="Segoe UI"/>
                <a:cs typeface="Segoe UI"/>
              </a:rPr>
              <a:t>intelligent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machines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that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can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replicate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or</a:t>
            </a:r>
            <a:r>
              <a:rPr sz="1400" spc="-10" dirty="0">
                <a:latin typeface="Segoe UI"/>
                <a:cs typeface="Segoe UI"/>
              </a:rPr>
              <a:t> exceed </a:t>
            </a:r>
            <a:r>
              <a:rPr sz="1400" dirty="0">
                <a:latin typeface="Segoe UI"/>
                <a:cs typeface="Segoe UI"/>
              </a:rPr>
              <a:t>human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intelligence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95159" y="2173223"/>
            <a:ext cx="4568190" cy="0"/>
          </a:xfrm>
          <a:custGeom>
            <a:avLst/>
            <a:gdLst/>
            <a:ahLst/>
            <a:cxnLst/>
            <a:rect l="l" t="t" r="r" b="b"/>
            <a:pathLst>
              <a:path w="4568190">
                <a:moveTo>
                  <a:pt x="0" y="0"/>
                </a:moveTo>
                <a:lnTo>
                  <a:pt x="4568063" y="0"/>
                </a:lnTo>
              </a:path>
            </a:pathLst>
          </a:custGeom>
          <a:ln w="12700">
            <a:solidFill>
              <a:srgbClr val="E8E6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042416" y="1353350"/>
            <a:ext cx="4415155" cy="5104130"/>
            <a:chOff x="1042416" y="1353350"/>
            <a:chExt cx="4415155" cy="510413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2416" y="1353350"/>
              <a:ext cx="4414774" cy="510413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9220" y="1696212"/>
              <a:ext cx="3779520" cy="4456430"/>
            </a:xfrm>
            <a:custGeom>
              <a:avLst/>
              <a:gdLst/>
              <a:ahLst/>
              <a:cxnLst/>
              <a:rect l="l" t="t" r="r" b="b"/>
              <a:pathLst>
                <a:path w="3779520" h="4456430">
                  <a:moveTo>
                    <a:pt x="3630676" y="0"/>
                  </a:moveTo>
                  <a:lnTo>
                    <a:pt x="148844" y="0"/>
                  </a:lnTo>
                  <a:lnTo>
                    <a:pt x="101811" y="7591"/>
                  </a:lnTo>
                  <a:lnTo>
                    <a:pt x="60953" y="28728"/>
                  </a:lnTo>
                  <a:lnTo>
                    <a:pt x="28728" y="60953"/>
                  </a:lnTo>
                  <a:lnTo>
                    <a:pt x="7591" y="101811"/>
                  </a:lnTo>
                  <a:lnTo>
                    <a:pt x="0" y="148843"/>
                  </a:lnTo>
                  <a:lnTo>
                    <a:pt x="0" y="4307344"/>
                  </a:lnTo>
                  <a:lnTo>
                    <a:pt x="7591" y="4354385"/>
                  </a:lnTo>
                  <a:lnTo>
                    <a:pt x="28728" y="4395241"/>
                  </a:lnTo>
                  <a:lnTo>
                    <a:pt x="60953" y="4427459"/>
                  </a:lnTo>
                  <a:lnTo>
                    <a:pt x="101811" y="4448588"/>
                  </a:lnTo>
                  <a:lnTo>
                    <a:pt x="148844" y="4456176"/>
                  </a:lnTo>
                  <a:lnTo>
                    <a:pt x="3630676" y="4456176"/>
                  </a:lnTo>
                  <a:lnTo>
                    <a:pt x="3677708" y="4448588"/>
                  </a:lnTo>
                  <a:lnTo>
                    <a:pt x="3718566" y="4427459"/>
                  </a:lnTo>
                  <a:lnTo>
                    <a:pt x="3750791" y="4395241"/>
                  </a:lnTo>
                  <a:lnTo>
                    <a:pt x="3771928" y="4354385"/>
                  </a:lnTo>
                  <a:lnTo>
                    <a:pt x="3779520" y="4307344"/>
                  </a:lnTo>
                  <a:lnTo>
                    <a:pt x="3779520" y="148843"/>
                  </a:lnTo>
                  <a:lnTo>
                    <a:pt x="3771928" y="101811"/>
                  </a:lnTo>
                  <a:lnTo>
                    <a:pt x="3750791" y="60953"/>
                  </a:lnTo>
                  <a:lnTo>
                    <a:pt x="3718566" y="28728"/>
                  </a:lnTo>
                  <a:lnTo>
                    <a:pt x="3677708" y="7591"/>
                  </a:lnTo>
                  <a:lnTo>
                    <a:pt x="3630676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79220" y="1696212"/>
              <a:ext cx="3779520" cy="4456430"/>
            </a:xfrm>
            <a:custGeom>
              <a:avLst/>
              <a:gdLst/>
              <a:ahLst/>
              <a:cxnLst/>
              <a:rect l="l" t="t" r="r" b="b"/>
              <a:pathLst>
                <a:path w="3779520" h="4456430">
                  <a:moveTo>
                    <a:pt x="0" y="148843"/>
                  </a:moveTo>
                  <a:lnTo>
                    <a:pt x="7591" y="101811"/>
                  </a:lnTo>
                  <a:lnTo>
                    <a:pt x="28728" y="60953"/>
                  </a:lnTo>
                  <a:lnTo>
                    <a:pt x="60953" y="28728"/>
                  </a:lnTo>
                  <a:lnTo>
                    <a:pt x="101811" y="7591"/>
                  </a:lnTo>
                  <a:lnTo>
                    <a:pt x="148844" y="0"/>
                  </a:lnTo>
                  <a:lnTo>
                    <a:pt x="3630676" y="0"/>
                  </a:lnTo>
                  <a:lnTo>
                    <a:pt x="3677708" y="7591"/>
                  </a:lnTo>
                  <a:lnTo>
                    <a:pt x="3718566" y="28728"/>
                  </a:lnTo>
                  <a:lnTo>
                    <a:pt x="3750791" y="60953"/>
                  </a:lnTo>
                  <a:lnTo>
                    <a:pt x="3771928" y="101811"/>
                  </a:lnTo>
                  <a:lnTo>
                    <a:pt x="3779520" y="148843"/>
                  </a:lnTo>
                  <a:lnTo>
                    <a:pt x="3779520" y="4307344"/>
                  </a:lnTo>
                  <a:lnTo>
                    <a:pt x="3771928" y="4354385"/>
                  </a:lnTo>
                  <a:lnTo>
                    <a:pt x="3750791" y="4395241"/>
                  </a:lnTo>
                  <a:lnTo>
                    <a:pt x="3718566" y="4427459"/>
                  </a:lnTo>
                  <a:lnTo>
                    <a:pt x="3677708" y="4448588"/>
                  </a:lnTo>
                  <a:lnTo>
                    <a:pt x="3630676" y="4456176"/>
                  </a:lnTo>
                  <a:lnTo>
                    <a:pt x="148844" y="4456176"/>
                  </a:lnTo>
                  <a:lnTo>
                    <a:pt x="101811" y="4448588"/>
                  </a:lnTo>
                  <a:lnTo>
                    <a:pt x="60953" y="4427459"/>
                  </a:lnTo>
                  <a:lnTo>
                    <a:pt x="28728" y="4395241"/>
                  </a:lnTo>
                  <a:lnTo>
                    <a:pt x="7591" y="4354385"/>
                  </a:lnTo>
                  <a:lnTo>
                    <a:pt x="0" y="4307344"/>
                  </a:lnTo>
                  <a:lnTo>
                    <a:pt x="0" y="148843"/>
                  </a:lnTo>
                  <a:close/>
                </a:path>
              </a:pathLst>
            </a:custGeom>
            <a:ln w="952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92707" y="1809369"/>
            <a:ext cx="1729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Machine</a:t>
            </a:r>
            <a:r>
              <a:rPr sz="14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urier New"/>
                <a:cs typeface="Courier New"/>
              </a:rPr>
              <a:t>Learning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75832" y="2493263"/>
            <a:ext cx="637540" cy="588010"/>
          </a:xfrm>
          <a:custGeom>
            <a:avLst/>
            <a:gdLst/>
            <a:ahLst/>
            <a:cxnLst/>
            <a:rect l="l" t="t" r="r" b="b"/>
            <a:pathLst>
              <a:path w="637540" h="588010">
                <a:moveTo>
                  <a:pt x="169164" y="25908"/>
                </a:moveTo>
                <a:lnTo>
                  <a:pt x="167005" y="15646"/>
                </a:lnTo>
                <a:lnTo>
                  <a:pt x="161061" y="7429"/>
                </a:lnTo>
                <a:lnTo>
                  <a:pt x="152120" y="1981"/>
                </a:lnTo>
                <a:lnTo>
                  <a:pt x="140970" y="0"/>
                </a:lnTo>
                <a:lnTo>
                  <a:pt x="129806" y="1981"/>
                </a:lnTo>
                <a:lnTo>
                  <a:pt x="120865" y="7429"/>
                </a:lnTo>
                <a:lnTo>
                  <a:pt x="114922" y="15646"/>
                </a:lnTo>
                <a:lnTo>
                  <a:pt x="112776" y="25908"/>
                </a:lnTo>
                <a:lnTo>
                  <a:pt x="112776" y="77724"/>
                </a:lnTo>
                <a:lnTo>
                  <a:pt x="114922" y="87998"/>
                </a:lnTo>
                <a:lnTo>
                  <a:pt x="120865" y="96215"/>
                </a:lnTo>
                <a:lnTo>
                  <a:pt x="129806" y="101663"/>
                </a:lnTo>
                <a:lnTo>
                  <a:pt x="140970" y="103632"/>
                </a:lnTo>
                <a:lnTo>
                  <a:pt x="152120" y="101663"/>
                </a:lnTo>
                <a:lnTo>
                  <a:pt x="161061" y="96215"/>
                </a:lnTo>
                <a:lnTo>
                  <a:pt x="167005" y="87998"/>
                </a:lnTo>
                <a:lnTo>
                  <a:pt x="169164" y="77724"/>
                </a:lnTo>
                <a:lnTo>
                  <a:pt x="169164" y="25908"/>
                </a:lnTo>
                <a:close/>
              </a:path>
              <a:path w="637540" h="588010">
                <a:moveTo>
                  <a:pt x="637032" y="259207"/>
                </a:moveTo>
                <a:lnTo>
                  <a:pt x="580771" y="259207"/>
                </a:lnTo>
                <a:lnTo>
                  <a:pt x="580771" y="536321"/>
                </a:lnTo>
                <a:lnTo>
                  <a:pt x="637032" y="536321"/>
                </a:lnTo>
                <a:lnTo>
                  <a:pt x="637032" y="259207"/>
                </a:lnTo>
                <a:close/>
              </a:path>
              <a:path w="637540" h="588010">
                <a:moveTo>
                  <a:pt x="637032" y="206756"/>
                </a:moveTo>
                <a:lnTo>
                  <a:pt x="0" y="206756"/>
                </a:lnTo>
                <a:lnTo>
                  <a:pt x="0" y="258826"/>
                </a:lnTo>
                <a:lnTo>
                  <a:pt x="0" y="536956"/>
                </a:lnTo>
                <a:lnTo>
                  <a:pt x="0" y="587756"/>
                </a:lnTo>
                <a:lnTo>
                  <a:pt x="637032" y="587756"/>
                </a:lnTo>
                <a:lnTo>
                  <a:pt x="637032" y="536956"/>
                </a:lnTo>
                <a:lnTo>
                  <a:pt x="56261" y="536956"/>
                </a:lnTo>
                <a:lnTo>
                  <a:pt x="56261" y="258826"/>
                </a:lnTo>
                <a:lnTo>
                  <a:pt x="637032" y="258826"/>
                </a:lnTo>
                <a:lnTo>
                  <a:pt x="637032" y="2067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32092" y="2767964"/>
            <a:ext cx="52451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Segoe UI"/>
                <a:cs typeface="Segoe UI"/>
              </a:rPr>
              <a:t>1997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75832" y="2493263"/>
            <a:ext cx="637540" cy="173990"/>
          </a:xfrm>
          <a:custGeom>
            <a:avLst/>
            <a:gdLst/>
            <a:ahLst/>
            <a:cxnLst/>
            <a:rect l="l" t="t" r="r" b="b"/>
            <a:pathLst>
              <a:path w="637540" h="173989">
                <a:moveTo>
                  <a:pt x="524256" y="25908"/>
                </a:moveTo>
                <a:lnTo>
                  <a:pt x="522097" y="15646"/>
                </a:lnTo>
                <a:lnTo>
                  <a:pt x="516153" y="7429"/>
                </a:lnTo>
                <a:lnTo>
                  <a:pt x="507212" y="1981"/>
                </a:lnTo>
                <a:lnTo>
                  <a:pt x="496062" y="0"/>
                </a:lnTo>
                <a:lnTo>
                  <a:pt x="484898" y="1981"/>
                </a:lnTo>
                <a:lnTo>
                  <a:pt x="475957" y="7429"/>
                </a:lnTo>
                <a:lnTo>
                  <a:pt x="470014" y="15646"/>
                </a:lnTo>
                <a:lnTo>
                  <a:pt x="467868" y="25908"/>
                </a:lnTo>
                <a:lnTo>
                  <a:pt x="467868" y="77724"/>
                </a:lnTo>
                <a:lnTo>
                  <a:pt x="470014" y="87998"/>
                </a:lnTo>
                <a:lnTo>
                  <a:pt x="475957" y="96215"/>
                </a:lnTo>
                <a:lnTo>
                  <a:pt x="484898" y="101663"/>
                </a:lnTo>
                <a:lnTo>
                  <a:pt x="496062" y="103632"/>
                </a:lnTo>
                <a:lnTo>
                  <a:pt x="507212" y="101663"/>
                </a:lnTo>
                <a:lnTo>
                  <a:pt x="516153" y="96215"/>
                </a:lnTo>
                <a:lnTo>
                  <a:pt x="522097" y="87998"/>
                </a:lnTo>
                <a:lnTo>
                  <a:pt x="524256" y="77724"/>
                </a:lnTo>
                <a:lnTo>
                  <a:pt x="524256" y="25908"/>
                </a:lnTo>
                <a:close/>
              </a:path>
              <a:path w="637540" h="173989">
                <a:moveTo>
                  <a:pt x="637032" y="53340"/>
                </a:moveTo>
                <a:lnTo>
                  <a:pt x="562102" y="53340"/>
                </a:lnTo>
                <a:lnTo>
                  <a:pt x="562102" y="79121"/>
                </a:lnTo>
                <a:lnTo>
                  <a:pt x="556983" y="102679"/>
                </a:lnTo>
                <a:lnTo>
                  <a:pt x="543001" y="121793"/>
                </a:lnTo>
                <a:lnTo>
                  <a:pt x="522185" y="134632"/>
                </a:lnTo>
                <a:lnTo>
                  <a:pt x="496570" y="139319"/>
                </a:lnTo>
                <a:lnTo>
                  <a:pt x="470877" y="134632"/>
                </a:lnTo>
                <a:lnTo>
                  <a:pt x="450024" y="121793"/>
                </a:lnTo>
                <a:lnTo>
                  <a:pt x="436016" y="102679"/>
                </a:lnTo>
                <a:lnTo>
                  <a:pt x="430911" y="79121"/>
                </a:lnTo>
                <a:lnTo>
                  <a:pt x="430911" y="53340"/>
                </a:lnTo>
                <a:lnTo>
                  <a:pt x="206121" y="53340"/>
                </a:lnTo>
                <a:lnTo>
                  <a:pt x="206121" y="79121"/>
                </a:lnTo>
                <a:lnTo>
                  <a:pt x="201002" y="102679"/>
                </a:lnTo>
                <a:lnTo>
                  <a:pt x="187007" y="121793"/>
                </a:lnTo>
                <a:lnTo>
                  <a:pt x="166141" y="134632"/>
                </a:lnTo>
                <a:lnTo>
                  <a:pt x="140462" y="139319"/>
                </a:lnTo>
                <a:lnTo>
                  <a:pt x="114833" y="134632"/>
                </a:lnTo>
                <a:lnTo>
                  <a:pt x="94018" y="121793"/>
                </a:lnTo>
                <a:lnTo>
                  <a:pt x="80035" y="102679"/>
                </a:lnTo>
                <a:lnTo>
                  <a:pt x="74930" y="79121"/>
                </a:lnTo>
                <a:lnTo>
                  <a:pt x="74930" y="53340"/>
                </a:lnTo>
                <a:lnTo>
                  <a:pt x="0" y="53340"/>
                </a:lnTo>
                <a:lnTo>
                  <a:pt x="0" y="173736"/>
                </a:lnTo>
                <a:lnTo>
                  <a:pt x="637032" y="173736"/>
                </a:lnTo>
                <a:lnTo>
                  <a:pt x="637032" y="533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103109" y="2433955"/>
            <a:ext cx="3957954" cy="974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Segoe UI Semibold"/>
                <a:cs typeface="Segoe UI Semibold"/>
              </a:rPr>
              <a:t>Machine</a:t>
            </a:r>
            <a:r>
              <a:rPr sz="2000" spc="-85" dirty="0">
                <a:latin typeface="Segoe UI Semibold"/>
                <a:cs typeface="Segoe UI Semibold"/>
              </a:rPr>
              <a:t> </a:t>
            </a:r>
            <a:r>
              <a:rPr sz="2000" spc="-10" dirty="0">
                <a:latin typeface="Segoe UI Semibold"/>
                <a:cs typeface="Segoe UI Semibold"/>
              </a:rPr>
              <a:t>Learning</a:t>
            </a:r>
            <a:endParaRPr sz="2000" dirty="0">
              <a:latin typeface="Segoe UI Semibold"/>
              <a:cs typeface="Segoe UI Semibold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Segoe UI"/>
                <a:cs typeface="Segoe UI"/>
              </a:rPr>
              <a:t>Subset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AI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that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enables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machines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learn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from </a:t>
            </a:r>
            <a:r>
              <a:rPr sz="1400" dirty="0">
                <a:latin typeface="Segoe UI"/>
                <a:cs typeface="Segoe UI"/>
              </a:rPr>
              <a:t>existing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data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improve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upon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that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data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 </a:t>
            </a:r>
            <a:r>
              <a:rPr sz="1400" spc="-20" dirty="0">
                <a:latin typeface="Segoe UI"/>
                <a:cs typeface="Segoe UI"/>
              </a:rPr>
              <a:t>make </a:t>
            </a:r>
            <a:r>
              <a:rPr sz="1400" dirty="0">
                <a:latin typeface="Segoe UI"/>
                <a:cs typeface="Segoe UI"/>
              </a:rPr>
              <a:t>decisions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or</a:t>
            </a:r>
            <a:r>
              <a:rPr sz="1400" spc="-10" dirty="0">
                <a:latin typeface="Segoe UI"/>
                <a:cs typeface="Segoe UI"/>
              </a:rPr>
              <a:t> predictions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95159" y="3750564"/>
            <a:ext cx="4568190" cy="0"/>
          </a:xfrm>
          <a:custGeom>
            <a:avLst/>
            <a:gdLst/>
            <a:ahLst/>
            <a:cxnLst/>
            <a:rect l="l" t="t" r="r" b="b"/>
            <a:pathLst>
              <a:path w="4568190">
                <a:moveTo>
                  <a:pt x="0" y="0"/>
                </a:moveTo>
                <a:lnTo>
                  <a:pt x="4568063" y="0"/>
                </a:lnTo>
              </a:path>
            </a:pathLst>
          </a:custGeom>
          <a:ln w="12700">
            <a:solidFill>
              <a:srgbClr val="E8E6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1696211" y="3195827"/>
            <a:ext cx="3670300" cy="3141345"/>
            <a:chOff x="1696211" y="3195827"/>
            <a:chExt cx="3670300" cy="314134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6211" y="3195827"/>
              <a:ext cx="3670046" cy="314121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025395" y="3520439"/>
              <a:ext cx="3049905" cy="2529840"/>
            </a:xfrm>
            <a:custGeom>
              <a:avLst/>
              <a:gdLst/>
              <a:ahLst/>
              <a:cxnLst/>
              <a:rect l="l" t="t" r="r" b="b"/>
              <a:pathLst>
                <a:path w="3049904" h="2529840">
                  <a:moveTo>
                    <a:pt x="2949956" y="0"/>
                  </a:moveTo>
                  <a:lnTo>
                    <a:pt x="99568" y="0"/>
                  </a:lnTo>
                  <a:lnTo>
                    <a:pt x="60811" y="7824"/>
                  </a:lnTo>
                  <a:lnTo>
                    <a:pt x="29162" y="29162"/>
                  </a:lnTo>
                  <a:lnTo>
                    <a:pt x="7824" y="60811"/>
                  </a:lnTo>
                  <a:lnTo>
                    <a:pt x="0" y="99568"/>
                  </a:lnTo>
                  <a:lnTo>
                    <a:pt x="0" y="2430208"/>
                  </a:lnTo>
                  <a:lnTo>
                    <a:pt x="7824" y="2468991"/>
                  </a:lnTo>
                  <a:lnTo>
                    <a:pt x="29162" y="2500660"/>
                  </a:lnTo>
                  <a:lnTo>
                    <a:pt x="60811" y="2522011"/>
                  </a:lnTo>
                  <a:lnTo>
                    <a:pt x="99568" y="2529840"/>
                  </a:lnTo>
                  <a:lnTo>
                    <a:pt x="2949956" y="2529840"/>
                  </a:lnTo>
                  <a:lnTo>
                    <a:pt x="2988712" y="2522011"/>
                  </a:lnTo>
                  <a:lnTo>
                    <a:pt x="3020361" y="2500660"/>
                  </a:lnTo>
                  <a:lnTo>
                    <a:pt x="3041699" y="2468991"/>
                  </a:lnTo>
                  <a:lnTo>
                    <a:pt x="3049524" y="2430208"/>
                  </a:lnTo>
                  <a:lnTo>
                    <a:pt x="3049524" y="99568"/>
                  </a:lnTo>
                  <a:lnTo>
                    <a:pt x="3041699" y="60811"/>
                  </a:lnTo>
                  <a:lnTo>
                    <a:pt x="3020361" y="29162"/>
                  </a:lnTo>
                  <a:lnTo>
                    <a:pt x="2988712" y="7824"/>
                  </a:lnTo>
                  <a:lnTo>
                    <a:pt x="2949956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25395" y="3520439"/>
              <a:ext cx="3049905" cy="2529840"/>
            </a:xfrm>
            <a:custGeom>
              <a:avLst/>
              <a:gdLst/>
              <a:ahLst/>
              <a:cxnLst/>
              <a:rect l="l" t="t" r="r" b="b"/>
              <a:pathLst>
                <a:path w="3049904" h="2529840">
                  <a:moveTo>
                    <a:pt x="0" y="99568"/>
                  </a:moveTo>
                  <a:lnTo>
                    <a:pt x="7824" y="60811"/>
                  </a:lnTo>
                  <a:lnTo>
                    <a:pt x="29162" y="29162"/>
                  </a:lnTo>
                  <a:lnTo>
                    <a:pt x="60811" y="7824"/>
                  </a:lnTo>
                  <a:lnTo>
                    <a:pt x="99568" y="0"/>
                  </a:lnTo>
                  <a:lnTo>
                    <a:pt x="2949956" y="0"/>
                  </a:lnTo>
                  <a:lnTo>
                    <a:pt x="2988712" y="7824"/>
                  </a:lnTo>
                  <a:lnTo>
                    <a:pt x="3020361" y="29162"/>
                  </a:lnTo>
                  <a:lnTo>
                    <a:pt x="3041699" y="60811"/>
                  </a:lnTo>
                  <a:lnTo>
                    <a:pt x="3049524" y="99568"/>
                  </a:lnTo>
                  <a:lnTo>
                    <a:pt x="3049524" y="2430208"/>
                  </a:lnTo>
                  <a:lnTo>
                    <a:pt x="3041699" y="2468991"/>
                  </a:lnTo>
                  <a:lnTo>
                    <a:pt x="3020361" y="2500660"/>
                  </a:lnTo>
                  <a:lnTo>
                    <a:pt x="2988712" y="2522011"/>
                  </a:lnTo>
                  <a:lnTo>
                    <a:pt x="2949956" y="2529840"/>
                  </a:lnTo>
                  <a:lnTo>
                    <a:pt x="99568" y="2529840"/>
                  </a:lnTo>
                  <a:lnTo>
                    <a:pt x="60811" y="2522011"/>
                  </a:lnTo>
                  <a:lnTo>
                    <a:pt x="29162" y="2500660"/>
                  </a:lnTo>
                  <a:lnTo>
                    <a:pt x="7824" y="2468991"/>
                  </a:lnTo>
                  <a:lnTo>
                    <a:pt x="0" y="2430208"/>
                  </a:lnTo>
                  <a:lnTo>
                    <a:pt x="0" y="99568"/>
                  </a:lnTo>
                  <a:close/>
                </a:path>
              </a:pathLst>
            </a:custGeom>
            <a:ln w="952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225420" y="3620770"/>
            <a:ext cx="14103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Deep</a:t>
            </a:r>
            <a:r>
              <a:rPr sz="14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urier New"/>
                <a:cs typeface="Courier New"/>
              </a:rPr>
              <a:t>Learning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75832" y="3994403"/>
            <a:ext cx="637540" cy="588010"/>
          </a:xfrm>
          <a:custGeom>
            <a:avLst/>
            <a:gdLst/>
            <a:ahLst/>
            <a:cxnLst/>
            <a:rect l="l" t="t" r="r" b="b"/>
            <a:pathLst>
              <a:path w="637540" h="588010">
                <a:moveTo>
                  <a:pt x="169164" y="25908"/>
                </a:moveTo>
                <a:lnTo>
                  <a:pt x="167005" y="15646"/>
                </a:lnTo>
                <a:lnTo>
                  <a:pt x="161061" y="7442"/>
                </a:lnTo>
                <a:lnTo>
                  <a:pt x="152120" y="1981"/>
                </a:lnTo>
                <a:lnTo>
                  <a:pt x="140970" y="0"/>
                </a:lnTo>
                <a:lnTo>
                  <a:pt x="129806" y="1981"/>
                </a:lnTo>
                <a:lnTo>
                  <a:pt x="120865" y="7429"/>
                </a:lnTo>
                <a:lnTo>
                  <a:pt x="114922" y="15646"/>
                </a:lnTo>
                <a:lnTo>
                  <a:pt x="112776" y="25908"/>
                </a:lnTo>
                <a:lnTo>
                  <a:pt x="112776" y="77724"/>
                </a:lnTo>
                <a:lnTo>
                  <a:pt x="114922" y="87998"/>
                </a:lnTo>
                <a:lnTo>
                  <a:pt x="120865" y="96202"/>
                </a:lnTo>
                <a:lnTo>
                  <a:pt x="129806" y="101663"/>
                </a:lnTo>
                <a:lnTo>
                  <a:pt x="140970" y="103632"/>
                </a:lnTo>
                <a:lnTo>
                  <a:pt x="152120" y="101663"/>
                </a:lnTo>
                <a:lnTo>
                  <a:pt x="161061" y="96215"/>
                </a:lnTo>
                <a:lnTo>
                  <a:pt x="167005" y="87998"/>
                </a:lnTo>
                <a:lnTo>
                  <a:pt x="169164" y="77724"/>
                </a:lnTo>
                <a:lnTo>
                  <a:pt x="169164" y="25908"/>
                </a:lnTo>
                <a:close/>
              </a:path>
              <a:path w="637540" h="588010">
                <a:moveTo>
                  <a:pt x="637032" y="259207"/>
                </a:moveTo>
                <a:lnTo>
                  <a:pt x="580771" y="259207"/>
                </a:lnTo>
                <a:lnTo>
                  <a:pt x="580771" y="536321"/>
                </a:lnTo>
                <a:lnTo>
                  <a:pt x="637032" y="536321"/>
                </a:lnTo>
                <a:lnTo>
                  <a:pt x="637032" y="259207"/>
                </a:lnTo>
                <a:close/>
              </a:path>
              <a:path w="637540" h="588010">
                <a:moveTo>
                  <a:pt x="637032" y="206756"/>
                </a:moveTo>
                <a:lnTo>
                  <a:pt x="0" y="206756"/>
                </a:lnTo>
                <a:lnTo>
                  <a:pt x="0" y="258826"/>
                </a:lnTo>
                <a:lnTo>
                  <a:pt x="0" y="536956"/>
                </a:lnTo>
                <a:lnTo>
                  <a:pt x="0" y="587756"/>
                </a:lnTo>
                <a:lnTo>
                  <a:pt x="637032" y="587756"/>
                </a:lnTo>
                <a:lnTo>
                  <a:pt x="637032" y="536956"/>
                </a:lnTo>
                <a:lnTo>
                  <a:pt x="56261" y="536956"/>
                </a:lnTo>
                <a:lnTo>
                  <a:pt x="56261" y="258826"/>
                </a:lnTo>
                <a:lnTo>
                  <a:pt x="637032" y="258826"/>
                </a:lnTo>
                <a:lnTo>
                  <a:pt x="637032" y="2067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32092" y="4269104"/>
            <a:ext cx="5245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Segoe UI"/>
                <a:cs typeface="Segoe UI"/>
              </a:rPr>
              <a:t>2017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275832" y="3994403"/>
            <a:ext cx="637540" cy="172720"/>
          </a:xfrm>
          <a:custGeom>
            <a:avLst/>
            <a:gdLst/>
            <a:ahLst/>
            <a:cxnLst/>
            <a:rect l="l" t="t" r="r" b="b"/>
            <a:pathLst>
              <a:path w="637540" h="172720">
                <a:moveTo>
                  <a:pt x="524256" y="25908"/>
                </a:moveTo>
                <a:lnTo>
                  <a:pt x="522097" y="15646"/>
                </a:lnTo>
                <a:lnTo>
                  <a:pt x="516153" y="7442"/>
                </a:lnTo>
                <a:lnTo>
                  <a:pt x="507212" y="1981"/>
                </a:lnTo>
                <a:lnTo>
                  <a:pt x="496062" y="0"/>
                </a:lnTo>
                <a:lnTo>
                  <a:pt x="484898" y="1981"/>
                </a:lnTo>
                <a:lnTo>
                  <a:pt x="475957" y="7429"/>
                </a:lnTo>
                <a:lnTo>
                  <a:pt x="470014" y="15646"/>
                </a:lnTo>
                <a:lnTo>
                  <a:pt x="467868" y="25908"/>
                </a:lnTo>
                <a:lnTo>
                  <a:pt x="467868" y="77724"/>
                </a:lnTo>
                <a:lnTo>
                  <a:pt x="470014" y="87998"/>
                </a:lnTo>
                <a:lnTo>
                  <a:pt x="475957" y="96202"/>
                </a:lnTo>
                <a:lnTo>
                  <a:pt x="484898" y="101663"/>
                </a:lnTo>
                <a:lnTo>
                  <a:pt x="496062" y="103632"/>
                </a:lnTo>
                <a:lnTo>
                  <a:pt x="507212" y="101663"/>
                </a:lnTo>
                <a:lnTo>
                  <a:pt x="516153" y="96215"/>
                </a:lnTo>
                <a:lnTo>
                  <a:pt x="522097" y="87998"/>
                </a:lnTo>
                <a:lnTo>
                  <a:pt x="524256" y="77724"/>
                </a:lnTo>
                <a:lnTo>
                  <a:pt x="524256" y="25908"/>
                </a:lnTo>
                <a:close/>
              </a:path>
              <a:path w="637540" h="172720">
                <a:moveTo>
                  <a:pt x="637032" y="51816"/>
                </a:moveTo>
                <a:lnTo>
                  <a:pt x="562102" y="51816"/>
                </a:lnTo>
                <a:lnTo>
                  <a:pt x="562102" y="77597"/>
                </a:lnTo>
                <a:lnTo>
                  <a:pt x="556983" y="101155"/>
                </a:lnTo>
                <a:lnTo>
                  <a:pt x="543001" y="120269"/>
                </a:lnTo>
                <a:lnTo>
                  <a:pt x="522185" y="133108"/>
                </a:lnTo>
                <a:lnTo>
                  <a:pt x="496570" y="137795"/>
                </a:lnTo>
                <a:lnTo>
                  <a:pt x="470877" y="133108"/>
                </a:lnTo>
                <a:lnTo>
                  <a:pt x="450024" y="120269"/>
                </a:lnTo>
                <a:lnTo>
                  <a:pt x="436016" y="101155"/>
                </a:lnTo>
                <a:lnTo>
                  <a:pt x="430911" y="77597"/>
                </a:lnTo>
                <a:lnTo>
                  <a:pt x="430911" y="51816"/>
                </a:lnTo>
                <a:lnTo>
                  <a:pt x="206121" y="51816"/>
                </a:lnTo>
                <a:lnTo>
                  <a:pt x="206121" y="77597"/>
                </a:lnTo>
                <a:lnTo>
                  <a:pt x="201002" y="101155"/>
                </a:lnTo>
                <a:lnTo>
                  <a:pt x="187007" y="120269"/>
                </a:lnTo>
                <a:lnTo>
                  <a:pt x="166141" y="133108"/>
                </a:lnTo>
                <a:lnTo>
                  <a:pt x="140462" y="137795"/>
                </a:lnTo>
                <a:lnTo>
                  <a:pt x="114833" y="133108"/>
                </a:lnTo>
                <a:lnTo>
                  <a:pt x="94018" y="120269"/>
                </a:lnTo>
                <a:lnTo>
                  <a:pt x="80035" y="101155"/>
                </a:lnTo>
                <a:lnTo>
                  <a:pt x="74930" y="77597"/>
                </a:lnTo>
                <a:lnTo>
                  <a:pt x="74930" y="51816"/>
                </a:lnTo>
                <a:lnTo>
                  <a:pt x="0" y="51816"/>
                </a:lnTo>
                <a:lnTo>
                  <a:pt x="0" y="172212"/>
                </a:lnTo>
                <a:lnTo>
                  <a:pt x="637032" y="172212"/>
                </a:lnTo>
                <a:lnTo>
                  <a:pt x="637032" y="51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103109" y="4011244"/>
            <a:ext cx="4304030" cy="761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5" dirty="0">
                <a:latin typeface="Segoe UI Semibold"/>
                <a:cs typeface="Segoe UI Semibold"/>
              </a:rPr>
              <a:t>Deep</a:t>
            </a:r>
            <a:r>
              <a:rPr sz="2000" spc="-100" dirty="0">
                <a:latin typeface="Segoe UI Semibold"/>
                <a:cs typeface="Segoe UI Semibold"/>
              </a:rPr>
              <a:t> </a:t>
            </a:r>
            <a:r>
              <a:rPr sz="2000" spc="-10" dirty="0">
                <a:latin typeface="Segoe UI Semibold"/>
                <a:cs typeface="Segoe UI Semibold"/>
              </a:rPr>
              <a:t>Learning</a:t>
            </a:r>
            <a:endParaRPr sz="2000">
              <a:latin typeface="Segoe UI Semibold"/>
              <a:cs typeface="Segoe UI Semibold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latin typeface="Segoe UI"/>
                <a:cs typeface="Segoe UI"/>
              </a:rPr>
              <a:t>A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machine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learning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technique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which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layers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10" dirty="0">
                <a:latin typeface="Segoe UI"/>
                <a:cs typeface="Segoe UI"/>
              </a:rPr>
              <a:t> neural </a:t>
            </a:r>
            <a:r>
              <a:rPr sz="1400" dirty="0">
                <a:latin typeface="Segoe UI"/>
                <a:cs typeface="Segoe UI"/>
              </a:rPr>
              <a:t>networks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are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used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process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data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make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decisions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995159" y="5113020"/>
            <a:ext cx="4568190" cy="0"/>
          </a:xfrm>
          <a:custGeom>
            <a:avLst/>
            <a:gdLst/>
            <a:ahLst/>
            <a:cxnLst/>
            <a:rect l="l" t="t" r="r" b="b"/>
            <a:pathLst>
              <a:path w="4568190">
                <a:moveTo>
                  <a:pt x="0" y="0"/>
                </a:moveTo>
                <a:lnTo>
                  <a:pt x="4568063" y="0"/>
                </a:lnTo>
              </a:path>
            </a:pathLst>
          </a:custGeom>
          <a:ln w="12700">
            <a:solidFill>
              <a:srgbClr val="E8E6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2673095" y="5364479"/>
            <a:ext cx="2432050" cy="709930"/>
            <a:chOff x="2673095" y="5364479"/>
            <a:chExt cx="2432050" cy="709930"/>
          </a:xfrm>
        </p:grpSpPr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3095" y="5364479"/>
              <a:ext cx="2431923" cy="70986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5287" y="5416295"/>
              <a:ext cx="2407539" cy="65497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94431" y="5385815"/>
              <a:ext cx="2310384" cy="588264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2846323" y="5488940"/>
            <a:ext cx="20066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Generative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AI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254496" y="5474208"/>
            <a:ext cx="758825" cy="722630"/>
            <a:chOff x="6254496" y="5474208"/>
            <a:chExt cx="758825" cy="722630"/>
          </a:xfrm>
        </p:grpSpPr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67272" y="5474208"/>
              <a:ext cx="178079" cy="22491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88608" y="5495544"/>
              <a:ext cx="56387" cy="10363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54496" y="5681472"/>
              <a:ext cx="758494" cy="50109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74308" y="5701284"/>
              <a:ext cx="718883" cy="49509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75832" y="5702300"/>
              <a:ext cx="637032" cy="37973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389623" y="5759297"/>
            <a:ext cx="4095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Segoe UI"/>
                <a:cs typeface="Segoe UI"/>
              </a:rPr>
              <a:t>2021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254496" y="5474208"/>
            <a:ext cx="758825" cy="294005"/>
            <a:chOff x="6254496" y="5474208"/>
            <a:chExt cx="758825" cy="294005"/>
          </a:xfrm>
        </p:grpSpPr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22364" y="5474208"/>
              <a:ext cx="178079" cy="22491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3700" y="5495544"/>
              <a:ext cx="56388" cy="10363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54496" y="5526024"/>
              <a:ext cx="758494" cy="24178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75832" y="5547360"/>
              <a:ext cx="637032" cy="120396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7125716" y="5432425"/>
            <a:ext cx="4099560" cy="468630"/>
            <a:chOff x="7125716" y="5432425"/>
            <a:chExt cx="4099560" cy="468630"/>
          </a:xfrm>
        </p:grpSpPr>
        <p:pic>
          <p:nvPicPr>
            <p:cNvPr id="50" name="object 5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25716" y="5432425"/>
              <a:ext cx="4099179" cy="25118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33844" y="5709627"/>
              <a:ext cx="786510" cy="191389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7103109" y="5357876"/>
            <a:ext cx="4236085" cy="104733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88265">
              <a:lnSpc>
                <a:spcPts val="2160"/>
              </a:lnSpc>
              <a:spcBef>
                <a:spcPts val="375"/>
              </a:spcBef>
            </a:pPr>
            <a:r>
              <a:rPr sz="2000" spc="-55" dirty="0">
                <a:latin typeface="Segoe UI Semibold"/>
                <a:cs typeface="Segoe UI Semibold"/>
              </a:rPr>
              <a:t>Generative</a:t>
            </a:r>
            <a:r>
              <a:rPr sz="2000" spc="-105" dirty="0">
                <a:latin typeface="Segoe UI Semibold"/>
                <a:cs typeface="Segoe UI Semibold"/>
              </a:rPr>
              <a:t> </a:t>
            </a:r>
            <a:r>
              <a:rPr sz="2000" spc="-20" dirty="0">
                <a:latin typeface="Segoe UI Semibold"/>
                <a:cs typeface="Segoe UI Semibold"/>
              </a:rPr>
              <a:t>AI</a:t>
            </a:r>
            <a:r>
              <a:rPr sz="2000" spc="-60" dirty="0">
                <a:latin typeface="Segoe UI Semibold"/>
                <a:cs typeface="Segoe UI Semibold"/>
              </a:rPr>
              <a:t> </a:t>
            </a:r>
            <a:r>
              <a:rPr sz="2000" spc="-55" dirty="0">
                <a:latin typeface="Segoe UI Semibold"/>
                <a:cs typeface="Segoe UI Semibold"/>
              </a:rPr>
              <a:t>powered</a:t>
            </a:r>
            <a:r>
              <a:rPr sz="2000" spc="-105" dirty="0">
                <a:latin typeface="Segoe UI Semibold"/>
                <a:cs typeface="Segoe UI Semibold"/>
              </a:rPr>
              <a:t> </a:t>
            </a:r>
            <a:r>
              <a:rPr sz="2000" spc="-30" dirty="0">
                <a:latin typeface="Segoe UI Semibold"/>
                <a:cs typeface="Segoe UI Semibold"/>
              </a:rPr>
              <a:t>by</a:t>
            </a:r>
            <a:r>
              <a:rPr sz="2000" spc="-75" dirty="0">
                <a:latin typeface="Segoe UI Semibold"/>
                <a:cs typeface="Segoe UI Semibold"/>
              </a:rPr>
              <a:t> </a:t>
            </a:r>
            <a:r>
              <a:rPr sz="2000" spc="-45" dirty="0">
                <a:latin typeface="Segoe UI Semibold"/>
                <a:cs typeface="Segoe UI Semibold"/>
              </a:rPr>
              <a:t>foundation </a:t>
            </a:r>
            <a:r>
              <a:rPr sz="2000" spc="-35" dirty="0">
                <a:latin typeface="Segoe UI Semibold"/>
                <a:cs typeface="Segoe UI Semibold"/>
              </a:rPr>
              <a:t>mode</a:t>
            </a:r>
            <a:r>
              <a:rPr sz="2000" spc="-114" dirty="0">
                <a:latin typeface="Segoe UI Semibold"/>
                <a:cs typeface="Segoe UI Semibold"/>
              </a:rPr>
              <a:t> </a:t>
            </a:r>
            <a:r>
              <a:rPr sz="2000" spc="-50" dirty="0">
                <a:latin typeface="Segoe UI Semibold"/>
                <a:cs typeface="Segoe UI Semibold"/>
              </a:rPr>
              <a:t>s</a:t>
            </a:r>
            <a:endParaRPr sz="2000">
              <a:latin typeface="Segoe UI Semibold"/>
              <a:cs typeface="Segoe UI Semibold"/>
            </a:endParaRPr>
          </a:p>
          <a:p>
            <a:pPr marL="12700" marR="5080">
              <a:lnSpc>
                <a:spcPts val="1680"/>
              </a:lnSpc>
              <a:spcBef>
                <a:spcPts val="50"/>
              </a:spcBef>
            </a:pPr>
            <a:r>
              <a:rPr sz="1400" dirty="0">
                <a:latin typeface="Segoe UI"/>
                <a:cs typeface="Segoe UI"/>
              </a:rPr>
              <a:t>Create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new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written,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visual,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auditory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content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given </a:t>
            </a:r>
            <a:r>
              <a:rPr sz="1400" dirty="0">
                <a:latin typeface="Segoe UI"/>
                <a:cs typeface="Segoe UI"/>
              </a:rPr>
              <a:t>prompts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or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existing</a:t>
            </a:r>
            <a:r>
              <a:rPr sz="1400" spc="-20" dirty="0">
                <a:latin typeface="Segoe UI"/>
                <a:cs typeface="Segoe UI"/>
              </a:rPr>
              <a:t> data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FFFFF"/>
                </a:solidFill>
              </a:rPr>
              <a:t>Path</a:t>
            </a:r>
            <a:r>
              <a:rPr spc="-1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to</a:t>
            </a:r>
            <a:r>
              <a:rPr spc="-185" dirty="0">
                <a:solidFill>
                  <a:srgbClr val="FFFFFF"/>
                </a:solidFill>
              </a:rPr>
              <a:t> </a:t>
            </a:r>
            <a:r>
              <a:rPr spc="-35" dirty="0">
                <a:solidFill>
                  <a:srgbClr val="FFFFFF"/>
                </a:solidFill>
              </a:rPr>
              <a:t>impact</a:t>
            </a:r>
            <a:r>
              <a:rPr spc="-21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and</a:t>
            </a:r>
            <a:r>
              <a:rPr spc="-200" dirty="0">
                <a:solidFill>
                  <a:srgbClr val="FFFFFF"/>
                </a:solidFill>
              </a:rPr>
              <a:t> </a:t>
            </a:r>
            <a:r>
              <a:rPr spc="-40" dirty="0">
                <a:solidFill>
                  <a:srgbClr val="FFFFFF"/>
                </a:solidFill>
              </a:rPr>
              <a:t>usecases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2407" y="1258824"/>
            <a:ext cx="7187183" cy="50154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5155" y="6506362"/>
            <a:ext cx="58267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Source:</a:t>
            </a:r>
            <a:r>
              <a:rPr sz="11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IDC,</a:t>
            </a:r>
            <a:r>
              <a:rPr sz="11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IDC</a:t>
            </a:r>
            <a:r>
              <a:rPr sz="11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PlanScape:</a:t>
            </a:r>
            <a:r>
              <a:rPr sz="11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Developing</a:t>
            </a:r>
            <a:r>
              <a:rPr sz="11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Your</a:t>
            </a:r>
            <a:r>
              <a:rPr sz="110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Path</a:t>
            </a:r>
            <a:r>
              <a:rPr sz="11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to</a:t>
            </a:r>
            <a:r>
              <a:rPr sz="11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Impact</a:t>
            </a:r>
            <a:r>
              <a:rPr sz="11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sz="11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Generative</a:t>
            </a:r>
            <a:r>
              <a:rPr sz="11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FFFFFF"/>
                </a:solidFill>
                <a:latin typeface="Segoe UI"/>
                <a:cs typeface="Segoe UI"/>
              </a:rPr>
              <a:t>AI,</a:t>
            </a:r>
            <a:r>
              <a:rPr sz="1100" spc="-10" dirty="0">
                <a:solidFill>
                  <a:srgbClr val="FFFFFF"/>
                </a:solidFill>
                <a:latin typeface="Segoe UI"/>
                <a:cs typeface="Segoe UI"/>
              </a:rPr>
              <a:t> #US51157323</a:t>
            </a:r>
            <a:endParaRPr sz="1100">
              <a:latin typeface="Segoe UI"/>
              <a:cs typeface="Segoe U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41B248C-9EED-3375-CACD-CABBFEAC63B2}"/>
                  </a:ext>
                </a:extLst>
              </p14:cNvPr>
              <p14:cNvContentPartPr/>
              <p14:nvPr/>
            </p14:nvContentPartPr>
            <p14:xfrm>
              <a:off x="1924200" y="2298600"/>
              <a:ext cx="660600" cy="597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41B248C-9EED-3375-CACD-CABBFEAC63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4840" y="2289240"/>
                <a:ext cx="679320" cy="61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9028" y="563752"/>
            <a:ext cx="5425694" cy="4460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38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Emerging</a:t>
            </a:r>
            <a:r>
              <a:rPr spc="-204" dirty="0"/>
              <a:t> </a:t>
            </a:r>
            <a:r>
              <a:rPr spc="-20" dirty="0"/>
              <a:t>model</a:t>
            </a:r>
            <a:r>
              <a:rPr spc="-200" dirty="0"/>
              <a:t> </a:t>
            </a:r>
            <a:r>
              <a:rPr spc="-35" dirty="0"/>
              <a:t>landscape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87676" y="1848992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6761" y="1836801"/>
            <a:ext cx="905510" cy="304800"/>
          </a:xfrm>
          <a:prstGeom prst="rect">
            <a:avLst/>
          </a:prstGeom>
          <a:solidFill>
            <a:srgbClr val="3A2D57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1800" spc="-20" dirty="0">
                <a:latin typeface="Segoe UI"/>
                <a:cs typeface="Segoe UI"/>
              </a:rPr>
              <a:t>OpenAI's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2310" y="1848992"/>
            <a:ext cx="6853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GPT2,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ChatGPT,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GPT-3,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GPT3.5,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GPT4.0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(language)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DALL-</a:t>
            </a:r>
            <a:r>
              <a:rPr sz="1800" dirty="0">
                <a:latin typeface="Segoe UI"/>
                <a:cs typeface="Segoe UI"/>
              </a:rPr>
              <a:t>E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2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(image),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4189" y="2123313"/>
            <a:ext cx="2199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Whisper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(speech)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7676" y="2397633"/>
            <a:ext cx="392302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Segoe UI"/>
                <a:cs typeface="Segoe UI"/>
              </a:rPr>
              <a:t>Stability.ai's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Stable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Diffusion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(image)</a:t>
            </a:r>
            <a:endParaRPr sz="1800" dirty="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Segoe UI"/>
                <a:cs typeface="Segoe UI"/>
              </a:rPr>
              <a:t>Midjourney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(image)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•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86761" y="2934080"/>
            <a:ext cx="862965" cy="304800"/>
          </a:xfrm>
          <a:prstGeom prst="rect">
            <a:avLst/>
          </a:prstGeom>
          <a:solidFill>
            <a:srgbClr val="3A2D57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1800" spc="-35" dirty="0">
                <a:latin typeface="Segoe UI"/>
                <a:cs typeface="Segoe UI"/>
              </a:rPr>
              <a:t>Google's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99638" y="2946653"/>
            <a:ext cx="6651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PaLM,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PaLM2,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LaMDA,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Minerva,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UL2,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Bard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(language),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Imagen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7676" y="3220973"/>
            <a:ext cx="78105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egoe UI"/>
                <a:cs typeface="Segoe UI"/>
              </a:rPr>
              <a:t>(image)</a:t>
            </a:r>
            <a:endParaRPr sz="1800" dirty="0">
              <a:latin typeface="Segoe UI"/>
              <a:cs typeface="Segoe U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Segoe UI"/>
                <a:cs typeface="Segoe UI"/>
              </a:rPr>
              <a:t>Google/DeepMind's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Chinchilla,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Retro-</a:t>
            </a:r>
            <a:r>
              <a:rPr sz="1800" dirty="0">
                <a:latin typeface="Segoe UI"/>
                <a:cs typeface="Segoe UI"/>
              </a:rPr>
              <a:t>7B,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AlphaCode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(language),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Flamingo,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Gato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(multimodal)</a:t>
            </a:r>
            <a:endParaRPr sz="1800" dirty="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7676" y="4043629"/>
            <a:ext cx="1060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6761" y="4031360"/>
            <a:ext cx="660400" cy="304800"/>
          </a:xfrm>
          <a:prstGeom prst="rect">
            <a:avLst/>
          </a:prstGeom>
          <a:solidFill>
            <a:srgbClr val="3A2D57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1800" spc="-25" dirty="0">
                <a:latin typeface="Segoe UI"/>
                <a:cs typeface="Segoe UI"/>
              </a:rPr>
              <a:t>Meta's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95422" y="4043629"/>
            <a:ext cx="6711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LLaMa,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NLLB,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OPT-</a:t>
            </a:r>
            <a:r>
              <a:rPr sz="1800" dirty="0">
                <a:latin typeface="Segoe UI"/>
                <a:cs typeface="Segoe UI"/>
              </a:rPr>
              <a:t>175B,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Sparse </a:t>
            </a:r>
            <a:r>
              <a:rPr sz="1800" spc="-10" dirty="0">
                <a:latin typeface="Segoe UI"/>
                <a:cs typeface="Segoe UI"/>
              </a:rPr>
              <a:t>all-</a:t>
            </a:r>
            <a:r>
              <a:rPr sz="1800" dirty="0">
                <a:latin typeface="Segoe UI"/>
                <a:cs typeface="Segoe UI"/>
              </a:rPr>
              <a:t>MLP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(language),</a:t>
            </a:r>
            <a:r>
              <a:rPr sz="1800" spc="-20" dirty="0">
                <a:latin typeface="Segoe UI"/>
                <a:cs typeface="Segoe UI"/>
              </a:rPr>
              <a:t> Make-</a:t>
            </a:r>
            <a:r>
              <a:rPr sz="1800" spc="-10" dirty="0">
                <a:latin typeface="Segoe UI"/>
                <a:cs typeface="Segoe UI"/>
              </a:rPr>
              <a:t>a-Video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4189" y="4318507"/>
            <a:ext cx="3518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(video),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data2vec</a:t>
            </a:r>
            <a:r>
              <a:rPr sz="1800" spc="-10" dirty="0">
                <a:latin typeface="Segoe UI"/>
                <a:cs typeface="Segoe UI"/>
              </a:rPr>
              <a:t> (multimodal)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761" y="4580001"/>
            <a:ext cx="1099185" cy="304800"/>
          </a:xfrm>
          <a:prstGeom prst="rect">
            <a:avLst/>
          </a:prstGeom>
          <a:solidFill>
            <a:srgbClr val="3A2D57"/>
          </a:solidFill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800" spc="-20" dirty="0">
                <a:latin typeface="Segoe UI"/>
                <a:cs typeface="Segoe UI"/>
              </a:rPr>
              <a:t>Microsoft's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4334" y="4592828"/>
            <a:ext cx="4742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DeepNet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(language)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MetaLM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(multimodal)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7676" y="4592828"/>
            <a:ext cx="3519804" cy="1322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Segoe UI"/>
                <a:cs typeface="Segoe UI"/>
              </a:rPr>
              <a:t>BigScience's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BLOOM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(language)</a:t>
            </a:r>
            <a:endParaRPr sz="1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Segoe UI"/>
                <a:cs typeface="Segoe UI"/>
              </a:rPr>
              <a:t>AI21</a:t>
            </a:r>
            <a:r>
              <a:rPr sz="1800" spc="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Labs'</a:t>
            </a:r>
            <a:r>
              <a:rPr sz="1800" spc="2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Jurassic-</a:t>
            </a:r>
            <a:r>
              <a:rPr sz="1800" dirty="0">
                <a:latin typeface="Segoe UI"/>
                <a:cs typeface="Segoe UI"/>
              </a:rPr>
              <a:t>X</a:t>
            </a:r>
            <a:r>
              <a:rPr sz="1800" spc="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(language)</a:t>
            </a:r>
            <a:endParaRPr sz="1800">
              <a:latin typeface="Segoe UI"/>
              <a:cs typeface="Segoe UI"/>
            </a:endParaRPr>
          </a:p>
          <a:p>
            <a:pPr marL="299085" indent="-287020">
              <a:lnSpc>
                <a:spcPts val="1864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Segoe UI"/>
                <a:cs typeface="Segoe UI"/>
              </a:rPr>
              <a:t>Dolly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2.0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(language)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ts val="1864"/>
              </a:lnSpc>
            </a:pPr>
            <a:r>
              <a:rPr sz="180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74189" y="5622747"/>
            <a:ext cx="1377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Segoe UI"/>
                <a:cs typeface="Segoe UI"/>
              </a:rPr>
              <a:t>…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5321" y="563752"/>
            <a:ext cx="4257929" cy="4460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215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spc="-210" dirty="0"/>
              <a:t> </a:t>
            </a:r>
            <a:r>
              <a:rPr spc="-30" dirty="0"/>
              <a:t>common</a:t>
            </a:r>
            <a:r>
              <a:rPr spc="-215" dirty="0"/>
              <a:t> </a:t>
            </a:r>
            <a:r>
              <a:rPr spc="-35" dirty="0"/>
              <a:t>thing…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263" y="2356104"/>
            <a:ext cx="4658868" cy="26228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35196" y="5225796"/>
            <a:ext cx="7525511" cy="13594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00344" y="2647188"/>
            <a:ext cx="5512308" cy="20452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0036" y="1441703"/>
            <a:ext cx="6685788" cy="667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3784" y="566673"/>
            <a:ext cx="3977259" cy="4431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885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Prompt</a:t>
            </a:r>
            <a:r>
              <a:rPr spc="-195" dirty="0"/>
              <a:t> </a:t>
            </a:r>
            <a:r>
              <a:rPr spc="-45" dirty="0"/>
              <a:t>Engineering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23234" y="2688717"/>
            <a:ext cx="714692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Segoe UI"/>
                <a:cs typeface="Segoe UI"/>
              </a:rPr>
              <a:t>Process</a:t>
            </a:r>
            <a:r>
              <a:rPr sz="3200" spc="-6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of</a:t>
            </a:r>
            <a:r>
              <a:rPr sz="3200" spc="-3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designing,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refining,</a:t>
            </a:r>
            <a:r>
              <a:rPr sz="3200" spc="-55" dirty="0">
                <a:latin typeface="Segoe UI"/>
                <a:cs typeface="Segoe UI"/>
              </a:rPr>
              <a:t> </a:t>
            </a:r>
            <a:r>
              <a:rPr sz="3200" spc="-25" dirty="0">
                <a:latin typeface="Segoe UI"/>
                <a:cs typeface="Segoe UI"/>
              </a:rPr>
              <a:t>and </a:t>
            </a:r>
            <a:r>
              <a:rPr sz="3200" dirty="0">
                <a:latin typeface="Segoe UI"/>
                <a:cs typeface="Segoe UI"/>
              </a:rPr>
              <a:t>optimizing</a:t>
            </a:r>
            <a:r>
              <a:rPr sz="3200" spc="-3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input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prompts</a:t>
            </a:r>
            <a:r>
              <a:rPr sz="3200" spc="-2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to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guide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spc="-60" dirty="0">
                <a:latin typeface="Segoe UI"/>
                <a:cs typeface="Segoe UI"/>
              </a:rPr>
              <a:t>a </a:t>
            </a:r>
            <a:r>
              <a:rPr sz="3200" dirty="0">
                <a:latin typeface="Segoe UI"/>
                <a:cs typeface="Segoe UI"/>
              </a:rPr>
              <a:t>model</a:t>
            </a:r>
            <a:r>
              <a:rPr sz="3200" spc="-5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toward</a:t>
            </a:r>
            <a:r>
              <a:rPr sz="3200" spc="-5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producing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more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accurate </a:t>
            </a:r>
            <a:r>
              <a:rPr sz="3200" dirty="0">
                <a:latin typeface="Segoe UI"/>
                <a:cs typeface="Segoe UI"/>
              </a:rPr>
              <a:t>outputs</a:t>
            </a:r>
            <a:r>
              <a:rPr sz="3200" spc="-3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while</a:t>
            </a:r>
            <a:r>
              <a:rPr sz="3200" spc="-2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keeping</a:t>
            </a:r>
            <a:r>
              <a:rPr sz="3200" spc="-5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cost</a:t>
            </a:r>
            <a:r>
              <a:rPr sz="3200" spc="-35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efficiency</a:t>
            </a:r>
            <a:endParaRPr sz="3200" dirty="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14044" y="2633472"/>
            <a:ext cx="2031364" cy="2061845"/>
            <a:chOff x="1114044" y="2633472"/>
            <a:chExt cx="2031364" cy="20618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4044" y="2633472"/>
              <a:ext cx="2031111" cy="20615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5610" y="2654547"/>
              <a:ext cx="1909341" cy="19403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6588" y="3144012"/>
              <a:ext cx="867156" cy="8686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8159" y="1322832"/>
            <a:ext cx="8813800" cy="5410200"/>
          </a:xfrm>
          <a:custGeom>
            <a:avLst/>
            <a:gdLst/>
            <a:ahLst/>
            <a:cxnLst/>
            <a:rect l="l" t="t" r="r" b="b"/>
            <a:pathLst>
              <a:path w="8813800" h="5410200">
                <a:moveTo>
                  <a:pt x="0" y="513079"/>
                </a:moveTo>
                <a:lnTo>
                  <a:pt x="2096" y="466383"/>
                </a:lnTo>
                <a:lnTo>
                  <a:pt x="8266" y="420860"/>
                </a:lnTo>
                <a:lnTo>
                  <a:pt x="18326" y="376693"/>
                </a:lnTo>
                <a:lnTo>
                  <a:pt x="32098" y="334061"/>
                </a:lnTo>
                <a:lnTo>
                  <a:pt x="49398" y="293147"/>
                </a:lnTo>
                <a:lnTo>
                  <a:pt x="70047" y="254131"/>
                </a:lnTo>
                <a:lnTo>
                  <a:pt x="93863" y="217195"/>
                </a:lnTo>
                <a:lnTo>
                  <a:pt x="120664" y="182521"/>
                </a:lnTo>
                <a:lnTo>
                  <a:pt x="150271" y="150288"/>
                </a:lnTo>
                <a:lnTo>
                  <a:pt x="182501" y="120679"/>
                </a:lnTo>
                <a:lnTo>
                  <a:pt x="217173" y="93875"/>
                </a:lnTo>
                <a:lnTo>
                  <a:pt x="254107" y="70056"/>
                </a:lnTo>
                <a:lnTo>
                  <a:pt x="293121" y="49405"/>
                </a:lnTo>
                <a:lnTo>
                  <a:pt x="334034" y="32102"/>
                </a:lnTo>
                <a:lnTo>
                  <a:pt x="376665" y="18329"/>
                </a:lnTo>
                <a:lnTo>
                  <a:pt x="420833" y="8267"/>
                </a:lnTo>
                <a:lnTo>
                  <a:pt x="466356" y="2097"/>
                </a:lnTo>
                <a:lnTo>
                  <a:pt x="513054" y="0"/>
                </a:lnTo>
                <a:lnTo>
                  <a:pt x="8300212" y="0"/>
                </a:lnTo>
                <a:lnTo>
                  <a:pt x="8346908" y="2097"/>
                </a:lnTo>
                <a:lnTo>
                  <a:pt x="8392431" y="8267"/>
                </a:lnTo>
                <a:lnTo>
                  <a:pt x="8436598" y="18329"/>
                </a:lnTo>
                <a:lnTo>
                  <a:pt x="8479230" y="32102"/>
                </a:lnTo>
                <a:lnTo>
                  <a:pt x="8520144" y="49405"/>
                </a:lnTo>
                <a:lnTo>
                  <a:pt x="8559160" y="70056"/>
                </a:lnTo>
                <a:lnTo>
                  <a:pt x="8596096" y="93875"/>
                </a:lnTo>
                <a:lnTo>
                  <a:pt x="8630770" y="120679"/>
                </a:lnTo>
                <a:lnTo>
                  <a:pt x="8663003" y="150288"/>
                </a:lnTo>
                <a:lnTo>
                  <a:pt x="8692612" y="182521"/>
                </a:lnTo>
                <a:lnTo>
                  <a:pt x="8719416" y="217195"/>
                </a:lnTo>
                <a:lnTo>
                  <a:pt x="8743235" y="254131"/>
                </a:lnTo>
                <a:lnTo>
                  <a:pt x="8763886" y="293147"/>
                </a:lnTo>
                <a:lnTo>
                  <a:pt x="8781189" y="334061"/>
                </a:lnTo>
                <a:lnTo>
                  <a:pt x="8794962" y="376693"/>
                </a:lnTo>
                <a:lnTo>
                  <a:pt x="8805024" y="420860"/>
                </a:lnTo>
                <a:lnTo>
                  <a:pt x="8811194" y="466383"/>
                </a:lnTo>
                <a:lnTo>
                  <a:pt x="8813292" y="513079"/>
                </a:lnTo>
                <a:lnTo>
                  <a:pt x="8813292" y="4897145"/>
                </a:lnTo>
                <a:lnTo>
                  <a:pt x="8811194" y="4943843"/>
                </a:lnTo>
                <a:lnTo>
                  <a:pt x="8805024" y="4989366"/>
                </a:lnTo>
                <a:lnTo>
                  <a:pt x="8794962" y="5033534"/>
                </a:lnTo>
                <a:lnTo>
                  <a:pt x="8781189" y="5076165"/>
                </a:lnTo>
                <a:lnTo>
                  <a:pt x="8763886" y="5117078"/>
                </a:lnTo>
                <a:lnTo>
                  <a:pt x="8743235" y="5156092"/>
                </a:lnTo>
                <a:lnTo>
                  <a:pt x="8719416" y="5193026"/>
                </a:lnTo>
                <a:lnTo>
                  <a:pt x="8692612" y="5227698"/>
                </a:lnTo>
                <a:lnTo>
                  <a:pt x="8663003" y="5259928"/>
                </a:lnTo>
                <a:lnTo>
                  <a:pt x="8630770" y="5289535"/>
                </a:lnTo>
                <a:lnTo>
                  <a:pt x="8596096" y="5316336"/>
                </a:lnTo>
                <a:lnTo>
                  <a:pt x="8559160" y="5340152"/>
                </a:lnTo>
                <a:lnTo>
                  <a:pt x="8520144" y="5360801"/>
                </a:lnTo>
                <a:lnTo>
                  <a:pt x="8479230" y="5378101"/>
                </a:lnTo>
                <a:lnTo>
                  <a:pt x="8436598" y="5391873"/>
                </a:lnTo>
                <a:lnTo>
                  <a:pt x="8392431" y="5401933"/>
                </a:lnTo>
                <a:lnTo>
                  <a:pt x="8346908" y="5408103"/>
                </a:lnTo>
                <a:lnTo>
                  <a:pt x="8300212" y="5410200"/>
                </a:lnTo>
                <a:lnTo>
                  <a:pt x="513054" y="5410200"/>
                </a:lnTo>
                <a:lnTo>
                  <a:pt x="466356" y="5408103"/>
                </a:lnTo>
                <a:lnTo>
                  <a:pt x="420833" y="5401933"/>
                </a:lnTo>
                <a:lnTo>
                  <a:pt x="376665" y="5391873"/>
                </a:lnTo>
                <a:lnTo>
                  <a:pt x="334034" y="5378101"/>
                </a:lnTo>
                <a:lnTo>
                  <a:pt x="293121" y="5360801"/>
                </a:lnTo>
                <a:lnTo>
                  <a:pt x="254107" y="5340152"/>
                </a:lnTo>
                <a:lnTo>
                  <a:pt x="217173" y="5316336"/>
                </a:lnTo>
                <a:lnTo>
                  <a:pt x="182501" y="5289535"/>
                </a:lnTo>
                <a:lnTo>
                  <a:pt x="150271" y="5259928"/>
                </a:lnTo>
                <a:lnTo>
                  <a:pt x="120664" y="5227698"/>
                </a:lnTo>
                <a:lnTo>
                  <a:pt x="93863" y="5193026"/>
                </a:lnTo>
                <a:lnTo>
                  <a:pt x="70047" y="5156092"/>
                </a:lnTo>
                <a:lnTo>
                  <a:pt x="49398" y="5117078"/>
                </a:lnTo>
                <a:lnTo>
                  <a:pt x="32098" y="5076165"/>
                </a:lnTo>
                <a:lnTo>
                  <a:pt x="18326" y="5033534"/>
                </a:lnTo>
                <a:lnTo>
                  <a:pt x="8266" y="4989366"/>
                </a:lnTo>
                <a:lnTo>
                  <a:pt x="2096" y="4943843"/>
                </a:lnTo>
                <a:lnTo>
                  <a:pt x="0" y="4897145"/>
                </a:lnTo>
                <a:lnTo>
                  <a:pt x="0" y="513079"/>
                </a:lnTo>
                <a:close/>
              </a:path>
            </a:pathLst>
          </a:custGeom>
          <a:ln w="76200">
            <a:solidFill>
              <a:srgbClr val="3535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3823" y="582041"/>
            <a:ext cx="3372866" cy="42773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82261" y="36061"/>
            <a:ext cx="343852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Prompt</a:t>
            </a:r>
            <a:r>
              <a:rPr spc="-195" dirty="0"/>
              <a:t> </a:t>
            </a:r>
            <a:r>
              <a:rPr spc="-40" dirty="0"/>
              <a:t>anatomy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610981" y="1521713"/>
            <a:ext cx="970915" cy="4491355"/>
            <a:chOff x="8610981" y="1521713"/>
            <a:chExt cx="970915" cy="4491355"/>
          </a:xfrm>
        </p:grpSpPr>
        <p:sp>
          <p:nvSpPr>
            <p:cNvPr id="6" name="object 6"/>
            <p:cNvSpPr/>
            <p:nvPr/>
          </p:nvSpPr>
          <p:spPr>
            <a:xfrm>
              <a:off x="8630031" y="1521713"/>
              <a:ext cx="900430" cy="571500"/>
            </a:xfrm>
            <a:custGeom>
              <a:avLst/>
              <a:gdLst/>
              <a:ahLst/>
              <a:cxnLst/>
              <a:rect l="l" t="t" r="r" b="b"/>
              <a:pathLst>
                <a:path w="900429" h="571500">
                  <a:moveTo>
                    <a:pt x="0" y="0"/>
                  </a:moveTo>
                  <a:lnTo>
                    <a:pt x="0" y="467868"/>
                  </a:lnTo>
                </a:path>
                <a:path w="900429" h="571500">
                  <a:moveTo>
                    <a:pt x="0" y="163575"/>
                  </a:moveTo>
                  <a:lnTo>
                    <a:pt x="900429" y="571500"/>
                  </a:lnTo>
                </a:path>
              </a:pathLst>
            </a:custGeom>
            <a:ln w="381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30031" y="2126741"/>
              <a:ext cx="900430" cy="571500"/>
            </a:xfrm>
            <a:custGeom>
              <a:avLst/>
              <a:gdLst/>
              <a:ahLst/>
              <a:cxnLst/>
              <a:rect l="l" t="t" r="r" b="b"/>
              <a:pathLst>
                <a:path w="900429" h="571500">
                  <a:moveTo>
                    <a:pt x="0" y="0"/>
                  </a:moveTo>
                  <a:lnTo>
                    <a:pt x="0" y="467868"/>
                  </a:lnTo>
                </a:path>
                <a:path w="900429" h="571500">
                  <a:moveTo>
                    <a:pt x="0" y="163575"/>
                  </a:moveTo>
                  <a:lnTo>
                    <a:pt x="900429" y="57150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30031" y="2721102"/>
              <a:ext cx="900430" cy="573405"/>
            </a:xfrm>
            <a:custGeom>
              <a:avLst/>
              <a:gdLst/>
              <a:ahLst/>
              <a:cxnLst/>
              <a:rect l="l" t="t" r="r" b="b"/>
              <a:pathLst>
                <a:path w="900429" h="573404">
                  <a:moveTo>
                    <a:pt x="0" y="0"/>
                  </a:moveTo>
                  <a:lnTo>
                    <a:pt x="0" y="469392"/>
                  </a:lnTo>
                </a:path>
                <a:path w="900429" h="573404">
                  <a:moveTo>
                    <a:pt x="0" y="164084"/>
                  </a:moveTo>
                  <a:lnTo>
                    <a:pt x="900429" y="573277"/>
                  </a:lnTo>
                </a:path>
              </a:pathLst>
            </a:custGeom>
            <a:ln w="38100">
              <a:solidFill>
                <a:srgbClr val="D4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031" y="3316986"/>
              <a:ext cx="900430" cy="571500"/>
            </a:xfrm>
            <a:custGeom>
              <a:avLst/>
              <a:gdLst/>
              <a:ahLst/>
              <a:cxnLst/>
              <a:rect l="l" t="t" r="r" b="b"/>
              <a:pathLst>
                <a:path w="900429" h="571500">
                  <a:moveTo>
                    <a:pt x="0" y="0"/>
                  </a:moveTo>
                  <a:lnTo>
                    <a:pt x="0" y="467868"/>
                  </a:lnTo>
                </a:path>
                <a:path w="900429" h="571500">
                  <a:moveTo>
                    <a:pt x="0" y="163575"/>
                  </a:moveTo>
                  <a:lnTo>
                    <a:pt x="900429" y="57150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30031" y="3903725"/>
              <a:ext cx="932815" cy="2109470"/>
            </a:xfrm>
            <a:custGeom>
              <a:avLst/>
              <a:gdLst/>
              <a:ahLst/>
              <a:cxnLst/>
              <a:rect l="l" t="t" r="r" b="b"/>
              <a:pathLst>
                <a:path w="932815" h="2109470">
                  <a:moveTo>
                    <a:pt x="0" y="0"/>
                  </a:moveTo>
                  <a:lnTo>
                    <a:pt x="0" y="2109216"/>
                  </a:lnTo>
                </a:path>
                <a:path w="932815" h="2109470">
                  <a:moveTo>
                    <a:pt x="0" y="737488"/>
                  </a:moveTo>
                  <a:lnTo>
                    <a:pt x="932688" y="1249680"/>
                  </a:lnTo>
                </a:path>
              </a:pathLst>
            </a:custGeom>
            <a:ln w="38100">
              <a:solidFill>
                <a:srgbClr val="50E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703689" y="1920367"/>
            <a:ext cx="1675764" cy="20721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Segoe UI"/>
                <a:cs typeface="Segoe UI"/>
              </a:rPr>
              <a:t>Instruction</a:t>
            </a:r>
            <a:endParaRPr sz="2000">
              <a:latin typeface="Segoe UI"/>
              <a:cs typeface="Segoe UI"/>
            </a:endParaRPr>
          </a:p>
          <a:p>
            <a:pPr marL="12700" marR="5080">
              <a:lnSpc>
                <a:spcPct val="200000"/>
              </a:lnSpc>
            </a:pPr>
            <a:r>
              <a:rPr sz="2000" b="1" dirty="0">
                <a:latin typeface="Segoe UI"/>
                <a:cs typeface="Segoe UI"/>
              </a:rPr>
              <a:t>Input</a:t>
            </a:r>
            <a:r>
              <a:rPr sz="2000" b="1" spc="-10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data </a:t>
            </a:r>
            <a:r>
              <a:rPr sz="2000" b="1" spc="-10" dirty="0">
                <a:latin typeface="Segoe UI"/>
                <a:cs typeface="Segoe UI"/>
              </a:rPr>
              <a:t>Context </a:t>
            </a:r>
            <a:r>
              <a:rPr sz="2000" b="1" spc="-20" dirty="0">
                <a:latin typeface="Segoe UI"/>
                <a:cs typeface="Segoe UI"/>
              </a:rPr>
              <a:t>Target</a:t>
            </a:r>
            <a:r>
              <a:rPr sz="2000" b="1" spc="-9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format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03689" y="4969002"/>
            <a:ext cx="1040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Segoe UI"/>
                <a:cs typeface="Segoe UI"/>
              </a:rPr>
              <a:t>Example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03689" y="6188455"/>
            <a:ext cx="4762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Segoe UI"/>
                <a:cs typeface="Segoe UI"/>
              </a:rPr>
              <a:t>Cue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630031" y="6124194"/>
            <a:ext cx="892810" cy="467995"/>
          </a:xfrm>
          <a:custGeom>
            <a:avLst/>
            <a:gdLst/>
            <a:ahLst/>
            <a:cxnLst/>
            <a:rect l="l" t="t" r="r" b="b"/>
            <a:pathLst>
              <a:path w="892809" h="467995">
                <a:moveTo>
                  <a:pt x="0" y="0"/>
                </a:moveTo>
                <a:lnTo>
                  <a:pt x="0" y="467867"/>
                </a:lnTo>
              </a:path>
              <a:path w="892809" h="467995">
                <a:moveTo>
                  <a:pt x="0" y="163588"/>
                </a:moveTo>
                <a:lnTo>
                  <a:pt x="892301" y="248132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4455" y="1532855"/>
            <a:ext cx="7348855" cy="535432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000" dirty="0">
                <a:latin typeface="Segoe UI"/>
                <a:cs typeface="Segoe UI"/>
              </a:rPr>
              <a:t>Write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product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launch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email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for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new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headphones.</a:t>
            </a:r>
            <a:endParaRPr sz="2000">
              <a:latin typeface="Segoe UI"/>
              <a:cs typeface="Segoe UI"/>
            </a:endParaRPr>
          </a:p>
          <a:p>
            <a:pPr marL="1159510">
              <a:lnSpc>
                <a:spcPts val="2175"/>
              </a:lnSpc>
              <a:spcBef>
                <a:spcPts val="455"/>
              </a:spcBef>
            </a:pPr>
            <a:r>
              <a:rPr sz="2000" dirty="0">
                <a:latin typeface="Segoe UI"/>
                <a:cs typeface="Segoe UI"/>
              </a:rPr>
              <a:t>&lt;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ts val="2175"/>
              </a:lnSpc>
            </a:pPr>
            <a:r>
              <a:rPr sz="2000" dirty="0">
                <a:latin typeface="Segoe UI"/>
                <a:cs typeface="Segoe UI"/>
              </a:rPr>
              <a:t>This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product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is AI-powered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priced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at</a:t>
            </a:r>
            <a:r>
              <a:rPr sz="2000" spc="-10" dirty="0">
                <a:latin typeface="Segoe UI"/>
                <a:cs typeface="Segoe UI"/>
              </a:rPr>
              <a:t> $79.99.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The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tone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is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friendly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exciting.</a:t>
            </a:r>
            <a:endParaRPr sz="2000">
              <a:latin typeface="Segoe UI"/>
              <a:cs typeface="Segoe UI"/>
            </a:endParaRPr>
          </a:p>
          <a:p>
            <a:pPr marL="12700" marR="919480">
              <a:lnSpc>
                <a:spcPct val="200000"/>
              </a:lnSpc>
            </a:pPr>
            <a:r>
              <a:rPr sz="2000" dirty="0">
                <a:latin typeface="Segoe UI"/>
                <a:cs typeface="Segoe UI"/>
              </a:rPr>
              <a:t>Output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JSON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object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"subject"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"body"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fields. Example: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{</a:t>
            </a:r>
            <a:endParaRPr sz="2000">
              <a:latin typeface="Segoe UI"/>
              <a:cs typeface="Segoe UI"/>
            </a:endParaRPr>
          </a:p>
          <a:p>
            <a:pPr marL="291465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"subject":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"Introducing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Our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New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AI-Powered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Headphones!",</a:t>
            </a:r>
            <a:endParaRPr sz="2000">
              <a:latin typeface="Segoe UI"/>
              <a:cs typeface="Segoe UI"/>
            </a:endParaRPr>
          </a:p>
          <a:p>
            <a:pPr marL="12700" marR="5080" indent="27876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Segoe UI"/>
                <a:cs typeface="Segoe UI"/>
              </a:rPr>
              <a:t>"body":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"We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are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thrilled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announce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launch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our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new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AI- </a:t>
            </a:r>
            <a:r>
              <a:rPr sz="2000" dirty="0">
                <a:latin typeface="Segoe UI"/>
                <a:cs typeface="Segoe UI"/>
              </a:rPr>
              <a:t>powered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headphones"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}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Segoe UI"/>
                <a:cs typeface="Segoe UI"/>
              </a:rPr>
              <a:t>Output:</a:t>
            </a:r>
            <a:endParaRPr sz="2000">
              <a:latin typeface="Segoe UI"/>
              <a:cs typeface="Segoe UI"/>
            </a:endParaRPr>
          </a:p>
          <a:p>
            <a:pPr marL="1159510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latin typeface="Segoe UI"/>
                <a:cs typeface="Segoe UI"/>
              </a:rPr>
              <a:t>&lt;</a:t>
            </a:r>
            <a:endParaRPr sz="2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9635" y="1165860"/>
            <a:ext cx="8827135" cy="5417820"/>
          </a:xfrm>
          <a:custGeom>
            <a:avLst/>
            <a:gdLst/>
            <a:ahLst/>
            <a:cxnLst/>
            <a:rect l="l" t="t" r="r" b="b"/>
            <a:pathLst>
              <a:path w="8827135" h="5417820">
                <a:moveTo>
                  <a:pt x="8313292" y="0"/>
                </a:moveTo>
                <a:lnTo>
                  <a:pt x="513714" y="0"/>
                </a:lnTo>
                <a:lnTo>
                  <a:pt x="466956" y="2099"/>
                </a:lnTo>
                <a:lnTo>
                  <a:pt x="421373" y="8276"/>
                </a:lnTo>
                <a:lnTo>
                  <a:pt x="377148" y="18350"/>
                </a:lnTo>
                <a:lnTo>
                  <a:pt x="334462" y="32139"/>
                </a:lnTo>
                <a:lnTo>
                  <a:pt x="293496" y="49461"/>
                </a:lnTo>
                <a:lnTo>
                  <a:pt x="254432" y="70136"/>
                </a:lnTo>
                <a:lnTo>
                  <a:pt x="217451" y="93983"/>
                </a:lnTo>
                <a:lnTo>
                  <a:pt x="182734" y="120818"/>
                </a:lnTo>
                <a:lnTo>
                  <a:pt x="150463" y="150463"/>
                </a:lnTo>
                <a:lnTo>
                  <a:pt x="120818" y="182734"/>
                </a:lnTo>
                <a:lnTo>
                  <a:pt x="93983" y="217451"/>
                </a:lnTo>
                <a:lnTo>
                  <a:pt x="70136" y="254432"/>
                </a:lnTo>
                <a:lnTo>
                  <a:pt x="49461" y="293496"/>
                </a:lnTo>
                <a:lnTo>
                  <a:pt x="32139" y="334462"/>
                </a:lnTo>
                <a:lnTo>
                  <a:pt x="18350" y="377148"/>
                </a:lnTo>
                <a:lnTo>
                  <a:pt x="8276" y="421373"/>
                </a:lnTo>
                <a:lnTo>
                  <a:pt x="2099" y="466956"/>
                </a:lnTo>
                <a:lnTo>
                  <a:pt x="0" y="513714"/>
                </a:lnTo>
                <a:lnTo>
                  <a:pt x="0" y="4904054"/>
                </a:lnTo>
                <a:lnTo>
                  <a:pt x="2099" y="4950817"/>
                </a:lnTo>
                <a:lnTo>
                  <a:pt x="8276" y="4996403"/>
                </a:lnTo>
                <a:lnTo>
                  <a:pt x="18350" y="5040632"/>
                </a:lnTo>
                <a:lnTo>
                  <a:pt x="32139" y="5083323"/>
                </a:lnTo>
                <a:lnTo>
                  <a:pt x="49461" y="5124292"/>
                </a:lnTo>
                <a:lnTo>
                  <a:pt x="70136" y="5163360"/>
                </a:lnTo>
                <a:lnTo>
                  <a:pt x="93983" y="5200345"/>
                </a:lnTo>
                <a:lnTo>
                  <a:pt x="120818" y="5235066"/>
                </a:lnTo>
                <a:lnTo>
                  <a:pt x="150463" y="5267340"/>
                </a:lnTo>
                <a:lnTo>
                  <a:pt x="182734" y="5296988"/>
                </a:lnTo>
                <a:lnTo>
                  <a:pt x="217451" y="5323826"/>
                </a:lnTo>
                <a:lnTo>
                  <a:pt x="254432" y="5347675"/>
                </a:lnTo>
                <a:lnTo>
                  <a:pt x="293496" y="5368352"/>
                </a:lnTo>
                <a:lnTo>
                  <a:pt x="334462" y="5385677"/>
                </a:lnTo>
                <a:lnTo>
                  <a:pt x="377148" y="5399467"/>
                </a:lnTo>
                <a:lnTo>
                  <a:pt x="421373" y="5409542"/>
                </a:lnTo>
                <a:lnTo>
                  <a:pt x="466956" y="5415720"/>
                </a:lnTo>
                <a:lnTo>
                  <a:pt x="513714" y="5417820"/>
                </a:lnTo>
                <a:lnTo>
                  <a:pt x="8313292" y="5417820"/>
                </a:lnTo>
                <a:lnTo>
                  <a:pt x="8360051" y="5415720"/>
                </a:lnTo>
                <a:lnTo>
                  <a:pt x="8405634" y="5409542"/>
                </a:lnTo>
                <a:lnTo>
                  <a:pt x="8449859" y="5399467"/>
                </a:lnTo>
                <a:lnTo>
                  <a:pt x="8492545" y="5385677"/>
                </a:lnTo>
                <a:lnTo>
                  <a:pt x="8533511" y="5368352"/>
                </a:lnTo>
                <a:lnTo>
                  <a:pt x="8572575" y="5347675"/>
                </a:lnTo>
                <a:lnTo>
                  <a:pt x="8609556" y="5323826"/>
                </a:lnTo>
                <a:lnTo>
                  <a:pt x="8644273" y="5296988"/>
                </a:lnTo>
                <a:lnTo>
                  <a:pt x="8676544" y="5267340"/>
                </a:lnTo>
                <a:lnTo>
                  <a:pt x="8706189" y="5235066"/>
                </a:lnTo>
                <a:lnTo>
                  <a:pt x="8733024" y="5200345"/>
                </a:lnTo>
                <a:lnTo>
                  <a:pt x="8756871" y="5163360"/>
                </a:lnTo>
                <a:lnTo>
                  <a:pt x="8777546" y="5124292"/>
                </a:lnTo>
                <a:lnTo>
                  <a:pt x="8794868" y="5083323"/>
                </a:lnTo>
                <a:lnTo>
                  <a:pt x="8808657" y="5040632"/>
                </a:lnTo>
                <a:lnTo>
                  <a:pt x="8818731" y="4996403"/>
                </a:lnTo>
                <a:lnTo>
                  <a:pt x="8824908" y="4950817"/>
                </a:lnTo>
                <a:lnTo>
                  <a:pt x="8827008" y="4904054"/>
                </a:lnTo>
                <a:lnTo>
                  <a:pt x="8827008" y="513714"/>
                </a:lnTo>
                <a:lnTo>
                  <a:pt x="8824908" y="466956"/>
                </a:lnTo>
                <a:lnTo>
                  <a:pt x="8818731" y="421373"/>
                </a:lnTo>
                <a:lnTo>
                  <a:pt x="8808657" y="377148"/>
                </a:lnTo>
                <a:lnTo>
                  <a:pt x="8794868" y="334462"/>
                </a:lnTo>
                <a:lnTo>
                  <a:pt x="8777546" y="293496"/>
                </a:lnTo>
                <a:lnTo>
                  <a:pt x="8756871" y="254432"/>
                </a:lnTo>
                <a:lnTo>
                  <a:pt x="8733024" y="217451"/>
                </a:lnTo>
                <a:lnTo>
                  <a:pt x="8706189" y="182734"/>
                </a:lnTo>
                <a:lnTo>
                  <a:pt x="8676544" y="150463"/>
                </a:lnTo>
                <a:lnTo>
                  <a:pt x="8644273" y="120818"/>
                </a:lnTo>
                <a:lnTo>
                  <a:pt x="8609556" y="93983"/>
                </a:lnTo>
                <a:lnTo>
                  <a:pt x="8572575" y="70136"/>
                </a:lnTo>
                <a:lnTo>
                  <a:pt x="8533511" y="49461"/>
                </a:lnTo>
                <a:lnTo>
                  <a:pt x="8492545" y="32139"/>
                </a:lnTo>
                <a:lnTo>
                  <a:pt x="8449859" y="18350"/>
                </a:lnTo>
                <a:lnTo>
                  <a:pt x="8405634" y="8276"/>
                </a:lnTo>
                <a:lnTo>
                  <a:pt x="8360051" y="2099"/>
                </a:lnTo>
                <a:lnTo>
                  <a:pt x="83132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4264" y="563752"/>
            <a:ext cx="1365504" cy="3437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3108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Tokens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3535" y="1333500"/>
            <a:ext cx="7424927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0928" y="558673"/>
            <a:ext cx="5517133" cy="4511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637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Prompts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215" dirty="0"/>
              <a:t> </a:t>
            </a:r>
            <a:r>
              <a:rPr spc="-10" dirty="0"/>
              <a:t>cost</a:t>
            </a:r>
            <a:r>
              <a:rPr spc="-215" dirty="0"/>
              <a:t> </a:t>
            </a:r>
            <a:r>
              <a:rPr spc="-45" dirty="0"/>
              <a:t>efficiency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1776983"/>
            <a:ext cx="5474208" cy="26487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5563" y="1850517"/>
            <a:ext cx="10678795" cy="3592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Segoe UI"/>
                <a:cs typeface="Segoe UI"/>
              </a:rPr>
              <a:t>Prompt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completion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length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 MT"/>
              <a:buChar char="•"/>
            </a:pPr>
            <a:endParaRPr sz="18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Segoe UI"/>
                <a:cs typeface="Segoe UI"/>
              </a:rPr>
              <a:t>Number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API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calls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production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Arial MT"/>
              <a:buChar char="•"/>
            </a:pPr>
            <a:endParaRPr sz="1800">
              <a:latin typeface="Segoe UI"/>
              <a:cs typeface="Segoe UI"/>
            </a:endParaRPr>
          </a:p>
          <a:p>
            <a:pPr marL="354965" marR="574929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Segoe UI"/>
                <a:cs typeface="Segoe UI"/>
              </a:rPr>
              <a:t>Number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API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calls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during</a:t>
            </a:r>
            <a:r>
              <a:rPr sz="2000" spc="-10" dirty="0">
                <a:latin typeface="Segoe UI"/>
                <a:cs typeface="Segoe UI"/>
              </a:rPr>
              <a:t> development </a:t>
            </a:r>
            <a:r>
              <a:rPr sz="2000" dirty="0">
                <a:latin typeface="Segoe UI"/>
                <a:cs typeface="Segoe UI"/>
              </a:rPr>
              <a:t>(experimentation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stage)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Arial MT"/>
              <a:buChar char="•"/>
            </a:pPr>
            <a:endParaRPr sz="18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Segoe UI"/>
                <a:cs typeface="Segoe UI"/>
              </a:rPr>
              <a:t>Type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deployed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model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Segoe UI"/>
                <a:cs typeface="Segoe UI"/>
              </a:rPr>
              <a:t>Model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selection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strategy: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Start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heaviest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models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gradually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ramp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down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cheaper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ones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while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result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is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satisfactory</a:t>
            </a:r>
            <a:endParaRPr sz="2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3348" y="1810004"/>
            <a:ext cx="516699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25" dirty="0">
                <a:latin typeface="Segoe UI"/>
                <a:cs typeface="Segoe UI"/>
              </a:rPr>
              <a:t>Tokens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can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sometimes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counter-intuitive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73348" y="4553839"/>
            <a:ext cx="367855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20" dirty="0">
                <a:latin typeface="Segoe UI"/>
                <a:cs typeface="Segoe UI"/>
              </a:rPr>
              <a:t>Tabular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data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is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space-efficient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7897" y="558673"/>
            <a:ext cx="3188207" cy="4511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Space</a:t>
            </a:r>
            <a:r>
              <a:rPr spc="-204" dirty="0"/>
              <a:t> </a:t>
            </a:r>
            <a:r>
              <a:rPr spc="-45" dirty="0"/>
              <a:t>efficiency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2047" y="1784604"/>
            <a:ext cx="3912107" cy="5242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50920" y="2793492"/>
            <a:ext cx="2097024" cy="15529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0082" y="563752"/>
            <a:ext cx="5303266" cy="3437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559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General</a:t>
            </a:r>
            <a:r>
              <a:rPr spc="-190" dirty="0"/>
              <a:t> </a:t>
            </a:r>
            <a:r>
              <a:rPr spc="-50" dirty="0"/>
              <a:t>recommendations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66517" y="2296795"/>
            <a:ext cx="520890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600" dirty="0">
                <a:latin typeface="Segoe UI"/>
                <a:cs typeface="Segoe UI"/>
              </a:rPr>
              <a:t>Be</a:t>
            </a:r>
            <a:r>
              <a:rPr sz="3600" spc="-10" dirty="0">
                <a:latin typeface="Segoe UI"/>
                <a:cs typeface="Segoe UI"/>
              </a:rPr>
              <a:t> specific</a:t>
            </a:r>
            <a:endParaRPr sz="36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3600" dirty="0">
                <a:latin typeface="Segoe UI"/>
                <a:cs typeface="Segoe UI"/>
              </a:rPr>
              <a:t>Order</a:t>
            </a:r>
            <a:r>
              <a:rPr sz="3600" spc="-55" dirty="0">
                <a:latin typeface="Segoe UI"/>
                <a:cs typeface="Segoe UI"/>
              </a:rPr>
              <a:t> </a:t>
            </a:r>
            <a:r>
              <a:rPr sz="3600" spc="-10" dirty="0">
                <a:latin typeface="Segoe UI"/>
                <a:cs typeface="Segoe UI"/>
              </a:rPr>
              <a:t>matters</a:t>
            </a:r>
            <a:endParaRPr sz="36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3600" dirty="0">
                <a:latin typeface="Segoe UI"/>
                <a:cs typeface="Segoe UI"/>
              </a:rPr>
              <a:t>Double</a:t>
            </a:r>
            <a:r>
              <a:rPr sz="3600" spc="-15" dirty="0">
                <a:latin typeface="Segoe UI"/>
                <a:cs typeface="Segoe UI"/>
              </a:rPr>
              <a:t> </a:t>
            </a:r>
            <a:r>
              <a:rPr sz="3600" spc="-20" dirty="0">
                <a:latin typeface="Segoe UI"/>
                <a:cs typeface="Segoe UI"/>
              </a:rPr>
              <a:t>down</a:t>
            </a:r>
            <a:endParaRPr sz="36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3600" dirty="0">
                <a:latin typeface="Segoe UI"/>
                <a:cs typeface="Segoe UI"/>
              </a:rPr>
              <a:t>Give</a:t>
            </a:r>
            <a:r>
              <a:rPr sz="3600" spc="-5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the model</a:t>
            </a:r>
            <a:r>
              <a:rPr sz="3600" spc="1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an </a:t>
            </a:r>
            <a:r>
              <a:rPr sz="3600" spc="-10" dirty="0">
                <a:latin typeface="Segoe UI"/>
                <a:cs typeface="Segoe UI"/>
              </a:rPr>
              <a:t>“out”</a:t>
            </a:r>
            <a:endParaRPr sz="3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0603" y="563752"/>
            <a:ext cx="5591429" cy="3437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7165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Technical</a:t>
            </a:r>
            <a:r>
              <a:rPr spc="-80" dirty="0"/>
              <a:t> </a:t>
            </a:r>
            <a:r>
              <a:rPr spc="-50" dirty="0"/>
              <a:t>recommendations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9469" y="1956942"/>
            <a:ext cx="914336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5080" indent="-5715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3565" algn="l"/>
                <a:tab pos="584835" algn="l"/>
              </a:tabLst>
            </a:pPr>
            <a:r>
              <a:rPr sz="3600" dirty="0">
                <a:latin typeface="Segoe UI"/>
                <a:cs typeface="Segoe UI"/>
              </a:rPr>
              <a:t>Start</a:t>
            </a:r>
            <a:r>
              <a:rPr sz="3600" spc="-5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with</a:t>
            </a:r>
            <a:r>
              <a:rPr sz="3600" spc="-1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clear</a:t>
            </a:r>
            <a:r>
              <a:rPr sz="3600" spc="-15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instructions and</a:t>
            </a:r>
            <a:r>
              <a:rPr sz="3600" spc="-1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repeat</a:t>
            </a:r>
            <a:r>
              <a:rPr sz="3600" spc="-5" dirty="0">
                <a:latin typeface="Segoe UI"/>
                <a:cs typeface="Segoe UI"/>
              </a:rPr>
              <a:t> </a:t>
            </a:r>
            <a:r>
              <a:rPr sz="3600" spc="-25" dirty="0">
                <a:latin typeface="Segoe UI"/>
                <a:cs typeface="Segoe UI"/>
              </a:rPr>
              <a:t>the </a:t>
            </a:r>
            <a:r>
              <a:rPr sz="3600" dirty="0">
                <a:latin typeface="Segoe UI"/>
                <a:cs typeface="Segoe UI"/>
              </a:rPr>
              <a:t>instructions</a:t>
            </a:r>
            <a:r>
              <a:rPr sz="3600" spc="-2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at</a:t>
            </a:r>
            <a:r>
              <a:rPr sz="3600" spc="-5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the</a:t>
            </a:r>
            <a:r>
              <a:rPr sz="3600" spc="15" dirty="0">
                <a:latin typeface="Segoe UI"/>
                <a:cs typeface="Segoe UI"/>
              </a:rPr>
              <a:t> </a:t>
            </a:r>
            <a:r>
              <a:rPr sz="3600" spc="-25" dirty="0">
                <a:latin typeface="Segoe UI"/>
                <a:cs typeface="Segoe UI"/>
              </a:rPr>
              <a:t>end</a:t>
            </a:r>
            <a:endParaRPr sz="3600">
              <a:latin typeface="Segoe UI"/>
              <a:cs typeface="Segoe UI"/>
            </a:endParaRPr>
          </a:p>
          <a:p>
            <a:pPr marL="583565" indent="-571500">
              <a:lnSpc>
                <a:spcPct val="100000"/>
              </a:lnSpc>
              <a:buFont typeface="Arial MT"/>
              <a:buChar char="•"/>
              <a:tabLst>
                <a:tab pos="583565" algn="l"/>
                <a:tab pos="584835" algn="l"/>
              </a:tabLst>
            </a:pPr>
            <a:r>
              <a:rPr sz="3600" dirty="0">
                <a:latin typeface="Segoe UI"/>
                <a:cs typeface="Segoe UI"/>
              </a:rPr>
              <a:t>Add</a:t>
            </a:r>
            <a:r>
              <a:rPr sz="3600" spc="-1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clear syntax: headers, </a:t>
            </a:r>
            <a:r>
              <a:rPr sz="3600" spc="-10" dirty="0">
                <a:latin typeface="Segoe UI"/>
                <a:cs typeface="Segoe UI"/>
              </a:rPr>
              <a:t>separators</a:t>
            </a:r>
            <a:endParaRPr sz="3600">
              <a:latin typeface="Segoe UI"/>
              <a:cs typeface="Segoe UI"/>
            </a:endParaRPr>
          </a:p>
          <a:p>
            <a:pPr marL="583565" indent="-571500">
              <a:lnSpc>
                <a:spcPct val="100000"/>
              </a:lnSpc>
              <a:buFont typeface="Arial MT"/>
              <a:buChar char="•"/>
              <a:tabLst>
                <a:tab pos="583565" algn="l"/>
                <a:tab pos="584835" algn="l"/>
              </a:tabLst>
            </a:pPr>
            <a:r>
              <a:rPr sz="3600" dirty="0">
                <a:latin typeface="Segoe UI"/>
                <a:cs typeface="Segoe UI"/>
              </a:rPr>
              <a:t>Break</a:t>
            </a:r>
            <a:r>
              <a:rPr sz="3600" spc="-1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the</a:t>
            </a:r>
            <a:r>
              <a:rPr sz="3600" spc="-2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task</a:t>
            </a:r>
            <a:r>
              <a:rPr sz="3600" spc="-20" dirty="0">
                <a:latin typeface="Segoe UI"/>
                <a:cs typeface="Segoe UI"/>
              </a:rPr>
              <a:t> down</a:t>
            </a:r>
            <a:endParaRPr sz="3600">
              <a:latin typeface="Segoe UI"/>
              <a:cs typeface="Segoe UI"/>
            </a:endParaRPr>
          </a:p>
          <a:p>
            <a:pPr marL="583565" marR="375285" indent="-571500">
              <a:lnSpc>
                <a:spcPct val="100000"/>
              </a:lnSpc>
              <a:buFont typeface="Arial MT"/>
              <a:buChar char="•"/>
              <a:tabLst>
                <a:tab pos="583565" algn="l"/>
                <a:tab pos="584835" algn="l"/>
              </a:tabLst>
            </a:pPr>
            <a:r>
              <a:rPr sz="3600" dirty="0">
                <a:latin typeface="Segoe UI"/>
                <a:cs typeface="Segoe UI"/>
              </a:rPr>
              <a:t>Adjust</a:t>
            </a:r>
            <a:r>
              <a:rPr sz="3600" spc="-8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parameters:</a:t>
            </a:r>
            <a:r>
              <a:rPr sz="3600" spc="-65" dirty="0">
                <a:latin typeface="Segoe UI"/>
                <a:cs typeface="Segoe UI"/>
              </a:rPr>
              <a:t> </a:t>
            </a:r>
            <a:r>
              <a:rPr sz="3600" spc="-25" dirty="0">
                <a:latin typeface="Segoe UI"/>
                <a:cs typeface="Segoe UI"/>
              </a:rPr>
              <a:t>Temperature</a:t>
            </a:r>
            <a:r>
              <a:rPr sz="3600" spc="-4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and</a:t>
            </a:r>
            <a:r>
              <a:rPr sz="3600" spc="-65" dirty="0">
                <a:latin typeface="Segoe UI"/>
                <a:cs typeface="Segoe UI"/>
              </a:rPr>
              <a:t> </a:t>
            </a:r>
            <a:r>
              <a:rPr sz="3600" spc="-110" dirty="0">
                <a:latin typeface="Segoe UI"/>
                <a:cs typeface="Segoe UI"/>
              </a:rPr>
              <a:t>Top </a:t>
            </a:r>
            <a:r>
              <a:rPr sz="3600" spc="-10" dirty="0">
                <a:latin typeface="Segoe UI"/>
                <a:cs typeface="Segoe UI"/>
              </a:rPr>
              <a:t>probabilities</a:t>
            </a:r>
            <a:endParaRPr sz="3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7095" y="582041"/>
            <a:ext cx="902843" cy="3255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874770" y="558673"/>
            <a:ext cx="5391150" cy="448945"/>
            <a:chOff x="3874770" y="558673"/>
            <a:chExt cx="5391150" cy="4489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4770" y="758242"/>
              <a:ext cx="121890" cy="381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0378" y="558673"/>
              <a:ext cx="2348611" cy="3488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9850" y="758242"/>
              <a:ext cx="121890" cy="381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85458" y="563753"/>
              <a:ext cx="2679954" cy="44361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3150">
              <a:lnSpc>
                <a:spcPct val="100000"/>
              </a:lnSpc>
              <a:spcBef>
                <a:spcPts val="100"/>
              </a:spcBef>
            </a:pPr>
            <a:r>
              <a:rPr dirty="0"/>
              <a:t>Zero</a:t>
            </a:r>
            <a:r>
              <a:rPr spc="204" dirty="0"/>
              <a:t> </a:t>
            </a:r>
            <a:r>
              <a:rPr spc="-10" dirty="0"/>
              <a:t>shot</a:t>
            </a:r>
            <a:r>
              <a:rPr spc="-200" dirty="0"/>
              <a:t> </a:t>
            </a:r>
            <a:r>
              <a:rPr dirty="0"/>
              <a:t>VS</a:t>
            </a:r>
            <a:r>
              <a:rPr spc="-210" dirty="0"/>
              <a:t> </a:t>
            </a:r>
            <a:r>
              <a:rPr dirty="0"/>
              <a:t>few</a:t>
            </a:r>
            <a:r>
              <a:rPr spc="204" dirty="0"/>
              <a:t> </a:t>
            </a:r>
            <a:r>
              <a:rPr spc="-10" dirty="0"/>
              <a:t>shot</a:t>
            </a:r>
            <a:r>
              <a:rPr spc="-210" dirty="0"/>
              <a:t> </a:t>
            </a:r>
            <a:r>
              <a:rPr spc="-40" dirty="0"/>
              <a:t>prompts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71601" y="1415287"/>
            <a:ext cx="5227320" cy="82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Segoe UI Semibold"/>
                <a:cs typeface="Segoe UI Semibold"/>
              </a:rPr>
              <a:t>Zero-</a:t>
            </a:r>
            <a:r>
              <a:rPr sz="2800" spc="-20" dirty="0">
                <a:solidFill>
                  <a:srgbClr val="FFFFFF"/>
                </a:solidFill>
                <a:latin typeface="Segoe UI Semibold"/>
                <a:cs typeface="Segoe UI Semibold"/>
              </a:rPr>
              <a:t>shot</a:t>
            </a:r>
            <a:endParaRPr sz="2800">
              <a:latin typeface="Segoe UI Semibold"/>
              <a:cs typeface="Segoe UI Semibold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200" b="1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model</a:t>
            </a:r>
            <a:r>
              <a:rPr sz="1200" b="1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predicts</a:t>
            </a:r>
            <a:r>
              <a:rPr sz="1200" b="1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200" b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answer</a:t>
            </a:r>
            <a:r>
              <a:rPr sz="1200" b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given</a:t>
            </a:r>
            <a:r>
              <a:rPr sz="1200" b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only</a:t>
            </a:r>
            <a:r>
              <a:rPr sz="1200" b="1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200" b="1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natural</a:t>
            </a:r>
            <a:r>
              <a:rPr sz="1200" b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language</a:t>
            </a:r>
            <a:r>
              <a:rPr sz="1200" b="1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Segoe UI"/>
                <a:cs typeface="Segoe UI"/>
              </a:rPr>
              <a:t>description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sz="1200" b="1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200" b="1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Segoe UI"/>
                <a:cs typeface="Segoe UI"/>
              </a:rPr>
              <a:t>task.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85686" y="1415287"/>
            <a:ext cx="5214620" cy="82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Segoe UI Semibold"/>
                <a:cs typeface="Segoe UI Semibold"/>
              </a:rPr>
              <a:t>Few-</a:t>
            </a:r>
            <a:r>
              <a:rPr sz="2800" spc="-20" dirty="0">
                <a:solidFill>
                  <a:srgbClr val="FFFFFF"/>
                </a:solidFill>
                <a:latin typeface="Segoe UI Semibold"/>
                <a:cs typeface="Segoe UI Semibold"/>
              </a:rPr>
              <a:t>shot</a:t>
            </a:r>
            <a:endParaRPr sz="2800">
              <a:latin typeface="Segoe UI Semibold"/>
              <a:cs typeface="Segoe UI Semibold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In</a:t>
            </a:r>
            <a:r>
              <a:rPr sz="1200" b="1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addition</a:t>
            </a:r>
            <a:r>
              <a:rPr sz="1200" b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to</a:t>
            </a:r>
            <a:r>
              <a:rPr sz="1200" b="1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200" b="1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task</a:t>
            </a:r>
            <a:r>
              <a:rPr sz="1200" b="1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description,</a:t>
            </a:r>
            <a:r>
              <a:rPr sz="1200" b="1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200" b="1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model</a:t>
            </a:r>
            <a:r>
              <a:rPr sz="1200" b="1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sees</a:t>
            </a:r>
            <a:r>
              <a:rPr sz="1200" b="1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1200" b="1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few</a:t>
            </a:r>
            <a:r>
              <a:rPr sz="1200" b="1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examples</a:t>
            </a:r>
            <a:r>
              <a:rPr sz="1200" b="1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sz="1200" b="1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Segoe UI"/>
                <a:cs typeface="Segoe UI"/>
              </a:rPr>
              <a:t>the </a:t>
            </a:r>
            <a:r>
              <a:rPr sz="1200" b="1" spc="-10" dirty="0">
                <a:solidFill>
                  <a:srgbClr val="FFFFFF"/>
                </a:solidFill>
                <a:latin typeface="Segoe UI"/>
                <a:cs typeface="Segoe UI"/>
              </a:rPr>
              <a:t>task.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9056" y="2292032"/>
            <a:ext cx="5403215" cy="1934210"/>
            <a:chOff x="579056" y="2292032"/>
            <a:chExt cx="5403215" cy="1934210"/>
          </a:xfrm>
        </p:grpSpPr>
        <p:sp>
          <p:nvSpPr>
            <p:cNvPr id="12" name="object 12"/>
            <p:cNvSpPr/>
            <p:nvPr/>
          </p:nvSpPr>
          <p:spPr>
            <a:xfrm>
              <a:off x="584454" y="2297430"/>
              <a:ext cx="5392420" cy="1923414"/>
            </a:xfrm>
            <a:custGeom>
              <a:avLst/>
              <a:gdLst/>
              <a:ahLst/>
              <a:cxnLst/>
              <a:rect l="l" t="t" r="r" b="b"/>
              <a:pathLst>
                <a:path w="5392420" h="1923414">
                  <a:moveTo>
                    <a:pt x="5391912" y="0"/>
                  </a:moveTo>
                  <a:lnTo>
                    <a:pt x="0" y="0"/>
                  </a:lnTo>
                  <a:lnTo>
                    <a:pt x="0" y="1923288"/>
                  </a:lnTo>
                  <a:lnTo>
                    <a:pt x="5391912" y="1923288"/>
                  </a:lnTo>
                  <a:lnTo>
                    <a:pt x="5391912" y="0"/>
                  </a:lnTo>
                  <a:close/>
                </a:path>
              </a:pathLst>
            </a:custGeom>
            <a:solidFill>
              <a:srgbClr val="005A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4454" y="2297430"/>
              <a:ext cx="5392420" cy="1923414"/>
            </a:xfrm>
            <a:custGeom>
              <a:avLst/>
              <a:gdLst/>
              <a:ahLst/>
              <a:cxnLst/>
              <a:rect l="l" t="t" r="r" b="b"/>
              <a:pathLst>
                <a:path w="5392420" h="1923414">
                  <a:moveTo>
                    <a:pt x="0" y="1923288"/>
                  </a:moveTo>
                  <a:lnTo>
                    <a:pt x="5391912" y="1923288"/>
                  </a:lnTo>
                  <a:lnTo>
                    <a:pt x="5391912" y="0"/>
                  </a:lnTo>
                  <a:lnTo>
                    <a:pt x="0" y="0"/>
                  </a:lnTo>
                  <a:lnTo>
                    <a:pt x="0" y="1923288"/>
                  </a:lnTo>
                  <a:close/>
                </a:path>
              </a:pathLst>
            </a:custGeom>
            <a:ln w="10795">
              <a:solidFill>
                <a:srgbClr val="38A9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67181" y="2407157"/>
            <a:ext cx="4515485" cy="1624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Classify</a:t>
            </a:r>
            <a:r>
              <a:rPr sz="13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customer's</a:t>
            </a:r>
            <a:r>
              <a:rPr sz="13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question.</a:t>
            </a:r>
            <a:r>
              <a:rPr sz="13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Classify</a:t>
            </a:r>
            <a:r>
              <a:rPr sz="13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between</a:t>
            </a:r>
            <a:r>
              <a:rPr sz="13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category</a:t>
            </a:r>
            <a:r>
              <a:rPr sz="13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r>
              <a:rPr sz="13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to</a:t>
            </a:r>
            <a:r>
              <a:rPr sz="13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Segoe UI"/>
                <a:cs typeface="Segoe UI"/>
              </a:rPr>
              <a:t>3.</a:t>
            </a:r>
            <a:endParaRPr sz="13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Detailed</a:t>
            </a:r>
            <a:r>
              <a:rPr sz="13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guidelines</a:t>
            </a:r>
            <a:r>
              <a:rPr sz="13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for</a:t>
            </a:r>
            <a:r>
              <a:rPr sz="13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how</a:t>
            </a:r>
            <a:r>
              <a:rPr sz="130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to</a:t>
            </a:r>
            <a:r>
              <a:rPr sz="13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choose:</a:t>
            </a:r>
            <a:endParaRPr sz="1300">
              <a:latin typeface="Segoe UI"/>
              <a:cs typeface="Segoe UI"/>
            </a:endParaRPr>
          </a:p>
          <a:p>
            <a:pPr marL="177800" marR="299720">
              <a:lnSpc>
                <a:spcPct val="153800"/>
              </a:lnSpc>
            </a:pP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choose</a:t>
            </a:r>
            <a:r>
              <a:rPr sz="13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if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3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question</a:t>
            </a:r>
            <a:r>
              <a:rPr sz="13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is</a:t>
            </a:r>
            <a:r>
              <a:rPr sz="13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about</a:t>
            </a:r>
            <a:r>
              <a:rPr sz="13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auto</a:t>
            </a:r>
            <a:r>
              <a:rPr sz="13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insurance.</a:t>
            </a:r>
            <a:r>
              <a:rPr sz="1300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choose</a:t>
            </a:r>
            <a:r>
              <a:rPr sz="13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if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300" spc="-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question</a:t>
            </a:r>
            <a:r>
              <a:rPr sz="13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is</a:t>
            </a:r>
            <a:r>
              <a:rPr sz="13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about</a:t>
            </a:r>
            <a:r>
              <a:rPr sz="13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home</a:t>
            </a:r>
            <a:r>
              <a:rPr sz="13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flood</a:t>
            </a:r>
            <a:r>
              <a:rPr sz="13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insurance.</a:t>
            </a:r>
            <a:endParaRPr sz="1300">
              <a:latin typeface="Segoe UI"/>
              <a:cs typeface="Segoe UI"/>
            </a:endParaRPr>
          </a:p>
          <a:p>
            <a:pPr marL="177800">
              <a:lnSpc>
                <a:spcPct val="100000"/>
              </a:lnSpc>
              <a:spcBef>
                <a:spcPts val="855"/>
              </a:spcBef>
            </a:pP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choose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r>
              <a:rPr sz="13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if</a:t>
            </a:r>
            <a:r>
              <a:rPr sz="13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3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question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is</a:t>
            </a:r>
            <a:r>
              <a:rPr sz="13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not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relevant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to</a:t>
            </a:r>
            <a:r>
              <a:rPr sz="13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insurance.</a:t>
            </a:r>
            <a:endParaRPr sz="1300">
              <a:latin typeface="Segoe UI"/>
              <a:cs typeface="Segoe UI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393116" y="2292032"/>
          <a:ext cx="5506085" cy="401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0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6182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Classify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customer's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question.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Classify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between</a:t>
                      </a:r>
                      <a:r>
                        <a:rPr sz="1300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category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3.</a:t>
                      </a:r>
                      <a:endParaRPr sz="1300">
                        <a:latin typeface="Segoe UI"/>
                        <a:cs typeface="Segoe U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18224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Detailed</a:t>
                      </a:r>
                      <a:r>
                        <a:rPr sz="1300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guidelines</a:t>
                      </a:r>
                      <a:r>
                        <a:rPr sz="1300" spc="-1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1300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how</a:t>
                      </a:r>
                      <a:r>
                        <a:rPr sz="1300" spc="-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choose:</a:t>
                      </a:r>
                      <a:endParaRPr sz="1300">
                        <a:latin typeface="Segoe UI"/>
                        <a:cs typeface="Segoe UI"/>
                      </a:endParaRPr>
                    </a:p>
                    <a:p>
                      <a:pPr marL="360680" marR="1107440">
                        <a:lnSpc>
                          <a:spcPct val="1538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choose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if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about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auto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insurance.</a:t>
                      </a:r>
                      <a:r>
                        <a:rPr sz="1300" spc="5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choose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if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00" spc="-5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about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home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flood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insurance.</a:t>
                      </a:r>
                      <a:endParaRPr sz="1300">
                        <a:latin typeface="Segoe UI"/>
                        <a:cs typeface="Segoe UI"/>
                      </a:endParaRPr>
                    </a:p>
                    <a:p>
                      <a:pPr marL="36068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choose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if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00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not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relevant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insurance.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38A9BB"/>
                      </a:solidFill>
                      <a:prstDash val="solid"/>
                    </a:lnL>
                    <a:lnR w="12700">
                      <a:solidFill>
                        <a:srgbClr val="38A9BB"/>
                      </a:solidFill>
                      <a:prstDash val="solid"/>
                    </a:lnR>
                    <a:lnT w="12700">
                      <a:solidFill>
                        <a:srgbClr val="38A9BB"/>
                      </a:solidFill>
                      <a:prstDash val="solid"/>
                    </a:lnT>
                    <a:lnB w="12700">
                      <a:solidFill>
                        <a:srgbClr val="38A9BB"/>
                      </a:solidFill>
                      <a:prstDash val="solid"/>
                    </a:lnB>
                    <a:solidFill>
                      <a:srgbClr val="005A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6045">
                <a:tc>
                  <a:txBody>
                    <a:bodyPr/>
                    <a:lstStyle/>
                    <a:p>
                      <a:pPr marL="182245" marR="11455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Customer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question: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Hi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there,</a:t>
                      </a:r>
                      <a:r>
                        <a:rPr sz="1300" spc="-5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do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you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know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how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00" spc="-5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choose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flood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insurance?</a:t>
                      </a:r>
                      <a:endParaRPr sz="1300">
                        <a:latin typeface="Segoe UI"/>
                        <a:cs typeface="Segoe UI"/>
                      </a:endParaRPr>
                    </a:p>
                    <a:p>
                      <a:pPr marL="18224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Classified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topic: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300">
                        <a:latin typeface="Segoe UI"/>
                        <a:cs typeface="Segoe U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82245" marR="31686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Customer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question: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Hi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there,</a:t>
                      </a:r>
                      <a:r>
                        <a:rPr sz="1300" spc="-5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have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on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my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auto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insurance. Classified</a:t>
                      </a:r>
                      <a:r>
                        <a:rPr sz="13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topic: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38A9BB"/>
                      </a:solidFill>
                      <a:prstDash val="solid"/>
                    </a:lnL>
                    <a:lnR w="12700">
                      <a:solidFill>
                        <a:srgbClr val="38A9BB"/>
                      </a:solidFill>
                      <a:prstDash val="solid"/>
                    </a:lnR>
                    <a:lnT w="12700">
                      <a:solidFill>
                        <a:srgbClr val="38A9BB"/>
                      </a:solidFill>
                      <a:prstDash val="solid"/>
                    </a:lnT>
                    <a:lnB w="12700">
                      <a:solidFill>
                        <a:srgbClr val="38A9BB"/>
                      </a:solidFill>
                      <a:prstDash val="solid"/>
                    </a:lnB>
                    <a:solidFill>
                      <a:srgbClr val="0E7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33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Customer</a:t>
                      </a:r>
                      <a:r>
                        <a:rPr sz="1300" spc="-5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question:</a:t>
                      </a:r>
                      <a:r>
                        <a:rPr sz="1300" spc="-6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{insert</a:t>
                      </a:r>
                      <a:r>
                        <a:rPr sz="1300" spc="-6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new</a:t>
                      </a:r>
                      <a:r>
                        <a:rPr sz="1300" spc="-6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</a:t>
                      </a:r>
                      <a:r>
                        <a:rPr sz="1300" spc="-7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here}</a:t>
                      </a:r>
                      <a:endParaRPr sz="1300">
                        <a:latin typeface="Segoe UI"/>
                        <a:cs typeface="Segoe UI"/>
                      </a:endParaRPr>
                    </a:p>
                    <a:p>
                      <a:pPr marL="18224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Classified</a:t>
                      </a:r>
                      <a:r>
                        <a:rPr sz="1300" spc="-1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topic: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38A9BB"/>
                      </a:solidFill>
                      <a:prstDash val="solid"/>
                    </a:lnL>
                    <a:lnR w="12700">
                      <a:solidFill>
                        <a:srgbClr val="38A9BB"/>
                      </a:solidFill>
                      <a:prstDash val="solid"/>
                    </a:lnR>
                    <a:lnT w="12700">
                      <a:solidFill>
                        <a:srgbClr val="38A9BB"/>
                      </a:solidFill>
                      <a:prstDash val="solid"/>
                    </a:lnT>
                    <a:lnB w="12700">
                      <a:solidFill>
                        <a:srgbClr val="38A9BB"/>
                      </a:solidFill>
                      <a:prstDash val="solid"/>
                    </a:lnB>
                    <a:solidFill>
                      <a:srgbClr val="1B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584454" y="4221479"/>
            <a:ext cx="5392420" cy="787400"/>
          </a:xfrm>
          <a:prstGeom prst="rect">
            <a:avLst/>
          </a:prstGeom>
          <a:solidFill>
            <a:srgbClr val="1B2C46"/>
          </a:solidFill>
          <a:ln w="10795">
            <a:solidFill>
              <a:srgbClr val="38A9BB"/>
            </a:solidFill>
          </a:ln>
        </p:spPr>
        <p:txBody>
          <a:bodyPr vert="horz" wrap="square" lIns="0" tIns="14605" rIns="0" bIns="0" rtlCol="0">
            <a:spAutoFit/>
          </a:bodyPr>
          <a:lstStyle/>
          <a:p>
            <a:pPr marL="182245" marR="337185">
              <a:lnSpc>
                <a:spcPct val="154600"/>
              </a:lnSpc>
              <a:spcBef>
                <a:spcPts val="115"/>
              </a:spcBef>
            </a:pP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Customer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question:</a:t>
            </a:r>
            <a:r>
              <a:rPr sz="13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What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packages</a:t>
            </a:r>
            <a:r>
              <a:rPr sz="13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do</a:t>
            </a:r>
            <a:r>
              <a:rPr sz="13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you</a:t>
            </a:r>
            <a:r>
              <a:rPr sz="13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have</a:t>
            </a:r>
            <a:r>
              <a:rPr sz="13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in</a:t>
            </a:r>
            <a:r>
              <a:rPr sz="13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dirty="0">
                <a:solidFill>
                  <a:srgbClr val="FFFFFF"/>
                </a:solidFill>
                <a:latin typeface="Segoe UI"/>
                <a:cs typeface="Segoe UI"/>
              </a:rPr>
              <a:t>auto</a:t>
            </a:r>
            <a:r>
              <a:rPr sz="13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insurance? Classified</a:t>
            </a:r>
            <a:r>
              <a:rPr sz="130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Segoe UI"/>
                <a:cs typeface="Segoe UI"/>
              </a:rPr>
              <a:t>topic:</a:t>
            </a:r>
            <a:endParaRPr sz="13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08446" y="4431538"/>
            <a:ext cx="234950" cy="374650"/>
          </a:xfrm>
          <a:custGeom>
            <a:avLst/>
            <a:gdLst/>
            <a:ahLst/>
            <a:cxnLst/>
            <a:rect l="l" t="t" r="r" b="b"/>
            <a:pathLst>
              <a:path w="234950" h="374650">
                <a:moveTo>
                  <a:pt x="146050" y="297942"/>
                </a:moveTo>
                <a:lnTo>
                  <a:pt x="146050" y="374142"/>
                </a:lnTo>
                <a:lnTo>
                  <a:pt x="209550" y="342392"/>
                </a:lnTo>
                <a:lnTo>
                  <a:pt x="158750" y="342392"/>
                </a:lnTo>
                <a:lnTo>
                  <a:pt x="158750" y="329692"/>
                </a:lnTo>
                <a:lnTo>
                  <a:pt x="209550" y="329692"/>
                </a:lnTo>
                <a:lnTo>
                  <a:pt x="146050" y="297942"/>
                </a:lnTo>
                <a:close/>
              </a:path>
              <a:path w="234950" h="374650">
                <a:moveTo>
                  <a:pt x="234950" y="0"/>
                </a:moveTo>
                <a:lnTo>
                  <a:pt x="2793" y="0"/>
                </a:lnTo>
                <a:lnTo>
                  <a:pt x="0" y="2793"/>
                </a:lnTo>
                <a:lnTo>
                  <a:pt x="0" y="339598"/>
                </a:lnTo>
                <a:lnTo>
                  <a:pt x="2793" y="342392"/>
                </a:lnTo>
                <a:lnTo>
                  <a:pt x="146050" y="342392"/>
                </a:lnTo>
                <a:lnTo>
                  <a:pt x="146050" y="336042"/>
                </a:lnTo>
                <a:lnTo>
                  <a:pt x="12700" y="336042"/>
                </a:lnTo>
                <a:lnTo>
                  <a:pt x="6350" y="329692"/>
                </a:lnTo>
                <a:lnTo>
                  <a:pt x="12700" y="329692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234950" y="6350"/>
                </a:lnTo>
                <a:lnTo>
                  <a:pt x="234950" y="0"/>
                </a:lnTo>
                <a:close/>
              </a:path>
              <a:path w="234950" h="374650">
                <a:moveTo>
                  <a:pt x="209550" y="329692"/>
                </a:moveTo>
                <a:lnTo>
                  <a:pt x="158750" y="329692"/>
                </a:lnTo>
                <a:lnTo>
                  <a:pt x="158750" y="342392"/>
                </a:lnTo>
                <a:lnTo>
                  <a:pt x="209550" y="342392"/>
                </a:lnTo>
                <a:lnTo>
                  <a:pt x="222250" y="336042"/>
                </a:lnTo>
                <a:lnTo>
                  <a:pt x="209550" y="329692"/>
                </a:lnTo>
                <a:close/>
              </a:path>
              <a:path w="234950" h="374650">
                <a:moveTo>
                  <a:pt x="12700" y="329692"/>
                </a:moveTo>
                <a:lnTo>
                  <a:pt x="6350" y="329692"/>
                </a:lnTo>
                <a:lnTo>
                  <a:pt x="12700" y="336042"/>
                </a:lnTo>
                <a:lnTo>
                  <a:pt x="12700" y="329692"/>
                </a:lnTo>
                <a:close/>
              </a:path>
              <a:path w="234950" h="374650">
                <a:moveTo>
                  <a:pt x="146050" y="329692"/>
                </a:moveTo>
                <a:lnTo>
                  <a:pt x="12700" y="329692"/>
                </a:lnTo>
                <a:lnTo>
                  <a:pt x="12700" y="336042"/>
                </a:lnTo>
                <a:lnTo>
                  <a:pt x="146050" y="336042"/>
                </a:lnTo>
                <a:lnTo>
                  <a:pt x="146050" y="329692"/>
                </a:lnTo>
                <a:close/>
              </a:path>
              <a:path w="234950" h="374650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34950" h="374650">
                <a:moveTo>
                  <a:pt x="234950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34950" y="12700"/>
                </a:lnTo>
                <a:lnTo>
                  <a:pt x="234950" y="6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08446" y="4896358"/>
            <a:ext cx="234950" cy="374650"/>
          </a:xfrm>
          <a:custGeom>
            <a:avLst/>
            <a:gdLst/>
            <a:ahLst/>
            <a:cxnLst/>
            <a:rect l="l" t="t" r="r" b="b"/>
            <a:pathLst>
              <a:path w="234950" h="374650">
                <a:moveTo>
                  <a:pt x="146050" y="297942"/>
                </a:moveTo>
                <a:lnTo>
                  <a:pt x="146050" y="374142"/>
                </a:lnTo>
                <a:lnTo>
                  <a:pt x="209550" y="342392"/>
                </a:lnTo>
                <a:lnTo>
                  <a:pt x="158750" y="342392"/>
                </a:lnTo>
                <a:lnTo>
                  <a:pt x="158750" y="329692"/>
                </a:lnTo>
                <a:lnTo>
                  <a:pt x="209550" y="329692"/>
                </a:lnTo>
                <a:lnTo>
                  <a:pt x="146050" y="297942"/>
                </a:lnTo>
                <a:close/>
              </a:path>
              <a:path w="234950" h="374650">
                <a:moveTo>
                  <a:pt x="234950" y="0"/>
                </a:moveTo>
                <a:lnTo>
                  <a:pt x="2793" y="0"/>
                </a:lnTo>
                <a:lnTo>
                  <a:pt x="0" y="2794"/>
                </a:lnTo>
                <a:lnTo>
                  <a:pt x="0" y="339598"/>
                </a:lnTo>
                <a:lnTo>
                  <a:pt x="2793" y="342392"/>
                </a:lnTo>
                <a:lnTo>
                  <a:pt x="146050" y="342392"/>
                </a:lnTo>
                <a:lnTo>
                  <a:pt x="146050" y="336042"/>
                </a:lnTo>
                <a:lnTo>
                  <a:pt x="12700" y="336042"/>
                </a:lnTo>
                <a:lnTo>
                  <a:pt x="6350" y="329692"/>
                </a:lnTo>
                <a:lnTo>
                  <a:pt x="12700" y="329692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234950" y="6350"/>
                </a:lnTo>
                <a:lnTo>
                  <a:pt x="234950" y="0"/>
                </a:lnTo>
                <a:close/>
              </a:path>
              <a:path w="234950" h="374650">
                <a:moveTo>
                  <a:pt x="209550" y="329692"/>
                </a:moveTo>
                <a:lnTo>
                  <a:pt x="158750" y="329692"/>
                </a:lnTo>
                <a:lnTo>
                  <a:pt x="158750" y="342392"/>
                </a:lnTo>
                <a:lnTo>
                  <a:pt x="209550" y="342392"/>
                </a:lnTo>
                <a:lnTo>
                  <a:pt x="222250" y="336042"/>
                </a:lnTo>
                <a:lnTo>
                  <a:pt x="209550" y="329692"/>
                </a:lnTo>
                <a:close/>
              </a:path>
              <a:path w="234950" h="374650">
                <a:moveTo>
                  <a:pt x="12700" y="329692"/>
                </a:moveTo>
                <a:lnTo>
                  <a:pt x="6350" y="329692"/>
                </a:lnTo>
                <a:lnTo>
                  <a:pt x="12700" y="336042"/>
                </a:lnTo>
                <a:lnTo>
                  <a:pt x="12700" y="329692"/>
                </a:lnTo>
                <a:close/>
              </a:path>
              <a:path w="234950" h="374650">
                <a:moveTo>
                  <a:pt x="146050" y="329692"/>
                </a:moveTo>
                <a:lnTo>
                  <a:pt x="12700" y="329692"/>
                </a:lnTo>
                <a:lnTo>
                  <a:pt x="12700" y="336042"/>
                </a:lnTo>
                <a:lnTo>
                  <a:pt x="146050" y="336042"/>
                </a:lnTo>
                <a:lnTo>
                  <a:pt x="146050" y="329692"/>
                </a:lnTo>
                <a:close/>
              </a:path>
              <a:path w="234950" h="374650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34950" h="374650">
                <a:moveTo>
                  <a:pt x="234950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34950" y="12700"/>
                </a:lnTo>
                <a:lnTo>
                  <a:pt x="234950" y="6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08446" y="5574538"/>
            <a:ext cx="234950" cy="374650"/>
          </a:xfrm>
          <a:custGeom>
            <a:avLst/>
            <a:gdLst/>
            <a:ahLst/>
            <a:cxnLst/>
            <a:rect l="l" t="t" r="r" b="b"/>
            <a:pathLst>
              <a:path w="234950" h="374650">
                <a:moveTo>
                  <a:pt x="146050" y="297992"/>
                </a:moveTo>
                <a:lnTo>
                  <a:pt x="146050" y="374192"/>
                </a:lnTo>
                <a:lnTo>
                  <a:pt x="209550" y="342442"/>
                </a:lnTo>
                <a:lnTo>
                  <a:pt x="158750" y="342442"/>
                </a:lnTo>
                <a:lnTo>
                  <a:pt x="158750" y="329742"/>
                </a:lnTo>
                <a:lnTo>
                  <a:pt x="209550" y="329742"/>
                </a:lnTo>
                <a:lnTo>
                  <a:pt x="146050" y="297992"/>
                </a:lnTo>
                <a:close/>
              </a:path>
              <a:path w="234950" h="374650">
                <a:moveTo>
                  <a:pt x="234950" y="0"/>
                </a:moveTo>
                <a:lnTo>
                  <a:pt x="2793" y="0"/>
                </a:lnTo>
                <a:lnTo>
                  <a:pt x="0" y="2793"/>
                </a:lnTo>
                <a:lnTo>
                  <a:pt x="0" y="339598"/>
                </a:lnTo>
                <a:lnTo>
                  <a:pt x="2793" y="342442"/>
                </a:lnTo>
                <a:lnTo>
                  <a:pt x="146050" y="342442"/>
                </a:lnTo>
                <a:lnTo>
                  <a:pt x="146050" y="336092"/>
                </a:lnTo>
                <a:lnTo>
                  <a:pt x="12700" y="336092"/>
                </a:lnTo>
                <a:lnTo>
                  <a:pt x="6350" y="329742"/>
                </a:lnTo>
                <a:lnTo>
                  <a:pt x="12700" y="329742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234950" y="6350"/>
                </a:lnTo>
                <a:lnTo>
                  <a:pt x="234950" y="0"/>
                </a:lnTo>
                <a:close/>
              </a:path>
              <a:path w="234950" h="374650">
                <a:moveTo>
                  <a:pt x="209550" y="329742"/>
                </a:moveTo>
                <a:lnTo>
                  <a:pt x="158750" y="329742"/>
                </a:lnTo>
                <a:lnTo>
                  <a:pt x="158750" y="342442"/>
                </a:lnTo>
                <a:lnTo>
                  <a:pt x="209550" y="342442"/>
                </a:lnTo>
                <a:lnTo>
                  <a:pt x="222250" y="336092"/>
                </a:lnTo>
                <a:lnTo>
                  <a:pt x="209550" y="329742"/>
                </a:lnTo>
                <a:close/>
              </a:path>
              <a:path w="234950" h="374650">
                <a:moveTo>
                  <a:pt x="12700" y="329742"/>
                </a:moveTo>
                <a:lnTo>
                  <a:pt x="6350" y="329742"/>
                </a:lnTo>
                <a:lnTo>
                  <a:pt x="12700" y="336092"/>
                </a:lnTo>
                <a:lnTo>
                  <a:pt x="12700" y="329742"/>
                </a:lnTo>
                <a:close/>
              </a:path>
              <a:path w="234950" h="374650">
                <a:moveTo>
                  <a:pt x="146050" y="329742"/>
                </a:moveTo>
                <a:lnTo>
                  <a:pt x="12700" y="329742"/>
                </a:lnTo>
                <a:lnTo>
                  <a:pt x="12700" y="336092"/>
                </a:lnTo>
                <a:lnTo>
                  <a:pt x="146050" y="336092"/>
                </a:lnTo>
                <a:lnTo>
                  <a:pt x="146050" y="329742"/>
                </a:lnTo>
                <a:close/>
              </a:path>
              <a:path w="234950" h="374650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34950" h="374650">
                <a:moveTo>
                  <a:pt x="234950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34950" y="12700"/>
                </a:lnTo>
                <a:lnTo>
                  <a:pt x="234950" y="6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8102" y="552195"/>
            <a:ext cx="1734820" cy="30606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98797" y="434086"/>
            <a:ext cx="17780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0" dirty="0"/>
              <a:t>Zero</a:t>
            </a:r>
            <a:r>
              <a:rPr sz="3200" spc="-180" dirty="0"/>
              <a:t> </a:t>
            </a:r>
            <a:r>
              <a:rPr sz="3200" spc="-25" dirty="0"/>
              <a:t>Shot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9701" y="725230"/>
            <a:ext cx="108482" cy="339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58305" y="554862"/>
            <a:ext cx="1801622" cy="39433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6778" y="2130298"/>
            <a:ext cx="3967822" cy="19989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71601" y="1415287"/>
            <a:ext cx="1691639" cy="921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Segoe UI Semibold"/>
                <a:cs typeface="Segoe UI Semibold"/>
              </a:rPr>
              <a:t>Before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1600" dirty="0">
                <a:latin typeface="Segoe UI"/>
                <a:cs typeface="Segoe UI"/>
              </a:rPr>
              <a:t>What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is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annual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7588" y="2130298"/>
            <a:ext cx="604520" cy="200025"/>
            <a:chOff x="4577588" y="2130298"/>
            <a:chExt cx="604520" cy="20002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7588" y="2219638"/>
              <a:ext cx="54037" cy="127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9343" y="2130298"/>
              <a:ext cx="532257" cy="19989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609058" y="2067560"/>
            <a:ext cx="25876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er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demand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</a:t>
            </a:r>
            <a:r>
              <a:rPr sz="1600" spc="4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single</a:t>
            </a:r>
            <a:r>
              <a:rPr sz="1600" spc="17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family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0633" y="2374138"/>
            <a:ext cx="4851222" cy="19989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71601" y="2311095"/>
            <a:ext cx="196659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household</a:t>
            </a:r>
            <a:r>
              <a:rPr sz="1600" spc="-10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containing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92761" y="2311095"/>
            <a:ext cx="248539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people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who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are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at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home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an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3102" y="2617977"/>
            <a:ext cx="4961255" cy="443865"/>
            <a:chOff x="593102" y="2617977"/>
            <a:chExt cx="4961255" cy="443865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3102" y="2617977"/>
              <a:ext cx="4961242" cy="1998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633" y="2861818"/>
              <a:ext cx="1999945" cy="19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71601" y="2555493"/>
            <a:ext cx="5003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047750" algn="l"/>
                <a:tab pos="4427220" algn="l"/>
              </a:tabLst>
            </a:pPr>
            <a:r>
              <a:rPr sz="1600" dirty="0">
                <a:latin typeface="Segoe UI"/>
                <a:cs typeface="Segoe UI"/>
              </a:rPr>
              <a:t>average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200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days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per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year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ave</a:t>
            </a:r>
            <a:r>
              <a:rPr sz="1600" dirty="0">
                <a:latin typeface="Segoe UI"/>
                <a:cs typeface="Segoe UI"/>
              </a:rPr>
              <a:t>	of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100 </a:t>
            </a:r>
            <a:r>
              <a:rPr sz="1600" dirty="0">
                <a:latin typeface="Segoe UI"/>
                <a:cs typeface="Segoe UI"/>
              </a:rPr>
              <a:t>liters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of</a:t>
            </a:r>
            <a:r>
              <a:rPr sz="1600" dirty="0">
                <a:latin typeface="Segoe UI"/>
                <a:cs typeface="Segoe UI"/>
              </a:rPr>
              <a:t>	er</a:t>
            </a:r>
            <a:r>
              <a:rPr sz="1600" spc="-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per</a:t>
            </a:r>
            <a:r>
              <a:rPr sz="1600" spc="-20" dirty="0">
                <a:latin typeface="Segoe UI"/>
                <a:cs typeface="Segoe UI"/>
              </a:rPr>
              <a:t> day?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1601" y="3591509"/>
            <a:ext cx="4938395" cy="1001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annual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water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demand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20" dirty="0">
                <a:latin typeface="Segoe UI"/>
                <a:cs typeface="Segoe UI"/>
              </a:rPr>
              <a:t>single-</a:t>
            </a:r>
            <a:r>
              <a:rPr sz="1600" dirty="0">
                <a:latin typeface="Segoe UI"/>
                <a:cs typeface="Segoe UI"/>
              </a:rPr>
              <a:t>family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household </a:t>
            </a:r>
            <a:r>
              <a:rPr sz="1600" dirty="0">
                <a:latin typeface="Segoe UI"/>
                <a:cs typeface="Segoe UI"/>
              </a:rPr>
              <a:t>containing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four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people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who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are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at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home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average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of </a:t>
            </a:r>
            <a:r>
              <a:rPr sz="1600" dirty="0">
                <a:latin typeface="Segoe UI"/>
                <a:cs typeface="Segoe UI"/>
              </a:rPr>
              <a:t>200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days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per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year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average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100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liters</a:t>
            </a:r>
            <a:r>
              <a:rPr sz="1600" spc="-25" dirty="0">
                <a:latin typeface="Segoe UI"/>
                <a:cs typeface="Segoe UI"/>
              </a:rPr>
              <a:t> of </a:t>
            </a:r>
            <a:r>
              <a:rPr sz="1600" dirty="0">
                <a:latin typeface="Segoe UI"/>
                <a:cs typeface="Segoe UI"/>
              </a:rPr>
              <a:t>water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per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day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is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8,000,000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liters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per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year.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00165" y="2130298"/>
            <a:ext cx="4967605" cy="931544"/>
            <a:chOff x="6400165" y="2130298"/>
            <a:chExt cx="4967605" cy="931544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00165" y="2130298"/>
              <a:ext cx="3967861" cy="1998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91013" y="2219638"/>
              <a:ext cx="54037" cy="1276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62768" y="2130298"/>
              <a:ext cx="532256" cy="19989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14008" y="2374138"/>
              <a:ext cx="4851272" cy="19989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06515" y="2617978"/>
              <a:ext cx="4961255" cy="19989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14008" y="2861818"/>
              <a:ext cx="1999995" cy="199898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211315" y="434086"/>
            <a:ext cx="5081270" cy="2633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Segoe UI Semibold"/>
                <a:cs typeface="Segoe UI Semibold"/>
              </a:rPr>
              <a:t>Reasoning</a:t>
            </a:r>
            <a:endParaRPr sz="320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Segoe UI Semibold"/>
              <a:cs typeface="Segoe UI Semibold"/>
            </a:endParaRPr>
          </a:p>
          <a:p>
            <a:pPr marL="18669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Segoe UI Semibold"/>
                <a:cs typeface="Segoe UI Semibold"/>
              </a:rPr>
              <a:t>After</a:t>
            </a:r>
            <a:endParaRPr sz="2800">
              <a:latin typeface="Segoe UI Semibold"/>
              <a:cs typeface="Segoe UI Semibold"/>
            </a:endParaRPr>
          </a:p>
          <a:p>
            <a:pPr marL="186690" marR="5080">
              <a:lnSpc>
                <a:spcPct val="100000"/>
              </a:lnSpc>
              <a:spcBef>
                <a:spcPts val="1775"/>
              </a:spcBef>
              <a:tabLst>
                <a:tab pos="1222375" algn="l"/>
                <a:tab pos="1844675" algn="l"/>
                <a:tab pos="2607945" algn="l"/>
              </a:tabLst>
            </a:pPr>
            <a:r>
              <a:rPr sz="1600" dirty="0">
                <a:latin typeface="Segoe UI"/>
                <a:cs typeface="Segoe UI"/>
              </a:rPr>
              <a:t>What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is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annual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water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demand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single</a:t>
            </a:r>
            <a:r>
              <a:rPr sz="1600" spc="15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family </a:t>
            </a:r>
            <a:r>
              <a:rPr sz="1600" dirty="0">
                <a:latin typeface="Segoe UI"/>
                <a:cs typeface="Segoe UI"/>
              </a:rPr>
              <a:t>household</a:t>
            </a:r>
            <a:r>
              <a:rPr sz="1600" spc="-10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con</a:t>
            </a:r>
            <a:r>
              <a:rPr sz="1600" dirty="0">
                <a:latin typeface="Segoe UI"/>
                <a:cs typeface="Segoe UI"/>
              </a:rPr>
              <a:t>	</a:t>
            </a:r>
            <a:r>
              <a:rPr sz="1600" spc="-25" dirty="0">
                <a:latin typeface="Segoe UI"/>
                <a:cs typeface="Segoe UI"/>
              </a:rPr>
              <a:t>ing</a:t>
            </a:r>
            <a:r>
              <a:rPr sz="1600" dirty="0">
                <a:latin typeface="Segoe UI"/>
                <a:cs typeface="Segoe UI"/>
              </a:rPr>
              <a:t>	people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who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are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at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home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an </a:t>
            </a:r>
            <a:r>
              <a:rPr sz="1600" dirty="0">
                <a:latin typeface="Segoe UI"/>
                <a:cs typeface="Segoe UI"/>
              </a:rPr>
              <a:t>average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200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days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per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year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average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10 </a:t>
            </a:r>
            <a:r>
              <a:rPr sz="1600" dirty="0">
                <a:latin typeface="Segoe UI"/>
                <a:cs typeface="Segoe UI"/>
              </a:rPr>
              <a:t>liters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of</a:t>
            </a:r>
            <a:r>
              <a:rPr sz="1600" dirty="0">
                <a:latin typeface="Segoe UI"/>
                <a:cs typeface="Segoe UI"/>
              </a:rPr>
              <a:t>	er</a:t>
            </a:r>
            <a:r>
              <a:rPr sz="1600" spc="-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per</a:t>
            </a:r>
            <a:r>
              <a:rPr sz="1600" spc="-20" dirty="0">
                <a:latin typeface="Segoe UI"/>
                <a:cs typeface="Segoe UI"/>
              </a:rPr>
              <a:t> day?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413880" y="3656457"/>
            <a:ext cx="4771898" cy="19761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404102" y="3900296"/>
            <a:ext cx="1189990" cy="19761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6230873" y="3464814"/>
            <a:ext cx="5554980" cy="632866"/>
          </a:xfrm>
          <a:prstGeom prst="rect">
            <a:avLst/>
          </a:prstGeom>
          <a:ln w="10794">
            <a:solidFill>
              <a:srgbClr val="50E6FF"/>
            </a:solidFill>
          </a:ln>
        </p:spPr>
        <p:txBody>
          <a:bodyPr vert="horz" wrap="square" lIns="0" tIns="13906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95"/>
              </a:spcBef>
            </a:pPr>
            <a:r>
              <a:rPr sz="1600" b="1" spc="-25" dirty="0">
                <a:latin typeface="Segoe UI"/>
                <a:cs typeface="Segoe UI"/>
              </a:rPr>
              <a:t>Let’s</a:t>
            </a:r>
            <a:r>
              <a:rPr sz="1600" b="1" spc="-7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think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step</a:t>
            </a:r>
            <a:r>
              <a:rPr sz="1600" b="1" spc="-6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by</a:t>
            </a:r>
            <a:r>
              <a:rPr sz="1600" b="1" spc="-5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step</a:t>
            </a:r>
            <a:r>
              <a:rPr sz="1600" b="1" spc="-6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and</a:t>
            </a:r>
            <a:r>
              <a:rPr sz="1600" b="1" spc="-5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explain</a:t>
            </a:r>
            <a:r>
              <a:rPr sz="1600" b="1" spc="-5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</a:t>
            </a:r>
            <a:r>
              <a:rPr sz="1600" b="1" spc="-60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calculation</a:t>
            </a:r>
            <a:endParaRPr sz="1600">
              <a:latin typeface="Segoe UI"/>
              <a:cs typeface="Segoe UI"/>
            </a:endParaRPr>
          </a:p>
          <a:p>
            <a:pPr marL="167005">
              <a:lnSpc>
                <a:spcPct val="100000"/>
              </a:lnSpc>
            </a:pPr>
            <a:r>
              <a:rPr sz="1600" b="1" dirty="0">
                <a:latin typeface="Segoe UI"/>
                <a:cs typeface="Segoe UI"/>
              </a:rPr>
              <a:t>step</a:t>
            </a:r>
            <a:r>
              <a:rPr sz="1600" b="1" spc="-5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by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step.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400419" y="4522596"/>
            <a:ext cx="3197860" cy="306070"/>
            <a:chOff x="6400419" y="4522596"/>
            <a:chExt cx="3197860" cy="306070"/>
          </a:xfrm>
        </p:grpSpPr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03975" y="4527549"/>
              <a:ext cx="439927" cy="13258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94830" y="4522596"/>
              <a:ext cx="2703322" cy="13830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00419" y="4691760"/>
              <a:ext cx="1740788" cy="136778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385686" y="4476115"/>
            <a:ext cx="32334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39850" algn="l"/>
              </a:tabLst>
            </a:pPr>
            <a:r>
              <a:rPr sz="1100" b="1" dirty="0">
                <a:latin typeface="Segoe UI"/>
                <a:cs typeface="Segoe UI"/>
              </a:rPr>
              <a:t>Step</a:t>
            </a:r>
            <a:r>
              <a:rPr sz="1100" b="1" spc="-25" dirty="0">
                <a:latin typeface="Segoe UI"/>
                <a:cs typeface="Segoe UI"/>
              </a:rPr>
              <a:t> </a:t>
            </a:r>
            <a:r>
              <a:rPr sz="1100" b="1" dirty="0">
                <a:latin typeface="Segoe UI"/>
                <a:cs typeface="Segoe UI"/>
              </a:rPr>
              <a:t>1:</a:t>
            </a:r>
            <a:r>
              <a:rPr sz="1100" b="1" spc="-5" dirty="0">
                <a:latin typeface="Segoe UI"/>
                <a:cs typeface="Segoe UI"/>
              </a:rPr>
              <a:t> </a:t>
            </a:r>
            <a:r>
              <a:rPr sz="1100" spc="-10" dirty="0">
                <a:latin typeface="Segoe UI"/>
                <a:cs typeface="Segoe UI"/>
              </a:rPr>
              <a:t>Calculate</a:t>
            </a:r>
            <a:r>
              <a:rPr sz="1100" dirty="0">
                <a:latin typeface="Segoe UI"/>
                <a:cs typeface="Segoe UI"/>
              </a:rPr>
              <a:t>	total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number</a:t>
            </a:r>
            <a:r>
              <a:rPr sz="1100" spc="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of</a:t>
            </a:r>
            <a:r>
              <a:rPr sz="1100" spc="170" dirty="0">
                <a:latin typeface="Segoe UI"/>
                <a:cs typeface="Segoe UI"/>
              </a:rPr>
              <a:t>  </a:t>
            </a:r>
            <a:r>
              <a:rPr sz="1100" dirty="0">
                <a:latin typeface="Segoe UI"/>
                <a:cs typeface="Segoe UI"/>
              </a:rPr>
              <a:t>ays</a:t>
            </a:r>
            <a:r>
              <a:rPr sz="1100" spc="26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n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a</a:t>
            </a:r>
            <a:r>
              <a:rPr sz="1100" spc="114" dirty="0">
                <a:latin typeface="Segoe UI"/>
                <a:cs typeface="Segoe UI"/>
              </a:rPr>
              <a:t>  </a:t>
            </a:r>
            <a:r>
              <a:rPr sz="1100" spc="-20" dirty="0">
                <a:latin typeface="Segoe UI"/>
                <a:cs typeface="Segoe UI"/>
              </a:rPr>
              <a:t>ear: </a:t>
            </a:r>
            <a:r>
              <a:rPr sz="1100" dirty="0">
                <a:latin typeface="Segoe UI"/>
                <a:cs typeface="Segoe UI"/>
              </a:rPr>
              <a:t>There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are 365</a:t>
            </a:r>
            <a:r>
              <a:rPr sz="1100" spc="-3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days</a:t>
            </a:r>
            <a:r>
              <a:rPr sz="1100" spc="-2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in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a </a:t>
            </a:r>
            <a:r>
              <a:rPr sz="1100" spc="-25" dirty="0">
                <a:latin typeface="Segoe UI"/>
                <a:cs typeface="Segoe UI"/>
              </a:rPr>
              <a:t>yea</a:t>
            </a:r>
            <a:endParaRPr sz="1100">
              <a:latin typeface="Segoe UI"/>
              <a:cs typeface="Segoe U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403975" y="5010277"/>
            <a:ext cx="3961129" cy="138430"/>
            <a:chOff x="6403975" y="5010277"/>
            <a:chExt cx="3961129" cy="138430"/>
          </a:xfrm>
        </p:grpSpPr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03975" y="5015865"/>
              <a:ext cx="439927" cy="13195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94830" y="5010277"/>
              <a:ext cx="3469894" cy="138303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0256928" y="4963490"/>
            <a:ext cx="129539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latin typeface="Segoe UI"/>
                <a:cs typeface="Segoe UI"/>
              </a:rPr>
              <a:t>e:</a:t>
            </a:r>
            <a:endParaRPr sz="1100">
              <a:latin typeface="Segoe UI"/>
              <a:cs typeface="Segoe U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400419" y="5177916"/>
            <a:ext cx="3339464" cy="138302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6385686" y="4963490"/>
            <a:ext cx="3576954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94000" algn="l"/>
                <a:tab pos="3315335" algn="l"/>
              </a:tabLst>
            </a:pPr>
            <a:r>
              <a:rPr sz="1100" b="1" dirty="0">
                <a:latin typeface="Segoe UI"/>
                <a:cs typeface="Segoe UI"/>
              </a:rPr>
              <a:t>Step</a:t>
            </a:r>
            <a:r>
              <a:rPr sz="1100" b="1" spc="-35" dirty="0">
                <a:latin typeface="Segoe UI"/>
                <a:cs typeface="Segoe UI"/>
              </a:rPr>
              <a:t> </a:t>
            </a:r>
            <a:r>
              <a:rPr sz="1100" b="1" dirty="0">
                <a:latin typeface="Segoe UI"/>
                <a:cs typeface="Segoe UI"/>
              </a:rPr>
              <a:t>2:</a:t>
            </a:r>
            <a:r>
              <a:rPr sz="1100" b="1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Calculate</a:t>
            </a:r>
            <a:r>
              <a:rPr sz="1100" spc="-2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the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total</a:t>
            </a:r>
            <a:r>
              <a:rPr sz="1100" spc="-2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number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of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spc="-20" dirty="0">
                <a:latin typeface="Segoe UI"/>
                <a:cs typeface="Segoe UI"/>
              </a:rPr>
              <a:t>days</a:t>
            </a:r>
            <a:r>
              <a:rPr sz="1100" dirty="0">
                <a:latin typeface="Segoe UI"/>
                <a:cs typeface="Segoe UI"/>
              </a:rPr>
              <a:t>	e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spc="-20" dirty="0">
                <a:latin typeface="Segoe UI"/>
                <a:cs typeface="Segoe UI"/>
              </a:rPr>
              <a:t>fami</a:t>
            </a:r>
            <a:r>
              <a:rPr sz="1100" dirty="0">
                <a:latin typeface="Segoe UI"/>
                <a:cs typeface="Segoe UI"/>
              </a:rPr>
              <a:t>	is</a:t>
            </a:r>
            <a:r>
              <a:rPr sz="1100" spc="-40" dirty="0">
                <a:latin typeface="Segoe UI"/>
                <a:cs typeface="Segoe UI"/>
              </a:rPr>
              <a:t> </a:t>
            </a:r>
            <a:r>
              <a:rPr sz="1100" spc="-25" dirty="0">
                <a:latin typeface="Segoe UI"/>
                <a:cs typeface="Segoe UI"/>
              </a:rPr>
              <a:t>at</a:t>
            </a:r>
            <a:endParaRPr sz="1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tabLst>
                <a:tab pos="545465" algn="l"/>
              </a:tabLst>
            </a:pPr>
            <a:r>
              <a:rPr sz="1100" dirty="0">
                <a:latin typeface="Segoe UI"/>
                <a:cs typeface="Segoe UI"/>
              </a:rPr>
              <a:t>The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spc="-25" dirty="0">
                <a:latin typeface="Segoe UI"/>
                <a:cs typeface="Segoe UI"/>
              </a:rPr>
              <a:t>fa</a:t>
            </a:r>
            <a:r>
              <a:rPr sz="1100" dirty="0">
                <a:latin typeface="Segoe UI"/>
                <a:cs typeface="Segoe UI"/>
              </a:rPr>
              <a:t>	ly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is</a:t>
            </a:r>
            <a:r>
              <a:rPr sz="1100" spc="-2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at home an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average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of</a:t>
            </a:r>
            <a:r>
              <a:rPr sz="1100" spc="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200</a:t>
            </a:r>
            <a:r>
              <a:rPr sz="1100" spc="-4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days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per</a:t>
            </a:r>
            <a:r>
              <a:rPr sz="1100" spc="110" dirty="0">
                <a:latin typeface="Segoe UI"/>
                <a:cs typeface="Segoe UI"/>
              </a:rPr>
              <a:t>  </a:t>
            </a:r>
            <a:r>
              <a:rPr sz="1100" spc="-20" dirty="0">
                <a:latin typeface="Segoe UI"/>
                <a:cs typeface="Segoe UI"/>
              </a:rPr>
              <a:t>ear.</a:t>
            </a:r>
            <a:endParaRPr sz="1100">
              <a:latin typeface="Segoe UI"/>
              <a:cs typeface="Segoe U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400419" y="5497957"/>
            <a:ext cx="5097145" cy="473709"/>
            <a:chOff x="6400419" y="5497957"/>
            <a:chExt cx="5097145" cy="473709"/>
          </a:xfrm>
        </p:grpSpPr>
        <p:pic>
          <p:nvPicPr>
            <p:cNvPr id="46" name="object 4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03975" y="5503545"/>
              <a:ext cx="439927" cy="13200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94830" y="5497957"/>
              <a:ext cx="2877058" cy="13834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400419" y="5665647"/>
              <a:ext cx="5097145" cy="13829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404229" y="5833287"/>
              <a:ext cx="4198239" cy="138290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6400419" y="6153327"/>
            <a:ext cx="4993005" cy="306070"/>
            <a:chOff x="6400419" y="6153327"/>
            <a:chExt cx="4993005" cy="306070"/>
          </a:xfrm>
        </p:grpSpPr>
        <p:pic>
          <p:nvPicPr>
            <p:cNvPr id="51" name="object 5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403975" y="6158801"/>
              <a:ext cx="439927" cy="13206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94830" y="6153327"/>
              <a:ext cx="2970529" cy="13829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880727" y="6215146"/>
              <a:ext cx="37379" cy="883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930891" y="6153327"/>
              <a:ext cx="1076959" cy="13829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00419" y="6320967"/>
              <a:ext cx="2401188" cy="13829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867139" y="6320967"/>
              <a:ext cx="2526283" cy="13829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816975" y="6382786"/>
              <a:ext cx="37378" cy="8831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6385686" y="5451754"/>
            <a:ext cx="5126990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Segoe UI"/>
                <a:cs typeface="Segoe UI"/>
              </a:rPr>
              <a:t>Step</a:t>
            </a:r>
            <a:r>
              <a:rPr sz="1100" b="1" spc="-30" dirty="0">
                <a:latin typeface="Segoe UI"/>
                <a:cs typeface="Segoe UI"/>
              </a:rPr>
              <a:t> </a:t>
            </a:r>
            <a:r>
              <a:rPr sz="1100" b="1" dirty="0">
                <a:latin typeface="Segoe UI"/>
                <a:cs typeface="Segoe UI"/>
              </a:rPr>
              <a:t>3:</a:t>
            </a:r>
            <a:r>
              <a:rPr sz="1100" b="1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Calculate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the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total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water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demand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of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the</a:t>
            </a:r>
            <a:r>
              <a:rPr sz="1100" spc="-10" dirty="0">
                <a:latin typeface="Segoe UI"/>
                <a:cs typeface="Segoe UI"/>
              </a:rPr>
              <a:t> family:</a:t>
            </a:r>
            <a:endParaRPr sz="11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545465" algn="l"/>
                <a:tab pos="2912745" algn="l"/>
                <a:tab pos="3930015" algn="l"/>
                <a:tab pos="4771390" algn="l"/>
              </a:tabLst>
            </a:pPr>
            <a:r>
              <a:rPr sz="1100" dirty="0">
                <a:latin typeface="Segoe UI"/>
                <a:cs typeface="Segoe UI"/>
              </a:rPr>
              <a:t>The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spc="-25" dirty="0">
                <a:latin typeface="Segoe UI"/>
                <a:cs typeface="Segoe UI"/>
              </a:rPr>
              <a:t>fa</a:t>
            </a:r>
            <a:r>
              <a:rPr sz="1100" dirty="0">
                <a:latin typeface="Segoe UI"/>
                <a:cs typeface="Segoe UI"/>
              </a:rPr>
              <a:t>	ly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uses</a:t>
            </a:r>
            <a:r>
              <a:rPr sz="1100" spc="-2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an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average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of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100</a:t>
            </a:r>
            <a:r>
              <a:rPr sz="1100" spc="-4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liters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of</a:t>
            </a:r>
            <a:r>
              <a:rPr sz="1100" spc="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water per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day.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Therefore,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the</a:t>
            </a:r>
            <a:r>
              <a:rPr sz="1100" spc="5" dirty="0">
                <a:latin typeface="Segoe UI"/>
                <a:cs typeface="Segoe UI"/>
              </a:rPr>
              <a:t> </a:t>
            </a:r>
            <a:r>
              <a:rPr sz="1100" spc="-25" dirty="0">
                <a:latin typeface="Segoe UI"/>
                <a:cs typeface="Segoe UI"/>
              </a:rPr>
              <a:t>tot</a:t>
            </a:r>
            <a:r>
              <a:rPr sz="1100" dirty="0">
                <a:latin typeface="Segoe UI"/>
                <a:cs typeface="Segoe UI"/>
              </a:rPr>
              <a:t>	</a:t>
            </a:r>
            <a:r>
              <a:rPr sz="1100" spc="-10" dirty="0">
                <a:latin typeface="Segoe UI"/>
                <a:cs typeface="Segoe UI"/>
              </a:rPr>
              <a:t>water </a:t>
            </a:r>
            <a:r>
              <a:rPr sz="1100" dirty="0">
                <a:latin typeface="Segoe UI"/>
                <a:cs typeface="Segoe UI"/>
              </a:rPr>
              <a:t>demand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of</a:t>
            </a:r>
            <a:r>
              <a:rPr sz="1100" spc="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the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family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is</a:t>
            </a:r>
            <a:r>
              <a:rPr sz="1100" spc="-2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100</a:t>
            </a:r>
            <a:r>
              <a:rPr sz="1100" spc="-4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liters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x</a:t>
            </a:r>
            <a:r>
              <a:rPr sz="1100" spc="-2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200</a:t>
            </a:r>
            <a:r>
              <a:rPr sz="1100" spc="-40" dirty="0">
                <a:latin typeface="Segoe UI"/>
                <a:cs typeface="Segoe UI"/>
              </a:rPr>
              <a:t> </a:t>
            </a:r>
            <a:r>
              <a:rPr sz="1100" spc="-20" dirty="0">
                <a:latin typeface="Segoe UI"/>
                <a:cs typeface="Segoe UI"/>
              </a:rPr>
              <a:t>days</a:t>
            </a:r>
            <a:r>
              <a:rPr sz="1100" dirty="0">
                <a:latin typeface="Segoe UI"/>
                <a:cs typeface="Segoe UI"/>
              </a:rPr>
              <a:t>	20,000</a:t>
            </a:r>
            <a:r>
              <a:rPr sz="1100" spc="46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ters </a:t>
            </a:r>
            <a:r>
              <a:rPr sz="1100" spc="-50" dirty="0">
                <a:latin typeface="Segoe UI"/>
                <a:cs typeface="Segoe UI"/>
              </a:rPr>
              <a:t>p</a:t>
            </a:r>
            <a:r>
              <a:rPr sz="1100" dirty="0">
                <a:latin typeface="Segoe UI"/>
                <a:cs typeface="Segoe UI"/>
              </a:rPr>
              <a:t>	</a:t>
            </a:r>
            <a:r>
              <a:rPr sz="1100" spc="-10" dirty="0">
                <a:latin typeface="Segoe UI"/>
                <a:cs typeface="Segoe UI"/>
              </a:rPr>
              <a:t>year.</a:t>
            </a:r>
            <a:endParaRPr sz="1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502920" algn="l"/>
                <a:tab pos="3811904" algn="l"/>
              </a:tabLst>
            </a:pPr>
            <a:r>
              <a:rPr sz="1100" b="1" spc="-20" dirty="0">
                <a:latin typeface="Segoe UI"/>
                <a:cs typeface="Segoe UI"/>
              </a:rPr>
              <a:t>Step</a:t>
            </a:r>
            <a:r>
              <a:rPr sz="1100" b="1" dirty="0">
                <a:latin typeface="Segoe UI"/>
                <a:cs typeface="Segoe UI"/>
              </a:rPr>
              <a:t>	</a:t>
            </a:r>
            <a:r>
              <a:rPr sz="1100" dirty="0">
                <a:latin typeface="Segoe UI"/>
                <a:cs typeface="Segoe UI"/>
              </a:rPr>
              <a:t>Calculate</a:t>
            </a:r>
            <a:r>
              <a:rPr sz="1100" spc="-3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the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annual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water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demand</a:t>
            </a:r>
            <a:r>
              <a:rPr sz="1100" spc="-1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of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the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single</a:t>
            </a:r>
            <a:r>
              <a:rPr sz="1100" spc="130" dirty="0">
                <a:latin typeface="Segoe UI"/>
                <a:cs typeface="Segoe UI"/>
              </a:rPr>
              <a:t> </a:t>
            </a:r>
            <a:r>
              <a:rPr sz="1100" spc="-25" dirty="0">
                <a:latin typeface="Segoe UI"/>
                <a:cs typeface="Segoe UI"/>
              </a:rPr>
              <a:t>fa</a:t>
            </a:r>
            <a:r>
              <a:rPr sz="1100" dirty="0">
                <a:latin typeface="Segoe UI"/>
                <a:cs typeface="Segoe UI"/>
              </a:rPr>
              <a:t>	ly</a:t>
            </a:r>
            <a:r>
              <a:rPr sz="1100" spc="-40" dirty="0">
                <a:latin typeface="Segoe UI"/>
                <a:cs typeface="Segoe UI"/>
              </a:rPr>
              <a:t> </a:t>
            </a:r>
            <a:r>
              <a:rPr sz="1100" spc="-10" dirty="0">
                <a:latin typeface="Segoe UI"/>
                <a:cs typeface="Segoe UI"/>
              </a:rPr>
              <a:t>household:</a:t>
            </a:r>
            <a:endParaRPr sz="1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tabLst>
                <a:tab pos="2153285" algn="l"/>
              </a:tabLst>
            </a:pPr>
            <a:r>
              <a:rPr sz="1100" dirty="0">
                <a:latin typeface="Segoe UI"/>
                <a:cs typeface="Segoe UI"/>
              </a:rPr>
              <a:t>The</a:t>
            </a:r>
            <a:r>
              <a:rPr sz="1100" spc="-2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annual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water</a:t>
            </a:r>
            <a:r>
              <a:rPr sz="1100" spc="-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demand</a:t>
            </a:r>
            <a:r>
              <a:rPr sz="1100" spc="-1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of</a:t>
            </a:r>
            <a:r>
              <a:rPr sz="1100" spc="5" dirty="0">
                <a:latin typeface="Segoe UI"/>
                <a:cs typeface="Segoe UI"/>
              </a:rPr>
              <a:t> </a:t>
            </a:r>
            <a:r>
              <a:rPr sz="1100" spc="-25" dirty="0">
                <a:latin typeface="Segoe UI"/>
                <a:cs typeface="Segoe UI"/>
              </a:rPr>
              <a:t>the</a:t>
            </a:r>
            <a:r>
              <a:rPr sz="1100" dirty="0">
                <a:latin typeface="Segoe UI"/>
                <a:cs typeface="Segoe UI"/>
              </a:rPr>
              <a:t>	ngle</a:t>
            </a:r>
            <a:r>
              <a:rPr sz="1100" spc="12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family</a:t>
            </a:r>
            <a:r>
              <a:rPr sz="1100" spc="-3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household is</a:t>
            </a:r>
            <a:r>
              <a:rPr sz="1100" spc="-25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20,000</a:t>
            </a:r>
            <a:r>
              <a:rPr sz="1100" spc="459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ters</a:t>
            </a:r>
            <a:r>
              <a:rPr sz="1100" spc="-20" dirty="0">
                <a:latin typeface="Segoe UI"/>
                <a:cs typeface="Segoe UI"/>
              </a:rPr>
              <a:t> </a:t>
            </a:r>
            <a:r>
              <a:rPr sz="1100" dirty="0">
                <a:latin typeface="Segoe UI"/>
                <a:cs typeface="Segoe UI"/>
              </a:rPr>
              <a:t>per </a:t>
            </a:r>
            <a:r>
              <a:rPr sz="1100" spc="-10" dirty="0">
                <a:latin typeface="Segoe UI"/>
                <a:cs typeface="Segoe UI"/>
              </a:rPr>
              <a:t>year.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3943" y="5539104"/>
            <a:ext cx="506730" cy="488950"/>
          </a:xfrm>
          <a:custGeom>
            <a:avLst/>
            <a:gdLst/>
            <a:ahLst/>
            <a:cxnLst/>
            <a:rect l="l" t="t" r="r" b="b"/>
            <a:pathLst>
              <a:path w="506730" h="488950">
                <a:moveTo>
                  <a:pt x="392798" y="0"/>
                </a:moveTo>
                <a:lnTo>
                  <a:pt x="253212" y="130594"/>
                </a:lnTo>
                <a:lnTo>
                  <a:pt x="113626" y="0"/>
                </a:lnTo>
                <a:lnTo>
                  <a:pt x="0" y="121475"/>
                </a:lnTo>
                <a:lnTo>
                  <a:pt x="131483" y="244475"/>
                </a:lnTo>
                <a:lnTo>
                  <a:pt x="0" y="367474"/>
                </a:lnTo>
                <a:lnTo>
                  <a:pt x="113626" y="488937"/>
                </a:lnTo>
                <a:lnTo>
                  <a:pt x="253212" y="358343"/>
                </a:lnTo>
                <a:lnTo>
                  <a:pt x="392798" y="488937"/>
                </a:lnTo>
                <a:lnTo>
                  <a:pt x="506425" y="367474"/>
                </a:lnTo>
                <a:lnTo>
                  <a:pt x="374942" y="244475"/>
                </a:lnTo>
                <a:lnTo>
                  <a:pt x="506425" y="121475"/>
                </a:lnTo>
                <a:lnTo>
                  <a:pt x="39279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2" y="6181342"/>
            <a:ext cx="605027" cy="6050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5357" y="552195"/>
            <a:ext cx="1597152" cy="3060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87290" y="554862"/>
            <a:ext cx="1800098" cy="3943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10451" y="725230"/>
            <a:ext cx="203453" cy="339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47381" y="552195"/>
            <a:ext cx="1702435" cy="39484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96278" y="434086"/>
            <a:ext cx="53479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16350" algn="l"/>
              </a:tabLst>
            </a:pPr>
            <a:r>
              <a:rPr lang="en-IN" sz="3200" dirty="0"/>
              <a:t>F</a:t>
            </a:r>
            <a:r>
              <a:rPr sz="3200" dirty="0" err="1"/>
              <a:t>ew</a:t>
            </a:r>
            <a:r>
              <a:rPr sz="3200" spc="-180" dirty="0"/>
              <a:t> </a:t>
            </a:r>
            <a:r>
              <a:rPr sz="3200" spc="-20" dirty="0"/>
              <a:t>Shot</a:t>
            </a:r>
            <a:r>
              <a:rPr sz="3200" spc="-165" dirty="0"/>
              <a:t> </a:t>
            </a:r>
            <a:r>
              <a:rPr sz="3200" spc="-10" dirty="0"/>
              <a:t>Reasoning</a:t>
            </a:r>
            <a:r>
              <a:rPr sz="3200" dirty="0"/>
              <a:t>	</a:t>
            </a:r>
            <a:r>
              <a:rPr sz="3200" spc="-40" dirty="0"/>
              <a:t>Example</a:t>
            </a:r>
            <a:endParaRPr sz="3200" dirty="0"/>
          </a:p>
        </p:txBody>
      </p:sp>
      <p:sp>
        <p:nvSpPr>
          <p:cNvPr id="9" name="object 9"/>
          <p:cNvSpPr txBox="1"/>
          <p:nvPr/>
        </p:nvSpPr>
        <p:spPr>
          <a:xfrm>
            <a:off x="571601" y="1415287"/>
            <a:ext cx="17576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Segoe UI Semibold"/>
                <a:cs typeface="Segoe UI Semibold"/>
              </a:rPr>
              <a:t>1st</a:t>
            </a:r>
            <a:r>
              <a:rPr sz="2800" spc="-35" dirty="0">
                <a:latin typeface="Segoe UI Semibold"/>
                <a:cs typeface="Segoe UI Semibold"/>
              </a:rPr>
              <a:t> </a:t>
            </a:r>
            <a:r>
              <a:rPr sz="2800" spc="-10" dirty="0">
                <a:latin typeface="Segoe UI Semibold"/>
                <a:cs typeface="Segoe UI Semibold"/>
              </a:rPr>
              <a:t>prompt</a:t>
            </a:r>
            <a:endParaRPr sz="2800">
              <a:latin typeface="Segoe UI Semibold"/>
              <a:cs typeface="Segoe UI Semibold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2805" y="2130298"/>
            <a:ext cx="4873180" cy="1998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0633" y="2376297"/>
            <a:ext cx="1254582" cy="1524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40179" y="2376297"/>
            <a:ext cx="279019" cy="1524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95651" y="2376297"/>
            <a:ext cx="3247390" cy="19773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3699" y="2620136"/>
            <a:ext cx="1688363" cy="1524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71601" y="2067560"/>
            <a:ext cx="131064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Roger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has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5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te </a:t>
            </a:r>
            <a:r>
              <a:rPr sz="1600" dirty="0">
                <a:latin typeface="Segoe UI"/>
                <a:cs typeface="Segoe UI"/>
              </a:rPr>
              <a:t>alls.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Each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can </a:t>
            </a:r>
            <a:r>
              <a:rPr sz="1600" dirty="0">
                <a:latin typeface="Segoe UI"/>
                <a:cs typeface="Segoe UI"/>
              </a:rPr>
              <a:t>does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he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20" dirty="0">
                <a:latin typeface="Segoe UI"/>
                <a:cs typeface="Segoe UI"/>
              </a:rPr>
              <a:t>have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86371" y="3412616"/>
            <a:ext cx="2271382" cy="1524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71601" y="3347973"/>
            <a:ext cx="1990089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Answer:</a:t>
            </a:r>
            <a:r>
              <a:rPr sz="1600" spc="-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answer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is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8263" y="4202938"/>
            <a:ext cx="5134864" cy="19989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93102" y="4448936"/>
            <a:ext cx="4048112" cy="19773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71601" y="4140834"/>
            <a:ext cx="50634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3900804" algn="l"/>
              </a:tabLst>
            </a:pP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cafeteria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has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23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apples.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If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they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50" dirty="0">
                <a:latin typeface="Segoe UI"/>
                <a:cs typeface="Segoe UI"/>
              </a:rPr>
              <a:t>2</a:t>
            </a:r>
            <a:r>
              <a:rPr sz="1600" dirty="0">
                <a:latin typeface="Segoe UI"/>
                <a:cs typeface="Segoe UI"/>
              </a:rPr>
              <a:t>	to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make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20" dirty="0">
                <a:latin typeface="Segoe UI"/>
                <a:cs typeface="Segoe UI"/>
              </a:rPr>
              <a:t>lunc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bought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6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more</a:t>
            </a:r>
            <a:r>
              <a:rPr sz="1600" spc="30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how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many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do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they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have?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1601" y="5177408"/>
            <a:ext cx="159385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Segoe UI"/>
                <a:cs typeface="Segoe UI"/>
              </a:rPr>
              <a:t>The</a:t>
            </a:r>
            <a:r>
              <a:rPr sz="1600" b="1" spc="-4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answer</a:t>
            </a:r>
            <a:r>
              <a:rPr sz="1600" b="1" spc="-5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is</a:t>
            </a:r>
            <a:r>
              <a:rPr sz="1600" b="1" spc="-55" dirty="0">
                <a:latin typeface="Segoe UI"/>
                <a:cs typeface="Segoe UI"/>
              </a:rPr>
              <a:t> </a:t>
            </a:r>
            <a:r>
              <a:rPr sz="1600" b="1" spc="-25" dirty="0">
                <a:latin typeface="Segoe UI"/>
                <a:cs typeface="Segoe UI"/>
              </a:rPr>
              <a:t>27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85686" y="1415287"/>
            <a:ext cx="5230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Segoe UI Semibold"/>
                <a:cs typeface="Segoe UI Semibold"/>
              </a:rPr>
              <a:t>2nd</a:t>
            </a:r>
            <a:r>
              <a:rPr sz="2800" spc="-50" dirty="0">
                <a:latin typeface="Segoe UI Semibold"/>
                <a:cs typeface="Segoe UI Semibold"/>
              </a:rPr>
              <a:t> </a:t>
            </a:r>
            <a:r>
              <a:rPr sz="2800" spc="-35" dirty="0">
                <a:latin typeface="Segoe UI Semibold"/>
                <a:cs typeface="Segoe UI Semibold"/>
              </a:rPr>
              <a:t>prompt—</a:t>
            </a:r>
            <a:r>
              <a:rPr sz="2800" dirty="0">
                <a:latin typeface="Segoe UI Semibold"/>
                <a:cs typeface="Segoe UI Semibold"/>
              </a:rPr>
              <a:t>provide</a:t>
            </a:r>
            <a:r>
              <a:rPr sz="2800" spc="-5" dirty="0">
                <a:latin typeface="Segoe UI Semibold"/>
                <a:cs typeface="Segoe UI Semibold"/>
              </a:rPr>
              <a:t> </a:t>
            </a:r>
            <a:r>
              <a:rPr sz="2800" spc="-10" dirty="0">
                <a:latin typeface="Segoe UI Semibold"/>
                <a:cs typeface="Segoe UI Semibold"/>
              </a:rPr>
              <a:t>reasoning</a:t>
            </a:r>
            <a:endParaRPr sz="2800">
              <a:latin typeface="Segoe UI Semibold"/>
              <a:cs typeface="Segoe UI Semibold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416294" y="2130298"/>
            <a:ext cx="4873116" cy="19989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414008" y="2376297"/>
            <a:ext cx="1254633" cy="1524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753604" y="2376297"/>
            <a:ext cx="279019" cy="1524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09077" y="2376297"/>
            <a:ext cx="3247390" cy="19773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407150" y="2620136"/>
            <a:ext cx="1688338" cy="15240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026119" y="2067560"/>
            <a:ext cx="93535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95"/>
              </a:spcBef>
              <a:tabLst>
                <a:tab pos="4300855" algn="l"/>
                <a:tab pos="5813425" algn="l"/>
              </a:tabLst>
            </a:pPr>
            <a:r>
              <a:rPr sz="1600" dirty="0">
                <a:latin typeface="Segoe UI"/>
                <a:cs typeface="Segoe UI"/>
              </a:rPr>
              <a:t>is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balls.</a:t>
            </a:r>
            <a:r>
              <a:rPr sz="1600" spc="-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He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buys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mo</a:t>
            </a:r>
            <a:r>
              <a:rPr sz="1600" spc="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cans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</a:t>
            </a:r>
            <a:r>
              <a:rPr sz="1600" spc="42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tennis</a:t>
            </a:r>
            <a:r>
              <a:rPr sz="1600" dirty="0">
                <a:latin typeface="Segoe UI"/>
                <a:cs typeface="Segoe UI"/>
              </a:rPr>
              <a:t>	Roger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has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5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te</a:t>
            </a:r>
            <a:r>
              <a:rPr sz="1600" dirty="0">
                <a:latin typeface="Segoe UI"/>
                <a:cs typeface="Segoe UI"/>
              </a:rPr>
              <a:t>	is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balls.</a:t>
            </a:r>
            <a:r>
              <a:rPr sz="1600" spc="-1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buys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more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cans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</a:t>
            </a:r>
            <a:r>
              <a:rPr sz="1600" spc="40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tennis</a:t>
            </a:r>
            <a:endParaRPr sz="16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tabLst>
                <a:tab pos="4359275" algn="l"/>
                <a:tab pos="5814060" algn="l"/>
              </a:tabLst>
            </a:pPr>
            <a:r>
              <a:rPr sz="1600" dirty="0">
                <a:latin typeface="Segoe UI"/>
                <a:cs typeface="Segoe UI"/>
              </a:rPr>
              <a:t>as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3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tennis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balls.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How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many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tennis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balls</a:t>
            </a:r>
            <a:r>
              <a:rPr sz="1600" dirty="0">
                <a:latin typeface="Segoe UI"/>
                <a:cs typeface="Segoe UI"/>
              </a:rPr>
              <a:t>	balls.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Each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ca</a:t>
            </a:r>
            <a:r>
              <a:rPr sz="1600" dirty="0">
                <a:latin typeface="Segoe UI"/>
                <a:cs typeface="Segoe UI"/>
              </a:rPr>
              <a:t>	as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3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tennis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balls.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How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many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tennis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balls</a:t>
            </a:r>
            <a:endParaRPr sz="1600">
              <a:latin typeface="Segoe UI"/>
              <a:cs typeface="Segoe UI"/>
            </a:endParaRPr>
          </a:p>
          <a:p>
            <a:pPr marL="1099820" algn="ctr">
              <a:lnSpc>
                <a:spcPct val="100000"/>
              </a:lnSpc>
            </a:pPr>
            <a:r>
              <a:rPr sz="1600" dirty="0">
                <a:latin typeface="Segoe UI"/>
                <a:cs typeface="Segoe UI"/>
              </a:rPr>
              <a:t>does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he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have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spc="-20" dirty="0">
                <a:latin typeface="Segoe UI"/>
                <a:cs typeface="Segoe UI"/>
              </a:rPr>
              <a:t>now?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399784" y="3410458"/>
            <a:ext cx="5139563" cy="19989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407150" y="3656457"/>
            <a:ext cx="4353433" cy="15252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230873" y="3196589"/>
            <a:ext cx="5554980" cy="657231"/>
          </a:xfrm>
          <a:prstGeom prst="rect">
            <a:avLst/>
          </a:prstGeom>
          <a:ln w="10794">
            <a:solidFill>
              <a:srgbClr val="50E6FF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285"/>
              </a:spcBef>
            </a:pPr>
            <a:r>
              <a:rPr sz="1600" dirty="0">
                <a:latin typeface="Segoe UI"/>
                <a:cs typeface="Segoe UI"/>
              </a:rPr>
              <a:t>Answer:</a:t>
            </a:r>
            <a:r>
              <a:rPr sz="1600" spc="-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Roger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started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with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5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balls.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cans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3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tennis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balls</a:t>
            </a:r>
            <a:endParaRPr sz="1600">
              <a:latin typeface="Segoe UI"/>
              <a:cs typeface="Segoe UI"/>
            </a:endParaRPr>
          </a:p>
          <a:p>
            <a:pPr marL="167005">
              <a:lnSpc>
                <a:spcPct val="100000"/>
              </a:lnSpc>
              <a:tabLst>
                <a:tab pos="2810510" algn="l"/>
              </a:tabLst>
            </a:pPr>
            <a:r>
              <a:rPr sz="1600" dirty="0">
                <a:latin typeface="Segoe UI"/>
                <a:cs typeface="Segoe UI"/>
              </a:rPr>
              <a:t>each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6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tennis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balls</a:t>
            </a:r>
            <a:r>
              <a:rPr sz="1600" spc="29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5+6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spc="-50" dirty="0">
                <a:latin typeface="Segoe UI"/>
                <a:cs typeface="Segoe UI"/>
              </a:rPr>
              <a:t>=</a:t>
            </a:r>
            <a:r>
              <a:rPr sz="1600" dirty="0">
                <a:latin typeface="Segoe UI"/>
                <a:cs typeface="Segoe UI"/>
              </a:rPr>
              <a:t>	1.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answer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is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401689" y="4446778"/>
            <a:ext cx="5134864" cy="19989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6385686" y="4384675"/>
            <a:ext cx="34639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29205" algn="l"/>
              </a:tabLst>
            </a:pP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cafeteria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has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23</a:t>
            </a:r>
            <a:r>
              <a:rPr sz="1600" dirty="0">
                <a:latin typeface="Segoe UI"/>
                <a:cs typeface="Segoe UI"/>
              </a:rPr>
              <a:t>	If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they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use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999302" y="4384675"/>
            <a:ext cx="156337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20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make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20" dirty="0">
                <a:latin typeface="Segoe UI"/>
                <a:cs typeface="Segoe UI"/>
              </a:rPr>
              <a:t>lunch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406515" y="4692777"/>
            <a:ext cx="4048125" cy="19773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6385686" y="4628515"/>
            <a:ext cx="40919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bought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6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more</a:t>
            </a:r>
            <a:r>
              <a:rPr sz="1600" spc="30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how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many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do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they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have?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85686" y="5421274"/>
            <a:ext cx="52006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Segoe UI"/>
                <a:cs typeface="Segoe UI"/>
              </a:rPr>
              <a:t>The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cafeteria</a:t>
            </a:r>
            <a:r>
              <a:rPr sz="1600" b="1" spc="-5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had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23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apples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spc="-20" dirty="0">
                <a:latin typeface="Segoe UI"/>
                <a:cs typeface="Segoe UI"/>
              </a:rPr>
              <a:t>originally.</a:t>
            </a:r>
            <a:r>
              <a:rPr sz="1600" b="1" spc="-5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They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used</a:t>
            </a:r>
            <a:r>
              <a:rPr sz="1600" b="1" spc="-5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20</a:t>
            </a:r>
            <a:r>
              <a:rPr sz="1600" b="1" spc="-30" dirty="0">
                <a:latin typeface="Segoe UI"/>
                <a:cs typeface="Segoe UI"/>
              </a:rPr>
              <a:t> </a:t>
            </a:r>
            <a:r>
              <a:rPr sz="1600" b="1" spc="-25" dirty="0">
                <a:latin typeface="Segoe UI"/>
                <a:cs typeface="Segoe UI"/>
              </a:rPr>
              <a:t>to </a:t>
            </a:r>
            <a:r>
              <a:rPr sz="1600" b="1" dirty="0">
                <a:latin typeface="Segoe UI"/>
                <a:cs typeface="Segoe UI"/>
              </a:rPr>
              <a:t>make</a:t>
            </a:r>
            <a:r>
              <a:rPr sz="1600" b="1" spc="-4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lunch.</a:t>
            </a:r>
            <a:r>
              <a:rPr sz="1600" b="1" spc="-3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So</a:t>
            </a:r>
            <a:r>
              <a:rPr sz="1600" b="1" spc="-5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they</a:t>
            </a:r>
            <a:r>
              <a:rPr sz="1600" b="1" spc="-3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had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23-</a:t>
            </a:r>
            <a:r>
              <a:rPr sz="1600" b="1" dirty="0">
                <a:latin typeface="Segoe UI"/>
                <a:cs typeface="Segoe UI"/>
              </a:rPr>
              <a:t>20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=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3.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They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bought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spc="-50" dirty="0">
                <a:latin typeface="Segoe UI"/>
                <a:cs typeface="Segoe UI"/>
              </a:rPr>
              <a:t>6 </a:t>
            </a:r>
            <a:r>
              <a:rPr sz="1600" b="1" dirty="0">
                <a:latin typeface="Segoe UI"/>
                <a:cs typeface="Segoe UI"/>
              </a:rPr>
              <a:t>more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apples,</a:t>
            </a:r>
            <a:r>
              <a:rPr sz="1600" b="1" spc="-4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so</a:t>
            </a:r>
            <a:r>
              <a:rPr sz="1600" b="1" spc="-4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they</a:t>
            </a:r>
            <a:r>
              <a:rPr sz="1600" b="1" spc="-2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have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3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+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6</a:t>
            </a:r>
            <a:r>
              <a:rPr sz="1600" b="1" spc="-2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=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9.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</a:t>
            </a:r>
            <a:r>
              <a:rPr sz="1600" b="1" spc="-3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answer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is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spc="-25" dirty="0">
                <a:latin typeface="Segoe UI"/>
                <a:cs typeface="Segoe UI"/>
              </a:rPr>
              <a:t>9.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01406" y="3294126"/>
            <a:ext cx="3542029" cy="2016760"/>
          </a:xfrm>
          <a:custGeom>
            <a:avLst/>
            <a:gdLst/>
            <a:ahLst/>
            <a:cxnLst/>
            <a:rect l="l" t="t" r="r" b="b"/>
            <a:pathLst>
              <a:path w="3542029" h="2016760">
                <a:moveTo>
                  <a:pt x="0" y="2016252"/>
                </a:moveTo>
                <a:lnTo>
                  <a:pt x="3541776" y="2016252"/>
                </a:lnTo>
                <a:lnTo>
                  <a:pt x="3541776" y="0"/>
                </a:lnTo>
                <a:lnTo>
                  <a:pt x="0" y="0"/>
                </a:lnTo>
                <a:lnTo>
                  <a:pt x="0" y="2016252"/>
                </a:lnTo>
                <a:close/>
              </a:path>
            </a:pathLst>
          </a:custGeom>
          <a:ln w="10795">
            <a:solidFill>
              <a:srgbClr val="50E6F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991355" y="2929064"/>
            <a:ext cx="4209415" cy="2236470"/>
            <a:chOff x="3991355" y="2929064"/>
            <a:chExt cx="4209415" cy="2236470"/>
          </a:xfrm>
        </p:grpSpPr>
        <p:sp>
          <p:nvSpPr>
            <p:cNvPr id="4" name="object 4"/>
            <p:cNvSpPr/>
            <p:nvPr/>
          </p:nvSpPr>
          <p:spPr>
            <a:xfrm>
              <a:off x="4315205" y="2934461"/>
              <a:ext cx="3542029" cy="957580"/>
            </a:xfrm>
            <a:custGeom>
              <a:avLst/>
              <a:gdLst/>
              <a:ahLst/>
              <a:cxnLst/>
              <a:rect l="l" t="t" r="r" b="b"/>
              <a:pathLst>
                <a:path w="3542029" h="957579">
                  <a:moveTo>
                    <a:pt x="0" y="957071"/>
                  </a:moveTo>
                  <a:lnTo>
                    <a:pt x="3541776" y="957071"/>
                  </a:lnTo>
                  <a:lnTo>
                    <a:pt x="3541776" y="0"/>
                  </a:lnTo>
                  <a:lnTo>
                    <a:pt x="0" y="0"/>
                  </a:lnTo>
                  <a:lnTo>
                    <a:pt x="0" y="957071"/>
                  </a:lnTo>
                  <a:close/>
                </a:path>
              </a:pathLst>
            </a:custGeom>
            <a:ln w="10794">
              <a:solidFill>
                <a:srgbClr val="50E6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91356" y="3374135"/>
              <a:ext cx="4209415" cy="1791335"/>
            </a:xfrm>
            <a:custGeom>
              <a:avLst/>
              <a:gdLst/>
              <a:ahLst/>
              <a:cxnLst/>
              <a:rect l="l" t="t" r="r" b="b"/>
              <a:pathLst>
                <a:path w="4209415" h="1791335">
                  <a:moveTo>
                    <a:pt x="323723" y="38100"/>
                  </a:moveTo>
                  <a:lnTo>
                    <a:pt x="311023" y="31750"/>
                  </a:lnTo>
                  <a:lnTo>
                    <a:pt x="247523" y="0"/>
                  </a:lnTo>
                  <a:lnTo>
                    <a:pt x="247523" y="31750"/>
                  </a:lnTo>
                  <a:lnTo>
                    <a:pt x="158369" y="31750"/>
                  </a:lnTo>
                  <a:lnTo>
                    <a:pt x="155575" y="34544"/>
                  </a:lnTo>
                  <a:lnTo>
                    <a:pt x="155575" y="1653032"/>
                  </a:lnTo>
                  <a:lnTo>
                    <a:pt x="0" y="1653032"/>
                  </a:lnTo>
                  <a:lnTo>
                    <a:pt x="0" y="1665732"/>
                  </a:lnTo>
                  <a:lnTo>
                    <a:pt x="165354" y="1665732"/>
                  </a:lnTo>
                  <a:lnTo>
                    <a:pt x="168275" y="1662811"/>
                  </a:lnTo>
                  <a:lnTo>
                    <a:pt x="168275" y="1659382"/>
                  </a:lnTo>
                  <a:lnTo>
                    <a:pt x="168275" y="1653032"/>
                  </a:lnTo>
                  <a:lnTo>
                    <a:pt x="168275" y="44450"/>
                  </a:lnTo>
                  <a:lnTo>
                    <a:pt x="247523" y="44450"/>
                  </a:lnTo>
                  <a:lnTo>
                    <a:pt x="247523" y="76200"/>
                  </a:lnTo>
                  <a:lnTo>
                    <a:pt x="311023" y="44450"/>
                  </a:lnTo>
                  <a:lnTo>
                    <a:pt x="323723" y="38100"/>
                  </a:lnTo>
                  <a:close/>
                </a:path>
                <a:path w="4209415" h="1791335">
                  <a:moveTo>
                    <a:pt x="4209415" y="926592"/>
                  </a:moveTo>
                  <a:lnTo>
                    <a:pt x="4196715" y="920242"/>
                  </a:lnTo>
                  <a:lnTo>
                    <a:pt x="4133215" y="888492"/>
                  </a:lnTo>
                  <a:lnTo>
                    <a:pt x="4133215" y="920242"/>
                  </a:lnTo>
                  <a:lnTo>
                    <a:pt x="4038981" y="920242"/>
                  </a:lnTo>
                  <a:lnTo>
                    <a:pt x="4036060" y="923036"/>
                  </a:lnTo>
                  <a:lnTo>
                    <a:pt x="4036060" y="1778635"/>
                  </a:lnTo>
                  <a:lnTo>
                    <a:pt x="3875532" y="1778635"/>
                  </a:lnTo>
                  <a:lnTo>
                    <a:pt x="3875532" y="1791335"/>
                  </a:lnTo>
                  <a:lnTo>
                    <a:pt x="4045966" y="1791335"/>
                  </a:lnTo>
                  <a:lnTo>
                    <a:pt x="4048760" y="1788541"/>
                  </a:lnTo>
                  <a:lnTo>
                    <a:pt x="4048760" y="1784985"/>
                  </a:lnTo>
                  <a:lnTo>
                    <a:pt x="4048760" y="1778635"/>
                  </a:lnTo>
                  <a:lnTo>
                    <a:pt x="4048760" y="932942"/>
                  </a:lnTo>
                  <a:lnTo>
                    <a:pt x="4133215" y="932942"/>
                  </a:lnTo>
                  <a:lnTo>
                    <a:pt x="4133215" y="964692"/>
                  </a:lnTo>
                  <a:lnTo>
                    <a:pt x="4196715" y="932942"/>
                  </a:lnTo>
                  <a:lnTo>
                    <a:pt x="4209415" y="9265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6203" y="563752"/>
            <a:ext cx="3352419" cy="4460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8200" y="744495"/>
            <a:ext cx="10515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127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Prompt</a:t>
            </a:r>
            <a:r>
              <a:rPr spc="-195" dirty="0"/>
              <a:t> </a:t>
            </a:r>
            <a:r>
              <a:rPr spc="-40" dirty="0"/>
              <a:t>Chaining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72516" y="1419860"/>
            <a:ext cx="2096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Segoe UI Semibold"/>
                <a:cs typeface="Segoe UI Semibold"/>
              </a:rPr>
              <a:t>Entity</a:t>
            </a:r>
            <a:r>
              <a:rPr sz="2200" spc="-70" dirty="0">
                <a:latin typeface="Segoe UI Semibold"/>
                <a:cs typeface="Segoe UI Semibold"/>
              </a:rPr>
              <a:t> </a:t>
            </a:r>
            <a:r>
              <a:rPr sz="2200" spc="-10" dirty="0">
                <a:latin typeface="Segoe UI Semibold"/>
                <a:cs typeface="Segoe UI Semibold"/>
              </a:rPr>
              <a:t>Extraction</a:t>
            </a:r>
            <a:endParaRPr sz="2200">
              <a:latin typeface="Segoe UI Semibold"/>
              <a:cs typeface="Segoe UI Semibold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821" y="2438907"/>
            <a:ext cx="536473" cy="152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2608" y="2439289"/>
            <a:ext cx="1416777" cy="1520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3542" y="2436622"/>
            <a:ext cx="757173" cy="15468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0461" y="2680461"/>
            <a:ext cx="2831807" cy="2000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9465" y="2926588"/>
            <a:ext cx="3039084" cy="152400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94118" y="3170427"/>
            <a:ext cx="3077210" cy="685800"/>
            <a:chOff x="594118" y="3170427"/>
            <a:chExt cx="3077210" cy="68580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649" y="3170427"/>
              <a:ext cx="2692730" cy="1977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118" y="3411981"/>
              <a:ext cx="2831579" cy="2000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4715" y="3655822"/>
              <a:ext cx="3076600" cy="200025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4118" y="3901947"/>
            <a:ext cx="1928736" cy="1965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72516" y="2374137"/>
            <a:ext cx="309308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2395">
              <a:lnSpc>
                <a:spcPct val="100000"/>
              </a:lnSpc>
              <a:spcBef>
                <a:spcPts val="95"/>
              </a:spcBef>
              <a:tabLst>
                <a:tab pos="1643380" algn="l"/>
                <a:tab pos="2183765" algn="l"/>
              </a:tabLst>
            </a:pPr>
            <a:r>
              <a:rPr sz="1600" dirty="0">
                <a:latin typeface="Segoe UI"/>
                <a:cs typeface="Segoe UI"/>
              </a:rPr>
              <a:t>lease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extract</a:t>
            </a:r>
            <a:r>
              <a:rPr sz="1600" b="1" spc="-5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entities</a:t>
            </a:r>
            <a:r>
              <a:rPr sz="1600" b="1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from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the </a:t>
            </a:r>
            <a:r>
              <a:rPr sz="1600" dirty="0">
                <a:latin typeface="Segoe UI"/>
                <a:cs typeface="Segoe UI"/>
              </a:rPr>
              <a:t>following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news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article:</a:t>
            </a:r>
            <a:r>
              <a:rPr sz="1600" spc="30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new </a:t>
            </a:r>
            <a:r>
              <a:rPr sz="1600" dirty="0">
                <a:latin typeface="Segoe UI"/>
                <a:cs typeface="Segoe UI"/>
              </a:rPr>
              <a:t>Phone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model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set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released </a:t>
            </a:r>
            <a:r>
              <a:rPr sz="1600" dirty="0">
                <a:latin typeface="Segoe UI"/>
                <a:cs typeface="Segoe UI"/>
              </a:rPr>
              <a:t>next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month.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It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has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been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highly anticipated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by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Apple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fans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is </a:t>
            </a:r>
            <a:r>
              <a:rPr sz="1600" dirty="0">
                <a:latin typeface="Segoe UI"/>
                <a:cs typeface="Segoe UI"/>
              </a:rPr>
              <a:t>expected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fe</a:t>
            </a:r>
            <a:r>
              <a:rPr sz="1600" dirty="0">
                <a:latin typeface="Segoe UI"/>
                <a:cs typeface="Segoe UI"/>
              </a:rPr>
              <a:t>	</a:t>
            </a:r>
            <a:r>
              <a:rPr sz="1600" spc="-50" dirty="0">
                <a:latin typeface="Segoe UI"/>
                <a:cs typeface="Segoe UI"/>
              </a:rPr>
              <a:t>e</a:t>
            </a:r>
            <a:r>
              <a:rPr sz="1600" dirty="0">
                <a:latin typeface="Segoe UI"/>
                <a:cs typeface="Segoe UI"/>
              </a:rPr>
              <a:t>	ger</a:t>
            </a:r>
            <a:r>
              <a:rPr sz="1600" spc="-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sc</a:t>
            </a:r>
            <a:r>
              <a:rPr sz="1600" spc="5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ee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improved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camera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0341" y="4525517"/>
            <a:ext cx="3542029" cy="856004"/>
          </a:xfrm>
          <a:prstGeom prst="rect">
            <a:avLst/>
          </a:prstGeom>
          <a:solidFill>
            <a:srgbClr val="000000"/>
          </a:solidFill>
          <a:ln w="10795">
            <a:solidFill>
              <a:srgbClr val="50E6FF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915"/>
              </a:spcBef>
            </a:pPr>
            <a:r>
              <a:rPr sz="1600" dirty="0">
                <a:latin typeface="Segoe UI"/>
                <a:cs typeface="Segoe UI"/>
              </a:rPr>
              <a:t>{'text':</a:t>
            </a:r>
            <a:r>
              <a:rPr sz="1600" spc="-8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'iPhone',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'type’:</a:t>
            </a:r>
            <a:endParaRPr sz="1600">
              <a:latin typeface="Segoe UI"/>
              <a:cs typeface="Segoe UI"/>
            </a:endParaRPr>
          </a:p>
          <a:p>
            <a:pPr marL="13462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Segoe UI"/>
                <a:cs typeface="Segoe UI"/>
              </a:rPr>
              <a:t>'PRODUCT'},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{'text':</a:t>
            </a:r>
            <a:r>
              <a:rPr sz="1600" spc="-9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'Apple’,</a:t>
            </a:r>
            <a:endParaRPr sz="1600">
              <a:latin typeface="Segoe UI"/>
              <a:cs typeface="Segoe UI"/>
            </a:endParaRPr>
          </a:p>
          <a:p>
            <a:pPr marL="134620">
              <a:lnSpc>
                <a:spcPct val="100000"/>
              </a:lnSpc>
            </a:pPr>
            <a:r>
              <a:rPr sz="1600" spc="-10" dirty="0">
                <a:latin typeface="Segoe UI"/>
                <a:cs typeface="Segoe UI"/>
              </a:rPr>
              <a:t>'type':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'ORGANIZATION'}]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51730" y="1419860"/>
            <a:ext cx="19354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Segoe UI Semibold"/>
                <a:cs typeface="Segoe UI Semibold"/>
              </a:rPr>
              <a:t>Summarization</a:t>
            </a:r>
            <a:endParaRPr sz="2200">
              <a:latin typeface="Segoe UI Semibold"/>
              <a:cs typeface="Segoe UI Semibold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82465" y="2432176"/>
            <a:ext cx="536448" cy="1524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90540" y="2432685"/>
            <a:ext cx="1028954" cy="1520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182614" y="2430017"/>
            <a:ext cx="1371854" cy="15455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472685" y="2676017"/>
            <a:ext cx="1609089" cy="19672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483608" y="3072257"/>
            <a:ext cx="3088386" cy="19773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72940" y="3316096"/>
            <a:ext cx="1795018" cy="19773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479925" y="3565778"/>
            <a:ext cx="1624076" cy="17653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451730" y="2367533"/>
            <a:ext cx="3146425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4620" indent="11239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lease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summarize</a:t>
            </a:r>
            <a:r>
              <a:rPr sz="1600" b="1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informatio </a:t>
            </a:r>
            <a:r>
              <a:rPr sz="1600" dirty="0">
                <a:latin typeface="Segoe UI"/>
                <a:cs typeface="Segoe UI"/>
              </a:rPr>
              <a:t>about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product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871855" algn="l"/>
                <a:tab pos="3027680" algn="l"/>
              </a:tabLst>
            </a:pPr>
            <a:r>
              <a:rPr sz="1600" spc="-10" dirty="0">
                <a:latin typeface="Segoe UI"/>
                <a:cs typeface="Segoe UI"/>
              </a:rPr>
              <a:t>[{'text':</a:t>
            </a:r>
            <a:r>
              <a:rPr sz="1600" dirty="0">
                <a:latin typeface="Segoe UI"/>
                <a:cs typeface="Segoe UI"/>
              </a:rPr>
              <a:t>	</a:t>
            </a:r>
            <a:r>
              <a:rPr sz="1600" spc="-10" dirty="0">
                <a:latin typeface="Segoe UI"/>
                <a:cs typeface="Segoe UI"/>
              </a:rPr>
              <a:t>hone',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'type':</a:t>
            </a:r>
            <a:r>
              <a:rPr sz="1600" spc="-8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'PRODUC</a:t>
            </a:r>
            <a:r>
              <a:rPr sz="1600" dirty="0">
                <a:latin typeface="Segoe UI"/>
                <a:cs typeface="Segoe UI"/>
              </a:rPr>
              <a:t>	</a:t>
            </a:r>
            <a:r>
              <a:rPr sz="1600" spc="-25" dirty="0">
                <a:latin typeface="Segoe UI"/>
                <a:cs typeface="Segoe UI"/>
              </a:rPr>
              <a:t>},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tabLst>
                <a:tab pos="1307465" algn="l"/>
              </a:tabLst>
            </a:pPr>
            <a:r>
              <a:rPr sz="1600" dirty="0">
                <a:latin typeface="Segoe UI"/>
                <a:cs typeface="Segoe UI"/>
              </a:rPr>
              <a:t>{'text':</a:t>
            </a:r>
            <a:r>
              <a:rPr sz="1600" spc="29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Apple</a:t>
            </a:r>
            <a:r>
              <a:rPr sz="1600" dirty="0">
                <a:latin typeface="Segoe UI"/>
                <a:cs typeface="Segoe UI"/>
              </a:rPr>
              <a:t>	</a:t>
            </a:r>
            <a:r>
              <a:rPr sz="1600" spc="-10" dirty="0">
                <a:latin typeface="Segoe UI"/>
                <a:cs typeface="Segoe UI"/>
              </a:rPr>
              <a:t>'type':</a:t>
            </a:r>
            <a:endParaRPr sz="1600">
              <a:latin typeface="Segoe UI"/>
              <a:cs typeface="Segoe UI"/>
            </a:endParaRPr>
          </a:p>
          <a:p>
            <a:pPr marL="59690">
              <a:lnSpc>
                <a:spcPct val="100000"/>
              </a:lnSpc>
            </a:pPr>
            <a:r>
              <a:rPr sz="1600" spc="-10" dirty="0">
                <a:latin typeface="Segoe UI"/>
                <a:cs typeface="Segoe UI"/>
              </a:rPr>
              <a:t>ORGANIZATION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25873" y="4194809"/>
            <a:ext cx="3542029" cy="1829988"/>
          </a:xfrm>
          <a:prstGeom prst="rect">
            <a:avLst/>
          </a:prstGeom>
          <a:solidFill>
            <a:srgbClr val="000000"/>
          </a:solidFill>
          <a:ln w="10794">
            <a:solidFill>
              <a:srgbClr val="50E6FF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138430" marR="144780">
              <a:lnSpc>
                <a:spcPct val="100000"/>
              </a:lnSpc>
              <a:spcBef>
                <a:spcPts val="830"/>
              </a:spcBef>
            </a:pP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iPhone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line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smartphones </a:t>
            </a:r>
            <a:r>
              <a:rPr sz="1600" dirty="0">
                <a:latin typeface="Segoe UI"/>
                <a:cs typeface="Segoe UI"/>
              </a:rPr>
              <a:t>designed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marketed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by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Apple </a:t>
            </a:r>
            <a:r>
              <a:rPr sz="1600" dirty="0">
                <a:latin typeface="Segoe UI"/>
                <a:cs typeface="Segoe UI"/>
              </a:rPr>
              <a:t>Inc.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These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devices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combine</a:t>
            </a:r>
            <a:r>
              <a:rPr sz="1600" spc="-50" dirty="0">
                <a:latin typeface="Segoe UI"/>
                <a:cs typeface="Segoe UI"/>
              </a:rPr>
              <a:t> a </a:t>
            </a:r>
            <a:r>
              <a:rPr sz="1600" spc="-20" dirty="0">
                <a:latin typeface="Segoe UI"/>
                <a:cs typeface="Segoe UI"/>
              </a:rPr>
              <a:t>computer,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camera,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internet </a:t>
            </a:r>
            <a:r>
              <a:rPr sz="1600" dirty="0">
                <a:latin typeface="Segoe UI"/>
                <a:cs typeface="Segoe UI"/>
              </a:rPr>
              <a:t>connectivity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single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device,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and </a:t>
            </a:r>
            <a:r>
              <a:rPr sz="1600" dirty="0">
                <a:latin typeface="Segoe UI"/>
                <a:cs typeface="Segoe UI"/>
              </a:rPr>
              <a:t>are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known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for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their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sleek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design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and </a:t>
            </a:r>
            <a:r>
              <a:rPr sz="1600" spc="-20" dirty="0">
                <a:latin typeface="Segoe UI"/>
                <a:cs typeface="Segoe UI"/>
              </a:rPr>
              <a:t>user-</a:t>
            </a:r>
            <a:r>
              <a:rPr sz="1600" dirty="0">
                <a:latin typeface="Segoe UI"/>
                <a:cs typeface="Segoe UI"/>
              </a:rPr>
              <a:t>friendly</a:t>
            </a:r>
            <a:r>
              <a:rPr sz="1600" spc="-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interface.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30565" y="1419860"/>
            <a:ext cx="24269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Segoe UI Semibold"/>
                <a:cs typeface="Segoe UI Semibold"/>
              </a:rPr>
              <a:t>Sentiment</a:t>
            </a:r>
            <a:r>
              <a:rPr sz="2200" spc="-100" dirty="0">
                <a:latin typeface="Segoe UI Semibold"/>
                <a:cs typeface="Segoe UI Semibold"/>
              </a:rPr>
              <a:t> </a:t>
            </a:r>
            <a:r>
              <a:rPr sz="2200" spc="-10" dirty="0">
                <a:latin typeface="Segoe UI Semibold"/>
                <a:cs typeface="Segoe UI Semibold"/>
              </a:rPr>
              <a:t>Analysis</a:t>
            </a:r>
            <a:endParaRPr sz="2200">
              <a:latin typeface="Segoe UI Semibold"/>
              <a:cs typeface="Segoe UI Semibold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360918" y="2438907"/>
            <a:ext cx="1425321" cy="19659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862184" y="2439289"/>
            <a:ext cx="944245" cy="15201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871327" y="2436622"/>
            <a:ext cx="584962" cy="15468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347582" y="2680461"/>
            <a:ext cx="1248791" cy="200025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8330565" y="2374137"/>
            <a:ext cx="31483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Please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provide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sentiment</a:t>
            </a:r>
            <a:r>
              <a:rPr sz="1600" b="1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for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the </a:t>
            </a:r>
            <a:r>
              <a:rPr sz="1600" dirty="0">
                <a:latin typeface="Segoe UI"/>
                <a:cs typeface="Segoe UI"/>
              </a:rPr>
              <a:t>following</a:t>
            </a:r>
            <a:r>
              <a:rPr sz="1600" spc="-10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text: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346440" y="3472941"/>
            <a:ext cx="3170174" cy="198882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351901" y="3719067"/>
            <a:ext cx="2947416" cy="19773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360918" y="3962908"/>
            <a:ext cx="2551556" cy="15240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351901" y="4206747"/>
            <a:ext cx="2775839" cy="196595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8351266" y="4450588"/>
            <a:ext cx="2679065" cy="396240"/>
            <a:chOff x="8351266" y="4450588"/>
            <a:chExt cx="2679065" cy="396240"/>
          </a:xfrm>
        </p:grpSpPr>
        <p:pic>
          <p:nvPicPr>
            <p:cNvPr id="42" name="object 4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351901" y="4450588"/>
              <a:ext cx="2678049" cy="19773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351266" y="4692142"/>
              <a:ext cx="2592578" cy="154685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8351901" y="4935982"/>
            <a:ext cx="3029585" cy="200025"/>
            <a:chOff x="8351901" y="4935982"/>
            <a:chExt cx="3029585" cy="200025"/>
          </a:xfrm>
        </p:grpSpPr>
        <p:pic>
          <p:nvPicPr>
            <p:cNvPr id="45" name="object 4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351901" y="4938268"/>
              <a:ext cx="1406905" cy="19773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773920" y="5025449"/>
              <a:ext cx="54037" cy="1276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845675" y="4935982"/>
              <a:ext cx="1535302" cy="200025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8343265" y="3410153"/>
            <a:ext cx="3195320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iPhone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line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smartphones </a:t>
            </a:r>
            <a:r>
              <a:rPr sz="1600" dirty="0">
                <a:latin typeface="Segoe UI"/>
                <a:cs typeface="Segoe UI"/>
              </a:rPr>
              <a:t>designed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marketed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by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Apple </a:t>
            </a:r>
            <a:r>
              <a:rPr sz="1600" dirty="0">
                <a:latin typeface="Segoe UI"/>
                <a:cs typeface="Segoe UI"/>
              </a:rPr>
              <a:t>nc.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These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devices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combine </a:t>
            </a:r>
            <a:r>
              <a:rPr sz="1600" spc="-20" dirty="0">
                <a:latin typeface="Segoe UI"/>
                <a:cs typeface="Segoe UI"/>
              </a:rPr>
              <a:t>computer,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camera,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internet </a:t>
            </a:r>
            <a:r>
              <a:rPr sz="1600" dirty="0">
                <a:latin typeface="Segoe UI"/>
                <a:cs typeface="Segoe UI"/>
              </a:rPr>
              <a:t>connectivity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in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single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939800" algn="l"/>
                <a:tab pos="2286635" algn="l"/>
              </a:tabLst>
            </a:pP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are</a:t>
            </a:r>
            <a:r>
              <a:rPr sz="1600" dirty="0">
                <a:latin typeface="Segoe UI"/>
                <a:cs typeface="Segoe UI"/>
              </a:rPr>
              <a:t>	own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for</a:t>
            </a:r>
            <a:r>
              <a:rPr sz="1600" spc="-10" dirty="0">
                <a:latin typeface="Segoe UI"/>
                <a:cs typeface="Segoe UI"/>
              </a:rPr>
              <a:t> their</a:t>
            </a:r>
            <a:r>
              <a:rPr sz="1600" dirty="0">
                <a:latin typeface="Segoe UI"/>
                <a:cs typeface="Segoe UI"/>
              </a:rPr>
              <a:t>	</a:t>
            </a:r>
            <a:r>
              <a:rPr sz="1600" spc="-25" dirty="0">
                <a:latin typeface="Segoe UI"/>
                <a:cs typeface="Segoe UI"/>
              </a:rPr>
              <a:t>eek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tabLst>
                <a:tab pos="1497965" algn="l"/>
              </a:tabLst>
            </a:pPr>
            <a:r>
              <a:rPr sz="1600" dirty="0">
                <a:latin typeface="Segoe UI"/>
                <a:cs typeface="Segoe UI"/>
              </a:rPr>
              <a:t>design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use</a:t>
            </a:r>
            <a:r>
              <a:rPr sz="1600" dirty="0">
                <a:latin typeface="Segoe UI"/>
                <a:cs typeface="Segoe UI"/>
              </a:rPr>
              <a:t>	friendly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interface.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330565" y="5666638"/>
            <a:ext cx="7702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Segoe UI"/>
                <a:cs typeface="Segoe UI"/>
              </a:rPr>
              <a:t>Positive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90259" y="3840479"/>
            <a:ext cx="393700" cy="1089660"/>
          </a:xfrm>
          <a:custGeom>
            <a:avLst/>
            <a:gdLst/>
            <a:ahLst/>
            <a:cxnLst/>
            <a:rect l="l" t="t" r="r" b="b"/>
            <a:pathLst>
              <a:path w="393700" h="1089660">
                <a:moveTo>
                  <a:pt x="190373" y="1076452"/>
                </a:moveTo>
                <a:lnTo>
                  <a:pt x="0" y="1076452"/>
                </a:lnTo>
                <a:lnTo>
                  <a:pt x="0" y="1089152"/>
                </a:lnTo>
                <a:lnTo>
                  <a:pt x="200151" y="1089152"/>
                </a:lnTo>
                <a:lnTo>
                  <a:pt x="203073" y="1086231"/>
                </a:lnTo>
                <a:lnTo>
                  <a:pt x="203073" y="1082802"/>
                </a:lnTo>
                <a:lnTo>
                  <a:pt x="190373" y="1082802"/>
                </a:lnTo>
                <a:lnTo>
                  <a:pt x="190373" y="1076452"/>
                </a:lnTo>
                <a:close/>
              </a:path>
              <a:path w="393700" h="1089660">
                <a:moveTo>
                  <a:pt x="317118" y="31750"/>
                </a:moveTo>
                <a:lnTo>
                  <a:pt x="193166" y="31750"/>
                </a:lnTo>
                <a:lnTo>
                  <a:pt x="190373" y="34544"/>
                </a:lnTo>
                <a:lnTo>
                  <a:pt x="190373" y="1082802"/>
                </a:lnTo>
                <a:lnTo>
                  <a:pt x="196723" y="1076452"/>
                </a:lnTo>
                <a:lnTo>
                  <a:pt x="203073" y="1076452"/>
                </a:lnTo>
                <a:lnTo>
                  <a:pt x="203073" y="44450"/>
                </a:lnTo>
                <a:lnTo>
                  <a:pt x="196723" y="44450"/>
                </a:lnTo>
                <a:lnTo>
                  <a:pt x="203073" y="38100"/>
                </a:lnTo>
                <a:lnTo>
                  <a:pt x="317118" y="38100"/>
                </a:lnTo>
                <a:lnTo>
                  <a:pt x="317118" y="31750"/>
                </a:lnTo>
                <a:close/>
              </a:path>
              <a:path w="393700" h="1089660">
                <a:moveTo>
                  <a:pt x="203073" y="1076452"/>
                </a:moveTo>
                <a:lnTo>
                  <a:pt x="196723" y="1076452"/>
                </a:lnTo>
                <a:lnTo>
                  <a:pt x="190373" y="1082802"/>
                </a:lnTo>
                <a:lnTo>
                  <a:pt x="203073" y="1082802"/>
                </a:lnTo>
                <a:lnTo>
                  <a:pt x="203073" y="1076452"/>
                </a:lnTo>
                <a:close/>
              </a:path>
              <a:path w="393700" h="1089660">
                <a:moveTo>
                  <a:pt x="317118" y="0"/>
                </a:moveTo>
                <a:lnTo>
                  <a:pt x="317118" y="76200"/>
                </a:lnTo>
                <a:lnTo>
                  <a:pt x="380618" y="44450"/>
                </a:lnTo>
                <a:lnTo>
                  <a:pt x="329818" y="44450"/>
                </a:lnTo>
                <a:lnTo>
                  <a:pt x="329818" y="31750"/>
                </a:lnTo>
                <a:lnTo>
                  <a:pt x="380618" y="31750"/>
                </a:lnTo>
                <a:lnTo>
                  <a:pt x="317118" y="0"/>
                </a:lnTo>
                <a:close/>
              </a:path>
              <a:path w="393700" h="1089660">
                <a:moveTo>
                  <a:pt x="203073" y="38100"/>
                </a:moveTo>
                <a:lnTo>
                  <a:pt x="196723" y="44450"/>
                </a:lnTo>
                <a:lnTo>
                  <a:pt x="203073" y="44450"/>
                </a:lnTo>
                <a:lnTo>
                  <a:pt x="203073" y="38100"/>
                </a:lnTo>
                <a:close/>
              </a:path>
              <a:path w="393700" h="1089660">
                <a:moveTo>
                  <a:pt x="317118" y="38100"/>
                </a:moveTo>
                <a:lnTo>
                  <a:pt x="203073" y="38100"/>
                </a:lnTo>
                <a:lnTo>
                  <a:pt x="203073" y="44450"/>
                </a:lnTo>
                <a:lnTo>
                  <a:pt x="317118" y="44450"/>
                </a:lnTo>
                <a:lnTo>
                  <a:pt x="317118" y="38100"/>
                </a:lnTo>
                <a:close/>
              </a:path>
              <a:path w="393700" h="1089660">
                <a:moveTo>
                  <a:pt x="380618" y="31750"/>
                </a:moveTo>
                <a:lnTo>
                  <a:pt x="329818" y="31750"/>
                </a:lnTo>
                <a:lnTo>
                  <a:pt x="329818" y="44450"/>
                </a:lnTo>
                <a:lnTo>
                  <a:pt x="380618" y="44450"/>
                </a:lnTo>
                <a:lnTo>
                  <a:pt x="393318" y="38100"/>
                </a:lnTo>
                <a:lnTo>
                  <a:pt x="380618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3354" y="552195"/>
            <a:ext cx="1597151" cy="3060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5285" y="554862"/>
            <a:ext cx="1799970" cy="3943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78446" y="725230"/>
            <a:ext cx="203453" cy="339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15378" y="552195"/>
            <a:ext cx="1778507" cy="39484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63893" y="434086"/>
            <a:ext cx="56718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16985" algn="l"/>
              </a:tabLst>
            </a:pPr>
            <a:r>
              <a:rPr sz="3200" dirty="0"/>
              <a:t>ew</a:t>
            </a:r>
            <a:r>
              <a:rPr sz="3200" spc="-180" dirty="0"/>
              <a:t> </a:t>
            </a:r>
            <a:r>
              <a:rPr sz="3200" spc="-20" dirty="0"/>
              <a:t>Shot</a:t>
            </a:r>
            <a:r>
              <a:rPr sz="3200" spc="-165" dirty="0"/>
              <a:t> </a:t>
            </a:r>
            <a:r>
              <a:rPr sz="3200" spc="-10" dirty="0"/>
              <a:t>Reasoning</a:t>
            </a:r>
            <a:r>
              <a:rPr sz="3200" dirty="0"/>
              <a:t>	</a:t>
            </a:r>
            <a:r>
              <a:rPr sz="3200" spc="-35" dirty="0"/>
              <a:t>Example</a:t>
            </a:r>
            <a:r>
              <a:rPr sz="3200" spc="-170" dirty="0"/>
              <a:t> </a:t>
            </a:r>
            <a:r>
              <a:rPr sz="3200" spc="-50" dirty="0"/>
              <a:t>2</a:t>
            </a:r>
            <a:endParaRPr sz="3200"/>
          </a:p>
        </p:txBody>
      </p:sp>
      <p:grpSp>
        <p:nvGrpSpPr>
          <p:cNvPr id="8" name="object 8"/>
          <p:cNvGrpSpPr/>
          <p:nvPr/>
        </p:nvGrpSpPr>
        <p:grpSpPr>
          <a:xfrm>
            <a:off x="586371" y="2132457"/>
            <a:ext cx="4185920" cy="441959"/>
            <a:chOff x="586371" y="2132457"/>
            <a:chExt cx="4185920" cy="441959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3509" y="2132457"/>
              <a:ext cx="4178388" cy="1977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371" y="2374138"/>
              <a:ext cx="4112120" cy="199898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0633" y="2620136"/>
            <a:ext cx="2001469" cy="19672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0430" y="3412616"/>
            <a:ext cx="4771923" cy="19761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0727" y="3656457"/>
            <a:ext cx="1189939" cy="19761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71601" y="1415287"/>
            <a:ext cx="4991100" cy="2445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Segoe UI Semibold"/>
                <a:cs typeface="Segoe UI Semibold"/>
              </a:rPr>
              <a:t>1st</a:t>
            </a:r>
            <a:r>
              <a:rPr sz="2800" spc="-85" dirty="0">
                <a:latin typeface="Segoe UI Semibold"/>
                <a:cs typeface="Segoe UI Semibold"/>
              </a:rPr>
              <a:t> </a:t>
            </a:r>
            <a:r>
              <a:rPr sz="2800" spc="-30" dirty="0">
                <a:latin typeface="Segoe UI Semibold"/>
                <a:cs typeface="Segoe UI Semibold"/>
              </a:rPr>
              <a:t>prompt—</a:t>
            </a:r>
            <a:r>
              <a:rPr sz="2800" dirty="0">
                <a:latin typeface="Segoe UI Semibold"/>
                <a:cs typeface="Segoe UI Semibold"/>
              </a:rPr>
              <a:t>Reason</a:t>
            </a:r>
            <a:r>
              <a:rPr sz="2800" spc="-45" dirty="0">
                <a:latin typeface="Segoe UI Semibold"/>
                <a:cs typeface="Segoe UI Semibold"/>
              </a:rPr>
              <a:t> </a:t>
            </a:r>
            <a:r>
              <a:rPr sz="2800" spc="-10" dirty="0">
                <a:latin typeface="Segoe UI Semibold"/>
                <a:cs typeface="Segoe UI Semibold"/>
              </a:rPr>
              <a:t>Extraction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  <a:tabLst>
                <a:tab pos="4058920" algn="l"/>
              </a:tabLst>
            </a:pPr>
            <a:r>
              <a:rPr sz="1600" dirty="0">
                <a:latin typeface="Segoe UI"/>
                <a:cs typeface="Segoe UI"/>
              </a:rPr>
              <a:t>On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average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Joe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throws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25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punches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per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min</a:t>
            </a:r>
            <a:r>
              <a:rPr sz="1600" dirty="0">
                <a:latin typeface="Segoe UI"/>
                <a:cs typeface="Segoe UI"/>
              </a:rPr>
              <a:t>	</a:t>
            </a:r>
            <a:r>
              <a:rPr sz="1600" spc="-25" dirty="0">
                <a:latin typeface="Segoe UI"/>
                <a:cs typeface="Segoe UI"/>
              </a:rPr>
              <a:t>e.</a:t>
            </a:r>
            <a:endParaRPr sz="1600">
              <a:latin typeface="Segoe UI"/>
              <a:cs typeface="Segoe UI"/>
            </a:endParaRPr>
          </a:p>
          <a:p>
            <a:pPr marL="199390">
              <a:lnSpc>
                <a:spcPct val="100000"/>
              </a:lnSpc>
            </a:pPr>
            <a:r>
              <a:rPr sz="1600" dirty="0">
                <a:latin typeface="Segoe UI"/>
                <a:cs typeface="Segoe UI"/>
              </a:rPr>
              <a:t>fight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lasts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5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rounds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3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minutes.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How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20" dirty="0">
                <a:latin typeface="Segoe UI"/>
                <a:cs typeface="Segoe UI"/>
              </a:rPr>
              <a:t>many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tabLst>
                <a:tab pos="1617345" algn="l"/>
              </a:tabLst>
            </a:pPr>
            <a:r>
              <a:rPr sz="1600" dirty="0">
                <a:latin typeface="Segoe UI"/>
                <a:cs typeface="Segoe UI"/>
              </a:rPr>
              <a:t>punches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did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he</a:t>
            </a:r>
            <a:r>
              <a:rPr sz="1600" dirty="0">
                <a:latin typeface="Segoe UI"/>
                <a:cs typeface="Segoe UI"/>
              </a:rPr>
              <a:t>	</a:t>
            </a:r>
            <a:r>
              <a:rPr sz="1600" spc="-20" dirty="0">
                <a:latin typeface="Segoe UI"/>
                <a:cs typeface="Segoe UI"/>
              </a:rPr>
              <a:t>row?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2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600" b="1" spc="-25" dirty="0">
                <a:latin typeface="Segoe UI"/>
                <a:cs typeface="Segoe UI"/>
              </a:rPr>
              <a:t>Let’s</a:t>
            </a:r>
            <a:r>
              <a:rPr sz="1600" b="1" spc="-6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think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step</a:t>
            </a:r>
            <a:r>
              <a:rPr sz="1600" b="1" spc="-5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by</a:t>
            </a:r>
            <a:r>
              <a:rPr sz="1600" b="1" spc="-4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step</a:t>
            </a:r>
            <a:r>
              <a:rPr sz="1600" b="1" spc="-5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and</a:t>
            </a:r>
            <a:r>
              <a:rPr sz="1600" b="1" spc="-5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explain</a:t>
            </a:r>
            <a:r>
              <a:rPr sz="1600" b="1" spc="-5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</a:t>
            </a:r>
            <a:r>
              <a:rPr sz="1600" b="1" spc="-50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calculation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Segoe UI"/>
                <a:cs typeface="Segoe UI"/>
              </a:rPr>
              <a:t>step</a:t>
            </a:r>
            <a:r>
              <a:rPr sz="1600" b="1" spc="-5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by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spc="-20" dirty="0">
                <a:latin typeface="Segoe UI"/>
                <a:cs typeface="Segoe UI"/>
              </a:rPr>
              <a:t>step.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586" y="4353305"/>
            <a:ext cx="5393690" cy="1070486"/>
          </a:xfrm>
          <a:prstGeom prst="rect">
            <a:avLst/>
          </a:prstGeom>
          <a:solidFill>
            <a:srgbClr val="000000"/>
          </a:solidFill>
          <a:ln w="10795">
            <a:solidFill>
              <a:srgbClr val="50E6FF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40"/>
              </a:spcBef>
            </a:pPr>
            <a:r>
              <a:rPr sz="1600" dirty="0">
                <a:latin typeface="Segoe UI"/>
                <a:cs typeface="Segoe UI"/>
              </a:rPr>
              <a:t>In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one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minute,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Joe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throws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25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punches.</a:t>
            </a:r>
            <a:endParaRPr sz="1600">
              <a:latin typeface="Segoe UI"/>
              <a:cs typeface="Segoe UI"/>
            </a:endParaRPr>
          </a:p>
          <a:p>
            <a:pPr marL="86360" marR="892810">
              <a:lnSpc>
                <a:spcPts val="3120"/>
              </a:lnSpc>
              <a:spcBef>
                <a:spcPts val="305"/>
              </a:spcBef>
            </a:pPr>
            <a:r>
              <a:rPr sz="1600" dirty="0">
                <a:latin typeface="Segoe UI"/>
                <a:cs typeface="Segoe UI"/>
              </a:rPr>
              <a:t>In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three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minutes,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Joe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throws</a:t>
            </a:r>
            <a:r>
              <a:rPr sz="1600" spc="-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3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*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25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=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75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punches. </a:t>
            </a:r>
            <a:r>
              <a:rPr sz="1600" dirty="0">
                <a:latin typeface="Segoe UI"/>
                <a:cs typeface="Segoe UI"/>
              </a:rPr>
              <a:t>In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five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rounds,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Joe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throws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5*75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=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375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punches.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99784" y="2132457"/>
            <a:ext cx="4292600" cy="441959"/>
            <a:chOff x="6399784" y="2132457"/>
            <a:chExt cx="4292600" cy="441959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06896" y="2132457"/>
              <a:ext cx="4285107" cy="19773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99784" y="2374138"/>
              <a:ext cx="4112133" cy="199898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14008" y="2620136"/>
            <a:ext cx="2001519" cy="196723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6397625" y="5959919"/>
            <a:ext cx="5123815" cy="757555"/>
            <a:chOff x="6397625" y="5959919"/>
            <a:chExt cx="5123815" cy="757555"/>
          </a:xfrm>
        </p:grpSpPr>
        <p:sp>
          <p:nvSpPr>
            <p:cNvPr id="21" name="object 21"/>
            <p:cNvSpPr/>
            <p:nvPr/>
          </p:nvSpPr>
          <p:spPr>
            <a:xfrm>
              <a:off x="6397625" y="5959919"/>
              <a:ext cx="5123815" cy="757555"/>
            </a:xfrm>
            <a:custGeom>
              <a:avLst/>
              <a:gdLst/>
              <a:ahLst/>
              <a:cxnLst/>
              <a:rect l="l" t="t" r="r" b="b"/>
              <a:pathLst>
                <a:path w="5123815" h="757554">
                  <a:moveTo>
                    <a:pt x="5123675" y="243840"/>
                  </a:moveTo>
                  <a:lnTo>
                    <a:pt x="4919472" y="243840"/>
                  </a:lnTo>
                  <a:lnTo>
                    <a:pt x="4919472" y="0"/>
                  </a:lnTo>
                  <a:lnTo>
                    <a:pt x="0" y="0"/>
                  </a:lnTo>
                  <a:lnTo>
                    <a:pt x="0" y="757428"/>
                  </a:lnTo>
                  <a:lnTo>
                    <a:pt x="5013960" y="757428"/>
                  </a:lnTo>
                  <a:lnTo>
                    <a:pt x="5013960" y="513588"/>
                  </a:lnTo>
                  <a:lnTo>
                    <a:pt x="5123675" y="513588"/>
                  </a:lnTo>
                  <a:lnTo>
                    <a:pt x="5123675" y="24384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00672" y="6031534"/>
              <a:ext cx="4908804" cy="20001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385686" y="1415287"/>
            <a:ext cx="5212080" cy="140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Segoe UI Semibold"/>
                <a:cs typeface="Segoe UI Semibold"/>
              </a:rPr>
              <a:t>2nd</a:t>
            </a:r>
            <a:r>
              <a:rPr sz="2800" spc="-55" dirty="0">
                <a:latin typeface="Segoe UI Semibold"/>
                <a:cs typeface="Segoe UI Semibold"/>
              </a:rPr>
              <a:t> </a:t>
            </a:r>
            <a:r>
              <a:rPr sz="2800" spc="-35" dirty="0">
                <a:latin typeface="Segoe UI Semibold"/>
                <a:cs typeface="Segoe UI Semibold"/>
              </a:rPr>
              <a:t>prompt—</a:t>
            </a:r>
            <a:r>
              <a:rPr sz="2800" dirty="0">
                <a:latin typeface="Segoe UI Semibold"/>
                <a:cs typeface="Segoe UI Semibold"/>
              </a:rPr>
              <a:t>Answer</a:t>
            </a:r>
            <a:r>
              <a:rPr sz="2800" spc="-5" dirty="0">
                <a:latin typeface="Segoe UI Semibold"/>
                <a:cs typeface="Segoe UI Semibold"/>
              </a:rPr>
              <a:t> </a:t>
            </a:r>
            <a:r>
              <a:rPr sz="2800" spc="-10" dirty="0">
                <a:latin typeface="Segoe UI Semibold"/>
                <a:cs typeface="Segoe UI Semibold"/>
              </a:rPr>
              <a:t>Extraction</a:t>
            </a:r>
            <a:endParaRPr sz="2800">
              <a:latin typeface="Segoe UI Semibold"/>
              <a:cs typeface="Segoe UI Semibold"/>
            </a:endParaRPr>
          </a:p>
          <a:p>
            <a:pPr marL="12700" marR="887730">
              <a:lnSpc>
                <a:spcPct val="100000"/>
              </a:lnSpc>
              <a:spcBef>
                <a:spcPts val="1775"/>
              </a:spcBef>
              <a:tabLst>
                <a:tab pos="1617345" algn="l"/>
              </a:tabLst>
            </a:pPr>
            <a:r>
              <a:rPr sz="1600" dirty="0">
                <a:latin typeface="Segoe UI"/>
                <a:cs typeface="Segoe UI"/>
              </a:rPr>
              <a:t>One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average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Joe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throws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25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punches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per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minute. </a:t>
            </a:r>
            <a:r>
              <a:rPr sz="1600" dirty="0">
                <a:latin typeface="Segoe UI"/>
                <a:cs typeface="Segoe UI"/>
              </a:rPr>
              <a:t>A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fight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lasts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5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rounds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of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3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minutes.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How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spc="-20" dirty="0">
                <a:latin typeface="Segoe UI"/>
                <a:cs typeface="Segoe UI"/>
              </a:rPr>
              <a:t>many </a:t>
            </a:r>
            <a:r>
              <a:rPr sz="1600" dirty="0">
                <a:latin typeface="Segoe UI"/>
                <a:cs typeface="Segoe UI"/>
              </a:rPr>
              <a:t>punches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did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he</a:t>
            </a:r>
            <a:r>
              <a:rPr sz="1600" dirty="0">
                <a:latin typeface="Segoe UI"/>
                <a:cs typeface="Segoe UI"/>
              </a:rPr>
              <a:t>	</a:t>
            </a:r>
            <a:r>
              <a:rPr sz="1600" spc="-20" dirty="0">
                <a:latin typeface="Segoe UI"/>
                <a:cs typeface="Segoe UI"/>
              </a:rPr>
              <a:t>row?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4214" y="3307841"/>
            <a:ext cx="5422900" cy="1047658"/>
          </a:xfrm>
          <a:prstGeom prst="rect">
            <a:avLst/>
          </a:prstGeom>
          <a:solidFill>
            <a:srgbClr val="000000"/>
          </a:solidFill>
          <a:ln w="10794">
            <a:solidFill>
              <a:srgbClr val="50E6FF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409"/>
              </a:spcBef>
            </a:pPr>
            <a:r>
              <a:rPr sz="1600" dirty="0">
                <a:latin typeface="Segoe UI"/>
                <a:cs typeface="Segoe UI"/>
              </a:rPr>
              <a:t>In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one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minute,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Joe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throws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25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punches.</a:t>
            </a:r>
            <a:endParaRPr sz="1600">
              <a:latin typeface="Segoe UI"/>
              <a:cs typeface="Segoe UI"/>
            </a:endParaRPr>
          </a:p>
          <a:p>
            <a:pPr marL="113664" marR="894715">
              <a:lnSpc>
                <a:spcPct val="162500"/>
              </a:lnSpc>
              <a:spcBef>
                <a:spcPts val="5"/>
              </a:spcBef>
            </a:pPr>
            <a:r>
              <a:rPr sz="1600" dirty="0">
                <a:latin typeface="Segoe UI"/>
                <a:cs typeface="Segoe UI"/>
              </a:rPr>
              <a:t>In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three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minutes,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Joe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throws</a:t>
            </a:r>
            <a:r>
              <a:rPr sz="1600" spc="-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3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*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25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=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75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punches. </a:t>
            </a:r>
            <a:r>
              <a:rPr sz="1600" dirty="0">
                <a:latin typeface="Segoe UI"/>
                <a:cs typeface="Segoe UI"/>
              </a:rPr>
              <a:t>In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five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rounds,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Joe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throws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5*75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=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375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punches.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401689" y="4995417"/>
            <a:ext cx="5134864" cy="19989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406515" y="5241416"/>
            <a:ext cx="4048125" cy="19773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401689" y="5635485"/>
            <a:ext cx="3732530" cy="18448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385686" y="4933010"/>
            <a:ext cx="5177155" cy="90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cafeteria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has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23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apples.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If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they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used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20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to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make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lunch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66795" algn="l"/>
              </a:tabLst>
            </a:pPr>
            <a:r>
              <a:rPr sz="1600" dirty="0">
                <a:latin typeface="Segoe UI"/>
                <a:cs typeface="Segoe UI"/>
              </a:rPr>
              <a:t>and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bought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6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more</a:t>
            </a:r>
            <a:r>
              <a:rPr sz="1600" spc="29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how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many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do</a:t>
            </a:r>
            <a:r>
              <a:rPr sz="1600" dirty="0">
                <a:latin typeface="Segoe UI"/>
                <a:cs typeface="Segoe UI"/>
              </a:rPr>
              <a:t>	</a:t>
            </a:r>
            <a:r>
              <a:rPr sz="1600" spc="-10" dirty="0">
                <a:latin typeface="Segoe UI"/>
                <a:cs typeface="Segoe UI"/>
              </a:rPr>
              <a:t>have?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2684145" algn="l"/>
              </a:tabLst>
            </a:pPr>
            <a:r>
              <a:rPr sz="1600" dirty="0">
                <a:latin typeface="Segoe UI"/>
                <a:cs typeface="Segoe UI"/>
              </a:rPr>
              <a:t>Therefore</a:t>
            </a:r>
            <a:r>
              <a:rPr sz="1600" spc="2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the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answer</a:t>
            </a:r>
            <a:r>
              <a:rPr sz="1600" dirty="0">
                <a:latin typeface="Segoe UI"/>
                <a:cs typeface="Segoe UI"/>
              </a:rPr>
              <a:t>	numerals)</a:t>
            </a:r>
            <a:r>
              <a:rPr sz="1600" spc="-8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is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97625" y="5959919"/>
            <a:ext cx="4919980" cy="26352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635">
              <a:lnSpc>
                <a:spcPts val="1900"/>
              </a:lnSpc>
              <a:spcBef>
                <a:spcPts val="175"/>
              </a:spcBef>
            </a:pPr>
            <a:r>
              <a:rPr sz="1600" b="1" dirty="0">
                <a:latin typeface="Segoe UI"/>
                <a:cs typeface="Segoe UI"/>
              </a:rPr>
              <a:t>The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cafeteria</a:t>
            </a:r>
            <a:r>
              <a:rPr sz="1600" b="1" spc="-5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had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23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apples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spc="-20" dirty="0">
                <a:latin typeface="Segoe UI"/>
                <a:cs typeface="Segoe UI"/>
              </a:rPr>
              <a:t>originally.</a:t>
            </a:r>
            <a:r>
              <a:rPr sz="1600" b="1" spc="-6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They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used</a:t>
            </a:r>
            <a:r>
              <a:rPr sz="1600" b="1" spc="-50" dirty="0">
                <a:latin typeface="Segoe UI"/>
                <a:cs typeface="Segoe UI"/>
              </a:rPr>
              <a:t> </a:t>
            </a:r>
            <a:r>
              <a:rPr sz="1600" b="1" spc="-25" dirty="0">
                <a:latin typeface="Segoe UI"/>
                <a:cs typeface="Segoe UI"/>
              </a:rPr>
              <a:t>20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401689" y="6277749"/>
            <a:ext cx="5057775" cy="198120"/>
            <a:chOff x="6401689" y="6277749"/>
            <a:chExt cx="5057775" cy="198120"/>
          </a:xfrm>
        </p:grpSpPr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01689" y="6277749"/>
              <a:ext cx="1392046" cy="15251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68285" y="6283490"/>
              <a:ext cx="221996" cy="14677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57337" y="6277749"/>
              <a:ext cx="1103757" cy="19763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367012" y="6277749"/>
              <a:ext cx="2091944" cy="19763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290558" y="6362759"/>
              <a:ext cx="54137" cy="21873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397625" y="6223299"/>
            <a:ext cx="5123815" cy="2444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">
              <a:lnSpc>
                <a:spcPts val="1900"/>
              </a:lnSpc>
              <a:spcBef>
                <a:spcPts val="20"/>
              </a:spcBef>
            </a:pPr>
            <a:r>
              <a:rPr sz="1600" b="1" dirty="0">
                <a:latin typeface="Segoe UI"/>
                <a:cs typeface="Segoe UI"/>
              </a:rPr>
              <a:t>to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make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lunch</a:t>
            </a:r>
            <a:r>
              <a:rPr sz="1600" b="1" spc="37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So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they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had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23</a:t>
            </a:r>
            <a:r>
              <a:rPr sz="1600" b="1" spc="16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20</a:t>
            </a:r>
            <a:r>
              <a:rPr sz="1600" b="1" spc="-3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=</a:t>
            </a:r>
            <a:r>
              <a:rPr sz="1600" b="1" spc="-3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3.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They</a:t>
            </a:r>
            <a:r>
              <a:rPr sz="1600" b="1" spc="-2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bought</a:t>
            </a:r>
            <a:r>
              <a:rPr sz="1600" b="1" spc="-25" dirty="0">
                <a:latin typeface="Segoe UI"/>
                <a:cs typeface="Segoe UI"/>
              </a:rPr>
              <a:t> </a:t>
            </a:r>
            <a:r>
              <a:rPr sz="1600" b="1" spc="-50" dirty="0">
                <a:latin typeface="Segoe UI"/>
                <a:cs typeface="Segoe UI"/>
              </a:rPr>
              <a:t>6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410833" y="6521589"/>
            <a:ext cx="4991735" cy="197637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6397625" y="6467291"/>
            <a:ext cx="5013960" cy="25019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20"/>
              </a:spcBef>
            </a:pPr>
            <a:r>
              <a:rPr sz="1600" b="1" dirty="0">
                <a:latin typeface="Segoe UI"/>
                <a:cs typeface="Segoe UI"/>
              </a:rPr>
              <a:t>more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apples,</a:t>
            </a:r>
            <a:r>
              <a:rPr sz="1600" b="1" spc="-4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so</a:t>
            </a:r>
            <a:r>
              <a:rPr sz="1600" b="1" spc="-4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they</a:t>
            </a:r>
            <a:r>
              <a:rPr sz="1600" b="1" spc="-2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have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3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+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6</a:t>
            </a:r>
            <a:r>
              <a:rPr sz="1600" b="1" spc="-2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=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9.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The</a:t>
            </a:r>
            <a:r>
              <a:rPr sz="1600" b="1" spc="-3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answer</a:t>
            </a:r>
            <a:r>
              <a:rPr sz="1600" b="1" spc="-40" dirty="0">
                <a:latin typeface="Segoe UI"/>
                <a:cs typeface="Segoe UI"/>
              </a:rPr>
              <a:t> </a:t>
            </a:r>
            <a:r>
              <a:rPr sz="1600" b="1" dirty="0">
                <a:latin typeface="Segoe UI"/>
                <a:cs typeface="Segoe UI"/>
              </a:rPr>
              <a:t>is</a:t>
            </a:r>
            <a:r>
              <a:rPr sz="1600" b="1" spc="-35" dirty="0">
                <a:latin typeface="Segoe UI"/>
                <a:cs typeface="Segoe UI"/>
              </a:rPr>
              <a:t> </a:t>
            </a:r>
            <a:r>
              <a:rPr sz="1600" b="1" spc="-25" dirty="0">
                <a:latin typeface="Segoe UI"/>
                <a:cs typeface="Segoe UI"/>
              </a:rPr>
              <a:t>9.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6692" y="2565019"/>
            <a:ext cx="5301615" cy="76200"/>
          </a:xfrm>
          <a:custGeom>
            <a:avLst/>
            <a:gdLst/>
            <a:ahLst/>
            <a:cxnLst/>
            <a:rect l="l" t="t" r="r" b="b"/>
            <a:pathLst>
              <a:path w="5301615" h="76200">
                <a:moveTo>
                  <a:pt x="5225287" y="44445"/>
                </a:moveTo>
                <a:lnTo>
                  <a:pt x="5225287" y="76200"/>
                </a:lnTo>
                <a:lnTo>
                  <a:pt x="5288787" y="44450"/>
                </a:lnTo>
                <a:lnTo>
                  <a:pt x="5225287" y="44445"/>
                </a:lnTo>
                <a:close/>
              </a:path>
              <a:path w="5301615" h="76200">
                <a:moveTo>
                  <a:pt x="5225287" y="31745"/>
                </a:moveTo>
                <a:lnTo>
                  <a:pt x="5225287" y="44445"/>
                </a:lnTo>
                <a:lnTo>
                  <a:pt x="5237987" y="44450"/>
                </a:lnTo>
                <a:lnTo>
                  <a:pt x="5237987" y="31750"/>
                </a:lnTo>
                <a:lnTo>
                  <a:pt x="5225287" y="31745"/>
                </a:lnTo>
                <a:close/>
              </a:path>
              <a:path w="5301615" h="76200">
                <a:moveTo>
                  <a:pt x="5225287" y="0"/>
                </a:moveTo>
                <a:lnTo>
                  <a:pt x="5225287" y="31745"/>
                </a:lnTo>
                <a:lnTo>
                  <a:pt x="5237987" y="31750"/>
                </a:lnTo>
                <a:lnTo>
                  <a:pt x="5237987" y="44450"/>
                </a:lnTo>
                <a:lnTo>
                  <a:pt x="5288796" y="44445"/>
                </a:lnTo>
                <a:lnTo>
                  <a:pt x="5301487" y="38100"/>
                </a:lnTo>
                <a:lnTo>
                  <a:pt x="5225287" y="0"/>
                </a:lnTo>
                <a:close/>
              </a:path>
              <a:path w="5301615" h="76200">
                <a:moveTo>
                  <a:pt x="0" y="30098"/>
                </a:moveTo>
                <a:lnTo>
                  <a:pt x="0" y="42798"/>
                </a:lnTo>
                <a:lnTo>
                  <a:pt x="5225287" y="44445"/>
                </a:lnTo>
                <a:lnTo>
                  <a:pt x="5225287" y="31745"/>
                </a:lnTo>
                <a:lnTo>
                  <a:pt x="0" y="30098"/>
                </a:lnTo>
                <a:close/>
              </a:path>
            </a:pathLst>
          </a:custGeom>
          <a:solidFill>
            <a:srgbClr val="2FE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505" y="311784"/>
            <a:ext cx="2818904" cy="3462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0420" y="207010"/>
            <a:ext cx="50742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60" dirty="0">
                <a:latin typeface="Segoe UI"/>
                <a:cs typeface="Segoe UI"/>
              </a:rPr>
              <a:t>Prompt</a:t>
            </a:r>
            <a:r>
              <a:rPr sz="2800" b="1" spc="-135" dirty="0">
                <a:latin typeface="Segoe UI"/>
                <a:cs typeface="Segoe UI"/>
              </a:rPr>
              <a:t> </a:t>
            </a:r>
            <a:r>
              <a:rPr sz="2800" b="1" spc="-45" dirty="0">
                <a:latin typeface="Segoe UI"/>
                <a:cs typeface="Segoe UI"/>
              </a:rPr>
              <a:t>Chunking</a:t>
            </a:r>
            <a:r>
              <a:rPr sz="2800" b="1" spc="-150" dirty="0">
                <a:latin typeface="Segoe UI"/>
                <a:cs typeface="Segoe UI"/>
              </a:rPr>
              <a:t> </a:t>
            </a:r>
            <a:r>
              <a:rPr sz="2800" b="1" dirty="0">
                <a:latin typeface="Segoe UI"/>
                <a:cs typeface="Segoe UI"/>
              </a:rPr>
              <a:t>(token</a:t>
            </a:r>
            <a:r>
              <a:rPr sz="2800" b="1" spc="-95" dirty="0">
                <a:latin typeface="Segoe UI"/>
                <a:cs typeface="Segoe UI"/>
              </a:rPr>
              <a:t> </a:t>
            </a:r>
            <a:r>
              <a:rPr sz="2800" b="1" spc="-10" dirty="0">
                <a:latin typeface="Segoe UI"/>
                <a:cs typeface="Segoe UI"/>
              </a:rPr>
              <a:t>limit)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447" y="2253995"/>
            <a:ext cx="601980" cy="60350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218819" y="1739963"/>
            <a:ext cx="363855" cy="363855"/>
            <a:chOff x="1218819" y="1739963"/>
            <a:chExt cx="363855" cy="36385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8344" y="1749552"/>
              <a:ext cx="344424" cy="3444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23581" y="1744726"/>
              <a:ext cx="354330" cy="354330"/>
            </a:xfrm>
            <a:custGeom>
              <a:avLst/>
              <a:gdLst/>
              <a:ahLst/>
              <a:cxnLst/>
              <a:rect l="l" t="t" r="r" b="b"/>
              <a:pathLst>
                <a:path w="354330" h="354330">
                  <a:moveTo>
                    <a:pt x="0" y="353949"/>
                  </a:moveTo>
                  <a:lnTo>
                    <a:pt x="353949" y="353949"/>
                  </a:lnTo>
                  <a:lnTo>
                    <a:pt x="353949" y="0"/>
                  </a:lnTo>
                  <a:lnTo>
                    <a:pt x="0" y="0"/>
                  </a:lnTo>
                  <a:lnTo>
                    <a:pt x="0" y="3539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06195" y="1988629"/>
            <a:ext cx="765810" cy="1431925"/>
            <a:chOff x="806195" y="1988629"/>
            <a:chExt cx="765810" cy="14319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7676" y="2415540"/>
              <a:ext cx="344424" cy="3444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12913" y="2410714"/>
              <a:ext cx="354330" cy="354330"/>
            </a:xfrm>
            <a:custGeom>
              <a:avLst/>
              <a:gdLst/>
              <a:ahLst/>
              <a:cxnLst/>
              <a:rect l="l" t="t" r="r" b="b"/>
              <a:pathLst>
                <a:path w="354330" h="354330">
                  <a:moveTo>
                    <a:pt x="0" y="353949"/>
                  </a:moveTo>
                  <a:lnTo>
                    <a:pt x="353949" y="353949"/>
                  </a:lnTo>
                  <a:lnTo>
                    <a:pt x="353949" y="0"/>
                  </a:lnTo>
                  <a:lnTo>
                    <a:pt x="0" y="0"/>
                  </a:lnTo>
                  <a:lnTo>
                    <a:pt x="0" y="3539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7676" y="3066288"/>
              <a:ext cx="344424" cy="3444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12913" y="3061462"/>
              <a:ext cx="354330" cy="354330"/>
            </a:xfrm>
            <a:custGeom>
              <a:avLst/>
              <a:gdLst/>
              <a:ahLst/>
              <a:cxnLst/>
              <a:rect l="l" t="t" r="r" b="b"/>
              <a:pathLst>
                <a:path w="354330" h="354329">
                  <a:moveTo>
                    <a:pt x="0" y="353949"/>
                  </a:moveTo>
                  <a:lnTo>
                    <a:pt x="353949" y="353949"/>
                  </a:lnTo>
                  <a:lnTo>
                    <a:pt x="353949" y="0"/>
                  </a:lnTo>
                  <a:lnTo>
                    <a:pt x="0" y="0"/>
                  </a:lnTo>
                  <a:lnTo>
                    <a:pt x="0" y="3539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6195" y="1993392"/>
              <a:ext cx="353695" cy="1213485"/>
            </a:xfrm>
            <a:custGeom>
              <a:avLst/>
              <a:gdLst/>
              <a:ahLst/>
              <a:cxnLst/>
              <a:rect l="l" t="t" r="r" b="b"/>
              <a:pathLst>
                <a:path w="353694" h="1213485">
                  <a:moveTo>
                    <a:pt x="353567" y="1213104"/>
                  </a:moveTo>
                  <a:lnTo>
                    <a:pt x="279386" y="1212106"/>
                  </a:lnTo>
                  <a:lnTo>
                    <a:pt x="214960" y="1209328"/>
                  </a:lnTo>
                  <a:lnTo>
                    <a:pt x="164155" y="1205093"/>
                  </a:lnTo>
                  <a:lnTo>
                    <a:pt x="118872" y="1193546"/>
                  </a:lnTo>
                  <a:lnTo>
                    <a:pt x="118872" y="19558"/>
                  </a:lnTo>
                  <a:lnTo>
                    <a:pt x="130837" y="13378"/>
                  </a:lnTo>
                  <a:lnTo>
                    <a:pt x="164155" y="8010"/>
                  </a:lnTo>
                  <a:lnTo>
                    <a:pt x="214960" y="3775"/>
                  </a:lnTo>
                  <a:lnTo>
                    <a:pt x="279386" y="997"/>
                  </a:lnTo>
                  <a:lnTo>
                    <a:pt x="353567" y="0"/>
                  </a:lnTo>
                </a:path>
                <a:path w="353694" h="1213485">
                  <a:moveTo>
                    <a:pt x="0" y="609600"/>
                  </a:moveTo>
                  <a:lnTo>
                    <a:pt x="313296" y="609600"/>
                  </a:lnTo>
                </a:path>
              </a:pathLst>
            </a:custGeom>
            <a:ln w="9525">
              <a:solidFill>
                <a:srgbClr val="2FE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2631" y="2933446"/>
            <a:ext cx="661035" cy="663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ctr">
              <a:lnSpc>
                <a:spcPct val="99400"/>
              </a:lnSpc>
              <a:spcBef>
                <a:spcPts val="110"/>
              </a:spcBef>
            </a:pPr>
            <a:r>
              <a:rPr sz="1050" dirty="0">
                <a:latin typeface="Segoe UI Semibold"/>
                <a:cs typeface="Segoe UI Semibold"/>
              </a:rPr>
              <a:t>Large</a:t>
            </a:r>
            <a:r>
              <a:rPr sz="1050" spc="-10" dirty="0">
                <a:latin typeface="Segoe UI Semibold"/>
                <a:cs typeface="Segoe UI Semibold"/>
              </a:rPr>
              <a:t> </a:t>
            </a:r>
            <a:r>
              <a:rPr sz="1050" spc="-20" dirty="0">
                <a:latin typeface="Segoe UI Semibold"/>
                <a:cs typeface="Segoe UI Semibold"/>
              </a:rPr>
              <a:t>Text </a:t>
            </a:r>
            <a:r>
              <a:rPr sz="1050" spc="-10" dirty="0">
                <a:latin typeface="Segoe UI Semibold"/>
                <a:cs typeface="Segoe UI Semibold"/>
              </a:rPr>
              <a:t>Beyond Token Limit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3957" y="3538220"/>
            <a:ext cx="47117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Segoe UI Semibold"/>
                <a:cs typeface="Segoe UI Semibold"/>
              </a:rPr>
              <a:t>Chunks</a:t>
            </a:r>
            <a:endParaRPr sz="1050">
              <a:latin typeface="Segoe UI Semibold"/>
              <a:cs typeface="Segoe UI Semibold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726692" y="998219"/>
            <a:ext cx="10091420" cy="5668010"/>
            <a:chOff x="1726692" y="998219"/>
            <a:chExt cx="10091420" cy="5668010"/>
          </a:xfrm>
        </p:grpSpPr>
        <p:sp>
          <p:nvSpPr>
            <p:cNvPr id="18" name="object 18"/>
            <p:cNvSpPr/>
            <p:nvPr/>
          </p:nvSpPr>
          <p:spPr>
            <a:xfrm>
              <a:off x="1726692" y="1882139"/>
              <a:ext cx="510540" cy="76200"/>
            </a:xfrm>
            <a:custGeom>
              <a:avLst/>
              <a:gdLst/>
              <a:ahLst/>
              <a:cxnLst/>
              <a:rect l="l" t="t" r="r" b="b"/>
              <a:pathLst>
                <a:path w="510539" h="76200">
                  <a:moveTo>
                    <a:pt x="433958" y="0"/>
                  </a:moveTo>
                  <a:lnTo>
                    <a:pt x="433958" y="76200"/>
                  </a:lnTo>
                  <a:lnTo>
                    <a:pt x="497458" y="44450"/>
                  </a:lnTo>
                  <a:lnTo>
                    <a:pt x="446658" y="44450"/>
                  </a:lnTo>
                  <a:lnTo>
                    <a:pt x="446658" y="31750"/>
                  </a:lnTo>
                  <a:lnTo>
                    <a:pt x="497458" y="31750"/>
                  </a:lnTo>
                  <a:lnTo>
                    <a:pt x="433958" y="0"/>
                  </a:lnTo>
                  <a:close/>
                </a:path>
                <a:path w="510539" h="76200">
                  <a:moveTo>
                    <a:pt x="433958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33958" y="44450"/>
                  </a:lnTo>
                  <a:lnTo>
                    <a:pt x="433958" y="31750"/>
                  </a:lnTo>
                  <a:close/>
                </a:path>
                <a:path w="510539" h="76200">
                  <a:moveTo>
                    <a:pt x="497458" y="31750"/>
                  </a:moveTo>
                  <a:lnTo>
                    <a:pt x="446658" y="31750"/>
                  </a:lnTo>
                  <a:lnTo>
                    <a:pt x="446658" y="44450"/>
                  </a:lnTo>
                  <a:lnTo>
                    <a:pt x="497458" y="44450"/>
                  </a:lnTo>
                  <a:lnTo>
                    <a:pt x="510158" y="38100"/>
                  </a:lnTo>
                  <a:lnTo>
                    <a:pt x="497458" y="31750"/>
                  </a:lnTo>
                  <a:close/>
                </a:path>
              </a:pathLst>
            </a:custGeom>
            <a:solidFill>
              <a:srgbClr val="2FE4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23888" y="1016507"/>
              <a:ext cx="5087620" cy="5649595"/>
            </a:xfrm>
            <a:custGeom>
              <a:avLst/>
              <a:gdLst/>
              <a:ahLst/>
              <a:cxnLst/>
              <a:rect l="l" t="t" r="r" b="b"/>
              <a:pathLst>
                <a:path w="5087620" h="5649595">
                  <a:moveTo>
                    <a:pt x="5087111" y="0"/>
                  </a:moveTo>
                  <a:lnTo>
                    <a:pt x="0" y="0"/>
                  </a:lnTo>
                  <a:lnTo>
                    <a:pt x="0" y="5649468"/>
                  </a:lnTo>
                  <a:lnTo>
                    <a:pt x="5087111" y="5649468"/>
                  </a:lnTo>
                  <a:lnTo>
                    <a:pt x="508711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23888" y="1016507"/>
              <a:ext cx="4281805" cy="0"/>
            </a:xfrm>
            <a:custGeom>
              <a:avLst/>
              <a:gdLst/>
              <a:ahLst/>
              <a:cxnLst/>
              <a:rect l="l" t="t" r="r" b="b"/>
              <a:pathLst>
                <a:path w="4281805">
                  <a:moveTo>
                    <a:pt x="0" y="0"/>
                  </a:moveTo>
                  <a:lnTo>
                    <a:pt x="4281678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32854" y="1017269"/>
              <a:ext cx="268605" cy="0"/>
            </a:xfrm>
            <a:custGeom>
              <a:avLst/>
              <a:gdLst/>
              <a:ahLst/>
              <a:cxnLst/>
              <a:rect l="l" t="t" r="r" b="b"/>
              <a:pathLst>
                <a:path w="268604">
                  <a:moveTo>
                    <a:pt x="0" y="0"/>
                  </a:moveTo>
                  <a:lnTo>
                    <a:pt x="268604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471404" y="1018031"/>
              <a:ext cx="1340485" cy="0"/>
            </a:xfrm>
            <a:custGeom>
              <a:avLst/>
              <a:gdLst/>
              <a:ahLst/>
              <a:cxnLst/>
              <a:rect l="l" t="t" r="r" b="b"/>
              <a:pathLst>
                <a:path w="1340484">
                  <a:moveTo>
                    <a:pt x="0" y="0"/>
                  </a:moveTo>
                  <a:lnTo>
                    <a:pt x="1340103" y="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108063" y="1258062"/>
            <a:ext cx="4547870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Please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summarize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extract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topic: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Global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warming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refers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to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gradual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increase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overall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temperature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Earth's atmosphere,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primarily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caused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by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burning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fossil</a:t>
            </a:r>
            <a:r>
              <a:rPr sz="1400" b="1" spc="-10" dirty="0">
                <a:latin typeface="Calibri"/>
                <a:cs typeface="Calibri"/>
              </a:rPr>
              <a:t> fuels </a:t>
            </a:r>
            <a:r>
              <a:rPr sz="1400" b="1" dirty="0">
                <a:latin typeface="Calibri"/>
                <a:cs typeface="Calibri"/>
              </a:rPr>
              <a:t>such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coal,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oil,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natural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gas.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This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burning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releases</a:t>
            </a:r>
            <a:r>
              <a:rPr sz="1400" b="1" spc="50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carbon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dioxide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other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greenhouse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gases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into</a:t>
            </a:r>
            <a:r>
              <a:rPr sz="1400" b="1" spc="-25" dirty="0">
                <a:latin typeface="Calibri"/>
                <a:cs typeface="Calibri"/>
              </a:rPr>
              <a:t> the </a:t>
            </a:r>
            <a:r>
              <a:rPr sz="1400" b="1" spc="-10" dirty="0">
                <a:latin typeface="Calibri"/>
                <a:cs typeface="Calibri"/>
              </a:rPr>
              <a:t>atmosphere,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which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trap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heat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cause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Earth's temperature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rise.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99909" y="2914650"/>
            <a:ext cx="4859020" cy="1141338"/>
          </a:xfrm>
          <a:prstGeom prst="rect">
            <a:avLst/>
          </a:prstGeom>
          <a:solidFill>
            <a:srgbClr val="000000">
              <a:alpha val="7843"/>
            </a:srgbClr>
          </a:solidFill>
          <a:ln w="10794">
            <a:solidFill>
              <a:srgbClr val="FFB8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220345" marR="118110">
              <a:lnSpc>
                <a:spcPct val="100000"/>
              </a:lnSpc>
              <a:spcBef>
                <a:spcPts val="500"/>
              </a:spcBef>
            </a:pPr>
            <a:r>
              <a:rPr sz="1400" b="1" dirty="0">
                <a:latin typeface="Calibri"/>
                <a:cs typeface="Calibri"/>
              </a:rPr>
              <a:t>Climate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change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is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pressing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issue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that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needs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addressed immediately.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Governments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around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world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need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take </a:t>
            </a:r>
            <a:r>
              <a:rPr sz="1400" b="1" dirty="0">
                <a:latin typeface="Calibri"/>
                <a:cs typeface="Calibri"/>
              </a:rPr>
              <a:t>immediate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action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reduce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carbon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emissions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invest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in </a:t>
            </a:r>
            <a:r>
              <a:rPr sz="1400" b="1" spc="-10" dirty="0">
                <a:latin typeface="Calibri"/>
                <a:cs typeface="Calibri"/>
              </a:rPr>
              <a:t>renewable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energy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sources.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Failure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do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will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have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dire </a:t>
            </a:r>
            <a:r>
              <a:rPr sz="1400" b="1" spc="-10" dirty="0">
                <a:latin typeface="Calibri"/>
                <a:cs typeface="Calibri"/>
              </a:rPr>
              <a:t>consequences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 future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generations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30288" y="4377308"/>
            <a:ext cx="4496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text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discussing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global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warming, which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is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gradual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increase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in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overall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temperature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Earth's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atmosphere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caused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by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the </a:t>
            </a:r>
            <a:r>
              <a:rPr sz="1200" b="1" dirty="0">
                <a:latin typeface="Calibri"/>
                <a:cs typeface="Calibri"/>
              </a:rPr>
              <a:t>burning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fossil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fuels.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This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burning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releases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greenhouse gases,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such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as </a:t>
            </a:r>
            <a:r>
              <a:rPr sz="1200" b="1" dirty="0">
                <a:latin typeface="Calibri"/>
                <a:cs typeface="Calibri"/>
              </a:rPr>
              <a:t>carbon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dioxide,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into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atmosphere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which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trap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heat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cause</a:t>
            </a:r>
            <a:r>
              <a:rPr sz="1200" b="1" spc="-25" dirty="0">
                <a:latin typeface="Calibri"/>
                <a:cs typeface="Calibri"/>
              </a:rPr>
              <a:t> the </a:t>
            </a:r>
            <a:r>
              <a:rPr sz="1200" b="1" spc="-10" dirty="0">
                <a:latin typeface="Calibri"/>
                <a:cs typeface="Calibri"/>
              </a:rPr>
              <a:t>temperature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rise.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text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also highlights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urgency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issue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of </a:t>
            </a:r>
            <a:r>
              <a:rPr sz="1200" b="1" dirty="0">
                <a:latin typeface="Calibri"/>
                <a:cs typeface="Calibri"/>
              </a:rPr>
              <a:t>climate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change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need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for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governments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take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action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reduce </a:t>
            </a:r>
            <a:r>
              <a:rPr sz="1200" b="1" dirty="0">
                <a:latin typeface="Calibri"/>
                <a:cs typeface="Calibri"/>
              </a:rPr>
              <a:t>carbon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emissions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invest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renewable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energy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sources.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Failure</a:t>
            </a:r>
            <a:r>
              <a:rPr sz="1200" b="1" spc="-25" dirty="0">
                <a:latin typeface="Calibri"/>
                <a:cs typeface="Calibri"/>
              </a:rPr>
              <a:t> to </a:t>
            </a:r>
            <a:r>
              <a:rPr sz="1200" b="1" dirty="0">
                <a:latin typeface="Calibri"/>
                <a:cs typeface="Calibri"/>
              </a:rPr>
              <a:t>address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this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issue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will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have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negative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consequences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for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future generations.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50785" y="6197346"/>
            <a:ext cx="2931160" cy="206467"/>
          </a:xfrm>
          <a:prstGeom prst="rect">
            <a:avLst/>
          </a:prstGeom>
          <a:solidFill>
            <a:srgbClr val="000000">
              <a:alpha val="7843"/>
            </a:srgbClr>
          </a:solidFill>
          <a:ln w="10794">
            <a:solidFill>
              <a:srgbClr val="FFB8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70"/>
              </a:spcBef>
            </a:pPr>
            <a:r>
              <a:rPr sz="1200" b="1" spc="-10" dirty="0">
                <a:latin typeface="Calibri"/>
                <a:cs typeface="Calibri"/>
              </a:rPr>
              <a:t>Topic: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Climate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change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Global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warming.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102858" y="3228085"/>
            <a:ext cx="5982970" cy="3145790"/>
          </a:xfrm>
          <a:custGeom>
            <a:avLst/>
            <a:gdLst/>
            <a:ahLst/>
            <a:cxnLst/>
            <a:rect l="l" t="t" r="r" b="b"/>
            <a:pathLst>
              <a:path w="5982970" h="3145790">
                <a:moveTo>
                  <a:pt x="736092" y="50927"/>
                </a:moveTo>
                <a:lnTo>
                  <a:pt x="729449" y="45974"/>
                </a:lnTo>
                <a:lnTo>
                  <a:pt x="667893" y="0"/>
                </a:lnTo>
                <a:lnTo>
                  <a:pt x="662076" y="32016"/>
                </a:lnTo>
                <a:lnTo>
                  <a:pt x="638429" y="29337"/>
                </a:lnTo>
                <a:lnTo>
                  <a:pt x="626237" y="29337"/>
                </a:lnTo>
                <a:lnTo>
                  <a:pt x="578104" y="36322"/>
                </a:lnTo>
                <a:lnTo>
                  <a:pt x="532638" y="58674"/>
                </a:lnTo>
                <a:lnTo>
                  <a:pt x="501015" y="88011"/>
                </a:lnTo>
                <a:lnTo>
                  <a:pt x="471932" y="130048"/>
                </a:lnTo>
                <a:lnTo>
                  <a:pt x="454266" y="165989"/>
                </a:lnTo>
                <a:lnTo>
                  <a:pt x="437896" y="208915"/>
                </a:lnTo>
                <a:lnTo>
                  <a:pt x="422910" y="259461"/>
                </a:lnTo>
                <a:lnTo>
                  <a:pt x="409448" y="317881"/>
                </a:lnTo>
                <a:lnTo>
                  <a:pt x="397764" y="386588"/>
                </a:lnTo>
                <a:lnTo>
                  <a:pt x="392938" y="427101"/>
                </a:lnTo>
                <a:lnTo>
                  <a:pt x="389001" y="471805"/>
                </a:lnTo>
                <a:lnTo>
                  <a:pt x="385533" y="520827"/>
                </a:lnTo>
                <a:lnTo>
                  <a:pt x="382879" y="572643"/>
                </a:lnTo>
                <a:lnTo>
                  <a:pt x="380733" y="627761"/>
                </a:lnTo>
                <a:lnTo>
                  <a:pt x="379082" y="685927"/>
                </a:lnTo>
                <a:lnTo>
                  <a:pt x="377812" y="746633"/>
                </a:lnTo>
                <a:lnTo>
                  <a:pt x="377050" y="809625"/>
                </a:lnTo>
                <a:lnTo>
                  <a:pt x="376682" y="874649"/>
                </a:lnTo>
                <a:lnTo>
                  <a:pt x="376682" y="1009777"/>
                </a:lnTo>
                <a:lnTo>
                  <a:pt x="377444" y="1149096"/>
                </a:lnTo>
                <a:lnTo>
                  <a:pt x="378714" y="1290447"/>
                </a:lnTo>
                <a:lnTo>
                  <a:pt x="379857" y="1431163"/>
                </a:lnTo>
                <a:lnTo>
                  <a:pt x="380479" y="1568831"/>
                </a:lnTo>
                <a:lnTo>
                  <a:pt x="380492" y="1635887"/>
                </a:lnTo>
                <a:lnTo>
                  <a:pt x="380225" y="1701292"/>
                </a:lnTo>
                <a:lnTo>
                  <a:pt x="379717" y="1764665"/>
                </a:lnTo>
                <a:lnTo>
                  <a:pt x="378701" y="1825625"/>
                </a:lnTo>
                <a:lnTo>
                  <a:pt x="377291" y="1884172"/>
                </a:lnTo>
                <a:lnTo>
                  <a:pt x="375386" y="1939671"/>
                </a:lnTo>
                <a:lnTo>
                  <a:pt x="372948" y="1992122"/>
                </a:lnTo>
                <a:lnTo>
                  <a:pt x="369951" y="2040001"/>
                </a:lnTo>
                <a:lnTo>
                  <a:pt x="366268" y="2084832"/>
                </a:lnTo>
                <a:lnTo>
                  <a:pt x="362077" y="2125345"/>
                </a:lnTo>
                <a:lnTo>
                  <a:pt x="351028" y="2192655"/>
                </a:lnTo>
                <a:lnTo>
                  <a:pt x="341122" y="2233041"/>
                </a:lnTo>
                <a:lnTo>
                  <a:pt x="326644" y="2277872"/>
                </a:lnTo>
                <a:lnTo>
                  <a:pt x="306705" y="2320163"/>
                </a:lnTo>
                <a:lnTo>
                  <a:pt x="280416" y="2352929"/>
                </a:lnTo>
                <a:lnTo>
                  <a:pt x="241998" y="2371077"/>
                </a:lnTo>
                <a:lnTo>
                  <a:pt x="232410" y="2371610"/>
                </a:lnTo>
                <a:lnTo>
                  <a:pt x="221869" y="2370963"/>
                </a:lnTo>
                <a:lnTo>
                  <a:pt x="176530" y="2354961"/>
                </a:lnTo>
                <a:lnTo>
                  <a:pt x="139827" y="2331085"/>
                </a:lnTo>
                <a:lnTo>
                  <a:pt x="101727" y="2299716"/>
                </a:lnTo>
                <a:lnTo>
                  <a:pt x="62357" y="2262886"/>
                </a:lnTo>
                <a:lnTo>
                  <a:pt x="9144" y="2209292"/>
                </a:lnTo>
                <a:lnTo>
                  <a:pt x="0" y="2218182"/>
                </a:lnTo>
                <a:lnTo>
                  <a:pt x="26797" y="2245360"/>
                </a:lnTo>
                <a:lnTo>
                  <a:pt x="79883" y="2297049"/>
                </a:lnTo>
                <a:lnTo>
                  <a:pt x="119253" y="2331212"/>
                </a:lnTo>
                <a:lnTo>
                  <a:pt x="157607" y="2358644"/>
                </a:lnTo>
                <a:lnTo>
                  <a:pt x="195072" y="2377160"/>
                </a:lnTo>
                <a:lnTo>
                  <a:pt x="231521" y="2384285"/>
                </a:lnTo>
                <a:lnTo>
                  <a:pt x="243586" y="2383701"/>
                </a:lnTo>
                <a:lnTo>
                  <a:pt x="244221" y="2383586"/>
                </a:lnTo>
                <a:lnTo>
                  <a:pt x="255016" y="2381300"/>
                </a:lnTo>
                <a:lnTo>
                  <a:pt x="255905" y="2381034"/>
                </a:lnTo>
                <a:lnTo>
                  <a:pt x="266319" y="2377135"/>
                </a:lnTo>
                <a:lnTo>
                  <a:pt x="266700" y="2377021"/>
                </a:lnTo>
                <a:lnTo>
                  <a:pt x="276301" y="2371610"/>
                </a:lnTo>
                <a:lnTo>
                  <a:pt x="277088" y="2371166"/>
                </a:lnTo>
                <a:lnTo>
                  <a:pt x="277317" y="2371039"/>
                </a:lnTo>
                <a:lnTo>
                  <a:pt x="279895" y="2369134"/>
                </a:lnTo>
                <a:lnTo>
                  <a:pt x="280238" y="2368880"/>
                </a:lnTo>
                <a:lnTo>
                  <a:pt x="284619" y="2365641"/>
                </a:lnTo>
                <a:lnTo>
                  <a:pt x="285165" y="2365235"/>
                </a:lnTo>
                <a:lnTo>
                  <a:pt x="288036" y="2363114"/>
                </a:lnTo>
                <a:lnTo>
                  <a:pt x="298196" y="2353183"/>
                </a:lnTo>
                <a:lnTo>
                  <a:pt x="326009" y="2310892"/>
                </a:lnTo>
                <a:lnTo>
                  <a:pt x="342392" y="2271903"/>
                </a:lnTo>
                <a:lnTo>
                  <a:pt x="356870" y="2223516"/>
                </a:lnTo>
                <a:lnTo>
                  <a:pt x="369443" y="2163699"/>
                </a:lnTo>
                <a:lnTo>
                  <a:pt x="378968" y="2086102"/>
                </a:lnTo>
                <a:lnTo>
                  <a:pt x="382651" y="2041017"/>
                </a:lnTo>
                <a:lnTo>
                  <a:pt x="385724" y="1991360"/>
                </a:lnTo>
                <a:lnTo>
                  <a:pt x="388124" y="1939163"/>
                </a:lnTo>
                <a:lnTo>
                  <a:pt x="390017" y="1883791"/>
                </a:lnTo>
                <a:lnTo>
                  <a:pt x="391414" y="1825371"/>
                </a:lnTo>
                <a:lnTo>
                  <a:pt x="392430" y="1764411"/>
                </a:lnTo>
                <a:lnTo>
                  <a:pt x="392938" y="1701165"/>
                </a:lnTo>
                <a:lnTo>
                  <a:pt x="393192" y="1635887"/>
                </a:lnTo>
                <a:lnTo>
                  <a:pt x="393192" y="1568831"/>
                </a:lnTo>
                <a:lnTo>
                  <a:pt x="392557" y="1431163"/>
                </a:lnTo>
                <a:lnTo>
                  <a:pt x="391414" y="1290320"/>
                </a:lnTo>
                <a:lnTo>
                  <a:pt x="390144" y="1148969"/>
                </a:lnTo>
                <a:lnTo>
                  <a:pt x="389382" y="1009650"/>
                </a:lnTo>
                <a:lnTo>
                  <a:pt x="389382" y="874649"/>
                </a:lnTo>
                <a:lnTo>
                  <a:pt x="389763" y="809498"/>
                </a:lnTo>
                <a:lnTo>
                  <a:pt x="390525" y="746379"/>
                </a:lnTo>
                <a:lnTo>
                  <a:pt x="391795" y="685546"/>
                </a:lnTo>
                <a:lnTo>
                  <a:pt x="393446" y="627507"/>
                </a:lnTo>
                <a:lnTo>
                  <a:pt x="395630" y="572135"/>
                </a:lnTo>
                <a:lnTo>
                  <a:pt x="398310" y="520192"/>
                </a:lnTo>
                <a:lnTo>
                  <a:pt x="401561" y="472567"/>
                </a:lnTo>
                <a:lnTo>
                  <a:pt x="405638" y="428117"/>
                </a:lnTo>
                <a:lnTo>
                  <a:pt x="410337" y="388112"/>
                </a:lnTo>
                <a:lnTo>
                  <a:pt x="421894" y="320294"/>
                </a:lnTo>
                <a:lnTo>
                  <a:pt x="435216" y="262382"/>
                </a:lnTo>
                <a:lnTo>
                  <a:pt x="449961" y="212725"/>
                </a:lnTo>
                <a:lnTo>
                  <a:pt x="466090" y="170815"/>
                </a:lnTo>
                <a:lnTo>
                  <a:pt x="483235" y="136017"/>
                </a:lnTo>
                <a:lnTo>
                  <a:pt x="510921" y="95885"/>
                </a:lnTo>
                <a:lnTo>
                  <a:pt x="540385" y="68707"/>
                </a:lnTo>
                <a:lnTo>
                  <a:pt x="582168" y="48387"/>
                </a:lnTo>
                <a:lnTo>
                  <a:pt x="626872" y="42037"/>
                </a:lnTo>
                <a:lnTo>
                  <a:pt x="638302" y="42037"/>
                </a:lnTo>
                <a:lnTo>
                  <a:pt x="659815" y="44500"/>
                </a:lnTo>
                <a:lnTo>
                  <a:pt x="654304" y="74930"/>
                </a:lnTo>
                <a:lnTo>
                  <a:pt x="736092" y="50927"/>
                </a:lnTo>
                <a:close/>
              </a:path>
              <a:path w="5982970" h="3145790">
                <a:moveTo>
                  <a:pt x="5981827" y="1924558"/>
                </a:moveTo>
                <a:lnTo>
                  <a:pt x="5969127" y="1918208"/>
                </a:lnTo>
                <a:lnTo>
                  <a:pt x="5905627" y="1886458"/>
                </a:lnTo>
                <a:lnTo>
                  <a:pt x="5905627" y="1918208"/>
                </a:lnTo>
                <a:lnTo>
                  <a:pt x="5654802" y="1918208"/>
                </a:lnTo>
                <a:lnTo>
                  <a:pt x="5654802" y="1930908"/>
                </a:lnTo>
                <a:lnTo>
                  <a:pt x="5905627" y="1930908"/>
                </a:lnTo>
                <a:lnTo>
                  <a:pt x="5905627" y="1962658"/>
                </a:lnTo>
                <a:lnTo>
                  <a:pt x="5969127" y="1930908"/>
                </a:lnTo>
                <a:lnTo>
                  <a:pt x="5981827" y="1924558"/>
                </a:lnTo>
                <a:close/>
              </a:path>
              <a:path w="5982970" h="3145790">
                <a:moveTo>
                  <a:pt x="5982462" y="3107182"/>
                </a:moveTo>
                <a:lnTo>
                  <a:pt x="5969762" y="3100832"/>
                </a:lnTo>
                <a:lnTo>
                  <a:pt x="5906262" y="3069082"/>
                </a:lnTo>
                <a:lnTo>
                  <a:pt x="5906262" y="3100832"/>
                </a:lnTo>
                <a:lnTo>
                  <a:pt x="4040886" y="3100832"/>
                </a:lnTo>
                <a:lnTo>
                  <a:pt x="4040886" y="3113532"/>
                </a:lnTo>
                <a:lnTo>
                  <a:pt x="5906262" y="3113532"/>
                </a:lnTo>
                <a:lnTo>
                  <a:pt x="5906262" y="3145282"/>
                </a:lnTo>
                <a:lnTo>
                  <a:pt x="5969762" y="3113532"/>
                </a:lnTo>
                <a:lnTo>
                  <a:pt x="5982462" y="3107182"/>
                </a:lnTo>
                <a:close/>
              </a:path>
            </a:pathLst>
          </a:custGeom>
          <a:solidFill>
            <a:srgbClr val="2FE4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1119866" y="6350609"/>
            <a:ext cx="9474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Continue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to </a:t>
            </a:r>
            <a:r>
              <a:rPr sz="1400" b="1" dirty="0">
                <a:latin typeface="Calibri"/>
                <a:cs typeface="Calibri"/>
              </a:rPr>
              <a:t>next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prompt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65020" y="1335024"/>
            <a:ext cx="9752330" cy="4796155"/>
            <a:chOff x="2065020" y="1335024"/>
            <a:chExt cx="9752330" cy="4796155"/>
          </a:xfrm>
        </p:grpSpPr>
        <p:sp>
          <p:nvSpPr>
            <p:cNvPr id="30" name="object 30"/>
            <p:cNvSpPr/>
            <p:nvPr/>
          </p:nvSpPr>
          <p:spPr>
            <a:xfrm>
              <a:off x="6899910" y="4333494"/>
              <a:ext cx="4912360" cy="1792605"/>
            </a:xfrm>
            <a:custGeom>
              <a:avLst/>
              <a:gdLst/>
              <a:ahLst/>
              <a:cxnLst/>
              <a:rect l="l" t="t" r="r" b="b"/>
              <a:pathLst>
                <a:path w="4912359" h="1792604">
                  <a:moveTo>
                    <a:pt x="0" y="1792223"/>
                  </a:moveTo>
                  <a:lnTo>
                    <a:pt x="4911852" y="1792223"/>
                  </a:lnTo>
                  <a:lnTo>
                    <a:pt x="4911852" y="0"/>
                  </a:lnTo>
                  <a:lnTo>
                    <a:pt x="0" y="0"/>
                  </a:lnTo>
                  <a:lnTo>
                    <a:pt x="0" y="1792223"/>
                  </a:lnTo>
                  <a:close/>
                </a:path>
              </a:pathLst>
            </a:custGeom>
            <a:ln w="10794">
              <a:solidFill>
                <a:srgbClr val="FFB8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5020" y="1353312"/>
              <a:ext cx="4281170" cy="4699000"/>
            </a:xfrm>
            <a:custGeom>
              <a:avLst/>
              <a:gdLst/>
              <a:ahLst/>
              <a:cxnLst/>
              <a:rect l="l" t="t" r="r" b="b"/>
              <a:pathLst>
                <a:path w="4281170" h="4699000">
                  <a:moveTo>
                    <a:pt x="4280915" y="0"/>
                  </a:moveTo>
                  <a:lnTo>
                    <a:pt x="0" y="0"/>
                  </a:lnTo>
                  <a:lnTo>
                    <a:pt x="0" y="4698492"/>
                  </a:lnTo>
                  <a:lnTo>
                    <a:pt x="4280915" y="4698492"/>
                  </a:lnTo>
                  <a:lnTo>
                    <a:pt x="4280915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5020" y="1353312"/>
              <a:ext cx="4281805" cy="0"/>
            </a:xfrm>
            <a:custGeom>
              <a:avLst/>
              <a:gdLst/>
              <a:ahLst/>
              <a:cxnLst/>
              <a:rect l="l" t="t" r="r" b="b"/>
              <a:pathLst>
                <a:path w="4281805">
                  <a:moveTo>
                    <a:pt x="0" y="0"/>
                  </a:moveTo>
                  <a:lnTo>
                    <a:pt x="4281678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73986" y="1354074"/>
              <a:ext cx="268605" cy="0"/>
            </a:xfrm>
            <a:custGeom>
              <a:avLst/>
              <a:gdLst/>
              <a:ahLst/>
              <a:cxnLst/>
              <a:rect l="l" t="t" r="r" b="b"/>
              <a:pathLst>
                <a:path w="268605">
                  <a:moveTo>
                    <a:pt x="0" y="0"/>
                  </a:moveTo>
                  <a:lnTo>
                    <a:pt x="268605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006340" y="1356360"/>
              <a:ext cx="1340485" cy="0"/>
            </a:xfrm>
            <a:custGeom>
              <a:avLst/>
              <a:gdLst/>
              <a:ahLst/>
              <a:cxnLst/>
              <a:rect l="l" t="t" r="r" b="b"/>
              <a:pathLst>
                <a:path w="1340485">
                  <a:moveTo>
                    <a:pt x="0" y="0"/>
                  </a:moveTo>
                  <a:lnTo>
                    <a:pt x="1340104" y="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370582" y="1555241"/>
            <a:ext cx="3976370" cy="3007874"/>
          </a:xfrm>
          <a:prstGeom prst="rect">
            <a:avLst/>
          </a:prstGeom>
          <a:ln w="10795">
            <a:solidFill>
              <a:srgbClr val="FFB800"/>
            </a:solidFill>
          </a:ln>
        </p:spPr>
        <p:txBody>
          <a:bodyPr vert="horz" wrap="square" lIns="0" tIns="52704" rIns="0" bIns="0" rtlCol="0">
            <a:spAutoFit/>
          </a:bodyPr>
          <a:lstStyle/>
          <a:p>
            <a:pPr marL="90170" marR="118110">
              <a:lnSpc>
                <a:spcPct val="100000"/>
              </a:lnSpc>
              <a:spcBef>
                <a:spcPts val="414"/>
              </a:spcBef>
            </a:pPr>
            <a:r>
              <a:rPr sz="1600" b="1" dirty="0">
                <a:latin typeface="Calibri"/>
                <a:cs typeface="Calibri"/>
              </a:rPr>
              <a:t>Please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summarize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following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text: </a:t>
            </a:r>
            <a:r>
              <a:rPr sz="1600" b="1" spc="-10" dirty="0">
                <a:latin typeface="Calibri"/>
                <a:cs typeface="Calibri"/>
              </a:rPr>
              <a:t>'Climate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change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pressing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issue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that</a:t>
            </a:r>
            <a:r>
              <a:rPr sz="1600" b="1" spc="50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needs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addressed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immediately.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The </a:t>
            </a:r>
            <a:r>
              <a:rPr sz="1600" b="1" dirty="0">
                <a:latin typeface="Calibri"/>
                <a:cs typeface="Calibri"/>
              </a:rPr>
              <a:t>increasing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levels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of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carbon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dioxide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the </a:t>
            </a:r>
            <a:r>
              <a:rPr sz="1600" b="1" spc="-10" dirty="0">
                <a:latin typeface="Calibri"/>
                <a:cs typeface="Calibri"/>
              </a:rPr>
              <a:t>atmosphere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are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causing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Earth's </a:t>
            </a:r>
            <a:r>
              <a:rPr sz="1600" b="1" spc="-20" dirty="0">
                <a:latin typeface="Calibri"/>
                <a:cs typeface="Calibri"/>
              </a:rPr>
              <a:t>temperature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rise,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which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leading</a:t>
            </a:r>
            <a:r>
              <a:rPr sz="1600" b="1" spc="-25" dirty="0">
                <a:latin typeface="Calibri"/>
                <a:cs typeface="Calibri"/>
              </a:rPr>
              <a:t> to</a:t>
            </a:r>
            <a:r>
              <a:rPr sz="1600" b="1" spc="50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more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frequent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severe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natural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disasters. Governments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around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world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need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take </a:t>
            </a:r>
            <a:r>
              <a:rPr sz="1600" b="1" spc="-10" dirty="0">
                <a:latin typeface="Calibri"/>
                <a:cs typeface="Calibri"/>
              </a:rPr>
              <a:t>immediate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action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reduce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carbon emissions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invest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renewable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energy </a:t>
            </a:r>
            <a:r>
              <a:rPr sz="1600" b="1" dirty="0">
                <a:latin typeface="Calibri"/>
                <a:cs typeface="Calibri"/>
              </a:rPr>
              <a:t>sources.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Failure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do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so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will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have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dire </a:t>
            </a:r>
            <a:r>
              <a:rPr sz="1600" b="1" spc="-10" dirty="0">
                <a:latin typeface="Calibri"/>
                <a:cs typeface="Calibri"/>
              </a:rPr>
              <a:t>consequences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future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generations'"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70530" y="4711953"/>
            <a:ext cx="352234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Climate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change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is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pressing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issue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that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needs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to 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addressed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immediately.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Governments </a:t>
            </a:r>
            <a:r>
              <a:rPr sz="1400" b="1" dirty="0">
                <a:latin typeface="Calibri"/>
                <a:cs typeface="Calibri"/>
              </a:rPr>
              <a:t>around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world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need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take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immediate </a:t>
            </a:r>
            <a:r>
              <a:rPr sz="1400" b="1" dirty="0">
                <a:latin typeface="Calibri"/>
                <a:cs typeface="Calibri"/>
              </a:rPr>
              <a:t>action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reduce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carbon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emissions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invest</a:t>
            </a:r>
            <a:r>
              <a:rPr sz="1400" b="1" spc="-25" dirty="0">
                <a:latin typeface="Calibri"/>
                <a:cs typeface="Calibri"/>
              </a:rPr>
              <a:t> in </a:t>
            </a:r>
            <a:r>
              <a:rPr sz="1400" b="1" spc="-10" dirty="0">
                <a:latin typeface="Calibri"/>
                <a:cs typeface="Calibri"/>
              </a:rPr>
              <a:t>renewable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energy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sources.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Failure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do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will </a:t>
            </a:r>
            <a:r>
              <a:rPr sz="1400" b="1" dirty="0">
                <a:latin typeface="Calibri"/>
                <a:cs typeface="Calibri"/>
              </a:rPr>
              <a:t>have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dire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consequences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future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generations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5908928" y="150367"/>
            <a:ext cx="57194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Then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all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summaries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are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passed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GPT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again</a:t>
            </a:r>
            <a:r>
              <a:rPr sz="1800" spc="-25" dirty="0">
                <a:latin typeface="Segoe UI"/>
                <a:cs typeface="Segoe UI"/>
              </a:rPr>
              <a:t> to </a:t>
            </a:r>
            <a:r>
              <a:rPr sz="1800" dirty="0">
                <a:latin typeface="Segoe UI"/>
                <a:cs typeface="Segoe UI"/>
              </a:rPr>
              <a:t>summarize,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i.e.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second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round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summarization.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sum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summaries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has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fit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within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token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limit.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9432" y="563752"/>
            <a:ext cx="8082534" cy="4460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4625">
              <a:lnSpc>
                <a:spcPct val="100000"/>
              </a:lnSpc>
              <a:spcBef>
                <a:spcPts val="100"/>
              </a:spcBef>
            </a:pPr>
            <a:r>
              <a:rPr dirty="0"/>
              <a:t>Retrieval</a:t>
            </a:r>
            <a:r>
              <a:rPr spc="-50" dirty="0"/>
              <a:t> </a:t>
            </a:r>
            <a:r>
              <a:rPr dirty="0"/>
              <a:t>Augmented</a:t>
            </a:r>
            <a:r>
              <a:rPr spc="-40" dirty="0"/>
              <a:t> </a:t>
            </a:r>
            <a:r>
              <a:rPr dirty="0"/>
              <a:t>Generation</a:t>
            </a:r>
            <a:r>
              <a:rPr spc="-35" dirty="0"/>
              <a:t> </a:t>
            </a:r>
            <a:r>
              <a:rPr spc="-10" dirty="0"/>
              <a:t>(RAG)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2916" y="1598675"/>
            <a:ext cx="9726168" cy="46253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62252" y="1164717"/>
            <a:ext cx="96678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5" dirty="0">
                <a:latin typeface="Segoe UI"/>
                <a:cs typeface="Segoe UI"/>
              </a:rPr>
              <a:t>Extract</a:t>
            </a:r>
            <a:r>
              <a:rPr sz="1600" spc="-95" dirty="0">
                <a:latin typeface="Segoe UI"/>
                <a:cs typeface="Segoe UI"/>
              </a:rPr>
              <a:t> </a:t>
            </a:r>
            <a:r>
              <a:rPr sz="1600" spc="-60" dirty="0">
                <a:latin typeface="Segoe UI"/>
                <a:cs typeface="Segoe UI"/>
              </a:rPr>
              <a:t>precise</a:t>
            </a:r>
            <a:r>
              <a:rPr sz="1600" spc="-90" dirty="0">
                <a:latin typeface="Segoe UI"/>
                <a:cs typeface="Segoe UI"/>
              </a:rPr>
              <a:t> </a:t>
            </a:r>
            <a:r>
              <a:rPr sz="1600" spc="-60" dirty="0">
                <a:latin typeface="Segoe UI"/>
                <a:cs typeface="Segoe UI"/>
              </a:rPr>
              <a:t>answers</a:t>
            </a:r>
            <a:r>
              <a:rPr sz="1600" spc="-100" dirty="0">
                <a:latin typeface="Segoe UI"/>
                <a:cs typeface="Segoe UI"/>
              </a:rPr>
              <a:t> </a:t>
            </a:r>
            <a:r>
              <a:rPr sz="1600" spc="-55" dirty="0">
                <a:latin typeface="Segoe UI"/>
                <a:cs typeface="Segoe UI"/>
              </a:rPr>
              <a:t>from</a:t>
            </a:r>
            <a:r>
              <a:rPr sz="1600" spc="-100" dirty="0">
                <a:latin typeface="Segoe UI"/>
                <a:cs typeface="Segoe UI"/>
              </a:rPr>
              <a:t> </a:t>
            </a:r>
            <a:r>
              <a:rPr sz="1600" spc="-60" dirty="0">
                <a:latin typeface="Segoe UI"/>
                <a:cs typeface="Segoe UI"/>
              </a:rPr>
              <a:t>your</a:t>
            </a:r>
            <a:r>
              <a:rPr sz="1600" spc="-85" dirty="0">
                <a:latin typeface="Segoe UI"/>
                <a:cs typeface="Segoe UI"/>
              </a:rPr>
              <a:t> </a:t>
            </a:r>
            <a:r>
              <a:rPr sz="1600" spc="-65" dirty="0">
                <a:latin typeface="Segoe UI"/>
                <a:cs typeface="Segoe UI"/>
              </a:rPr>
              <a:t>unstructured</a:t>
            </a:r>
            <a:r>
              <a:rPr sz="1600" spc="-110" dirty="0">
                <a:latin typeface="Segoe UI"/>
                <a:cs typeface="Segoe UI"/>
              </a:rPr>
              <a:t> </a:t>
            </a:r>
            <a:r>
              <a:rPr sz="1600" spc="-60" dirty="0">
                <a:latin typeface="Segoe UI"/>
                <a:cs typeface="Segoe UI"/>
              </a:rPr>
              <a:t>documents</a:t>
            </a:r>
            <a:r>
              <a:rPr sz="1600" spc="-120" dirty="0">
                <a:latin typeface="Segoe UI"/>
                <a:cs typeface="Segoe UI"/>
              </a:rPr>
              <a:t> </a:t>
            </a:r>
            <a:r>
              <a:rPr sz="1600" spc="-50" dirty="0">
                <a:latin typeface="Segoe UI"/>
                <a:cs typeface="Segoe UI"/>
              </a:rPr>
              <a:t>with</a:t>
            </a:r>
            <a:r>
              <a:rPr sz="1600" spc="-9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Azure</a:t>
            </a:r>
            <a:r>
              <a:rPr sz="1600" spc="-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OpenAI</a:t>
            </a:r>
            <a:r>
              <a:rPr sz="1600" spc="1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+ Cognitive Search:</a:t>
            </a:r>
            <a:r>
              <a:rPr sz="1600" spc="30" dirty="0">
                <a:latin typeface="Segoe UI"/>
                <a:cs typeface="Segoe UI"/>
              </a:rPr>
              <a:t> </a:t>
            </a:r>
            <a:r>
              <a:rPr sz="1600" u="sng" dirty="0">
                <a:solidFill>
                  <a:srgbClr val="0563C1"/>
                </a:solidFill>
                <a:uFill>
                  <a:solidFill>
                    <a:srgbClr val="FFFFFF"/>
                  </a:solidFill>
                </a:uFill>
                <a:latin typeface="Segoe UI"/>
                <a:cs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article + </a:t>
            </a:r>
            <a:r>
              <a:rPr sz="1600" u="sng" spc="-20" dirty="0">
                <a:uFill>
                  <a:solidFill>
                    <a:srgbClr val="FFFFFF"/>
                  </a:solidFill>
                </a:uFill>
                <a:latin typeface="Segoe UI"/>
                <a:cs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6330188"/>
            <a:ext cx="101225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50E6FF"/>
                  </a:solidFill>
                </a:uFill>
                <a:latin typeface="Segoe UI"/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https://learn.microsoft.com/en-us/azure/search/retrieval-augmented-generation-overview</a:t>
            </a:r>
            <a:endParaRPr sz="2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4558" y="5737352"/>
            <a:ext cx="8700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5" dirty="0">
                <a:latin typeface="Segoe UI"/>
                <a:cs typeface="Segoe UI"/>
              </a:rPr>
              <a:t>https://</a:t>
            </a:r>
            <a:r>
              <a:rPr sz="3600" spc="-55" dirty="0">
                <a:latin typeface="Segoe UI Semibold"/>
                <a:cs typeface="Segoe UI Semibold"/>
              </a:rPr>
              <a:t>enterprise.promptengineering.rocks</a:t>
            </a:r>
            <a:endParaRPr sz="3600">
              <a:latin typeface="Segoe UI Semibold"/>
              <a:cs typeface="Segoe UI Semibold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7868" y="111252"/>
            <a:ext cx="11256645" cy="5485130"/>
            <a:chOff x="467868" y="111252"/>
            <a:chExt cx="11256645" cy="54851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868" y="111252"/>
              <a:ext cx="9099804" cy="53218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0956" y="2282952"/>
              <a:ext cx="3313176" cy="33131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61047" y="0"/>
            <a:ext cx="5330825" cy="6216650"/>
            <a:chOff x="6861047" y="0"/>
            <a:chExt cx="5330825" cy="6216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2171" y="0"/>
              <a:ext cx="4719574" cy="61551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1047" y="2343911"/>
              <a:ext cx="3837304" cy="18271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1047" y="4389094"/>
              <a:ext cx="3837304" cy="18271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20241" y="4850079"/>
            <a:ext cx="14382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emibold"/>
                <a:cs typeface="Segoe UI Semibold"/>
              </a:rPr>
              <a:t>App </a:t>
            </a:r>
            <a:r>
              <a:rPr sz="1800" spc="-25" dirty="0">
                <a:latin typeface="Segoe UI Semibold"/>
                <a:cs typeface="Segoe UI Semibold"/>
              </a:rPr>
              <a:t>or</a:t>
            </a:r>
            <a:endParaRPr sz="180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Segoe UI Semibold"/>
                <a:cs typeface="Segoe UI Semibold"/>
              </a:rPr>
              <a:t>Copilot</a:t>
            </a:r>
            <a:r>
              <a:rPr sz="1800" spc="-35" dirty="0">
                <a:latin typeface="Segoe UI Semibold"/>
                <a:cs typeface="Segoe UI Semibold"/>
              </a:rPr>
              <a:t> </a:t>
            </a:r>
            <a:r>
              <a:rPr sz="1800" spc="-20" dirty="0">
                <a:latin typeface="Segoe UI Semibold"/>
                <a:cs typeface="Segoe UI Semibold"/>
              </a:rPr>
              <a:t>agent</a:t>
            </a:r>
            <a:endParaRPr sz="1800">
              <a:latin typeface="Segoe UI Semibold"/>
              <a:cs typeface="Segoe UI Semibold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0492" y="3857244"/>
            <a:ext cx="378460" cy="643255"/>
            <a:chOff x="1650492" y="3857244"/>
            <a:chExt cx="378460" cy="64325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0492" y="3857244"/>
              <a:ext cx="377951" cy="6431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05940" y="4408931"/>
              <a:ext cx="70485" cy="40005"/>
            </a:xfrm>
            <a:custGeom>
              <a:avLst/>
              <a:gdLst/>
              <a:ahLst/>
              <a:cxnLst/>
              <a:rect l="l" t="t" r="r" b="b"/>
              <a:pathLst>
                <a:path w="70485" h="40004">
                  <a:moveTo>
                    <a:pt x="70104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70104" y="39624"/>
                  </a:lnTo>
                  <a:lnTo>
                    <a:pt x="70104" y="0"/>
                  </a:lnTo>
                  <a:close/>
                </a:path>
              </a:pathLst>
            </a:custGeom>
            <a:solidFill>
              <a:srgbClr val="4FE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0492" y="3857244"/>
              <a:ext cx="377951" cy="504444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00122" y="4108450"/>
            <a:ext cx="1086865" cy="14833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628645" y="3845178"/>
            <a:ext cx="8591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Segoe UI Semibold"/>
                <a:cs typeface="Segoe UI Semibold"/>
              </a:rPr>
              <a:t>API</a:t>
            </a:r>
            <a:r>
              <a:rPr sz="1400" spc="-2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&amp; </a:t>
            </a:r>
            <a:r>
              <a:rPr sz="1400" spc="-25" dirty="0">
                <a:latin typeface="Segoe UI Semibold"/>
                <a:cs typeface="Segoe UI Semibold"/>
              </a:rPr>
              <a:t>SDK</a:t>
            </a:r>
            <a:endParaRPr sz="1400">
              <a:latin typeface="Segoe UI Semibold"/>
              <a:cs typeface="Segoe UI Semibold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49623" y="3759708"/>
            <a:ext cx="740663" cy="74066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141726" y="4850079"/>
            <a:ext cx="21564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emibold"/>
                <a:cs typeface="Segoe UI Semibold"/>
              </a:rPr>
              <a:t>Azure</a:t>
            </a:r>
            <a:r>
              <a:rPr sz="1800" spc="-25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 Semibold"/>
                <a:cs typeface="Segoe UI Semibold"/>
              </a:rPr>
              <a:t>OpenAI</a:t>
            </a:r>
            <a:endParaRPr sz="180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Segoe UI Semibold"/>
                <a:cs typeface="Segoe UI Semibold"/>
              </a:rPr>
              <a:t>Service</a:t>
            </a:r>
            <a:r>
              <a:rPr sz="1800" spc="1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on</a:t>
            </a:r>
            <a:r>
              <a:rPr sz="1800" spc="1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your </a:t>
            </a:r>
            <a:r>
              <a:rPr sz="1800" spc="-20" dirty="0">
                <a:latin typeface="Segoe UI Semibold"/>
                <a:cs typeface="Segoe UI Semibold"/>
              </a:rPr>
              <a:t>data</a:t>
            </a:r>
            <a:endParaRPr sz="1800">
              <a:latin typeface="Segoe UI Semibold"/>
              <a:cs typeface="Segoe UI Semibold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32426" y="3062097"/>
            <a:ext cx="1851025" cy="2227580"/>
            <a:chOff x="4932426" y="3062097"/>
            <a:chExt cx="1851025" cy="222758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0957" y="4056507"/>
              <a:ext cx="134873" cy="2461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494782" y="5166360"/>
              <a:ext cx="113664" cy="113664"/>
            </a:xfrm>
            <a:custGeom>
              <a:avLst/>
              <a:gdLst/>
              <a:ahLst/>
              <a:cxnLst/>
              <a:rect l="l" t="t" r="r" b="b"/>
              <a:pathLst>
                <a:path w="113664" h="113664">
                  <a:moveTo>
                    <a:pt x="0" y="0"/>
                  </a:moveTo>
                  <a:lnTo>
                    <a:pt x="8917" y="44207"/>
                  </a:lnTo>
                  <a:lnTo>
                    <a:pt x="33242" y="80295"/>
                  </a:lnTo>
                  <a:lnTo>
                    <a:pt x="69330" y="104620"/>
                  </a:lnTo>
                  <a:lnTo>
                    <a:pt x="113537" y="113537"/>
                  </a:lnTo>
                </a:path>
              </a:pathLst>
            </a:custGeom>
            <a:ln w="19050">
              <a:solidFill>
                <a:srgbClr val="8DC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94782" y="4292346"/>
              <a:ext cx="0" cy="873760"/>
            </a:xfrm>
            <a:custGeom>
              <a:avLst/>
              <a:gdLst/>
              <a:ahLst/>
              <a:cxnLst/>
              <a:rect l="l" t="t" r="r" b="b"/>
              <a:pathLst>
                <a:path h="873760">
                  <a:moveTo>
                    <a:pt x="0" y="0"/>
                  </a:moveTo>
                  <a:lnTo>
                    <a:pt x="0" y="873759"/>
                  </a:lnTo>
                </a:path>
              </a:pathLst>
            </a:custGeom>
            <a:ln w="19050">
              <a:solidFill>
                <a:srgbClr val="8DC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99557" y="5270373"/>
              <a:ext cx="1183513" cy="190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32426" y="4105402"/>
              <a:ext cx="458470" cy="1483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94782" y="3071622"/>
              <a:ext cx="113664" cy="113664"/>
            </a:xfrm>
            <a:custGeom>
              <a:avLst/>
              <a:gdLst/>
              <a:ahLst/>
              <a:cxnLst/>
              <a:rect l="l" t="t" r="r" b="b"/>
              <a:pathLst>
                <a:path w="113664" h="113664">
                  <a:moveTo>
                    <a:pt x="0" y="113537"/>
                  </a:moveTo>
                  <a:lnTo>
                    <a:pt x="8917" y="69330"/>
                  </a:lnTo>
                  <a:lnTo>
                    <a:pt x="33242" y="33242"/>
                  </a:lnTo>
                  <a:lnTo>
                    <a:pt x="69330" y="8917"/>
                  </a:lnTo>
                  <a:lnTo>
                    <a:pt x="113537" y="0"/>
                  </a:lnTo>
                </a:path>
              </a:pathLst>
            </a:custGeom>
            <a:ln w="19050">
              <a:solidFill>
                <a:srgbClr val="8DC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94782" y="3184398"/>
              <a:ext cx="0" cy="873760"/>
            </a:xfrm>
            <a:custGeom>
              <a:avLst/>
              <a:gdLst/>
              <a:ahLst/>
              <a:cxnLst/>
              <a:rect l="l" t="t" r="r" b="b"/>
              <a:pathLst>
                <a:path h="873760">
                  <a:moveTo>
                    <a:pt x="0" y="87375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8DC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99557" y="3062097"/>
              <a:ext cx="1183513" cy="1905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247001" y="3211525"/>
            <a:ext cx="2993390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emibold"/>
                <a:cs typeface="Segoe UI Semibold"/>
              </a:rPr>
              <a:t>Data</a:t>
            </a:r>
            <a:r>
              <a:rPr sz="1800" spc="-25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 Semibold"/>
                <a:cs typeface="Segoe UI Semibold"/>
              </a:rPr>
              <a:t>Sources</a:t>
            </a:r>
            <a:endParaRPr sz="180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Segoe UI Semibold"/>
                <a:cs typeface="Segoe UI Semibold"/>
              </a:rPr>
              <a:t>(search,</a:t>
            </a:r>
            <a:r>
              <a:rPr sz="1400" spc="-6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files,</a:t>
            </a:r>
            <a:r>
              <a:rPr sz="1400" spc="-50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databases,</a:t>
            </a:r>
            <a:r>
              <a:rPr sz="1400" spc="-70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storage</a:t>
            </a:r>
            <a:r>
              <a:rPr sz="1400" spc="-45" dirty="0">
                <a:latin typeface="Segoe UI Semibold"/>
                <a:cs typeface="Segoe UI Semibold"/>
              </a:rPr>
              <a:t> </a:t>
            </a:r>
            <a:r>
              <a:rPr sz="1400" spc="-10" dirty="0">
                <a:latin typeface="Segoe UI Semibold"/>
                <a:cs typeface="Segoe UI Semibold"/>
              </a:rPr>
              <a:t>etc.)</a:t>
            </a:r>
            <a:endParaRPr sz="1400">
              <a:latin typeface="Segoe UI Semibold"/>
              <a:cs typeface="Segoe UI Semibold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234428" y="2586227"/>
            <a:ext cx="2837815" cy="2590800"/>
            <a:chOff x="7234428" y="2586227"/>
            <a:chExt cx="2837815" cy="2590800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02724" y="2609087"/>
              <a:ext cx="469392" cy="46939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839200" y="2624327"/>
              <a:ext cx="457200" cy="4572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33588" y="2644139"/>
              <a:ext cx="361187" cy="43281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33588" y="2644139"/>
              <a:ext cx="116205" cy="117475"/>
            </a:xfrm>
            <a:custGeom>
              <a:avLst/>
              <a:gdLst/>
              <a:ahLst/>
              <a:cxnLst/>
              <a:rect l="l" t="t" r="r" b="b"/>
              <a:pathLst>
                <a:path w="116204" h="117475">
                  <a:moveTo>
                    <a:pt x="115823" y="0"/>
                  </a:moveTo>
                  <a:lnTo>
                    <a:pt x="0" y="117348"/>
                  </a:lnTo>
                  <a:lnTo>
                    <a:pt x="115823" y="117348"/>
                  </a:lnTo>
                  <a:lnTo>
                    <a:pt x="115823" y="0"/>
                  </a:lnTo>
                  <a:close/>
                </a:path>
              </a:pathLst>
            </a:custGeom>
            <a:solidFill>
              <a:srgbClr val="4FE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216646" y="2850641"/>
              <a:ext cx="151130" cy="76200"/>
            </a:xfrm>
            <a:custGeom>
              <a:avLst/>
              <a:gdLst/>
              <a:ahLst/>
              <a:cxnLst/>
              <a:rect l="l" t="t" r="r" b="b"/>
              <a:pathLst>
                <a:path w="151129" h="76200">
                  <a:moveTo>
                    <a:pt x="0" y="0"/>
                  </a:moveTo>
                  <a:lnTo>
                    <a:pt x="150875" y="0"/>
                  </a:lnTo>
                </a:path>
                <a:path w="151129" h="76200">
                  <a:moveTo>
                    <a:pt x="0" y="76200"/>
                  </a:moveTo>
                  <a:lnTo>
                    <a:pt x="150875" y="76200"/>
                  </a:lnTo>
                </a:path>
              </a:pathLst>
            </a:custGeom>
            <a:ln w="174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34428" y="2586227"/>
              <a:ext cx="547116" cy="54711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67088" y="4622292"/>
              <a:ext cx="556259" cy="55473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522610" y="4899651"/>
              <a:ext cx="518159" cy="228600"/>
            </a:xfrm>
            <a:custGeom>
              <a:avLst/>
              <a:gdLst/>
              <a:ahLst/>
              <a:cxnLst/>
              <a:rect l="l" t="t" r="r" b="b"/>
              <a:pathLst>
                <a:path w="518159" h="228600">
                  <a:moveTo>
                    <a:pt x="267318" y="0"/>
                  </a:moveTo>
                  <a:lnTo>
                    <a:pt x="251014" y="2466"/>
                  </a:lnTo>
                  <a:lnTo>
                    <a:pt x="230347" y="9032"/>
                  </a:lnTo>
                  <a:lnTo>
                    <a:pt x="180844" y="22464"/>
                  </a:lnTo>
                  <a:lnTo>
                    <a:pt x="103164" y="40771"/>
                  </a:lnTo>
                  <a:lnTo>
                    <a:pt x="31488" y="56915"/>
                  </a:lnTo>
                  <a:lnTo>
                    <a:pt x="0" y="63861"/>
                  </a:lnTo>
                  <a:lnTo>
                    <a:pt x="0" y="116356"/>
                  </a:lnTo>
                  <a:lnTo>
                    <a:pt x="60971" y="151153"/>
                  </a:lnTo>
                  <a:lnTo>
                    <a:pt x="124117" y="177537"/>
                  </a:lnTo>
                  <a:lnTo>
                    <a:pt x="186633" y="203618"/>
                  </a:lnTo>
                  <a:lnTo>
                    <a:pt x="224788" y="220141"/>
                  </a:lnTo>
                  <a:lnTo>
                    <a:pt x="241824" y="226589"/>
                  </a:lnTo>
                  <a:lnTo>
                    <a:pt x="258123" y="228326"/>
                  </a:lnTo>
                  <a:lnTo>
                    <a:pt x="275623" y="224910"/>
                  </a:lnTo>
                  <a:lnTo>
                    <a:pt x="296262" y="215901"/>
                  </a:lnTo>
                  <a:lnTo>
                    <a:pt x="336687" y="197238"/>
                  </a:lnTo>
                  <a:lnTo>
                    <a:pt x="397969" y="170634"/>
                  </a:lnTo>
                  <a:lnTo>
                    <a:pt x="458714" y="144309"/>
                  </a:lnTo>
                  <a:lnTo>
                    <a:pt x="497527" y="126484"/>
                  </a:lnTo>
                  <a:lnTo>
                    <a:pt x="517813" y="108251"/>
                  </a:lnTo>
                  <a:lnTo>
                    <a:pt x="517813" y="56493"/>
                  </a:lnTo>
                  <a:lnTo>
                    <a:pt x="476370" y="46013"/>
                  </a:lnTo>
                  <a:lnTo>
                    <a:pt x="342352" y="17658"/>
                  </a:lnTo>
                  <a:lnTo>
                    <a:pt x="300716" y="7110"/>
                  </a:lnTo>
                  <a:lnTo>
                    <a:pt x="282728" y="1568"/>
                  </a:lnTo>
                  <a:lnTo>
                    <a:pt x="267318" y="0"/>
                  </a:lnTo>
                  <a:close/>
                </a:path>
              </a:pathLst>
            </a:custGeom>
            <a:solidFill>
              <a:srgbClr val="91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22615" y="4857626"/>
              <a:ext cx="518159" cy="218440"/>
            </a:xfrm>
            <a:custGeom>
              <a:avLst/>
              <a:gdLst/>
              <a:ahLst/>
              <a:cxnLst/>
              <a:rect l="l" t="t" r="r" b="b"/>
              <a:pathLst>
                <a:path w="518159" h="218439">
                  <a:moveTo>
                    <a:pt x="267319" y="0"/>
                  </a:moveTo>
                  <a:lnTo>
                    <a:pt x="187735" y="25179"/>
                  </a:lnTo>
                  <a:lnTo>
                    <a:pt x="123204" y="50253"/>
                  </a:lnTo>
                  <a:lnTo>
                    <a:pt x="59623" y="75149"/>
                  </a:lnTo>
                  <a:lnTo>
                    <a:pt x="19867" y="90760"/>
                  </a:lnTo>
                  <a:lnTo>
                    <a:pt x="0" y="106200"/>
                  </a:lnTo>
                  <a:lnTo>
                    <a:pt x="5395" y="114376"/>
                  </a:lnTo>
                  <a:lnTo>
                    <a:pt x="20927" y="123563"/>
                  </a:lnTo>
                  <a:lnTo>
                    <a:pt x="60970" y="140989"/>
                  </a:lnTo>
                  <a:lnTo>
                    <a:pt x="124114" y="167373"/>
                  </a:lnTo>
                  <a:lnTo>
                    <a:pt x="186629" y="193454"/>
                  </a:lnTo>
                  <a:lnTo>
                    <a:pt x="224783" y="209973"/>
                  </a:lnTo>
                  <a:lnTo>
                    <a:pt x="241819" y="216423"/>
                  </a:lnTo>
                  <a:lnTo>
                    <a:pt x="258118" y="218160"/>
                  </a:lnTo>
                  <a:lnTo>
                    <a:pt x="275618" y="214745"/>
                  </a:lnTo>
                  <a:lnTo>
                    <a:pt x="296257" y="205735"/>
                  </a:lnTo>
                  <a:lnTo>
                    <a:pt x="336673" y="187073"/>
                  </a:lnTo>
                  <a:lnTo>
                    <a:pt x="397951" y="160469"/>
                  </a:lnTo>
                  <a:lnTo>
                    <a:pt x="458699" y="134145"/>
                  </a:lnTo>
                  <a:lnTo>
                    <a:pt x="497522" y="116323"/>
                  </a:lnTo>
                  <a:lnTo>
                    <a:pt x="512909" y="106543"/>
                  </a:lnTo>
                  <a:lnTo>
                    <a:pt x="517808" y="98367"/>
                  </a:lnTo>
                  <a:lnTo>
                    <a:pt x="512478" y="91043"/>
                  </a:lnTo>
                  <a:lnTo>
                    <a:pt x="497177" y="83817"/>
                  </a:lnTo>
                  <a:lnTo>
                    <a:pt x="458956" y="69068"/>
                  </a:lnTo>
                  <a:lnTo>
                    <a:pt x="339117" y="21927"/>
                  </a:lnTo>
                  <a:lnTo>
                    <a:pt x="300711" y="7110"/>
                  </a:lnTo>
                  <a:lnTo>
                    <a:pt x="282726" y="1568"/>
                  </a:lnTo>
                  <a:lnTo>
                    <a:pt x="267319" y="0"/>
                  </a:lnTo>
                  <a:close/>
                </a:path>
              </a:pathLst>
            </a:custGeom>
            <a:solidFill>
              <a:srgbClr val="C52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22610" y="4814712"/>
              <a:ext cx="518159" cy="228600"/>
            </a:xfrm>
            <a:custGeom>
              <a:avLst/>
              <a:gdLst/>
              <a:ahLst/>
              <a:cxnLst/>
              <a:rect l="l" t="t" r="r" b="b"/>
              <a:pathLst>
                <a:path w="518159" h="228600">
                  <a:moveTo>
                    <a:pt x="267318" y="0"/>
                  </a:moveTo>
                  <a:lnTo>
                    <a:pt x="251014" y="2470"/>
                  </a:lnTo>
                  <a:lnTo>
                    <a:pt x="230347" y="9038"/>
                  </a:lnTo>
                  <a:lnTo>
                    <a:pt x="180844" y="22462"/>
                  </a:lnTo>
                  <a:lnTo>
                    <a:pt x="103164" y="40766"/>
                  </a:lnTo>
                  <a:lnTo>
                    <a:pt x="31488" y="56912"/>
                  </a:lnTo>
                  <a:lnTo>
                    <a:pt x="0" y="63859"/>
                  </a:lnTo>
                  <a:lnTo>
                    <a:pt x="0" y="116359"/>
                  </a:lnTo>
                  <a:lnTo>
                    <a:pt x="60971" y="151153"/>
                  </a:lnTo>
                  <a:lnTo>
                    <a:pt x="124117" y="177537"/>
                  </a:lnTo>
                  <a:lnTo>
                    <a:pt x="186633" y="203619"/>
                  </a:lnTo>
                  <a:lnTo>
                    <a:pt x="224788" y="220139"/>
                  </a:lnTo>
                  <a:lnTo>
                    <a:pt x="241824" y="226587"/>
                  </a:lnTo>
                  <a:lnTo>
                    <a:pt x="258123" y="228324"/>
                  </a:lnTo>
                  <a:lnTo>
                    <a:pt x="275623" y="224910"/>
                  </a:lnTo>
                  <a:lnTo>
                    <a:pt x="296262" y="215903"/>
                  </a:lnTo>
                  <a:lnTo>
                    <a:pt x="336687" y="197238"/>
                  </a:lnTo>
                  <a:lnTo>
                    <a:pt x="397969" y="170634"/>
                  </a:lnTo>
                  <a:lnTo>
                    <a:pt x="458714" y="144310"/>
                  </a:lnTo>
                  <a:lnTo>
                    <a:pt x="497527" y="126489"/>
                  </a:lnTo>
                  <a:lnTo>
                    <a:pt x="517813" y="108255"/>
                  </a:lnTo>
                  <a:lnTo>
                    <a:pt x="517813" y="56482"/>
                  </a:lnTo>
                  <a:lnTo>
                    <a:pt x="476370" y="46005"/>
                  </a:lnTo>
                  <a:lnTo>
                    <a:pt x="342352" y="17661"/>
                  </a:lnTo>
                  <a:lnTo>
                    <a:pt x="300716" y="7116"/>
                  </a:lnTo>
                  <a:lnTo>
                    <a:pt x="282728" y="1568"/>
                  </a:lnTo>
                  <a:lnTo>
                    <a:pt x="267318" y="0"/>
                  </a:lnTo>
                  <a:close/>
                </a:path>
              </a:pathLst>
            </a:custGeom>
            <a:solidFill>
              <a:srgbClr val="91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522615" y="4772694"/>
              <a:ext cx="518159" cy="218440"/>
            </a:xfrm>
            <a:custGeom>
              <a:avLst/>
              <a:gdLst/>
              <a:ahLst/>
              <a:cxnLst/>
              <a:rect l="l" t="t" r="r" b="b"/>
              <a:pathLst>
                <a:path w="518159" h="218439">
                  <a:moveTo>
                    <a:pt x="267319" y="0"/>
                  </a:moveTo>
                  <a:lnTo>
                    <a:pt x="187735" y="25169"/>
                  </a:lnTo>
                  <a:lnTo>
                    <a:pt x="123204" y="50240"/>
                  </a:lnTo>
                  <a:lnTo>
                    <a:pt x="59623" y="75139"/>
                  </a:lnTo>
                  <a:lnTo>
                    <a:pt x="19867" y="90760"/>
                  </a:lnTo>
                  <a:lnTo>
                    <a:pt x="0" y="106191"/>
                  </a:lnTo>
                  <a:lnTo>
                    <a:pt x="5395" y="114367"/>
                  </a:lnTo>
                  <a:lnTo>
                    <a:pt x="20927" y="123556"/>
                  </a:lnTo>
                  <a:lnTo>
                    <a:pt x="60970" y="140979"/>
                  </a:lnTo>
                  <a:lnTo>
                    <a:pt x="124114" y="167363"/>
                  </a:lnTo>
                  <a:lnTo>
                    <a:pt x="186629" y="193445"/>
                  </a:lnTo>
                  <a:lnTo>
                    <a:pt x="224783" y="209965"/>
                  </a:lnTo>
                  <a:lnTo>
                    <a:pt x="241819" y="216414"/>
                  </a:lnTo>
                  <a:lnTo>
                    <a:pt x="258118" y="218152"/>
                  </a:lnTo>
                  <a:lnTo>
                    <a:pt x="275618" y="214738"/>
                  </a:lnTo>
                  <a:lnTo>
                    <a:pt x="296257" y="205731"/>
                  </a:lnTo>
                  <a:lnTo>
                    <a:pt x="336673" y="187066"/>
                  </a:lnTo>
                  <a:lnTo>
                    <a:pt x="397951" y="160462"/>
                  </a:lnTo>
                  <a:lnTo>
                    <a:pt x="458699" y="134139"/>
                  </a:lnTo>
                  <a:lnTo>
                    <a:pt x="497522" y="116318"/>
                  </a:lnTo>
                  <a:lnTo>
                    <a:pt x="512909" y="106540"/>
                  </a:lnTo>
                  <a:lnTo>
                    <a:pt x="517808" y="98366"/>
                  </a:lnTo>
                  <a:lnTo>
                    <a:pt x="512478" y="91043"/>
                  </a:lnTo>
                  <a:lnTo>
                    <a:pt x="497177" y="83817"/>
                  </a:lnTo>
                  <a:lnTo>
                    <a:pt x="458956" y="69060"/>
                  </a:lnTo>
                  <a:lnTo>
                    <a:pt x="339117" y="21925"/>
                  </a:lnTo>
                  <a:lnTo>
                    <a:pt x="300711" y="7110"/>
                  </a:lnTo>
                  <a:lnTo>
                    <a:pt x="282726" y="1568"/>
                  </a:lnTo>
                  <a:lnTo>
                    <a:pt x="267319" y="0"/>
                  </a:lnTo>
                  <a:close/>
                </a:path>
              </a:pathLst>
            </a:custGeom>
            <a:solidFill>
              <a:srgbClr val="C52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22610" y="4726620"/>
              <a:ext cx="518159" cy="228600"/>
            </a:xfrm>
            <a:custGeom>
              <a:avLst/>
              <a:gdLst/>
              <a:ahLst/>
              <a:cxnLst/>
              <a:rect l="l" t="t" r="r" b="b"/>
              <a:pathLst>
                <a:path w="518159" h="228600">
                  <a:moveTo>
                    <a:pt x="267318" y="0"/>
                  </a:moveTo>
                  <a:lnTo>
                    <a:pt x="251014" y="2471"/>
                  </a:lnTo>
                  <a:lnTo>
                    <a:pt x="230347" y="9047"/>
                  </a:lnTo>
                  <a:lnTo>
                    <a:pt x="180844" y="22470"/>
                  </a:lnTo>
                  <a:lnTo>
                    <a:pt x="103164" y="40775"/>
                  </a:lnTo>
                  <a:lnTo>
                    <a:pt x="31488" y="56921"/>
                  </a:lnTo>
                  <a:lnTo>
                    <a:pt x="0" y="63867"/>
                  </a:lnTo>
                  <a:lnTo>
                    <a:pt x="0" y="116368"/>
                  </a:lnTo>
                  <a:lnTo>
                    <a:pt x="60971" y="151158"/>
                  </a:lnTo>
                  <a:lnTo>
                    <a:pt x="124117" y="177541"/>
                  </a:lnTo>
                  <a:lnTo>
                    <a:pt x="186633" y="203621"/>
                  </a:lnTo>
                  <a:lnTo>
                    <a:pt x="224788" y="220139"/>
                  </a:lnTo>
                  <a:lnTo>
                    <a:pt x="241824" y="226589"/>
                  </a:lnTo>
                  <a:lnTo>
                    <a:pt x="258123" y="228329"/>
                  </a:lnTo>
                  <a:lnTo>
                    <a:pt x="275623" y="224917"/>
                  </a:lnTo>
                  <a:lnTo>
                    <a:pt x="296262" y="215914"/>
                  </a:lnTo>
                  <a:lnTo>
                    <a:pt x="336687" y="197243"/>
                  </a:lnTo>
                  <a:lnTo>
                    <a:pt x="397969" y="170632"/>
                  </a:lnTo>
                  <a:lnTo>
                    <a:pt x="458714" y="144304"/>
                  </a:lnTo>
                  <a:lnTo>
                    <a:pt x="497527" y="126480"/>
                  </a:lnTo>
                  <a:lnTo>
                    <a:pt x="517813" y="108247"/>
                  </a:lnTo>
                  <a:lnTo>
                    <a:pt x="517813" y="56491"/>
                  </a:lnTo>
                  <a:lnTo>
                    <a:pt x="476370" y="46014"/>
                  </a:lnTo>
                  <a:lnTo>
                    <a:pt x="342352" y="17663"/>
                  </a:lnTo>
                  <a:lnTo>
                    <a:pt x="300716" y="7107"/>
                  </a:lnTo>
                  <a:lnTo>
                    <a:pt x="282728" y="1567"/>
                  </a:lnTo>
                  <a:lnTo>
                    <a:pt x="267318" y="0"/>
                  </a:lnTo>
                  <a:close/>
                </a:path>
              </a:pathLst>
            </a:custGeom>
            <a:solidFill>
              <a:srgbClr val="91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22616" y="4684605"/>
              <a:ext cx="518159" cy="218440"/>
            </a:xfrm>
            <a:custGeom>
              <a:avLst/>
              <a:gdLst/>
              <a:ahLst/>
              <a:cxnLst/>
              <a:rect l="l" t="t" r="r" b="b"/>
              <a:pathLst>
                <a:path w="518159" h="218439">
                  <a:moveTo>
                    <a:pt x="267318" y="0"/>
                  </a:moveTo>
                  <a:lnTo>
                    <a:pt x="187734" y="25176"/>
                  </a:lnTo>
                  <a:lnTo>
                    <a:pt x="123203" y="50244"/>
                  </a:lnTo>
                  <a:lnTo>
                    <a:pt x="59622" y="75138"/>
                  </a:lnTo>
                  <a:lnTo>
                    <a:pt x="19866" y="90750"/>
                  </a:lnTo>
                  <a:lnTo>
                    <a:pt x="0" y="106193"/>
                  </a:lnTo>
                  <a:lnTo>
                    <a:pt x="5395" y="114366"/>
                  </a:lnTo>
                  <a:lnTo>
                    <a:pt x="20928" y="123545"/>
                  </a:lnTo>
                  <a:lnTo>
                    <a:pt x="60970" y="140978"/>
                  </a:lnTo>
                  <a:lnTo>
                    <a:pt x="124114" y="167366"/>
                  </a:lnTo>
                  <a:lnTo>
                    <a:pt x="186628" y="193448"/>
                  </a:lnTo>
                  <a:lnTo>
                    <a:pt x="224782" y="209966"/>
                  </a:lnTo>
                  <a:lnTo>
                    <a:pt x="241818" y="216411"/>
                  </a:lnTo>
                  <a:lnTo>
                    <a:pt x="258117" y="218150"/>
                  </a:lnTo>
                  <a:lnTo>
                    <a:pt x="275617" y="214736"/>
                  </a:lnTo>
                  <a:lnTo>
                    <a:pt x="296256" y="205724"/>
                  </a:lnTo>
                  <a:lnTo>
                    <a:pt x="336672" y="187065"/>
                  </a:lnTo>
                  <a:lnTo>
                    <a:pt x="397950" y="160463"/>
                  </a:lnTo>
                  <a:lnTo>
                    <a:pt x="458698" y="134138"/>
                  </a:lnTo>
                  <a:lnTo>
                    <a:pt x="497521" y="116307"/>
                  </a:lnTo>
                  <a:lnTo>
                    <a:pt x="512908" y="106530"/>
                  </a:lnTo>
                  <a:lnTo>
                    <a:pt x="517807" y="98357"/>
                  </a:lnTo>
                  <a:lnTo>
                    <a:pt x="512477" y="91039"/>
                  </a:lnTo>
                  <a:lnTo>
                    <a:pt x="497176" y="83823"/>
                  </a:lnTo>
                  <a:lnTo>
                    <a:pt x="458955" y="69067"/>
                  </a:lnTo>
                  <a:lnTo>
                    <a:pt x="339116" y="21931"/>
                  </a:lnTo>
                  <a:lnTo>
                    <a:pt x="300710" y="7116"/>
                  </a:lnTo>
                  <a:lnTo>
                    <a:pt x="282725" y="1572"/>
                  </a:lnTo>
                  <a:lnTo>
                    <a:pt x="267318" y="0"/>
                  </a:lnTo>
                  <a:close/>
                </a:path>
              </a:pathLst>
            </a:custGeom>
            <a:solidFill>
              <a:srgbClr val="C52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08824" y="4711894"/>
              <a:ext cx="359055" cy="15464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82584" y="4620767"/>
              <a:ext cx="541020" cy="54101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7317105" y="5257546"/>
            <a:ext cx="2849245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emibold"/>
                <a:cs typeface="Segoe UI Semibold"/>
              </a:rPr>
              <a:t>Additional</a:t>
            </a:r>
            <a:r>
              <a:rPr sz="1800" spc="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3P</a:t>
            </a:r>
            <a:r>
              <a:rPr sz="1800" spc="-1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Data</a:t>
            </a:r>
            <a:r>
              <a:rPr sz="1800" spc="-25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 Semibold"/>
                <a:cs typeface="Segoe UI Semibold"/>
              </a:rPr>
              <a:t>Sources</a:t>
            </a:r>
            <a:endParaRPr sz="1800">
              <a:latin typeface="Segoe UI Semibold"/>
              <a:cs typeface="Segoe UI Semibold"/>
            </a:endParaRPr>
          </a:p>
          <a:p>
            <a:pPr marL="42545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Segoe UI Semibold"/>
                <a:cs typeface="Segoe UI Semibold"/>
              </a:rPr>
              <a:t>(files,</a:t>
            </a:r>
            <a:r>
              <a:rPr sz="1400" spc="-5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databases,</a:t>
            </a:r>
            <a:r>
              <a:rPr sz="1400" spc="-5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storage</a:t>
            </a:r>
            <a:r>
              <a:rPr sz="1400" spc="-5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data</a:t>
            </a:r>
            <a:r>
              <a:rPr sz="1400" spc="-50" dirty="0">
                <a:latin typeface="Segoe UI Semibold"/>
                <a:cs typeface="Segoe UI Semibold"/>
              </a:rPr>
              <a:t> </a:t>
            </a:r>
            <a:r>
              <a:rPr sz="1400" spc="-10" dirty="0">
                <a:latin typeface="Segoe UI Semibold"/>
                <a:cs typeface="Segoe UI Semibold"/>
              </a:rPr>
              <a:t>etc.)</a:t>
            </a:r>
            <a:endParaRPr sz="1400">
              <a:latin typeface="Segoe UI Semibold"/>
              <a:cs typeface="Segoe UI Semibold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77595" y="795527"/>
            <a:ext cx="4158615" cy="802640"/>
            <a:chOff x="577595" y="795527"/>
            <a:chExt cx="4158615" cy="802640"/>
          </a:xfrm>
        </p:grpSpPr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1979" y="819886"/>
              <a:ext cx="4134230" cy="7311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4315" y="836663"/>
              <a:ext cx="3331083" cy="76150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7595" y="795527"/>
              <a:ext cx="4012691" cy="609600"/>
            </a:xfrm>
            <a:prstGeom prst="rect">
              <a:avLst/>
            </a:prstGeom>
          </p:spPr>
        </p:pic>
      </p:grp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1150416" y="884046"/>
            <a:ext cx="2868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Recently</a:t>
            </a:r>
            <a:r>
              <a:rPr sz="2400" spc="-90" dirty="0"/>
              <a:t> </a:t>
            </a:r>
            <a:r>
              <a:rPr sz="2400" spc="-10" dirty="0"/>
              <a:t>Announced</a:t>
            </a:r>
            <a:endParaRPr sz="2400"/>
          </a:p>
        </p:txBody>
      </p:sp>
      <p:sp>
        <p:nvSpPr>
          <p:cNvPr id="47" name="object 47"/>
          <p:cNvSpPr txBox="1"/>
          <p:nvPr/>
        </p:nvSpPr>
        <p:spPr>
          <a:xfrm>
            <a:off x="661822" y="1591513"/>
            <a:ext cx="5730875" cy="14744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marR="5080">
              <a:lnSpc>
                <a:spcPts val="5400"/>
              </a:lnSpc>
              <a:spcBef>
                <a:spcPts val="785"/>
              </a:spcBef>
            </a:pPr>
            <a:r>
              <a:rPr sz="5000" spc="-140" dirty="0">
                <a:latin typeface="Segoe UI"/>
                <a:cs typeface="Segoe UI"/>
              </a:rPr>
              <a:t>Azure</a:t>
            </a:r>
            <a:r>
              <a:rPr sz="5000" spc="-295" dirty="0">
                <a:latin typeface="Segoe UI"/>
                <a:cs typeface="Segoe UI"/>
              </a:rPr>
              <a:t> </a:t>
            </a:r>
            <a:r>
              <a:rPr sz="5000" spc="-140" dirty="0">
                <a:latin typeface="Segoe UI"/>
                <a:cs typeface="Segoe UI"/>
              </a:rPr>
              <a:t>OpenAI</a:t>
            </a:r>
            <a:r>
              <a:rPr sz="5000" spc="-250" dirty="0">
                <a:latin typeface="Segoe UI"/>
                <a:cs typeface="Segoe UI"/>
              </a:rPr>
              <a:t> </a:t>
            </a:r>
            <a:r>
              <a:rPr sz="5000" spc="-105" dirty="0">
                <a:latin typeface="Segoe UI"/>
                <a:cs typeface="Segoe UI"/>
              </a:rPr>
              <a:t>Service </a:t>
            </a:r>
            <a:r>
              <a:rPr sz="5000" spc="-80" dirty="0">
                <a:latin typeface="Segoe UI"/>
                <a:cs typeface="Segoe UI"/>
              </a:rPr>
              <a:t>on</a:t>
            </a:r>
            <a:r>
              <a:rPr sz="5000" spc="-290" dirty="0">
                <a:latin typeface="Segoe UI"/>
                <a:cs typeface="Segoe UI"/>
              </a:rPr>
              <a:t> </a:t>
            </a:r>
            <a:r>
              <a:rPr sz="5000" spc="-130" dirty="0">
                <a:latin typeface="Segoe UI"/>
                <a:cs typeface="Segoe UI"/>
              </a:rPr>
              <a:t>your</a:t>
            </a:r>
            <a:r>
              <a:rPr sz="5000" spc="-270" dirty="0">
                <a:latin typeface="Segoe UI"/>
                <a:cs typeface="Segoe UI"/>
              </a:rPr>
              <a:t> </a:t>
            </a:r>
            <a:r>
              <a:rPr sz="5000" spc="-20" dirty="0">
                <a:latin typeface="Segoe UI"/>
                <a:cs typeface="Segoe UI"/>
              </a:rPr>
              <a:t>data</a:t>
            </a:r>
            <a:endParaRPr sz="500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50416" y="5889326"/>
            <a:ext cx="9427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10" dirty="0">
                <a:solidFill>
                  <a:srgbClr val="0563C1"/>
                </a:solidFill>
                <a:uFill>
                  <a:solidFill>
                    <a:srgbClr val="50E6FF"/>
                  </a:solidFill>
                </a:uFill>
                <a:latin typeface="Segoe UI"/>
                <a:cs typeface="Segoe UI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https://learn.microsoft.com/en-us/azure/ai-</a:t>
            </a:r>
            <a:r>
              <a:rPr sz="2000" u="sng" dirty="0">
                <a:solidFill>
                  <a:srgbClr val="0563C1"/>
                </a:solidFill>
                <a:uFill>
                  <a:solidFill>
                    <a:srgbClr val="50E6FF"/>
                  </a:solidFill>
                </a:uFill>
                <a:latin typeface="Segoe UI"/>
                <a:cs typeface="Segoe UI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services/openai/concepts/use-</a:t>
            </a:r>
            <a:r>
              <a:rPr sz="2000" u="sng" spc="-10" dirty="0">
                <a:solidFill>
                  <a:srgbClr val="0563C1"/>
                </a:solidFill>
                <a:uFill>
                  <a:solidFill>
                    <a:srgbClr val="50E6FF"/>
                  </a:solidFill>
                </a:uFill>
                <a:latin typeface="Segoe UI"/>
                <a:cs typeface="Segoe UI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your-</a:t>
            </a:r>
            <a:r>
              <a:rPr sz="2000" u="sng" spc="-20" dirty="0">
                <a:uFill>
                  <a:solidFill>
                    <a:srgbClr val="50E6FF"/>
                  </a:solidFill>
                </a:uFill>
                <a:latin typeface="Segoe UI"/>
                <a:cs typeface="Segoe UI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sz="20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155" y="389509"/>
            <a:ext cx="2063140" cy="4460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6983" y="-138183"/>
            <a:ext cx="215836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LangChain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6284" y="389509"/>
            <a:ext cx="3194558" cy="3437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99961" y="258317"/>
            <a:ext cx="3166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>
                <a:latin typeface="Segoe UI Semibold"/>
                <a:cs typeface="Segoe UI Semibold"/>
              </a:rPr>
              <a:t>Semantic</a:t>
            </a:r>
            <a:r>
              <a:rPr sz="3600" spc="-210" dirty="0">
                <a:latin typeface="Segoe UI Semibold"/>
                <a:cs typeface="Segoe UI Semibold"/>
              </a:rPr>
              <a:t> </a:t>
            </a:r>
            <a:r>
              <a:rPr sz="3600" spc="-40" dirty="0">
                <a:latin typeface="Segoe UI Semibold"/>
                <a:cs typeface="Segoe UI Semibold"/>
              </a:rPr>
              <a:t>Kerne</a:t>
            </a:r>
            <a:endParaRPr sz="3600">
              <a:latin typeface="Segoe UI Semibold"/>
              <a:cs typeface="Segoe UI Semibold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8895" y="1757172"/>
            <a:ext cx="2930652" cy="37414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91402" y="6181750"/>
            <a:ext cx="4639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uFill>
                  <a:solidFill>
                    <a:srgbClr val="8DC7E8"/>
                  </a:solidFill>
                </a:uFill>
                <a:latin typeface="Segoe UI"/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https://github.com/microsoft/semantic-kernel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8423" y="6181750"/>
            <a:ext cx="429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uFill>
                  <a:solidFill>
                    <a:srgbClr val="8DC7E8"/>
                  </a:solidFill>
                </a:uFill>
                <a:latin typeface="Segoe UI"/>
                <a:cs typeface="Segoe U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https://github.com/langchain-ai/langchain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1125" y="1037378"/>
            <a:ext cx="4935220" cy="4942840"/>
            <a:chOff x="531125" y="1037378"/>
            <a:chExt cx="4935220" cy="4942840"/>
          </a:xfrm>
        </p:grpSpPr>
        <p:sp>
          <p:nvSpPr>
            <p:cNvPr id="10" name="object 10"/>
            <p:cNvSpPr/>
            <p:nvPr/>
          </p:nvSpPr>
          <p:spPr>
            <a:xfrm>
              <a:off x="1310604" y="1601940"/>
              <a:ext cx="3532504" cy="3691890"/>
            </a:xfrm>
            <a:custGeom>
              <a:avLst/>
              <a:gdLst/>
              <a:ahLst/>
              <a:cxnLst/>
              <a:rect l="l" t="t" r="r" b="b"/>
              <a:pathLst>
                <a:path w="3532504" h="3691890">
                  <a:moveTo>
                    <a:pt x="633015" y="954441"/>
                  </a:moveTo>
                  <a:lnTo>
                    <a:pt x="1149861" y="954441"/>
                  </a:lnTo>
                  <a:lnTo>
                    <a:pt x="1198616" y="956630"/>
                  </a:lnTo>
                  <a:lnTo>
                    <a:pt x="1246145" y="963073"/>
                  </a:lnTo>
                  <a:lnTo>
                    <a:pt x="1292259" y="973579"/>
                  </a:lnTo>
                  <a:lnTo>
                    <a:pt x="1336768" y="987959"/>
                  </a:lnTo>
                  <a:lnTo>
                    <a:pt x="1379483" y="1006025"/>
                  </a:lnTo>
                  <a:lnTo>
                    <a:pt x="1420215" y="1027588"/>
                  </a:lnTo>
                  <a:lnTo>
                    <a:pt x="1458775" y="1052457"/>
                  </a:lnTo>
                  <a:lnTo>
                    <a:pt x="1494974" y="1080445"/>
                  </a:lnTo>
                  <a:lnTo>
                    <a:pt x="1528624" y="1111361"/>
                  </a:lnTo>
                  <a:lnTo>
                    <a:pt x="1559533" y="1145018"/>
                  </a:lnTo>
                  <a:lnTo>
                    <a:pt x="1587515" y="1181224"/>
                  </a:lnTo>
                  <a:lnTo>
                    <a:pt x="1612379" y="1219793"/>
                  </a:lnTo>
                  <a:lnTo>
                    <a:pt x="1633937" y="1260534"/>
                  </a:lnTo>
                  <a:lnTo>
                    <a:pt x="1651999" y="1303258"/>
                  </a:lnTo>
                  <a:lnTo>
                    <a:pt x="1666377" y="1347776"/>
                  </a:lnTo>
                  <a:lnTo>
                    <a:pt x="1676880" y="1393900"/>
                  </a:lnTo>
                  <a:lnTo>
                    <a:pt x="1683321" y="1441439"/>
                  </a:lnTo>
                  <a:lnTo>
                    <a:pt x="1685510" y="1490205"/>
                  </a:lnTo>
                  <a:lnTo>
                    <a:pt x="1685510" y="1501869"/>
                  </a:lnTo>
                </a:path>
                <a:path w="3532504" h="3691890">
                  <a:moveTo>
                    <a:pt x="1682163" y="3691470"/>
                  </a:moveTo>
                  <a:lnTo>
                    <a:pt x="1682163" y="0"/>
                  </a:lnTo>
                </a:path>
                <a:path w="3532504" h="3691890">
                  <a:moveTo>
                    <a:pt x="1729422" y="1839847"/>
                  </a:moveTo>
                  <a:lnTo>
                    <a:pt x="3532441" y="1839847"/>
                  </a:lnTo>
                </a:path>
                <a:path w="3532504" h="3691890">
                  <a:moveTo>
                    <a:pt x="0" y="1839847"/>
                  </a:moveTo>
                  <a:lnTo>
                    <a:pt x="1648461" y="1839847"/>
                  </a:lnTo>
                </a:path>
                <a:path w="3532504" h="3691890">
                  <a:moveTo>
                    <a:pt x="2730976" y="954441"/>
                  </a:moveTo>
                  <a:lnTo>
                    <a:pt x="2214130" y="954441"/>
                  </a:lnTo>
                  <a:lnTo>
                    <a:pt x="2165374" y="956630"/>
                  </a:lnTo>
                  <a:lnTo>
                    <a:pt x="2117845" y="963073"/>
                  </a:lnTo>
                  <a:lnTo>
                    <a:pt x="2071731" y="973579"/>
                  </a:lnTo>
                  <a:lnTo>
                    <a:pt x="2027223" y="987959"/>
                  </a:lnTo>
                  <a:lnTo>
                    <a:pt x="1984507" y="1006025"/>
                  </a:lnTo>
                  <a:lnTo>
                    <a:pt x="1943775" y="1027588"/>
                  </a:lnTo>
                  <a:lnTo>
                    <a:pt x="1905215" y="1052457"/>
                  </a:lnTo>
                  <a:lnTo>
                    <a:pt x="1869016" y="1080445"/>
                  </a:lnTo>
                  <a:lnTo>
                    <a:pt x="1835367" y="1111361"/>
                  </a:lnTo>
                  <a:lnTo>
                    <a:pt x="1804457" y="1145018"/>
                  </a:lnTo>
                  <a:lnTo>
                    <a:pt x="1776475" y="1181224"/>
                  </a:lnTo>
                  <a:lnTo>
                    <a:pt x="1751611" y="1219793"/>
                  </a:lnTo>
                  <a:lnTo>
                    <a:pt x="1730053" y="1260534"/>
                  </a:lnTo>
                  <a:lnTo>
                    <a:pt x="1711991" y="1303258"/>
                  </a:lnTo>
                  <a:lnTo>
                    <a:pt x="1697614" y="1347776"/>
                  </a:lnTo>
                  <a:lnTo>
                    <a:pt x="1687110" y="1393900"/>
                  </a:lnTo>
                  <a:lnTo>
                    <a:pt x="1680669" y="1441439"/>
                  </a:lnTo>
                  <a:lnTo>
                    <a:pt x="1678480" y="1490205"/>
                  </a:lnTo>
                  <a:lnTo>
                    <a:pt x="1678480" y="1501869"/>
                  </a:lnTo>
                </a:path>
                <a:path w="3532504" h="3691890">
                  <a:moveTo>
                    <a:pt x="625984" y="2729997"/>
                  </a:moveTo>
                  <a:lnTo>
                    <a:pt x="1142830" y="2729997"/>
                  </a:lnTo>
                  <a:lnTo>
                    <a:pt x="1191586" y="2727807"/>
                  </a:lnTo>
                  <a:lnTo>
                    <a:pt x="1239115" y="2721365"/>
                  </a:lnTo>
                  <a:lnTo>
                    <a:pt x="1285228" y="2710859"/>
                  </a:lnTo>
                  <a:lnTo>
                    <a:pt x="1329737" y="2696478"/>
                  </a:lnTo>
                  <a:lnTo>
                    <a:pt x="1372452" y="2678412"/>
                  </a:lnTo>
                  <a:lnTo>
                    <a:pt x="1413185" y="2656850"/>
                  </a:lnTo>
                  <a:lnTo>
                    <a:pt x="1451745" y="2631980"/>
                  </a:lnTo>
                  <a:lnTo>
                    <a:pt x="1487944" y="2603993"/>
                  </a:lnTo>
                  <a:lnTo>
                    <a:pt x="1521593" y="2573076"/>
                  </a:lnTo>
                  <a:lnTo>
                    <a:pt x="1552503" y="2539420"/>
                  </a:lnTo>
                  <a:lnTo>
                    <a:pt x="1580485" y="2503213"/>
                  </a:lnTo>
                  <a:lnTo>
                    <a:pt x="1605349" y="2464645"/>
                  </a:lnTo>
                  <a:lnTo>
                    <a:pt x="1626907" y="2423904"/>
                  </a:lnTo>
                  <a:lnTo>
                    <a:pt x="1644969" y="2381179"/>
                  </a:lnTo>
                  <a:lnTo>
                    <a:pt x="1659346" y="2336661"/>
                  </a:lnTo>
                  <a:lnTo>
                    <a:pt x="1669850" y="2290538"/>
                  </a:lnTo>
                  <a:lnTo>
                    <a:pt x="1676291" y="2242999"/>
                  </a:lnTo>
                  <a:lnTo>
                    <a:pt x="1678480" y="2194233"/>
                  </a:lnTo>
                  <a:lnTo>
                    <a:pt x="1678480" y="2182624"/>
                  </a:lnTo>
                </a:path>
                <a:path w="3532504" h="3691890">
                  <a:moveTo>
                    <a:pt x="2737950" y="2729997"/>
                  </a:moveTo>
                  <a:lnTo>
                    <a:pt x="2221160" y="2729997"/>
                  </a:lnTo>
                  <a:lnTo>
                    <a:pt x="2172404" y="2727807"/>
                  </a:lnTo>
                  <a:lnTo>
                    <a:pt x="2124875" y="2721365"/>
                  </a:lnTo>
                  <a:lnTo>
                    <a:pt x="2078762" y="2710859"/>
                  </a:lnTo>
                  <a:lnTo>
                    <a:pt x="2034253" y="2696478"/>
                  </a:lnTo>
                  <a:lnTo>
                    <a:pt x="1991538" y="2678412"/>
                  </a:lnTo>
                  <a:lnTo>
                    <a:pt x="1950806" y="2656850"/>
                  </a:lnTo>
                  <a:lnTo>
                    <a:pt x="1912245" y="2631980"/>
                  </a:lnTo>
                  <a:lnTo>
                    <a:pt x="1876046" y="2603993"/>
                  </a:lnTo>
                  <a:lnTo>
                    <a:pt x="1842397" y="2573076"/>
                  </a:lnTo>
                  <a:lnTo>
                    <a:pt x="1811487" y="2539420"/>
                  </a:lnTo>
                  <a:lnTo>
                    <a:pt x="1783506" y="2503213"/>
                  </a:lnTo>
                  <a:lnTo>
                    <a:pt x="1758641" y="2464645"/>
                  </a:lnTo>
                  <a:lnTo>
                    <a:pt x="1737084" y="2423904"/>
                  </a:lnTo>
                  <a:lnTo>
                    <a:pt x="1719022" y="2381179"/>
                  </a:lnTo>
                  <a:lnTo>
                    <a:pt x="1704644" y="2336661"/>
                  </a:lnTo>
                  <a:lnTo>
                    <a:pt x="1694140" y="2290538"/>
                  </a:lnTo>
                  <a:lnTo>
                    <a:pt x="1687699" y="2242999"/>
                  </a:lnTo>
                  <a:lnTo>
                    <a:pt x="1685510" y="2194233"/>
                  </a:lnTo>
                  <a:lnTo>
                    <a:pt x="1685510" y="2182624"/>
                  </a:lnTo>
                </a:path>
              </a:pathLst>
            </a:custGeom>
            <a:ln w="7812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79113" y="4754221"/>
              <a:ext cx="1218602" cy="12255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54570" y="5169849"/>
              <a:ext cx="474775" cy="19488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3196" y="3830049"/>
              <a:ext cx="1218602" cy="12188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80730" y="4244484"/>
              <a:ext cx="305655" cy="1948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47191" y="2892461"/>
              <a:ext cx="1218602" cy="122556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672196" y="3378277"/>
              <a:ext cx="382270" cy="93980"/>
            </a:xfrm>
            <a:custGeom>
              <a:avLst/>
              <a:gdLst/>
              <a:ahLst/>
              <a:cxnLst/>
              <a:rect l="l" t="t" r="r" b="b"/>
              <a:pathLst>
                <a:path w="382270" h="93979">
                  <a:moveTo>
                    <a:pt x="30409" y="0"/>
                  </a:moveTo>
                  <a:lnTo>
                    <a:pt x="0" y="0"/>
                  </a:lnTo>
                  <a:lnTo>
                    <a:pt x="0" y="73053"/>
                  </a:lnTo>
                  <a:lnTo>
                    <a:pt x="8871" y="73053"/>
                  </a:lnTo>
                  <a:lnTo>
                    <a:pt x="8871" y="46321"/>
                  </a:lnTo>
                  <a:lnTo>
                    <a:pt x="7141" y="46321"/>
                  </a:lnTo>
                  <a:lnTo>
                    <a:pt x="7141" y="38508"/>
                  </a:lnTo>
                  <a:lnTo>
                    <a:pt x="8871" y="38508"/>
                  </a:lnTo>
                  <a:lnTo>
                    <a:pt x="8871" y="7813"/>
                  </a:lnTo>
                  <a:lnTo>
                    <a:pt x="45029" y="7813"/>
                  </a:lnTo>
                  <a:lnTo>
                    <a:pt x="42238" y="4966"/>
                  </a:lnTo>
                  <a:lnTo>
                    <a:pt x="38723" y="3069"/>
                  </a:lnTo>
                  <a:lnTo>
                    <a:pt x="35096" y="1004"/>
                  </a:lnTo>
                  <a:lnTo>
                    <a:pt x="30409" y="0"/>
                  </a:lnTo>
                  <a:close/>
                </a:path>
                <a:path w="382270" h="93979">
                  <a:moveTo>
                    <a:pt x="8871" y="38508"/>
                  </a:moveTo>
                  <a:lnTo>
                    <a:pt x="7141" y="38508"/>
                  </a:lnTo>
                  <a:lnTo>
                    <a:pt x="7141" y="46321"/>
                  </a:lnTo>
                  <a:lnTo>
                    <a:pt x="8871" y="46321"/>
                  </a:lnTo>
                  <a:lnTo>
                    <a:pt x="8871" y="38508"/>
                  </a:lnTo>
                  <a:close/>
                </a:path>
                <a:path w="382270" h="93979">
                  <a:moveTo>
                    <a:pt x="45029" y="7813"/>
                  </a:moveTo>
                  <a:lnTo>
                    <a:pt x="28400" y="7813"/>
                  </a:lnTo>
                  <a:lnTo>
                    <a:pt x="31581" y="8482"/>
                  </a:lnTo>
                  <a:lnTo>
                    <a:pt x="33980" y="9822"/>
                  </a:lnTo>
                  <a:lnTo>
                    <a:pt x="40787" y="26006"/>
                  </a:lnTo>
                  <a:lnTo>
                    <a:pt x="40285" y="28629"/>
                  </a:lnTo>
                  <a:lnTo>
                    <a:pt x="39169" y="30973"/>
                  </a:lnTo>
                  <a:lnTo>
                    <a:pt x="38109" y="33262"/>
                  </a:lnTo>
                  <a:lnTo>
                    <a:pt x="36379" y="35103"/>
                  </a:lnTo>
                  <a:lnTo>
                    <a:pt x="33980" y="36443"/>
                  </a:lnTo>
                  <a:lnTo>
                    <a:pt x="31636" y="37838"/>
                  </a:lnTo>
                  <a:lnTo>
                    <a:pt x="28456" y="38508"/>
                  </a:lnTo>
                  <a:lnTo>
                    <a:pt x="8871" y="38508"/>
                  </a:lnTo>
                  <a:lnTo>
                    <a:pt x="8871" y="46321"/>
                  </a:lnTo>
                  <a:lnTo>
                    <a:pt x="48654" y="31308"/>
                  </a:lnTo>
                  <a:lnTo>
                    <a:pt x="49491" y="27402"/>
                  </a:lnTo>
                  <a:lnTo>
                    <a:pt x="49491" y="18807"/>
                  </a:lnTo>
                  <a:lnTo>
                    <a:pt x="48654" y="14900"/>
                  </a:lnTo>
                  <a:lnTo>
                    <a:pt x="45083" y="7869"/>
                  </a:lnTo>
                  <a:close/>
                </a:path>
                <a:path w="382270" h="93979">
                  <a:moveTo>
                    <a:pt x="70750" y="18249"/>
                  </a:moveTo>
                  <a:lnTo>
                    <a:pt x="62604" y="18249"/>
                  </a:lnTo>
                  <a:lnTo>
                    <a:pt x="62604" y="73053"/>
                  </a:lnTo>
                  <a:lnTo>
                    <a:pt x="71029" y="73053"/>
                  </a:lnTo>
                  <a:lnTo>
                    <a:pt x="70973" y="33652"/>
                  </a:lnTo>
                  <a:lnTo>
                    <a:pt x="73540" y="29299"/>
                  </a:lnTo>
                  <a:lnTo>
                    <a:pt x="77724" y="27178"/>
                  </a:lnTo>
                  <a:lnTo>
                    <a:pt x="78997" y="26509"/>
                  </a:lnTo>
                  <a:lnTo>
                    <a:pt x="70750" y="26509"/>
                  </a:lnTo>
                  <a:lnTo>
                    <a:pt x="70750" y="18249"/>
                  </a:lnTo>
                  <a:close/>
                </a:path>
                <a:path w="382270" h="93979">
                  <a:moveTo>
                    <a:pt x="86206" y="17356"/>
                  </a:moveTo>
                  <a:lnTo>
                    <a:pt x="71308" y="26509"/>
                  </a:lnTo>
                  <a:lnTo>
                    <a:pt x="78997" y="26509"/>
                  </a:lnTo>
                  <a:lnTo>
                    <a:pt x="79845" y="26062"/>
                  </a:lnTo>
                  <a:lnTo>
                    <a:pt x="82244" y="25504"/>
                  </a:lnTo>
                  <a:lnTo>
                    <a:pt x="90000" y="25504"/>
                  </a:lnTo>
                  <a:lnTo>
                    <a:pt x="90000" y="17523"/>
                  </a:lnTo>
                  <a:lnTo>
                    <a:pt x="89553" y="17468"/>
                  </a:lnTo>
                  <a:lnTo>
                    <a:pt x="88828" y="17468"/>
                  </a:lnTo>
                  <a:lnTo>
                    <a:pt x="87935" y="17412"/>
                  </a:lnTo>
                  <a:lnTo>
                    <a:pt x="86987" y="17412"/>
                  </a:lnTo>
                  <a:lnTo>
                    <a:pt x="86206" y="17356"/>
                  </a:lnTo>
                  <a:close/>
                </a:path>
                <a:path w="382270" h="93979">
                  <a:moveTo>
                    <a:pt x="90000" y="25504"/>
                  </a:moveTo>
                  <a:lnTo>
                    <a:pt x="85927" y="25504"/>
                  </a:lnTo>
                  <a:lnTo>
                    <a:pt x="86987" y="25616"/>
                  </a:lnTo>
                  <a:lnTo>
                    <a:pt x="88047" y="25783"/>
                  </a:lnTo>
                  <a:lnTo>
                    <a:pt x="88716" y="25839"/>
                  </a:lnTo>
                  <a:lnTo>
                    <a:pt x="90000" y="26062"/>
                  </a:lnTo>
                  <a:lnTo>
                    <a:pt x="90000" y="25504"/>
                  </a:lnTo>
                  <a:close/>
                </a:path>
                <a:path w="382270" h="93979">
                  <a:moveTo>
                    <a:pt x="125542" y="17523"/>
                  </a:moveTo>
                  <a:lnTo>
                    <a:pt x="95747" y="40238"/>
                  </a:lnTo>
                  <a:lnTo>
                    <a:pt x="95747" y="51567"/>
                  </a:lnTo>
                  <a:lnTo>
                    <a:pt x="96807" y="56534"/>
                  </a:lnTo>
                  <a:lnTo>
                    <a:pt x="98871" y="60775"/>
                  </a:lnTo>
                  <a:lnTo>
                    <a:pt x="100769" y="64793"/>
                  </a:lnTo>
                  <a:lnTo>
                    <a:pt x="125542" y="74169"/>
                  </a:lnTo>
                  <a:lnTo>
                    <a:pt x="129839" y="72997"/>
                  </a:lnTo>
                  <a:lnTo>
                    <a:pt x="133577" y="70653"/>
                  </a:lnTo>
                  <a:lnTo>
                    <a:pt x="137316" y="68254"/>
                  </a:lnTo>
                  <a:lnTo>
                    <a:pt x="138725" y="66635"/>
                  </a:lnTo>
                  <a:lnTo>
                    <a:pt x="116838" y="66635"/>
                  </a:lnTo>
                  <a:lnTo>
                    <a:pt x="113713" y="65631"/>
                  </a:lnTo>
                  <a:lnTo>
                    <a:pt x="108859" y="61780"/>
                  </a:lnTo>
                  <a:lnTo>
                    <a:pt x="107074" y="59268"/>
                  </a:lnTo>
                  <a:lnTo>
                    <a:pt x="104730" y="52962"/>
                  </a:lnTo>
                  <a:lnTo>
                    <a:pt x="104172" y="49558"/>
                  </a:lnTo>
                  <a:lnTo>
                    <a:pt x="104199" y="42247"/>
                  </a:lnTo>
                  <a:lnTo>
                    <a:pt x="116838" y="25113"/>
                  </a:lnTo>
                  <a:lnTo>
                    <a:pt x="138815" y="25113"/>
                  </a:lnTo>
                  <a:lnTo>
                    <a:pt x="137316" y="23383"/>
                  </a:lnTo>
                  <a:lnTo>
                    <a:pt x="129839" y="18695"/>
                  </a:lnTo>
                  <a:lnTo>
                    <a:pt x="125542" y="17523"/>
                  </a:lnTo>
                  <a:close/>
                </a:path>
                <a:path w="382270" h="93979">
                  <a:moveTo>
                    <a:pt x="138815" y="25113"/>
                  </a:moveTo>
                  <a:lnTo>
                    <a:pt x="124315" y="25113"/>
                  </a:lnTo>
                  <a:lnTo>
                    <a:pt x="127439" y="26062"/>
                  </a:lnTo>
                  <a:lnTo>
                    <a:pt x="132294" y="30025"/>
                  </a:lnTo>
                  <a:lnTo>
                    <a:pt x="134191" y="32703"/>
                  </a:lnTo>
                  <a:lnTo>
                    <a:pt x="135251" y="35661"/>
                  </a:lnTo>
                  <a:lnTo>
                    <a:pt x="136423" y="38842"/>
                  </a:lnTo>
                  <a:lnTo>
                    <a:pt x="136981" y="42247"/>
                  </a:lnTo>
                  <a:lnTo>
                    <a:pt x="136981" y="49558"/>
                  </a:lnTo>
                  <a:lnTo>
                    <a:pt x="136423" y="52962"/>
                  </a:lnTo>
                  <a:lnTo>
                    <a:pt x="134079" y="59268"/>
                  </a:lnTo>
                  <a:lnTo>
                    <a:pt x="132294" y="61780"/>
                  </a:lnTo>
                  <a:lnTo>
                    <a:pt x="127439" y="65631"/>
                  </a:lnTo>
                  <a:lnTo>
                    <a:pt x="124315" y="66635"/>
                  </a:lnTo>
                  <a:lnTo>
                    <a:pt x="138725" y="66635"/>
                  </a:lnTo>
                  <a:lnTo>
                    <a:pt x="140329" y="64793"/>
                  </a:lnTo>
                  <a:lnTo>
                    <a:pt x="144346" y="56534"/>
                  </a:lnTo>
                  <a:lnTo>
                    <a:pt x="145406" y="51567"/>
                  </a:lnTo>
                  <a:lnTo>
                    <a:pt x="145406" y="40238"/>
                  </a:lnTo>
                  <a:lnTo>
                    <a:pt x="144346" y="35215"/>
                  </a:lnTo>
                  <a:lnTo>
                    <a:pt x="140217" y="26732"/>
                  </a:lnTo>
                  <a:lnTo>
                    <a:pt x="138815" y="25113"/>
                  </a:lnTo>
                  <a:close/>
                </a:path>
                <a:path w="382270" h="93979">
                  <a:moveTo>
                    <a:pt x="166386" y="18249"/>
                  </a:moveTo>
                  <a:lnTo>
                    <a:pt x="158239" y="18249"/>
                  </a:lnTo>
                  <a:lnTo>
                    <a:pt x="158239" y="73053"/>
                  </a:lnTo>
                  <a:lnTo>
                    <a:pt x="166665" y="73053"/>
                  </a:lnTo>
                  <a:lnTo>
                    <a:pt x="166609" y="36331"/>
                  </a:lnTo>
                  <a:lnTo>
                    <a:pt x="167223" y="33875"/>
                  </a:lnTo>
                  <a:lnTo>
                    <a:pt x="168394" y="31699"/>
                  </a:lnTo>
                  <a:lnTo>
                    <a:pt x="169566" y="29634"/>
                  </a:lnTo>
                  <a:lnTo>
                    <a:pt x="171073" y="28016"/>
                  </a:lnTo>
                  <a:lnTo>
                    <a:pt x="173060" y="26788"/>
                  </a:lnTo>
                  <a:lnTo>
                    <a:pt x="166386" y="26788"/>
                  </a:lnTo>
                  <a:lnTo>
                    <a:pt x="166386" y="18249"/>
                  </a:lnTo>
                  <a:close/>
                </a:path>
                <a:path w="382270" h="93979">
                  <a:moveTo>
                    <a:pt x="195688" y="25113"/>
                  </a:moveTo>
                  <a:lnTo>
                    <a:pt x="182288" y="25113"/>
                  </a:lnTo>
                  <a:lnTo>
                    <a:pt x="184854" y="26062"/>
                  </a:lnTo>
                  <a:lnTo>
                    <a:pt x="186924" y="28016"/>
                  </a:lnTo>
                  <a:lnTo>
                    <a:pt x="188928" y="29857"/>
                  </a:lnTo>
                  <a:lnTo>
                    <a:pt x="189910" y="32313"/>
                  </a:lnTo>
                  <a:lnTo>
                    <a:pt x="189932" y="73053"/>
                  </a:lnTo>
                  <a:lnTo>
                    <a:pt x="198469" y="73053"/>
                  </a:lnTo>
                  <a:lnTo>
                    <a:pt x="198469" y="33820"/>
                  </a:lnTo>
                  <a:lnTo>
                    <a:pt x="199529" y="30862"/>
                  </a:lnTo>
                  <a:lnTo>
                    <a:pt x="203265" y="26788"/>
                  </a:lnTo>
                  <a:lnTo>
                    <a:pt x="196460" y="26788"/>
                  </a:lnTo>
                  <a:lnTo>
                    <a:pt x="195688" y="25113"/>
                  </a:lnTo>
                  <a:close/>
                </a:path>
                <a:path w="382270" h="93979">
                  <a:moveTo>
                    <a:pt x="228429" y="25002"/>
                  </a:moveTo>
                  <a:lnTo>
                    <a:pt x="213422" y="25002"/>
                  </a:lnTo>
                  <a:lnTo>
                    <a:pt x="216212" y="25951"/>
                  </a:lnTo>
                  <a:lnTo>
                    <a:pt x="218865" y="28016"/>
                  </a:lnTo>
                  <a:lnTo>
                    <a:pt x="220620" y="29411"/>
                  </a:lnTo>
                  <a:lnTo>
                    <a:pt x="221736" y="32313"/>
                  </a:lnTo>
                  <a:lnTo>
                    <a:pt x="221736" y="73053"/>
                  </a:lnTo>
                  <a:lnTo>
                    <a:pt x="230161" y="73053"/>
                  </a:lnTo>
                  <a:lnTo>
                    <a:pt x="230070" y="29634"/>
                  </a:lnTo>
                  <a:lnTo>
                    <a:pt x="228599" y="25169"/>
                  </a:lnTo>
                  <a:lnTo>
                    <a:pt x="228429" y="25002"/>
                  </a:lnTo>
                  <a:close/>
                </a:path>
                <a:path w="382270" h="93979">
                  <a:moveTo>
                    <a:pt x="185412" y="17523"/>
                  </a:moveTo>
                  <a:lnTo>
                    <a:pt x="178215" y="17523"/>
                  </a:lnTo>
                  <a:lnTo>
                    <a:pt x="175146" y="18361"/>
                  </a:lnTo>
                  <a:lnTo>
                    <a:pt x="172635" y="19979"/>
                  </a:lnTo>
                  <a:lnTo>
                    <a:pt x="170068" y="21597"/>
                  </a:lnTo>
                  <a:lnTo>
                    <a:pt x="168227" y="23886"/>
                  </a:lnTo>
                  <a:lnTo>
                    <a:pt x="167111" y="26788"/>
                  </a:lnTo>
                  <a:lnTo>
                    <a:pt x="173060" y="26788"/>
                  </a:lnTo>
                  <a:lnTo>
                    <a:pt x="174867" y="25672"/>
                  </a:lnTo>
                  <a:lnTo>
                    <a:pt x="176875" y="25113"/>
                  </a:lnTo>
                  <a:lnTo>
                    <a:pt x="195688" y="25113"/>
                  </a:lnTo>
                  <a:lnTo>
                    <a:pt x="195121" y="23886"/>
                  </a:lnTo>
                  <a:lnTo>
                    <a:pt x="193224" y="21597"/>
                  </a:lnTo>
                  <a:lnTo>
                    <a:pt x="188425" y="18361"/>
                  </a:lnTo>
                  <a:lnTo>
                    <a:pt x="185412" y="17523"/>
                  </a:lnTo>
                  <a:close/>
                </a:path>
                <a:path w="382270" h="93979">
                  <a:moveTo>
                    <a:pt x="218333" y="17523"/>
                  </a:moveTo>
                  <a:lnTo>
                    <a:pt x="197074" y="26788"/>
                  </a:lnTo>
                  <a:lnTo>
                    <a:pt x="203265" y="26788"/>
                  </a:lnTo>
                  <a:lnTo>
                    <a:pt x="203770" y="26230"/>
                  </a:lnTo>
                  <a:lnTo>
                    <a:pt x="206783" y="25113"/>
                  </a:lnTo>
                  <a:lnTo>
                    <a:pt x="210633" y="25113"/>
                  </a:lnTo>
                  <a:lnTo>
                    <a:pt x="213422" y="25002"/>
                  </a:lnTo>
                  <a:lnTo>
                    <a:pt x="228429" y="25002"/>
                  </a:lnTo>
                  <a:lnTo>
                    <a:pt x="222350" y="19030"/>
                  </a:lnTo>
                  <a:lnTo>
                    <a:pt x="218333" y="17523"/>
                  </a:lnTo>
                  <a:close/>
                </a:path>
                <a:path w="382270" h="93979">
                  <a:moveTo>
                    <a:pt x="253652" y="18249"/>
                  </a:moveTo>
                  <a:lnTo>
                    <a:pt x="245561" y="18249"/>
                  </a:lnTo>
                  <a:lnTo>
                    <a:pt x="245561" y="93591"/>
                  </a:lnTo>
                  <a:lnTo>
                    <a:pt x="253987" y="93591"/>
                  </a:lnTo>
                  <a:lnTo>
                    <a:pt x="253987" y="64626"/>
                  </a:lnTo>
                  <a:lnTo>
                    <a:pt x="261840" y="64626"/>
                  </a:lnTo>
                  <a:lnTo>
                    <a:pt x="258618" y="62170"/>
                  </a:lnTo>
                  <a:lnTo>
                    <a:pt x="256832" y="59715"/>
                  </a:lnTo>
                  <a:lnTo>
                    <a:pt x="255661" y="56590"/>
                  </a:lnTo>
                  <a:lnTo>
                    <a:pt x="254433" y="53408"/>
                  </a:lnTo>
                  <a:lnTo>
                    <a:pt x="253819" y="49781"/>
                  </a:lnTo>
                  <a:lnTo>
                    <a:pt x="253819" y="41521"/>
                  </a:lnTo>
                  <a:lnTo>
                    <a:pt x="254433" y="37949"/>
                  </a:lnTo>
                  <a:lnTo>
                    <a:pt x="256777" y="31810"/>
                  </a:lnTo>
                  <a:lnTo>
                    <a:pt x="258562" y="29411"/>
                  </a:lnTo>
                  <a:lnTo>
                    <a:pt x="261832" y="26955"/>
                  </a:lnTo>
                  <a:lnTo>
                    <a:pt x="253652" y="26955"/>
                  </a:lnTo>
                  <a:lnTo>
                    <a:pt x="253652" y="18249"/>
                  </a:lnTo>
                  <a:close/>
                </a:path>
                <a:path w="382270" h="93979">
                  <a:moveTo>
                    <a:pt x="261840" y="64626"/>
                  </a:moveTo>
                  <a:lnTo>
                    <a:pt x="254656" y="64626"/>
                  </a:lnTo>
                  <a:lnTo>
                    <a:pt x="255493" y="65910"/>
                  </a:lnTo>
                  <a:lnTo>
                    <a:pt x="256386" y="67193"/>
                  </a:lnTo>
                  <a:lnTo>
                    <a:pt x="258674" y="70040"/>
                  </a:lnTo>
                  <a:lnTo>
                    <a:pt x="260292" y="71435"/>
                  </a:lnTo>
                  <a:lnTo>
                    <a:pt x="262189" y="72439"/>
                  </a:lnTo>
                  <a:lnTo>
                    <a:pt x="264309" y="73611"/>
                  </a:lnTo>
                  <a:lnTo>
                    <a:pt x="267155" y="74169"/>
                  </a:lnTo>
                  <a:lnTo>
                    <a:pt x="275245" y="74169"/>
                  </a:lnTo>
                  <a:lnTo>
                    <a:pt x="279263" y="72997"/>
                  </a:lnTo>
                  <a:lnTo>
                    <a:pt x="286237" y="68365"/>
                  </a:lnTo>
                  <a:lnTo>
                    <a:pt x="287674" y="66635"/>
                  </a:lnTo>
                  <a:lnTo>
                    <a:pt x="266150" y="66635"/>
                  </a:lnTo>
                  <a:lnTo>
                    <a:pt x="263305" y="65742"/>
                  </a:lnTo>
                  <a:lnTo>
                    <a:pt x="261840" y="64626"/>
                  </a:lnTo>
                  <a:close/>
                </a:path>
                <a:path w="382270" h="93979">
                  <a:moveTo>
                    <a:pt x="287766" y="25113"/>
                  </a:moveTo>
                  <a:lnTo>
                    <a:pt x="273069" y="25113"/>
                  </a:lnTo>
                  <a:lnTo>
                    <a:pt x="276026" y="26006"/>
                  </a:lnTo>
                  <a:lnTo>
                    <a:pt x="280825" y="29746"/>
                  </a:lnTo>
                  <a:lnTo>
                    <a:pt x="282666" y="32313"/>
                  </a:lnTo>
                  <a:lnTo>
                    <a:pt x="284954" y="38563"/>
                  </a:lnTo>
                  <a:lnTo>
                    <a:pt x="285470" y="41521"/>
                  </a:lnTo>
                  <a:lnTo>
                    <a:pt x="285512" y="45651"/>
                  </a:lnTo>
                  <a:lnTo>
                    <a:pt x="285426" y="49781"/>
                  </a:lnTo>
                  <a:lnTo>
                    <a:pt x="273013" y="66635"/>
                  </a:lnTo>
                  <a:lnTo>
                    <a:pt x="287674" y="66635"/>
                  </a:lnTo>
                  <a:lnTo>
                    <a:pt x="288971" y="65073"/>
                  </a:lnTo>
                  <a:lnTo>
                    <a:pt x="292933" y="56590"/>
                  </a:lnTo>
                  <a:lnTo>
                    <a:pt x="293881" y="51567"/>
                  </a:lnTo>
                  <a:lnTo>
                    <a:pt x="293881" y="40014"/>
                  </a:lnTo>
                  <a:lnTo>
                    <a:pt x="292933" y="35047"/>
                  </a:lnTo>
                  <a:lnTo>
                    <a:pt x="290924" y="30806"/>
                  </a:lnTo>
                  <a:lnTo>
                    <a:pt x="288971" y="26564"/>
                  </a:lnTo>
                  <a:lnTo>
                    <a:pt x="287766" y="25113"/>
                  </a:lnTo>
                  <a:close/>
                </a:path>
                <a:path w="382270" h="93979">
                  <a:moveTo>
                    <a:pt x="275134" y="17523"/>
                  </a:moveTo>
                  <a:lnTo>
                    <a:pt x="254656" y="26955"/>
                  </a:lnTo>
                  <a:lnTo>
                    <a:pt x="261832" y="26955"/>
                  </a:lnTo>
                  <a:lnTo>
                    <a:pt x="263193" y="25951"/>
                  </a:lnTo>
                  <a:lnTo>
                    <a:pt x="266095" y="25113"/>
                  </a:lnTo>
                  <a:lnTo>
                    <a:pt x="287766" y="25113"/>
                  </a:lnTo>
                  <a:lnTo>
                    <a:pt x="286237" y="23272"/>
                  </a:lnTo>
                  <a:lnTo>
                    <a:pt x="279207" y="18695"/>
                  </a:lnTo>
                  <a:lnTo>
                    <a:pt x="275134" y="17523"/>
                  </a:lnTo>
                  <a:close/>
                </a:path>
                <a:path w="382270" h="93979">
                  <a:moveTo>
                    <a:pt x="318878" y="5134"/>
                  </a:moveTo>
                  <a:lnTo>
                    <a:pt x="310453" y="5134"/>
                  </a:lnTo>
                  <a:lnTo>
                    <a:pt x="310453" y="62784"/>
                  </a:lnTo>
                  <a:lnTo>
                    <a:pt x="311178" y="65463"/>
                  </a:lnTo>
                  <a:lnTo>
                    <a:pt x="312685" y="67528"/>
                  </a:lnTo>
                  <a:lnTo>
                    <a:pt x="314080" y="69593"/>
                  </a:lnTo>
                  <a:lnTo>
                    <a:pt x="316033" y="71211"/>
                  </a:lnTo>
                  <a:lnTo>
                    <a:pt x="320608" y="73221"/>
                  </a:lnTo>
                  <a:lnTo>
                    <a:pt x="322896" y="73723"/>
                  </a:lnTo>
                  <a:lnTo>
                    <a:pt x="325295" y="73723"/>
                  </a:lnTo>
                  <a:lnTo>
                    <a:pt x="326578" y="73779"/>
                  </a:lnTo>
                  <a:lnTo>
                    <a:pt x="327918" y="73667"/>
                  </a:lnTo>
                  <a:lnTo>
                    <a:pt x="329982" y="73221"/>
                  </a:lnTo>
                  <a:lnTo>
                    <a:pt x="330763" y="72997"/>
                  </a:lnTo>
                  <a:lnTo>
                    <a:pt x="331544" y="72718"/>
                  </a:lnTo>
                  <a:lnTo>
                    <a:pt x="329970" y="65631"/>
                  </a:lnTo>
                  <a:lnTo>
                    <a:pt x="324904" y="65631"/>
                  </a:lnTo>
                  <a:lnTo>
                    <a:pt x="323733" y="65407"/>
                  </a:lnTo>
                  <a:lnTo>
                    <a:pt x="318878" y="59715"/>
                  </a:lnTo>
                  <a:lnTo>
                    <a:pt x="318878" y="5134"/>
                  </a:lnTo>
                  <a:close/>
                </a:path>
                <a:path w="382270" h="93979">
                  <a:moveTo>
                    <a:pt x="329870" y="65184"/>
                  </a:moveTo>
                  <a:lnTo>
                    <a:pt x="327806" y="65575"/>
                  </a:lnTo>
                  <a:lnTo>
                    <a:pt x="327081" y="65631"/>
                  </a:lnTo>
                  <a:lnTo>
                    <a:pt x="329970" y="65631"/>
                  </a:lnTo>
                  <a:lnTo>
                    <a:pt x="329870" y="65184"/>
                  </a:lnTo>
                  <a:close/>
                </a:path>
                <a:path w="382270" h="93979">
                  <a:moveTo>
                    <a:pt x="310453" y="18249"/>
                  </a:moveTo>
                  <a:lnTo>
                    <a:pt x="302195" y="18249"/>
                  </a:lnTo>
                  <a:lnTo>
                    <a:pt x="302195" y="25392"/>
                  </a:lnTo>
                  <a:lnTo>
                    <a:pt x="310453" y="25392"/>
                  </a:lnTo>
                  <a:lnTo>
                    <a:pt x="310453" y="18249"/>
                  </a:lnTo>
                  <a:close/>
                </a:path>
                <a:path w="382270" h="93979">
                  <a:moveTo>
                    <a:pt x="330596" y="18249"/>
                  </a:moveTo>
                  <a:lnTo>
                    <a:pt x="318878" y="18249"/>
                  </a:lnTo>
                  <a:lnTo>
                    <a:pt x="318878" y="25392"/>
                  </a:lnTo>
                  <a:lnTo>
                    <a:pt x="330596" y="25392"/>
                  </a:lnTo>
                  <a:lnTo>
                    <a:pt x="330596" y="18249"/>
                  </a:lnTo>
                  <a:close/>
                </a:path>
                <a:path w="382270" h="93979">
                  <a:moveTo>
                    <a:pt x="347837" y="57929"/>
                  </a:moveTo>
                  <a:lnTo>
                    <a:pt x="339802" y="59882"/>
                  </a:lnTo>
                  <a:lnTo>
                    <a:pt x="340807" y="64570"/>
                  </a:lnTo>
                  <a:lnTo>
                    <a:pt x="343094" y="68086"/>
                  </a:lnTo>
                  <a:lnTo>
                    <a:pt x="346862" y="70598"/>
                  </a:lnTo>
                  <a:lnTo>
                    <a:pt x="350459" y="72942"/>
                  </a:lnTo>
                  <a:lnTo>
                    <a:pt x="355091" y="74169"/>
                  </a:lnTo>
                  <a:lnTo>
                    <a:pt x="364911" y="74169"/>
                  </a:lnTo>
                  <a:lnTo>
                    <a:pt x="368649" y="73444"/>
                  </a:lnTo>
                  <a:lnTo>
                    <a:pt x="375066" y="70598"/>
                  </a:lnTo>
                  <a:lnTo>
                    <a:pt x="377577" y="68644"/>
                  </a:lnTo>
                  <a:lnTo>
                    <a:pt x="378956" y="66747"/>
                  </a:lnTo>
                  <a:lnTo>
                    <a:pt x="357043" y="66747"/>
                  </a:lnTo>
                  <a:lnTo>
                    <a:pt x="354254" y="66021"/>
                  </a:lnTo>
                  <a:lnTo>
                    <a:pt x="352133" y="64514"/>
                  </a:lnTo>
                  <a:lnTo>
                    <a:pt x="350013" y="63063"/>
                  </a:lnTo>
                  <a:lnTo>
                    <a:pt x="348599" y="60887"/>
                  </a:lnTo>
                  <a:lnTo>
                    <a:pt x="348493" y="60552"/>
                  </a:lnTo>
                  <a:lnTo>
                    <a:pt x="347837" y="57929"/>
                  </a:lnTo>
                  <a:close/>
                </a:path>
                <a:path w="382270" h="93979">
                  <a:moveTo>
                    <a:pt x="358104" y="17468"/>
                  </a:moveTo>
                  <a:lnTo>
                    <a:pt x="341532" y="37168"/>
                  </a:lnTo>
                  <a:lnTo>
                    <a:pt x="342704" y="40293"/>
                  </a:lnTo>
                  <a:lnTo>
                    <a:pt x="347391" y="45316"/>
                  </a:lnTo>
                  <a:lnTo>
                    <a:pt x="351073" y="47158"/>
                  </a:lnTo>
                  <a:lnTo>
                    <a:pt x="365246" y="50506"/>
                  </a:lnTo>
                  <a:lnTo>
                    <a:pt x="367980" y="51120"/>
                  </a:lnTo>
                  <a:lnTo>
                    <a:pt x="370044" y="52125"/>
                  </a:lnTo>
                  <a:lnTo>
                    <a:pt x="371327" y="53408"/>
                  </a:lnTo>
                  <a:lnTo>
                    <a:pt x="372667" y="54636"/>
                  </a:lnTo>
                  <a:lnTo>
                    <a:pt x="373392" y="56366"/>
                  </a:lnTo>
                  <a:lnTo>
                    <a:pt x="364409" y="66747"/>
                  </a:lnTo>
                  <a:lnTo>
                    <a:pt x="378956" y="66747"/>
                  </a:lnTo>
                  <a:lnTo>
                    <a:pt x="381148" y="63733"/>
                  </a:lnTo>
                  <a:lnTo>
                    <a:pt x="382040" y="60887"/>
                  </a:lnTo>
                  <a:lnTo>
                    <a:pt x="382040" y="53911"/>
                  </a:lnTo>
                  <a:lnTo>
                    <a:pt x="380869" y="50785"/>
                  </a:lnTo>
                  <a:lnTo>
                    <a:pt x="378415" y="48330"/>
                  </a:lnTo>
                  <a:lnTo>
                    <a:pt x="376070" y="45930"/>
                  </a:lnTo>
                  <a:lnTo>
                    <a:pt x="372388" y="44088"/>
                  </a:lnTo>
                  <a:lnTo>
                    <a:pt x="356151" y="40126"/>
                  </a:lnTo>
                  <a:lnTo>
                    <a:pt x="353751" y="39121"/>
                  </a:lnTo>
                  <a:lnTo>
                    <a:pt x="350738" y="36666"/>
                  </a:lnTo>
                  <a:lnTo>
                    <a:pt x="349957" y="35047"/>
                  </a:lnTo>
                  <a:lnTo>
                    <a:pt x="349989" y="30527"/>
                  </a:lnTo>
                  <a:lnTo>
                    <a:pt x="351073" y="28629"/>
                  </a:lnTo>
                  <a:lnTo>
                    <a:pt x="355481" y="25560"/>
                  </a:lnTo>
                  <a:lnTo>
                    <a:pt x="358271" y="24779"/>
                  </a:lnTo>
                  <a:lnTo>
                    <a:pt x="378438" y="24779"/>
                  </a:lnTo>
                  <a:lnTo>
                    <a:pt x="377521" y="23495"/>
                  </a:lnTo>
                  <a:lnTo>
                    <a:pt x="374396" y="21095"/>
                  </a:lnTo>
                  <a:lnTo>
                    <a:pt x="371327" y="18695"/>
                  </a:lnTo>
                  <a:lnTo>
                    <a:pt x="367087" y="17523"/>
                  </a:lnTo>
                  <a:lnTo>
                    <a:pt x="361675" y="17523"/>
                  </a:lnTo>
                  <a:lnTo>
                    <a:pt x="358104" y="17468"/>
                  </a:lnTo>
                  <a:close/>
                </a:path>
                <a:path w="382270" h="93979">
                  <a:moveTo>
                    <a:pt x="378438" y="24779"/>
                  </a:moveTo>
                  <a:lnTo>
                    <a:pt x="364130" y="24779"/>
                  </a:lnTo>
                  <a:lnTo>
                    <a:pt x="366138" y="25169"/>
                  </a:lnTo>
                  <a:lnTo>
                    <a:pt x="367701" y="26006"/>
                  </a:lnTo>
                  <a:lnTo>
                    <a:pt x="373504" y="32648"/>
                  </a:lnTo>
                  <a:lnTo>
                    <a:pt x="381036" y="30527"/>
                  </a:lnTo>
                  <a:lnTo>
                    <a:pt x="379753" y="26620"/>
                  </a:lnTo>
                  <a:lnTo>
                    <a:pt x="378438" y="2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1813" y="1968268"/>
              <a:ext cx="1218602" cy="12188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913544" y="2450233"/>
              <a:ext cx="332740" cy="74295"/>
            </a:xfrm>
            <a:custGeom>
              <a:avLst/>
              <a:gdLst/>
              <a:ahLst/>
              <a:cxnLst/>
              <a:rect l="l" t="t" r="r" b="b"/>
              <a:pathLst>
                <a:path w="332739" h="74294">
                  <a:moveTo>
                    <a:pt x="10545" y="0"/>
                  </a:moveTo>
                  <a:lnTo>
                    <a:pt x="0" y="0"/>
                  </a:lnTo>
                  <a:lnTo>
                    <a:pt x="0" y="73053"/>
                  </a:lnTo>
                  <a:lnTo>
                    <a:pt x="8257" y="73053"/>
                  </a:lnTo>
                  <a:lnTo>
                    <a:pt x="8257" y="17579"/>
                  </a:lnTo>
                  <a:lnTo>
                    <a:pt x="17740" y="17579"/>
                  </a:lnTo>
                  <a:lnTo>
                    <a:pt x="10545" y="0"/>
                  </a:lnTo>
                  <a:close/>
                </a:path>
                <a:path w="332739" h="74294">
                  <a:moveTo>
                    <a:pt x="17740" y="17579"/>
                  </a:moveTo>
                  <a:lnTo>
                    <a:pt x="8983" y="17579"/>
                  </a:lnTo>
                  <a:lnTo>
                    <a:pt x="31804" y="73053"/>
                  </a:lnTo>
                  <a:lnTo>
                    <a:pt x="39783" y="73053"/>
                  </a:lnTo>
                  <a:lnTo>
                    <a:pt x="44879" y="60664"/>
                  </a:lnTo>
                  <a:lnTo>
                    <a:pt x="35375" y="60664"/>
                  </a:lnTo>
                  <a:lnTo>
                    <a:pt x="17740" y="17579"/>
                  </a:lnTo>
                  <a:close/>
                </a:path>
                <a:path w="332739" h="74294">
                  <a:moveTo>
                    <a:pt x="71587" y="17579"/>
                  </a:moveTo>
                  <a:lnTo>
                    <a:pt x="63329" y="17579"/>
                  </a:lnTo>
                  <a:lnTo>
                    <a:pt x="63329" y="73053"/>
                  </a:lnTo>
                  <a:lnTo>
                    <a:pt x="71587" y="73053"/>
                  </a:lnTo>
                  <a:lnTo>
                    <a:pt x="71587" y="17579"/>
                  </a:lnTo>
                  <a:close/>
                </a:path>
                <a:path w="332739" h="74294">
                  <a:moveTo>
                    <a:pt x="71587" y="0"/>
                  </a:moveTo>
                  <a:lnTo>
                    <a:pt x="61041" y="0"/>
                  </a:lnTo>
                  <a:lnTo>
                    <a:pt x="36212" y="60664"/>
                  </a:lnTo>
                  <a:lnTo>
                    <a:pt x="44879" y="60664"/>
                  </a:lnTo>
                  <a:lnTo>
                    <a:pt x="62604" y="17579"/>
                  </a:lnTo>
                  <a:lnTo>
                    <a:pt x="71587" y="17579"/>
                  </a:lnTo>
                  <a:lnTo>
                    <a:pt x="71587" y="0"/>
                  </a:lnTo>
                  <a:close/>
                </a:path>
                <a:path w="332739" h="74294">
                  <a:moveTo>
                    <a:pt x="115387" y="17579"/>
                  </a:moveTo>
                  <a:lnTo>
                    <a:pt x="85648" y="40238"/>
                  </a:lnTo>
                  <a:lnTo>
                    <a:pt x="85648" y="51623"/>
                  </a:lnTo>
                  <a:lnTo>
                    <a:pt x="115387" y="74225"/>
                  </a:lnTo>
                  <a:lnTo>
                    <a:pt x="119740" y="73053"/>
                  </a:lnTo>
                  <a:lnTo>
                    <a:pt x="127216" y="68309"/>
                  </a:lnTo>
                  <a:lnTo>
                    <a:pt x="128674" y="66635"/>
                  </a:lnTo>
                  <a:lnTo>
                    <a:pt x="106683" y="66635"/>
                  </a:lnTo>
                  <a:lnTo>
                    <a:pt x="103614" y="65686"/>
                  </a:lnTo>
                  <a:lnTo>
                    <a:pt x="94047" y="42303"/>
                  </a:lnTo>
                  <a:lnTo>
                    <a:pt x="94631" y="39010"/>
                  </a:lnTo>
                  <a:lnTo>
                    <a:pt x="106683" y="25113"/>
                  </a:lnTo>
                  <a:lnTo>
                    <a:pt x="128611" y="25113"/>
                  </a:lnTo>
                  <a:lnTo>
                    <a:pt x="127160" y="23439"/>
                  </a:lnTo>
                  <a:lnTo>
                    <a:pt x="119740" y="18751"/>
                  </a:lnTo>
                  <a:lnTo>
                    <a:pt x="115387" y="17579"/>
                  </a:lnTo>
                  <a:close/>
                </a:path>
                <a:path w="332739" h="74294">
                  <a:moveTo>
                    <a:pt x="128611" y="25113"/>
                  </a:moveTo>
                  <a:lnTo>
                    <a:pt x="114216" y="25113"/>
                  </a:lnTo>
                  <a:lnTo>
                    <a:pt x="117284" y="26118"/>
                  </a:lnTo>
                  <a:lnTo>
                    <a:pt x="119740" y="28071"/>
                  </a:lnTo>
                  <a:lnTo>
                    <a:pt x="122195" y="30080"/>
                  </a:lnTo>
                  <a:lnTo>
                    <a:pt x="124092" y="32703"/>
                  </a:lnTo>
                  <a:lnTo>
                    <a:pt x="125096" y="35717"/>
                  </a:lnTo>
                  <a:lnTo>
                    <a:pt x="126268" y="38898"/>
                  </a:lnTo>
                  <a:lnTo>
                    <a:pt x="126882" y="42303"/>
                  </a:lnTo>
                  <a:lnTo>
                    <a:pt x="126882" y="49613"/>
                  </a:lnTo>
                  <a:lnTo>
                    <a:pt x="126268" y="53018"/>
                  </a:lnTo>
                  <a:lnTo>
                    <a:pt x="125096" y="56143"/>
                  </a:lnTo>
                  <a:lnTo>
                    <a:pt x="124092" y="59157"/>
                  </a:lnTo>
                  <a:lnTo>
                    <a:pt x="122195" y="61780"/>
                  </a:lnTo>
                  <a:lnTo>
                    <a:pt x="119740" y="63789"/>
                  </a:lnTo>
                  <a:lnTo>
                    <a:pt x="117284" y="65686"/>
                  </a:lnTo>
                  <a:lnTo>
                    <a:pt x="114216" y="66635"/>
                  </a:lnTo>
                  <a:lnTo>
                    <a:pt x="128674" y="66635"/>
                  </a:lnTo>
                  <a:lnTo>
                    <a:pt x="130229" y="64849"/>
                  </a:lnTo>
                  <a:lnTo>
                    <a:pt x="132126" y="60831"/>
                  </a:lnTo>
                  <a:lnTo>
                    <a:pt x="134247" y="56590"/>
                  </a:lnTo>
                  <a:lnTo>
                    <a:pt x="135307" y="51623"/>
                  </a:lnTo>
                  <a:lnTo>
                    <a:pt x="135307" y="40238"/>
                  </a:lnTo>
                  <a:lnTo>
                    <a:pt x="134247" y="35271"/>
                  </a:lnTo>
                  <a:lnTo>
                    <a:pt x="131637" y="30025"/>
                  </a:lnTo>
                  <a:lnTo>
                    <a:pt x="130062" y="26788"/>
                  </a:lnTo>
                  <a:lnTo>
                    <a:pt x="128611" y="25113"/>
                  </a:lnTo>
                  <a:close/>
                </a:path>
                <a:path w="332739" h="74294">
                  <a:moveTo>
                    <a:pt x="172523" y="17579"/>
                  </a:moveTo>
                  <a:lnTo>
                    <a:pt x="164321" y="17579"/>
                  </a:lnTo>
                  <a:lnTo>
                    <a:pt x="160304" y="18751"/>
                  </a:lnTo>
                  <a:lnTo>
                    <a:pt x="156789" y="21039"/>
                  </a:lnTo>
                  <a:lnTo>
                    <a:pt x="153218" y="23328"/>
                  </a:lnTo>
                  <a:lnTo>
                    <a:pt x="150484" y="26620"/>
                  </a:lnTo>
                  <a:lnTo>
                    <a:pt x="146578" y="35047"/>
                  </a:lnTo>
                  <a:lnTo>
                    <a:pt x="145573" y="40070"/>
                  </a:lnTo>
                  <a:lnTo>
                    <a:pt x="145573" y="51623"/>
                  </a:lnTo>
                  <a:lnTo>
                    <a:pt x="172356" y="74225"/>
                  </a:lnTo>
                  <a:lnTo>
                    <a:pt x="175146" y="73611"/>
                  </a:lnTo>
                  <a:lnTo>
                    <a:pt x="179163" y="71491"/>
                  </a:lnTo>
                  <a:lnTo>
                    <a:pt x="180837" y="70095"/>
                  </a:lnTo>
                  <a:lnTo>
                    <a:pt x="182176" y="68421"/>
                  </a:lnTo>
                  <a:lnTo>
                    <a:pt x="183475" y="66635"/>
                  </a:lnTo>
                  <a:lnTo>
                    <a:pt x="166441" y="66635"/>
                  </a:lnTo>
                  <a:lnTo>
                    <a:pt x="163484" y="65742"/>
                  </a:lnTo>
                  <a:lnTo>
                    <a:pt x="158741" y="62003"/>
                  </a:lnTo>
                  <a:lnTo>
                    <a:pt x="156956" y="59492"/>
                  </a:lnTo>
                  <a:lnTo>
                    <a:pt x="155784" y="56311"/>
                  </a:lnTo>
                  <a:lnTo>
                    <a:pt x="154557" y="53129"/>
                  </a:lnTo>
                  <a:lnTo>
                    <a:pt x="154042" y="49837"/>
                  </a:lnTo>
                  <a:lnTo>
                    <a:pt x="154032" y="41577"/>
                  </a:lnTo>
                  <a:lnTo>
                    <a:pt x="154501" y="38619"/>
                  </a:lnTo>
                  <a:lnTo>
                    <a:pt x="156900" y="32145"/>
                  </a:lnTo>
                  <a:lnTo>
                    <a:pt x="158686" y="29690"/>
                  </a:lnTo>
                  <a:lnTo>
                    <a:pt x="163428" y="26062"/>
                  </a:lnTo>
                  <a:lnTo>
                    <a:pt x="166386" y="25113"/>
                  </a:lnTo>
                  <a:lnTo>
                    <a:pt x="183489" y="25113"/>
                  </a:lnTo>
                  <a:lnTo>
                    <a:pt x="181116" y="21877"/>
                  </a:lnTo>
                  <a:lnTo>
                    <a:pt x="179498" y="20537"/>
                  </a:lnTo>
                  <a:lnTo>
                    <a:pt x="177433" y="19365"/>
                  </a:lnTo>
                  <a:lnTo>
                    <a:pt x="175369" y="18137"/>
                  </a:lnTo>
                  <a:lnTo>
                    <a:pt x="172523" y="17579"/>
                  </a:lnTo>
                  <a:close/>
                </a:path>
                <a:path w="332739" h="74294">
                  <a:moveTo>
                    <a:pt x="193949" y="64682"/>
                  </a:moveTo>
                  <a:lnTo>
                    <a:pt x="185803" y="64682"/>
                  </a:lnTo>
                  <a:lnTo>
                    <a:pt x="185803" y="73053"/>
                  </a:lnTo>
                  <a:lnTo>
                    <a:pt x="193949" y="73053"/>
                  </a:lnTo>
                  <a:lnTo>
                    <a:pt x="193949" y="64682"/>
                  </a:lnTo>
                  <a:close/>
                </a:path>
                <a:path w="332739" h="74294">
                  <a:moveTo>
                    <a:pt x="183489" y="25113"/>
                  </a:moveTo>
                  <a:lnTo>
                    <a:pt x="173360" y="25113"/>
                  </a:lnTo>
                  <a:lnTo>
                    <a:pt x="176262" y="26006"/>
                  </a:lnTo>
                  <a:lnTo>
                    <a:pt x="178605" y="27736"/>
                  </a:lnTo>
                  <a:lnTo>
                    <a:pt x="180893" y="29467"/>
                  </a:lnTo>
                  <a:lnTo>
                    <a:pt x="182678" y="31866"/>
                  </a:lnTo>
                  <a:lnTo>
                    <a:pt x="183895" y="35047"/>
                  </a:lnTo>
                  <a:lnTo>
                    <a:pt x="185078" y="38005"/>
                  </a:lnTo>
                  <a:lnTo>
                    <a:pt x="185636" y="41577"/>
                  </a:lnTo>
                  <a:lnTo>
                    <a:pt x="185636" y="49837"/>
                  </a:lnTo>
                  <a:lnTo>
                    <a:pt x="185022" y="53464"/>
                  </a:lnTo>
                  <a:lnTo>
                    <a:pt x="183850" y="56645"/>
                  </a:lnTo>
                  <a:lnTo>
                    <a:pt x="182623" y="59771"/>
                  </a:lnTo>
                  <a:lnTo>
                    <a:pt x="180837" y="62226"/>
                  </a:lnTo>
                  <a:lnTo>
                    <a:pt x="178494" y="64012"/>
                  </a:lnTo>
                  <a:lnTo>
                    <a:pt x="176206" y="65798"/>
                  </a:lnTo>
                  <a:lnTo>
                    <a:pt x="173360" y="66635"/>
                  </a:lnTo>
                  <a:lnTo>
                    <a:pt x="183475" y="66635"/>
                  </a:lnTo>
                  <a:lnTo>
                    <a:pt x="184107" y="65742"/>
                  </a:lnTo>
                  <a:lnTo>
                    <a:pt x="184799" y="64682"/>
                  </a:lnTo>
                  <a:lnTo>
                    <a:pt x="193949" y="64682"/>
                  </a:lnTo>
                  <a:lnTo>
                    <a:pt x="193949" y="27011"/>
                  </a:lnTo>
                  <a:lnTo>
                    <a:pt x="184799" y="27011"/>
                  </a:lnTo>
                  <a:lnTo>
                    <a:pt x="184144" y="26006"/>
                  </a:lnTo>
                  <a:lnTo>
                    <a:pt x="183489" y="25113"/>
                  </a:lnTo>
                  <a:close/>
                </a:path>
                <a:path w="332739" h="74294">
                  <a:moveTo>
                    <a:pt x="193949" y="0"/>
                  </a:moveTo>
                  <a:lnTo>
                    <a:pt x="185524" y="0"/>
                  </a:lnTo>
                  <a:lnTo>
                    <a:pt x="185524" y="27011"/>
                  </a:lnTo>
                  <a:lnTo>
                    <a:pt x="193949" y="27011"/>
                  </a:lnTo>
                  <a:lnTo>
                    <a:pt x="193949" y="0"/>
                  </a:lnTo>
                  <a:close/>
                </a:path>
                <a:path w="332739" h="74294">
                  <a:moveTo>
                    <a:pt x="235462" y="17579"/>
                  </a:moveTo>
                  <a:lnTo>
                    <a:pt x="207954" y="40517"/>
                  </a:lnTo>
                  <a:lnTo>
                    <a:pt x="207954" y="51734"/>
                  </a:lnTo>
                  <a:lnTo>
                    <a:pt x="208959" y="56645"/>
                  </a:lnTo>
                  <a:lnTo>
                    <a:pt x="211023" y="60887"/>
                  </a:lnTo>
                  <a:lnTo>
                    <a:pt x="212920" y="64961"/>
                  </a:lnTo>
                  <a:lnTo>
                    <a:pt x="215989" y="68365"/>
                  </a:lnTo>
                  <a:lnTo>
                    <a:pt x="223633" y="73053"/>
                  </a:lnTo>
                  <a:lnTo>
                    <a:pt x="228209" y="74225"/>
                  </a:lnTo>
                  <a:lnTo>
                    <a:pt x="233453" y="74225"/>
                  </a:lnTo>
                  <a:lnTo>
                    <a:pt x="236913" y="74281"/>
                  </a:lnTo>
                  <a:lnTo>
                    <a:pt x="240316" y="73667"/>
                  </a:lnTo>
                  <a:lnTo>
                    <a:pt x="246343" y="71435"/>
                  </a:lnTo>
                  <a:lnTo>
                    <a:pt x="248853" y="69816"/>
                  </a:lnTo>
                  <a:lnTo>
                    <a:pt x="251978" y="66635"/>
                  </a:lnTo>
                  <a:lnTo>
                    <a:pt x="230106" y="66635"/>
                  </a:lnTo>
                  <a:lnTo>
                    <a:pt x="227093" y="65910"/>
                  </a:lnTo>
                  <a:lnTo>
                    <a:pt x="216380" y="48553"/>
                  </a:lnTo>
                  <a:lnTo>
                    <a:pt x="213925" y="48553"/>
                  </a:lnTo>
                  <a:lnTo>
                    <a:pt x="213925" y="41242"/>
                  </a:lnTo>
                  <a:lnTo>
                    <a:pt x="216355" y="41242"/>
                  </a:lnTo>
                  <a:lnTo>
                    <a:pt x="216324" y="39568"/>
                  </a:lnTo>
                  <a:lnTo>
                    <a:pt x="216993" y="36666"/>
                  </a:lnTo>
                  <a:lnTo>
                    <a:pt x="218333" y="34043"/>
                  </a:lnTo>
                  <a:lnTo>
                    <a:pt x="219560" y="31476"/>
                  </a:lnTo>
                  <a:lnTo>
                    <a:pt x="221513" y="29243"/>
                  </a:lnTo>
                  <a:lnTo>
                    <a:pt x="226367" y="25951"/>
                  </a:lnTo>
                  <a:lnTo>
                    <a:pt x="229269" y="25113"/>
                  </a:lnTo>
                  <a:lnTo>
                    <a:pt x="250294" y="25113"/>
                  </a:lnTo>
                  <a:lnTo>
                    <a:pt x="248627" y="23607"/>
                  </a:lnTo>
                  <a:lnTo>
                    <a:pt x="246398" y="21486"/>
                  </a:lnTo>
                  <a:lnTo>
                    <a:pt x="243832" y="19979"/>
                  </a:lnTo>
                  <a:lnTo>
                    <a:pt x="241098" y="18974"/>
                  </a:lnTo>
                  <a:lnTo>
                    <a:pt x="238308" y="18026"/>
                  </a:lnTo>
                  <a:lnTo>
                    <a:pt x="235462" y="17579"/>
                  </a:lnTo>
                  <a:close/>
                </a:path>
                <a:path w="332739" h="74294">
                  <a:moveTo>
                    <a:pt x="247179" y="58096"/>
                  </a:moveTo>
                  <a:lnTo>
                    <a:pt x="235685" y="66635"/>
                  </a:lnTo>
                  <a:lnTo>
                    <a:pt x="251978" y="66635"/>
                  </a:lnTo>
                  <a:lnTo>
                    <a:pt x="252982" y="65631"/>
                  </a:lnTo>
                  <a:lnTo>
                    <a:pt x="254489" y="63119"/>
                  </a:lnTo>
                  <a:lnTo>
                    <a:pt x="255326" y="60385"/>
                  </a:lnTo>
                  <a:lnTo>
                    <a:pt x="247179" y="58096"/>
                  </a:lnTo>
                  <a:close/>
                </a:path>
                <a:path w="332739" h="74294">
                  <a:moveTo>
                    <a:pt x="216355" y="41242"/>
                  </a:moveTo>
                  <a:lnTo>
                    <a:pt x="213925" y="41242"/>
                  </a:lnTo>
                  <a:lnTo>
                    <a:pt x="213925" y="48553"/>
                  </a:lnTo>
                  <a:lnTo>
                    <a:pt x="216380" y="48553"/>
                  </a:lnTo>
                  <a:lnTo>
                    <a:pt x="216355" y="41242"/>
                  </a:lnTo>
                  <a:close/>
                </a:path>
                <a:path w="332739" h="74294">
                  <a:moveTo>
                    <a:pt x="250294" y="25113"/>
                  </a:moveTo>
                  <a:lnTo>
                    <a:pt x="235685" y="25113"/>
                  </a:lnTo>
                  <a:lnTo>
                    <a:pt x="238308" y="25839"/>
                  </a:lnTo>
                  <a:lnTo>
                    <a:pt x="242772" y="28629"/>
                  </a:lnTo>
                  <a:lnTo>
                    <a:pt x="244613" y="30639"/>
                  </a:lnTo>
                  <a:lnTo>
                    <a:pt x="245729" y="32982"/>
                  </a:lnTo>
                  <a:lnTo>
                    <a:pt x="247012" y="35382"/>
                  </a:lnTo>
                  <a:lnTo>
                    <a:pt x="247626" y="38173"/>
                  </a:lnTo>
                  <a:lnTo>
                    <a:pt x="247626" y="41242"/>
                  </a:lnTo>
                  <a:lnTo>
                    <a:pt x="216355" y="41242"/>
                  </a:lnTo>
                  <a:lnTo>
                    <a:pt x="216380" y="48553"/>
                  </a:lnTo>
                  <a:lnTo>
                    <a:pt x="256163" y="48553"/>
                  </a:lnTo>
                  <a:lnTo>
                    <a:pt x="256119" y="39568"/>
                  </a:lnTo>
                  <a:lnTo>
                    <a:pt x="255493" y="35550"/>
                  </a:lnTo>
                  <a:lnTo>
                    <a:pt x="254154" y="32034"/>
                  </a:lnTo>
                  <a:lnTo>
                    <a:pt x="252759" y="28574"/>
                  </a:lnTo>
                  <a:lnTo>
                    <a:pt x="250974" y="25727"/>
                  </a:lnTo>
                  <a:lnTo>
                    <a:pt x="250294" y="25113"/>
                  </a:lnTo>
                  <a:close/>
                </a:path>
                <a:path w="332739" h="74294">
                  <a:moveTo>
                    <a:pt x="277366" y="0"/>
                  </a:moveTo>
                  <a:lnTo>
                    <a:pt x="268940" y="0"/>
                  </a:lnTo>
                  <a:lnTo>
                    <a:pt x="268940" y="73053"/>
                  </a:lnTo>
                  <a:lnTo>
                    <a:pt x="277366" y="73053"/>
                  </a:lnTo>
                  <a:lnTo>
                    <a:pt x="277366" y="0"/>
                  </a:lnTo>
                  <a:close/>
                </a:path>
                <a:path w="332739" h="74294">
                  <a:moveTo>
                    <a:pt x="298345" y="57929"/>
                  </a:moveTo>
                  <a:lnTo>
                    <a:pt x="290366" y="59938"/>
                  </a:lnTo>
                  <a:lnTo>
                    <a:pt x="291371" y="64626"/>
                  </a:lnTo>
                  <a:lnTo>
                    <a:pt x="293658" y="68142"/>
                  </a:lnTo>
                  <a:lnTo>
                    <a:pt x="300968" y="72997"/>
                  </a:lnTo>
                  <a:lnTo>
                    <a:pt x="305599" y="74225"/>
                  </a:lnTo>
                  <a:lnTo>
                    <a:pt x="315475" y="74225"/>
                  </a:lnTo>
                  <a:lnTo>
                    <a:pt x="319213" y="73500"/>
                  </a:lnTo>
                  <a:lnTo>
                    <a:pt x="325630" y="70653"/>
                  </a:lnTo>
                  <a:lnTo>
                    <a:pt x="328085" y="68700"/>
                  </a:lnTo>
                  <a:lnTo>
                    <a:pt x="329470" y="66803"/>
                  </a:lnTo>
                  <a:lnTo>
                    <a:pt x="307607" y="66803"/>
                  </a:lnTo>
                  <a:lnTo>
                    <a:pt x="304818" y="66077"/>
                  </a:lnTo>
                  <a:lnTo>
                    <a:pt x="302697" y="64570"/>
                  </a:lnTo>
                  <a:lnTo>
                    <a:pt x="300577" y="63119"/>
                  </a:lnTo>
                  <a:lnTo>
                    <a:pt x="299163" y="60943"/>
                  </a:lnTo>
                  <a:lnTo>
                    <a:pt x="299053" y="60608"/>
                  </a:lnTo>
                  <a:lnTo>
                    <a:pt x="298345" y="57929"/>
                  </a:lnTo>
                  <a:close/>
                </a:path>
                <a:path w="332739" h="74294">
                  <a:moveTo>
                    <a:pt x="308668" y="17523"/>
                  </a:moveTo>
                  <a:lnTo>
                    <a:pt x="292096" y="37168"/>
                  </a:lnTo>
                  <a:lnTo>
                    <a:pt x="293268" y="40349"/>
                  </a:lnTo>
                  <a:lnTo>
                    <a:pt x="295662" y="42972"/>
                  </a:lnTo>
                  <a:lnTo>
                    <a:pt x="297955" y="45372"/>
                  </a:lnTo>
                  <a:lnTo>
                    <a:pt x="301637" y="47214"/>
                  </a:lnTo>
                  <a:lnTo>
                    <a:pt x="318544" y="51176"/>
                  </a:lnTo>
                  <a:lnTo>
                    <a:pt x="320552" y="52125"/>
                  </a:lnTo>
                  <a:lnTo>
                    <a:pt x="321891" y="53464"/>
                  </a:lnTo>
                  <a:lnTo>
                    <a:pt x="323231" y="54692"/>
                  </a:lnTo>
                  <a:lnTo>
                    <a:pt x="323956" y="56422"/>
                  </a:lnTo>
                  <a:lnTo>
                    <a:pt x="323900" y="60608"/>
                  </a:lnTo>
                  <a:lnTo>
                    <a:pt x="322728" y="62617"/>
                  </a:lnTo>
                  <a:lnTo>
                    <a:pt x="319927" y="64626"/>
                  </a:lnTo>
                  <a:lnTo>
                    <a:pt x="318097" y="65965"/>
                  </a:lnTo>
                  <a:lnTo>
                    <a:pt x="314973" y="66803"/>
                  </a:lnTo>
                  <a:lnTo>
                    <a:pt x="329470" y="66803"/>
                  </a:lnTo>
                  <a:lnTo>
                    <a:pt x="331712" y="63733"/>
                  </a:lnTo>
                  <a:lnTo>
                    <a:pt x="332604" y="60943"/>
                  </a:lnTo>
                  <a:lnTo>
                    <a:pt x="332604" y="53967"/>
                  </a:lnTo>
                  <a:lnTo>
                    <a:pt x="331377" y="50841"/>
                  </a:lnTo>
                  <a:lnTo>
                    <a:pt x="328978" y="48442"/>
                  </a:lnTo>
                  <a:lnTo>
                    <a:pt x="326578" y="45986"/>
                  </a:lnTo>
                  <a:lnTo>
                    <a:pt x="322952" y="44144"/>
                  </a:lnTo>
                  <a:lnTo>
                    <a:pt x="306659" y="40182"/>
                  </a:lnTo>
                  <a:lnTo>
                    <a:pt x="304315" y="39177"/>
                  </a:lnTo>
                  <a:lnTo>
                    <a:pt x="302809" y="37949"/>
                  </a:lnTo>
                  <a:lnTo>
                    <a:pt x="301247" y="36722"/>
                  </a:lnTo>
                  <a:lnTo>
                    <a:pt x="300521" y="35047"/>
                  </a:lnTo>
                  <a:lnTo>
                    <a:pt x="300582" y="30527"/>
                  </a:lnTo>
                  <a:lnTo>
                    <a:pt x="301581" y="28685"/>
                  </a:lnTo>
                  <a:lnTo>
                    <a:pt x="304531" y="26676"/>
                  </a:lnTo>
                  <a:lnTo>
                    <a:pt x="306045" y="25616"/>
                  </a:lnTo>
                  <a:lnTo>
                    <a:pt x="308835" y="24834"/>
                  </a:lnTo>
                  <a:lnTo>
                    <a:pt x="329025" y="24834"/>
                  </a:lnTo>
                  <a:lnTo>
                    <a:pt x="328085" y="23495"/>
                  </a:lnTo>
                  <a:lnTo>
                    <a:pt x="324960" y="21151"/>
                  </a:lnTo>
                  <a:lnTo>
                    <a:pt x="321891" y="18751"/>
                  </a:lnTo>
                  <a:lnTo>
                    <a:pt x="317651" y="17579"/>
                  </a:lnTo>
                  <a:lnTo>
                    <a:pt x="312183" y="17579"/>
                  </a:lnTo>
                  <a:lnTo>
                    <a:pt x="308668" y="17523"/>
                  </a:lnTo>
                  <a:close/>
                </a:path>
                <a:path w="332739" h="74294">
                  <a:moveTo>
                    <a:pt x="329025" y="24834"/>
                  </a:moveTo>
                  <a:lnTo>
                    <a:pt x="314638" y="24834"/>
                  </a:lnTo>
                  <a:lnTo>
                    <a:pt x="316647" y="25225"/>
                  </a:lnTo>
                  <a:lnTo>
                    <a:pt x="319660" y="26732"/>
                  </a:lnTo>
                  <a:lnTo>
                    <a:pt x="320943" y="27736"/>
                  </a:lnTo>
                  <a:lnTo>
                    <a:pt x="322840" y="30136"/>
                  </a:lnTo>
                  <a:lnTo>
                    <a:pt x="323510" y="31364"/>
                  </a:lnTo>
                  <a:lnTo>
                    <a:pt x="324012" y="32703"/>
                  </a:lnTo>
                  <a:lnTo>
                    <a:pt x="331600" y="30527"/>
                  </a:lnTo>
                  <a:lnTo>
                    <a:pt x="330317" y="26676"/>
                  </a:lnTo>
                  <a:lnTo>
                    <a:pt x="329025" y="248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55118" y="3830049"/>
              <a:ext cx="1225298" cy="12188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97531" y="4243480"/>
              <a:ext cx="344712" cy="19588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16500" y="1968268"/>
              <a:ext cx="1225298" cy="12188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02949" y="2383597"/>
              <a:ext cx="451954" cy="19488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1125" y="2899158"/>
              <a:ext cx="1218602" cy="12255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44097" y="3311529"/>
              <a:ext cx="382911" cy="21419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85809" y="1037378"/>
              <a:ext cx="1218602" cy="12255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70516" y="1519789"/>
              <a:ext cx="250862" cy="7416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79113" y="2905856"/>
              <a:ext cx="1225298" cy="12188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65116" y="3297298"/>
              <a:ext cx="473380" cy="2343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271" y="389509"/>
            <a:ext cx="2537269" cy="4436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290" y="200371"/>
            <a:ext cx="292084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8805" algn="l"/>
              </a:tabLst>
            </a:pPr>
            <a:r>
              <a:rPr spc="-10" dirty="0"/>
              <a:t>Prompt</a:t>
            </a:r>
            <a:r>
              <a:rPr dirty="0"/>
              <a:t>	</a:t>
            </a:r>
            <a:r>
              <a:rPr spc="-25" dirty="0"/>
              <a:t>low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3142" y="583998"/>
            <a:ext cx="228600" cy="381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3950" y="389509"/>
            <a:ext cx="2070227" cy="3437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0989" y="384429"/>
            <a:ext cx="3285870" cy="4511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31630" y="583998"/>
            <a:ext cx="121890" cy="381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11589" y="389509"/>
            <a:ext cx="2231262" cy="44361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632453" y="258317"/>
            <a:ext cx="8040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" dirty="0">
                <a:latin typeface="Segoe UI Semibold"/>
                <a:cs typeface="Segoe UI Semibold"/>
              </a:rPr>
              <a:t>streamline</a:t>
            </a:r>
            <a:r>
              <a:rPr sz="3600" spc="-210" dirty="0">
                <a:latin typeface="Segoe UI Semibold"/>
                <a:cs typeface="Segoe UI Semibold"/>
              </a:rPr>
              <a:t> </a:t>
            </a:r>
            <a:r>
              <a:rPr sz="3600" dirty="0">
                <a:latin typeface="Segoe UI Semibold"/>
                <a:cs typeface="Segoe UI Semibold"/>
              </a:rPr>
              <a:t>dev</a:t>
            </a:r>
            <a:r>
              <a:rPr sz="3600" spc="-190" dirty="0">
                <a:latin typeface="Segoe UI Semibold"/>
                <a:cs typeface="Segoe UI Semibold"/>
              </a:rPr>
              <a:t> </a:t>
            </a:r>
            <a:r>
              <a:rPr sz="3600" spc="-30" dirty="0">
                <a:latin typeface="Segoe UI Semibold"/>
                <a:cs typeface="Segoe UI Semibold"/>
              </a:rPr>
              <a:t>cycle</a:t>
            </a:r>
            <a:r>
              <a:rPr sz="3600" spc="-204" dirty="0">
                <a:latin typeface="Segoe UI Semibold"/>
                <a:cs typeface="Segoe UI Semibold"/>
              </a:rPr>
              <a:t> </a:t>
            </a:r>
            <a:r>
              <a:rPr sz="3600" dirty="0">
                <a:latin typeface="Segoe UI Semibold"/>
                <a:cs typeface="Segoe UI Semibold"/>
              </a:rPr>
              <a:t>of</a:t>
            </a:r>
            <a:r>
              <a:rPr sz="3600" spc="-190" dirty="0">
                <a:latin typeface="Segoe UI Semibold"/>
                <a:cs typeface="Segoe UI Semibold"/>
              </a:rPr>
              <a:t> </a:t>
            </a:r>
            <a:r>
              <a:rPr sz="3600" dirty="0">
                <a:latin typeface="Segoe UI Semibold"/>
                <a:cs typeface="Segoe UI Semibold"/>
              </a:rPr>
              <a:t>LLM</a:t>
            </a:r>
            <a:r>
              <a:rPr sz="3600" spc="225" dirty="0">
                <a:latin typeface="Segoe UI Semibold"/>
                <a:cs typeface="Segoe UI Semibold"/>
              </a:rPr>
              <a:t> </a:t>
            </a:r>
            <a:r>
              <a:rPr sz="3600" spc="-30" dirty="0">
                <a:latin typeface="Segoe UI Semibold"/>
                <a:cs typeface="Segoe UI Semibold"/>
              </a:rPr>
              <a:t>based</a:t>
            </a:r>
            <a:r>
              <a:rPr sz="3600" spc="-204" dirty="0">
                <a:latin typeface="Segoe UI Semibold"/>
                <a:cs typeface="Segoe UI Semibold"/>
              </a:rPr>
              <a:t> </a:t>
            </a:r>
            <a:r>
              <a:rPr sz="3600" spc="-20" dirty="0">
                <a:latin typeface="Segoe UI Semibold"/>
                <a:cs typeface="Segoe UI Semibold"/>
              </a:rPr>
              <a:t>apps</a:t>
            </a:r>
            <a:endParaRPr sz="3600">
              <a:latin typeface="Segoe UI Semibold"/>
              <a:cs typeface="Segoe UI Semibold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54351" y="1039367"/>
            <a:ext cx="8083296" cy="513892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748278" y="6350000"/>
            <a:ext cx="46964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-10" dirty="0">
                <a:uFill>
                  <a:solidFill>
                    <a:srgbClr val="8DC7E8"/>
                  </a:solidFill>
                </a:uFill>
                <a:latin typeface="Segoe UI"/>
                <a:cs typeface="Segoe U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https://github.com/microsoft/promptflow</a:t>
            </a:r>
            <a:endParaRPr sz="2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425" y="740409"/>
            <a:ext cx="3729748" cy="4431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1368" y="606297"/>
            <a:ext cx="3811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Learning</a:t>
            </a:r>
            <a:r>
              <a:rPr spc="-180" dirty="0"/>
              <a:t> </a:t>
            </a:r>
            <a:r>
              <a:rPr spc="-50" dirty="0"/>
              <a:t>resources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300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FFFFFF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u="sng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</a:t>
            </a:r>
            <a:r>
              <a:rPr sz="3200" u="sng" spc="-60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3200" u="sng" dirty="0">
                <a:uFill>
                  <a:solidFill>
                    <a:srgbClr val="8DC7E8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Prompting</a:t>
            </a:r>
            <a:r>
              <a:rPr sz="3200" spc="-35" dirty="0"/>
              <a:t> </a:t>
            </a:r>
            <a:r>
              <a:rPr sz="3200" spc="-10" dirty="0"/>
              <a:t>Community</a:t>
            </a:r>
            <a:endParaRPr sz="3200" dirty="0"/>
          </a:p>
          <a:p>
            <a:pPr marL="354965" indent="-342265">
              <a:lnSpc>
                <a:spcPct val="100000"/>
              </a:lnSpc>
              <a:buClr>
                <a:srgbClr val="FFFFFF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u="sng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Prompting</a:t>
            </a:r>
            <a:r>
              <a:rPr sz="3200" u="sng" spc="-55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3200" u="sng" dirty="0">
                <a:uFill>
                  <a:solidFill>
                    <a:srgbClr val="8DC7E8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</a:t>
            </a:r>
            <a:r>
              <a:rPr sz="3200" spc="-20" dirty="0"/>
              <a:t> </a:t>
            </a:r>
            <a:r>
              <a:rPr sz="3200" dirty="0"/>
              <a:t>by</a:t>
            </a:r>
            <a:r>
              <a:rPr sz="3200" spc="-25" dirty="0"/>
              <a:t> </a:t>
            </a:r>
            <a:r>
              <a:rPr sz="3200" spc="-10" dirty="0"/>
              <a:t>DAIR.AI</a:t>
            </a:r>
            <a:endParaRPr sz="3200" dirty="0"/>
          </a:p>
          <a:p>
            <a:pPr marL="354965" indent="-342265">
              <a:lnSpc>
                <a:spcPct val="100000"/>
              </a:lnSpc>
              <a:buClr>
                <a:srgbClr val="FFFFFF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u="sng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</a:t>
            </a:r>
            <a:r>
              <a:rPr sz="3200" u="sng" spc="-45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3200" u="sng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Engineering</a:t>
            </a:r>
            <a:r>
              <a:rPr sz="3200" u="sng" spc="-5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3200" u="sng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</a:t>
            </a:r>
            <a:r>
              <a:rPr sz="3200" u="sng" spc="-30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3200" u="sng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</a:t>
            </a:r>
            <a:r>
              <a:rPr sz="3200" u="sng" spc="-5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3200" u="sng" dirty="0">
                <a:uFill>
                  <a:solidFill>
                    <a:srgbClr val="8DC7E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developers</a:t>
            </a:r>
            <a:r>
              <a:rPr sz="3200" spc="-20" dirty="0"/>
              <a:t> </a:t>
            </a:r>
            <a:r>
              <a:rPr sz="3200" dirty="0"/>
              <a:t>on</a:t>
            </a:r>
            <a:r>
              <a:rPr sz="3200" spc="-5" dirty="0"/>
              <a:t> </a:t>
            </a:r>
            <a:r>
              <a:rPr sz="3200" dirty="0"/>
              <a:t>Deep</a:t>
            </a:r>
            <a:r>
              <a:rPr sz="3200" spc="-5" dirty="0"/>
              <a:t> </a:t>
            </a:r>
            <a:r>
              <a:rPr sz="3200" spc="-10" dirty="0"/>
              <a:t>Learning</a:t>
            </a:r>
            <a:endParaRPr sz="3200" dirty="0"/>
          </a:p>
          <a:p>
            <a:pPr marL="354965" indent="-342265">
              <a:lnSpc>
                <a:spcPct val="100000"/>
              </a:lnSpc>
              <a:buClr>
                <a:srgbClr val="FFFFFF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u="sng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</a:t>
            </a:r>
            <a:r>
              <a:rPr sz="3200" u="sng" spc="-40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3200" u="sng" dirty="0">
                <a:uFill>
                  <a:solidFill>
                    <a:srgbClr val="8DC7E8"/>
                  </a:solidFill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Examples</a:t>
            </a:r>
            <a:r>
              <a:rPr sz="3200" spc="-10" dirty="0"/>
              <a:t> </a:t>
            </a:r>
            <a:endParaRPr lang="en-IN" sz="3200" dirty="0"/>
          </a:p>
          <a:p>
            <a:pPr marL="354965" indent="-342265">
              <a:lnSpc>
                <a:spcPct val="100000"/>
              </a:lnSpc>
              <a:buClr>
                <a:srgbClr val="FFFFFF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IN" sz="3200" dirty="0"/>
              <a:t>https://cookbook.openai.com/</a:t>
            </a:r>
            <a:r>
              <a:rPr sz="3200" dirty="0"/>
              <a:t>n</a:t>
            </a:r>
            <a:r>
              <a:rPr sz="3200" spc="-10" dirty="0"/>
              <a:t> OpenAI</a:t>
            </a:r>
            <a:endParaRPr lang="en-IN" sz="3200" spc="-10" dirty="0"/>
          </a:p>
          <a:p>
            <a:pPr marL="354965" indent="-342265">
              <a:lnSpc>
                <a:spcPct val="100000"/>
              </a:lnSpc>
              <a:buClr>
                <a:srgbClr val="FFFFFF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IN" sz="3200" dirty="0"/>
              <a:t>https://platform.openai.com/docs/examples</a:t>
            </a:r>
            <a:endParaRPr sz="3200" dirty="0"/>
          </a:p>
          <a:p>
            <a:pPr marL="354965" indent="-342265">
              <a:lnSpc>
                <a:spcPct val="100000"/>
              </a:lnSpc>
              <a:buClr>
                <a:srgbClr val="FFFFFF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u="sng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</a:t>
            </a:r>
            <a:r>
              <a:rPr sz="3200" u="sng" spc="-60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3200" u="sng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sz="3200" u="sng" spc="-45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3200" u="sng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</a:t>
            </a:r>
            <a:r>
              <a:rPr sz="3200" u="sng" spc="-65" dirty="0">
                <a:solidFill>
                  <a:srgbClr val="954F72"/>
                </a:solidFill>
                <a:uFill>
                  <a:solidFill>
                    <a:srgbClr val="8DC7E8"/>
                  </a:solidFill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3200" u="sng" dirty="0">
                <a:uFill>
                  <a:solidFill>
                    <a:srgbClr val="8DC7E8"/>
                  </a:solidFill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Engineering</a:t>
            </a:r>
            <a:r>
              <a:rPr sz="3200" spc="-55" dirty="0"/>
              <a:t> </a:t>
            </a:r>
            <a:r>
              <a:rPr sz="3200" dirty="0"/>
              <a:t>on</a:t>
            </a:r>
            <a:r>
              <a:rPr sz="3200" spc="-55" dirty="0"/>
              <a:t> </a:t>
            </a:r>
            <a:r>
              <a:rPr sz="3200" dirty="0"/>
              <a:t>Microsoft</a:t>
            </a:r>
            <a:r>
              <a:rPr sz="3200" spc="-65" dirty="0"/>
              <a:t> </a:t>
            </a:r>
            <a:r>
              <a:rPr sz="3200" spc="-10" dirty="0"/>
              <a:t>Learn</a:t>
            </a:r>
            <a:endParaRPr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4547</TotalTime>
  <Words>2251</Words>
  <Application>Microsoft Office PowerPoint</Application>
  <PresentationFormat>Widescreen</PresentationFormat>
  <Paragraphs>244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Arial MT</vt:lpstr>
      <vt:lpstr>Calibri</vt:lpstr>
      <vt:lpstr>Calibri Light</vt:lpstr>
      <vt:lpstr>Cambria</vt:lpstr>
      <vt:lpstr>Courier New</vt:lpstr>
      <vt:lpstr>Segoe UI</vt:lpstr>
      <vt:lpstr>Segoe UI Semibold</vt:lpstr>
      <vt:lpstr>Times New Roman</vt:lpstr>
      <vt:lpstr>Office Theme</vt:lpstr>
      <vt:lpstr>Prompt Engineering</vt:lpstr>
      <vt:lpstr>Prompt Engineering - an Art, a Science, or your next Job Title?</vt:lpstr>
      <vt:lpstr>PowerPoint Presentation</vt:lpstr>
      <vt:lpstr>Artificial Intelligence The field of computer science that seeks to create intelligent machines that can replicate or exceed human intelligence</vt:lpstr>
      <vt:lpstr>Path to impact and usecases</vt:lpstr>
      <vt:lpstr>Emerging model landscape</vt:lpstr>
      <vt:lpstr>One common thing…</vt:lpstr>
      <vt:lpstr>Prompt Engineering</vt:lpstr>
      <vt:lpstr>Prompt anatomy</vt:lpstr>
      <vt:lpstr>Tokens</vt:lpstr>
      <vt:lpstr>Prompts and cost efficiency</vt:lpstr>
      <vt:lpstr>Space efficiency</vt:lpstr>
      <vt:lpstr>General recommendations</vt:lpstr>
      <vt:lpstr>Technical recommendations</vt:lpstr>
      <vt:lpstr>Zero shot VS few shot prompts</vt:lpstr>
      <vt:lpstr>Zero Shot</vt:lpstr>
      <vt:lpstr>Few Shot Reasoning Example</vt:lpstr>
      <vt:lpstr>Prompt Chaining</vt:lpstr>
      <vt:lpstr>ew Shot Reasoning Example 2</vt:lpstr>
      <vt:lpstr>Then all summaries are passed to GPT again to summarize, i.e. second round of summarization. The sum of the summaries has to fit within the token limit.</vt:lpstr>
      <vt:lpstr>Retrieval Augmented Generation (RAG)</vt:lpstr>
      <vt:lpstr>PowerPoint Presentation</vt:lpstr>
      <vt:lpstr>Recently Announced</vt:lpstr>
      <vt:lpstr>LangChain</vt:lpstr>
      <vt:lpstr>Prompt low</vt:lpstr>
      <vt:lpstr>Learning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Session1: Introduction to Data-Driven Manufacturing and statistics</dc:title>
  <dc:creator>Arunkarthik Thangaraj</dc:creator>
  <cp:lastModifiedBy>ARUN KARTHIK .</cp:lastModifiedBy>
  <cp:revision>502</cp:revision>
  <dcterms:created xsi:type="dcterms:W3CDTF">2023-10-16T14:03:13Z</dcterms:created>
  <dcterms:modified xsi:type="dcterms:W3CDTF">2024-09-27T10:49:18Z</dcterms:modified>
</cp:coreProperties>
</file>