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3"/>
    <p:sldMasterId id="214748366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Lst>
  <p:sldSz cy="6858000" cx="12192000"/>
  <p:notesSz cx="6858000" cy="9144000"/>
  <p:embeddedFontLst>
    <p:embeddedFont>
      <p:font typeface="Proxima Nova"/>
      <p:regular r:id="rId62"/>
      <p:bold r:id="rId63"/>
      <p:italic r:id="rId64"/>
      <p:boldItalic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6" roundtripDataSignature="AMtx7mhRAnpsOelFV8+2RGVHy7FYGlu28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ProximaNova-regular.fntdata"/><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font" Target="fonts/ProximaNova-italic.fntdata"/><Relationship Id="rId63" Type="http://schemas.openxmlformats.org/officeDocument/2006/relationships/font" Target="fonts/ProximaNova-bold.fntdata"/><Relationship Id="rId22" Type="http://schemas.openxmlformats.org/officeDocument/2006/relationships/slide" Target="slides/slide17.xml"/><Relationship Id="rId66" Type="http://customschemas.google.com/relationships/presentationmetadata" Target="metadata"/><Relationship Id="rId21" Type="http://schemas.openxmlformats.org/officeDocument/2006/relationships/slide" Target="slides/slide16.xml"/><Relationship Id="rId65" Type="http://schemas.openxmlformats.org/officeDocument/2006/relationships/font" Target="fonts/ProximaNova-boldItalic.fntdata"/><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9" name="Google Shape;24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62a763626f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7" name="Google Shape;257;g262a763626f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f7be7dd8b8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2f7be7dd8b8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g2f7be7dd8b8_0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2bb8c1dba0d_0_1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4" name="Google Shape;274;g2bb8c1dba0d_0_1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2bb8c1dba0d_0_1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2" name="Google Shape;292;g2bb8c1dba0d_0_1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2bb8c1dba0d_0_1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g2bb8c1dba0d_0_1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2bb8c1dba0d_0_2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0" name="Google Shape;310;g2bb8c1dba0d_0_2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2bb8c1dba0d_0_2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0" name="Google Shape;320;g2bb8c1dba0d_0_2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2bb8c1dba0d_0_2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7" name="Google Shape;327;g2bb8c1dba0d_0_2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2bb8c1dba0d_0_2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9" name="Google Shape;339;g2bb8c1dba0d_0_2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2bb8c1dba0d_0_4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8" name="Google Shape;348;g2bb8c1dba0d_0_4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2bb8c1dba0d_0_3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4" name="Google Shape;354;g2bb8c1dba0d_0_3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2bb8c1dba0d_0_7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2" name="Google Shape;372;g2bb8c1dba0d_0_7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2bb8c1dba0d_0_5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4" name="Google Shape;394;g2bb8c1dba0d_0_5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2bb8c1dba0d_0_6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2" name="Google Shape;402;g2bb8c1dba0d_0_6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2bb8c1dba0d_0_6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8" name="Google Shape;408;g2bb8c1dba0d_0_6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2bb8c1dba0d_0_6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 name="Google Shape;439;g2bb8c1dba0d_0_6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0" name="Google Shape;440;g2bb8c1dba0d_0_6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2bb8c1dba0d_0_6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7" name="Google Shape;447;g2bb8c1dba0d_0_6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8" name="Google Shape;448;g2bb8c1dba0d_0_6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2bb8c1dba0d_0_6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4" name="Google Shape;464;g2bb8c1dba0d_0_6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5" name="Google Shape;465;g2bb8c1dba0d_0_6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2bb8c1dba0d_0_6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2" name="Google Shape;482;g2bb8c1dba0d_0_6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3" name="Google Shape;483;g2bb8c1dba0d_0_6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2bb8c1dba0d_0_6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8" name="Google Shape;498;g2bb8c1dba0d_0_6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2bb8c1dba0d_0_6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
        <p:nvSpPr>
          <p:cNvPr id="506" name="Google Shape;506;g2bb8c1dba0d_0_6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7" name="Google Shape;507;g2bb8c1dba0d_0_6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2bb8c1dba0d_0_7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6" name="Google Shape;516;g2bb8c1dba0d_0_7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7" name="Google Shape;517;g2bb8c1dba0d_0_7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2bb8c1dba0d_0_8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9" name="Google Shape;529;g2bb8c1dba0d_0_8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2bb8c1dba0d_0_8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7" name="Google Shape;547;g2bb8c1dba0d_0_8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3253b389c9_0_1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33253b389c9_0_17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6" name="Google Shape;556;g33253b389c9_0_17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2bb8c1dba0d_0_8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3" name="Google Shape;563;g2bb8c1dba0d_0_8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features are also sent to a linear regressor that improves object localization.</a:t>
            </a:r>
            <a:endParaRPr/>
          </a:p>
          <a:p>
            <a:pPr indent="0" lvl="0" marL="0" rtl="0" algn="l">
              <a:lnSpc>
                <a:spcPct val="100000"/>
              </a:lnSpc>
              <a:spcBef>
                <a:spcPts val="0"/>
              </a:spcBef>
              <a:spcAft>
                <a:spcPts val="0"/>
              </a:spcAft>
              <a:buSzPts val="1400"/>
              <a:buNone/>
            </a:pPr>
            <a:r>
              <a:rPr lang="en-US"/>
              <a:t>The components outlined in purple are “post hoc” in the sense that they are learned after the convnet weights are trained and forever frozen.</a:t>
            </a:r>
            <a:endParaRPr/>
          </a:p>
        </p:txBody>
      </p:sp>
      <p:sp>
        <p:nvSpPr>
          <p:cNvPr id="564" name="Google Shape;564;g2bb8c1dba0d_0_8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2bb8c1dba0d_0_29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1" name="Google Shape;601;g2bb8c1dba0d_0_29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2" name="Google Shape;602;g2bb8c1dba0d_0_29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2bb8c1dba0d_0_8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8" name="Google Shape;608;g2bb8c1dba0d_0_8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b="1" lang="en-US" sz="1200"/>
              <a:t>Object detection system overview.</a:t>
            </a:r>
            <a:r>
              <a:rPr lang="en-US" sz="1200"/>
              <a:t> Our system (1) takes an input image, (2) extracts around 2000 bottom-up region proposals, (3) computes features for each proposal using a large convolutional neural network (CNN), and then (4) classifies each region using class-specific linear SVMs. </a:t>
            </a:r>
            <a:r>
              <a:rPr b="1" lang="en-US" sz="1200"/>
              <a:t>R-CNN achieves a mean average precision (mAP) of 53.7% on PASCAL VOC 2010</a:t>
            </a:r>
            <a:r>
              <a:rPr lang="en-US" sz="1200"/>
              <a:t>. For comparison, Uijlings et al. (2013) report 35.1% mAP using the same region proposals, but with a spatial pyramid and bag-of-visual-words approach. </a:t>
            </a:r>
            <a:r>
              <a:rPr b="1" lang="en-US" sz="1200"/>
              <a:t>The popular deformable part models perform at 33.4%.</a:t>
            </a:r>
            <a:endParaRPr/>
          </a:p>
          <a:p>
            <a:pPr indent="0" lvl="0" marL="0" rtl="0" algn="l">
              <a:lnSpc>
                <a:spcPct val="100000"/>
              </a:lnSpc>
              <a:spcBef>
                <a:spcPts val="0"/>
              </a:spcBef>
              <a:spcAft>
                <a:spcPts val="0"/>
              </a:spcAft>
              <a:buSzPts val="1400"/>
              <a:buNone/>
            </a:pPr>
            <a:r>
              <a:t/>
            </a:r>
            <a:endParaRPr/>
          </a:p>
        </p:txBody>
      </p:sp>
      <p:sp>
        <p:nvSpPr>
          <p:cNvPr id="609" name="Google Shape;609;g2bb8c1dba0d_0_8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2bb8c1dba0d_0_29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7" name="Google Shape;617;g2bb8c1dba0d_0_29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8" name="Google Shape;618;g2bb8c1dba0d_0_297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2bb8c1dba0d_0_29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9" name="Google Shape;629;g2bb8c1dba0d_0_29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0" name="Google Shape;630;g2bb8c1dba0d_0_29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2bb8c1dba0d_0_8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1" name="Google Shape;641;g2bb8c1dba0d_0_8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2" name="Google Shape;642;g2bb8c1dba0d_0_8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2bb8c1dba0d_0_30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9" name="Google Shape;649;g2bb8c1dba0d_0_30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650" name="Google Shape;650;g2bb8c1dba0d_0_30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2bb8c1dba0d_0_8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8" name="Google Shape;658;g2bb8c1dba0d_0_8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2bb8c1dba0d_0_9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K predefined anchor boxes are convoluted with each sliding window to produce fixed-length vectors which are taken by cls and reg layer to obtain corresponding outputs</a:t>
            </a:r>
            <a:endParaRPr/>
          </a:p>
        </p:txBody>
      </p:sp>
      <p:sp>
        <p:nvSpPr>
          <p:cNvPr id="706" name="Google Shape;706;g2bb8c1dba0d_0_9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2bb8c1dba0d_0_9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4" name="Google Shape;724;g2bb8c1dba0d_0_9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2bb8c1dba0d_0_10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5" name="Google Shape;795;g2bb8c1dba0d_0_10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g2bb8c1dba0d_0_11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7" name="Google Shape;867;g2bb8c1dba0d_0_1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2bb8c1dba0d_0_11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g2bb8c1dba0d_0_11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2bb8c1dba0d_0_13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0" name="Google Shape;1090;g2bb8c1dba0d_0_13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2bb8c1dba0d_0_13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6" name="Google Shape;1096;g2bb8c1dba0d_0_13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g2bb8c1dba0d_0_14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9" name="Google Shape;1189;g2bb8c1dba0d_0_14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g2bb8c1dba0d_0_14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9" name="Google Shape;1209;g2bb8c1dba0d_0_14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g2bb8c1dba0d_0_14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9" name="Google Shape;1219;g2bb8c1dba0d_0_14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2" name="Shape 1292"/>
        <p:cNvGrpSpPr/>
        <p:nvPr/>
      </p:nvGrpSpPr>
      <p:grpSpPr>
        <a:xfrm>
          <a:off x="0" y="0"/>
          <a:ext cx="0" cy="0"/>
          <a:chOff x="0" y="0"/>
          <a:chExt cx="0" cy="0"/>
        </a:xfrm>
      </p:grpSpPr>
      <p:sp>
        <p:nvSpPr>
          <p:cNvPr id="1293" name="Google Shape;1293;g2bb8c1dba0d_0_15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4" name="Google Shape;1294;g2bb8c1dba0d_0_15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7" name="Shape 1367"/>
        <p:cNvGrpSpPr/>
        <p:nvPr/>
      </p:nvGrpSpPr>
      <p:grpSpPr>
        <a:xfrm>
          <a:off x="0" y="0"/>
          <a:ext cx="0" cy="0"/>
          <a:chOff x="0" y="0"/>
          <a:chExt cx="0" cy="0"/>
        </a:xfrm>
      </p:grpSpPr>
      <p:sp>
        <p:nvSpPr>
          <p:cNvPr id="1368" name="Google Shape;1368;g2f7be7dd8b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69" name="Google Shape;1369;g2f7be7dd8b8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0" name="Google Shape;1370;g2f7be7dd8b8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5" name="Shape 1375"/>
        <p:cNvGrpSpPr/>
        <p:nvPr/>
      </p:nvGrpSpPr>
      <p:grpSpPr>
        <a:xfrm>
          <a:off x="0" y="0"/>
          <a:ext cx="0" cy="0"/>
          <a:chOff x="0" y="0"/>
          <a:chExt cx="0" cy="0"/>
        </a:xfrm>
      </p:grpSpPr>
      <p:sp>
        <p:nvSpPr>
          <p:cNvPr id="1376" name="Google Shape;1376;g2bb8c1dba0d_0_16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7" name="Google Shape;1377;g2bb8c1dba0d_0_16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6" name="Shape 1386"/>
        <p:cNvGrpSpPr/>
        <p:nvPr/>
      </p:nvGrpSpPr>
      <p:grpSpPr>
        <a:xfrm>
          <a:off x="0" y="0"/>
          <a:ext cx="0" cy="0"/>
          <a:chOff x="0" y="0"/>
          <a:chExt cx="0" cy="0"/>
        </a:xfrm>
      </p:grpSpPr>
      <p:sp>
        <p:nvSpPr>
          <p:cNvPr id="1387" name="Google Shape;1387;g2bb8c1dba0d_0_16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88" name="Google Shape;1388;g2bb8c1dba0d_0_16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2" name="Shape 1392"/>
        <p:cNvGrpSpPr/>
        <p:nvPr/>
      </p:nvGrpSpPr>
      <p:grpSpPr>
        <a:xfrm>
          <a:off x="0" y="0"/>
          <a:ext cx="0" cy="0"/>
          <a:chOff x="0" y="0"/>
          <a:chExt cx="0" cy="0"/>
        </a:xfrm>
      </p:grpSpPr>
      <p:sp>
        <p:nvSpPr>
          <p:cNvPr id="1393" name="Google Shape;1393;g2bb8c1dba0d_0_16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94" name="Google Shape;1394;g2bb8c1dba0d_0_16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5" name="Shape 1405"/>
        <p:cNvGrpSpPr/>
        <p:nvPr/>
      </p:nvGrpSpPr>
      <p:grpSpPr>
        <a:xfrm>
          <a:off x="0" y="0"/>
          <a:ext cx="0" cy="0"/>
          <a:chOff x="0" y="0"/>
          <a:chExt cx="0" cy="0"/>
        </a:xfrm>
      </p:grpSpPr>
      <p:sp>
        <p:nvSpPr>
          <p:cNvPr id="1406" name="Google Shape;1406;g2bb8c1dba0d_0_16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07" name="Google Shape;1407;g2bb8c1dba0d_0_16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7" name="Shape 1417"/>
        <p:cNvGrpSpPr/>
        <p:nvPr/>
      </p:nvGrpSpPr>
      <p:grpSpPr>
        <a:xfrm>
          <a:off x="0" y="0"/>
          <a:ext cx="0" cy="0"/>
          <a:chOff x="0" y="0"/>
          <a:chExt cx="0" cy="0"/>
        </a:xfrm>
      </p:grpSpPr>
      <p:sp>
        <p:nvSpPr>
          <p:cNvPr id="1418" name="Google Shape;1418;g2bb8c1dba0d_0_16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9" name="Google Shape;1419;g2bb8c1dba0d_0_16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8" name="Shape 1438"/>
        <p:cNvGrpSpPr/>
        <p:nvPr/>
      </p:nvGrpSpPr>
      <p:grpSpPr>
        <a:xfrm>
          <a:off x="0" y="0"/>
          <a:ext cx="0" cy="0"/>
          <a:chOff x="0" y="0"/>
          <a:chExt cx="0" cy="0"/>
        </a:xfrm>
      </p:grpSpPr>
      <p:sp>
        <p:nvSpPr>
          <p:cNvPr id="1439" name="Google Shape;1439;g2bb8c1dba0d_0_16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0" name="Google Shape;1440;g2bb8c1dba0d_0_16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5" name="Shape 1445"/>
        <p:cNvGrpSpPr/>
        <p:nvPr/>
      </p:nvGrpSpPr>
      <p:grpSpPr>
        <a:xfrm>
          <a:off x="0" y="0"/>
          <a:ext cx="0" cy="0"/>
          <a:chOff x="0" y="0"/>
          <a:chExt cx="0" cy="0"/>
        </a:xfrm>
      </p:grpSpPr>
      <p:sp>
        <p:nvSpPr>
          <p:cNvPr id="1446" name="Google Shape;1446;g2bb8c1dba0d_0_16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7" name="Google Shape;1447;g2bb8c1dba0d_0_16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2" name="Shape 1452"/>
        <p:cNvGrpSpPr/>
        <p:nvPr/>
      </p:nvGrpSpPr>
      <p:grpSpPr>
        <a:xfrm>
          <a:off x="0" y="0"/>
          <a:ext cx="0" cy="0"/>
          <a:chOff x="0" y="0"/>
          <a:chExt cx="0" cy="0"/>
        </a:xfrm>
      </p:grpSpPr>
      <p:sp>
        <p:nvSpPr>
          <p:cNvPr id="1453" name="Google Shape;1453;g2bb8c1dba0d_0_16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54" name="Google Shape;1454;g2bb8c1dba0d_0_16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0" name="Shape 1460"/>
        <p:cNvGrpSpPr/>
        <p:nvPr/>
      </p:nvGrpSpPr>
      <p:grpSpPr>
        <a:xfrm>
          <a:off x="0" y="0"/>
          <a:ext cx="0" cy="0"/>
          <a:chOff x="0" y="0"/>
          <a:chExt cx="0" cy="0"/>
        </a:xfrm>
      </p:grpSpPr>
      <p:sp>
        <p:nvSpPr>
          <p:cNvPr id="1461" name="Google Shape;1461;p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2" name="Google Shape;1462;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6" name="Shape 1466"/>
        <p:cNvGrpSpPr/>
        <p:nvPr/>
      </p:nvGrpSpPr>
      <p:grpSpPr>
        <a:xfrm>
          <a:off x="0" y="0"/>
          <a:ext cx="0" cy="0"/>
          <a:chOff x="0" y="0"/>
          <a:chExt cx="0" cy="0"/>
        </a:xfrm>
      </p:grpSpPr>
      <p:sp>
        <p:nvSpPr>
          <p:cNvPr id="1467" name="Google Shape;1467;g24320ba2c05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8" name="Google Shape;1468;g24320ba2c0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gif"/><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gi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gi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gi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gi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4" name="Shape 14"/>
        <p:cNvGrpSpPr/>
        <p:nvPr/>
      </p:nvGrpSpPr>
      <p:grpSpPr>
        <a:xfrm>
          <a:off x="0" y="0"/>
          <a:ext cx="0" cy="0"/>
          <a:chOff x="0" y="0"/>
          <a:chExt cx="0" cy="0"/>
        </a:xfrm>
      </p:grpSpPr>
      <p:pic>
        <p:nvPicPr>
          <p:cNvPr descr="BITS Pilani logo" id="15" name="Google Shape;15;p6"/>
          <p:cNvPicPr preferRelativeResize="0"/>
          <p:nvPr/>
        </p:nvPicPr>
        <p:blipFill rotWithShape="1">
          <a:blip r:embed="rId2">
            <a:alphaModFix/>
          </a:blip>
          <a:srcRect b="0" l="0" r="0" t="0"/>
          <a:stretch/>
        </p:blipFill>
        <p:spPr>
          <a:xfrm>
            <a:off x="8822778" y="262802"/>
            <a:ext cx="3338739" cy="865907"/>
          </a:xfrm>
          <a:prstGeom prst="rect">
            <a:avLst/>
          </a:prstGeom>
          <a:noFill/>
          <a:ln>
            <a:noFill/>
          </a:ln>
        </p:spPr>
      </p:pic>
      <p:pic>
        <p:nvPicPr>
          <p:cNvPr id="16" name="Google Shape;16;p6"/>
          <p:cNvPicPr preferRelativeResize="0"/>
          <p:nvPr/>
        </p:nvPicPr>
        <p:blipFill rotWithShape="1">
          <a:blip r:embed="rId3">
            <a:alphaModFix/>
          </a:blip>
          <a:srcRect b="0" l="0" r="0" t="0"/>
          <a:stretch/>
        </p:blipFill>
        <p:spPr>
          <a:xfrm>
            <a:off x="0" y="0"/>
            <a:ext cx="5581652" cy="6858000"/>
          </a:xfrm>
          <a:prstGeom prst="rect">
            <a:avLst/>
          </a:prstGeom>
          <a:noFill/>
          <a:ln>
            <a:noFill/>
          </a:ln>
        </p:spPr>
      </p:pic>
      <p:sp>
        <p:nvSpPr>
          <p:cNvPr id="17" name="Google Shape;17;p6"/>
          <p:cNvSpPr txBox="1"/>
          <p:nvPr>
            <p:ph type="ctrTitle"/>
          </p:nvPr>
        </p:nvSpPr>
        <p:spPr>
          <a:xfrm>
            <a:off x="1867990" y="3226527"/>
            <a:ext cx="9489822" cy="1273628"/>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3600"/>
              <a:buFont typeface="Calibri"/>
              <a:buNone/>
              <a:defRPr sz="3600" cap="none">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6"/>
          <p:cNvSpPr txBox="1"/>
          <p:nvPr/>
        </p:nvSpPr>
        <p:spPr>
          <a:xfrm>
            <a:off x="64525" y="1053900"/>
            <a:ext cx="4196100" cy="909600"/>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chemeClr val="dk1"/>
              </a:buClr>
              <a:buSzPts val="1600"/>
              <a:buFont typeface="Arial"/>
              <a:buNone/>
            </a:pPr>
            <a:r>
              <a:rPr b="0" i="0" lang="en-US" sz="2600" u="none" cap="none" strike="noStrike">
                <a:solidFill>
                  <a:schemeClr val="dk1"/>
                </a:solidFill>
                <a:latin typeface="Calibri"/>
                <a:ea typeface="Calibri"/>
                <a:cs typeface="Calibri"/>
                <a:sym typeface="Calibri"/>
              </a:rPr>
              <a:t>Computer Vision</a:t>
            </a:r>
            <a:endParaRPr b="0" i="0" sz="2600" u="none" cap="none" strike="noStrike">
              <a:solidFill>
                <a:schemeClr val="dk1"/>
              </a:solidFill>
              <a:latin typeface="Calibri"/>
              <a:ea typeface="Calibri"/>
              <a:cs typeface="Calibri"/>
              <a:sym typeface="Calibri"/>
            </a:endParaRPr>
          </a:p>
          <a:p>
            <a:pPr indent="0" lvl="0" marL="0" marR="0" rtl="0" algn="r">
              <a:lnSpc>
                <a:spcPct val="90000"/>
              </a:lnSpc>
              <a:spcBef>
                <a:spcPts val="0"/>
              </a:spcBef>
              <a:spcAft>
                <a:spcPts val="0"/>
              </a:spcAft>
              <a:buClr>
                <a:schemeClr val="dk1"/>
              </a:buClr>
              <a:buSzPts val="1600"/>
              <a:buFont typeface="Arial"/>
              <a:buNone/>
            </a:pPr>
            <a:r>
              <a:rPr b="0" i="0" lang="en-US" sz="1700" u="none" cap="none" strike="noStrike">
                <a:solidFill>
                  <a:schemeClr val="dk1"/>
                </a:solidFill>
                <a:latin typeface="Calibri"/>
                <a:ea typeface="Calibri"/>
                <a:cs typeface="Calibri"/>
                <a:sym typeface="Calibri"/>
              </a:rPr>
              <a:t>202</a:t>
            </a:r>
            <a:r>
              <a:rPr lang="en-US" sz="1700">
                <a:solidFill>
                  <a:schemeClr val="dk1"/>
                </a:solidFill>
                <a:latin typeface="Calibri"/>
                <a:ea typeface="Calibri"/>
                <a:cs typeface="Calibri"/>
                <a:sym typeface="Calibri"/>
              </a:rPr>
              <a:t>4</a:t>
            </a:r>
            <a:r>
              <a:rPr b="0" i="0" lang="en-US" sz="1700" u="none" cap="none" strike="noStrike">
                <a:solidFill>
                  <a:schemeClr val="dk1"/>
                </a:solidFill>
                <a:latin typeface="Calibri"/>
                <a:ea typeface="Calibri"/>
                <a:cs typeface="Calibri"/>
                <a:sym typeface="Calibri"/>
              </a:rPr>
              <a:t>-2</a:t>
            </a:r>
            <a:r>
              <a:rPr lang="en-US" sz="1700">
                <a:solidFill>
                  <a:schemeClr val="dk1"/>
                </a:solidFill>
                <a:latin typeface="Calibri"/>
                <a:ea typeface="Calibri"/>
                <a:cs typeface="Calibri"/>
                <a:sym typeface="Calibri"/>
              </a:rPr>
              <a:t>5</a:t>
            </a:r>
            <a:r>
              <a:rPr b="0" i="0" lang="en-US" sz="1700" u="none" cap="none" strike="noStrike">
                <a:solidFill>
                  <a:schemeClr val="dk1"/>
                </a:solidFill>
                <a:latin typeface="Calibri"/>
                <a:ea typeface="Calibri"/>
                <a:cs typeface="Calibri"/>
                <a:sym typeface="Calibri"/>
              </a:rPr>
              <a:t> First Semester, M.Tech (AIML)   </a:t>
            </a:r>
            <a:endParaRPr b="0" i="0" sz="1500" u="none" cap="none" strike="noStrike">
              <a:solidFill>
                <a:srgbClr val="000000"/>
              </a:solidFill>
              <a:latin typeface="Arial"/>
              <a:ea typeface="Arial"/>
              <a:cs typeface="Arial"/>
              <a:sym typeface="Arial"/>
            </a:endParaRPr>
          </a:p>
        </p:txBody>
      </p:sp>
      <p:sp>
        <p:nvSpPr>
          <p:cNvPr id="19" name="Google Shape;19;p6"/>
          <p:cNvSpPr txBox="1"/>
          <p:nvPr/>
        </p:nvSpPr>
        <p:spPr>
          <a:xfrm>
            <a:off x="9192000" y="0"/>
            <a:ext cx="3000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800">
                <a:solidFill>
                  <a:srgbClr val="000000"/>
                </a:solidFill>
              </a:rPr>
              <a:t>CV 1</a:t>
            </a:r>
            <a:r>
              <a:rPr lang="en-US" sz="800"/>
              <a:t>3</a:t>
            </a:r>
            <a:r>
              <a:rPr lang="en-US" sz="800">
                <a:solidFill>
                  <a:srgbClr val="000000"/>
                </a:solidFill>
              </a:rPr>
              <a:t>: </a:t>
            </a:r>
            <a:r>
              <a:rPr lang="en-US" sz="800"/>
              <a:t>Object Detection Algorithms - RCNN</a:t>
            </a:r>
            <a:endParaRPr sz="800">
              <a:solidFill>
                <a:srgbClr val="000000"/>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Introduction">
    <p:spTree>
      <p:nvGrpSpPr>
        <p:cNvPr id="20" name="Shape 20"/>
        <p:cNvGrpSpPr/>
        <p:nvPr/>
      </p:nvGrpSpPr>
      <p:grpSpPr>
        <a:xfrm>
          <a:off x="0" y="0"/>
          <a:ext cx="0" cy="0"/>
          <a:chOff x="0" y="0"/>
          <a:chExt cx="0" cy="0"/>
        </a:xfrm>
      </p:grpSpPr>
      <p:pic>
        <p:nvPicPr>
          <p:cNvPr descr="BITS Pilani logo" id="21" name="Google Shape;21;p7"/>
          <p:cNvPicPr preferRelativeResize="0"/>
          <p:nvPr/>
        </p:nvPicPr>
        <p:blipFill rotWithShape="1">
          <a:blip r:embed="rId2">
            <a:alphaModFix/>
          </a:blip>
          <a:srcRect b="0" l="0" r="0" t="0"/>
          <a:stretch/>
        </p:blipFill>
        <p:spPr>
          <a:xfrm>
            <a:off x="384175" y="288928"/>
            <a:ext cx="3338739" cy="865907"/>
          </a:xfrm>
          <a:prstGeom prst="rect">
            <a:avLst/>
          </a:prstGeom>
          <a:noFill/>
          <a:ln>
            <a:noFill/>
          </a:ln>
        </p:spPr>
      </p:pic>
      <p:sp>
        <p:nvSpPr>
          <p:cNvPr id="22" name="Google Shape;22;p7"/>
          <p:cNvSpPr txBox="1"/>
          <p:nvPr>
            <p:ph type="title"/>
          </p:nvPr>
        </p:nvSpPr>
        <p:spPr>
          <a:xfrm>
            <a:off x="468449" y="1671639"/>
            <a:ext cx="6005376" cy="65318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7"/>
          <p:cNvSpPr txBox="1"/>
          <p:nvPr>
            <p:ph idx="1" type="body"/>
          </p:nvPr>
        </p:nvSpPr>
        <p:spPr>
          <a:xfrm>
            <a:off x="1362075" y="2586447"/>
            <a:ext cx="6005376" cy="3304902"/>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000"/>
              </a:spcBef>
              <a:spcAft>
                <a:spcPts val="0"/>
              </a:spcAft>
              <a:buClr>
                <a:schemeClr val="dk1"/>
              </a:buClr>
              <a:buSzPts val="2400"/>
              <a:buFont typeface="Calibri"/>
              <a:buAutoNum type="arabicPeriod"/>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4" name="Google Shape;24;p7"/>
          <p:cNvSpPr txBox="1"/>
          <p:nvPr>
            <p:ph idx="11" type="ftr"/>
          </p:nvPr>
        </p:nvSpPr>
        <p:spPr>
          <a:xfrm>
            <a:off x="2463800" y="6356350"/>
            <a:ext cx="3479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6" name="Google Shape;26;p7"/>
          <p:cNvSpPr txBox="1"/>
          <p:nvPr/>
        </p:nvSpPr>
        <p:spPr>
          <a:xfrm>
            <a:off x="9192000" y="0"/>
            <a:ext cx="3000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800">
                <a:solidFill>
                  <a:srgbClr val="000000"/>
                </a:solidFill>
              </a:rPr>
              <a:t>CV 1</a:t>
            </a:r>
            <a:r>
              <a:rPr lang="en-US" sz="800"/>
              <a:t>3</a:t>
            </a:r>
            <a:r>
              <a:rPr lang="en-US" sz="800">
                <a:solidFill>
                  <a:srgbClr val="000000"/>
                </a:solidFill>
              </a:rPr>
              <a:t>: </a:t>
            </a:r>
            <a:r>
              <a:rPr lang="en-US" sz="800"/>
              <a:t>Object Detection Algorithms - RCNN</a:t>
            </a:r>
            <a:endParaRPr sz="800">
              <a:solidFill>
                <a:srgbClr val="000000"/>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p:cSld name="Chart">
    <p:bg>
      <p:bgPr>
        <a:solidFill>
          <a:schemeClr val="accent1"/>
        </a:solidFill>
      </p:bgPr>
    </p:bg>
    <p:spTree>
      <p:nvGrpSpPr>
        <p:cNvPr id="27" name="Shape 27"/>
        <p:cNvGrpSpPr/>
        <p:nvPr/>
      </p:nvGrpSpPr>
      <p:grpSpPr>
        <a:xfrm>
          <a:off x="0" y="0"/>
          <a:ext cx="0" cy="0"/>
          <a:chOff x="0" y="0"/>
          <a:chExt cx="0" cy="0"/>
        </a:xfrm>
      </p:grpSpPr>
      <p:sp>
        <p:nvSpPr>
          <p:cNvPr id="28" name="Google Shape;28;p13"/>
          <p:cNvSpPr txBox="1"/>
          <p:nvPr>
            <p:ph type="title"/>
          </p:nvPr>
        </p:nvSpPr>
        <p:spPr>
          <a:xfrm>
            <a:off x="838200" y="365125"/>
            <a:ext cx="10515599" cy="124665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Birla Institute of Technology and Science, Pilani | Logopedia | Fandom" id="31" name="Google Shape;31;p13"/>
          <p:cNvPicPr preferRelativeResize="0"/>
          <p:nvPr/>
        </p:nvPicPr>
        <p:blipFill rotWithShape="1">
          <a:blip r:embed="rId2">
            <a:alphaModFix/>
          </a:blip>
          <a:srcRect b="0" l="0" r="0" t="0"/>
          <a:stretch/>
        </p:blipFill>
        <p:spPr>
          <a:xfrm>
            <a:off x="0" y="28575"/>
            <a:ext cx="704850" cy="704850"/>
          </a:xfrm>
          <a:prstGeom prst="rect">
            <a:avLst/>
          </a:prstGeom>
          <a:noFill/>
          <a:ln>
            <a:noFill/>
          </a:ln>
        </p:spPr>
      </p:pic>
      <p:sp>
        <p:nvSpPr>
          <p:cNvPr id="32" name="Google Shape;32;p13"/>
          <p:cNvSpPr txBox="1"/>
          <p:nvPr>
            <p:ph idx="1" type="body"/>
          </p:nvPr>
        </p:nvSpPr>
        <p:spPr>
          <a:xfrm>
            <a:off x="838200" y="1894114"/>
            <a:ext cx="10515599" cy="4180115"/>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1000"/>
              </a:spcBef>
              <a:spcAft>
                <a:spcPts val="0"/>
              </a:spcAft>
              <a:buClr>
                <a:schemeClr val="dk1"/>
              </a:buClr>
              <a:buSzPts val="2800"/>
              <a:buFont typeface="Arial"/>
              <a:buChar char="•"/>
              <a:defRPr sz="28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3" name="Google Shape;33;p13"/>
          <p:cNvSpPr txBox="1"/>
          <p:nvPr/>
        </p:nvSpPr>
        <p:spPr>
          <a:xfrm>
            <a:off x="9192000" y="0"/>
            <a:ext cx="3000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800">
                <a:solidFill>
                  <a:srgbClr val="000000"/>
                </a:solidFill>
              </a:rPr>
              <a:t>CV 1</a:t>
            </a:r>
            <a:r>
              <a:rPr lang="en-US" sz="800"/>
              <a:t>3</a:t>
            </a:r>
            <a:r>
              <a:rPr lang="en-US" sz="800">
                <a:solidFill>
                  <a:srgbClr val="000000"/>
                </a:solidFill>
              </a:rPr>
              <a:t>: </a:t>
            </a:r>
            <a:r>
              <a:rPr lang="en-US" sz="800"/>
              <a:t>Object Detection Algorithms - RCNN</a:t>
            </a:r>
            <a:endParaRPr sz="800">
              <a:solidFill>
                <a:srgbClr val="000000"/>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34" name="Shape 34"/>
        <p:cNvGrpSpPr/>
        <p:nvPr/>
      </p:nvGrpSpPr>
      <p:grpSpPr>
        <a:xfrm>
          <a:off x="0" y="0"/>
          <a:ext cx="0" cy="0"/>
          <a:chOff x="0" y="0"/>
          <a:chExt cx="0" cy="0"/>
        </a:xfrm>
      </p:grpSpPr>
      <p:pic>
        <p:nvPicPr>
          <p:cNvPr id="35" name="Google Shape;35;p9"/>
          <p:cNvPicPr preferRelativeResize="0"/>
          <p:nvPr/>
        </p:nvPicPr>
        <p:blipFill rotWithShape="1">
          <a:blip r:embed="rId2">
            <a:alphaModFix/>
          </a:blip>
          <a:srcRect b="0" l="0" r="0" t="0"/>
          <a:stretch/>
        </p:blipFill>
        <p:spPr>
          <a:xfrm>
            <a:off x="0" y="0"/>
            <a:ext cx="5581650" cy="6858000"/>
          </a:xfrm>
          <a:prstGeom prst="rect">
            <a:avLst/>
          </a:prstGeom>
          <a:noFill/>
          <a:ln>
            <a:noFill/>
          </a:ln>
        </p:spPr>
      </p:pic>
      <p:sp>
        <p:nvSpPr>
          <p:cNvPr id="36" name="Google Shape;36;p9"/>
          <p:cNvSpPr txBox="1"/>
          <p:nvPr>
            <p:ph type="title"/>
          </p:nvPr>
        </p:nvSpPr>
        <p:spPr>
          <a:xfrm>
            <a:off x="4657724" y="2809875"/>
            <a:ext cx="6696075" cy="19097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9"/>
          <p:cNvSpPr txBox="1"/>
          <p:nvPr>
            <p:ph idx="1" type="subTitle"/>
          </p:nvPr>
        </p:nvSpPr>
        <p:spPr>
          <a:xfrm>
            <a:off x="4657725" y="5028803"/>
            <a:ext cx="6696074" cy="365125"/>
          </a:xfrm>
          <a:prstGeom prst="rect">
            <a:avLst/>
          </a:prstGeom>
          <a:noFill/>
          <a:ln>
            <a:noFill/>
          </a:ln>
        </p:spPr>
        <p:txBody>
          <a:bodyPr anchorCtr="0" anchor="b" bIns="45700" lIns="91425" spcFirstLastPara="1" rIns="91425" wrap="square" tIns="45700">
            <a:normAutofit/>
          </a:bodyPr>
          <a:lstStyle>
            <a:lvl1pPr lvl="0" algn="l">
              <a:lnSpc>
                <a:spcPct val="90000"/>
              </a:lnSpc>
              <a:spcBef>
                <a:spcPts val="1000"/>
              </a:spcBef>
              <a:spcAft>
                <a:spcPts val="0"/>
              </a:spcAft>
              <a:buClr>
                <a:srgbClr val="757070"/>
              </a:buClr>
              <a:buSzPts val="1600"/>
              <a:buNone/>
              <a:defRPr sz="1600">
                <a:solidFill>
                  <a:srgbClr val="75707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8" name="Google Shape;38;p9"/>
          <p:cNvSpPr txBox="1"/>
          <p:nvPr>
            <p:ph idx="11" type="ftr"/>
          </p:nvPr>
        </p:nvSpPr>
        <p:spPr>
          <a:xfrm>
            <a:off x="6743699" y="6356350"/>
            <a:ext cx="2543175"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9"/>
          <p:cNvSpPr txBox="1"/>
          <p:nvPr>
            <p:ph idx="12" type="sldNum"/>
          </p:nvPr>
        </p:nvSpPr>
        <p:spPr>
          <a:xfrm>
            <a:off x="9658350" y="6356350"/>
            <a:ext cx="169545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BITS Pilani logo" id="40" name="Google Shape;40;p9"/>
          <p:cNvPicPr preferRelativeResize="0"/>
          <p:nvPr/>
        </p:nvPicPr>
        <p:blipFill rotWithShape="1">
          <a:blip r:embed="rId3">
            <a:alphaModFix/>
          </a:blip>
          <a:srcRect b="0" l="0" r="0" t="0"/>
          <a:stretch/>
        </p:blipFill>
        <p:spPr>
          <a:xfrm>
            <a:off x="8836705" y="192510"/>
            <a:ext cx="3338739" cy="865907"/>
          </a:xfrm>
          <a:prstGeom prst="rect">
            <a:avLst/>
          </a:prstGeom>
          <a:noFill/>
          <a:ln>
            <a:noFill/>
          </a:ln>
        </p:spPr>
      </p:pic>
      <p:sp>
        <p:nvSpPr>
          <p:cNvPr id="41" name="Google Shape;41;p9"/>
          <p:cNvSpPr txBox="1"/>
          <p:nvPr/>
        </p:nvSpPr>
        <p:spPr>
          <a:xfrm>
            <a:off x="9192000" y="0"/>
            <a:ext cx="3000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800">
                <a:solidFill>
                  <a:srgbClr val="000000"/>
                </a:solidFill>
              </a:rPr>
              <a:t>CV 1</a:t>
            </a:r>
            <a:r>
              <a:rPr lang="en-US" sz="800"/>
              <a:t>3</a:t>
            </a:r>
            <a:r>
              <a:rPr lang="en-US" sz="800">
                <a:solidFill>
                  <a:srgbClr val="000000"/>
                </a:solidFill>
              </a:rPr>
              <a:t>: </a:t>
            </a:r>
            <a:r>
              <a:rPr lang="en-US" sz="800"/>
              <a:t>Object Detection Algorithms - RCNN</a:t>
            </a:r>
            <a:endParaRPr sz="800">
              <a:solidFill>
                <a:srgbClr val="000000"/>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rt Art">
  <p:cSld name="Smart Art">
    <p:bg>
      <p:bgPr>
        <a:solidFill>
          <a:schemeClr val="lt1"/>
        </a:solidFill>
      </p:bgPr>
    </p:bg>
    <p:spTree>
      <p:nvGrpSpPr>
        <p:cNvPr id="42" name="Shape 42"/>
        <p:cNvGrpSpPr/>
        <p:nvPr/>
      </p:nvGrpSpPr>
      <p:grpSpPr>
        <a:xfrm>
          <a:off x="0" y="0"/>
          <a:ext cx="0" cy="0"/>
          <a:chOff x="0" y="0"/>
          <a:chExt cx="0" cy="0"/>
        </a:xfrm>
      </p:grpSpPr>
      <p:sp>
        <p:nvSpPr>
          <p:cNvPr id="43" name="Google Shape;43;p16"/>
          <p:cNvSpPr txBox="1"/>
          <p:nvPr>
            <p:ph type="title"/>
          </p:nvPr>
        </p:nvSpPr>
        <p:spPr>
          <a:xfrm>
            <a:off x="838200" y="365126"/>
            <a:ext cx="10199914" cy="1027906"/>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Birla Institute of Technology and Science, Pilani | Logopedia | Fandom" id="46" name="Google Shape;46;p16"/>
          <p:cNvPicPr preferRelativeResize="0"/>
          <p:nvPr/>
        </p:nvPicPr>
        <p:blipFill rotWithShape="1">
          <a:blip r:embed="rId2">
            <a:alphaModFix/>
          </a:blip>
          <a:srcRect b="0" l="0" r="0" t="0"/>
          <a:stretch/>
        </p:blipFill>
        <p:spPr>
          <a:xfrm>
            <a:off x="0" y="28575"/>
            <a:ext cx="704850" cy="704850"/>
          </a:xfrm>
          <a:prstGeom prst="rect">
            <a:avLst/>
          </a:prstGeom>
          <a:noFill/>
          <a:ln>
            <a:noFill/>
          </a:ln>
        </p:spPr>
      </p:pic>
      <p:sp>
        <p:nvSpPr>
          <p:cNvPr id="47" name="Google Shape;47;p16"/>
          <p:cNvSpPr txBox="1"/>
          <p:nvPr>
            <p:ph idx="1" type="body"/>
          </p:nvPr>
        </p:nvSpPr>
        <p:spPr>
          <a:xfrm>
            <a:off x="838200" y="1632858"/>
            <a:ext cx="10515599" cy="44413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1000"/>
              </a:spcBef>
              <a:spcAft>
                <a:spcPts val="0"/>
              </a:spcAft>
              <a:buClr>
                <a:schemeClr val="dk1"/>
              </a:buClr>
              <a:buSzPts val="2800"/>
              <a:buFont typeface="Arial"/>
              <a:buChar char="•"/>
              <a:defRPr sz="28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p:cSld name="Three Content">
    <p:bg>
      <p:bgPr>
        <a:solidFill>
          <a:schemeClr val="lt1"/>
        </a:solidFill>
      </p:bgPr>
    </p:bg>
    <p:spTree>
      <p:nvGrpSpPr>
        <p:cNvPr id="48" name="Shape 48"/>
        <p:cNvGrpSpPr/>
        <p:nvPr/>
      </p:nvGrpSpPr>
      <p:grpSpPr>
        <a:xfrm>
          <a:off x="0" y="0"/>
          <a:ext cx="0" cy="0"/>
          <a:chOff x="0" y="0"/>
          <a:chExt cx="0" cy="0"/>
        </a:xfrm>
      </p:grpSpPr>
      <p:sp>
        <p:nvSpPr>
          <p:cNvPr id="49" name="Google Shape;49;p19"/>
          <p:cNvSpPr txBox="1"/>
          <p:nvPr>
            <p:ph type="title"/>
          </p:nvPr>
        </p:nvSpPr>
        <p:spPr>
          <a:xfrm>
            <a:off x="1243104" y="443369"/>
            <a:ext cx="10110696" cy="105151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19"/>
          <p:cNvSpPr txBox="1"/>
          <p:nvPr>
            <p:ph idx="1" type="body"/>
          </p:nvPr>
        </p:nvSpPr>
        <p:spPr>
          <a:xfrm>
            <a:off x="1243103" y="1932770"/>
            <a:ext cx="2882475"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19"/>
          <p:cNvSpPr txBox="1"/>
          <p:nvPr>
            <p:ph idx="2" type="body"/>
          </p:nvPr>
        </p:nvSpPr>
        <p:spPr>
          <a:xfrm>
            <a:off x="1243104" y="3056709"/>
            <a:ext cx="2882475" cy="277576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19"/>
          <p:cNvSpPr txBox="1"/>
          <p:nvPr>
            <p:ph idx="3" type="body"/>
          </p:nvPr>
        </p:nvSpPr>
        <p:spPr>
          <a:xfrm>
            <a:off x="4647664" y="1953443"/>
            <a:ext cx="2896671"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19"/>
          <p:cNvSpPr txBox="1"/>
          <p:nvPr>
            <p:ph idx="4" type="body"/>
          </p:nvPr>
        </p:nvSpPr>
        <p:spPr>
          <a:xfrm>
            <a:off x="4647665" y="3056709"/>
            <a:ext cx="2896671" cy="277576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19"/>
          <p:cNvSpPr txBox="1"/>
          <p:nvPr>
            <p:ph idx="5" type="body"/>
          </p:nvPr>
        </p:nvSpPr>
        <p:spPr>
          <a:xfrm>
            <a:off x="8066420" y="1958896"/>
            <a:ext cx="2882475"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5" name="Google Shape;55;p19"/>
          <p:cNvSpPr txBox="1"/>
          <p:nvPr>
            <p:ph idx="6" type="body"/>
          </p:nvPr>
        </p:nvSpPr>
        <p:spPr>
          <a:xfrm>
            <a:off x="8066421" y="3056709"/>
            <a:ext cx="2882475" cy="277576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Birla Institute of Technology and Science, Pilani | Logopedia | Fandom" id="58" name="Google Shape;58;p19"/>
          <p:cNvPicPr preferRelativeResize="0"/>
          <p:nvPr/>
        </p:nvPicPr>
        <p:blipFill rotWithShape="1">
          <a:blip r:embed="rId2">
            <a:alphaModFix/>
          </a:blip>
          <a:srcRect b="0" l="0" r="0" t="0"/>
          <a:stretch/>
        </p:blipFill>
        <p:spPr>
          <a:xfrm>
            <a:off x="0" y="28575"/>
            <a:ext cx="704850" cy="70485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Table">
    <p:bg>
      <p:bgPr>
        <a:solidFill>
          <a:schemeClr val="lt1"/>
        </a:solidFill>
      </p:bgPr>
    </p:bg>
    <p:spTree>
      <p:nvGrpSpPr>
        <p:cNvPr id="59" name="Shape 59"/>
        <p:cNvGrpSpPr/>
        <p:nvPr/>
      </p:nvGrpSpPr>
      <p:grpSpPr>
        <a:xfrm>
          <a:off x="0" y="0"/>
          <a:ext cx="0" cy="0"/>
          <a:chOff x="0" y="0"/>
          <a:chExt cx="0" cy="0"/>
        </a:xfrm>
      </p:grpSpPr>
      <p:sp>
        <p:nvSpPr>
          <p:cNvPr id="60" name="Google Shape;60;p8"/>
          <p:cNvSpPr txBox="1"/>
          <p:nvPr>
            <p:ph type="title"/>
          </p:nvPr>
        </p:nvSpPr>
        <p:spPr>
          <a:xfrm>
            <a:off x="838200" y="365125"/>
            <a:ext cx="10515599" cy="1246199"/>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4000"/>
              <a:buFont typeface="Calibri"/>
              <a:buNone/>
              <a:defRPr b="1" sz="40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Birla Institute of Technology and Science, Pilani | Logopedia | Fandom" id="63" name="Google Shape;63;p8"/>
          <p:cNvPicPr preferRelativeResize="0"/>
          <p:nvPr/>
        </p:nvPicPr>
        <p:blipFill rotWithShape="1">
          <a:blip r:embed="rId2">
            <a:alphaModFix/>
          </a:blip>
          <a:srcRect b="0" l="0" r="0" t="0"/>
          <a:stretch/>
        </p:blipFill>
        <p:spPr>
          <a:xfrm>
            <a:off x="0" y="28575"/>
            <a:ext cx="704850" cy="704850"/>
          </a:xfrm>
          <a:prstGeom prst="rect">
            <a:avLst/>
          </a:prstGeom>
          <a:noFill/>
          <a:ln>
            <a:noFill/>
          </a:ln>
        </p:spPr>
      </p:pic>
      <p:sp>
        <p:nvSpPr>
          <p:cNvPr id="64" name="Google Shape;64;p8"/>
          <p:cNvSpPr txBox="1"/>
          <p:nvPr>
            <p:ph idx="1" type="body"/>
          </p:nvPr>
        </p:nvSpPr>
        <p:spPr>
          <a:xfrm>
            <a:off x="838200" y="1894114"/>
            <a:ext cx="10515599" cy="4180115"/>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1000"/>
              </a:spcBef>
              <a:spcAft>
                <a:spcPts val="0"/>
              </a:spcAft>
              <a:buClr>
                <a:schemeClr val="dk1"/>
              </a:buClr>
              <a:buSzPts val="2800"/>
              <a:buFont typeface="Arial"/>
              <a:buChar char="•"/>
              <a:defRPr sz="28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65" name="Google Shape;65;p8"/>
          <p:cNvSpPr txBox="1"/>
          <p:nvPr/>
        </p:nvSpPr>
        <p:spPr>
          <a:xfrm>
            <a:off x="9192000" y="0"/>
            <a:ext cx="3000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800">
                <a:solidFill>
                  <a:srgbClr val="000000"/>
                </a:solidFill>
              </a:rPr>
              <a:t>CV 1</a:t>
            </a:r>
            <a:r>
              <a:rPr lang="en-US" sz="800"/>
              <a:t>3</a:t>
            </a:r>
            <a:r>
              <a:rPr lang="en-US" sz="800">
                <a:solidFill>
                  <a:srgbClr val="000000"/>
                </a:solidFill>
              </a:rPr>
              <a:t>: </a:t>
            </a:r>
            <a:r>
              <a:rPr lang="en-US" sz="800"/>
              <a:t>Object Detection Algorithms - RCNN</a:t>
            </a:r>
            <a:endParaRPr sz="800">
              <a:solidFill>
                <a:srgbClr val="000000"/>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type="obj">
  <p:cSld name="OBJECT">
    <p:bg>
      <p:bgPr>
        <a:solidFill>
          <a:schemeClr val="dk1"/>
        </a:solidFill>
      </p:bgPr>
    </p:bg>
    <p:spTree>
      <p:nvGrpSpPr>
        <p:cNvPr id="66" name="Shape 66"/>
        <p:cNvGrpSpPr/>
        <p:nvPr/>
      </p:nvGrpSpPr>
      <p:grpSpPr>
        <a:xfrm>
          <a:off x="0" y="0"/>
          <a:ext cx="0" cy="0"/>
          <a:chOff x="0" y="0"/>
          <a:chExt cx="0" cy="0"/>
        </a:xfrm>
      </p:grpSpPr>
      <p:pic>
        <p:nvPicPr>
          <p:cNvPr id="67" name="Google Shape;67;p10"/>
          <p:cNvPicPr preferRelativeResize="0"/>
          <p:nvPr/>
        </p:nvPicPr>
        <p:blipFill rotWithShape="1">
          <a:blip r:embed="rId2">
            <a:alphaModFix/>
          </a:blip>
          <a:srcRect b="23070" l="0" r="28339" t="18301"/>
          <a:stretch/>
        </p:blipFill>
        <p:spPr>
          <a:xfrm>
            <a:off x="5488815" y="0"/>
            <a:ext cx="6703185" cy="6858000"/>
          </a:xfrm>
          <a:prstGeom prst="rect">
            <a:avLst/>
          </a:prstGeom>
          <a:noFill/>
          <a:ln>
            <a:noFill/>
          </a:ln>
        </p:spPr>
      </p:pic>
      <p:sp>
        <p:nvSpPr>
          <p:cNvPr id="68" name="Google Shape;68;p10"/>
          <p:cNvSpPr txBox="1"/>
          <p:nvPr>
            <p:ph type="title"/>
          </p:nvPr>
        </p:nvSpPr>
        <p:spPr>
          <a:xfrm>
            <a:off x="1333500" y="1020445"/>
            <a:ext cx="2895600"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2800"/>
              <a:buFont typeface="Calibri"/>
              <a:buNone/>
              <a:defRPr sz="28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0"/>
          <p:cNvSpPr txBox="1"/>
          <p:nvPr>
            <p:ph idx="1" type="body"/>
          </p:nvPr>
        </p:nvSpPr>
        <p:spPr>
          <a:xfrm>
            <a:off x="1333500" y="2924175"/>
            <a:ext cx="2895600" cy="2519363"/>
          </a:xfrm>
          <a:prstGeom prst="rect">
            <a:avLst/>
          </a:prstGeom>
          <a:noFill/>
          <a:ln>
            <a:noFill/>
          </a:ln>
        </p:spPr>
        <p:txBody>
          <a:bodyPr anchorCtr="0" anchor="t" bIns="45700" lIns="91425" spcFirstLastPara="1" rIns="91425" wrap="square" tIns="45700">
            <a:normAutofit/>
          </a:bodyPr>
          <a:lstStyle>
            <a:lvl1pPr indent="-228600" lvl="0" marL="457200" algn="l">
              <a:lnSpc>
                <a:spcPct val="150000"/>
              </a:lnSpc>
              <a:spcBef>
                <a:spcPts val="1000"/>
              </a:spcBef>
              <a:spcAft>
                <a:spcPts val="0"/>
              </a:spcAft>
              <a:buClr>
                <a:schemeClr val="lt1"/>
              </a:buClr>
              <a:buSzPts val="1400"/>
              <a:buNone/>
              <a:defRPr sz="1400">
                <a:solidFill>
                  <a:schemeClr val="lt1"/>
                </a:solidFill>
              </a:defRPr>
            </a:lvl1pPr>
            <a:lvl2pPr indent="-228600" lvl="1" marL="914400" algn="l">
              <a:lnSpc>
                <a:spcPct val="150000"/>
              </a:lnSpc>
              <a:spcBef>
                <a:spcPts val="500"/>
              </a:spcBef>
              <a:spcAft>
                <a:spcPts val="0"/>
              </a:spcAft>
              <a:buClr>
                <a:schemeClr val="lt1"/>
              </a:buClr>
              <a:buSzPts val="1400"/>
              <a:buNone/>
              <a:defRPr sz="1400">
                <a:solidFill>
                  <a:schemeClr val="lt1"/>
                </a:solidFill>
              </a:defRPr>
            </a:lvl2pPr>
            <a:lvl3pPr indent="-228600" lvl="2" marL="1371600" algn="l">
              <a:lnSpc>
                <a:spcPct val="150000"/>
              </a:lnSpc>
              <a:spcBef>
                <a:spcPts val="500"/>
              </a:spcBef>
              <a:spcAft>
                <a:spcPts val="0"/>
              </a:spcAft>
              <a:buClr>
                <a:schemeClr val="lt1"/>
              </a:buClr>
              <a:buSzPts val="1400"/>
              <a:buNone/>
              <a:defRPr sz="1400">
                <a:solidFill>
                  <a:schemeClr val="lt1"/>
                </a:solidFill>
              </a:defRPr>
            </a:lvl3pPr>
            <a:lvl4pPr indent="-228600" lvl="3" marL="1828800" algn="l">
              <a:lnSpc>
                <a:spcPct val="150000"/>
              </a:lnSpc>
              <a:spcBef>
                <a:spcPts val="500"/>
              </a:spcBef>
              <a:spcAft>
                <a:spcPts val="0"/>
              </a:spcAft>
              <a:buClr>
                <a:schemeClr val="lt1"/>
              </a:buClr>
              <a:buSzPts val="1400"/>
              <a:buNone/>
              <a:defRPr sz="1400">
                <a:solidFill>
                  <a:schemeClr val="lt1"/>
                </a:solidFill>
              </a:defRPr>
            </a:lvl4pPr>
            <a:lvl5pPr indent="-228600" lvl="4" marL="2286000" algn="l">
              <a:lnSpc>
                <a:spcPct val="150000"/>
              </a:lnSpc>
              <a:spcBef>
                <a:spcPts val="500"/>
              </a:spcBef>
              <a:spcAft>
                <a:spcPts val="0"/>
              </a:spcAft>
              <a:buClr>
                <a:schemeClr val="lt1"/>
              </a:buClr>
              <a:buSzPts val="1400"/>
              <a:buNone/>
              <a:defRPr sz="140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0" name="Google Shape;70;p10"/>
          <p:cNvSpPr txBox="1"/>
          <p:nvPr>
            <p:ph idx="11" type="ftr"/>
          </p:nvPr>
        </p:nvSpPr>
        <p:spPr>
          <a:xfrm>
            <a:off x="2669886" y="6356349"/>
            <a:ext cx="2482842"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0"/>
          <p:cNvSpPr txBox="1"/>
          <p:nvPr>
            <p:ph idx="12" type="sldNum"/>
          </p:nvPr>
        </p:nvSpPr>
        <p:spPr>
          <a:xfrm>
            <a:off x="5536305" y="6356350"/>
            <a:ext cx="987552"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Introduction" type="secHead">
  <p:cSld name="SECTION_HEADER">
    <p:spTree>
      <p:nvGrpSpPr>
        <p:cNvPr id="72" name="Shape 72"/>
        <p:cNvGrpSpPr/>
        <p:nvPr/>
      </p:nvGrpSpPr>
      <p:grpSpPr>
        <a:xfrm>
          <a:off x="0" y="0"/>
          <a:ext cx="0" cy="0"/>
          <a:chOff x="0" y="0"/>
          <a:chExt cx="0" cy="0"/>
        </a:xfrm>
      </p:grpSpPr>
      <p:sp>
        <p:nvSpPr>
          <p:cNvPr id="73" name="Google Shape;73;p11"/>
          <p:cNvSpPr txBox="1"/>
          <p:nvPr>
            <p:ph type="title"/>
          </p:nvPr>
        </p:nvSpPr>
        <p:spPr>
          <a:xfrm>
            <a:off x="468449" y="1671639"/>
            <a:ext cx="6005376" cy="65318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1"/>
          <p:cNvSpPr txBox="1"/>
          <p:nvPr>
            <p:ph idx="1" type="body"/>
          </p:nvPr>
        </p:nvSpPr>
        <p:spPr>
          <a:xfrm>
            <a:off x="1362075" y="2586447"/>
            <a:ext cx="6005376" cy="3304902"/>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000"/>
              </a:spcBef>
              <a:spcAft>
                <a:spcPts val="0"/>
              </a:spcAft>
              <a:buClr>
                <a:schemeClr val="dk1"/>
              </a:buClr>
              <a:buSzPts val="2400"/>
              <a:buFont typeface="Calibri"/>
              <a:buAutoNum type="arabicPeriod"/>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75" name="Google Shape;75;p11"/>
          <p:cNvSpPr txBox="1"/>
          <p:nvPr>
            <p:ph idx="11" type="ftr"/>
          </p:nvPr>
        </p:nvSpPr>
        <p:spPr>
          <a:xfrm>
            <a:off x="2463800" y="6356350"/>
            <a:ext cx="3479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BITS Pilani logo" id="77" name="Google Shape;77;p11"/>
          <p:cNvPicPr preferRelativeResize="0"/>
          <p:nvPr/>
        </p:nvPicPr>
        <p:blipFill rotWithShape="1">
          <a:blip r:embed="rId2">
            <a:alphaModFix/>
          </a:blip>
          <a:srcRect b="0" l="0" r="0" t="0"/>
          <a:stretch/>
        </p:blipFill>
        <p:spPr>
          <a:xfrm>
            <a:off x="384175" y="288928"/>
            <a:ext cx="3338739" cy="865907"/>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Break" type="title">
  <p:cSld name="TITLE">
    <p:bg>
      <p:bgPr>
        <a:solidFill>
          <a:schemeClr val="dk1"/>
        </a:solidFill>
      </p:bgPr>
    </p:bg>
    <p:spTree>
      <p:nvGrpSpPr>
        <p:cNvPr id="78" name="Shape 78"/>
        <p:cNvGrpSpPr/>
        <p:nvPr/>
      </p:nvGrpSpPr>
      <p:grpSpPr>
        <a:xfrm>
          <a:off x="0" y="0"/>
          <a:ext cx="0" cy="0"/>
          <a:chOff x="0" y="0"/>
          <a:chExt cx="0" cy="0"/>
        </a:xfrm>
      </p:grpSpPr>
      <p:sp>
        <p:nvSpPr>
          <p:cNvPr id="79" name="Google Shape;79;p12"/>
          <p:cNvSpPr txBox="1"/>
          <p:nvPr>
            <p:ph type="ctrTitle"/>
          </p:nvPr>
        </p:nvSpPr>
        <p:spPr>
          <a:xfrm>
            <a:off x="6991350" y="2148840"/>
            <a:ext cx="4179570" cy="1715531"/>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3600"/>
              <a:buFont typeface="Calibri"/>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2"/>
          <p:cNvSpPr txBox="1"/>
          <p:nvPr>
            <p:ph idx="1" type="subTitle"/>
          </p:nvPr>
        </p:nvSpPr>
        <p:spPr>
          <a:xfrm>
            <a:off x="6991350" y="3962003"/>
            <a:ext cx="4179570" cy="365125"/>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1600"/>
              <a:buNone/>
              <a:defRPr sz="16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81" name="Google Shape;81;p12"/>
          <p:cNvPicPr preferRelativeResize="0"/>
          <p:nvPr/>
        </p:nvPicPr>
        <p:blipFill rotWithShape="1">
          <a:blip r:embed="rId2">
            <a:alphaModFix/>
          </a:blip>
          <a:srcRect b="0" l="0" r="0" t="0"/>
          <a:stretch/>
        </p:blipFill>
        <p:spPr>
          <a:xfrm>
            <a:off x="0" y="828675"/>
            <a:ext cx="5876925" cy="520065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lide 4 People">
  <p:cSld name="Team Slide 4 People">
    <p:bg>
      <p:bgPr>
        <a:solidFill>
          <a:schemeClr val="lt1"/>
        </a:solidFill>
      </p:bgPr>
    </p:bg>
    <p:spTree>
      <p:nvGrpSpPr>
        <p:cNvPr id="82" name="Shape 82"/>
        <p:cNvGrpSpPr/>
        <p:nvPr/>
      </p:nvGrpSpPr>
      <p:grpSpPr>
        <a:xfrm>
          <a:off x="0" y="0"/>
          <a:ext cx="0" cy="0"/>
          <a:chOff x="0" y="0"/>
          <a:chExt cx="0" cy="0"/>
        </a:xfrm>
      </p:grpSpPr>
      <p:sp>
        <p:nvSpPr>
          <p:cNvPr id="83" name="Google Shape;83;p14"/>
          <p:cNvSpPr txBox="1"/>
          <p:nvPr>
            <p:ph type="title"/>
          </p:nvPr>
        </p:nvSpPr>
        <p:spPr>
          <a:xfrm>
            <a:off x="1228567" y="373362"/>
            <a:ext cx="10462689" cy="1298684"/>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4"/>
          <p:cNvSpPr/>
          <p:nvPr>
            <p:ph idx="2" type="pic"/>
          </p:nvPr>
        </p:nvSpPr>
        <p:spPr>
          <a:xfrm>
            <a:off x="1487181" y="2886074"/>
            <a:ext cx="1845511" cy="1845511"/>
          </a:xfrm>
          <a:prstGeom prst="rect">
            <a:avLst/>
          </a:prstGeom>
          <a:solidFill>
            <a:srgbClr val="F2F2F2"/>
          </a:solidFill>
          <a:ln>
            <a:noFill/>
          </a:ln>
        </p:spPr>
      </p:sp>
      <p:sp>
        <p:nvSpPr>
          <p:cNvPr id="85" name="Google Shape;85;p14"/>
          <p:cNvSpPr txBox="1"/>
          <p:nvPr>
            <p:ph idx="1" type="body"/>
          </p:nvPr>
        </p:nvSpPr>
        <p:spPr>
          <a:xfrm>
            <a:off x="1228568" y="5084524"/>
            <a:ext cx="2317707"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6" name="Google Shape;86;p14"/>
          <p:cNvSpPr txBox="1"/>
          <p:nvPr>
            <p:ph idx="3" type="body"/>
          </p:nvPr>
        </p:nvSpPr>
        <p:spPr>
          <a:xfrm>
            <a:off x="1487181" y="5464114"/>
            <a:ext cx="1845511"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7" name="Google Shape;87;p14"/>
          <p:cNvSpPr/>
          <p:nvPr>
            <p:ph idx="4" type="pic"/>
          </p:nvPr>
        </p:nvSpPr>
        <p:spPr>
          <a:xfrm>
            <a:off x="3836914" y="2886074"/>
            <a:ext cx="1845511" cy="1845511"/>
          </a:xfrm>
          <a:prstGeom prst="rect">
            <a:avLst/>
          </a:prstGeom>
          <a:solidFill>
            <a:srgbClr val="F2F2F2"/>
          </a:solidFill>
          <a:ln>
            <a:noFill/>
          </a:ln>
        </p:spPr>
      </p:sp>
      <p:sp>
        <p:nvSpPr>
          <p:cNvPr id="88" name="Google Shape;88;p14"/>
          <p:cNvSpPr txBox="1"/>
          <p:nvPr>
            <p:ph idx="5" type="body"/>
          </p:nvPr>
        </p:nvSpPr>
        <p:spPr>
          <a:xfrm>
            <a:off x="3578300" y="5084524"/>
            <a:ext cx="2330816"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9" name="Google Shape;89;p14"/>
          <p:cNvSpPr txBox="1"/>
          <p:nvPr>
            <p:ph idx="6" type="body"/>
          </p:nvPr>
        </p:nvSpPr>
        <p:spPr>
          <a:xfrm>
            <a:off x="3836913" y="5478796"/>
            <a:ext cx="1855949"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90" name="Google Shape;90;p14"/>
          <p:cNvSpPr/>
          <p:nvPr>
            <p:ph idx="7" type="pic"/>
          </p:nvPr>
        </p:nvSpPr>
        <p:spPr>
          <a:xfrm>
            <a:off x="6327578" y="2886074"/>
            <a:ext cx="1845511" cy="1845511"/>
          </a:xfrm>
          <a:prstGeom prst="rect">
            <a:avLst/>
          </a:prstGeom>
          <a:solidFill>
            <a:srgbClr val="F2F2F2"/>
          </a:solidFill>
          <a:ln>
            <a:noFill/>
          </a:ln>
        </p:spPr>
      </p:sp>
      <p:sp>
        <p:nvSpPr>
          <p:cNvPr id="91" name="Google Shape;91;p14"/>
          <p:cNvSpPr txBox="1"/>
          <p:nvPr>
            <p:ph idx="8" type="body"/>
          </p:nvPr>
        </p:nvSpPr>
        <p:spPr>
          <a:xfrm>
            <a:off x="6068964" y="5084524"/>
            <a:ext cx="2317707"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92" name="Google Shape;92;p14"/>
          <p:cNvSpPr txBox="1"/>
          <p:nvPr>
            <p:ph idx="9" type="body"/>
          </p:nvPr>
        </p:nvSpPr>
        <p:spPr>
          <a:xfrm>
            <a:off x="6327577" y="5478796"/>
            <a:ext cx="1845511"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93" name="Google Shape;93;p14"/>
          <p:cNvSpPr/>
          <p:nvPr>
            <p:ph idx="13" type="pic"/>
          </p:nvPr>
        </p:nvSpPr>
        <p:spPr>
          <a:xfrm>
            <a:off x="8747458" y="2886074"/>
            <a:ext cx="1845511" cy="1845511"/>
          </a:xfrm>
          <a:prstGeom prst="rect">
            <a:avLst/>
          </a:prstGeom>
          <a:solidFill>
            <a:srgbClr val="F2F2F2"/>
          </a:solidFill>
          <a:ln>
            <a:noFill/>
          </a:ln>
        </p:spPr>
      </p:sp>
      <p:sp>
        <p:nvSpPr>
          <p:cNvPr id="94" name="Google Shape;94;p14"/>
          <p:cNvSpPr txBox="1"/>
          <p:nvPr>
            <p:ph idx="14" type="body"/>
          </p:nvPr>
        </p:nvSpPr>
        <p:spPr>
          <a:xfrm>
            <a:off x="8488845" y="5084524"/>
            <a:ext cx="2317706"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95" name="Google Shape;95;p14"/>
          <p:cNvSpPr txBox="1"/>
          <p:nvPr>
            <p:ph idx="15" type="body"/>
          </p:nvPr>
        </p:nvSpPr>
        <p:spPr>
          <a:xfrm>
            <a:off x="8747458" y="5464114"/>
            <a:ext cx="184551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96" name="Google Shape;96;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Birla Institute of Technology and Science, Pilani | Logopedia | Fandom" id="98" name="Google Shape;98;p14"/>
          <p:cNvPicPr preferRelativeResize="0"/>
          <p:nvPr/>
        </p:nvPicPr>
        <p:blipFill rotWithShape="1">
          <a:blip r:embed="rId2">
            <a:alphaModFix/>
          </a:blip>
          <a:srcRect b="0" l="0" r="0" t="0"/>
          <a:stretch/>
        </p:blipFill>
        <p:spPr>
          <a:xfrm>
            <a:off x="0" y="28575"/>
            <a:ext cx="704850" cy="70485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lide 8 People">
  <p:cSld name="Team Slide 8 People">
    <p:bg>
      <p:bgPr>
        <a:solidFill>
          <a:schemeClr val="dk1"/>
        </a:solidFill>
      </p:bgPr>
    </p:bg>
    <p:spTree>
      <p:nvGrpSpPr>
        <p:cNvPr id="99" name="Shape 99"/>
        <p:cNvGrpSpPr/>
        <p:nvPr/>
      </p:nvGrpSpPr>
      <p:grpSpPr>
        <a:xfrm>
          <a:off x="0" y="0"/>
          <a:ext cx="0" cy="0"/>
          <a:chOff x="0" y="0"/>
          <a:chExt cx="0" cy="0"/>
        </a:xfrm>
      </p:grpSpPr>
      <p:grpSp>
        <p:nvGrpSpPr>
          <p:cNvPr id="100" name="Google Shape;100;p15"/>
          <p:cNvGrpSpPr/>
          <p:nvPr/>
        </p:nvGrpSpPr>
        <p:grpSpPr>
          <a:xfrm>
            <a:off x="0" y="473953"/>
            <a:ext cx="12192000" cy="5621336"/>
            <a:chOff x="0" y="473953"/>
            <a:chExt cx="12192000" cy="5621336"/>
          </a:xfrm>
        </p:grpSpPr>
        <p:pic>
          <p:nvPicPr>
            <p:cNvPr id="101" name="Google Shape;101;p15"/>
            <p:cNvPicPr preferRelativeResize="0"/>
            <p:nvPr/>
          </p:nvPicPr>
          <p:blipFill rotWithShape="1">
            <a:blip r:embed="rId2">
              <a:alphaModFix/>
            </a:blip>
            <a:srcRect b="0" l="0" r="0" t="0"/>
            <a:stretch/>
          </p:blipFill>
          <p:spPr>
            <a:xfrm>
              <a:off x="0" y="473953"/>
              <a:ext cx="2057400" cy="1647825"/>
            </a:xfrm>
            <a:prstGeom prst="rect">
              <a:avLst/>
            </a:prstGeom>
            <a:noFill/>
            <a:ln>
              <a:noFill/>
            </a:ln>
          </p:spPr>
        </p:pic>
        <p:pic>
          <p:nvPicPr>
            <p:cNvPr id="102" name="Google Shape;102;p15"/>
            <p:cNvPicPr preferRelativeResize="0"/>
            <p:nvPr/>
          </p:nvPicPr>
          <p:blipFill rotWithShape="1">
            <a:blip r:embed="rId3">
              <a:alphaModFix/>
            </a:blip>
            <a:srcRect b="0" l="0" r="0" t="0"/>
            <a:stretch/>
          </p:blipFill>
          <p:spPr>
            <a:xfrm>
              <a:off x="11049000" y="5180889"/>
              <a:ext cx="1143000" cy="914400"/>
            </a:xfrm>
            <a:prstGeom prst="rect">
              <a:avLst/>
            </a:prstGeom>
            <a:noFill/>
            <a:ln>
              <a:noFill/>
            </a:ln>
          </p:spPr>
        </p:pic>
      </p:grpSp>
      <p:sp>
        <p:nvSpPr>
          <p:cNvPr id="103" name="Google Shape;103;p15"/>
          <p:cNvSpPr txBox="1"/>
          <p:nvPr>
            <p:ph type="title"/>
          </p:nvPr>
        </p:nvSpPr>
        <p:spPr>
          <a:xfrm>
            <a:off x="1885156" y="892177"/>
            <a:ext cx="8421688"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2800"/>
              <a:buFont typeface="Calibri"/>
              <a:buNone/>
              <a:defRPr sz="280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15"/>
          <p:cNvSpPr/>
          <p:nvPr>
            <p:ph idx="2" type="pic"/>
          </p:nvPr>
        </p:nvSpPr>
        <p:spPr>
          <a:xfrm>
            <a:off x="1877176" y="2428875"/>
            <a:ext cx="1066800" cy="1066800"/>
          </a:xfrm>
          <a:prstGeom prst="rect">
            <a:avLst/>
          </a:prstGeom>
          <a:solidFill>
            <a:schemeClr val="lt1"/>
          </a:solidFill>
          <a:ln>
            <a:noFill/>
          </a:ln>
        </p:spPr>
      </p:sp>
      <p:sp>
        <p:nvSpPr>
          <p:cNvPr id="105" name="Google Shape;105;p15"/>
          <p:cNvSpPr txBox="1"/>
          <p:nvPr>
            <p:ph idx="1" type="body"/>
          </p:nvPr>
        </p:nvSpPr>
        <p:spPr>
          <a:xfrm>
            <a:off x="1500168" y="3654378"/>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6" name="Google Shape;106;p15"/>
          <p:cNvSpPr txBox="1"/>
          <p:nvPr>
            <p:ph idx="3" type="body"/>
          </p:nvPr>
        </p:nvSpPr>
        <p:spPr>
          <a:xfrm>
            <a:off x="1500168" y="3809747"/>
            <a:ext cx="1828800"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7" name="Google Shape;107;p15"/>
          <p:cNvSpPr/>
          <p:nvPr>
            <p:ph idx="4" type="pic"/>
          </p:nvPr>
        </p:nvSpPr>
        <p:spPr>
          <a:xfrm>
            <a:off x="4226270" y="2428875"/>
            <a:ext cx="1066800" cy="1066800"/>
          </a:xfrm>
          <a:prstGeom prst="rect">
            <a:avLst/>
          </a:prstGeom>
          <a:solidFill>
            <a:schemeClr val="lt1"/>
          </a:solidFill>
          <a:ln>
            <a:noFill/>
          </a:ln>
        </p:spPr>
      </p:sp>
      <p:sp>
        <p:nvSpPr>
          <p:cNvPr id="108" name="Google Shape;108;p15"/>
          <p:cNvSpPr txBox="1"/>
          <p:nvPr>
            <p:ph idx="5" type="body"/>
          </p:nvPr>
        </p:nvSpPr>
        <p:spPr>
          <a:xfrm>
            <a:off x="3849262" y="3654378"/>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9" name="Google Shape;109;p15"/>
          <p:cNvSpPr txBox="1"/>
          <p:nvPr>
            <p:ph idx="6" type="body"/>
          </p:nvPr>
        </p:nvSpPr>
        <p:spPr>
          <a:xfrm>
            <a:off x="3849262" y="3809747"/>
            <a:ext cx="1828800"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10" name="Google Shape;110;p15"/>
          <p:cNvSpPr/>
          <p:nvPr>
            <p:ph idx="7" type="pic"/>
          </p:nvPr>
        </p:nvSpPr>
        <p:spPr>
          <a:xfrm>
            <a:off x="6655584" y="2428875"/>
            <a:ext cx="1066800" cy="1066800"/>
          </a:xfrm>
          <a:prstGeom prst="rect">
            <a:avLst/>
          </a:prstGeom>
          <a:solidFill>
            <a:schemeClr val="lt1"/>
          </a:solidFill>
          <a:ln>
            <a:noFill/>
          </a:ln>
        </p:spPr>
      </p:sp>
      <p:sp>
        <p:nvSpPr>
          <p:cNvPr id="111" name="Google Shape;111;p15"/>
          <p:cNvSpPr txBox="1"/>
          <p:nvPr>
            <p:ph idx="8" type="body"/>
          </p:nvPr>
        </p:nvSpPr>
        <p:spPr>
          <a:xfrm>
            <a:off x="6198355" y="3654378"/>
            <a:ext cx="2105135"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12" name="Google Shape;112;p15"/>
          <p:cNvSpPr txBox="1"/>
          <p:nvPr>
            <p:ph idx="9" type="body"/>
          </p:nvPr>
        </p:nvSpPr>
        <p:spPr>
          <a:xfrm>
            <a:off x="6095999" y="3809747"/>
            <a:ext cx="2299855"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13" name="Google Shape;113;p15"/>
          <p:cNvSpPr/>
          <p:nvPr>
            <p:ph idx="13" type="pic"/>
          </p:nvPr>
        </p:nvSpPr>
        <p:spPr>
          <a:xfrm>
            <a:off x="9136814" y="2428875"/>
            <a:ext cx="1066800" cy="1066800"/>
          </a:xfrm>
          <a:prstGeom prst="rect">
            <a:avLst/>
          </a:prstGeom>
          <a:solidFill>
            <a:schemeClr val="lt1"/>
          </a:solidFill>
          <a:ln>
            <a:noFill/>
          </a:ln>
        </p:spPr>
      </p:sp>
      <p:sp>
        <p:nvSpPr>
          <p:cNvPr id="114" name="Google Shape;114;p15"/>
          <p:cNvSpPr txBox="1"/>
          <p:nvPr>
            <p:ph idx="14" type="body"/>
          </p:nvPr>
        </p:nvSpPr>
        <p:spPr>
          <a:xfrm>
            <a:off x="8759806" y="3654378"/>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15" name="Google Shape;115;p15"/>
          <p:cNvSpPr txBox="1"/>
          <p:nvPr>
            <p:ph idx="15" type="body"/>
          </p:nvPr>
        </p:nvSpPr>
        <p:spPr>
          <a:xfrm>
            <a:off x="8744480" y="3809747"/>
            <a:ext cx="1844126"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16" name="Google Shape;116;p15"/>
          <p:cNvSpPr/>
          <p:nvPr>
            <p:ph idx="16" type="pic"/>
          </p:nvPr>
        </p:nvSpPr>
        <p:spPr>
          <a:xfrm>
            <a:off x="1877176" y="4287711"/>
            <a:ext cx="1066800" cy="1066800"/>
          </a:xfrm>
          <a:prstGeom prst="rect">
            <a:avLst/>
          </a:prstGeom>
          <a:solidFill>
            <a:schemeClr val="lt1"/>
          </a:solidFill>
          <a:ln>
            <a:noFill/>
          </a:ln>
        </p:spPr>
      </p:sp>
      <p:sp>
        <p:nvSpPr>
          <p:cNvPr id="117" name="Google Shape;117;p15"/>
          <p:cNvSpPr txBox="1"/>
          <p:nvPr>
            <p:ph idx="17" type="body"/>
          </p:nvPr>
        </p:nvSpPr>
        <p:spPr>
          <a:xfrm>
            <a:off x="1500168" y="5513214"/>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18" name="Google Shape;118;p15"/>
          <p:cNvSpPr txBox="1"/>
          <p:nvPr>
            <p:ph idx="18" type="body"/>
          </p:nvPr>
        </p:nvSpPr>
        <p:spPr>
          <a:xfrm>
            <a:off x="1500168" y="5668583"/>
            <a:ext cx="1828800"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19" name="Google Shape;119;p15"/>
          <p:cNvSpPr/>
          <p:nvPr>
            <p:ph idx="19" type="pic"/>
          </p:nvPr>
        </p:nvSpPr>
        <p:spPr>
          <a:xfrm>
            <a:off x="4226270" y="4287711"/>
            <a:ext cx="1066800" cy="1066800"/>
          </a:xfrm>
          <a:prstGeom prst="rect">
            <a:avLst/>
          </a:prstGeom>
          <a:solidFill>
            <a:schemeClr val="lt1"/>
          </a:solidFill>
          <a:ln>
            <a:noFill/>
          </a:ln>
        </p:spPr>
      </p:sp>
      <p:sp>
        <p:nvSpPr>
          <p:cNvPr id="120" name="Google Shape;120;p15"/>
          <p:cNvSpPr txBox="1"/>
          <p:nvPr>
            <p:ph idx="20" type="body"/>
          </p:nvPr>
        </p:nvSpPr>
        <p:spPr>
          <a:xfrm>
            <a:off x="3849262" y="5513214"/>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21" name="Google Shape;121;p15"/>
          <p:cNvSpPr txBox="1"/>
          <p:nvPr>
            <p:ph idx="21" type="body"/>
          </p:nvPr>
        </p:nvSpPr>
        <p:spPr>
          <a:xfrm>
            <a:off x="3849262" y="5668583"/>
            <a:ext cx="1828800"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22" name="Google Shape;122;p15"/>
          <p:cNvSpPr/>
          <p:nvPr>
            <p:ph idx="22" type="pic"/>
          </p:nvPr>
        </p:nvSpPr>
        <p:spPr>
          <a:xfrm>
            <a:off x="6655584" y="4287711"/>
            <a:ext cx="1066800" cy="1066800"/>
          </a:xfrm>
          <a:prstGeom prst="rect">
            <a:avLst/>
          </a:prstGeom>
          <a:solidFill>
            <a:schemeClr val="lt1"/>
          </a:solidFill>
          <a:ln>
            <a:noFill/>
          </a:ln>
        </p:spPr>
      </p:sp>
      <p:sp>
        <p:nvSpPr>
          <p:cNvPr id="123" name="Google Shape;123;p15"/>
          <p:cNvSpPr txBox="1"/>
          <p:nvPr>
            <p:ph idx="23" type="body"/>
          </p:nvPr>
        </p:nvSpPr>
        <p:spPr>
          <a:xfrm>
            <a:off x="6339926" y="5513214"/>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24" name="Google Shape;124;p15"/>
          <p:cNvSpPr txBox="1"/>
          <p:nvPr>
            <p:ph idx="24" type="body"/>
          </p:nvPr>
        </p:nvSpPr>
        <p:spPr>
          <a:xfrm>
            <a:off x="6339926" y="5668583"/>
            <a:ext cx="1813474"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25" name="Google Shape;125;p15"/>
          <p:cNvSpPr/>
          <p:nvPr>
            <p:ph idx="25" type="pic"/>
          </p:nvPr>
        </p:nvSpPr>
        <p:spPr>
          <a:xfrm>
            <a:off x="9136814" y="4287711"/>
            <a:ext cx="1066800" cy="1066800"/>
          </a:xfrm>
          <a:prstGeom prst="rect">
            <a:avLst/>
          </a:prstGeom>
          <a:solidFill>
            <a:schemeClr val="lt1"/>
          </a:solidFill>
          <a:ln>
            <a:noFill/>
          </a:ln>
        </p:spPr>
      </p:sp>
      <p:sp>
        <p:nvSpPr>
          <p:cNvPr id="126" name="Google Shape;126;p15"/>
          <p:cNvSpPr txBox="1"/>
          <p:nvPr>
            <p:ph idx="26" type="body"/>
          </p:nvPr>
        </p:nvSpPr>
        <p:spPr>
          <a:xfrm>
            <a:off x="8759806" y="5513214"/>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27" name="Google Shape;127;p15"/>
          <p:cNvSpPr txBox="1"/>
          <p:nvPr>
            <p:ph idx="27" type="body"/>
          </p:nvPr>
        </p:nvSpPr>
        <p:spPr>
          <a:xfrm>
            <a:off x="8744480" y="5668583"/>
            <a:ext cx="1844126"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28" name="Google Shape;128;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Timeline">
    <p:spTree>
      <p:nvGrpSpPr>
        <p:cNvPr id="130" name="Shape 130"/>
        <p:cNvGrpSpPr/>
        <p:nvPr/>
      </p:nvGrpSpPr>
      <p:grpSpPr>
        <a:xfrm>
          <a:off x="0" y="0"/>
          <a:ext cx="0" cy="0"/>
          <a:chOff x="0" y="0"/>
          <a:chExt cx="0" cy="0"/>
        </a:xfrm>
      </p:grpSpPr>
      <p:sp>
        <p:nvSpPr>
          <p:cNvPr id="131" name="Google Shape;131;p17"/>
          <p:cNvSpPr/>
          <p:nvPr/>
        </p:nvSpPr>
        <p:spPr>
          <a:xfrm>
            <a:off x="2113884" y="0"/>
            <a:ext cx="10078116" cy="6858000"/>
          </a:xfrm>
          <a:custGeom>
            <a:rect b="b" l="l" r="r" t="t"/>
            <a:pathLst>
              <a:path extrusionOk="0" h="6858000" w="10078116">
                <a:moveTo>
                  <a:pt x="3793236" y="6858000"/>
                </a:moveTo>
                <a:lnTo>
                  <a:pt x="0" y="0"/>
                </a:lnTo>
                <a:lnTo>
                  <a:pt x="10078116" y="0"/>
                </a:lnTo>
                <a:lnTo>
                  <a:pt x="10078116" y="685800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2" name="Google Shape;132;p17"/>
          <p:cNvSpPr txBox="1"/>
          <p:nvPr>
            <p:ph idx="1" type="body"/>
          </p:nvPr>
        </p:nvSpPr>
        <p:spPr>
          <a:xfrm>
            <a:off x="166074" y="1716780"/>
            <a:ext cx="2141764" cy="514350"/>
          </a:xfrm>
          <a:prstGeom prst="rect">
            <a:avLst/>
          </a:prstGeom>
          <a:noFill/>
          <a:ln>
            <a:noFill/>
          </a:ln>
        </p:spPr>
        <p:txBody>
          <a:bodyPr anchorCtr="0" anchor="ctr"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2400"/>
              <a:buNone/>
              <a:defRPr sz="2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 name="Google Shape;133;p17"/>
          <p:cNvSpPr txBox="1"/>
          <p:nvPr>
            <p:ph idx="2" type="body"/>
          </p:nvPr>
        </p:nvSpPr>
        <p:spPr>
          <a:xfrm>
            <a:off x="732131" y="2793105"/>
            <a:ext cx="2141764" cy="514350"/>
          </a:xfrm>
          <a:prstGeom prst="rect">
            <a:avLst/>
          </a:prstGeom>
          <a:noFill/>
          <a:ln>
            <a:noFill/>
          </a:ln>
        </p:spPr>
        <p:txBody>
          <a:bodyPr anchorCtr="0" anchor="ctr"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2000"/>
              <a:buNone/>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 name="Google Shape;134;p17"/>
          <p:cNvSpPr txBox="1"/>
          <p:nvPr>
            <p:ph idx="3" type="body"/>
          </p:nvPr>
        </p:nvSpPr>
        <p:spPr>
          <a:xfrm>
            <a:off x="1338556" y="3869430"/>
            <a:ext cx="2141764" cy="514350"/>
          </a:xfrm>
          <a:prstGeom prst="rect">
            <a:avLst/>
          </a:prstGeom>
          <a:noFill/>
          <a:ln>
            <a:noFill/>
          </a:ln>
        </p:spPr>
        <p:txBody>
          <a:bodyPr anchorCtr="0" anchor="ctr"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2000"/>
              <a:buNone/>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 name="Google Shape;135;p17"/>
          <p:cNvSpPr txBox="1"/>
          <p:nvPr>
            <p:ph idx="4" type="body"/>
          </p:nvPr>
        </p:nvSpPr>
        <p:spPr>
          <a:xfrm>
            <a:off x="1922756" y="4958819"/>
            <a:ext cx="2141764" cy="514350"/>
          </a:xfrm>
          <a:prstGeom prst="rect">
            <a:avLst/>
          </a:prstGeom>
          <a:noFill/>
          <a:ln>
            <a:noFill/>
          </a:ln>
        </p:spPr>
        <p:txBody>
          <a:bodyPr anchorCtr="0" anchor="ctr"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2000"/>
              <a:buNone/>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6" name="Google Shape;136;p17"/>
          <p:cNvSpPr txBox="1"/>
          <p:nvPr>
            <p:ph idx="5" type="body"/>
          </p:nvPr>
        </p:nvSpPr>
        <p:spPr>
          <a:xfrm>
            <a:off x="4388473" y="1482898"/>
            <a:ext cx="5102680" cy="1010842"/>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1000"/>
              </a:spcBef>
              <a:spcAft>
                <a:spcPts val="0"/>
              </a:spcAft>
              <a:buClr>
                <a:schemeClr val="dk1"/>
              </a:buClr>
              <a:buSzPts val="2000"/>
              <a:buFont typeface="Arial"/>
              <a:buChar char="•"/>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 name="Google Shape;137;p17"/>
          <p:cNvSpPr txBox="1"/>
          <p:nvPr>
            <p:ph idx="6" type="body"/>
          </p:nvPr>
        </p:nvSpPr>
        <p:spPr>
          <a:xfrm>
            <a:off x="4986029" y="2604186"/>
            <a:ext cx="5102680" cy="1010842"/>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1000"/>
              </a:spcBef>
              <a:spcAft>
                <a:spcPts val="0"/>
              </a:spcAft>
              <a:buClr>
                <a:schemeClr val="dk1"/>
              </a:buClr>
              <a:buSzPts val="2000"/>
              <a:buFont typeface="Arial"/>
              <a:buChar char="•"/>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8" name="Google Shape;138;p17"/>
          <p:cNvSpPr txBox="1"/>
          <p:nvPr>
            <p:ph idx="7" type="body"/>
          </p:nvPr>
        </p:nvSpPr>
        <p:spPr>
          <a:xfrm>
            <a:off x="5576938" y="3677018"/>
            <a:ext cx="5102680" cy="1010842"/>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1000"/>
              </a:spcBef>
              <a:spcAft>
                <a:spcPts val="0"/>
              </a:spcAft>
              <a:buClr>
                <a:schemeClr val="dk1"/>
              </a:buClr>
              <a:buSzPts val="2000"/>
              <a:buFont typeface="Arial"/>
              <a:buChar char="•"/>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 name="Google Shape;139;p17"/>
          <p:cNvSpPr txBox="1"/>
          <p:nvPr>
            <p:ph idx="8" type="body"/>
          </p:nvPr>
        </p:nvSpPr>
        <p:spPr>
          <a:xfrm>
            <a:off x="6175280" y="4785241"/>
            <a:ext cx="5102680" cy="1010842"/>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1000"/>
              </a:spcBef>
              <a:spcAft>
                <a:spcPts val="0"/>
              </a:spcAft>
              <a:buClr>
                <a:schemeClr val="dk1"/>
              </a:buClr>
              <a:buSzPts val="2000"/>
              <a:buFont typeface="Arial"/>
              <a:buChar char="•"/>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0" name="Google Shape;140;p17"/>
          <p:cNvSpPr txBox="1"/>
          <p:nvPr>
            <p:ph idx="11" type="ftr"/>
          </p:nvPr>
        </p:nvSpPr>
        <p:spPr>
          <a:xfrm>
            <a:off x="6749143" y="6356350"/>
            <a:ext cx="3775981"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p17"/>
          <p:cNvSpPr txBox="1"/>
          <p:nvPr>
            <p:ph idx="12" type="sldNum"/>
          </p:nvPr>
        </p:nvSpPr>
        <p:spPr>
          <a:xfrm>
            <a:off x="10810874" y="6356350"/>
            <a:ext cx="5429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42" name="Google Shape;142;p17"/>
          <p:cNvCxnSpPr/>
          <p:nvPr/>
        </p:nvCxnSpPr>
        <p:spPr>
          <a:xfrm>
            <a:off x="4353515" y="5259067"/>
            <a:ext cx="1513211" cy="0"/>
          </a:xfrm>
          <a:prstGeom prst="straightConnector1">
            <a:avLst/>
          </a:prstGeom>
          <a:noFill/>
          <a:ln cap="flat" cmpd="sng" w="9525">
            <a:solidFill>
              <a:schemeClr val="dk1"/>
            </a:solidFill>
            <a:prstDash val="solid"/>
            <a:miter lim="800000"/>
            <a:headEnd len="sm" w="sm" type="none"/>
            <a:tailEnd len="sm" w="sm" type="none"/>
          </a:ln>
        </p:spPr>
      </p:cxnSp>
      <p:cxnSp>
        <p:nvCxnSpPr>
          <p:cNvPr id="143" name="Google Shape;143;p17"/>
          <p:cNvCxnSpPr/>
          <p:nvPr/>
        </p:nvCxnSpPr>
        <p:spPr>
          <a:xfrm>
            <a:off x="3759917" y="4157459"/>
            <a:ext cx="1513211" cy="0"/>
          </a:xfrm>
          <a:prstGeom prst="straightConnector1">
            <a:avLst/>
          </a:prstGeom>
          <a:noFill/>
          <a:ln cap="flat" cmpd="sng" w="9525">
            <a:solidFill>
              <a:schemeClr val="dk1"/>
            </a:solidFill>
            <a:prstDash val="solid"/>
            <a:miter lim="800000"/>
            <a:headEnd len="sm" w="sm" type="none"/>
            <a:tailEnd len="sm" w="sm" type="none"/>
          </a:ln>
        </p:spPr>
      </p:cxnSp>
      <p:cxnSp>
        <p:nvCxnSpPr>
          <p:cNvPr id="144" name="Google Shape;144;p17"/>
          <p:cNvCxnSpPr/>
          <p:nvPr/>
        </p:nvCxnSpPr>
        <p:spPr>
          <a:xfrm>
            <a:off x="3173453" y="3081694"/>
            <a:ext cx="1513211" cy="0"/>
          </a:xfrm>
          <a:prstGeom prst="straightConnector1">
            <a:avLst/>
          </a:prstGeom>
          <a:noFill/>
          <a:ln cap="flat" cmpd="sng" w="9525">
            <a:solidFill>
              <a:schemeClr val="dk1"/>
            </a:solidFill>
            <a:prstDash val="solid"/>
            <a:miter lim="800000"/>
            <a:headEnd len="sm" w="sm" type="none"/>
            <a:tailEnd len="sm" w="sm" type="none"/>
          </a:ln>
        </p:spPr>
      </p:cxnSp>
      <p:cxnSp>
        <p:nvCxnSpPr>
          <p:cNvPr id="145" name="Google Shape;145;p17"/>
          <p:cNvCxnSpPr/>
          <p:nvPr/>
        </p:nvCxnSpPr>
        <p:spPr>
          <a:xfrm>
            <a:off x="2586263" y="2005091"/>
            <a:ext cx="1513211" cy="0"/>
          </a:xfrm>
          <a:prstGeom prst="straightConnector1">
            <a:avLst/>
          </a:prstGeom>
          <a:noFill/>
          <a:ln cap="flat" cmpd="sng" w="9525">
            <a:solidFill>
              <a:schemeClr val="dk1"/>
            </a:solidFill>
            <a:prstDash val="solid"/>
            <a:miter lim="800000"/>
            <a:headEnd len="sm" w="sm" type="none"/>
            <a:tailEnd len="sm" w="sm" type="none"/>
          </a:ln>
        </p:spPr>
      </p:cxnSp>
      <p:pic>
        <p:nvPicPr>
          <p:cNvPr descr="Birla Institute of Technology and Science, Pilani | Logopedia | Fandom" id="146" name="Google Shape;146;p17"/>
          <p:cNvPicPr preferRelativeResize="0"/>
          <p:nvPr/>
        </p:nvPicPr>
        <p:blipFill rotWithShape="1">
          <a:blip r:embed="rId2">
            <a:alphaModFix/>
          </a:blip>
          <a:srcRect b="0" l="0" r="0" t="0"/>
          <a:stretch/>
        </p:blipFill>
        <p:spPr>
          <a:xfrm>
            <a:off x="0" y="28575"/>
            <a:ext cx="704850" cy="704850"/>
          </a:xfrm>
          <a:prstGeom prst="rect">
            <a:avLst/>
          </a:prstGeom>
          <a:noFill/>
          <a:ln>
            <a:noFill/>
          </a:ln>
        </p:spPr>
      </p:pic>
      <p:sp>
        <p:nvSpPr>
          <p:cNvPr id="147" name="Google Shape;147;p17"/>
          <p:cNvSpPr txBox="1"/>
          <p:nvPr/>
        </p:nvSpPr>
        <p:spPr>
          <a:xfrm>
            <a:off x="729709" y="574358"/>
            <a:ext cx="6005376" cy="653184"/>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chemeClr val="dk1"/>
              </a:buClr>
              <a:buSzPts val="3200"/>
              <a:buFont typeface="Calibri"/>
              <a:buNone/>
            </a:pPr>
            <a:r>
              <a:rPr b="0" i="0" lang="en-US" sz="3200" u="none" cap="none" strike="noStrike">
                <a:solidFill>
                  <a:schemeClr val="dk1"/>
                </a:solidFill>
                <a:latin typeface="Calibri"/>
                <a:ea typeface="Calibri"/>
                <a:cs typeface="Calibri"/>
                <a:sym typeface="Calibri"/>
              </a:rPr>
              <a:t>Agenda</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bg>
      <p:bgPr>
        <a:solidFill>
          <a:schemeClr val="accent1"/>
        </a:solidFill>
      </p:bgPr>
    </p:bg>
    <p:spTree>
      <p:nvGrpSpPr>
        <p:cNvPr id="148" name="Shape 148"/>
        <p:cNvGrpSpPr/>
        <p:nvPr/>
      </p:nvGrpSpPr>
      <p:grpSpPr>
        <a:xfrm>
          <a:off x="0" y="0"/>
          <a:ext cx="0" cy="0"/>
          <a:chOff x="0" y="0"/>
          <a:chExt cx="0" cy="0"/>
        </a:xfrm>
      </p:grpSpPr>
      <p:sp>
        <p:nvSpPr>
          <p:cNvPr id="149" name="Google Shape;149;p18"/>
          <p:cNvSpPr txBox="1"/>
          <p:nvPr>
            <p:ph type="title"/>
          </p:nvPr>
        </p:nvSpPr>
        <p:spPr>
          <a:xfrm>
            <a:off x="1243104" y="443369"/>
            <a:ext cx="10110696" cy="105151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 name="Google Shape;150;p18"/>
          <p:cNvSpPr txBox="1"/>
          <p:nvPr>
            <p:ph idx="1" type="body"/>
          </p:nvPr>
        </p:nvSpPr>
        <p:spPr>
          <a:xfrm>
            <a:off x="1243103" y="1932770"/>
            <a:ext cx="2882475"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51" name="Google Shape;151;p18"/>
          <p:cNvSpPr txBox="1"/>
          <p:nvPr>
            <p:ph idx="2" type="body"/>
          </p:nvPr>
        </p:nvSpPr>
        <p:spPr>
          <a:xfrm>
            <a:off x="1243104" y="3056709"/>
            <a:ext cx="2882475" cy="277576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 name="Google Shape;152;p18"/>
          <p:cNvSpPr txBox="1"/>
          <p:nvPr>
            <p:ph idx="3" type="body"/>
          </p:nvPr>
        </p:nvSpPr>
        <p:spPr>
          <a:xfrm>
            <a:off x="4647664" y="1953443"/>
            <a:ext cx="2896671"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53" name="Google Shape;153;p18"/>
          <p:cNvSpPr txBox="1"/>
          <p:nvPr>
            <p:ph idx="4" type="body"/>
          </p:nvPr>
        </p:nvSpPr>
        <p:spPr>
          <a:xfrm>
            <a:off x="4647665" y="3056709"/>
            <a:ext cx="2896671" cy="277576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 name="Google Shape;154;p18"/>
          <p:cNvSpPr txBox="1"/>
          <p:nvPr>
            <p:ph idx="5" type="body"/>
          </p:nvPr>
        </p:nvSpPr>
        <p:spPr>
          <a:xfrm>
            <a:off x="8066420" y="1958896"/>
            <a:ext cx="2882475"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55" name="Google Shape;155;p18"/>
          <p:cNvSpPr txBox="1"/>
          <p:nvPr>
            <p:ph idx="6" type="body"/>
          </p:nvPr>
        </p:nvSpPr>
        <p:spPr>
          <a:xfrm>
            <a:off x="8066421" y="3056709"/>
            <a:ext cx="2882475" cy="277576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 name="Google Shape;156;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7" name="Google Shape;157;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Birla Institute of Technology and Science, Pilani | Logopedia | Fandom" id="158" name="Google Shape;158;p18"/>
          <p:cNvPicPr preferRelativeResize="0"/>
          <p:nvPr/>
        </p:nvPicPr>
        <p:blipFill rotWithShape="1">
          <a:blip r:embed="rId2">
            <a:alphaModFix/>
          </a:blip>
          <a:srcRect b="0" l="0" r="0" t="0"/>
          <a:stretch/>
        </p:blipFill>
        <p:spPr>
          <a:xfrm>
            <a:off x="0" y="28575"/>
            <a:ext cx="704850" cy="70485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ary">
  <p:cSld name="Summary">
    <p:spTree>
      <p:nvGrpSpPr>
        <p:cNvPr id="159" name="Shape 159"/>
        <p:cNvGrpSpPr/>
        <p:nvPr/>
      </p:nvGrpSpPr>
      <p:grpSpPr>
        <a:xfrm>
          <a:off x="0" y="0"/>
          <a:ext cx="0" cy="0"/>
          <a:chOff x="0" y="0"/>
          <a:chExt cx="0" cy="0"/>
        </a:xfrm>
      </p:grpSpPr>
      <p:sp>
        <p:nvSpPr>
          <p:cNvPr id="160" name="Google Shape;160;p20"/>
          <p:cNvSpPr txBox="1"/>
          <p:nvPr>
            <p:ph type="title"/>
          </p:nvPr>
        </p:nvSpPr>
        <p:spPr>
          <a:xfrm>
            <a:off x="3853543" y="1671639"/>
            <a:ext cx="6735082" cy="120491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1" name="Google Shape;161;p20"/>
          <p:cNvSpPr txBox="1"/>
          <p:nvPr>
            <p:ph idx="1" type="body"/>
          </p:nvPr>
        </p:nvSpPr>
        <p:spPr>
          <a:xfrm>
            <a:off x="3853543" y="3660774"/>
            <a:ext cx="6735082" cy="152558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62" name="Google Shape;162;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3" name="Google Shape;163;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BITS Pilani logo" id="164" name="Google Shape;164;p20"/>
          <p:cNvPicPr preferRelativeResize="0"/>
          <p:nvPr/>
        </p:nvPicPr>
        <p:blipFill rotWithShape="1">
          <a:blip r:embed="rId2">
            <a:alphaModFix/>
          </a:blip>
          <a:srcRect b="0" l="0" r="0" t="0"/>
          <a:stretch/>
        </p:blipFill>
        <p:spPr>
          <a:xfrm>
            <a:off x="8836705" y="192510"/>
            <a:ext cx="3338739" cy="865907"/>
          </a:xfrm>
          <a:prstGeom prst="rect">
            <a:avLst/>
          </a:prstGeom>
          <a:noFill/>
          <a:ln>
            <a:noFill/>
          </a:ln>
        </p:spPr>
      </p:pic>
    </p:spTree>
  </p:cSld>
  <p:clrMapOvr>
    <a:masterClrMapping/>
  </p:clrMapOvr>
  <p:extLst>
    <p:ext uri="{DCECCB84-F9BA-43D5-87BE-67443E8EF086}">
      <p15:sldGuideLst>
        <p15:guide id="1" pos="300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p:cSld name="Closing">
    <p:bg>
      <p:bgPr>
        <a:solidFill>
          <a:schemeClr val="dk1"/>
        </a:solidFill>
      </p:bgPr>
    </p:bg>
    <p:spTree>
      <p:nvGrpSpPr>
        <p:cNvPr id="165" name="Shape 165"/>
        <p:cNvGrpSpPr/>
        <p:nvPr/>
      </p:nvGrpSpPr>
      <p:grpSpPr>
        <a:xfrm>
          <a:off x="0" y="0"/>
          <a:ext cx="0" cy="0"/>
          <a:chOff x="0" y="0"/>
          <a:chExt cx="0" cy="0"/>
        </a:xfrm>
      </p:grpSpPr>
      <p:sp>
        <p:nvSpPr>
          <p:cNvPr id="166" name="Google Shape;166;p21"/>
          <p:cNvSpPr txBox="1"/>
          <p:nvPr>
            <p:ph type="ctrTitle"/>
          </p:nvPr>
        </p:nvSpPr>
        <p:spPr>
          <a:xfrm>
            <a:off x="4267200" y="1615736"/>
            <a:ext cx="4179570" cy="1524735"/>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3600"/>
              <a:buFont typeface="Calibri"/>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7" name="Google Shape;167;p21"/>
          <p:cNvSpPr txBox="1"/>
          <p:nvPr>
            <p:ph idx="1" type="subTitle"/>
          </p:nvPr>
        </p:nvSpPr>
        <p:spPr>
          <a:xfrm>
            <a:off x="4267200" y="3238103"/>
            <a:ext cx="4179570" cy="1371997"/>
          </a:xfrm>
          <a:prstGeom prst="rect">
            <a:avLst/>
          </a:prstGeom>
          <a:noFill/>
          <a:ln>
            <a:noFill/>
          </a:ln>
        </p:spPr>
        <p:txBody>
          <a:bodyPr anchorCtr="0" anchor="t" bIns="45700" lIns="91425" spcFirstLastPara="1" rIns="91425" wrap="square" tIns="45700">
            <a:normAutofit/>
          </a:bodyPr>
          <a:lstStyle>
            <a:lvl1pPr lvl="0" algn="l">
              <a:lnSpc>
                <a:spcPct val="150000"/>
              </a:lnSpc>
              <a:spcBef>
                <a:spcPts val="1000"/>
              </a:spcBef>
              <a:spcAft>
                <a:spcPts val="0"/>
              </a:spcAft>
              <a:buClr>
                <a:schemeClr val="lt1"/>
              </a:buClr>
              <a:buSzPts val="1400"/>
              <a:buNone/>
              <a:defRPr sz="1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168" name="Google Shape;168;p21"/>
          <p:cNvPicPr preferRelativeResize="0"/>
          <p:nvPr/>
        </p:nvPicPr>
        <p:blipFill rotWithShape="1">
          <a:blip r:embed="rId2">
            <a:alphaModFix/>
          </a:blip>
          <a:srcRect b="0" l="0" r="0" t="0"/>
          <a:stretch/>
        </p:blipFill>
        <p:spPr>
          <a:xfrm>
            <a:off x="0" y="0"/>
            <a:ext cx="3176938" cy="6858000"/>
          </a:xfrm>
          <a:prstGeom prst="rect">
            <a:avLst/>
          </a:prstGeom>
          <a:noFill/>
          <a:ln>
            <a:noFill/>
          </a:ln>
        </p:spPr>
      </p:pic>
      <p:sp>
        <p:nvSpPr>
          <p:cNvPr id="169" name="Google Shape;169;p21"/>
          <p:cNvSpPr txBox="1"/>
          <p:nvPr>
            <p:ph idx="11" type="ftr"/>
          </p:nvPr>
        </p:nvSpPr>
        <p:spPr>
          <a:xfrm>
            <a:off x="6479721" y="6356350"/>
            <a:ext cx="266155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0" name="Google Shape;170;p21"/>
          <p:cNvSpPr txBox="1"/>
          <p:nvPr>
            <p:ph idx="12" type="sldNum"/>
          </p:nvPr>
        </p:nvSpPr>
        <p:spPr>
          <a:xfrm>
            <a:off x="9579428" y="6356350"/>
            <a:ext cx="177437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7" name="Shape 177"/>
        <p:cNvGrpSpPr/>
        <p:nvPr/>
      </p:nvGrpSpPr>
      <p:grpSpPr>
        <a:xfrm>
          <a:off x="0" y="0"/>
          <a:ext cx="0" cy="0"/>
          <a:chOff x="0" y="0"/>
          <a:chExt cx="0" cy="0"/>
        </a:xfrm>
      </p:grpSpPr>
      <p:sp>
        <p:nvSpPr>
          <p:cNvPr id="178" name="Google Shape;178;g2bb8c1dba0d_0_252"/>
          <p:cNvSpPr txBox="1"/>
          <p:nvPr>
            <p:ph type="title"/>
          </p:nvPr>
        </p:nvSpPr>
        <p:spPr>
          <a:xfrm>
            <a:off x="838200" y="365126"/>
            <a:ext cx="10515600" cy="13257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38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9" name="Google Shape;179;g2bb8c1dba0d_0_252"/>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0" name="Google Shape;180;g2bb8c1dba0d_0_252"/>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1" name="Google Shape;181;g2bb8c1dba0d_0_252"/>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2" name="Google Shape;182;g2bb8c1dba0d_0_252"/>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3" name="Google Shape;183;g2bb8c1dba0d_0_252"/>
          <p:cNvSpPr txBox="1"/>
          <p:nvPr/>
        </p:nvSpPr>
        <p:spPr>
          <a:xfrm>
            <a:off x="9192000" y="0"/>
            <a:ext cx="3000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800">
                <a:solidFill>
                  <a:srgbClr val="000000"/>
                </a:solidFill>
              </a:rPr>
              <a:t>CV 1</a:t>
            </a:r>
            <a:r>
              <a:rPr lang="en-US" sz="800"/>
              <a:t>3</a:t>
            </a:r>
            <a:r>
              <a:rPr lang="en-US" sz="800">
                <a:solidFill>
                  <a:srgbClr val="000000"/>
                </a:solidFill>
              </a:rPr>
              <a:t>: </a:t>
            </a:r>
            <a:r>
              <a:rPr lang="en-US" sz="800"/>
              <a:t>Object Detection Algorithms - RCNN</a:t>
            </a:r>
            <a:endParaRPr sz="800">
              <a:solidFill>
                <a:srgbClr val="000000"/>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4" name="Shape 184"/>
        <p:cNvGrpSpPr/>
        <p:nvPr/>
      </p:nvGrpSpPr>
      <p:grpSpPr>
        <a:xfrm>
          <a:off x="0" y="0"/>
          <a:ext cx="0" cy="0"/>
          <a:chOff x="0" y="0"/>
          <a:chExt cx="0" cy="0"/>
        </a:xfrm>
      </p:grpSpPr>
      <p:sp>
        <p:nvSpPr>
          <p:cNvPr id="185" name="Google Shape;185;g2bb8c1dba0d_0_258"/>
          <p:cNvSpPr txBox="1"/>
          <p:nvPr>
            <p:ph type="title"/>
          </p:nvPr>
        </p:nvSpPr>
        <p:spPr>
          <a:xfrm>
            <a:off x="838200" y="365126"/>
            <a:ext cx="10515600" cy="13257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6" name="Google Shape;186;g2bb8c1dba0d_0_258"/>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7" name="Google Shape;187;g2bb8c1dba0d_0_258"/>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8" name="Google Shape;188;g2bb8c1dba0d_0_258"/>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9" name="Shape 189"/>
        <p:cNvGrpSpPr/>
        <p:nvPr/>
      </p:nvGrpSpPr>
      <p:grpSpPr>
        <a:xfrm>
          <a:off x="0" y="0"/>
          <a:ext cx="0" cy="0"/>
          <a:chOff x="0" y="0"/>
          <a:chExt cx="0" cy="0"/>
        </a:xfrm>
      </p:grpSpPr>
      <p:sp>
        <p:nvSpPr>
          <p:cNvPr id="190" name="Google Shape;190;g2bb8c1dba0d_0_246"/>
          <p:cNvSpPr txBox="1"/>
          <p:nvPr>
            <p:ph type="ctrTitle"/>
          </p:nvPr>
        </p:nvSpPr>
        <p:spPr>
          <a:xfrm>
            <a:off x="914400" y="1122363"/>
            <a:ext cx="103632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1" name="Google Shape;191;g2bb8c1dba0d_0_246"/>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92" name="Google Shape;192;g2bb8c1dba0d_0_246"/>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3" name="Google Shape;193;g2bb8c1dba0d_0_246"/>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4" name="Google Shape;194;g2bb8c1dba0d_0_246"/>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5" name="Shape 195"/>
        <p:cNvGrpSpPr/>
        <p:nvPr/>
      </p:nvGrpSpPr>
      <p:grpSpPr>
        <a:xfrm>
          <a:off x="0" y="0"/>
          <a:ext cx="0" cy="0"/>
          <a:chOff x="0" y="0"/>
          <a:chExt cx="0" cy="0"/>
        </a:xfrm>
      </p:grpSpPr>
      <p:sp>
        <p:nvSpPr>
          <p:cNvPr id="196" name="Google Shape;196;g2bb8c1dba0d_0_263"/>
          <p:cNvSpPr txBox="1"/>
          <p:nvPr>
            <p:ph type="title"/>
          </p:nvPr>
        </p:nvSpPr>
        <p:spPr>
          <a:xfrm>
            <a:off x="831851" y="1709739"/>
            <a:ext cx="10515600" cy="2852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7" name="Google Shape;197;g2bb8c1dba0d_0_263"/>
          <p:cNvSpPr txBox="1"/>
          <p:nvPr>
            <p:ph idx="1" type="body"/>
          </p:nvPr>
        </p:nvSpPr>
        <p:spPr>
          <a:xfrm>
            <a:off x="831851" y="4589464"/>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98" name="Google Shape;198;g2bb8c1dba0d_0_263"/>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9" name="Google Shape;199;g2bb8c1dba0d_0_263"/>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0" name="Google Shape;200;g2bb8c1dba0d_0_263"/>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01" name="Shape 201"/>
        <p:cNvGrpSpPr/>
        <p:nvPr/>
      </p:nvGrpSpPr>
      <p:grpSpPr>
        <a:xfrm>
          <a:off x="0" y="0"/>
          <a:ext cx="0" cy="0"/>
          <a:chOff x="0" y="0"/>
          <a:chExt cx="0" cy="0"/>
        </a:xfrm>
      </p:grpSpPr>
      <p:sp>
        <p:nvSpPr>
          <p:cNvPr id="202" name="Google Shape;202;g2bb8c1dba0d_0_269"/>
          <p:cNvSpPr txBox="1"/>
          <p:nvPr>
            <p:ph type="title"/>
          </p:nvPr>
        </p:nvSpPr>
        <p:spPr>
          <a:xfrm>
            <a:off x="838200" y="365126"/>
            <a:ext cx="10515600" cy="13257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3" name="Google Shape;203;g2bb8c1dba0d_0_269"/>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 name="Google Shape;204;g2bb8c1dba0d_0_269"/>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5" name="Google Shape;205;g2bb8c1dba0d_0_269"/>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6" name="Google Shape;206;g2bb8c1dba0d_0_269"/>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7" name="Google Shape;207;g2bb8c1dba0d_0_269"/>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08" name="Shape 208"/>
        <p:cNvGrpSpPr/>
        <p:nvPr/>
      </p:nvGrpSpPr>
      <p:grpSpPr>
        <a:xfrm>
          <a:off x="0" y="0"/>
          <a:ext cx="0" cy="0"/>
          <a:chOff x="0" y="0"/>
          <a:chExt cx="0" cy="0"/>
        </a:xfrm>
      </p:grpSpPr>
      <p:sp>
        <p:nvSpPr>
          <p:cNvPr id="209" name="Google Shape;209;g2bb8c1dba0d_0_276"/>
          <p:cNvSpPr txBox="1"/>
          <p:nvPr>
            <p:ph type="title"/>
          </p:nvPr>
        </p:nvSpPr>
        <p:spPr>
          <a:xfrm>
            <a:off x="839788" y="365126"/>
            <a:ext cx="10515600" cy="13257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0" name="Google Shape;210;g2bb8c1dba0d_0_276"/>
          <p:cNvSpPr txBox="1"/>
          <p:nvPr>
            <p:ph idx="1" type="body"/>
          </p:nvPr>
        </p:nvSpPr>
        <p:spPr>
          <a:xfrm>
            <a:off x="839789" y="1681163"/>
            <a:ext cx="51576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11" name="Google Shape;211;g2bb8c1dba0d_0_276"/>
          <p:cNvSpPr txBox="1"/>
          <p:nvPr>
            <p:ph idx="2" type="body"/>
          </p:nvPr>
        </p:nvSpPr>
        <p:spPr>
          <a:xfrm>
            <a:off x="839789" y="2505075"/>
            <a:ext cx="51576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2" name="Google Shape;212;g2bb8c1dba0d_0_276"/>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13" name="Google Shape;213;g2bb8c1dba0d_0_276"/>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4" name="Google Shape;214;g2bb8c1dba0d_0_276"/>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5" name="Google Shape;215;g2bb8c1dba0d_0_276"/>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6" name="Google Shape;216;g2bb8c1dba0d_0_276"/>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7" name="Shape 217"/>
        <p:cNvGrpSpPr/>
        <p:nvPr/>
      </p:nvGrpSpPr>
      <p:grpSpPr>
        <a:xfrm>
          <a:off x="0" y="0"/>
          <a:ext cx="0" cy="0"/>
          <a:chOff x="0" y="0"/>
          <a:chExt cx="0" cy="0"/>
        </a:xfrm>
      </p:grpSpPr>
      <p:sp>
        <p:nvSpPr>
          <p:cNvPr id="218" name="Google Shape;218;g2bb8c1dba0d_0_285"/>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9" name="Google Shape;219;g2bb8c1dba0d_0_285"/>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0" name="Google Shape;220;g2bb8c1dba0d_0_285"/>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21" name="Shape 221"/>
        <p:cNvGrpSpPr/>
        <p:nvPr/>
      </p:nvGrpSpPr>
      <p:grpSpPr>
        <a:xfrm>
          <a:off x="0" y="0"/>
          <a:ext cx="0" cy="0"/>
          <a:chOff x="0" y="0"/>
          <a:chExt cx="0" cy="0"/>
        </a:xfrm>
      </p:grpSpPr>
      <p:sp>
        <p:nvSpPr>
          <p:cNvPr id="222" name="Google Shape;222;g2bb8c1dba0d_0_289"/>
          <p:cNvSpPr txBox="1"/>
          <p:nvPr>
            <p:ph type="title"/>
          </p:nvPr>
        </p:nvSpPr>
        <p:spPr>
          <a:xfrm>
            <a:off x="839788" y="457200"/>
            <a:ext cx="3932400" cy="16002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3" name="Google Shape;223;g2bb8c1dba0d_0_289"/>
          <p:cNvSpPr txBox="1"/>
          <p:nvPr>
            <p:ph idx="1" type="body"/>
          </p:nvPr>
        </p:nvSpPr>
        <p:spPr>
          <a:xfrm>
            <a:off x="5183188" y="987426"/>
            <a:ext cx="61725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224" name="Google Shape;224;g2bb8c1dba0d_0_289"/>
          <p:cNvSpPr txBox="1"/>
          <p:nvPr>
            <p:ph idx="2" type="body"/>
          </p:nvPr>
        </p:nvSpPr>
        <p:spPr>
          <a:xfrm>
            <a:off x="839788" y="2057400"/>
            <a:ext cx="39324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25" name="Google Shape;225;g2bb8c1dba0d_0_289"/>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6" name="Google Shape;226;g2bb8c1dba0d_0_289"/>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7" name="Google Shape;227;g2bb8c1dba0d_0_289"/>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28" name="Shape 228"/>
        <p:cNvGrpSpPr/>
        <p:nvPr/>
      </p:nvGrpSpPr>
      <p:grpSpPr>
        <a:xfrm>
          <a:off x="0" y="0"/>
          <a:ext cx="0" cy="0"/>
          <a:chOff x="0" y="0"/>
          <a:chExt cx="0" cy="0"/>
        </a:xfrm>
      </p:grpSpPr>
      <p:sp>
        <p:nvSpPr>
          <p:cNvPr id="229" name="Google Shape;229;g2bb8c1dba0d_0_296"/>
          <p:cNvSpPr txBox="1"/>
          <p:nvPr>
            <p:ph type="title"/>
          </p:nvPr>
        </p:nvSpPr>
        <p:spPr>
          <a:xfrm>
            <a:off x="839788" y="457200"/>
            <a:ext cx="3932400" cy="16002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0" name="Google Shape;230;g2bb8c1dba0d_0_296"/>
          <p:cNvSpPr/>
          <p:nvPr>
            <p:ph idx="2" type="pic"/>
          </p:nvPr>
        </p:nvSpPr>
        <p:spPr>
          <a:xfrm>
            <a:off x="5183188" y="987426"/>
            <a:ext cx="6172500" cy="4873500"/>
          </a:xfrm>
          <a:prstGeom prst="rect">
            <a:avLst/>
          </a:prstGeom>
          <a:noFill/>
          <a:ln>
            <a:noFill/>
          </a:ln>
        </p:spPr>
      </p:sp>
      <p:sp>
        <p:nvSpPr>
          <p:cNvPr id="231" name="Google Shape;231;g2bb8c1dba0d_0_296"/>
          <p:cNvSpPr txBox="1"/>
          <p:nvPr>
            <p:ph idx="1" type="body"/>
          </p:nvPr>
        </p:nvSpPr>
        <p:spPr>
          <a:xfrm>
            <a:off x="839788" y="2057400"/>
            <a:ext cx="39324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32" name="Google Shape;232;g2bb8c1dba0d_0_296"/>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3" name="Google Shape;233;g2bb8c1dba0d_0_296"/>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4" name="Google Shape;234;g2bb8c1dba0d_0_296"/>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35" name="Shape 235"/>
        <p:cNvGrpSpPr/>
        <p:nvPr/>
      </p:nvGrpSpPr>
      <p:grpSpPr>
        <a:xfrm>
          <a:off x="0" y="0"/>
          <a:ext cx="0" cy="0"/>
          <a:chOff x="0" y="0"/>
          <a:chExt cx="0" cy="0"/>
        </a:xfrm>
      </p:grpSpPr>
      <p:sp>
        <p:nvSpPr>
          <p:cNvPr id="236" name="Google Shape;236;g2bb8c1dba0d_0_303"/>
          <p:cNvSpPr txBox="1"/>
          <p:nvPr>
            <p:ph type="title"/>
          </p:nvPr>
        </p:nvSpPr>
        <p:spPr>
          <a:xfrm>
            <a:off x="838200" y="365126"/>
            <a:ext cx="10515600" cy="13257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7" name="Google Shape;237;g2bb8c1dba0d_0_303"/>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8" name="Google Shape;238;g2bb8c1dba0d_0_303"/>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9" name="Google Shape;239;g2bb8c1dba0d_0_303"/>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0" name="Google Shape;240;g2bb8c1dba0d_0_303"/>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41" name="Shape 241"/>
        <p:cNvGrpSpPr/>
        <p:nvPr/>
      </p:nvGrpSpPr>
      <p:grpSpPr>
        <a:xfrm>
          <a:off x="0" y="0"/>
          <a:ext cx="0" cy="0"/>
          <a:chOff x="0" y="0"/>
          <a:chExt cx="0" cy="0"/>
        </a:xfrm>
      </p:grpSpPr>
      <p:sp>
        <p:nvSpPr>
          <p:cNvPr id="242" name="Google Shape;242;g2bb8c1dba0d_0_309"/>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3" name="Google Shape;243;g2bb8c1dba0d_0_309"/>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4" name="Google Shape;244;g2bb8c1dba0d_0_309"/>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5" name="Google Shape;245;g2bb8c1dba0d_0_309"/>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6" name="Google Shape;246;g2bb8c1dba0d_0_309"/>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3.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7.xml"/><Relationship Id="rId10" Type="http://schemas.openxmlformats.org/officeDocument/2006/relationships/slideLayout" Target="../slideLayouts/slideLayout26.xml"/><Relationship Id="rId12" Type="http://schemas.openxmlformats.org/officeDocument/2006/relationships/theme" Target="../theme/theme1.xml"/><Relationship Id="rId1" Type="http://schemas.openxmlformats.org/officeDocument/2006/relationships/slideLayout" Target="../slideLayouts/slideLayout17.xml"/><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Relationship Id="rId9" Type="http://schemas.openxmlformats.org/officeDocument/2006/relationships/slideLayout" Target="../slideLayouts/slideLayout25.xml"/><Relationship Id="rId5" Type="http://schemas.openxmlformats.org/officeDocument/2006/relationships/slideLayout" Target="../slideLayouts/slideLayout21.xml"/><Relationship Id="rId6" Type="http://schemas.openxmlformats.org/officeDocument/2006/relationships/slideLayout" Target="../slideLayouts/slideLayout22.xml"/><Relationship Id="rId7" Type="http://schemas.openxmlformats.org/officeDocument/2006/relationships/slideLayout" Target="../slideLayouts/slideLayout23.xml"/><Relationship Id="rId8"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
          <p:cNvSpPr txBox="1"/>
          <p:nvPr>
            <p:ph type="title"/>
          </p:nvPr>
        </p:nvSpPr>
        <p:spPr>
          <a:xfrm>
            <a:off x="838200" y="365125"/>
            <a:ext cx="10515599"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1" name="Shape 171"/>
        <p:cNvGrpSpPr/>
        <p:nvPr/>
      </p:nvGrpSpPr>
      <p:grpSpPr>
        <a:xfrm>
          <a:off x="0" y="0"/>
          <a:ext cx="0" cy="0"/>
          <a:chOff x="0" y="0"/>
          <a:chExt cx="0" cy="0"/>
        </a:xfrm>
      </p:grpSpPr>
      <p:sp>
        <p:nvSpPr>
          <p:cNvPr id="172" name="Google Shape;172;g2bb8c1dba0d_0_240"/>
          <p:cNvSpPr txBox="1"/>
          <p:nvPr>
            <p:ph type="title"/>
          </p:nvPr>
        </p:nvSpPr>
        <p:spPr>
          <a:xfrm>
            <a:off x="838200" y="365126"/>
            <a:ext cx="10515600" cy="1325700"/>
          </a:xfrm>
          <a:prstGeom prst="rect">
            <a:avLst/>
          </a:prstGeom>
          <a:noFill/>
          <a:ln>
            <a:noFill/>
          </a:ln>
        </p:spPr>
        <p:txBody>
          <a:bodyPr anchorCtr="0" anchor="ctr" bIns="45700" lIns="91425" spcFirstLastPara="1" rIns="91425" wrap="square" tIns="45700">
            <a:normAutofit/>
          </a:bodyPr>
          <a:lstStyle>
            <a:lvl1pPr lvl="0" marR="0" rtl="0" algn="ctr">
              <a:lnSpc>
                <a:spcPct val="90000"/>
              </a:lnSpc>
              <a:spcBef>
                <a:spcPts val="0"/>
              </a:spcBef>
              <a:spcAft>
                <a:spcPts val="0"/>
              </a:spcAft>
              <a:buClr>
                <a:schemeClr val="dk1"/>
              </a:buClr>
              <a:buSzPts val="3800"/>
              <a:buFont typeface="Arial"/>
              <a:buNone/>
              <a:defRPr b="0" i="0" sz="3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3" name="Google Shape;173;g2bb8c1dba0d_0_24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74" name="Google Shape;174;g2bb8c1dba0d_0_240"/>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75" name="Google Shape;175;g2bb8c1dba0d_0_240"/>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76" name="Google Shape;176;g2bb8c1dba0d_0_240"/>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hyperlink" Target="mailto:mithunkumar.sr@wilp.bits-pilani.ac.i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 Id="rId3" Type="http://schemas.openxmlformats.org/officeDocument/2006/relationships/image" Target="../media/image1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 Id="rId3" Type="http://schemas.openxmlformats.org/officeDocument/2006/relationships/image" Target="../media/image1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 Id="rId3" Type="http://schemas.openxmlformats.org/officeDocument/2006/relationships/image" Target="../media/image1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 Id="rId3" Type="http://schemas.openxmlformats.org/officeDocument/2006/relationships/image" Target="../media/image1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 Id="rId3" Type="http://schemas.openxmlformats.org/officeDocument/2006/relationships/image" Target="../media/image2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 Id="rId3" Type="http://schemas.openxmlformats.org/officeDocument/2006/relationships/image" Target="../media/image1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xml"/><Relationship Id="rId3" Type="http://schemas.openxmlformats.org/officeDocument/2006/relationships/image" Target="../media/image1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 Id="rId3" Type="http://schemas.openxmlformats.org/officeDocument/2006/relationships/image" Target="../media/image3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 Id="rId3" Type="http://schemas.openxmlformats.org/officeDocument/2006/relationships/image" Target="../media/image3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 Id="rId3" Type="http://schemas.openxmlformats.org/officeDocument/2006/relationships/image" Target="../media/image3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 Id="rId3" Type="http://schemas.openxmlformats.org/officeDocument/2006/relationships/hyperlink" Target="http://lear.inrialpes.fr/pubs/2005/DT05" TargetMode="External"/><Relationship Id="rId4" Type="http://schemas.openxmlformats.org/officeDocument/2006/relationships/image" Target="../media/image20.png"/><Relationship Id="rId5" Type="http://schemas.openxmlformats.org/officeDocument/2006/relationships/image" Target="../media/image3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Relationship Id="rId3" Type="http://schemas.openxmlformats.org/officeDocument/2006/relationships/hyperlink" Target="http://lear.inrialpes.fr/pubs/2005/DT05" TargetMode="External"/><Relationship Id="rId4" Type="http://schemas.openxmlformats.org/officeDocument/2006/relationships/image" Target="../media/image28.png"/><Relationship Id="rId9" Type="http://schemas.openxmlformats.org/officeDocument/2006/relationships/image" Target="../media/image36.png"/><Relationship Id="rId5" Type="http://schemas.openxmlformats.org/officeDocument/2006/relationships/image" Target="../media/image24.png"/><Relationship Id="rId6" Type="http://schemas.openxmlformats.org/officeDocument/2006/relationships/image" Target="../media/image26.png"/><Relationship Id="rId7" Type="http://schemas.openxmlformats.org/officeDocument/2006/relationships/image" Target="../media/image21.png"/><Relationship Id="rId8" Type="http://schemas.openxmlformats.org/officeDocument/2006/relationships/image" Target="../media/image3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0.xml"/><Relationship Id="rId3" Type="http://schemas.openxmlformats.org/officeDocument/2006/relationships/image" Target="../media/image40.png"/><Relationship Id="rId4" Type="http://schemas.openxmlformats.org/officeDocument/2006/relationships/image" Target="../media/image30.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hyperlink" Target="http://lear.inrialpes.fr/pubs/2005/DT05"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2.xml"/><Relationship Id="rId3" Type="http://schemas.openxmlformats.org/officeDocument/2006/relationships/hyperlink" Target="http://host.robots.ox.ac.uk/pascal/VOC/" TargetMode="External"/><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3.xml"/><Relationship Id="rId3" Type="http://schemas.openxmlformats.org/officeDocument/2006/relationships/image" Target="../media/image3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4.xml"/><Relationship Id="rId3" Type="http://schemas.openxmlformats.org/officeDocument/2006/relationships/image" Target="../media/image1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5.xml"/><Relationship Id="rId3"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6.xml"/><Relationship Id="rId3" Type="http://schemas.openxmlformats.org/officeDocument/2006/relationships/image" Target="../media/image3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7.xml"/><Relationship Id="rId3" Type="http://schemas.openxmlformats.org/officeDocument/2006/relationships/image" Target="../media/image32.png"/><Relationship Id="rId4" Type="http://schemas.openxmlformats.org/officeDocument/2006/relationships/hyperlink" Target="http://www.cs.berkeley.edu/~rbg/papers/r-cnn-cvpr.pdf"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8.xml"/><Relationship Id="rId3" Type="http://schemas.openxmlformats.org/officeDocument/2006/relationships/image" Target="../media/image4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9.xml"/><Relationship Id="rId3" Type="http://schemas.openxmlformats.org/officeDocument/2006/relationships/hyperlink" Target="http://www.cs.berkeley.edu/~rbg/papers/r-cnn-cvpr.pdf" TargetMode="External"/><Relationship Id="rId4" Type="http://schemas.openxmlformats.org/officeDocument/2006/relationships/image" Target="../media/image4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0.xml"/><Relationship Id="rId3" Type="http://schemas.openxmlformats.org/officeDocument/2006/relationships/image" Target="../media/image41.png"/><Relationship Id="rId4" Type="http://schemas.openxmlformats.org/officeDocument/2006/relationships/image" Target="../media/image46.png"/><Relationship Id="rId5" Type="http://schemas.openxmlformats.org/officeDocument/2006/relationships/hyperlink" Target="https://ivi.fnwi.uva.nl/isis/publications/bibtexbrowser.php?author=J.+R.+R.+Uijlings&amp;bib=all.bib" TargetMode="External"/><Relationship Id="rId6" Type="http://schemas.openxmlformats.org/officeDocument/2006/relationships/hyperlink" Target="https://ivi.fnwi.uva.nl/isis/publications/bibtexbrowser.php?author=K.+E.+A.+van+de+Sande&amp;bib=all.bib" TargetMode="External"/><Relationship Id="rId7" Type="http://schemas.openxmlformats.org/officeDocument/2006/relationships/hyperlink" Target="https://ivi.fnwi.uva.nl/isis/publications/bibtexbrowser.php?author=T.+Gevers&amp;bib=all.bib" TargetMode="External"/><Relationship Id="rId8" Type="http://schemas.openxmlformats.org/officeDocument/2006/relationships/hyperlink" Target="https://ivi.fnwi.uva.nl/isis/publications/bibtexbrowser.php?author=A.+W.+M.+Smeulders&amp;bib=all.bib"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1.xml"/><Relationship Id="rId3" Type="http://schemas.openxmlformats.org/officeDocument/2006/relationships/image" Target="../media/image41.png"/><Relationship Id="rId4" Type="http://schemas.openxmlformats.org/officeDocument/2006/relationships/hyperlink" Target="https://ivi.fnwi.uva.nl/isis/publications/bibtexbrowser.php?author=J.+R.+R.+Uijlings&amp;bib=all.bib" TargetMode="External"/><Relationship Id="rId5" Type="http://schemas.openxmlformats.org/officeDocument/2006/relationships/hyperlink" Target="https://ivi.fnwi.uva.nl/isis/publications/bibtexbrowser.php?author=K.+E.+A.+van+de+Sande&amp;bib=all.bib" TargetMode="External"/><Relationship Id="rId6" Type="http://schemas.openxmlformats.org/officeDocument/2006/relationships/hyperlink" Target="https://ivi.fnwi.uva.nl/isis/publications/bibtexbrowser.php?author=T.+Gevers&amp;bib=all.bib" TargetMode="External"/><Relationship Id="rId7" Type="http://schemas.openxmlformats.org/officeDocument/2006/relationships/hyperlink" Target="https://ivi.fnwi.uva.nl/isis/publications/bibtexbrowser.php?author=A.+W.+M.+Smeulders&amp;bib=all.bib" TargetMode="External"/><Relationship Id="rId8" Type="http://schemas.openxmlformats.org/officeDocument/2006/relationships/image" Target="../media/image5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3.xml"/><Relationship Id="rId3" Type="http://schemas.openxmlformats.org/officeDocument/2006/relationships/image" Target="../media/image6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4.xml"/><Relationship Id="rId3" Type="http://schemas.openxmlformats.org/officeDocument/2006/relationships/image" Target="../media/image47.png"/><Relationship Id="rId4" Type="http://schemas.openxmlformats.org/officeDocument/2006/relationships/image" Target="../media/image60.png"/><Relationship Id="rId5" Type="http://schemas.openxmlformats.org/officeDocument/2006/relationships/image" Target="../media/image48.png"/><Relationship Id="rId6" Type="http://schemas.openxmlformats.org/officeDocument/2006/relationships/hyperlink" Target="http://arxiv.org/pdf/1506.01497.pdf"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5.xml"/><Relationship Id="rId3" Type="http://schemas.openxmlformats.org/officeDocument/2006/relationships/image" Target="../media/image32.png"/><Relationship Id="rId4" Type="http://schemas.openxmlformats.org/officeDocument/2006/relationships/image" Target="../media/image4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6.xml"/><Relationship Id="rId3" Type="http://schemas.openxmlformats.org/officeDocument/2006/relationships/image" Target="../media/image3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7.xml"/><Relationship Id="rId3" Type="http://schemas.openxmlformats.org/officeDocument/2006/relationships/image" Target="../media/image3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8.xml"/><Relationship Id="rId3"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9.xml"/><Relationship Id="rId3" Type="http://schemas.openxmlformats.org/officeDocument/2006/relationships/image" Target="../media/image3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0.xml"/><Relationship Id="rId3" Type="http://schemas.openxmlformats.org/officeDocument/2006/relationships/image" Target="../media/image6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1.xml"/><Relationship Id="rId3" Type="http://schemas.openxmlformats.org/officeDocument/2006/relationships/image" Target="../media/image3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2.xml"/><Relationship Id="rId3" Type="http://schemas.openxmlformats.org/officeDocument/2006/relationships/image" Target="../media/image5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3.xml"/><Relationship Id="rId3" Type="http://schemas.openxmlformats.org/officeDocument/2006/relationships/image" Target="../media/image56.png"/><Relationship Id="rId4" Type="http://schemas.openxmlformats.org/officeDocument/2006/relationships/image" Target="../media/image6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4.xml"/><Relationship Id="rId3" Type="http://schemas.openxmlformats.org/officeDocument/2006/relationships/hyperlink" Target="https://pjreddie.com/media/files/papers/yolo_1.pdf" TargetMode="External"/><Relationship Id="rId4" Type="http://schemas.openxmlformats.org/officeDocument/2006/relationships/image" Target="../media/image3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5.xml"/><Relationship Id="rId3" Type="http://schemas.openxmlformats.org/officeDocument/2006/relationships/image" Target="../media/image3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6.xml"/><Relationship Id="rId3" Type="http://schemas.openxmlformats.org/officeDocument/2006/relationships/image" Target="../media/image5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7.xml"/><Relationship Id="rId3" Type="http://schemas.openxmlformats.org/officeDocument/2006/relationships/hyperlink" Target="http://cocodataset.org/%23home" TargetMode="External"/><Relationship Id="rId4" Type="http://schemas.openxmlformats.org/officeDocument/2006/relationships/image" Target="../media/image59.png"/><Relationship Id="rId5" Type="http://schemas.openxmlformats.org/officeDocument/2006/relationships/image" Target="../media/image67.png"/><Relationship Id="rId6" Type="http://schemas.openxmlformats.org/officeDocument/2006/relationships/image" Target="../media/image51.png"/><Relationship Id="rId7" Type="http://schemas.openxmlformats.org/officeDocument/2006/relationships/image" Target="../media/image5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0" Type="http://schemas.openxmlformats.org/officeDocument/2006/relationships/image" Target="../media/image75.jpg"/><Relationship Id="rId1" Type="http://schemas.openxmlformats.org/officeDocument/2006/relationships/slideLayout" Target="../slideLayouts/slideLayout17.xml"/><Relationship Id="rId2" Type="http://schemas.openxmlformats.org/officeDocument/2006/relationships/notesSlide" Target="../notesSlides/notesSlide49.xml"/><Relationship Id="rId3" Type="http://schemas.openxmlformats.org/officeDocument/2006/relationships/image" Target="../media/image55.jpg"/><Relationship Id="rId4" Type="http://schemas.openxmlformats.org/officeDocument/2006/relationships/image" Target="../media/image57.jpg"/><Relationship Id="rId9" Type="http://schemas.openxmlformats.org/officeDocument/2006/relationships/image" Target="../media/image88.jpg"/><Relationship Id="rId5" Type="http://schemas.openxmlformats.org/officeDocument/2006/relationships/image" Target="../media/image64.jpg"/><Relationship Id="rId6" Type="http://schemas.openxmlformats.org/officeDocument/2006/relationships/image" Target="../media/image66.jpg"/><Relationship Id="rId7" Type="http://schemas.openxmlformats.org/officeDocument/2006/relationships/image" Target="../media/image65.jpg"/><Relationship Id="rId8" Type="http://schemas.openxmlformats.org/officeDocument/2006/relationships/image" Target="../media/image68.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0.xml"/><Relationship Id="rId3" Type="http://schemas.openxmlformats.org/officeDocument/2006/relationships/image" Target="../media/image82.jpg"/><Relationship Id="rId4" Type="http://schemas.openxmlformats.org/officeDocument/2006/relationships/image" Target="../media/image89.jpg"/></Relationships>
</file>

<file path=ppt/slides/_rels/slide51.xml.rels><?xml version="1.0" encoding="UTF-8" standalone="yes"?><Relationships xmlns="http://schemas.openxmlformats.org/package/2006/relationships"><Relationship Id="rId11" Type="http://schemas.openxmlformats.org/officeDocument/2006/relationships/image" Target="../media/image72.jpg"/><Relationship Id="rId10" Type="http://schemas.openxmlformats.org/officeDocument/2006/relationships/image" Target="../media/image77.jpg"/><Relationship Id="rId13" Type="http://schemas.openxmlformats.org/officeDocument/2006/relationships/image" Target="../media/image79.jpg"/><Relationship Id="rId12" Type="http://schemas.openxmlformats.org/officeDocument/2006/relationships/image" Target="../media/image70.jpg"/><Relationship Id="rId1" Type="http://schemas.openxmlformats.org/officeDocument/2006/relationships/slideLayout" Target="../slideLayouts/slideLayout17.xml"/><Relationship Id="rId2" Type="http://schemas.openxmlformats.org/officeDocument/2006/relationships/notesSlide" Target="../notesSlides/notesSlide51.xml"/><Relationship Id="rId3" Type="http://schemas.openxmlformats.org/officeDocument/2006/relationships/image" Target="../media/image81.jpg"/><Relationship Id="rId4" Type="http://schemas.openxmlformats.org/officeDocument/2006/relationships/image" Target="../media/image73.jpg"/><Relationship Id="rId9" Type="http://schemas.openxmlformats.org/officeDocument/2006/relationships/image" Target="../media/image84.jpg"/><Relationship Id="rId14" Type="http://schemas.openxmlformats.org/officeDocument/2006/relationships/image" Target="../media/image78.jpg"/><Relationship Id="rId5" Type="http://schemas.openxmlformats.org/officeDocument/2006/relationships/image" Target="../media/image74.jpg"/><Relationship Id="rId6" Type="http://schemas.openxmlformats.org/officeDocument/2006/relationships/image" Target="../media/image80.jpg"/><Relationship Id="rId7" Type="http://schemas.openxmlformats.org/officeDocument/2006/relationships/image" Target="../media/image76.jpg"/><Relationship Id="rId8" Type="http://schemas.openxmlformats.org/officeDocument/2006/relationships/image" Target="../media/image85.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2.xml"/><Relationship Id="rId3" Type="http://schemas.openxmlformats.org/officeDocument/2006/relationships/hyperlink" Target="http://openaccess.thecvf.com/content_cvpr_2017/papers/Huang_SpeedAccuracy_Trade-Offs_for_CVPR_2017_paper.pdf" TargetMode="External"/><Relationship Id="rId4" Type="http://schemas.openxmlformats.org/officeDocument/2006/relationships/image" Target="../media/image8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3.xml"/><Relationship Id="rId3" Type="http://schemas.openxmlformats.org/officeDocument/2006/relationships/image" Target="../media/image8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4.xml"/><Relationship Id="rId3" Type="http://schemas.openxmlformats.org/officeDocument/2006/relationships/image" Target="../media/image8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hyperlink" Target="https://arxiv.org/pdf/1807.05511.pdf" TargetMode="External"/><Relationship Id="rId4" Type="http://schemas.openxmlformats.org/officeDocument/2006/relationships/hyperlink" Target="https://faculty.utrgv.edu/weidong.kuang/book/ch10_object.pdf" TargetMode="External"/><Relationship Id="rId5" Type="http://schemas.openxmlformats.org/officeDocument/2006/relationships/hyperlink" Target="https://arxiv.org/pdf/1311.2524" TargetMode="External"/><Relationship Id="rId6" Type="http://schemas.openxmlformats.org/officeDocument/2006/relationships/hyperlink" Target="https://arxiv.org/pdf/1504.08083" TargetMode="External"/><Relationship Id="rId7" Type="http://schemas.openxmlformats.org/officeDocument/2006/relationships/hyperlink" Target="https://arxiv.org/pdf/1506.01497"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
          <p:cNvSpPr txBox="1"/>
          <p:nvPr>
            <p:ph type="ctrTitle"/>
          </p:nvPr>
        </p:nvSpPr>
        <p:spPr>
          <a:xfrm>
            <a:off x="3893826" y="3917775"/>
            <a:ext cx="7729200" cy="699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600"/>
              <a:buFont typeface="Calibri"/>
              <a:buNone/>
            </a:pPr>
            <a:r>
              <a:t/>
            </a:r>
            <a:endParaRPr sz="3400"/>
          </a:p>
          <a:p>
            <a:pPr indent="0" lvl="0" marL="0" rtl="0" algn="l">
              <a:lnSpc>
                <a:spcPct val="90000"/>
              </a:lnSpc>
              <a:spcBef>
                <a:spcPts val="0"/>
              </a:spcBef>
              <a:spcAft>
                <a:spcPts val="0"/>
              </a:spcAft>
              <a:buClr>
                <a:schemeClr val="dk1"/>
              </a:buClr>
              <a:buSzPts val="3600"/>
              <a:buFont typeface="Calibri"/>
              <a:buNone/>
            </a:pPr>
            <a:r>
              <a:rPr b="1" lang="en-US" sz="2800" u="sng">
                <a:solidFill>
                  <a:srgbClr val="1C4587"/>
                </a:solidFill>
              </a:rPr>
              <a:t>Session #13-14:</a:t>
            </a:r>
            <a:r>
              <a:rPr b="1" lang="en-US" sz="3300" u="sng">
                <a:solidFill>
                  <a:srgbClr val="1C4587"/>
                </a:solidFill>
              </a:rPr>
              <a:t> </a:t>
            </a:r>
            <a:endParaRPr b="1" sz="3300" u="sng">
              <a:solidFill>
                <a:srgbClr val="1C4587"/>
              </a:solidFill>
            </a:endParaRPr>
          </a:p>
          <a:p>
            <a:pPr indent="0" lvl="0" marL="0" rtl="0" algn="l">
              <a:lnSpc>
                <a:spcPct val="90000"/>
              </a:lnSpc>
              <a:spcBef>
                <a:spcPts val="0"/>
              </a:spcBef>
              <a:spcAft>
                <a:spcPts val="0"/>
              </a:spcAft>
              <a:buClr>
                <a:schemeClr val="dk1"/>
              </a:buClr>
              <a:buSzPts val="3600"/>
              <a:buFont typeface="Calibri"/>
              <a:buNone/>
            </a:pPr>
            <a:r>
              <a:rPr b="1" lang="en-US" sz="2600">
                <a:solidFill>
                  <a:srgbClr val="980000"/>
                </a:solidFill>
              </a:rPr>
              <a:t>Object Detection ( with introduction to RCNN, YOLO) </a:t>
            </a:r>
            <a:endParaRPr b="1" sz="3400"/>
          </a:p>
        </p:txBody>
      </p:sp>
      <p:sp>
        <p:nvSpPr>
          <p:cNvPr id="252" name="Google Shape;252;p1"/>
          <p:cNvSpPr txBox="1"/>
          <p:nvPr>
            <p:ph idx="4294967295" type="sldNum"/>
          </p:nvPr>
        </p:nvSpPr>
        <p:spPr>
          <a:xfrm>
            <a:off x="94488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253" name="Google Shape;253;p1"/>
          <p:cNvPicPr preferRelativeResize="0"/>
          <p:nvPr/>
        </p:nvPicPr>
        <p:blipFill rotWithShape="1">
          <a:blip r:embed="rId3">
            <a:alphaModFix/>
          </a:blip>
          <a:srcRect b="0" l="0" r="0" t="0"/>
          <a:stretch/>
        </p:blipFill>
        <p:spPr>
          <a:xfrm>
            <a:off x="6868400" y="1439925"/>
            <a:ext cx="4441400" cy="2650900"/>
          </a:xfrm>
          <a:prstGeom prst="rect">
            <a:avLst/>
          </a:prstGeom>
          <a:noFill/>
          <a:ln>
            <a:noFill/>
          </a:ln>
        </p:spPr>
      </p:pic>
      <p:sp>
        <p:nvSpPr>
          <p:cNvPr id="254" name="Google Shape;254;p1"/>
          <p:cNvSpPr txBox="1"/>
          <p:nvPr/>
        </p:nvSpPr>
        <p:spPr>
          <a:xfrm>
            <a:off x="4086800" y="4488025"/>
            <a:ext cx="74322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rgbClr val="000000"/>
                </a:solidFill>
                <a:latin typeface="Calibri"/>
                <a:ea typeface="Calibri"/>
                <a:cs typeface="Calibri"/>
                <a:sym typeface="Calibri"/>
              </a:rPr>
              <a:t>Mithun Kumar S R</a:t>
            </a:r>
            <a:endParaRPr sz="2800">
              <a:solidFill>
                <a:srgbClr val="000000"/>
              </a:solidFill>
              <a:latin typeface="Calibri"/>
              <a:ea typeface="Calibri"/>
              <a:cs typeface="Calibri"/>
              <a:sym typeface="Calibri"/>
            </a:endParaRPr>
          </a:p>
          <a:p>
            <a:pPr indent="0" lvl="0" marL="0" rtl="0" algn="l">
              <a:spcBef>
                <a:spcPts val="0"/>
              </a:spcBef>
              <a:spcAft>
                <a:spcPts val="0"/>
              </a:spcAft>
              <a:buNone/>
            </a:pPr>
            <a:r>
              <a:rPr lang="en-US" sz="2800" u="sng">
                <a:solidFill>
                  <a:srgbClr val="0563C1"/>
                </a:solidFill>
                <a:latin typeface="Calibri"/>
                <a:ea typeface="Calibri"/>
                <a:cs typeface="Calibri"/>
                <a:sym typeface="Calibri"/>
                <a:hlinkClick r:id="rId4">
                  <a:extLst>
                    <a:ext uri="{A12FA001-AC4F-418D-AE19-62706E023703}">
                      <ahyp:hlinkClr val="tx"/>
                    </a:ext>
                  </a:extLst>
                </a:hlinkClick>
              </a:rPr>
              <a:t>mithunkumar.sr@wilp.bits-pilani.ac.in</a:t>
            </a:r>
            <a:endParaRPr sz="2800">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g262a763626f_0_6"/>
          <p:cNvSpPr txBox="1"/>
          <p:nvPr>
            <p:ph type="title"/>
          </p:nvPr>
        </p:nvSpPr>
        <p:spPr>
          <a:xfrm>
            <a:off x="468449" y="1671639"/>
            <a:ext cx="6005400" cy="6531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600"/>
              <a:buFont typeface="Calibri"/>
              <a:buNone/>
            </a:pPr>
            <a:r>
              <a:t/>
            </a:r>
            <a:endParaRPr/>
          </a:p>
          <a:p>
            <a:pPr indent="0" lvl="0" marL="0" rtl="0" algn="l">
              <a:lnSpc>
                <a:spcPct val="90000"/>
              </a:lnSpc>
              <a:spcBef>
                <a:spcPts val="0"/>
              </a:spcBef>
              <a:spcAft>
                <a:spcPts val="0"/>
              </a:spcAft>
              <a:buClr>
                <a:schemeClr val="dk1"/>
              </a:buClr>
              <a:buSzPts val="3600"/>
              <a:buFont typeface="Calibri"/>
              <a:buNone/>
            </a:pPr>
            <a:r>
              <a:rPr lang="en-US" u="sng"/>
              <a:t>Topics</a:t>
            </a:r>
            <a:endParaRPr/>
          </a:p>
        </p:txBody>
      </p:sp>
      <p:sp>
        <p:nvSpPr>
          <p:cNvPr id="260" name="Google Shape;260;g262a763626f_0_6"/>
          <p:cNvSpPr txBox="1"/>
          <p:nvPr/>
        </p:nvSpPr>
        <p:spPr>
          <a:xfrm>
            <a:off x="607574" y="6152944"/>
            <a:ext cx="8562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highlight>
                  <a:srgbClr val="FFFF00"/>
                </a:highlight>
                <a:latin typeface="Arial"/>
                <a:ea typeface="Arial"/>
                <a:cs typeface="Arial"/>
                <a:sym typeface="Arial"/>
              </a:rPr>
              <a:t>Acknowledgement</a:t>
            </a:r>
            <a:r>
              <a:rPr b="0" i="0" lang="en-US" sz="1400" u="none" cap="none" strike="noStrike">
                <a:solidFill>
                  <a:srgbClr val="C00000"/>
                </a:solidFill>
                <a:latin typeface="Arial"/>
                <a:ea typeface="Arial"/>
                <a:cs typeface="Arial"/>
                <a:sym typeface="Arial"/>
              </a:rPr>
              <a:t>: Slide Materials adopted from  - Intro to Computer Vision (Cornell Tech); Noah Snavely</a:t>
            </a:r>
            <a:endParaRPr b="0" i="0" sz="1400" u="none" cap="none" strike="noStrike">
              <a:solidFill>
                <a:srgbClr val="000000"/>
              </a:solidFill>
              <a:latin typeface="Arial"/>
              <a:ea typeface="Arial"/>
              <a:cs typeface="Arial"/>
              <a:sym typeface="Arial"/>
            </a:endParaRPr>
          </a:p>
        </p:txBody>
      </p:sp>
      <p:sp>
        <p:nvSpPr>
          <p:cNvPr id="261" name="Google Shape;261;g262a763626f_0_6"/>
          <p:cNvSpPr txBox="1"/>
          <p:nvPr>
            <p:ph idx="1" type="body"/>
          </p:nvPr>
        </p:nvSpPr>
        <p:spPr>
          <a:xfrm>
            <a:off x="1362075" y="2357850"/>
            <a:ext cx="10189500" cy="3304800"/>
          </a:xfrm>
          <a:prstGeom prst="rect">
            <a:avLst/>
          </a:prstGeom>
          <a:noFill/>
          <a:ln>
            <a:noFill/>
          </a:ln>
        </p:spPr>
        <p:txBody>
          <a:bodyPr anchorCtr="0" anchor="t" bIns="45700" lIns="91425" spcFirstLastPara="1" rIns="91425" wrap="square" tIns="45700">
            <a:normAutofit/>
          </a:bodyPr>
          <a:lstStyle/>
          <a:p>
            <a:pPr indent="-381000" lvl="0" marL="457200" rtl="0" algn="l">
              <a:lnSpc>
                <a:spcPct val="100000"/>
              </a:lnSpc>
              <a:spcBef>
                <a:spcPts val="1000"/>
              </a:spcBef>
              <a:spcAft>
                <a:spcPts val="0"/>
              </a:spcAft>
              <a:buSzPts val="2400"/>
              <a:buChar char="➔"/>
            </a:pPr>
            <a:r>
              <a:rPr lang="en-US"/>
              <a:t>Object Detection  &amp; Challenges  </a:t>
            </a:r>
            <a:endParaRPr/>
          </a:p>
          <a:p>
            <a:pPr indent="-381000" lvl="0" marL="457200" rtl="0" algn="l">
              <a:lnSpc>
                <a:spcPct val="100000"/>
              </a:lnSpc>
              <a:spcBef>
                <a:spcPts val="1000"/>
              </a:spcBef>
              <a:spcAft>
                <a:spcPts val="0"/>
              </a:spcAft>
              <a:buSzPts val="2400"/>
              <a:buChar char="➔"/>
            </a:pPr>
            <a:r>
              <a:rPr lang="en-US"/>
              <a:t>RCNN &amp; Faster RCNN</a:t>
            </a:r>
            <a:endParaRPr/>
          </a:p>
          <a:p>
            <a:pPr indent="-381000" lvl="0" marL="457200" rtl="0" algn="l">
              <a:lnSpc>
                <a:spcPct val="100000"/>
              </a:lnSpc>
              <a:spcBef>
                <a:spcPts val="1000"/>
              </a:spcBef>
              <a:spcAft>
                <a:spcPts val="0"/>
              </a:spcAft>
              <a:buSzPts val="2400"/>
              <a:buChar char="➔"/>
            </a:pPr>
            <a:r>
              <a:rPr lang="en-US"/>
              <a:t>Yolo &amp; Its Variants</a:t>
            </a:r>
            <a:endParaRPr/>
          </a:p>
          <a:p>
            <a:pPr indent="-381000" lvl="0" marL="457200" rtl="0" algn="l">
              <a:lnSpc>
                <a:spcPct val="100000"/>
              </a:lnSpc>
              <a:spcBef>
                <a:spcPts val="1000"/>
              </a:spcBef>
              <a:spcAft>
                <a:spcPts val="0"/>
              </a:spcAft>
              <a:buSzPts val="2400"/>
              <a:buChar char="➔"/>
            </a:pPr>
            <a:r>
              <a:rPr lang="en-US"/>
              <a:t>Demonstration</a:t>
            </a:r>
            <a:endParaRPr/>
          </a:p>
        </p:txBody>
      </p:sp>
      <p:sp>
        <p:nvSpPr>
          <p:cNvPr id="262" name="Google Shape;262;g262a763626f_0_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g2f7be7dd8b8_0_7"/>
          <p:cNvSpPr txBox="1"/>
          <p:nvPr>
            <p:ph type="title"/>
          </p:nvPr>
        </p:nvSpPr>
        <p:spPr>
          <a:xfrm>
            <a:off x="838200" y="365125"/>
            <a:ext cx="10515600" cy="12462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Object Detection</a:t>
            </a:r>
            <a:endParaRPr/>
          </a:p>
        </p:txBody>
      </p:sp>
      <p:sp>
        <p:nvSpPr>
          <p:cNvPr id="269" name="Google Shape;269;g2f7be7dd8b8_0_7"/>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900"/>
              <a:buFont typeface="Arial"/>
              <a:buNone/>
            </a:pPr>
            <a:fld id="{00000000-1234-1234-1234-123412341234}" type="slidenum">
              <a:rPr lang="en-US"/>
              <a:t>‹#›</a:t>
            </a:fld>
            <a:endParaRPr/>
          </a:p>
        </p:txBody>
      </p:sp>
      <p:pic>
        <p:nvPicPr>
          <p:cNvPr id="270" name="Google Shape;270;g2f7be7dd8b8_0_7"/>
          <p:cNvPicPr preferRelativeResize="0"/>
          <p:nvPr/>
        </p:nvPicPr>
        <p:blipFill>
          <a:blip r:embed="rId3">
            <a:alphaModFix/>
          </a:blip>
          <a:stretch>
            <a:fillRect/>
          </a:stretch>
        </p:blipFill>
        <p:spPr>
          <a:xfrm>
            <a:off x="838200" y="2019800"/>
            <a:ext cx="10279226" cy="4336550"/>
          </a:xfrm>
          <a:prstGeom prst="rect">
            <a:avLst/>
          </a:prstGeom>
          <a:noFill/>
          <a:ln>
            <a:noFill/>
          </a:ln>
        </p:spPr>
      </p:pic>
      <p:sp>
        <p:nvSpPr>
          <p:cNvPr id="271" name="Google Shape;271;g2f7be7dd8b8_0_7"/>
          <p:cNvSpPr txBox="1"/>
          <p:nvPr/>
        </p:nvSpPr>
        <p:spPr>
          <a:xfrm>
            <a:off x="111950" y="1404200"/>
            <a:ext cx="12192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Object detection: Locates and classifies objects in an image or video by drawing a bounding box around each object. </a:t>
            </a:r>
            <a:endParaRPr/>
          </a:p>
          <a:p>
            <a:pPr indent="0" lvl="0" marL="0" rtl="0" algn="l">
              <a:spcBef>
                <a:spcPts val="0"/>
              </a:spcBef>
              <a:spcAft>
                <a:spcPts val="0"/>
              </a:spcAft>
              <a:buNone/>
            </a:pPr>
            <a:r>
              <a:rPr lang="en-US"/>
              <a:t>Segmentation: Divides an image into regions and assigns class labels to each</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g2bb8c1dba0d_0_173"/>
          <p:cNvSpPr txBox="1"/>
          <p:nvPr>
            <p:ph type="title"/>
          </p:nvPr>
        </p:nvSpPr>
        <p:spPr>
          <a:xfrm>
            <a:off x="838200" y="365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An Approach</a:t>
            </a:r>
            <a:endParaRPr/>
          </a:p>
        </p:txBody>
      </p:sp>
      <p:sp>
        <p:nvSpPr>
          <p:cNvPr id="277" name="Google Shape;277;g2bb8c1dba0d_0_173"/>
          <p:cNvSpPr txBox="1"/>
          <p:nvPr/>
        </p:nvSpPr>
        <p:spPr>
          <a:xfrm>
            <a:off x="502024" y="1495313"/>
            <a:ext cx="11187900" cy="1077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Arial"/>
                <a:ea typeface="Arial"/>
                <a:cs typeface="Arial"/>
                <a:sym typeface="Arial"/>
              </a:rPr>
              <a:t>Examine every sub-window and determine if it is a tight box around an object</a:t>
            </a:r>
            <a:endParaRPr b="1" i="0" sz="3200" u="none" cap="none" strike="noStrike">
              <a:solidFill>
                <a:schemeClr val="dk1"/>
              </a:solidFill>
              <a:latin typeface="Arial"/>
              <a:ea typeface="Arial"/>
              <a:cs typeface="Arial"/>
              <a:sym typeface="Arial"/>
            </a:endParaRPr>
          </a:p>
        </p:txBody>
      </p:sp>
      <p:pic>
        <p:nvPicPr>
          <p:cNvPr id="278" name="Google Shape;278;g2bb8c1dba0d_0_173"/>
          <p:cNvPicPr preferRelativeResize="0"/>
          <p:nvPr/>
        </p:nvPicPr>
        <p:blipFill rotWithShape="1">
          <a:blip r:embed="rId3">
            <a:alphaModFix/>
          </a:blip>
          <a:srcRect b="2341" l="12498" r="45770" t="42018"/>
          <a:stretch/>
        </p:blipFill>
        <p:spPr>
          <a:xfrm>
            <a:off x="804433" y="2820875"/>
            <a:ext cx="4589929" cy="3442447"/>
          </a:xfrm>
          <a:prstGeom prst="rect">
            <a:avLst/>
          </a:prstGeom>
          <a:noFill/>
          <a:ln cap="flat" cmpd="sng" w="9525">
            <a:solidFill>
              <a:schemeClr val="dk1"/>
            </a:solidFill>
            <a:prstDash val="solid"/>
            <a:round/>
            <a:headEnd len="sm" w="sm" type="none"/>
            <a:tailEnd len="sm" w="sm" type="none"/>
          </a:ln>
        </p:spPr>
      </p:pic>
      <p:grpSp>
        <p:nvGrpSpPr>
          <p:cNvPr id="279" name="Google Shape;279;g2bb8c1dba0d_0_173"/>
          <p:cNvGrpSpPr/>
          <p:nvPr/>
        </p:nvGrpSpPr>
        <p:grpSpPr>
          <a:xfrm>
            <a:off x="5573518" y="2820875"/>
            <a:ext cx="4487097" cy="962810"/>
            <a:chOff x="4180243" y="2820875"/>
            <a:chExt cx="3365407" cy="962810"/>
          </a:xfrm>
        </p:grpSpPr>
        <p:pic>
          <p:nvPicPr>
            <p:cNvPr id="280" name="Google Shape;280;g2bb8c1dba0d_0_173"/>
            <p:cNvPicPr preferRelativeResize="0"/>
            <p:nvPr/>
          </p:nvPicPr>
          <p:blipFill rotWithShape="1">
            <a:blip r:embed="rId3">
              <a:alphaModFix/>
            </a:blip>
            <a:srcRect b="20608" l="12499" r="65352" t="63829"/>
            <a:stretch/>
          </p:blipFill>
          <p:spPr>
            <a:xfrm>
              <a:off x="4180243" y="2820875"/>
              <a:ext cx="1827008" cy="962810"/>
            </a:xfrm>
            <a:prstGeom prst="rect">
              <a:avLst/>
            </a:prstGeom>
            <a:noFill/>
            <a:ln cap="flat" cmpd="sng" w="9525">
              <a:solidFill>
                <a:schemeClr val="dk1"/>
              </a:solidFill>
              <a:prstDash val="solid"/>
              <a:round/>
              <a:headEnd len="sm" w="sm" type="none"/>
              <a:tailEnd len="sm" w="sm" type="none"/>
            </a:ln>
          </p:spPr>
        </p:pic>
        <p:sp>
          <p:nvSpPr>
            <p:cNvPr id="281" name="Google Shape;281;g2bb8c1dba0d_0_173"/>
            <p:cNvSpPr txBox="1"/>
            <p:nvPr/>
          </p:nvSpPr>
          <p:spPr>
            <a:xfrm>
              <a:off x="6007250" y="2886780"/>
              <a:ext cx="15384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0" i="0" lang="en-US" sz="4800" u="none" cap="none" strike="noStrike">
                  <a:solidFill>
                    <a:schemeClr val="dk1"/>
                  </a:solidFill>
                  <a:latin typeface="Arial"/>
                  <a:ea typeface="Arial"/>
                  <a:cs typeface="Arial"/>
                  <a:sym typeface="Arial"/>
                </a:rPr>
                <a:t>Yes</a:t>
              </a:r>
              <a:endParaRPr b="0" i="0" sz="1400" u="none" cap="none" strike="noStrike">
                <a:solidFill>
                  <a:srgbClr val="000000"/>
                </a:solidFill>
                <a:latin typeface="Arial"/>
                <a:ea typeface="Arial"/>
                <a:cs typeface="Arial"/>
                <a:sym typeface="Arial"/>
              </a:endParaRPr>
            </a:p>
          </p:txBody>
        </p:sp>
      </p:grpSp>
      <p:grpSp>
        <p:nvGrpSpPr>
          <p:cNvPr id="282" name="Google Shape;282;g2bb8c1dba0d_0_173"/>
          <p:cNvGrpSpPr/>
          <p:nvPr/>
        </p:nvGrpSpPr>
        <p:grpSpPr>
          <a:xfrm>
            <a:off x="5573518" y="5300513"/>
            <a:ext cx="4487097" cy="962810"/>
            <a:chOff x="4180243" y="5300513"/>
            <a:chExt cx="3365407" cy="962810"/>
          </a:xfrm>
        </p:grpSpPr>
        <p:pic>
          <p:nvPicPr>
            <p:cNvPr id="283" name="Google Shape;283;g2bb8c1dba0d_0_173"/>
            <p:cNvPicPr preferRelativeResize="0"/>
            <p:nvPr/>
          </p:nvPicPr>
          <p:blipFill rotWithShape="1">
            <a:blip r:embed="rId3">
              <a:alphaModFix/>
            </a:blip>
            <a:srcRect b="20608" l="55269" r="22583" t="63829"/>
            <a:stretch/>
          </p:blipFill>
          <p:spPr>
            <a:xfrm>
              <a:off x="4180243" y="5300513"/>
              <a:ext cx="1827008" cy="962810"/>
            </a:xfrm>
            <a:prstGeom prst="rect">
              <a:avLst/>
            </a:prstGeom>
            <a:noFill/>
            <a:ln cap="flat" cmpd="sng" w="9525">
              <a:solidFill>
                <a:schemeClr val="dk1"/>
              </a:solidFill>
              <a:prstDash val="solid"/>
              <a:round/>
              <a:headEnd len="sm" w="sm" type="none"/>
              <a:tailEnd len="sm" w="sm" type="none"/>
            </a:ln>
          </p:spPr>
        </p:pic>
        <p:sp>
          <p:nvSpPr>
            <p:cNvPr id="284" name="Google Shape;284;g2bb8c1dba0d_0_173"/>
            <p:cNvSpPr txBox="1"/>
            <p:nvPr/>
          </p:nvSpPr>
          <p:spPr>
            <a:xfrm>
              <a:off x="6007250" y="5366418"/>
              <a:ext cx="15384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0" i="0" lang="en-US" sz="4800" u="none" cap="none" strike="noStrike">
                  <a:solidFill>
                    <a:schemeClr val="dk1"/>
                  </a:solidFill>
                  <a:latin typeface="Arial"/>
                  <a:ea typeface="Arial"/>
                  <a:cs typeface="Arial"/>
                  <a:sym typeface="Arial"/>
                </a:rPr>
                <a:t>No</a:t>
              </a:r>
              <a:endParaRPr b="0" i="0" sz="1400" u="none" cap="none" strike="noStrike">
                <a:solidFill>
                  <a:srgbClr val="000000"/>
                </a:solidFill>
                <a:latin typeface="Arial"/>
                <a:ea typeface="Arial"/>
                <a:cs typeface="Arial"/>
                <a:sym typeface="Arial"/>
              </a:endParaRPr>
            </a:p>
          </p:txBody>
        </p:sp>
      </p:grpSp>
      <p:grpSp>
        <p:nvGrpSpPr>
          <p:cNvPr id="285" name="Google Shape;285;g2bb8c1dba0d_0_173"/>
          <p:cNvGrpSpPr/>
          <p:nvPr/>
        </p:nvGrpSpPr>
        <p:grpSpPr>
          <a:xfrm>
            <a:off x="5573518" y="4042877"/>
            <a:ext cx="5813863" cy="980627"/>
            <a:chOff x="4180243" y="4042877"/>
            <a:chExt cx="4360506" cy="980627"/>
          </a:xfrm>
        </p:grpSpPr>
        <p:sp>
          <p:nvSpPr>
            <p:cNvPr id="286" name="Google Shape;286;g2bb8c1dba0d_0_173"/>
            <p:cNvSpPr txBox="1"/>
            <p:nvPr/>
          </p:nvSpPr>
          <p:spPr>
            <a:xfrm>
              <a:off x="6007250" y="4042877"/>
              <a:ext cx="15384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Arial"/>
                  <a:ea typeface="Arial"/>
                  <a:cs typeface="Arial"/>
                  <a:sym typeface="Arial"/>
                </a:rPr>
                <a:t>No?</a:t>
              </a:r>
              <a:endParaRPr b="0" i="0" sz="1400" u="none" cap="none" strike="noStrike">
                <a:solidFill>
                  <a:srgbClr val="000000"/>
                </a:solidFill>
                <a:latin typeface="Arial"/>
                <a:ea typeface="Arial"/>
                <a:cs typeface="Arial"/>
                <a:sym typeface="Arial"/>
              </a:endParaRPr>
            </a:p>
          </p:txBody>
        </p:sp>
        <p:grpSp>
          <p:nvGrpSpPr>
            <p:cNvPr id="287" name="Google Shape;287;g2bb8c1dba0d_0_173"/>
            <p:cNvGrpSpPr/>
            <p:nvPr/>
          </p:nvGrpSpPr>
          <p:grpSpPr>
            <a:xfrm>
              <a:off x="4180243" y="4060694"/>
              <a:ext cx="4360506" cy="962810"/>
              <a:chOff x="4180243" y="4060694"/>
              <a:chExt cx="4360506" cy="962810"/>
            </a:xfrm>
          </p:grpSpPr>
          <p:pic>
            <p:nvPicPr>
              <p:cNvPr id="288" name="Google Shape;288;g2bb8c1dba0d_0_173"/>
              <p:cNvPicPr preferRelativeResize="0"/>
              <p:nvPr/>
            </p:nvPicPr>
            <p:blipFill rotWithShape="1">
              <a:blip r:embed="rId3">
                <a:alphaModFix/>
              </a:blip>
              <a:srcRect b="20608" l="19409" r="58442" t="63829"/>
              <a:stretch/>
            </p:blipFill>
            <p:spPr>
              <a:xfrm>
                <a:off x="4180243" y="4060694"/>
                <a:ext cx="1827008" cy="962810"/>
              </a:xfrm>
              <a:prstGeom prst="rect">
                <a:avLst/>
              </a:prstGeom>
              <a:noFill/>
              <a:ln cap="flat" cmpd="sng" w="9525">
                <a:solidFill>
                  <a:schemeClr val="dk1"/>
                </a:solidFill>
                <a:prstDash val="solid"/>
                <a:round/>
                <a:headEnd len="sm" w="sm" type="none"/>
                <a:tailEnd len="sm" w="sm" type="none"/>
              </a:ln>
            </p:spPr>
          </p:pic>
          <p:sp>
            <p:nvSpPr>
              <p:cNvPr id="289" name="Google Shape;289;g2bb8c1dba0d_0_173"/>
              <p:cNvSpPr txBox="1"/>
              <p:nvPr/>
            </p:nvSpPr>
            <p:spPr>
              <a:xfrm>
                <a:off x="6007249" y="4548675"/>
                <a:ext cx="25335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Hold this thought</a:t>
                </a:r>
                <a:endParaRPr b="0" i="0" sz="1400" u="none" cap="none" strike="noStrike">
                  <a:solidFill>
                    <a:srgbClr val="000000"/>
                  </a:solidFill>
                  <a:latin typeface="Arial"/>
                  <a:ea typeface="Arial"/>
                  <a:cs typeface="Arial"/>
                  <a:sym typeface="Arial"/>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g2bb8c1dba0d_0_190"/>
          <p:cNvSpPr txBox="1"/>
          <p:nvPr>
            <p:ph type="title"/>
          </p:nvPr>
        </p:nvSpPr>
        <p:spPr>
          <a:xfrm>
            <a:off x="838200" y="365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Sliding Window Classification</a:t>
            </a:r>
            <a:endParaRPr/>
          </a:p>
        </p:txBody>
      </p:sp>
      <p:pic>
        <p:nvPicPr>
          <p:cNvPr descr="p1010172" id="295" name="Google Shape;295;g2bb8c1dba0d_0_190"/>
          <p:cNvPicPr preferRelativeResize="0"/>
          <p:nvPr/>
        </p:nvPicPr>
        <p:blipFill rotWithShape="1">
          <a:blip r:embed="rId3">
            <a:alphaModFix/>
          </a:blip>
          <a:srcRect b="0" l="0" r="0" t="0"/>
          <a:stretch/>
        </p:blipFill>
        <p:spPr>
          <a:xfrm>
            <a:off x="2854959" y="2656995"/>
            <a:ext cx="4861560" cy="3688080"/>
          </a:xfrm>
          <a:prstGeom prst="rect">
            <a:avLst/>
          </a:prstGeom>
          <a:noFill/>
          <a:ln>
            <a:noFill/>
          </a:ln>
        </p:spPr>
      </p:pic>
      <p:sp>
        <p:nvSpPr>
          <p:cNvPr id="296" name="Google Shape;296;g2bb8c1dba0d_0_190"/>
          <p:cNvSpPr txBox="1"/>
          <p:nvPr/>
        </p:nvSpPr>
        <p:spPr>
          <a:xfrm>
            <a:off x="502024" y="1495313"/>
            <a:ext cx="11187900" cy="1077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Arial"/>
                <a:ea typeface="Arial"/>
                <a:cs typeface="Arial"/>
                <a:sym typeface="Arial"/>
              </a:rPr>
              <a:t>Let’s assume we’re looking for pedestrians in a box with a fixed aspect ratio.</a:t>
            </a:r>
            <a:endParaRPr b="1" i="0" sz="3200" u="none" cap="none" strike="noStrike">
              <a:solidFill>
                <a:schemeClr val="dk1"/>
              </a:solidFill>
              <a:latin typeface="Arial"/>
              <a:ea typeface="Arial"/>
              <a:cs typeface="Arial"/>
              <a:sym typeface="Arial"/>
            </a:endParaRPr>
          </a:p>
        </p:txBody>
      </p:sp>
      <p:sp>
        <p:nvSpPr>
          <p:cNvPr id="297" name="Google Shape;297;g2bb8c1dba0d_0_190"/>
          <p:cNvSpPr txBox="1"/>
          <p:nvPr/>
        </p:nvSpPr>
        <p:spPr>
          <a:xfrm>
            <a:off x="476539" y="6429539"/>
            <a:ext cx="107469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Slide credit: J. Hays</a:t>
            </a:r>
            <a:endParaRPr b="0" i="0" sz="1400" u="none" cap="none" strike="noStrike">
              <a:solidFill>
                <a:srgbClr val="000000"/>
              </a:solidFill>
              <a:latin typeface="Arial"/>
              <a:ea typeface="Arial"/>
              <a:cs typeface="Arial"/>
              <a:sym typeface="Arial"/>
            </a:endParaRPr>
          </a:p>
        </p:txBody>
      </p:sp>
      <p:sp>
        <p:nvSpPr>
          <p:cNvPr id="298" name="Google Shape;298;g2bb8c1dba0d_0_190"/>
          <p:cNvSpPr/>
          <p:nvPr/>
        </p:nvSpPr>
        <p:spPr>
          <a:xfrm>
            <a:off x="1998532" y="2654306"/>
            <a:ext cx="669300" cy="1321800"/>
          </a:xfrm>
          <a:prstGeom prst="rect">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g2bb8c1dba0d_0_198"/>
          <p:cNvSpPr txBox="1"/>
          <p:nvPr>
            <p:ph type="title"/>
          </p:nvPr>
        </p:nvSpPr>
        <p:spPr>
          <a:xfrm>
            <a:off x="838200" y="365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Sliding Window</a:t>
            </a:r>
            <a:endParaRPr/>
          </a:p>
        </p:txBody>
      </p:sp>
      <p:pic>
        <p:nvPicPr>
          <p:cNvPr descr="p1010172" id="304" name="Google Shape;304;g2bb8c1dba0d_0_198"/>
          <p:cNvPicPr preferRelativeResize="0"/>
          <p:nvPr/>
        </p:nvPicPr>
        <p:blipFill rotWithShape="1">
          <a:blip r:embed="rId3">
            <a:alphaModFix/>
          </a:blip>
          <a:srcRect b="0" l="0" r="0" t="0"/>
          <a:stretch/>
        </p:blipFill>
        <p:spPr>
          <a:xfrm>
            <a:off x="3149600" y="2590800"/>
            <a:ext cx="4419600" cy="3352800"/>
          </a:xfrm>
          <a:prstGeom prst="rect">
            <a:avLst/>
          </a:prstGeom>
          <a:noFill/>
          <a:ln>
            <a:noFill/>
          </a:ln>
        </p:spPr>
      </p:pic>
      <p:sp>
        <p:nvSpPr>
          <p:cNvPr id="305" name="Google Shape;305;g2bb8c1dba0d_0_198"/>
          <p:cNvSpPr/>
          <p:nvPr/>
        </p:nvSpPr>
        <p:spPr>
          <a:xfrm>
            <a:off x="3149600" y="2590800"/>
            <a:ext cx="334500" cy="660300"/>
          </a:xfrm>
          <a:prstGeom prst="rect">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6" name="Google Shape;306;g2bb8c1dba0d_0_198"/>
          <p:cNvSpPr txBox="1"/>
          <p:nvPr/>
        </p:nvSpPr>
        <p:spPr>
          <a:xfrm>
            <a:off x="502024" y="1495313"/>
            <a:ext cx="11187900" cy="1077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Arial"/>
                <a:ea typeface="Arial"/>
                <a:cs typeface="Arial"/>
                <a:sym typeface="Arial"/>
              </a:rPr>
              <a:t>Key idea – just try all the subwindows in the image at all positions.</a:t>
            </a:r>
            <a:endParaRPr b="0" i="0" sz="1400" u="none" cap="none" strike="noStrike">
              <a:solidFill>
                <a:srgbClr val="000000"/>
              </a:solidFill>
              <a:latin typeface="Arial"/>
              <a:ea typeface="Arial"/>
              <a:cs typeface="Arial"/>
              <a:sym typeface="Arial"/>
            </a:endParaRPr>
          </a:p>
        </p:txBody>
      </p:sp>
      <p:sp>
        <p:nvSpPr>
          <p:cNvPr id="307" name="Google Shape;307;g2bb8c1dba0d_0_198"/>
          <p:cNvSpPr txBox="1"/>
          <p:nvPr/>
        </p:nvSpPr>
        <p:spPr>
          <a:xfrm>
            <a:off x="476539" y="6429539"/>
            <a:ext cx="107469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Slide credit: J. Hays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g2bb8c1dba0d_0_206"/>
          <p:cNvSpPr txBox="1"/>
          <p:nvPr>
            <p:ph type="title"/>
          </p:nvPr>
        </p:nvSpPr>
        <p:spPr>
          <a:xfrm>
            <a:off x="838200" y="365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Generating hypotheses</a:t>
            </a:r>
            <a:endParaRPr/>
          </a:p>
        </p:txBody>
      </p:sp>
      <p:pic>
        <p:nvPicPr>
          <p:cNvPr descr="p1010172" id="313" name="Google Shape;313;g2bb8c1dba0d_0_206"/>
          <p:cNvPicPr preferRelativeResize="0"/>
          <p:nvPr/>
        </p:nvPicPr>
        <p:blipFill rotWithShape="1">
          <a:blip r:embed="rId3">
            <a:alphaModFix/>
          </a:blip>
          <a:srcRect b="0" l="0" r="0" t="0"/>
          <a:stretch/>
        </p:blipFill>
        <p:spPr>
          <a:xfrm>
            <a:off x="4064000" y="2579688"/>
            <a:ext cx="3048000" cy="2312986"/>
          </a:xfrm>
          <a:prstGeom prst="rect">
            <a:avLst/>
          </a:prstGeom>
          <a:noFill/>
          <a:ln>
            <a:noFill/>
          </a:ln>
        </p:spPr>
      </p:pic>
      <p:sp>
        <p:nvSpPr>
          <p:cNvPr id="314" name="Google Shape;314;g2bb8c1dba0d_0_206"/>
          <p:cNvSpPr/>
          <p:nvPr/>
        </p:nvSpPr>
        <p:spPr>
          <a:xfrm>
            <a:off x="4064000" y="2590800"/>
            <a:ext cx="334500" cy="660300"/>
          </a:xfrm>
          <a:prstGeom prst="rect">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5" name="Google Shape;315;g2bb8c1dba0d_0_206"/>
          <p:cNvSpPr txBox="1"/>
          <p:nvPr/>
        </p:nvSpPr>
        <p:spPr>
          <a:xfrm>
            <a:off x="3657600" y="5048815"/>
            <a:ext cx="5689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Note – Template did not change size</a:t>
            </a:r>
            <a:endParaRPr b="0" i="0" sz="1400" u="none" cap="none" strike="noStrike">
              <a:solidFill>
                <a:srgbClr val="000000"/>
              </a:solidFill>
              <a:latin typeface="Arial"/>
              <a:ea typeface="Arial"/>
              <a:cs typeface="Arial"/>
              <a:sym typeface="Arial"/>
            </a:endParaRPr>
          </a:p>
        </p:txBody>
      </p:sp>
      <p:sp>
        <p:nvSpPr>
          <p:cNvPr id="316" name="Google Shape;316;g2bb8c1dba0d_0_206"/>
          <p:cNvSpPr txBox="1"/>
          <p:nvPr/>
        </p:nvSpPr>
        <p:spPr>
          <a:xfrm>
            <a:off x="502024" y="1495313"/>
            <a:ext cx="11187900" cy="1077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Arial"/>
                <a:ea typeface="Arial"/>
                <a:cs typeface="Arial"/>
                <a:sym typeface="Arial"/>
              </a:rPr>
              <a:t>Key idea – just try all the subwindows in the image at all positions </a:t>
            </a:r>
            <a:r>
              <a:rPr b="1" i="0" lang="en-US" sz="3200" u="none" cap="none" strike="noStrike">
                <a:solidFill>
                  <a:schemeClr val="dk1"/>
                </a:solidFill>
                <a:latin typeface="Arial"/>
                <a:ea typeface="Arial"/>
                <a:cs typeface="Arial"/>
                <a:sym typeface="Arial"/>
              </a:rPr>
              <a:t>and scales.</a:t>
            </a:r>
            <a:endParaRPr b="0" i="0" sz="1400" u="none" cap="none" strike="noStrike">
              <a:solidFill>
                <a:srgbClr val="000000"/>
              </a:solidFill>
              <a:latin typeface="Arial"/>
              <a:ea typeface="Arial"/>
              <a:cs typeface="Arial"/>
              <a:sym typeface="Arial"/>
            </a:endParaRPr>
          </a:p>
        </p:txBody>
      </p:sp>
      <p:sp>
        <p:nvSpPr>
          <p:cNvPr id="317" name="Google Shape;317;g2bb8c1dba0d_0_206"/>
          <p:cNvSpPr txBox="1"/>
          <p:nvPr/>
        </p:nvSpPr>
        <p:spPr>
          <a:xfrm>
            <a:off x="476539" y="6429539"/>
            <a:ext cx="107469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Slide credit: J. Hays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g2bb8c1dba0d_0_215"/>
          <p:cNvSpPr txBox="1"/>
          <p:nvPr>
            <p:ph type="title"/>
          </p:nvPr>
        </p:nvSpPr>
        <p:spPr>
          <a:xfrm>
            <a:off x="838200" y="365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Each window classified separately</a:t>
            </a:r>
            <a:endParaRPr/>
          </a:p>
        </p:txBody>
      </p:sp>
      <p:pic>
        <p:nvPicPr>
          <p:cNvPr descr="scrambled" id="323" name="Google Shape;323;g2bb8c1dba0d_0_215"/>
          <p:cNvPicPr preferRelativeResize="0"/>
          <p:nvPr/>
        </p:nvPicPr>
        <p:blipFill rotWithShape="1">
          <a:blip r:embed="rId3">
            <a:alphaModFix/>
          </a:blip>
          <a:srcRect b="0" l="0" r="0" t="0"/>
          <a:stretch/>
        </p:blipFill>
        <p:spPr>
          <a:xfrm>
            <a:off x="914400" y="1371600"/>
            <a:ext cx="7848600" cy="5316538"/>
          </a:xfrm>
          <a:prstGeom prst="rect">
            <a:avLst/>
          </a:prstGeom>
          <a:noFill/>
          <a:ln>
            <a:noFill/>
          </a:ln>
        </p:spPr>
      </p:pic>
      <p:sp>
        <p:nvSpPr>
          <p:cNvPr id="324" name="Google Shape;324;g2bb8c1dba0d_0_215"/>
          <p:cNvSpPr txBox="1"/>
          <p:nvPr/>
        </p:nvSpPr>
        <p:spPr>
          <a:xfrm>
            <a:off x="914400" y="6429539"/>
            <a:ext cx="10309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Arial"/>
                <a:ea typeface="Arial"/>
                <a:cs typeface="Arial"/>
                <a:sym typeface="Arial"/>
              </a:rPr>
              <a:t>Slide credit: J. Hays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g2bb8c1dba0d_0_221"/>
          <p:cNvSpPr txBox="1"/>
          <p:nvPr>
            <p:ph type="title"/>
          </p:nvPr>
        </p:nvSpPr>
        <p:spPr>
          <a:xfrm>
            <a:off x="838200" y="365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How Many Boxes Are There?</a:t>
            </a:r>
            <a:endParaRPr/>
          </a:p>
        </p:txBody>
      </p:sp>
      <p:sp>
        <p:nvSpPr>
          <p:cNvPr id="330" name="Google Shape;330;g2bb8c1dba0d_0_221"/>
          <p:cNvSpPr txBox="1"/>
          <p:nvPr/>
        </p:nvSpPr>
        <p:spPr>
          <a:xfrm>
            <a:off x="502024" y="1495313"/>
            <a:ext cx="9559200" cy="206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Arial"/>
                <a:ea typeface="Arial"/>
                <a:cs typeface="Arial"/>
                <a:sym typeface="Arial"/>
              </a:rPr>
              <a:t>Given a HxW image and a “template” of size by, bx.</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chemeClr val="dk1"/>
                </a:solidFill>
                <a:latin typeface="Arial"/>
                <a:ea typeface="Arial"/>
                <a:cs typeface="Arial"/>
                <a:sym typeface="Arial"/>
              </a:rPr>
              <a:t>Q. How many sub-boxes are there of size (by,bx)?</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Arial"/>
                <a:ea typeface="Arial"/>
                <a:cs typeface="Arial"/>
                <a:sym typeface="Arial"/>
              </a:rPr>
              <a:t>A. (H/by)*(W/bx) </a:t>
            </a:r>
            <a:endParaRPr b="0" i="0" sz="1400" u="none" cap="none" strike="noStrike">
              <a:solidFill>
                <a:srgbClr val="000000"/>
              </a:solidFill>
              <a:latin typeface="Arial"/>
              <a:ea typeface="Arial"/>
              <a:cs typeface="Arial"/>
              <a:sym typeface="Arial"/>
            </a:endParaRPr>
          </a:p>
        </p:txBody>
      </p:sp>
      <p:sp>
        <p:nvSpPr>
          <p:cNvPr id="331" name="Google Shape;331;g2bb8c1dba0d_0_221"/>
          <p:cNvSpPr/>
          <p:nvPr/>
        </p:nvSpPr>
        <p:spPr>
          <a:xfrm>
            <a:off x="10204524" y="1625134"/>
            <a:ext cx="760500" cy="1140300"/>
          </a:xfrm>
          <a:prstGeom prst="rect">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cxnSp>
        <p:nvCxnSpPr>
          <p:cNvPr id="332" name="Google Shape;332;g2bb8c1dba0d_0_221"/>
          <p:cNvCxnSpPr/>
          <p:nvPr/>
        </p:nvCxnSpPr>
        <p:spPr>
          <a:xfrm>
            <a:off x="11230981" y="1625134"/>
            <a:ext cx="0" cy="1140300"/>
          </a:xfrm>
          <a:prstGeom prst="straightConnector1">
            <a:avLst/>
          </a:prstGeom>
          <a:noFill/>
          <a:ln cap="flat" cmpd="sng" w="57150">
            <a:solidFill>
              <a:srgbClr val="FF0000"/>
            </a:solidFill>
            <a:prstDash val="solid"/>
            <a:miter lim="800000"/>
            <a:headEnd len="med" w="med" type="triangle"/>
            <a:tailEnd len="med" w="med" type="triangle"/>
          </a:ln>
        </p:spPr>
      </p:cxnSp>
      <p:sp>
        <p:nvSpPr>
          <p:cNvPr id="333" name="Google Shape;333;g2bb8c1dba0d_0_221"/>
          <p:cNvSpPr txBox="1"/>
          <p:nvPr/>
        </p:nvSpPr>
        <p:spPr>
          <a:xfrm>
            <a:off x="11165539" y="1902900"/>
            <a:ext cx="9036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0000"/>
                </a:solidFill>
                <a:latin typeface="Arial"/>
                <a:ea typeface="Arial"/>
                <a:cs typeface="Arial"/>
                <a:sym typeface="Arial"/>
              </a:rPr>
              <a:t>by</a:t>
            </a:r>
            <a:endParaRPr b="0" i="0" sz="1400" u="none" cap="none" strike="noStrike">
              <a:solidFill>
                <a:srgbClr val="000000"/>
              </a:solidFill>
              <a:latin typeface="Arial"/>
              <a:ea typeface="Arial"/>
              <a:cs typeface="Arial"/>
              <a:sym typeface="Arial"/>
            </a:endParaRPr>
          </a:p>
        </p:txBody>
      </p:sp>
      <p:sp>
        <p:nvSpPr>
          <p:cNvPr id="334" name="Google Shape;334;g2bb8c1dba0d_0_221"/>
          <p:cNvSpPr txBox="1"/>
          <p:nvPr/>
        </p:nvSpPr>
        <p:spPr>
          <a:xfrm>
            <a:off x="10061087" y="2950697"/>
            <a:ext cx="9036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0000"/>
                </a:solidFill>
                <a:latin typeface="Arial"/>
                <a:ea typeface="Arial"/>
                <a:cs typeface="Arial"/>
                <a:sym typeface="Arial"/>
              </a:rPr>
              <a:t>bx</a:t>
            </a:r>
            <a:endParaRPr b="0" i="0" sz="1400" u="none" cap="none" strike="noStrike">
              <a:solidFill>
                <a:srgbClr val="000000"/>
              </a:solidFill>
              <a:latin typeface="Arial"/>
              <a:ea typeface="Arial"/>
              <a:cs typeface="Arial"/>
              <a:sym typeface="Arial"/>
            </a:endParaRPr>
          </a:p>
        </p:txBody>
      </p:sp>
      <p:cxnSp>
        <p:nvCxnSpPr>
          <p:cNvPr id="335" name="Google Shape;335;g2bb8c1dba0d_0_221"/>
          <p:cNvCxnSpPr/>
          <p:nvPr/>
        </p:nvCxnSpPr>
        <p:spPr>
          <a:xfrm>
            <a:off x="10132803" y="2950697"/>
            <a:ext cx="831900" cy="0"/>
          </a:xfrm>
          <a:prstGeom prst="straightConnector1">
            <a:avLst/>
          </a:prstGeom>
          <a:noFill/>
          <a:ln cap="flat" cmpd="sng" w="57150">
            <a:solidFill>
              <a:srgbClr val="FF0000"/>
            </a:solidFill>
            <a:prstDash val="solid"/>
            <a:miter lim="800000"/>
            <a:headEnd len="med" w="med" type="triangle"/>
            <a:tailEnd len="med" w="med" type="triangle"/>
          </a:ln>
        </p:spPr>
      </p:cxnSp>
      <p:sp>
        <p:nvSpPr>
          <p:cNvPr id="336" name="Google Shape;336;g2bb8c1dba0d_0_221"/>
          <p:cNvSpPr txBox="1"/>
          <p:nvPr/>
        </p:nvSpPr>
        <p:spPr>
          <a:xfrm>
            <a:off x="502024" y="4210706"/>
            <a:ext cx="11427600" cy="1569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Arial"/>
                <a:ea typeface="Arial"/>
                <a:cs typeface="Arial"/>
                <a:sym typeface="Arial"/>
              </a:rPr>
              <a:t>This is before considering adding:</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3200"/>
              <a:buFont typeface="Arial"/>
              <a:buChar char="•"/>
            </a:pPr>
            <a:r>
              <a:rPr b="0" i="1" lang="en-US" sz="3200" u="none" cap="none" strike="noStrike">
                <a:solidFill>
                  <a:schemeClr val="dk1"/>
                </a:solidFill>
                <a:latin typeface="Arial"/>
                <a:ea typeface="Arial"/>
                <a:cs typeface="Arial"/>
                <a:sym typeface="Arial"/>
              </a:rPr>
              <a:t>scales</a:t>
            </a:r>
            <a:r>
              <a:rPr b="0" i="0" lang="en-US" sz="3200" u="none" cap="none" strike="noStrike">
                <a:solidFill>
                  <a:schemeClr val="dk1"/>
                </a:solidFill>
                <a:latin typeface="Arial"/>
                <a:ea typeface="Arial"/>
                <a:cs typeface="Arial"/>
                <a:sym typeface="Arial"/>
              </a:rPr>
              <a:t> (by*s,bx*s)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3200"/>
              <a:buFont typeface="Arial"/>
              <a:buChar char="•"/>
            </a:pPr>
            <a:r>
              <a:rPr b="0" i="1" lang="en-US" sz="3200" u="none" cap="none" strike="noStrike">
                <a:solidFill>
                  <a:schemeClr val="dk1"/>
                </a:solidFill>
                <a:latin typeface="Arial"/>
                <a:ea typeface="Arial"/>
                <a:cs typeface="Arial"/>
                <a:sym typeface="Arial"/>
              </a:rPr>
              <a:t>aspect ratios </a:t>
            </a:r>
            <a:r>
              <a:rPr b="0" i="0" lang="en-US" sz="3200" u="none" cap="none" strike="noStrike">
                <a:solidFill>
                  <a:schemeClr val="dk1"/>
                </a:solidFill>
                <a:latin typeface="Arial"/>
                <a:ea typeface="Arial"/>
                <a:cs typeface="Arial"/>
                <a:sym typeface="Arial"/>
              </a:rPr>
              <a:t>(by*sy,bx*sx)</a:t>
            </a:r>
            <a:endParaRPr b="1" i="0" sz="32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g2bb8c1dba0d_0_232"/>
          <p:cNvSpPr txBox="1"/>
          <p:nvPr>
            <p:ph type="title"/>
          </p:nvPr>
        </p:nvSpPr>
        <p:spPr>
          <a:xfrm>
            <a:off x="838200" y="365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Challenges of Object Detection</a:t>
            </a:r>
            <a:endParaRPr/>
          </a:p>
        </p:txBody>
      </p:sp>
      <p:sp>
        <p:nvSpPr>
          <p:cNvPr id="342" name="Google Shape;342;g2bb8c1dba0d_0_232"/>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Have to evaluate </a:t>
            </a:r>
            <a:r>
              <a:rPr i="1" lang="en-US"/>
              <a:t>tons </a:t>
            </a:r>
            <a:r>
              <a:rPr lang="en-US"/>
              <a:t>of boxes </a:t>
            </a:r>
            <a:endParaRPr/>
          </a:p>
          <a:p>
            <a:pPr indent="-228600" lvl="0" marL="228600" rtl="0" algn="l">
              <a:lnSpc>
                <a:spcPct val="90000"/>
              </a:lnSpc>
              <a:spcBef>
                <a:spcPts val="1000"/>
              </a:spcBef>
              <a:spcAft>
                <a:spcPts val="0"/>
              </a:spcAft>
              <a:buClr>
                <a:schemeClr val="dk1"/>
              </a:buClr>
              <a:buSzPts val="2800"/>
              <a:buChar char="•"/>
            </a:pPr>
            <a:r>
              <a:rPr lang="en-US"/>
              <a:t>Positive instances of objects are </a:t>
            </a:r>
            <a:r>
              <a:rPr i="1" lang="en-US"/>
              <a:t>extremely</a:t>
            </a:r>
            <a:r>
              <a:rPr lang="en-US"/>
              <a:t> rare</a:t>
            </a:r>
            <a:endParaRPr/>
          </a:p>
        </p:txBody>
      </p:sp>
      <p:pic>
        <p:nvPicPr>
          <p:cNvPr id="343" name="Google Shape;343;g2bb8c1dba0d_0_232"/>
          <p:cNvPicPr preferRelativeResize="0"/>
          <p:nvPr/>
        </p:nvPicPr>
        <p:blipFill rotWithShape="1">
          <a:blip r:embed="rId3">
            <a:alphaModFix/>
          </a:blip>
          <a:srcRect b="2341" l="12498" r="45770" t="42018"/>
          <a:stretch/>
        </p:blipFill>
        <p:spPr>
          <a:xfrm>
            <a:off x="838200" y="2944906"/>
            <a:ext cx="4000466" cy="3000344"/>
          </a:xfrm>
          <a:prstGeom prst="rect">
            <a:avLst/>
          </a:prstGeom>
          <a:noFill/>
          <a:ln cap="flat" cmpd="sng" w="9525">
            <a:solidFill>
              <a:schemeClr val="dk1"/>
            </a:solidFill>
            <a:prstDash val="solid"/>
            <a:round/>
            <a:headEnd len="sm" w="sm" type="none"/>
            <a:tailEnd len="sm" w="sm" type="none"/>
          </a:ln>
        </p:spPr>
      </p:pic>
      <p:sp>
        <p:nvSpPr>
          <p:cNvPr id="344" name="Google Shape;344;g2bb8c1dba0d_0_232"/>
          <p:cNvSpPr/>
          <p:nvPr/>
        </p:nvSpPr>
        <p:spPr>
          <a:xfrm>
            <a:off x="838200" y="4081371"/>
            <a:ext cx="2059200" cy="845700"/>
          </a:xfrm>
          <a:prstGeom prst="rect">
            <a:avLst/>
          </a:prstGeom>
          <a:noFill/>
          <a:ln cap="flat" cmpd="sng" w="7620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45" name="Google Shape;345;g2bb8c1dba0d_0_232"/>
          <p:cNvSpPr txBox="1"/>
          <p:nvPr/>
        </p:nvSpPr>
        <p:spPr>
          <a:xfrm>
            <a:off x="4838660" y="2944906"/>
            <a:ext cx="7052100" cy="2678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How many ways can we get the box wrong?</a:t>
            </a:r>
            <a:endParaRPr b="0" i="0" sz="1400" u="none" cap="none" strike="noStrike">
              <a:solidFill>
                <a:srgbClr val="000000"/>
              </a:solidFill>
              <a:latin typeface="Arial"/>
              <a:ea typeface="Arial"/>
              <a:cs typeface="Arial"/>
              <a:sym typeface="Arial"/>
            </a:endParaRPr>
          </a:p>
          <a:p>
            <a:pPr indent="-514350" lvl="0" marL="514350" marR="0" rtl="0" algn="l">
              <a:lnSpc>
                <a:spcPct val="100000"/>
              </a:lnSpc>
              <a:spcBef>
                <a:spcPts val="0"/>
              </a:spcBef>
              <a:spcAft>
                <a:spcPts val="0"/>
              </a:spcAft>
              <a:buClr>
                <a:schemeClr val="dk1"/>
              </a:buClr>
              <a:buSzPts val="2800"/>
              <a:buFont typeface="Arial"/>
              <a:buAutoNum type="arabicPeriod"/>
            </a:pPr>
            <a:r>
              <a:rPr b="0" i="0" lang="en-US" sz="2800" u="none" cap="none" strike="noStrike">
                <a:solidFill>
                  <a:schemeClr val="dk1"/>
                </a:solidFill>
                <a:latin typeface="Arial"/>
                <a:ea typeface="Arial"/>
                <a:cs typeface="Arial"/>
                <a:sym typeface="Arial"/>
              </a:rPr>
              <a:t>Wrong left x </a:t>
            </a:r>
            <a:endParaRPr b="0" i="0" sz="1400" u="none" cap="none" strike="noStrike">
              <a:solidFill>
                <a:srgbClr val="000000"/>
              </a:solidFill>
              <a:latin typeface="Arial"/>
              <a:ea typeface="Arial"/>
              <a:cs typeface="Arial"/>
              <a:sym typeface="Arial"/>
            </a:endParaRPr>
          </a:p>
          <a:p>
            <a:pPr indent="-514350" lvl="0" marL="514350" marR="0" rtl="0" algn="l">
              <a:lnSpc>
                <a:spcPct val="100000"/>
              </a:lnSpc>
              <a:spcBef>
                <a:spcPts val="0"/>
              </a:spcBef>
              <a:spcAft>
                <a:spcPts val="0"/>
              </a:spcAft>
              <a:buClr>
                <a:schemeClr val="dk1"/>
              </a:buClr>
              <a:buSzPts val="2800"/>
              <a:buFont typeface="Arial"/>
              <a:buAutoNum type="arabicPeriod"/>
            </a:pPr>
            <a:r>
              <a:rPr b="0" i="0" lang="en-US" sz="2800" u="none" cap="none" strike="noStrike">
                <a:solidFill>
                  <a:schemeClr val="dk1"/>
                </a:solidFill>
                <a:latin typeface="Arial"/>
                <a:ea typeface="Arial"/>
                <a:cs typeface="Arial"/>
                <a:sym typeface="Arial"/>
              </a:rPr>
              <a:t>Wrong right x</a:t>
            </a:r>
            <a:endParaRPr b="0" i="0" sz="1400" u="none" cap="none" strike="noStrike">
              <a:solidFill>
                <a:srgbClr val="000000"/>
              </a:solidFill>
              <a:latin typeface="Arial"/>
              <a:ea typeface="Arial"/>
              <a:cs typeface="Arial"/>
              <a:sym typeface="Arial"/>
            </a:endParaRPr>
          </a:p>
          <a:p>
            <a:pPr indent="-514350" lvl="0" marL="514350" marR="0" rtl="0" algn="l">
              <a:lnSpc>
                <a:spcPct val="100000"/>
              </a:lnSpc>
              <a:spcBef>
                <a:spcPts val="0"/>
              </a:spcBef>
              <a:spcAft>
                <a:spcPts val="0"/>
              </a:spcAft>
              <a:buClr>
                <a:schemeClr val="dk1"/>
              </a:buClr>
              <a:buSzPts val="2800"/>
              <a:buFont typeface="Arial"/>
              <a:buAutoNum type="arabicPeriod"/>
            </a:pPr>
            <a:r>
              <a:rPr b="0" i="0" lang="en-US" sz="2800" u="none" cap="none" strike="noStrike">
                <a:solidFill>
                  <a:schemeClr val="dk1"/>
                </a:solidFill>
                <a:latin typeface="Arial"/>
                <a:ea typeface="Arial"/>
                <a:cs typeface="Arial"/>
                <a:sym typeface="Arial"/>
              </a:rPr>
              <a:t>Wrong top y</a:t>
            </a:r>
            <a:endParaRPr b="0" i="0" sz="1400" u="none" cap="none" strike="noStrike">
              <a:solidFill>
                <a:srgbClr val="000000"/>
              </a:solidFill>
              <a:latin typeface="Arial"/>
              <a:ea typeface="Arial"/>
              <a:cs typeface="Arial"/>
              <a:sym typeface="Arial"/>
            </a:endParaRPr>
          </a:p>
          <a:p>
            <a:pPr indent="-514350" lvl="0" marL="514350" marR="0" rtl="0" algn="l">
              <a:lnSpc>
                <a:spcPct val="100000"/>
              </a:lnSpc>
              <a:spcBef>
                <a:spcPts val="0"/>
              </a:spcBef>
              <a:spcAft>
                <a:spcPts val="0"/>
              </a:spcAft>
              <a:buClr>
                <a:schemeClr val="dk1"/>
              </a:buClr>
              <a:buSzPts val="2800"/>
              <a:buFont typeface="Arial"/>
              <a:buAutoNum type="arabicPeriod"/>
            </a:pPr>
            <a:r>
              <a:rPr b="0" i="0" lang="en-US" sz="2800" u="none" cap="none" strike="noStrike">
                <a:solidFill>
                  <a:schemeClr val="dk1"/>
                </a:solidFill>
                <a:latin typeface="Arial"/>
                <a:ea typeface="Arial"/>
                <a:cs typeface="Arial"/>
                <a:sym typeface="Arial"/>
              </a:rPr>
              <a:t>Wrong bottom y</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g2bb8c1dba0d_0_499"/>
          <p:cNvSpPr txBox="1"/>
          <p:nvPr>
            <p:ph type="title"/>
          </p:nvPr>
        </p:nvSpPr>
        <p:spPr>
          <a:xfrm>
            <a:off x="1117600" y="365125"/>
            <a:ext cx="99219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Are You Smarter than a Random Number Generator?</a:t>
            </a:r>
            <a:endParaRPr/>
          </a:p>
        </p:txBody>
      </p:sp>
      <p:sp>
        <p:nvSpPr>
          <p:cNvPr id="351" name="Google Shape;351;g2bb8c1dba0d_0_499"/>
          <p:cNvSpPr txBox="1"/>
          <p:nvPr>
            <p:ph idx="1" type="body"/>
          </p:nvPr>
        </p:nvSpPr>
        <p:spPr>
          <a:xfrm>
            <a:off x="1117600" y="1825625"/>
            <a:ext cx="10806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Prob. of guessing 1k-way classification?</a:t>
            </a:r>
            <a:endParaRPr/>
          </a:p>
          <a:p>
            <a:pPr indent="-228600" lvl="1" marL="685800" rtl="0" algn="l">
              <a:lnSpc>
                <a:spcPct val="90000"/>
              </a:lnSpc>
              <a:spcBef>
                <a:spcPts val="500"/>
              </a:spcBef>
              <a:spcAft>
                <a:spcPts val="0"/>
              </a:spcAft>
              <a:buClr>
                <a:schemeClr val="dk1"/>
              </a:buClr>
              <a:buSzPts val="2400"/>
              <a:buChar char="•"/>
            </a:pPr>
            <a:r>
              <a:rPr lang="en-US"/>
              <a:t>1/1,000</a:t>
            </a:r>
            <a:endParaRPr/>
          </a:p>
          <a:p>
            <a:pPr indent="-228600" lvl="0" marL="228600" rtl="0" algn="l">
              <a:lnSpc>
                <a:spcPct val="90000"/>
              </a:lnSpc>
              <a:spcBef>
                <a:spcPts val="1000"/>
              </a:spcBef>
              <a:spcAft>
                <a:spcPts val="0"/>
              </a:spcAft>
              <a:buClr>
                <a:schemeClr val="dk1"/>
              </a:buClr>
              <a:buSzPts val="2800"/>
              <a:buChar char="•"/>
            </a:pPr>
            <a:r>
              <a:rPr b="1" lang="en-US"/>
              <a:t>Prob. of guessing all 4 bounding box corners within 10% of image size</a:t>
            </a:r>
            <a:r>
              <a:rPr lang="en-US"/>
              <a:t>?</a:t>
            </a:r>
            <a:endParaRPr/>
          </a:p>
          <a:p>
            <a:pPr indent="-228600" lvl="1" marL="685800" rtl="0" algn="l">
              <a:lnSpc>
                <a:spcPct val="90000"/>
              </a:lnSpc>
              <a:spcBef>
                <a:spcPts val="500"/>
              </a:spcBef>
              <a:spcAft>
                <a:spcPts val="0"/>
              </a:spcAft>
              <a:buClr>
                <a:schemeClr val="dk1"/>
              </a:buClr>
              <a:buSzPts val="2400"/>
              <a:buChar char="•"/>
            </a:pPr>
            <a:r>
              <a:rPr lang="en-US"/>
              <a:t>(1/10)*(1/10)*(1/10)*(1/10)=1/10,000</a:t>
            </a:r>
            <a:endParaRPr/>
          </a:p>
          <a:p>
            <a:pPr indent="-228600" lvl="0" marL="228600" rtl="0" algn="l">
              <a:lnSpc>
                <a:spcPct val="90000"/>
              </a:lnSpc>
              <a:spcBef>
                <a:spcPts val="1000"/>
              </a:spcBef>
              <a:spcAft>
                <a:spcPts val="0"/>
              </a:spcAft>
              <a:buClr>
                <a:schemeClr val="dk1"/>
              </a:buClr>
              <a:buSzPts val="2800"/>
              <a:buChar char="•"/>
            </a:pPr>
            <a:r>
              <a:rPr lang="en-US"/>
              <a:t>Probability of guessing both: 1/10,000,000</a:t>
            </a:r>
            <a:endParaRPr/>
          </a:p>
          <a:p>
            <a:pPr indent="-228600" lvl="0" marL="228600" rtl="0" algn="l">
              <a:lnSpc>
                <a:spcPct val="90000"/>
              </a:lnSpc>
              <a:spcBef>
                <a:spcPts val="1000"/>
              </a:spcBef>
              <a:spcAft>
                <a:spcPts val="0"/>
              </a:spcAft>
              <a:buClr>
                <a:schemeClr val="dk1"/>
              </a:buClr>
              <a:buSzPts val="2800"/>
              <a:buChar char="•"/>
            </a:pPr>
            <a:r>
              <a:rPr lang="en-US"/>
              <a:t>Detection is </a:t>
            </a:r>
            <a:r>
              <a:rPr b="1" lang="en-US"/>
              <a:t>hard </a:t>
            </a:r>
            <a:r>
              <a:rPr lang="en-US"/>
              <a:t>(via guessing and in general)</a:t>
            </a:r>
            <a:endParaRPr/>
          </a:p>
          <a:p>
            <a:pPr indent="-228600" lvl="0" marL="228600" rtl="0" algn="l">
              <a:lnSpc>
                <a:spcPct val="90000"/>
              </a:lnSpc>
              <a:spcBef>
                <a:spcPts val="1000"/>
              </a:spcBef>
              <a:spcAft>
                <a:spcPts val="0"/>
              </a:spcAft>
              <a:buClr>
                <a:schemeClr val="dk1"/>
              </a:buClr>
              <a:buSzPts val="2800"/>
              <a:buChar char="•"/>
            </a:pPr>
            <a:r>
              <a:rPr lang="en-US"/>
              <a:t>Should </a:t>
            </a:r>
            <a:r>
              <a:rPr i="1" lang="en-US"/>
              <a:t>always compare </a:t>
            </a:r>
            <a:r>
              <a:rPr lang="en-US"/>
              <a:t>against guessing or picking most likely output label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1">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g2bb8c1dba0d_0_327"/>
          <p:cNvSpPr txBox="1"/>
          <p:nvPr>
            <p:ph type="title"/>
          </p:nvPr>
        </p:nvSpPr>
        <p:spPr>
          <a:xfrm>
            <a:off x="1117600" y="365125"/>
            <a:ext cx="108288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Evaluating – Bounding Boxes</a:t>
            </a:r>
            <a:endParaRPr/>
          </a:p>
        </p:txBody>
      </p:sp>
      <p:pic>
        <p:nvPicPr>
          <p:cNvPr id="357" name="Google Shape;357;g2bb8c1dba0d_0_327"/>
          <p:cNvPicPr preferRelativeResize="0"/>
          <p:nvPr/>
        </p:nvPicPr>
        <p:blipFill rotWithShape="1">
          <a:blip r:embed="rId3">
            <a:alphaModFix/>
          </a:blip>
          <a:srcRect b="20608" l="12499" r="65352" t="63829"/>
          <a:stretch/>
        </p:blipFill>
        <p:spPr>
          <a:xfrm>
            <a:off x="6543753" y="2661015"/>
            <a:ext cx="2214554" cy="875283"/>
          </a:xfrm>
          <a:prstGeom prst="rect">
            <a:avLst/>
          </a:prstGeom>
          <a:noFill/>
          <a:ln cap="flat" cmpd="sng" w="9525">
            <a:solidFill>
              <a:schemeClr val="dk1"/>
            </a:solidFill>
            <a:prstDash val="solid"/>
            <a:round/>
            <a:headEnd len="sm" w="sm" type="none"/>
            <a:tailEnd len="sm" w="sm" type="none"/>
          </a:ln>
        </p:spPr>
      </p:pic>
      <p:grpSp>
        <p:nvGrpSpPr>
          <p:cNvPr id="358" name="Google Shape;358;g2bb8c1dba0d_0_327"/>
          <p:cNvGrpSpPr/>
          <p:nvPr/>
        </p:nvGrpSpPr>
        <p:grpSpPr>
          <a:xfrm>
            <a:off x="1080075" y="2657240"/>
            <a:ext cx="5324777" cy="3993582"/>
            <a:chOff x="201706" y="2820875"/>
            <a:chExt cx="3442447" cy="3442447"/>
          </a:xfrm>
        </p:grpSpPr>
        <p:pic>
          <p:nvPicPr>
            <p:cNvPr id="359" name="Google Shape;359;g2bb8c1dba0d_0_327"/>
            <p:cNvPicPr preferRelativeResize="0"/>
            <p:nvPr/>
          </p:nvPicPr>
          <p:blipFill rotWithShape="1">
            <a:blip r:embed="rId3">
              <a:alphaModFix/>
            </a:blip>
            <a:srcRect b="2341" l="12498" r="45770" t="42018"/>
            <a:stretch/>
          </p:blipFill>
          <p:spPr>
            <a:xfrm>
              <a:off x="201706" y="2820875"/>
              <a:ext cx="3442447" cy="3442447"/>
            </a:xfrm>
            <a:prstGeom prst="rect">
              <a:avLst/>
            </a:prstGeom>
            <a:noFill/>
            <a:ln cap="flat" cmpd="sng" w="9525">
              <a:solidFill>
                <a:schemeClr val="dk1"/>
              </a:solidFill>
              <a:prstDash val="solid"/>
              <a:round/>
              <a:headEnd len="sm" w="sm" type="none"/>
              <a:tailEnd len="sm" w="sm" type="none"/>
            </a:ln>
          </p:spPr>
        </p:pic>
        <p:sp>
          <p:nvSpPr>
            <p:cNvPr id="360" name="Google Shape;360;g2bb8c1dba0d_0_327"/>
            <p:cNvSpPr/>
            <p:nvPr/>
          </p:nvSpPr>
          <p:spPr>
            <a:xfrm>
              <a:off x="201706" y="4206240"/>
              <a:ext cx="1734600" cy="892800"/>
            </a:xfrm>
            <a:prstGeom prst="rect">
              <a:avLst/>
            </a:prstGeom>
            <a:noFill/>
            <a:ln cap="flat" cmpd="sng" w="7620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61" name="Google Shape;361;g2bb8c1dba0d_0_327"/>
            <p:cNvSpPr/>
            <p:nvPr/>
          </p:nvSpPr>
          <p:spPr>
            <a:xfrm>
              <a:off x="2205318" y="3696149"/>
              <a:ext cx="1349100" cy="892800"/>
            </a:xfrm>
            <a:prstGeom prst="rect">
              <a:avLst/>
            </a:prstGeom>
            <a:noFill/>
            <a:ln cap="flat" cmpd="sng" w="7620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id="362" name="Google Shape;362;g2bb8c1dba0d_0_327"/>
          <p:cNvPicPr preferRelativeResize="0"/>
          <p:nvPr/>
        </p:nvPicPr>
        <p:blipFill rotWithShape="1">
          <a:blip r:embed="rId3">
            <a:alphaModFix/>
          </a:blip>
          <a:srcRect b="20608" l="14362" r="63490" t="63829"/>
          <a:stretch/>
        </p:blipFill>
        <p:spPr>
          <a:xfrm>
            <a:off x="6543752" y="3672513"/>
            <a:ext cx="2214554" cy="875283"/>
          </a:xfrm>
          <a:prstGeom prst="rect">
            <a:avLst/>
          </a:prstGeom>
          <a:noFill/>
          <a:ln cap="flat" cmpd="sng" w="9525">
            <a:solidFill>
              <a:schemeClr val="dk1"/>
            </a:solidFill>
            <a:prstDash val="solid"/>
            <a:round/>
            <a:headEnd len="sm" w="sm" type="none"/>
            <a:tailEnd len="sm" w="sm" type="none"/>
          </a:ln>
        </p:spPr>
      </p:pic>
      <p:pic>
        <p:nvPicPr>
          <p:cNvPr id="363" name="Google Shape;363;g2bb8c1dba0d_0_327"/>
          <p:cNvPicPr preferRelativeResize="0"/>
          <p:nvPr/>
        </p:nvPicPr>
        <p:blipFill rotWithShape="1">
          <a:blip r:embed="rId3">
            <a:alphaModFix/>
          </a:blip>
          <a:srcRect b="20608" l="17087" r="60764" t="63829"/>
          <a:stretch/>
        </p:blipFill>
        <p:spPr>
          <a:xfrm>
            <a:off x="6543752" y="4708317"/>
            <a:ext cx="2214554" cy="875283"/>
          </a:xfrm>
          <a:prstGeom prst="rect">
            <a:avLst/>
          </a:prstGeom>
          <a:noFill/>
          <a:ln cap="flat" cmpd="sng" w="9525">
            <a:solidFill>
              <a:schemeClr val="dk1"/>
            </a:solidFill>
            <a:prstDash val="solid"/>
            <a:round/>
            <a:headEnd len="sm" w="sm" type="none"/>
            <a:tailEnd len="sm" w="sm" type="none"/>
          </a:ln>
        </p:spPr>
      </p:pic>
      <p:pic>
        <p:nvPicPr>
          <p:cNvPr id="364" name="Google Shape;364;g2bb8c1dba0d_0_327"/>
          <p:cNvPicPr preferRelativeResize="0"/>
          <p:nvPr/>
        </p:nvPicPr>
        <p:blipFill rotWithShape="1">
          <a:blip r:embed="rId3">
            <a:alphaModFix/>
          </a:blip>
          <a:srcRect b="20608" l="18808" r="59043" t="63829"/>
          <a:stretch/>
        </p:blipFill>
        <p:spPr>
          <a:xfrm>
            <a:off x="6543752" y="5775317"/>
            <a:ext cx="2214554" cy="875283"/>
          </a:xfrm>
          <a:prstGeom prst="rect">
            <a:avLst/>
          </a:prstGeom>
          <a:noFill/>
          <a:ln cap="flat" cmpd="sng" w="9525">
            <a:solidFill>
              <a:schemeClr val="dk1"/>
            </a:solidFill>
            <a:prstDash val="solid"/>
            <a:round/>
            <a:headEnd len="sm" w="sm" type="none"/>
            <a:tailEnd len="sm" w="sm" type="none"/>
          </a:ln>
        </p:spPr>
      </p:pic>
      <p:pic>
        <p:nvPicPr>
          <p:cNvPr id="365" name="Google Shape;365;g2bb8c1dba0d_0_327"/>
          <p:cNvPicPr preferRelativeResize="0"/>
          <p:nvPr/>
        </p:nvPicPr>
        <p:blipFill rotWithShape="1">
          <a:blip r:embed="rId3">
            <a:alphaModFix/>
          </a:blip>
          <a:srcRect b="20608" l="26415" r="51436" t="63829"/>
          <a:stretch/>
        </p:blipFill>
        <p:spPr>
          <a:xfrm>
            <a:off x="8897383" y="2661015"/>
            <a:ext cx="2214554" cy="875283"/>
          </a:xfrm>
          <a:prstGeom prst="rect">
            <a:avLst/>
          </a:prstGeom>
          <a:noFill/>
          <a:ln cap="flat" cmpd="sng" w="9525">
            <a:solidFill>
              <a:schemeClr val="dk1"/>
            </a:solidFill>
            <a:prstDash val="solid"/>
            <a:round/>
            <a:headEnd len="sm" w="sm" type="none"/>
            <a:tailEnd len="sm" w="sm" type="none"/>
          </a:ln>
        </p:spPr>
      </p:pic>
      <p:pic>
        <p:nvPicPr>
          <p:cNvPr id="366" name="Google Shape;366;g2bb8c1dba0d_0_327"/>
          <p:cNvPicPr preferRelativeResize="0"/>
          <p:nvPr/>
        </p:nvPicPr>
        <p:blipFill rotWithShape="1">
          <a:blip r:embed="rId3">
            <a:alphaModFix/>
          </a:blip>
          <a:srcRect b="16385" l="29193" r="48659" t="68052"/>
          <a:stretch/>
        </p:blipFill>
        <p:spPr>
          <a:xfrm>
            <a:off x="8897381" y="3672513"/>
            <a:ext cx="2214554" cy="875283"/>
          </a:xfrm>
          <a:prstGeom prst="rect">
            <a:avLst/>
          </a:prstGeom>
          <a:noFill/>
          <a:ln cap="flat" cmpd="sng" w="9525">
            <a:solidFill>
              <a:schemeClr val="dk1"/>
            </a:solidFill>
            <a:prstDash val="solid"/>
            <a:round/>
            <a:headEnd len="sm" w="sm" type="none"/>
            <a:tailEnd len="sm" w="sm" type="none"/>
          </a:ln>
        </p:spPr>
      </p:pic>
      <p:pic>
        <p:nvPicPr>
          <p:cNvPr id="367" name="Google Shape;367;g2bb8c1dba0d_0_327"/>
          <p:cNvPicPr preferRelativeResize="0"/>
          <p:nvPr/>
        </p:nvPicPr>
        <p:blipFill rotWithShape="1">
          <a:blip r:embed="rId3">
            <a:alphaModFix/>
          </a:blip>
          <a:srcRect b="16385" l="33354" r="44497" t="68052"/>
          <a:stretch/>
        </p:blipFill>
        <p:spPr>
          <a:xfrm>
            <a:off x="8897380" y="4708316"/>
            <a:ext cx="2214554" cy="875283"/>
          </a:xfrm>
          <a:prstGeom prst="rect">
            <a:avLst/>
          </a:prstGeom>
          <a:noFill/>
          <a:ln cap="flat" cmpd="sng" w="9525">
            <a:solidFill>
              <a:schemeClr val="dk1"/>
            </a:solidFill>
            <a:prstDash val="solid"/>
            <a:round/>
            <a:headEnd len="sm" w="sm" type="none"/>
            <a:tailEnd len="sm" w="sm" type="none"/>
          </a:ln>
        </p:spPr>
      </p:pic>
      <p:pic>
        <p:nvPicPr>
          <p:cNvPr id="368" name="Google Shape;368;g2bb8c1dba0d_0_327"/>
          <p:cNvPicPr preferRelativeResize="0"/>
          <p:nvPr/>
        </p:nvPicPr>
        <p:blipFill rotWithShape="1">
          <a:blip r:embed="rId3">
            <a:alphaModFix/>
          </a:blip>
          <a:srcRect b="12655" l="36797" r="41055" t="71781"/>
          <a:stretch/>
        </p:blipFill>
        <p:spPr>
          <a:xfrm>
            <a:off x="8897380" y="5772927"/>
            <a:ext cx="2214554" cy="875283"/>
          </a:xfrm>
          <a:prstGeom prst="rect">
            <a:avLst/>
          </a:prstGeom>
          <a:noFill/>
          <a:ln cap="flat" cmpd="sng" w="9525">
            <a:solidFill>
              <a:schemeClr val="dk1"/>
            </a:solidFill>
            <a:prstDash val="solid"/>
            <a:round/>
            <a:headEnd len="sm" w="sm" type="none"/>
            <a:tailEnd len="sm" w="sm" type="none"/>
          </a:ln>
        </p:spPr>
      </p:pic>
      <p:sp>
        <p:nvSpPr>
          <p:cNvPr id="369" name="Google Shape;369;g2bb8c1dba0d_0_327"/>
          <p:cNvSpPr txBox="1"/>
          <p:nvPr/>
        </p:nvSpPr>
        <p:spPr>
          <a:xfrm>
            <a:off x="502024" y="1495313"/>
            <a:ext cx="11187900" cy="1077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dk1"/>
                </a:solidFill>
                <a:latin typeface="Arial"/>
                <a:ea typeface="Arial"/>
                <a:cs typeface="Arial"/>
                <a:sym typeface="Arial"/>
              </a:rPr>
              <a:t>Raise your hand when you think the detection stops being correct.</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g2bb8c1dba0d_0_793"/>
          <p:cNvSpPr txBox="1"/>
          <p:nvPr>
            <p:ph type="title"/>
          </p:nvPr>
        </p:nvSpPr>
        <p:spPr>
          <a:xfrm>
            <a:off x="1117600" y="365125"/>
            <a:ext cx="101058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Evaluating – Bounding Boxes</a:t>
            </a:r>
            <a:endParaRPr/>
          </a:p>
        </p:txBody>
      </p:sp>
      <p:sp>
        <p:nvSpPr>
          <p:cNvPr id="375" name="Google Shape;375;g2bb8c1dba0d_0_793"/>
          <p:cNvSpPr txBox="1"/>
          <p:nvPr/>
        </p:nvSpPr>
        <p:spPr>
          <a:xfrm>
            <a:off x="-57373" y="1293857"/>
            <a:ext cx="12306900" cy="1077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dk1"/>
                </a:solidFill>
                <a:latin typeface="Arial"/>
                <a:ea typeface="Arial"/>
                <a:cs typeface="Arial"/>
                <a:sym typeface="Arial"/>
              </a:rPr>
              <a:t>Standard metric for two boxes: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Arial"/>
                <a:ea typeface="Arial"/>
                <a:cs typeface="Arial"/>
                <a:sym typeface="Arial"/>
              </a:rPr>
              <a:t>Intersection over union/IoU/Jaccard coefficient</a:t>
            </a:r>
            <a:endParaRPr b="0" i="0" sz="1400" u="none" cap="none" strike="noStrike">
              <a:solidFill>
                <a:srgbClr val="000000"/>
              </a:solidFill>
              <a:latin typeface="Arial"/>
              <a:ea typeface="Arial"/>
              <a:cs typeface="Arial"/>
              <a:sym typeface="Arial"/>
            </a:endParaRPr>
          </a:p>
        </p:txBody>
      </p:sp>
      <p:grpSp>
        <p:nvGrpSpPr>
          <p:cNvPr id="376" name="Google Shape;376;g2bb8c1dba0d_0_793"/>
          <p:cNvGrpSpPr/>
          <p:nvPr/>
        </p:nvGrpSpPr>
        <p:grpSpPr>
          <a:xfrm>
            <a:off x="1459636" y="2371075"/>
            <a:ext cx="9272287" cy="1631700"/>
            <a:chOff x="1094755" y="2371075"/>
            <a:chExt cx="6954389" cy="1631700"/>
          </a:xfrm>
        </p:grpSpPr>
        <p:sp>
          <p:nvSpPr>
            <p:cNvPr id="377" name="Google Shape;377;g2bb8c1dba0d_0_793"/>
            <p:cNvSpPr txBox="1"/>
            <p:nvPr/>
          </p:nvSpPr>
          <p:spPr>
            <a:xfrm>
              <a:off x="5411916" y="2371075"/>
              <a:ext cx="1317600" cy="163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0"/>
                <a:buFont typeface="Arial"/>
                <a:buNone/>
              </a:pPr>
              <a:r>
                <a:rPr b="0" i="0" lang="en-US" sz="100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grpSp>
          <p:nvGrpSpPr>
            <p:cNvPr id="378" name="Google Shape;378;g2bb8c1dba0d_0_793"/>
            <p:cNvGrpSpPr/>
            <p:nvPr/>
          </p:nvGrpSpPr>
          <p:grpSpPr>
            <a:xfrm>
              <a:off x="1094755" y="2478048"/>
              <a:ext cx="1416863" cy="1416863"/>
              <a:chOff x="246563" y="3549357"/>
              <a:chExt cx="1714500" cy="1714500"/>
            </a:xfrm>
          </p:grpSpPr>
          <p:sp>
            <p:nvSpPr>
              <p:cNvPr id="379" name="Google Shape;379;g2bb8c1dba0d_0_793"/>
              <p:cNvSpPr/>
              <p:nvPr/>
            </p:nvSpPr>
            <p:spPr>
              <a:xfrm>
                <a:off x="246563" y="3549357"/>
                <a:ext cx="1143000" cy="1143000"/>
              </a:xfrm>
              <a:prstGeom prst="rect">
                <a:avLst/>
              </a:prstGeom>
              <a:solidFill>
                <a:schemeClr val="accent1"/>
              </a:solidFill>
              <a:ln cap="flat" cmpd="sng" w="5715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80" name="Google Shape;380;g2bb8c1dba0d_0_793"/>
              <p:cNvSpPr/>
              <p:nvPr/>
            </p:nvSpPr>
            <p:spPr>
              <a:xfrm>
                <a:off x="818063" y="4120857"/>
                <a:ext cx="1143000" cy="1143000"/>
              </a:xfrm>
              <a:prstGeom prst="rect">
                <a:avLst/>
              </a:prstGeom>
              <a:solidFill>
                <a:schemeClr val="accent1"/>
              </a:solidFill>
              <a:ln cap="flat" cmpd="sng" w="5715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cxnSp>
          <p:nvCxnSpPr>
            <p:cNvPr id="381" name="Google Shape;381;g2bb8c1dba0d_0_793"/>
            <p:cNvCxnSpPr/>
            <p:nvPr/>
          </p:nvCxnSpPr>
          <p:spPr>
            <a:xfrm>
              <a:off x="2782599" y="3186683"/>
              <a:ext cx="989700" cy="0"/>
            </a:xfrm>
            <a:prstGeom prst="straightConnector1">
              <a:avLst/>
            </a:prstGeom>
            <a:noFill/>
            <a:ln cap="flat" cmpd="sng" w="76200">
              <a:solidFill>
                <a:schemeClr val="dk1"/>
              </a:solidFill>
              <a:prstDash val="solid"/>
              <a:miter lim="800000"/>
              <a:headEnd len="sm" w="sm" type="none"/>
              <a:tailEnd len="med" w="med" type="triangle"/>
            </a:ln>
          </p:spPr>
        </p:cxnSp>
        <p:grpSp>
          <p:nvGrpSpPr>
            <p:cNvPr id="382" name="Google Shape;382;g2bb8c1dba0d_0_793"/>
            <p:cNvGrpSpPr/>
            <p:nvPr/>
          </p:nvGrpSpPr>
          <p:grpSpPr>
            <a:xfrm>
              <a:off x="4096650" y="2478048"/>
              <a:ext cx="1416863" cy="1416863"/>
              <a:chOff x="4096650" y="3576835"/>
              <a:chExt cx="1416863" cy="1416863"/>
            </a:xfrm>
          </p:grpSpPr>
          <p:grpSp>
            <p:nvGrpSpPr>
              <p:cNvPr id="383" name="Google Shape;383;g2bb8c1dba0d_0_793"/>
              <p:cNvGrpSpPr/>
              <p:nvPr/>
            </p:nvGrpSpPr>
            <p:grpSpPr>
              <a:xfrm>
                <a:off x="4096650" y="3576835"/>
                <a:ext cx="1416863" cy="1416863"/>
                <a:chOff x="246563" y="3549357"/>
                <a:chExt cx="1714500" cy="1714500"/>
              </a:xfrm>
            </p:grpSpPr>
            <p:sp>
              <p:nvSpPr>
                <p:cNvPr id="384" name="Google Shape;384;g2bb8c1dba0d_0_793"/>
                <p:cNvSpPr/>
                <p:nvPr/>
              </p:nvSpPr>
              <p:spPr>
                <a:xfrm>
                  <a:off x="246563" y="3549357"/>
                  <a:ext cx="1143000" cy="1143000"/>
                </a:xfrm>
                <a:prstGeom prst="rect">
                  <a:avLst/>
                </a:prstGeom>
                <a:solidFill>
                  <a:schemeClr val="accent1"/>
                </a:solidFill>
                <a:ln cap="flat" cmpd="sng" w="381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accent2"/>
                    </a:solidFill>
                    <a:latin typeface="Arial"/>
                    <a:ea typeface="Arial"/>
                    <a:cs typeface="Arial"/>
                    <a:sym typeface="Arial"/>
                  </a:endParaRPr>
                </a:p>
              </p:txBody>
            </p:sp>
            <p:sp>
              <p:nvSpPr>
                <p:cNvPr id="385" name="Google Shape;385;g2bb8c1dba0d_0_793"/>
                <p:cNvSpPr/>
                <p:nvPr/>
              </p:nvSpPr>
              <p:spPr>
                <a:xfrm>
                  <a:off x="818063" y="4120857"/>
                  <a:ext cx="1143000" cy="1143000"/>
                </a:xfrm>
                <a:prstGeom prst="rect">
                  <a:avLst/>
                </a:prstGeom>
                <a:solidFill>
                  <a:schemeClr val="accent1"/>
                </a:solid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386" name="Google Shape;386;g2bb8c1dba0d_0_793"/>
              <p:cNvSpPr/>
              <p:nvPr/>
            </p:nvSpPr>
            <p:spPr>
              <a:xfrm>
                <a:off x="4529870" y="4025697"/>
                <a:ext cx="535800" cy="519600"/>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387" name="Google Shape;387;g2bb8c1dba0d_0_793"/>
            <p:cNvGrpSpPr/>
            <p:nvPr/>
          </p:nvGrpSpPr>
          <p:grpSpPr>
            <a:xfrm>
              <a:off x="6632281" y="2478048"/>
              <a:ext cx="1416863" cy="1416863"/>
              <a:chOff x="246563" y="3549357"/>
              <a:chExt cx="1714500" cy="1714500"/>
            </a:xfrm>
          </p:grpSpPr>
          <p:sp>
            <p:nvSpPr>
              <p:cNvPr id="388" name="Google Shape;388;g2bb8c1dba0d_0_793"/>
              <p:cNvSpPr/>
              <p:nvPr/>
            </p:nvSpPr>
            <p:spPr>
              <a:xfrm>
                <a:off x="246563" y="3549357"/>
                <a:ext cx="1143000" cy="1143000"/>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accent2"/>
                  </a:solidFill>
                  <a:latin typeface="Arial"/>
                  <a:ea typeface="Arial"/>
                  <a:cs typeface="Arial"/>
                  <a:sym typeface="Arial"/>
                </a:endParaRPr>
              </a:p>
            </p:txBody>
          </p:sp>
          <p:sp>
            <p:nvSpPr>
              <p:cNvPr id="389" name="Google Shape;389;g2bb8c1dba0d_0_793"/>
              <p:cNvSpPr/>
              <p:nvPr/>
            </p:nvSpPr>
            <p:spPr>
              <a:xfrm>
                <a:off x="818063" y="4120857"/>
                <a:ext cx="1143000" cy="1143000"/>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pic>
        <p:nvPicPr>
          <p:cNvPr id="390" name="Google Shape;390;g2bb8c1dba0d_0_793"/>
          <p:cNvPicPr preferRelativeResize="0"/>
          <p:nvPr/>
        </p:nvPicPr>
        <p:blipFill rotWithShape="1">
          <a:blip r:embed="rId3">
            <a:alphaModFix/>
          </a:blip>
          <a:srcRect b="0" l="0" r="0" t="0"/>
          <a:stretch/>
        </p:blipFill>
        <p:spPr>
          <a:xfrm>
            <a:off x="1295400" y="4109428"/>
            <a:ext cx="9143999" cy="2044776"/>
          </a:xfrm>
          <a:prstGeom prst="rect">
            <a:avLst/>
          </a:prstGeom>
          <a:noFill/>
          <a:ln>
            <a:noFill/>
          </a:ln>
        </p:spPr>
      </p:pic>
      <p:sp>
        <p:nvSpPr>
          <p:cNvPr id="391" name="Google Shape;391;g2bb8c1dba0d_0_793"/>
          <p:cNvSpPr txBox="1"/>
          <p:nvPr/>
        </p:nvSpPr>
        <p:spPr>
          <a:xfrm>
            <a:off x="476539" y="6429539"/>
            <a:ext cx="107469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Jaccard example credit: P. Kraehenbuehl et al. ECCV 2014</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g2bb8c1dba0d_0_579"/>
          <p:cNvSpPr txBox="1"/>
          <p:nvPr>
            <p:ph type="title"/>
          </p:nvPr>
        </p:nvSpPr>
        <p:spPr>
          <a:xfrm>
            <a:off x="1117600" y="365125"/>
            <a:ext cx="101058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Evaluating – Bounding Boxes</a:t>
            </a:r>
            <a:endParaRPr/>
          </a:p>
        </p:txBody>
      </p:sp>
      <p:pic>
        <p:nvPicPr>
          <p:cNvPr id="397" name="Google Shape;397;g2bb8c1dba0d_0_579"/>
          <p:cNvPicPr preferRelativeResize="0"/>
          <p:nvPr/>
        </p:nvPicPr>
        <p:blipFill rotWithShape="1">
          <a:blip r:embed="rId3">
            <a:alphaModFix/>
          </a:blip>
          <a:srcRect b="0" l="0" r="0" t="0"/>
          <a:stretch/>
        </p:blipFill>
        <p:spPr>
          <a:xfrm>
            <a:off x="926675" y="1977675"/>
            <a:ext cx="9177651" cy="4231325"/>
          </a:xfrm>
          <a:prstGeom prst="rect">
            <a:avLst/>
          </a:prstGeom>
          <a:noFill/>
          <a:ln>
            <a:noFill/>
          </a:ln>
        </p:spPr>
      </p:pic>
      <p:sp>
        <p:nvSpPr>
          <p:cNvPr id="398" name="Google Shape;398;g2bb8c1dba0d_0_579"/>
          <p:cNvSpPr txBox="1"/>
          <p:nvPr/>
        </p:nvSpPr>
        <p:spPr>
          <a:xfrm>
            <a:off x="376075" y="6132800"/>
            <a:ext cx="113049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C4587"/>
                </a:solidFill>
                <a:latin typeface="Proxima Nova"/>
                <a:ea typeface="Proxima Nova"/>
                <a:cs typeface="Proxima Nova"/>
                <a:sym typeface="Proxima Nova"/>
              </a:rPr>
              <a:t>a) The IoU is calculated by dividing the intersection of the two boxes by the union of the boxes; b) examples of three different IoU values for different box locations.</a:t>
            </a:r>
            <a:endParaRPr b="1" i="0" sz="1600" u="none" cap="none" strike="noStrike">
              <a:solidFill>
                <a:srgbClr val="1C4587"/>
              </a:solidFill>
              <a:latin typeface="Proxima Nova"/>
              <a:ea typeface="Proxima Nova"/>
              <a:cs typeface="Proxima Nova"/>
              <a:sym typeface="Proxima Nova"/>
            </a:endParaRPr>
          </a:p>
        </p:txBody>
      </p:sp>
      <p:sp>
        <p:nvSpPr>
          <p:cNvPr id="399" name="Google Shape;399;g2bb8c1dba0d_0_579"/>
          <p:cNvSpPr txBox="1"/>
          <p:nvPr/>
        </p:nvSpPr>
        <p:spPr>
          <a:xfrm>
            <a:off x="528475" y="1408400"/>
            <a:ext cx="113049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990000"/>
                </a:solidFill>
                <a:latin typeface="Proxima Nova"/>
                <a:ea typeface="Proxima Nova"/>
                <a:cs typeface="Proxima Nova"/>
                <a:sym typeface="Proxima Nova"/>
              </a:rPr>
              <a:t>IoU is the ratio of the intersection area to the union area of the predicted bounding box and the ground truth bounding box. It measures the overlap between the ground truth and predicted bounding boxes. </a:t>
            </a:r>
            <a:endParaRPr b="1" i="0" sz="1700" u="none" cap="none" strike="noStrike">
              <a:solidFill>
                <a:srgbClr val="990000"/>
              </a:solidFill>
              <a:latin typeface="Proxima Nova"/>
              <a:ea typeface="Proxima Nova"/>
              <a:cs typeface="Proxima Nova"/>
              <a:sym typeface="Proxima Nov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g2bb8c1dba0d_0_600"/>
          <p:cNvSpPr txBox="1"/>
          <p:nvPr>
            <p:ph type="title"/>
          </p:nvPr>
        </p:nvSpPr>
        <p:spPr>
          <a:xfrm>
            <a:off x="1117600" y="365125"/>
            <a:ext cx="99882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Evaluating Performance</a:t>
            </a:r>
            <a:endParaRPr/>
          </a:p>
        </p:txBody>
      </p:sp>
      <p:sp>
        <p:nvSpPr>
          <p:cNvPr id="405" name="Google Shape;405;g2bb8c1dba0d_0_600"/>
          <p:cNvSpPr txBox="1"/>
          <p:nvPr>
            <p:ph idx="1" type="body"/>
          </p:nvPr>
        </p:nvSpPr>
        <p:spPr>
          <a:xfrm>
            <a:off x="1117600" y="1825625"/>
            <a:ext cx="108732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Remember: accuracy = average of whether prediction is correct</a:t>
            </a:r>
            <a:endParaRPr/>
          </a:p>
          <a:p>
            <a:pPr indent="-228600" lvl="0" marL="228600" rtl="0" algn="l">
              <a:lnSpc>
                <a:spcPct val="90000"/>
              </a:lnSpc>
              <a:spcBef>
                <a:spcPts val="1000"/>
              </a:spcBef>
              <a:spcAft>
                <a:spcPts val="0"/>
              </a:spcAft>
              <a:buClr>
                <a:schemeClr val="dk1"/>
              </a:buClr>
              <a:buSzPts val="2800"/>
              <a:buChar char="•"/>
            </a:pPr>
            <a:r>
              <a:rPr lang="en-US"/>
              <a:t>Suppose I have a system that gets 99% accuracy in person detection.</a:t>
            </a:r>
            <a:endParaRPr/>
          </a:p>
          <a:p>
            <a:pPr indent="-228600" lvl="0" marL="228600" rtl="0" algn="l">
              <a:lnSpc>
                <a:spcPct val="90000"/>
              </a:lnSpc>
              <a:spcBef>
                <a:spcPts val="1000"/>
              </a:spcBef>
              <a:spcAft>
                <a:spcPts val="0"/>
              </a:spcAft>
              <a:buClr>
                <a:schemeClr val="dk1"/>
              </a:buClr>
              <a:buSzPts val="2800"/>
              <a:buChar char="•"/>
            </a:pPr>
            <a:r>
              <a:rPr b="1" lang="en-US"/>
              <a:t>What’s wrong? </a:t>
            </a:r>
            <a:endParaRPr/>
          </a:p>
          <a:p>
            <a:pPr indent="-228600" lvl="0" marL="228600" rtl="0" algn="l">
              <a:lnSpc>
                <a:spcPct val="90000"/>
              </a:lnSpc>
              <a:spcBef>
                <a:spcPts val="1000"/>
              </a:spcBef>
              <a:spcAft>
                <a:spcPts val="0"/>
              </a:spcAft>
              <a:buClr>
                <a:schemeClr val="dk1"/>
              </a:buClr>
              <a:buSzPts val="2800"/>
              <a:buChar char="•"/>
            </a:pPr>
            <a:r>
              <a:rPr lang="en-US"/>
              <a:t>I can get that by just saying no object everywhere!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5">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g2bb8c1dba0d_0_605"/>
          <p:cNvSpPr txBox="1"/>
          <p:nvPr>
            <p:ph type="title"/>
          </p:nvPr>
        </p:nvSpPr>
        <p:spPr>
          <a:xfrm>
            <a:off x="1117600" y="365125"/>
            <a:ext cx="99441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Evaluating Performance</a:t>
            </a:r>
            <a:endParaRPr/>
          </a:p>
        </p:txBody>
      </p:sp>
      <p:sp>
        <p:nvSpPr>
          <p:cNvPr id="411" name="Google Shape;411;g2bb8c1dba0d_0_605"/>
          <p:cNvSpPr/>
          <p:nvPr/>
        </p:nvSpPr>
        <p:spPr>
          <a:xfrm>
            <a:off x="116671" y="1482080"/>
            <a:ext cx="12075300" cy="1385100"/>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True detection aka true positive: high IoU</a:t>
            </a:r>
            <a:endParaRPr b="0" i="0" sz="28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Precision: #true detections / #detections by detector</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Recall: #true detections / #ground truth positives</a:t>
            </a:r>
            <a:endParaRPr b="0" i="0" sz="1400" u="none" cap="none" strike="noStrike">
              <a:solidFill>
                <a:srgbClr val="000000"/>
              </a:solidFill>
              <a:latin typeface="Arial"/>
              <a:ea typeface="Arial"/>
              <a:cs typeface="Arial"/>
              <a:sym typeface="Arial"/>
            </a:endParaRPr>
          </a:p>
        </p:txBody>
      </p:sp>
      <p:sp>
        <p:nvSpPr>
          <p:cNvPr id="412" name="Google Shape;412;g2bb8c1dba0d_0_605"/>
          <p:cNvSpPr/>
          <p:nvPr/>
        </p:nvSpPr>
        <p:spPr>
          <a:xfrm>
            <a:off x="1850315" y="4058876"/>
            <a:ext cx="2780906" cy="1990165"/>
          </a:xfrm>
          <a:custGeom>
            <a:rect b="b" l="l" r="r" t="t"/>
            <a:pathLst>
              <a:path extrusionOk="0" h="1990165" w="2086984">
                <a:moveTo>
                  <a:pt x="0" y="0"/>
                </a:moveTo>
                <a:cubicBezTo>
                  <a:pt x="57374" y="3586"/>
                  <a:pt x="114896" y="5308"/>
                  <a:pt x="172123" y="10758"/>
                </a:cubicBezTo>
                <a:cubicBezTo>
                  <a:pt x="232230" y="16483"/>
                  <a:pt x="228311" y="27494"/>
                  <a:pt x="290457" y="43031"/>
                </a:cubicBezTo>
                <a:cubicBezTo>
                  <a:pt x="312289" y="48489"/>
                  <a:pt x="344156" y="55288"/>
                  <a:pt x="365760" y="64546"/>
                </a:cubicBezTo>
                <a:cubicBezTo>
                  <a:pt x="458821" y="104428"/>
                  <a:pt x="365373" y="71588"/>
                  <a:pt x="441064" y="96819"/>
                </a:cubicBezTo>
                <a:cubicBezTo>
                  <a:pt x="459196" y="124017"/>
                  <a:pt x="466974" y="129553"/>
                  <a:pt x="473337" y="161365"/>
                </a:cubicBezTo>
                <a:cubicBezTo>
                  <a:pt x="478310" y="186229"/>
                  <a:pt x="476809" y="212382"/>
                  <a:pt x="484095" y="236669"/>
                </a:cubicBezTo>
                <a:cubicBezTo>
                  <a:pt x="488192" y="250326"/>
                  <a:pt x="514546" y="281023"/>
                  <a:pt x="527125" y="290457"/>
                </a:cubicBezTo>
                <a:cubicBezTo>
                  <a:pt x="547811" y="305972"/>
                  <a:pt x="570156" y="319144"/>
                  <a:pt x="591671" y="333487"/>
                </a:cubicBezTo>
                <a:cubicBezTo>
                  <a:pt x="624088" y="355098"/>
                  <a:pt x="628751" y="360136"/>
                  <a:pt x="666975" y="376518"/>
                </a:cubicBezTo>
                <a:cubicBezTo>
                  <a:pt x="677398" y="380985"/>
                  <a:pt x="688825" y="382809"/>
                  <a:pt x="699248" y="387276"/>
                </a:cubicBezTo>
                <a:cubicBezTo>
                  <a:pt x="713988" y="393593"/>
                  <a:pt x="727389" y="402835"/>
                  <a:pt x="742278" y="408791"/>
                </a:cubicBezTo>
                <a:cubicBezTo>
                  <a:pt x="763335" y="417214"/>
                  <a:pt x="786539" y="420164"/>
                  <a:pt x="806824" y="430306"/>
                </a:cubicBezTo>
                <a:cubicBezTo>
                  <a:pt x="821168" y="437478"/>
                  <a:pt x="835115" y="445504"/>
                  <a:pt x="849855" y="451821"/>
                </a:cubicBezTo>
                <a:cubicBezTo>
                  <a:pt x="860278" y="456288"/>
                  <a:pt x="871986" y="457508"/>
                  <a:pt x="882128" y="462579"/>
                </a:cubicBezTo>
                <a:cubicBezTo>
                  <a:pt x="909268" y="476149"/>
                  <a:pt x="915904" y="485598"/>
                  <a:pt x="935916" y="505610"/>
                </a:cubicBezTo>
                <a:cubicBezTo>
                  <a:pt x="952175" y="570648"/>
                  <a:pt x="941995" y="534604"/>
                  <a:pt x="968189" y="613186"/>
                </a:cubicBezTo>
                <a:cubicBezTo>
                  <a:pt x="968191" y="613191"/>
                  <a:pt x="989701" y="677728"/>
                  <a:pt x="989704" y="677732"/>
                </a:cubicBezTo>
                <a:lnTo>
                  <a:pt x="1011219" y="710005"/>
                </a:lnTo>
                <a:cubicBezTo>
                  <a:pt x="1038833" y="820460"/>
                  <a:pt x="1001301" y="683556"/>
                  <a:pt x="1043492" y="796066"/>
                </a:cubicBezTo>
                <a:cubicBezTo>
                  <a:pt x="1048683" y="809910"/>
                  <a:pt x="1048426" y="825507"/>
                  <a:pt x="1054250" y="839097"/>
                </a:cubicBezTo>
                <a:cubicBezTo>
                  <a:pt x="1068594" y="872566"/>
                  <a:pt x="1079350" y="873760"/>
                  <a:pt x="1108038" y="892885"/>
                </a:cubicBezTo>
                <a:cubicBezTo>
                  <a:pt x="1144921" y="948210"/>
                  <a:pt x="1110599" y="905692"/>
                  <a:pt x="1161826" y="946673"/>
                </a:cubicBezTo>
                <a:cubicBezTo>
                  <a:pt x="1169746" y="953009"/>
                  <a:pt x="1174270" y="963653"/>
                  <a:pt x="1183342" y="968189"/>
                </a:cubicBezTo>
                <a:cubicBezTo>
                  <a:pt x="1196566" y="974801"/>
                  <a:pt x="1212029" y="975360"/>
                  <a:pt x="1226372" y="978946"/>
                </a:cubicBezTo>
                <a:cubicBezTo>
                  <a:pt x="1258781" y="1000552"/>
                  <a:pt x="1263463" y="1005600"/>
                  <a:pt x="1301676" y="1021977"/>
                </a:cubicBezTo>
                <a:cubicBezTo>
                  <a:pt x="1312099" y="1026444"/>
                  <a:pt x="1323526" y="1028267"/>
                  <a:pt x="1333949" y="1032734"/>
                </a:cubicBezTo>
                <a:cubicBezTo>
                  <a:pt x="1348689" y="1039051"/>
                  <a:pt x="1362090" y="1048294"/>
                  <a:pt x="1376979" y="1054250"/>
                </a:cubicBezTo>
                <a:cubicBezTo>
                  <a:pt x="1398036" y="1062673"/>
                  <a:pt x="1441525" y="1075765"/>
                  <a:pt x="1441525" y="1075765"/>
                </a:cubicBezTo>
                <a:lnTo>
                  <a:pt x="1463040" y="1140311"/>
                </a:lnTo>
                <a:cubicBezTo>
                  <a:pt x="1466626" y="1151069"/>
                  <a:pt x="1467508" y="1163149"/>
                  <a:pt x="1473798" y="1172584"/>
                </a:cubicBezTo>
                <a:cubicBezTo>
                  <a:pt x="1535457" y="1265074"/>
                  <a:pt x="1461532" y="1148053"/>
                  <a:pt x="1506071" y="1237130"/>
                </a:cubicBezTo>
                <a:cubicBezTo>
                  <a:pt x="1511853" y="1248694"/>
                  <a:pt x="1522335" y="1257588"/>
                  <a:pt x="1527586" y="1269403"/>
                </a:cubicBezTo>
                <a:cubicBezTo>
                  <a:pt x="1536797" y="1290128"/>
                  <a:pt x="1538960" y="1313664"/>
                  <a:pt x="1549102" y="1333949"/>
                </a:cubicBezTo>
                <a:cubicBezTo>
                  <a:pt x="1556274" y="1348292"/>
                  <a:pt x="1564661" y="1362090"/>
                  <a:pt x="1570617" y="1376979"/>
                </a:cubicBezTo>
                <a:cubicBezTo>
                  <a:pt x="1579040" y="1398036"/>
                  <a:pt x="1584960" y="1420010"/>
                  <a:pt x="1592132" y="1441525"/>
                </a:cubicBezTo>
                <a:cubicBezTo>
                  <a:pt x="1595718" y="1452283"/>
                  <a:pt x="1594872" y="1465780"/>
                  <a:pt x="1602890" y="1473798"/>
                </a:cubicBezTo>
                <a:cubicBezTo>
                  <a:pt x="1613648" y="1484556"/>
                  <a:pt x="1625424" y="1494384"/>
                  <a:pt x="1635163" y="1506071"/>
                </a:cubicBezTo>
                <a:cubicBezTo>
                  <a:pt x="1643440" y="1516003"/>
                  <a:pt x="1647536" y="1529202"/>
                  <a:pt x="1656678" y="1538344"/>
                </a:cubicBezTo>
                <a:cubicBezTo>
                  <a:pt x="1702390" y="1584056"/>
                  <a:pt x="1724776" y="1572983"/>
                  <a:pt x="1785770" y="1613647"/>
                </a:cubicBezTo>
                <a:cubicBezTo>
                  <a:pt x="1827478" y="1641453"/>
                  <a:pt x="1805777" y="1631075"/>
                  <a:pt x="1850316" y="1645920"/>
                </a:cubicBezTo>
                <a:cubicBezTo>
                  <a:pt x="1902273" y="1697880"/>
                  <a:pt x="1839053" y="1631843"/>
                  <a:pt x="1893346" y="1699709"/>
                </a:cubicBezTo>
                <a:cubicBezTo>
                  <a:pt x="1899682" y="1707629"/>
                  <a:pt x="1908526" y="1713304"/>
                  <a:pt x="1914862" y="1721224"/>
                </a:cubicBezTo>
                <a:cubicBezTo>
                  <a:pt x="1922939" y="1731320"/>
                  <a:pt x="1930595" y="1741933"/>
                  <a:pt x="1936377" y="1753497"/>
                </a:cubicBezTo>
                <a:cubicBezTo>
                  <a:pt x="1941448" y="1763639"/>
                  <a:pt x="1940051" y="1776915"/>
                  <a:pt x="1947135" y="1785770"/>
                </a:cubicBezTo>
                <a:cubicBezTo>
                  <a:pt x="1955212" y="1795866"/>
                  <a:pt x="1968650" y="1800113"/>
                  <a:pt x="1979408" y="1807285"/>
                </a:cubicBezTo>
                <a:cubicBezTo>
                  <a:pt x="2006444" y="1888397"/>
                  <a:pt x="1969976" y="1788423"/>
                  <a:pt x="2011680" y="1871831"/>
                </a:cubicBezTo>
                <a:cubicBezTo>
                  <a:pt x="2038190" y="1924851"/>
                  <a:pt x="2002850" y="1884999"/>
                  <a:pt x="2043953" y="1936377"/>
                </a:cubicBezTo>
                <a:cubicBezTo>
                  <a:pt x="2050289" y="1944297"/>
                  <a:pt x="2059133" y="1949972"/>
                  <a:pt x="2065469" y="1957892"/>
                </a:cubicBezTo>
                <a:cubicBezTo>
                  <a:pt x="2073546" y="1967988"/>
                  <a:pt x="2086984" y="1990165"/>
                  <a:pt x="2086984" y="1990165"/>
                </a:cubicBezTo>
              </a:path>
            </a:pathLst>
          </a:custGeom>
          <a:noFill/>
          <a:ln cap="flat" cmpd="sng" w="762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13" name="Google Shape;413;g2bb8c1dba0d_0_605"/>
          <p:cNvSpPr txBox="1"/>
          <p:nvPr/>
        </p:nvSpPr>
        <p:spPr>
          <a:xfrm>
            <a:off x="5104313" y="4517028"/>
            <a:ext cx="70875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Summarize by area under curve (avg. precision)</a:t>
            </a:r>
            <a:endParaRPr b="0" i="0" sz="1400" u="none" cap="none" strike="noStrike">
              <a:solidFill>
                <a:srgbClr val="000000"/>
              </a:solidFill>
              <a:latin typeface="Arial"/>
              <a:ea typeface="Arial"/>
              <a:cs typeface="Arial"/>
              <a:sym typeface="Arial"/>
            </a:endParaRPr>
          </a:p>
        </p:txBody>
      </p:sp>
      <p:grpSp>
        <p:nvGrpSpPr>
          <p:cNvPr id="414" name="Google Shape;414;g2bb8c1dba0d_0_605"/>
          <p:cNvGrpSpPr/>
          <p:nvPr/>
        </p:nvGrpSpPr>
        <p:grpSpPr>
          <a:xfrm>
            <a:off x="672167" y="2740349"/>
            <a:ext cx="4136179" cy="4595442"/>
            <a:chOff x="504138" y="2543468"/>
            <a:chExt cx="3102212" cy="4595442"/>
          </a:xfrm>
        </p:grpSpPr>
        <p:sp>
          <p:nvSpPr>
            <p:cNvPr id="415" name="Google Shape;415;g2bb8c1dba0d_0_605"/>
            <p:cNvSpPr txBox="1"/>
            <p:nvPr/>
          </p:nvSpPr>
          <p:spPr>
            <a:xfrm>
              <a:off x="3225050" y="6077432"/>
              <a:ext cx="381300" cy="7389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4200"/>
                <a:buFont typeface="Arial"/>
                <a:buNone/>
              </a:pPr>
              <a:r>
                <a:rPr b="0" i="0" lang="en-US" sz="4200" u="none" cap="none" strike="noStrike">
                  <a:solidFill>
                    <a:schemeClr val="dk1"/>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grpSp>
          <p:nvGrpSpPr>
            <p:cNvPr id="416" name="Google Shape;416;g2bb8c1dba0d_0_605"/>
            <p:cNvGrpSpPr/>
            <p:nvPr/>
          </p:nvGrpSpPr>
          <p:grpSpPr>
            <a:xfrm>
              <a:off x="504138" y="2543468"/>
              <a:ext cx="3005271" cy="4595442"/>
              <a:chOff x="504138" y="2543468"/>
              <a:chExt cx="3005271" cy="4595442"/>
            </a:xfrm>
          </p:grpSpPr>
          <p:grpSp>
            <p:nvGrpSpPr>
              <p:cNvPr id="417" name="Google Shape;417;g2bb8c1dba0d_0_605"/>
              <p:cNvGrpSpPr/>
              <p:nvPr/>
            </p:nvGrpSpPr>
            <p:grpSpPr>
              <a:xfrm>
                <a:off x="504138" y="3449676"/>
                <a:ext cx="3005271" cy="3173255"/>
                <a:chOff x="504138" y="3449676"/>
                <a:chExt cx="3005271" cy="3173255"/>
              </a:xfrm>
            </p:grpSpPr>
            <p:sp>
              <p:nvSpPr>
                <p:cNvPr id="418" name="Google Shape;418;g2bb8c1dba0d_0_605"/>
                <p:cNvSpPr txBox="1"/>
                <p:nvPr/>
              </p:nvSpPr>
              <p:spPr>
                <a:xfrm>
                  <a:off x="1215609" y="6099731"/>
                  <a:ext cx="22938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Recall</a:t>
                  </a:r>
                  <a:endParaRPr b="0" i="0" sz="1400" u="none" cap="none" strike="noStrike">
                    <a:solidFill>
                      <a:srgbClr val="000000"/>
                    </a:solidFill>
                    <a:latin typeface="Arial"/>
                    <a:ea typeface="Arial"/>
                    <a:cs typeface="Arial"/>
                    <a:sym typeface="Arial"/>
                  </a:endParaRPr>
                </a:p>
              </p:txBody>
            </p:sp>
            <p:grpSp>
              <p:nvGrpSpPr>
                <p:cNvPr id="419" name="Google Shape;419;g2bb8c1dba0d_0_605"/>
                <p:cNvGrpSpPr/>
                <p:nvPr/>
              </p:nvGrpSpPr>
              <p:grpSpPr>
                <a:xfrm>
                  <a:off x="504138" y="3449676"/>
                  <a:ext cx="689960" cy="3098947"/>
                  <a:chOff x="504138" y="3449676"/>
                  <a:chExt cx="689960" cy="3098947"/>
                </a:xfrm>
              </p:grpSpPr>
              <p:sp>
                <p:nvSpPr>
                  <p:cNvPr id="420" name="Google Shape;420;g2bb8c1dba0d_0_605"/>
                  <p:cNvSpPr txBox="1"/>
                  <p:nvPr/>
                </p:nvSpPr>
                <p:spPr>
                  <a:xfrm rot="-5400000">
                    <a:off x="-446562" y="4648911"/>
                    <a:ext cx="2293800" cy="392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Precision</a:t>
                    </a:r>
                    <a:endParaRPr b="0" i="0" sz="1400" u="none" cap="none" strike="noStrike">
                      <a:solidFill>
                        <a:srgbClr val="000000"/>
                      </a:solidFill>
                      <a:latin typeface="Arial"/>
                      <a:ea typeface="Arial"/>
                      <a:cs typeface="Arial"/>
                      <a:sym typeface="Arial"/>
                    </a:endParaRPr>
                  </a:p>
                </p:txBody>
              </p:sp>
              <p:sp>
                <p:nvSpPr>
                  <p:cNvPr id="421" name="Google Shape;421;g2bb8c1dba0d_0_605"/>
                  <p:cNvSpPr txBox="1"/>
                  <p:nvPr/>
                </p:nvSpPr>
                <p:spPr>
                  <a:xfrm>
                    <a:off x="595860" y="3449676"/>
                    <a:ext cx="381300" cy="7389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4200"/>
                      <a:buFont typeface="Arial"/>
                      <a:buNone/>
                    </a:pPr>
                    <a:r>
                      <a:rPr b="0" i="0" lang="en-US" sz="4200" u="none" cap="none" strike="noStrike">
                        <a:solidFill>
                          <a:schemeClr val="dk1"/>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422" name="Google Shape;422;g2bb8c1dba0d_0_605"/>
                  <p:cNvSpPr txBox="1"/>
                  <p:nvPr/>
                </p:nvSpPr>
                <p:spPr>
                  <a:xfrm>
                    <a:off x="812798" y="5809723"/>
                    <a:ext cx="381300" cy="7389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4200"/>
                      <a:buFont typeface="Arial"/>
                      <a:buNone/>
                    </a:pPr>
                    <a:r>
                      <a:rPr b="0" i="0" lang="en-US" sz="42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grpSp>
            <p:nvGrpSpPr>
              <p:cNvPr id="423" name="Google Shape;423;g2bb8c1dba0d_0_605"/>
              <p:cNvGrpSpPr/>
              <p:nvPr/>
            </p:nvGrpSpPr>
            <p:grpSpPr>
              <a:xfrm>
                <a:off x="1215614" y="2543468"/>
                <a:ext cx="2293759" cy="4595442"/>
                <a:chOff x="1215614" y="2543468"/>
                <a:chExt cx="2293759" cy="4595442"/>
              </a:xfrm>
            </p:grpSpPr>
            <p:cxnSp>
              <p:nvCxnSpPr>
                <p:cNvPr id="424" name="Google Shape;424;g2bb8c1dba0d_0_605"/>
                <p:cNvCxnSpPr/>
                <p:nvPr/>
              </p:nvCxnSpPr>
              <p:spPr>
                <a:xfrm rot="10800000">
                  <a:off x="2362512" y="2543468"/>
                  <a:ext cx="0" cy="2293800"/>
                </a:xfrm>
                <a:prstGeom prst="straightConnector1">
                  <a:avLst/>
                </a:prstGeom>
                <a:noFill/>
                <a:ln cap="rnd" cmpd="sng" w="28575">
                  <a:solidFill>
                    <a:schemeClr val="dk1"/>
                  </a:solidFill>
                  <a:prstDash val="solid"/>
                  <a:miter lim="800000"/>
                  <a:headEnd len="sm" w="sm" type="none"/>
                  <a:tailEnd len="sm" w="sm" type="none"/>
                </a:ln>
              </p:spPr>
            </p:cxnSp>
            <p:cxnSp>
              <p:nvCxnSpPr>
                <p:cNvPr id="425" name="Google Shape;425;g2bb8c1dba0d_0_605"/>
                <p:cNvCxnSpPr/>
                <p:nvPr/>
              </p:nvCxnSpPr>
              <p:spPr>
                <a:xfrm rot="10800000">
                  <a:off x="1215614" y="3698209"/>
                  <a:ext cx="0" cy="2293800"/>
                </a:xfrm>
                <a:prstGeom prst="straightConnector1">
                  <a:avLst/>
                </a:prstGeom>
                <a:noFill/>
                <a:ln cap="rnd" cmpd="sng" w="38100">
                  <a:solidFill>
                    <a:schemeClr val="dk1"/>
                  </a:solidFill>
                  <a:prstDash val="solid"/>
                  <a:miter lim="800000"/>
                  <a:headEnd len="sm" w="sm" type="none"/>
                  <a:tailEnd len="sm" w="sm" type="none"/>
                </a:ln>
              </p:spPr>
            </p:cxnSp>
            <p:cxnSp>
              <p:nvCxnSpPr>
                <p:cNvPr id="426" name="Google Shape;426;g2bb8c1dba0d_0_605"/>
                <p:cNvCxnSpPr/>
                <p:nvPr/>
              </p:nvCxnSpPr>
              <p:spPr>
                <a:xfrm rot="10800000">
                  <a:off x="2362515" y="4845110"/>
                  <a:ext cx="0" cy="2293800"/>
                </a:xfrm>
                <a:prstGeom prst="straightConnector1">
                  <a:avLst/>
                </a:prstGeom>
                <a:noFill/>
                <a:ln cap="rnd" cmpd="sng" w="38100">
                  <a:solidFill>
                    <a:schemeClr val="dk1"/>
                  </a:solidFill>
                  <a:prstDash val="solid"/>
                  <a:miter lim="800000"/>
                  <a:headEnd len="sm" w="sm" type="none"/>
                  <a:tailEnd len="sm" w="sm" type="none"/>
                </a:ln>
              </p:spPr>
            </p:cxnSp>
            <p:cxnSp>
              <p:nvCxnSpPr>
                <p:cNvPr id="427" name="Google Shape;427;g2bb8c1dba0d_0_605"/>
                <p:cNvCxnSpPr/>
                <p:nvPr/>
              </p:nvCxnSpPr>
              <p:spPr>
                <a:xfrm rot="10800000">
                  <a:off x="3509373" y="3698209"/>
                  <a:ext cx="0" cy="2293800"/>
                </a:xfrm>
                <a:prstGeom prst="straightConnector1">
                  <a:avLst/>
                </a:prstGeom>
                <a:noFill/>
                <a:ln cap="rnd" cmpd="sng" w="28575">
                  <a:solidFill>
                    <a:schemeClr val="dk1"/>
                  </a:solidFill>
                  <a:prstDash val="solid"/>
                  <a:miter lim="800000"/>
                  <a:headEnd len="sm" w="sm" type="none"/>
                  <a:tailEnd len="sm" w="sm" type="none"/>
                </a:ln>
              </p:spPr>
            </p:cxnSp>
          </p:grpSp>
        </p:grpSp>
      </p:grpSp>
      <p:grpSp>
        <p:nvGrpSpPr>
          <p:cNvPr id="428" name="Google Shape;428;g2bb8c1dba0d_0_605"/>
          <p:cNvGrpSpPr/>
          <p:nvPr/>
        </p:nvGrpSpPr>
        <p:grpSpPr>
          <a:xfrm>
            <a:off x="1377730" y="3177404"/>
            <a:ext cx="10515202" cy="944182"/>
            <a:chOff x="1033323" y="2980523"/>
            <a:chExt cx="7886599" cy="944182"/>
          </a:xfrm>
        </p:grpSpPr>
        <p:sp>
          <p:nvSpPr>
            <p:cNvPr id="429" name="Google Shape;429;g2bb8c1dba0d_0_605"/>
            <p:cNvSpPr txBox="1"/>
            <p:nvPr/>
          </p:nvSpPr>
          <p:spPr>
            <a:xfrm>
              <a:off x="1194022" y="2980523"/>
              <a:ext cx="7725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accent1"/>
                  </a:solidFill>
                  <a:latin typeface="Arial"/>
                  <a:ea typeface="Arial"/>
                  <a:cs typeface="Arial"/>
                  <a:sym typeface="Arial"/>
                </a:rPr>
                <a:t>Reject everything: no mistakes</a:t>
              </a:r>
              <a:endParaRPr b="0" i="0" sz="1400" u="none" cap="none" strike="noStrike">
                <a:solidFill>
                  <a:srgbClr val="000000"/>
                </a:solidFill>
                <a:latin typeface="Arial"/>
                <a:ea typeface="Arial"/>
                <a:cs typeface="Arial"/>
                <a:sym typeface="Arial"/>
              </a:endParaRPr>
            </a:p>
          </p:txBody>
        </p:sp>
        <p:sp>
          <p:nvSpPr>
            <p:cNvPr id="430" name="Google Shape;430;g2bb8c1dba0d_0_605"/>
            <p:cNvSpPr/>
            <p:nvPr/>
          </p:nvSpPr>
          <p:spPr>
            <a:xfrm>
              <a:off x="1033323" y="3560205"/>
              <a:ext cx="364500" cy="364500"/>
            </a:xfrm>
            <a:prstGeom prst="ellipse">
              <a:avLst/>
            </a:prstGeom>
            <a:solidFill>
              <a:schemeClr val="accent1"/>
            </a:solid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431" name="Google Shape;431;g2bb8c1dba0d_0_605"/>
          <p:cNvGrpSpPr/>
          <p:nvPr/>
        </p:nvGrpSpPr>
        <p:grpSpPr>
          <a:xfrm>
            <a:off x="4436005" y="3757086"/>
            <a:ext cx="6134845" cy="563380"/>
            <a:chOff x="3327087" y="3560205"/>
            <a:chExt cx="4601249" cy="563380"/>
          </a:xfrm>
        </p:grpSpPr>
        <p:sp>
          <p:nvSpPr>
            <p:cNvPr id="432" name="Google Shape;432;g2bb8c1dba0d_0_605"/>
            <p:cNvSpPr txBox="1"/>
            <p:nvPr/>
          </p:nvSpPr>
          <p:spPr>
            <a:xfrm>
              <a:off x="3828236" y="3600385"/>
              <a:ext cx="41001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accent4"/>
                  </a:solidFill>
                  <a:latin typeface="Arial"/>
                  <a:ea typeface="Arial"/>
                  <a:cs typeface="Arial"/>
                  <a:sym typeface="Arial"/>
                </a:rPr>
                <a:t>Ideal!</a:t>
              </a:r>
              <a:endParaRPr b="0" i="0" sz="1400" u="none" cap="none" strike="noStrike">
                <a:solidFill>
                  <a:srgbClr val="000000"/>
                </a:solidFill>
                <a:latin typeface="Arial"/>
                <a:ea typeface="Arial"/>
                <a:cs typeface="Arial"/>
                <a:sym typeface="Arial"/>
              </a:endParaRPr>
            </a:p>
          </p:txBody>
        </p:sp>
        <p:sp>
          <p:nvSpPr>
            <p:cNvPr id="433" name="Google Shape;433;g2bb8c1dba0d_0_605"/>
            <p:cNvSpPr/>
            <p:nvPr/>
          </p:nvSpPr>
          <p:spPr>
            <a:xfrm>
              <a:off x="3327087" y="3560205"/>
              <a:ext cx="364500" cy="364500"/>
            </a:xfrm>
            <a:prstGeom prst="ellipse">
              <a:avLst/>
            </a:prstGeom>
            <a:solidFill>
              <a:schemeClr val="accent4"/>
            </a:solidFill>
            <a:ln cap="flat" cmpd="sng" w="12700">
              <a:solidFill>
                <a:srgbClr val="3F315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434" name="Google Shape;434;g2bb8c1dba0d_0_605"/>
          <p:cNvGrpSpPr/>
          <p:nvPr/>
        </p:nvGrpSpPr>
        <p:grpSpPr>
          <a:xfrm>
            <a:off x="4436005" y="5689538"/>
            <a:ext cx="6737976" cy="954300"/>
            <a:chOff x="3327087" y="5492657"/>
            <a:chExt cx="5053608" cy="954300"/>
          </a:xfrm>
        </p:grpSpPr>
        <p:sp>
          <p:nvSpPr>
            <p:cNvPr id="435" name="Google Shape;435;g2bb8c1dba0d_0_605"/>
            <p:cNvSpPr txBox="1"/>
            <p:nvPr/>
          </p:nvSpPr>
          <p:spPr>
            <a:xfrm>
              <a:off x="3793695" y="5492657"/>
              <a:ext cx="45870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accent2"/>
                  </a:solidFill>
                  <a:latin typeface="Arial"/>
                  <a:ea typeface="Arial"/>
                  <a:cs typeface="Arial"/>
                  <a:sym typeface="Arial"/>
                </a:rPr>
                <a:t>Accept everything: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accent2"/>
                  </a:solidFill>
                  <a:latin typeface="Arial"/>
                  <a:ea typeface="Arial"/>
                  <a:cs typeface="Arial"/>
                  <a:sym typeface="Arial"/>
                </a:rPr>
                <a:t>Miss nothing</a:t>
              </a:r>
              <a:endParaRPr b="0" i="0" sz="1400" u="none" cap="none" strike="noStrike">
                <a:solidFill>
                  <a:srgbClr val="000000"/>
                </a:solidFill>
                <a:latin typeface="Arial"/>
                <a:ea typeface="Arial"/>
                <a:cs typeface="Arial"/>
                <a:sym typeface="Arial"/>
              </a:endParaRPr>
            </a:p>
          </p:txBody>
        </p:sp>
        <p:sp>
          <p:nvSpPr>
            <p:cNvPr id="436" name="Google Shape;436;g2bb8c1dba0d_0_605"/>
            <p:cNvSpPr/>
            <p:nvPr/>
          </p:nvSpPr>
          <p:spPr>
            <a:xfrm>
              <a:off x="3327087" y="5809723"/>
              <a:ext cx="364500" cy="364500"/>
            </a:xfrm>
            <a:prstGeom prst="ellipse">
              <a:avLst/>
            </a:prstGeom>
            <a:solidFill>
              <a:schemeClr val="accent2"/>
            </a:solidFill>
            <a:ln cap="flat" cmpd="sng" w="12700">
              <a:solidFill>
                <a:srgbClr val="6324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g2bb8c1dba0d_0_635"/>
          <p:cNvSpPr txBox="1"/>
          <p:nvPr>
            <p:ph type="title"/>
          </p:nvPr>
        </p:nvSpPr>
        <p:spPr>
          <a:xfrm>
            <a:off x="1117600" y="365125"/>
            <a:ext cx="107469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Generic object detection</a:t>
            </a:r>
            <a:endParaRPr/>
          </a:p>
        </p:txBody>
      </p:sp>
      <p:pic>
        <p:nvPicPr>
          <p:cNvPr id="443" name="Google Shape;443;g2bb8c1dba0d_0_635"/>
          <p:cNvPicPr preferRelativeResize="0"/>
          <p:nvPr/>
        </p:nvPicPr>
        <p:blipFill rotWithShape="1">
          <a:blip r:embed="rId3">
            <a:alphaModFix/>
          </a:blip>
          <a:srcRect b="0" l="0" r="0" t="0"/>
          <a:stretch/>
        </p:blipFill>
        <p:spPr>
          <a:xfrm>
            <a:off x="1536257" y="1458424"/>
            <a:ext cx="6618977" cy="4849092"/>
          </a:xfrm>
          <a:prstGeom prst="rect">
            <a:avLst/>
          </a:prstGeom>
          <a:noFill/>
          <a:ln>
            <a:noFill/>
          </a:ln>
        </p:spPr>
      </p:pic>
      <p:sp>
        <p:nvSpPr>
          <p:cNvPr id="444" name="Google Shape;444;g2bb8c1dba0d_0_635"/>
          <p:cNvSpPr txBox="1"/>
          <p:nvPr/>
        </p:nvSpPr>
        <p:spPr>
          <a:xfrm>
            <a:off x="476539" y="6429539"/>
            <a:ext cx="107469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Slide Credit: S. Lazebnik</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g2bb8c1dba0d_0_642"/>
          <p:cNvSpPr txBox="1"/>
          <p:nvPr>
            <p:ph type="title"/>
          </p:nvPr>
        </p:nvSpPr>
        <p:spPr>
          <a:xfrm>
            <a:off x="914400" y="76200"/>
            <a:ext cx="10668000" cy="838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Histograms of oriented gradients (HOG)</a:t>
            </a:r>
            <a:endParaRPr/>
          </a:p>
        </p:txBody>
      </p:sp>
      <p:sp>
        <p:nvSpPr>
          <p:cNvPr id="451" name="Google Shape;451;g2bb8c1dba0d_0_642"/>
          <p:cNvSpPr txBox="1"/>
          <p:nvPr>
            <p:ph idx="1" type="body"/>
          </p:nvPr>
        </p:nvSpPr>
        <p:spPr>
          <a:xfrm>
            <a:off x="838200" y="1183461"/>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sz="2400"/>
              <a:t>Partition image into blocks and compute histogram of gradient orientations in each block</a:t>
            </a:r>
            <a:endParaRPr/>
          </a:p>
        </p:txBody>
      </p:sp>
      <p:sp>
        <p:nvSpPr>
          <p:cNvPr id="452" name="Google Shape;452;g2bb8c1dba0d_0_642"/>
          <p:cNvSpPr/>
          <p:nvPr/>
        </p:nvSpPr>
        <p:spPr>
          <a:xfrm>
            <a:off x="508000" y="6096000"/>
            <a:ext cx="11175900" cy="646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N. Dalal and B. Triggs, </a:t>
            </a:r>
            <a:r>
              <a:rPr b="0" i="0" lang="en-US" sz="1800" u="sng" cap="none" strike="noStrike">
                <a:solidFill>
                  <a:schemeClr val="dk1"/>
                </a:solidFill>
                <a:latin typeface="Arial"/>
                <a:ea typeface="Arial"/>
                <a:cs typeface="Arial"/>
                <a:sym typeface="Arial"/>
                <a:hlinkClick r:id="rId3">
                  <a:extLst>
                    <a:ext uri="{A12FA001-AC4F-418D-AE19-62706E023703}">
                      <ahyp:hlinkClr val="tx"/>
                    </a:ext>
                  </a:extLst>
                </a:hlinkClick>
              </a:rPr>
              <a:t>Histograms of Oriented Gradients for Human Detection</a:t>
            </a:r>
            <a:r>
              <a:rPr b="0" i="0" lang="en-US" sz="1800" u="none" cap="none" strike="noStrike">
                <a:solidFill>
                  <a:schemeClr val="dk1"/>
                </a:solidFill>
                <a:latin typeface="Arial"/>
                <a:ea typeface="Arial"/>
                <a:cs typeface="Arial"/>
                <a:sym typeface="Arial"/>
              </a:rPr>
              <a:t>, CVPR 2005</a:t>
            </a:r>
            <a:endParaRPr b="0" i="0" sz="1400" u="none" cap="none" strike="noStrike">
              <a:solidFill>
                <a:srgbClr val="000000"/>
              </a:solidFill>
              <a:latin typeface="Arial"/>
              <a:ea typeface="Arial"/>
              <a:cs typeface="Arial"/>
              <a:sym typeface="Arial"/>
            </a:endParaRPr>
          </a:p>
        </p:txBody>
      </p:sp>
      <p:grpSp>
        <p:nvGrpSpPr>
          <p:cNvPr id="453" name="Google Shape;453;g2bb8c1dba0d_0_642"/>
          <p:cNvGrpSpPr/>
          <p:nvPr/>
        </p:nvGrpSpPr>
        <p:grpSpPr>
          <a:xfrm>
            <a:off x="501635" y="2452744"/>
            <a:ext cx="4565536" cy="2906656"/>
            <a:chOff x="376236" y="2452744"/>
            <a:chExt cx="3424238" cy="2906656"/>
          </a:xfrm>
        </p:grpSpPr>
        <p:pic>
          <p:nvPicPr>
            <p:cNvPr id="454" name="Google Shape;454;g2bb8c1dba0d_0_642"/>
            <p:cNvPicPr preferRelativeResize="0"/>
            <p:nvPr/>
          </p:nvPicPr>
          <p:blipFill rotWithShape="1">
            <a:blip r:embed="rId4">
              <a:alphaModFix/>
            </a:blip>
            <a:srcRect b="0" l="0" r="0" t="0"/>
            <a:stretch/>
          </p:blipFill>
          <p:spPr>
            <a:xfrm>
              <a:off x="376237" y="3086100"/>
              <a:ext cx="3424237" cy="2273300"/>
            </a:xfrm>
            <a:prstGeom prst="rect">
              <a:avLst/>
            </a:prstGeom>
            <a:noFill/>
            <a:ln>
              <a:noFill/>
            </a:ln>
          </p:spPr>
        </p:pic>
        <p:sp>
          <p:nvSpPr>
            <p:cNvPr id="455" name="Google Shape;455;g2bb8c1dba0d_0_642"/>
            <p:cNvSpPr txBox="1"/>
            <p:nvPr/>
          </p:nvSpPr>
          <p:spPr>
            <a:xfrm>
              <a:off x="376236" y="2452744"/>
              <a:ext cx="34242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Arial"/>
                  <a:ea typeface="Arial"/>
                  <a:cs typeface="Arial"/>
                  <a:sym typeface="Arial"/>
                </a:rPr>
                <a:t>HxWx3 Image</a:t>
              </a:r>
              <a:endParaRPr b="0" i="0" sz="1400" u="none" cap="none" strike="noStrike">
                <a:solidFill>
                  <a:srgbClr val="000000"/>
                </a:solidFill>
                <a:latin typeface="Arial"/>
                <a:ea typeface="Arial"/>
                <a:cs typeface="Arial"/>
                <a:sym typeface="Arial"/>
              </a:endParaRPr>
            </a:p>
          </p:txBody>
        </p:sp>
      </p:grpSp>
      <p:grpSp>
        <p:nvGrpSpPr>
          <p:cNvPr id="456" name="Google Shape;456;g2bb8c1dba0d_0_642"/>
          <p:cNvGrpSpPr/>
          <p:nvPr/>
        </p:nvGrpSpPr>
        <p:grpSpPr>
          <a:xfrm>
            <a:off x="5292630" y="2480015"/>
            <a:ext cx="6692507" cy="3054685"/>
            <a:chOff x="3969572" y="2480015"/>
            <a:chExt cx="5019506" cy="3054685"/>
          </a:xfrm>
        </p:grpSpPr>
        <p:pic>
          <p:nvPicPr>
            <p:cNvPr id="457" name="Google Shape;457;g2bb8c1dba0d_0_642"/>
            <p:cNvPicPr preferRelativeResize="0"/>
            <p:nvPr/>
          </p:nvPicPr>
          <p:blipFill rotWithShape="1">
            <a:blip r:embed="rId5">
              <a:alphaModFix/>
            </a:blip>
            <a:srcRect b="0" l="0" r="0" t="0"/>
            <a:stretch/>
          </p:blipFill>
          <p:spPr>
            <a:xfrm>
              <a:off x="5343528" y="3087688"/>
              <a:ext cx="3536951" cy="2239962"/>
            </a:xfrm>
            <a:prstGeom prst="rect">
              <a:avLst/>
            </a:prstGeom>
            <a:noFill/>
            <a:ln>
              <a:noFill/>
            </a:ln>
          </p:spPr>
        </p:pic>
        <p:sp>
          <p:nvSpPr>
            <p:cNvPr id="458" name="Google Shape;458;g2bb8c1dba0d_0_642"/>
            <p:cNvSpPr txBox="1"/>
            <p:nvPr/>
          </p:nvSpPr>
          <p:spPr>
            <a:xfrm>
              <a:off x="7127878" y="5257800"/>
              <a:ext cx="1861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Image credit: N. Snavely</a:t>
              </a:r>
              <a:endParaRPr b="0" i="0" sz="1200" u="none" cap="none" strike="noStrike">
                <a:solidFill>
                  <a:schemeClr val="dk1"/>
                </a:solidFill>
                <a:latin typeface="Arial"/>
                <a:ea typeface="Arial"/>
                <a:cs typeface="Arial"/>
                <a:sym typeface="Arial"/>
              </a:endParaRPr>
            </a:p>
          </p:txBody>
        </p:sp>
        <p:sp>
          <p:nvSpPr>
            <p:cNvPr id="459" name="Google Shape;459;g2bb8c1dba0d_0_642"/>
            <p:cNvSpPr txBox="1"/>
            <p:nvPr/>
          </p:nvSpPr>
          <p:spPr>
            <a:xfrm>
              <a:off x="5343528" y="2480015"/>
              <a:ext cx="35370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Arial"/>
                  <a:ea typeface="Arial"/>
                  <a:cs typeface="Arial"/>
                  <a:sym typeface="Arial"/>
                </a:rPr>
                <a:t>H’xW’xC’ Image</a:t>
              </a:r>
              <a:endParaRPr b="0" i="0" sz="1400" u="none" cap="none" strike="noStrike">
                <a:solidFill>
                  <a:srgbClr val="000000"/>
                </a:solidFill>
                <a:latin typeface="Arial"/>
                <a:ea typeface="Arial"/>
                <a:cs typeface="Arial"/>
                <a:sym typeface="Arial"/>
              </a:endParaRPr>
            </a:p>
          </p:txBody>
        </p:sp>
        <p:cxnSp>
          <p:nvCxnSpPr>
            <p:cNvPr id="460" name="Google Shape;460;g2bb8c1dba0d_0_642"/>
            <p:cNvCxnSpPr/>
            <p:nvPr/>
          </p:nvCxnSpPr>
          <p:spPr>
            <a:xfrm>
              <a:off x="3969572" y="4227755"/>
              <a:ext cx="1183200" cy="0"/>
            </a:xfrm>
            <a:prstGeom prst="straightConnector1">
              <a:avLst/>
            </a:prstGeom>
            <a:noFill/>
            <a:ln cap="flat" cmpd="sng" w="76200">
              <a:solidFill>
                <a:schemeClr val="dk1"/>
              </a:solidFill>
              <a:prstDash val="solid"/>
              <a:miter lim="800000"/>
              <a:headEnd len="sm" w="sm" type="none"/>
              <a:tailEnd len="med" w="med" type="triangle"/>
            </a:ln>
          </p:spPr>
        </p:cxnSp>
      </p:grpSp>
      <p:sp>
        <p:nvSpPr>
          <p:cNvPr id="461" name="Google Shape;461;g2bb8c1dba0d_0_642"/>
          <p:cNvSpPr txBox="1"/>
          <p:nvPr/>
        </p:nvSpPr>
        <p:spPr>
          <a:xfrm>
            <a:off x="476539" y="6429539"/>
            <a:ext cx="107469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Slide Credit: S. Lazebnik</a:t>
            </a:r>
            <a:endParaRPr b="0" i="0" sz="12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g2bb8c1dba0d_0_658"/>
          <p:cNvSpPr txBox="1"/>
          <p:nvPr>
            <p:ph type="title"/>
          </p:nvPr>
        </p:nvSpPr>
        <p:spPr>
          <a:xfrm>
            <a:off x="914400" y="76200"/>
            <a:ext cx="10668000" cy="838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Pedestrian detection with HOG</a:t>
            </a:r>
            <a:endParaRPr/>
          </a:p>
        </p:txBody>
      </p:sp>
      <p:sp>
        <p:nvSpPr>
          <p:cNvPr id="468" name="Google Shape;468;g2bb8c1dba0d_0_658"/>
          <p:cNvSpPr txBox="1"/>
          <p:nvPr>
            <p:ph idx="1" type="body"/>
          </p:nvPr>
        </p:nvSpPr>
        <p:spPr>
          <a:xfrm>
            <a:off x="609600" y="914400"/>
            <a:ext cx="11074500" cy="52578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Font typeface="Arial"/>
              <a:buChar char="•"/>
            </a:pPr>
            <a:r>
              <a:rPr lang="en-US" sz="2400"/>
              <a:t>Train a pedestrian template using a linear support vector machine</a:t>
            </a:r>
            <a:endParaRPr/>
          </a:p>
        </p:txBody>
      </p:sp>
      <p:sp>
        <p:nvSpPr>
          <p:cNvPr id="469" name="Google Shape;469;g2bb8c1dba0d_0_658"/>
          <p:cNvSpPr/>
          <p:nvPr/>
        </p:nvSpPr>
        <p:spPr>
          <a:xfrm>
            <a:off x="508000" y="6096000"/>
            <a:ext cx="11175900" cy="646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N. Dalal and B. Triggs, </a:t>
            </a:r>
            <a:r>
              <a:rPr b="0" i="0" lang="en-US" sz="1800" u="sng" cap="none" strike="noStrike">
                <a:solidFill>
                  <a:schemeClr val="dk1"/>
                </a:solidFill>
                <a:latin typeface="Arial"/>
                <a:ea typeface="Arial"/>
                <a:cs typeface="Arial"/>
                <a:sym typeface="Arial"/>
                <a:hlinkClick r:id="rId3">
                  <a:extLst>
                    <a:ext uri="{A12FA001-AC4F-418D-AE19-62706E023703}">
                      <ahyp:hlinkClr val="tx"/>
                    </a:ext>
                  </a:extLst>
                </a:hlinkClick>
              </a:rPr>
              <a:t>Histograms of Oriented Gradients for Human Detection</a:t>
            </a:r>
            <a:r>
              <a:rPr b="0" i="0" lang="en-US" sz="1800" u="none" cap="none" strike="noStrike">
                <a:solidFill>
                  <a:schemeClr val="dk1"/>
                </a:solidFill>
                <a:latin typeface="Arial"/>
                <a:ea typeface="Arial"/>
                <a:cs typeface="Arial"/>
                <a:sym typeface="Arial"/>
              </a:rPr>
              <a:t>, CVPR 2005</a:t>
            </a:r>
            <a:endParaRPr b="0" i="0" sz="1400" u="none" cap="none" strike="noStrike">
              <a:solidFill>
                <a:srgbClr val="000000"/>
              </a:solidFill>
              <a:latin typeface="Arial"/>
              <a:ea typeface="Arial"/>
              <a:cs typeface="Arial"/>
              <a:sym typeface="Arial"/>
            </a:endParaRPr>
          </a:p>
        </p:txBody>
      </p:sp>
      <p:pic>
        <p:nvPicPr>
          <p:cNvPr id="470" name="Google Shape;470;g2bb8c1dba0d_0_658"/>
          <p:cNvPicPr preferRelativeResize="0"/>
          <p:nvPr/>
        </p:nvPicPr>
        <p:blipFill rotWithShape="1">
          <a:blip r:embed="rId4">
            <a:alphaModFix/>
          </a:blip>
          <a:srcRect b="0" l="0" r="0" t="0"/>
          <a:stretch/>
        </p:blipFill>
        <p:spPr>
          <a:xfrm>
            <a:off x="870349" y="2286001"/>
            <a:ext cx="7957838" cy="1583278"/>
          </a:xfrm>
          <a:prstGeom prst="rect">
            <a:avLst/>
          </a:prstGeom>
          <a:noFill/>
          <a:ln>
            <a:noFill/>
          </a:ln>
        </p:spPr>
      </p:pic>
      <p:grpSp>
        <p:nvGrpSpPr>
          <p:cNvPr id="471" name="Google Shape;471;g2bb8c1dba0d_0_658"/>
          <p:cNvGrpSpPr/>
          <p:nvPr/>
        </p:nvGrpSpPr>
        <p:grpSpPr>
          <a:xfrm>
            <a:off x="3472935" y="4440776"/>
            <a:ext cx="5265166" cy="1525340"/>
            <a:chOff x="0" y="4038600"/>
            <a:chExt cx="6484993" cy="2505075"/>
          </a:xfrm>
        </p:grpSpPr>
        <p:pic>
          <p:nvPicPr>
            <p:cNvPr id="472" name="Google Shape;472;g2bb8c1dba0d_0_658"/>
            <p:cNvPicPr preferRelativeResize="0"/>
            <p:nvPr/>
          </p:nvPicPr>
          <p:blipFill rotWithShape="1">
            <a:blip r:embed="rId5">
              <a:alphaModFix/>
            </a:blip>
            <a:srcRect b="0" l="0" r="0" t="0"/>
            <a:stretch/>
          </p:blipFill>
          <p:spPr>
            <a:xfrm>
              <a:off x="0" y="4114800"/>
              <a:ext cx="1905000" cy="2428875"/>
            </a:xfrm>
            <a:prstGeom prst="rect">
              <a:avLst/>
            </a:prstGeom>
            <a:noFill/>
            <a:ln>
              <a:noFill/>
            </a:ln>
          </p:spPr>
        </p:pic>
        <p:pic>
          <p:nvPicPr>
            <p:cNvPr id="473" name="Google Shape;473;g2bb8c1dba0d_0_658"/>
            <p:cNvPicPr preferRelativeResize="0"/>
            <p:nvPr/>
          </p:nvPicPr>
          <p:blipFill rotWithShape="1">
            <a:blip r:embed="rId6">
              <a:alphaModFix/>
            </a:blip>
            <a:srcRect b="0" l="0" r="0" t="0"/>
            <a:stretch/>
          </p:blipFill>
          <p:spPr>
            <a:xfrm>
              <a:off x="1313756" y="4038600"/>
              <a:ext cx="1885950" cy="2438400"/>
            </a:xfrm>
            <a:prstGeom prst="rect">
              <a:avLst/>
            </a:prstGeom>
            <a:noFill/>
            <a:ln>
              <a:noFill/>
            </a:ln>
          </p:spPr>
        </p:pic>
        <p:pic>
          <p:nvPicPr>
            <p:cNvPr id="474" name="Google Shape;474;g2bb8c1dba0d_0_658"/>
            <p:cNvPicPr preferRelativeResize="0"/>
            <p:nvPr/>
          </p:nvPicPr>
          <p:blipFill rotWithShape="1">
            <a:blip r:embed="rId7">
              <a:alphaModFix/>
            </a:blip>
            <a:srcRect b="0" l="0" r="0" t="0"/>
            <a:stretch/>
          </p:blipFill>
          <p:spPr>
            <a:xfrm>
              <a:off x="2627512" y="4038600"/>
              <a:ext cx="1385050" cy="2428875"/>
            </a:xfrm>
            <a:prstGeom prst="rect">
              <a:avLst/>
            </a:prstGeom>
            <a:noFill/>
            <a:ln>
              <a:noFill/>
            </a:ln>
          </p:spPr>
        </p:pic>
        <p:pic>
          <p:nvPicPr>
            <p:cNvPr id="475" name="Google Shape;475;g2bb8c1dba0d_0_658"/>
            <p:cNvPicPr preferRelativeResize="0"/>
            <p:nvPr/>
          </p:nvPicPr>
          <p:blipFill rotWithShape="1">
            <a:blip r:embed="rId8">
              <a:alphaModFix/>
            </a:blip>
            <a:srcRect b="0" l="0" r="0" t="0"/>
            <a:stretch/>
          </p:blipFill>
          <p:spPr>
            <a:xfrm>
              <a:off x="3941267" y="4038600"/>
              <a:ext cx="1857375" cy="2428875"/>
            </a:xfrm>
            <a:prstGeom prst="rect">
              <a:avLst/>
            </a:prstGeom>
            <a:noFill/>
            <a:ln>
              <a:noFill/>
            </a:ln>
          </p:spPr>
        </p:pic>
        <p:pic>
          <p:nvPicPr>
            <p:cNvPr id="476" name="Google Shape;476;g2bb8c1dba0d_0_658"/>
            <p:cNvPicPr preferRelativeResize="0"/>
            <p:nvPr/>
          </p:nvPicPr>
          <p:blipFill rotWithShape="1">
            <a:blip r:embed="rId9">
              <a:alphaModFix/>
            </a:blip>
            <a:srcRect b="0" l="0" r="0" t="0"/>
            <a:stretch/>
          </p:blipFill>
          <p:spPr>
            <a:xfrm>
              <a:off x="5178869" y="4038600"/>
              <a:ext cx="1306124" cy="2428875"/>
            </a:xfrm>
            <a:prstGeom prst="rect">
              <a:avLst/>
            </a:prstGeom>
            <a:noFill/>
            <a:ln>
              <a:noFill/>
            </a:ln>
          </p:spPr>
        </p:pic>
      </p:grpSp>
      <p:sp>
        <p:nvSpPr>
          <p:cNvPr id="477" name="Google Shape;477;g2bb8c1dba0d_0_658"/>
          <p:cNvSpPr txBox="1"/>
          <p:nvPr/>
        </p:nvSpPr>
        <p:spPr>
          <a:xfrm>
            <a:off x="4023049" y="1889203"/>
            <a:ext cx="42063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positive training examples</a:t>
            </a:r>
            <a:endParaRPr b="0" i="0" sz="1400" u="none" cap="none" strike="noStrike">
              <a:solidFill>
                <a:srgbClr val="000000"/>
              </a:solidFill>
              <a:latin typeface="Arial"/>
              <a:ea typeface="Arial"/>
              <a:cs typeface="Arial"/>
              <a:sym typeface="Arial"/>
            </a:endParaRPr>
          </a:p>
        </p:txBody>
      </p:sp>
      <p:sp>
        <p:nvSpPr>
          <p:cNvPr id="478" name="Google Shape;478;g2bb8c1dba0d_0_658"/>
          <p:cNvSpPr txBox="1"/>
          <p:nvPr/>
        </p:nvSpPr>
        <p:spPr>
          <a:xfrm>
            <a:off x="4018637" y="4038600"/>
            <a:ext cx="43125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negative training examples</a:t>
            </a:r>
            <a:endParaRPr b="0" i="0" sz="1400" u="none" cap="none" strike="noStrike">
              <a:solidFill>
                <a:srgbClr val="000000"/>
              </a:solidFill>
              <a:latin typeface="Arial"/>
              <a:ea typeface="Arial"/>
              <a:cs typeface="Arial"/>
              <a:sym typeface="Arial"/>
            </a:endParaRPr>
          </a:p>
        </p:txBody>
      </p:sp>
      <p:sp>
        <p:nvSpPr>
          <p:cNvPr id="479" name="Google Shape;479;g2bb8c1dba0d_0_658"/>
          <p:cNvSpPr txBox="1"/>
          <p:nvPr/>
        </p:nvSpPr>
        <p:spPr>
          <a:xfrm>
            <a:off x="476539" y="6429539"/>
            <a:ext cx="107469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Slide Credit: S. Lazebnik</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g2bb8c1dba0d_0_675"/>
          <p:cNvSpPr txBox="1"/>
          <p:nvPr>
            <p:ph type="title"/>
          </p:nvPr>
        </p:nvSpPr>
        <p:spPr>
          <a:xfrm>
            <a:off x="914400" y="76200"/>
            <a:ext cx="10668000" cy="838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Pedestrian detection with HOG</a:t>
            </a:r>
            <a:endParaRPr/>
          </a:p>
        </p:txBody>
      </p:sp>
      <p:sp>
        <p:nvSpPr>
          <p:cNvPr id="486" name="Google Shape;486;g2bb8c1dba0d_0_675"/>
          <p:cNvSpPr txBox="1"/>
          <p:nvPr>
            <p:ph idx="1" type="body"/>
          </p:nvPr>
        </p:nvSpPr>
        <p:spPr>
          <a:xfrm>
            <a:off x="609600" y="914400"/>
            <a:ext cx="11074500" cy="52578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Font typeface="Arial"/>
              <a:buChar char="•"/>
            </a:pPr>
            <a:r>
              <a:rPr lang="en-US" sz="2400"/>
              <a:t>Train pedestrian “template” using a linear svm</a:t>
            </a:r>
            <a:endParaRPr sz="2400"/>
          </a:p>
          <a:p>
            <a:pPr indent="-228600" lvl="0" marL="228600" rtl="0" algn="l">
              <a:lnSpc>
                <a:spcPct val="90000"/>
              </a:lnSpc>
              <a:spcBef>
                <a:spcPts val="1000"/>
              </a:spcBef>
              <a:spcAft>
                <a:spcPts val="0"/>
              </a:spcAft>
              <a:buClr>
                <a:schemeClr val="dk1"/>
              </a:buClr>
              <a:buSzPts val="2400"/>
              <a:buFont typeface="Arial"/>
              <a:buChar char="•"/>
            </a:pPr>
            <a:r>
              <a:rPr lang="en-US" sz="2400"/>
              <a:t>At test time, convolve feature map with template</a:t>
            </a:r>
            <a:endParaRPr/>
          </a:p>
          <a:p>
            <a:pPr indent="-228600" lvl="0" marL="228600" rtl="0" algn="l">
              <a:lnSpc>
                <a:spcPct val="90000"/>
              </a:lnSpc>
              <a:spcBef>
                <a:spcPts val="1000"/>
              </a:spcBef>
              <a:spcAft>
                <a:spcPts val="0"/>
              </a:spcAft>
              <a:buClr>
                <a:schemeClr val="dk1"/>
              </a:buClr>
              <a:buSzPts val="2400"/>
              <a:buFont typeface="Arial"/>
              <a:buChar char="•"/>
            </a:pPr>
            <a:r>
              <a:rPr lang="en-US" sz="2400"/>
              <a:t>Find local maxima of response</a:t>
            </a:r>
            <a:endParaRPr/>
          </a:p>
          <a:p>
            <a:pPr indent="-228600" lvl="0" marL="228600" rtl="0" algn="l">
              <a:lnSpc>
                <a:spcPct val="90000"/>
              </a:lnSpc>
              <a:spcBef>
                <a:spcPts val="1000"/>
              </a:spcBef>
              <a:spcAft>
                <a:spcPts val="0"/>
              </a:spcAft>
              <a:buClr>
                <a:schemeClr val="dk1"/>
              </a:buClr>
              <a:buSzPts val="2400"/>
              <a:buFont typeface="Arial"/>
              <a:buChar char="•"/>
            </a:pPr>
            <a:r>
              <a:rPr lang="en-US" sz="2400"/>
              <a:t>For multi-scale detection, repeat over multiple levels of a HOG </a:t>
            </a:r>
            <a:r>
              <a:rPr i="1" lang="en-US" sz="2400"/>
              <a:t>pyramid</a:t>
            </a:r>
            <a:endParaRPr/>
          </a:p>
        </p:txBody>
      </p:sp>
      <p:pic>
        <p:nvPicPr>
          <p:cNvPr id="487" name="Google Shape;487;g2bb8c1dba0d_0_675"/>
          <p:cNvPicPr preferRelativeResize="0"/>
          <p:nvPr/>
        </p:nvPicPr>
        <p:blipFill rotWithShape="1">
          <a:blip r:embed="rId3">
            <a:alphaModFix/>
          </a:blip>
          <a:srcRect b="0" l="0" r="0" t="0"/>
          <a:stretch/>
        </p:blipFill>
        <p:spPr>
          <a:xfrm>
            <a:off x="731275" y="2978775"/>
            <a:ext cx="3590200" cy="1292272"/>
          </a:xfrm>
          <a:prstGeom prst="rect">
            <a:avLst/>
          </a:prstGeom>
          <a:noFill/>
          <a:ln>
            <a:noFill/>
          </a:ln>
        </p:spPr>
      </p:pic>
      <p:pic>
        <p:nvPicPr>
          <p:cNvPr id="488" name="Google Shape;488;g2bb8c1dba0d_0_675"/>
          <p:cNvPicPr preferRelativeResize="0"/>
          <p:nvPr/>
        </p:nvPicPr>
        <p:blipFill rotWithShape="1">
          <a:blip r:embed="rId4">
            <a:alphaModFix/>
          </a:blip>
          <a:srcRect b="0" l="0" r="0" t="0"/>
          <a:stretch/>
        </p:blipFill>
        <p:spPr>
          <a:xfrm>
            <a:off x="731276" y="4316929"/>
            <a:ext cx="3590192" cy="1733196"/>
          </a:xfrm>
          <a:prstGeom prst="rect">
            <a:avLst/>
          </a:prstGeom>
          <a:noFill/>
          <a:ln>
            <a:noFill/>
          </a:ln>
        </p:spPr>
      </p:pic>
      <p:pic>
        <p:nvPicPr>
          <p:cNvPr id="489" name="Google Shape;489;g2bb8c1dba0d_0_675"/>
          <p:cNvPicPr preferRelativeResize="0"/>
          <p:nvPr/>
        </p:nvPicPr>
        <p:blipFill rotWithShape="1">
          <a:blip r:embed="rId5">
            <a:alphaModFix/>
          </a:blip>
          <a:srcRect b="0" l="0" r="0" t="0"/>
          <a:stretch/>
        </p:blipFill>
        <p:spPr>
          <a:xfrm>
            <a:off x="6096000" y="3981804"/>
            <a:ext cx="609600" cy="1672743"/>
          </a:xfrm>
          <a:prstGeom prst="rect">
            <a:avLst/>
          </a:prstGeom>
          <a:noFill/>
          <a:ln>
            <a:noFill/>
          </a:ln>
        </p:spPr>
      </p:pic>
      <p:pic>
        <p:nvPicPr>
          <p:cNvPr id="490" name="Google Shape;490;g2bb8c1dba0d_0_675"/>
          <p:cNvPicPr preferRelativeResize="0"/>
          <p:nvPr/>
        </p:nvPicPr>
        <p:blipFill rotWithShape="1">
          <a:blip r:embed="rId6">
            <a:alphaModFix/>
          </a:blip>
          <a:srcRect b="0" l="0" r="0" t="0"/>
          <a:stretch/>
        </p:blipFill>
        <p:spPr>
          <a:xfrm>
            <a:off x="8175451" y="3874504"/>
            <a:ext cx="3048000" cy="1716690"/>
          </a:xfrm>
          <a:prstGeom prst="rect">
            <a:avLst/>
          </a:prstGeom>
          <a:noFill/>
          <a:ln>
            <a:noFill/>
          </a:ln>
        </p:spPr>
      </p:pic>
      <p:sp>
        <p:nvSpPr>
          <p:cNvPr id="491" name="Google Shape;491;g2bb8c1dba0d_0_675"/>
          <p:cNvSpPr/>
          <p:nvPr/>
        </p:nvSpPr>
        <p:spPr>
          <a:xfrm>
            <a:off x="508000" y="6096000"/>
            <a:ext cx="11175900" cy="646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N. Dalal and B. Triggs, </a:t>
            </a:r>
            <a:r>
              <a:rPr b="0" i="0" lang="en-US" sz="1800" u="sng" cap="none" strike="noStrike">
                <a:solidFill>
                  <a:schemeClr val="dk1"/>
                </a:solidFill>
                <a:latin typeface="Arial"/>
                <a:ea typeface="Arial"/>
                <a:cs typeface="Arial"/>
                <a:sym typeface="Arial"/>
                <a:hlinkClick r:id="rId7">
                  <a:extLst>
                    <a:ext uri="{A12FA001-AC4F-418D-AE19-62706E023703}">
                      <ahyp:hlinkClr val="tx"/>
                    </a:ext>
                  </a:extLst>
                </a:hlinkClick>
              </a:rPr>
              <a:t>Histograms of Oriented Gradients for Human Detection</a:t>
            </a:r>
            <a:r>
              <a:rPr b="0" i="0" lang="en-US" sz="1800" u="none" cap="none" strike="noStrike">
                <a:solidFill>
                  <a:schemeClr val="dk1"/>
                </a:solidFill>
                <a:latin typeface="Arial"/>
                <a:ea typeface="Arial"/>
                <a:cs typeface="Arial"/>
                <a:sym typeface="Arial"/>
              </a:rPr>
              <a:t>, CVPR 2005</a:t>
            </a:r>
            <a:endParaRPr b="0" i="0" sz="1400" u="none" cap="none" strike="noStrike">
              <a:solidFill>
                <a:srgbClr val="000000"/>
              </a:solidFill>
              <a:latin typeface="Arial"/>
              <a:ea typeface="Arial"/>
              <a:cs typeface="Arial"/>
              <a:sym typeface="Arial"/>
            </a:endParaRPr>
          </a:p>
        </p:txBody>
      </p:sp>
      <p:sp>
        <p:nvSpPr>
          <p:cNvPr id="492" name="Google Shape;492;g2bb8c1dba0d_0_675"/>
          <p:cNvSpPr/>
          <p:nvPr/>
        </p:nvSpPr>
        <p:spPr>
          <a:xfrm>
            <a:off x="5715205" y="3516868"/>
            <a:ext cx="14943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Template</a:t>
            </a:r>
            <a:endParaRPr b="0" i="0" sz="1400" u="none" cap="none" strike="noStrike">
              <a:solidFill>
                <a:srgbClr val="000000"/>
              </a:solidFill>
              <a:latin typeface="Arial"/>
              <a:ea typeface="Arial"/>
              <a:cs typeface="Arial"/>
              <a:sym typeface="Arial"/>
            </a:endParaRPr>
          </a:p>
        </p:txBody>
      </p:sp>
      <p:sp>
        <p:nvSpPr>
          <p:cNvPr id="493" name="Google Shape;493;g2bb8c1dba0d_0_675"/>
          <p:cNvSpPr/>
          <p:nvPr/>
        </p:nvSpPr>
        <p:spPr>
          <a:xfrm>
            <a:off x="1039850" y="2609475"/>
            <a:ext cx="26745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HOG feature map</a:t>
            </a:r>
            <a:endParaRPr b="0" i="0" sz="1400" u="none" cap="none" strike="noStrike">
              <a:solidFill>
                <a:srgbClr val="000000"/>
              </a:solidFill>
              <a:latin typeface="Arial"/>
              <a:ea typeface="Arial"/>
              <a:cs typeface="Arial"/>
              <a:sym typeface="Arial"/>
            </a:endParaRPr>
          </a:p>
        </p:txBody>
      </p:sp>
      <p:sp>
        <p:nvSpPr>
          <p:cNvPr id="494" name="Google Shape;494;g2bb8c1dba0d_0_675"/>
          <p:cNvSpPr/>
          <p:nvPr/>
        </p:nvSpPr>
        <p:spPr>
          <a:xfrm>
            <a:off x="8026400" y="3505200"/>
            <a:ext cx="3443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Detector response map</a:t>
            </a:r>
            <a:endParaRPr b="0" i="0" sz="1400" u="none" cap="none" strike="noStrike">
              <a:solidFill>
                <a:srgbClr val="000000"/>
              </a:solidFill>
              <a:latin typeface="Arial"/>
              <a:ea typeface="Arial"/>
              <a:cs typeface="Arial"/>
              <a:sym typeface="Arial"/>
            </a:endParaRPr>
          </a:p>
        </p:txBody>
      </p:sp>
      <p:sp>
        <p:nvSpPr>
          <p:cNvPr id="495" name="Google Shape;495;g2bb8c1dba0d_0_675"/>
          <p:cNvSpPr txBox="1"/>
          <p:nvPr/>
        </p:nvSpPr>
        <p:spPr>
          <a:xfrm>
            <a:off x="476539" y="6429539"/>
            <a:ext cx="107469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Slide Credit: S. Lazebnik</a:t>
            </a:r>
            <a:endParaRPr b="0" i="0" sz="12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g2bb8c1dba0d_0_690"/>
          <p:cNvSpPr txBox="1"/>
          <p:nvPr>
            <p:ph type="title"/>
          </p:nvPr>
        </p:nvSpPr>
        <p:spPr>
          <a:xfrm>
            <a:off x="1117600" y="365125"/>
            <a:ext cx="10746900" cy="13257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3800"/>
              <a:buFont typeface="Arial"/>
              <a:buNone/>
            </a:pPr>
            <a:r>
              <a:rPr lang="en-US" sz="3800">
                <a:latin typeface="Arial"/>
                <a:ea typeface="Arial"/>
                <a:cs typeface="Arial"/>
                <a:sym typeface="Arial"/>
              </a:rPr>
              <a:t>Example detections</a:t>
            </a:r>
            <a:endParaRPr/>
          </a:p>
        </p:txBody>
      </p:sp>
      <p:pic>
        <p:nvPicPr>
          <p:cNvPr id="501" name="Google Shape;501;g2bb8c1dba0d_0_690"/>
          <p:cNvPicPr preferRelativeResize="0"/>
          <p:nvPr/>
        </p:nvPicPr>
        <p:blipFill rotWithShape="1">
          <a:blip r:embed="rId3">
            <a:alphaModFix/>
          </a:blip>
          <a:srcRect b="0" l="0" r="0" t="0"/>
          <a:stretch/>
        </p:blipFill>
        <p:spPr>
          <a:xfrm>
            <a:off x="1390651" y="1276350"/>
            <a:ext cx="6967537" cy="4643438"/>
          </a:xfrm>
          <a:prstGeom prst="rect">
            <a:avLst/>
          </a:prstGeom>
          <a:noFill/>
          <a:ln>
            <a:noFill/>
          </a:ln>
        </p:spPr>
      </p:pic>
      <p:sp>
        <p:nvSpPr>
          <p:cNvPr id="502" name="Google Shape;502;g2bb8c1dba0d_0_690"/>
          <p:cNvSpPr txBox="1"/>
          <p:nvPr/>
        </p:nvSpPr>
        <p:spPr>
          <a:xfrm>
            <a:off x="4145492" y="5919788"/>
            <a:ext cx="3901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[Dalal and Triggs, CVPR 2005]</a:t>
            </a:r>
            <a:endParaRPr b="0" i="0" sz="1400" u="none" cap="none" strike="noStrike">
              <a:solidFill>
                <a:srgbClr val="000000"/>
              </a:solidFill>
              <a:latin typeface="Arial"/>
              <a:ea typeface="Arial"/>
              <a:cs typeface="Arial"/>
              <a:sym typeface="Arial"/>
            </a:endParaRPr>
          </a:p>
        </p:txBody>
      </p:sp>
      <p:sp>
        <p:nvSpPr>
          <p:cNvPr id="503" name="Google Shape;503;g2bb8c1dba0d_0_690"/>
          <p:cNvSpPr txBox="1"/>
          <p:nvPr/>
        </p:nvSpPr>
        <p:spPr>
          <a:xfrm>
            <a:off x="476539" y="6429539"/>
            <a:ext cx="107469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Slide Credit: S. Lazebnik</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g2bb8c1dba0d_0_697"/>
          <p:cNvSpPr txBox="1"/>
          <p:nvPr>
            <p:ph type="title"/>
          </p:nvPr>
        </p:nvSpPr>
        <p:spPr>
          <a:xfrm>
            <a:off x="0" y="0"/>
            <a:ext cx="12192000" cy="762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Arial"/>
              <a:buNone/>
            </a:pPr>
            <a:r>
              <a:rPr lang="en-US" sz="4000"/>
              <a:t>PASCAL VOC Challenge (2005-2012)</a:t>
            </a:r>
            <a:endParaRPr/>
          </a:p>
        </p:txBody>
      </p:sp>
      <p:sp>
        <p:nvSpPr>
          <p:cNvPr id="510" name="Google Shape;510;g2bb8c1dba0d_0_697"/>
          <p:cNvSpPr txBox="1"/>
          <p:nvPr/>
        </p:nvSpPr>
        <p:spPr>
          <a:xfrm>
            <a:off x="114748" y="2743200"/>
            <a:ext cx="11919600" cy="32016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20 challenge classes:</a:t>
            </a:r>
            <a:endParaRPr b="0" i="1" sz="2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400"/>
              <a:buFont typeface="Arial"/>
              <a:buChar char="•"/>
            </a:pPr>
            <a:r>
              <a:rPr b="0" i="1" lang="en-US" sz="2400" u="none" cap="none" strike="noStrike">
                <a:solidFill>
                  <a:srgbClr val="000000"/>
                </a:solidFill>
                <a:latin typeface="Arial"/>
                <a:ea typeface="Arial"/>
                <a:cs typeface="Arial"/>
                <a:sym typeface="Arial"/>
              </a:rPr>
              <a:t>Person</a:t>
            </a:r>
            <a:r>
              <a:rPr b="0" i="0" lang="en-US" sz="2400" u="none" cap="none" strike="noStrike">
                <a:solidFill>
                  <a:srgbClr val="000000"/>
                </a:solidFill>
                <a:latin typeface="Arial"/>
                <a:ea typeface="Arial"/>
                <a:cs typeface="Arial"/>
                <a:sym typeface="Arial"/>
              </a:rPr>
              <a:t> </a:t>
            </a:r>
            <a:endParaRPr b="0" i="0" sz="2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400"/>
              <a:buFont typeface="Arial"/>
              <a:buChar char="•"/>
            </a:pPr>
            <a:r>
              <a:rPr b="0" i="1" lang="en-US" sz="2400" u="none" cap="none" strike="noStrike">
                <a:solidFill>
                  <a:srgbClr val="000000"/>
                </a:solidFill>
                <a:latin typeface="Arial"/>
                <a:ea typeface="Arial"/>
                <a:cs typeface="Arial"/>
                <a:sym typeface="Arial"/>
              </a:rPr>
              <a:t>Animals:</a:t>
            </a:r>
            <a:r>
              <a:rPr b="0" i="0" lang="en-US" sz="2400" u="none" cap="none" strike="noStrike">
                <a:solidFill>
                  <a:srgbClr val="000000"/>
                </a:solidFill>
                <a:latin typeface="Arial"/>
                <a:ea typeface="Arial"/>
                <a:cs typeface="Arial"/>
                <a:sym typeface="Arial"/>
              </a:rPr>
              <a:t> bird, cat, cow, dog, horse, sheep </a:t>
            </a:r>
            <a:endParaRPr b="0" i="0" sz="2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400"/>
              <a:buFont typeface="Arial"/>
              <a:buChar char="•"/>
            </a:pPr>
            <a:r>
              <a:rPr b="0" i="1" lang="en-US" sz="2400" u="none" cap="none" strike="noStrike">
                <a:solidFill>
                  <a:srgbClr val="000000"/>
                </a:solidFill>
                <a:latin typeface="Arial"/>
                <a:ea typeface="Arial"/>
                <a:cs typeface="Arial"/>
                <a:sym typeface="Arial"/>
              </a:rPr>
              <a:t>Vehicles:</a:t>
            </a:r>
            <a:r>
              <a:rPr b="0" i="0" lang="en-US" sz="2400" u="none" cap="none" strike="noStrike">
                <a:solidFill>
                  <a:srgbClr val="000000"/>
                </a:solidFill>
                <a:latin typeface="Arial"/>
                <a:ea typeface="Arial"/>
                <a:cs typeface="Arial"/>
                <a:sym typeface="Arial"/>
              </a:rPr>
              <a:t> aeroplane, bicycle, boat, bus, car, motorbike, train </a:t>
            </a:r>
            <a:endParaRPr b="0" i="0" sz="2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400"/>
              <a:buFont typeface="Arial"/>
              <a:buChar char="•"/>
            </a:pPr>
            <a:r>
              <a:rPr b="0" i="1" lang="en-US" sz="2400" u="none" cap="none" strike="noStrike">
                <a:solidFill>
                  <a:srgbClr val="000000"/>
                </a:solidFill>
                <a:latin typeface="Arial"/>
                <a:ea typeface="Arial"/>
                <a:cs typeface="Arial"/>
                <a:sym typeface="Arial"/>
              </a:rPr>
              <a:t>Indoor:</a:t>
            </a:r>
            <a:r>
              <a:rPr b="0" i="0" lang="en-US" sz="2400" u="none" cap="none" strike="noStrike">
                <a:solidFill>
                  <a:srgbClr val="000000"/>
                </a:solidFill>
                <a:latin typeface="Arial"/>
                <a:ea typeface="Arial"/>
                <a:cs typeface="Arial"/>
                <a:sym typeface="Arial"/>
              </a:rPr>
              <a:t> bottle, chair, dining table, potted plant, sofa, tv/monitor</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Dataset size (by 2012): 11.5K training/validation images, 27K bounding boxes, 7K segmentations </a:t>
            </a:r>
            <a:endParaRPr b="0" i="0" sz="1400" u="none" cap="none" strike="noStrike">
              <a:solidFill>
                <a:srgbClr val="000000"/>
              </a:solidFill>
              <a:latin typeface="Arial"/>
              <a:ea typeface="Arial"/>
              <a:cs typeface="Arial"/>
              <a:sym typeface="Arial"/>
            </a:endParaRPr>
          </a:p>
          <a:p>
            <a:pPr indent="-133350" lvl="0" marL="285750" marR="0" rtl="0" algn="l">
              <a:lnSpc>
                <a:spcPct val="100000"/>
              </a:lnSpc>
              <a:spcBef>
                <a:spcPts val="120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11" name="Google Shape;511;g2bb8c1dba0d_0_697"/>
          <p:cNvSpPr/>
          <p:nvPr/>
        </p:nvSpPr>
        <p:spPr>
          <a:xfrm>
            <a:off x="1828800" y="6324600"/>
            <a:ext cx="8636100" cy="400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sng" cap="none" strike="noStrike">
                <a:solidFill>
                  <a:srgbClr val="000000"/>
                </a:solidFill>
                <a:latin typeface="Arial"/>
                <a:ea typeface="Arial"/>
                <a:cs typeface="Arial"/>
                <a:sym typeface="Arial"/>
                <a:hlinkClick r:id="rId3">
                  <a:extLst>
                    <a:ext uri="{A12FA001-AC4F-418D-AE19-62706E023703}">
                      <ahyp:hlinkClr val="tx"/>
                    </a:ext>
                  </a:extLst>
                </a:hlinkClick>
              </a:rPr>
              <a:t>http://host.robots.ox.ac.uk/pascal/VOC/</a:t>
            </a:r>
            <a:endParaRPr b="0" i="0" sz="2000" u="none" cap="none" strike="noStrike">
              <a:solidFill>
                <a:srgbClr val="000000"/>
              </a:solidFill>
              <a:latin typeface="Arial"/>
              <a:ea typeface="Arial"/>
              <a:cs typeface="Arial"/>
              <a:sym typeface="Arial"/>
            </a:endParaRPr>
          </a:p>
        </p:txBody>
      </p:sp>
      <p:pic>
        <p:nvPicPr>
          <p:cNvPr id="512" name="Google Shape;512;g2bb8c1dba0d_0_697"/>
          <p:cNvPicPr preferRelativeResize="0"/>
          <p:nvPr/>
        </p:nvPicPr>
        <p:blipFill rotWithShape="1">
          <a:blip r:embed="rId4">
            <a:alphaModFix/>
          </a:blip>
          <a:srcRect b="0" l="0" r="0" t="0"/>
          <a:stretch/>
        </p:blipFill>
        <p:spPr>
          <a:xfrm>
            <a:off x="-17417" y="914400"/>
            <a:ext cx="9157063" cy="1541641"/>
          </a:xfrm>
          <a:prstGeom prst="rect">
            <a:avLst/>
          </a:prstGeom>
          <a:noFill/>
          <a:ln>
            <a:noFill/>
          </a:ln>
        </p:spPr>
      </p:pic>
      <p:sp>
        <p:nvSpPr>
          <p:cNvPr id="513" name="Google Shape;513;g2bb8c1dba0d_0_697"/>
          <p:cNvSpPr txBox="1"/>
          <p:nvPr/>
        </p:nvSpPr>
        <p:spPr>
          <a:xfrm>
            <a:off x="476539" y="6429539"/>
            <a:ext cx="107469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Slide Credit: S. Lazebnik</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g2bb8c1dba0d_0_706"/>
          <p:cNvSpPr txBox="1"/>
          <p:nvPr>
            <p:ph type="title"/>
          </p:nvPr>
        </p:nvSpPr>
        <p:spPr>
          <a:xfrm>
            <a:off x="1117600" y="365125"/>
            <a:ext cx="103644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Object detection progress</a:t>
            </a:r>
            <a:endParaRPr/>
          </a:p>
        </p:txBody>
      </p:sp>
      <p:pic>
        <p:nvPicPr>
          <p:cNvPr id="520" name="Google Shape;520;g2bb8c1dba0d_0_706"/>
          <p:cNvPicPr preferRelativeResize="0"/>
          <p:nvPr/>
        </p:nvPicPr>
        <p:blipFill rotWithShape="1">
          <a:blip r:embed="rId3">
            <a:alphaModFix/>
          </a:blip>
          <a:srcRect b="0" l="0" r="0" t="0"/>
          <a:stretch/>
        </p:blipFill>
        <p:spPr>
          <a:xfrm>
            <a:off x="127745" y="1693337"/>
            <a:ext cx="8952381" cy="5032324"/>
          </a:xfrm>
          <a:prstGeom prst="rect">
            <a:avLst/>
          </a:prstGeom>
          <a:noFill/>
          <a:ln>
            <a:noFill/>
          </a:ln>
        </p:spPr>
      </p:pic>
      <p:sp>
        <p:nvSpPr>
          <p:cNvPr id="521" name="Google Shape;521;g2bb8c1dba0d_0_706"/>
          <p:cNvSpPr/>
          <p:nvPr/>
        </p:nvSpPr>
        <p:spPr>
          <a:xfrm rot="5400000">
            <a:off x="4788239" y="865088"/>
            <a:ext cx="548700" cy="4992900"/>
          </a:xfrm>
          <a:prstGeom prst="leftBrace">
            <a:avLst>
              <a:gd fmla="val 8333" name="adj1"/>
              <a:gd fmla="val 50000" name="adj2"/>
            </a:avLst>
          </a:prstGeom>
          <a:noFill/>
          <a:ln cap="flat" cmpd="sng" w="1905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2" name="Google Shape;522;g2bb8c1dba0d_0_706"/>
          <p:cNvSpPr txBox="1"/>
          <p:nvPr/>
        </p:nvSpPr>
        <p:spPr>
          <a:xfrm>
            <a:off x="4036783" y="2715208"/>
            <a:ext cx="2059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Before CNNs</a:t>
            </a:r>
            <a:endParaRPr b="0" i="0" sz="1400" u="none" cap="none" strike="noStrike">
              <a:solidFill>
                <a:srgbClr val="000000"/>
              </a:solidFill>
              <a:latin typeface="Arial"/>
              <a:ea typeface="Arial"/>
              <a:cs typeface="Arial"/>
              <a:sym typeface="Arial"/>
            </a:endParaRPr>
          </a:p>
        </p:txBody>
      </p:sp>
      <p:sp>
        <p:nvSpPr>
          <p:cNvPr id="523" name="Google Shape;523;g2bb8c1dba0d_0_706"/>
          <p:cNvSpPr/>
          <p:nvPr/>
        </p:nvSpPr>
        <p:spPr>
          <a:xfrm rot="-5400000">
            <a:off x="9305139" y="2625550"/>
            <a:ext cx="548700" cy="2020500"/>
          </a:xfrm>
          <a:prstGeom prst="leftBrace">
            <a:avLst>
              <a:gd fmla="val 8333" name="adj1"/>
              <a:gd fmla="val 50000" name="adj2"/>
            </a:avLst>
          </a:prstGeom>
          <a:noFill/>
          <a:ln cap="flat" cmpd="sng" w="1905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4" name="Google Shape;524;g2bb8c1dba0d_0_706"/>
          <p:cNvSpPr txBox="1"/>
          <p:nvPr/>
        </p:nvSpPr>
        <p:spPr>
          <a:xfrm>
            <a:off x="8627107" y="3840167"/>
            <a:ext cx="1939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Using CNNs</a:t>
            </a:r>
            <a:endParaRPr b="0" i="0" sz="1400" u="none" cap="none" strike="noStrike">
              <a:solidFill>
                <a:srgbClr val="000000"/>
              </a:solidFill>
              <a:latin typeface="Arial"/>
              <a:ea typeface="Arial"/>
              <a:cs typeface="Arial"/>
              <a:sym typeface="Arial"/>
            </a:endParaRPr>
          </a:p>
        </p:txBody>
      </p:sp>
      <p:sp>
        <p:nvSpPr>
          <p:cNvPr id="525" name="Google Shape;525;g2bb8c1dba0d_0_706"/>
          <p:cNvSpPr txBox="1"/>
          <p:nvPr/>
        </p:nvSpPr>
        <p:spPr>
          <a:xfrm>
            <a:off x="4893448" y="1219200"/>
            <a:ext cx="2235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PASCAL VOC</a:t>
            </a:r>
            <a:endParaRPr b="0" i="0" sz="1400" u="none" cap="none" strike="noStrike">
              <a:solidFill>
                <a:srgbClr val="000000"/>
              </a:solidFill>
              <a:latin typeface="Arial"/>
              <a:ea typeface="Arial"/>
              <a:cs typeface="Arial"/>
              <a:sym typeface="Arial"/>
            </a:endParaRPr>
          </a:p>
        </p:txBody>
      </p:sp>
      <p:sp>
        <p:nvSpPr>
          <p:cNvPr id="526" name="Google Shape;526;g2bb8c1dba0d_0_706"/>
          <p:cNvSpPr txBox="1"/>
          <p:nvPr/>
        </p:nvSpPr>
        <p:spPr>
          <a:xfrm>
            <a:off x="9859737" y="6400800"/>
            <a:ext cx="23325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Source: R. Girshick</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g2bb8c1dba0d_0_820"/>
          <p:cNvSpPr txBox="1"/>
          <p:nvPr>
            <p:ph type="title"/>
          </p:nvPr>
        </p:nvSpPr>
        <p:spPr>
          <a:xfrm>
            <a:off x="1117600" y="365125"/>
            <a:ext cx="107181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Region Proposals</a:t>
            </a:r>
            <a:endParaRPr/>
          </a:p>
        </p:txBody>
      </p:sp>
      <p:pic>
        <p:nvPicPr>
          <p:cNvPr id="532" name="Google Shape;532;g2bb8c1dba0d_0_820"/>
          <p:cNvPicPr preferRelativeResize="0"/>
          <p:nvPr/>
        </p:nvPicPr>
        <p:blipFill rotWithShape="1">
          <a:blip r:embed="rId3">
            <a:alphaModFix/>
          </a:blip>
          <a:srcRect b="20608" l="12499" r="65352" t="63829"/>
          <a:stretch/>
        </p:blipFill>
        <p:spPr>
          <a:xfrm>
            <a:off x="6543753" y="2661015"/>
            <a:ext cx="2214554" cy="875283"/>
          </a:xfrm>
          <a:prstGeom prst="rect">
            <a:avLst/>
          </a:prstGeom>
          <a:noFill/>
          <a:ln cap="flat" cmpd="sng" w="9525">
            <a:solidFill>
              <a:schemeClr val="dk1"/>
            </a:solidFill>
            <a:prstDash val="solid"/>
            <a:round/>
            <a:headEnd len="sm" w="sm" type="none"/>
            <a:tailEnd len="sm" w="sm" type="none"/>
          </a:ln>
        </p:spPr>
      </p:pic>
      <p:grpSp>
        <p:nvGrpSpPr>
          <p:cNvPr id="533" name="Google Shape;533;g2bb8c1dba0d_0_820"/>
          <p:cNvGrpSpPr/>
          <p:nvPr/>
        </p:nvGrpSpPr>
        <p:grpSpPr>
          <a:xfrm>
            <a:off x="1080075" y="2657240"/>
            <a:ext cx="5324777" cy="3993582"/>
            <a:chOff x="201706" y="2820875"/>
            <a:chExt cx="3442447" cy="3442447"/>
          </a:xfrm>
        </p:grpSpPr>
        <p:pic>
          <p:nvPicPr>
            <p:cNvPr id="534" name="Google Shape;534;g2bb8c1dba0d_0_820"/>
            <p:cNvPicPr preferRelativeResize="0"/>
            <p:nvPr/>
          </p:nvPicPr>
          <p:blipFill rotWithShape="1">
            <a:blip r:embed="rId3">
              <a:alphaModFix/>
            </a:blip>
            <a:srcRect b="2341" l="12498" r="45770" t="42018"/>
            <a:stretch/>
          </p:blipFill>
          <p:spPr>
            <a:xfrm>
              <a:off x="201706" y="2820875"/>
              <a:ext cx="3442447" cy="3442447"/>
            </a:xfrm>
            <a:prstGeom prst="rect">
              <a:avLst/>
            </a:prstGeom>
            <a:noFill/>
            <a:ln cap="flat" cmpd="sng" w="9525">
              <a:solidFill>
                <a:schemeClr val="dk1"/>
              </a:solidFill>
              <a:prstDash val="solid"/>
              <a:round/>
              <a:headEnd len="sm" w="sm" type="none"/>
              <a:tailEnd len="sm" w="sm" type="none"/>
            </a:ln>
          </p:spPr>
        </p:pic>
        <p:sp>
          <p:nvSpPr>
            <p:cNvPr id="535" name="Google Shape;535;g2bb8c1dba0d_0_820"/>
            <p:cNvSpPr/>
            <p:nvPr/>
          </p:nvSpPr>
          <p:spPr>
            <a:xfrm>
              <a:off x="201706" y="4206240"/>
              <a:ext cx="1734600" cy="892800"/>
            </a:xfrm>
            <a:prstGeom prst="rect">
              <a:avLst/>
            </a:prstGeom>
            <a:noFill/>
            <a:ln cap="flat" cmpd="sng" w="7620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36" name="Google Shape;536;g2bb8c1dba0d_0_820"/>
            <p:cNvSpPr/>
            <p:nvPr/>
          </p:nvSpPr>
          <p:spPr>
            <a:xfrm>
              <a:off x="2205318" y="3696149"/>
              <a:ext cx="1349100" cy="892800"/>
            </a:xfrm>
            <a:prstGeom prst="rect">
              <a:avLst/>
            </a:prstGeom>
            <a:noFill/>
            <a:ln cap="flat" cmpd="sng" w="7620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id="537" name="Google Shape;537;g2bb8c1dba0d_0_820"/>
          <p:cNvPicPr preferRelativeResize="0"/>
          <p:nvPr/>
        </p:nvPicPr>
        <p:blipFill rotWithShape="1">
          <a:blip r:embed="rId3">
            <a:alphaModFix/>
          </a:blip>
          <a:srcRect b="20608" l="14362" r="63490" t="63829"/>
          <a:stretch/>
        </p:blipFill>
        <p:spPr>
          <a:xfrm>
            <a:off x="6543752" y="3672513"/>
            <a:ext cx="2214554" cy="875283"/>
          </a:xfrm>
          <a:prstGeom prst="rect">
            <a:avLst/>
          </a:prstGeom>
          <a:noFill/>
          <a:ln cap="flat" cmpd="sng" w="9525">
            <a:solidFill>
              <a:schemeClr val="dk1"/>
            </a:solidFill>
            <a:prstDash val="solid"/>
            <a:round/>
            <a:headEnd len="sm" w="sm" type="none"/>
            <a:tailEnd len="sm" w="sm" type="none"/>
          </a:ln>
        </p:spPr>
      </p:pic>
      <p:pic>
        <p:nvPicPr>
          <p:cNvPr id="538" name="Google Shape;538;g2bb8c1dba0d_0_820"/>
          <p:cNvPicPr preferRelativeResize="0"/>
          <p:nvPr/>
        </p:nvPicPr>
        <p:blipFill rotWithShape="1">
          <a:blip r:embed="rId3">
            <a:alphaModFix/>
          </a:blip>
          <a:srcRect b="20608" l="17087" r="60764" t="63829"/>
          <a:stretch/>
        </p:blipFill>
        <p:spPr>
          <a:xfrm>
            <a:off x="6543752" y="4708317"/>
            <a:ext cx="2214554" cy="875283"/>
          </a:xfrm>
          <a:prstGeom prst="rect">
            <a:avLst/>
          </a:prstGeom>
          <a:noFill/>
          <a:ln cap="flat" cmpd="sng" w="9525">
            <a:solidFill>
              <a:schemeClr val="dk1"/>
            </a:solidFill>
            <a:prstDash val="solid"/>
            <a:round/>
            <a:headEnd len="sm" w="sm" type="none"/>
            <a:tailEnd len="sm" w="sm" type="none"/>
          </a:ln>
        </p:spPr>
      </p:pic>
      <p:pic>
        <p:nvPicPr>
          <p:cNvPr id="539" name="Google Shape;539;g2bb8c1dba0d_0_820"/>
          <p:cNvPicPr preferRelativeResize="0"/>
          <p:nvPr/>
        </p:nvPicPr>
        <p:blipFill rotWithShape="1">
          <a:blip r:embed="rId3">
            <a:alphaModFix/>
          </a:blip>
          <a:srcRect b="20608" l="18808" r="59043" t="63829"/>
          <a:stretch/>
        </p:blipFill>
        <p:spPr>
          <a:xfrm>
            <a:off x="6543752" y="5775317"/>
            <a:ext cx="2214554" cy="875283"/>
          </a:xfrm>
          <a:prstGeom prst="rect">
            <a:avLst/>
          </a:prstGeom>
          <a:noFill/>
          <a:ln cap="flat" cmpd="sng" w="9525">
            <a:solidFill>
              <a:schemeClr val="dk1"/>
            </a:solidFill>
            <a:prstDash val="solid"/>
            <a:round/>
            <a:headEnd len="sm" w="sm" type="none"/>
            <a:tailEnd len="sm" w="sm" type="none"/>
          </a:ln>
        </p:spPr>
      </p:pic>
      <p:pic>
        <p:nvPicPr>
          <p:cNvPr id="540" name="Google Shape;540;g2bb8c1dba0d_0_820"/>
          <p:cNvPicPr preferRelativeResize="0"/>
          <p:nvPr/>
        </p:nvPicPr>
        <p:blipFill rotWithShape="1">
          <a:blip r:embed="rId3">
            <a:alphaModFix/>
          </a:blip>
          <a:srcRect b="20608" l="26415" r="51436" t="63829"/>
          <a:stretch/>
        </p:blipFill>
        <p:spPr>
          <a:xfrm>
            <a:off x="8897383" y="2661015"/>
            <a:ext cx="2214554" cy="875283"/>
          </a:xfrm>
          <a:prstGeom prst="rect">
            <a:avLst/>
          </a:prstGeom>
          <a:noFill/>
          <a:ln cap="flat" cmpd="sng" w="9525">
            <a:solidFill>
              <a:schemeClr val="dk1"/>
            </a:solidFill>
            <a:prstDash val="solid"/>
            <a:round/>
            <a:headEnd len="sm" w="sm" type="none"/>
            <a:tailEnd len="sm" w="sm" type="none"/>
          </a:ln>
        </p:spPr>
      </p:pic>
      <p:pic>
        <p:nvPicPr>
          <p:cNvPr id="541" name="Google Shape;541;g2bb8c1dba0d_0_820"/>
          <p:cNvPicPr preferRelativeResize="0"/>
          <p:nvPr/>
        </p:nvPicPr>
        <p:blipFill rotWithShape="1">
          <a:blip r:embed="rId3">
            <a:alphaModFix/>
          </a:blip>
          <a:srcRect b="16385" l="29193" r="48659" t="68052"/>
          <a:stretch/>
        </p:blipFill>
        <p:spPr>
          <a:xfrm>
            <a:off x="8897381" y="3672513"/>
            <a:ext cx="2214554" cy="875283"/>
          </a:xfrm>
          <a:prstGeom prst="rect">
            <a:avLst/>
          </a:prstGeom>
          <a:noFill/>
          <a:ln cap="flat" cmpd="sng" w="9525">
            <a:solidFill>
              <a:schemeClr val="dk1"/>
            </a:solidFill>
            <a:prstDash val="solid"/>
            <a:round/>
            <a:headEnd len="sm" w="sm" type="none"/>
            <a:tailEnd len="sm" w="sm" type="none"/>
          </a:ln>
        </p:spPr>
      </p:pic>
      <p:pic>
        <p:nvPicPr>
          <p:cNvPr id="542" name="Google Shape;542;g2bb8c1dba0d_0_820"/>
          <p:cNvPicPr preferRelativeResize="0"/>
          <p:nvPr/>
        </p:nvPicPr>
        <p:blipFill rotWithShape="1">
          <a:blip r:embed="rId3">
            <a:alphaModFix/>
          </a:blip>
          <a:srcRect b="16385" l="33354" r="44497" t="68052"/>
          <a:stretch/>
        </p:blipFill>
        <p:spPr>
          <a:xfrm>
            <a:off x="8897380" y="4708316"/>
            <a:ext cx="2214554" cy="875283"/>
          </a:xfrm>
          <a:prstGeom prst="rect">
            <a:avLst/>
          </a:prstGeom>
          <a:noFill/>
          <a:ln cap="flat" cmpd="sng" w="9525">
            <a:solidFill>
              <a:schemeClr val="dk1"/>
            </a:solidFill>
            <a:prstDash val="solid"/>
            <a:round/>
            <a:headEnd len="sm" w="sm" type="none"/>
            <a:tailEnd len="sm" w="sm" type="none"/>
          </a:ln>
        </p:spPr>
      </p:pic>
      <p:pic>
        <p:nvPicPr>
          <p:cNvPr id="543" name="Google Shape;543;g2bb8c1dba0d_0_820"/>
          <p:cNvPicPr preferRelativeResize="0"/>
          <p:nvPr/>
        </p:nvPicPr>
        <p:blipFill rotWithShape="1">
          <a:blip r:embed="rId3">
            <a:alphaModFix/>
          </a:blip>
          <a:srcRect b="12655" l="36797" r="41055" t="71781"/>
          <a:stretch/>
        </p:blipFill>
        <p:spPr>
          <a:xfrm>
            <a:off x="8897380" y="5772927"/>
            <a:ext cx="2214554" cy="875283"/>
          </a:xfrm>
          <a:prstGeom prst="rect">
            <a:avLst/>
          </a:prstGeom>
          <a:noFill/>
          <a:ln cap="flat" cmpd="sng" w="9525">
            <a:solidFill>
              <a:schemeClr val="dk1"/>
            </a:solidFill>
            <a:prstDash val="solid"/>
            <a:round/>
            <a:headEnd len="sm" w="sm" type="none"/>
            <a:tailEnd len="sm" w="sm" type="none"/>
          </a:ln>
        </p:spPr>
      </p:pic>
      <p:sp>
        <p:nvSpPr>
          <p:cNvPr id="544" name="Google Shape;544;g2bb8c1dba0d_0_820"/>
          <p:cNvSpPr txBox="1"/>
          <p:nvPr/>
        </p:nvSpPr>
        <p:spPr>
          <a:xfrm>
            <a:off x="940989" y="1535981"/>
            <a:ext cx="10170900" cy="954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Do I need to spend a lot of time filtering all the boxes covering grass?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g2bb8c1dba0d_0_837"/>
          <p:cNvSpPr txBox="1"/>
          <p:nvPr>
            <p:ph type="title"/>
          </p:nvPr>
        </p:nvSpPr>
        <p:spPr>
          <a:xfrm>
            <a:off x="1117600" y="365125"/>
            <a:ext cx="97449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Region Proposals</a:t>
            </a:r>
            <a:endParaRPr/>
          </a:p>
        </p:txBody>
      </p:sp>
      <p:sp>
        <p:nvSpPr>
          <p:cNvPr id="550" name="Google Shape;550;g2bb8c1dba0d_0_837"/>
          <p:cNvSpPr txBox="1"/>
          <p:nvPr>
            <p:ph idx="1" type="body"/>
          </p:nvPr>
        </p:nvSpPr>
        <p:spPr>
          <a:xfrm>
            <a:off x="406400" y="3878804"/>
            <a:ext cx="11582400" cy="2895600"/>
          </a:xfrm>
          <a:prstGeom prst="rect">
            <a:avLst/>
          </a:prstGeom>
          <a:noFill/>
          <a:ln>
            <a:noFill/>
          </a:ln>
        </p:spPr>
        <p:txBody>
          <a:bodyPr anchorCtr="0" anchor="t" bIns="45700" lIns="91425" spcFirstLastPara="1" rIns="91425" wrap="square" tIns="45700">
            <a:normAutofit/>
          </a:bodyPr>
          <a:lstStyle/>
          <a:p>
            <a:pPr indent="-457200" lvl="0" marL="457200" rtl="0" algn="l">
              <a:lnSpc>
                <a:spcPct val="90000"/>
              </a:lnSpc>
              <a:spcBef>
                <a:spcPts val="0"/>
              </a:spcBef>
              <a:spcAft>
                <a:spcPts val="0"/>
              </a:spcAft>
              <a:buClr>
                <a:schemeClr val="dk1"/>
              </a:buClr>
              <a:buSzPts val="2800"/>
              <a:buFont typeface="Arial"/>
              <a:buChar char="•"/>
            </a:pPr>
            <a:r>
              <a:rPr lang="en-US"/>
              <a:t>As an alternative to sliding window search, evaluate a few hundred </a:t>
            </a:r>
            <a:r>
              <a:rPr i="1" lang="en-US"/>
              <a:t>region proposals</a:t>
            </a:r>
            <a:endParaRPr/>
          </a:p>
          <a:p>
            <a:pPr indent="-457200" lvl="1" marL="857250" rtl="0" algn="l">
              <a:lnSpc>
                <a:spcPct val="90000"/>
              </a:lnSpc>
              <a:spcBef>
                <a:spcPts val="500"/>
              </a:spcBef>
              <a:spcAft>
                <a:spcPts val="0"/>
              </a:spcAft>
              <a:buClr>
                <a:schemeClr val="dk1"/>
              </a:buClr>
              <a:buSzPts val="2400"/>
              <a:buFont typeface="Arial"/>
              <a:buChar char="•"/>
            </a:pPr>
            <a:r>
              <a:rPr lang="en-US"/>
              <a:t>Can use slower but more powerful features and classifiers</a:t>
            </a:r>
            <a:endParaRPr/>
          </a:p>
          <a:p>
            <a:pPr indent="-457200" lvl="1" marL="857250" rtl="0" algn="l">
              <a:lnSpc>
                <a:spcPct val="90000"/>
              </a:lnSpc>
              <a:spcBef>
                <a:spcPts val="500"/>
              </a:spcBef>
              <a:spcAft>
                <a:spcPts val="0"/>
              </a:spcAft>
              <a:buClr>
                <a:schemeClr val="dk1"/>
              </a:buClr>
              <a:buSzPts val="2400"/>
              <a:buFont typeface="Arial"/>
              <a:buChar char="•"/>
            </a:pPr>
            <a:r>
              <a:rPr lang="en-US"/>
              <a:t>Proposal mechanism can be category-independent</a:t>
            </a:r>
            <a:endParaRPr/>
          </a:p>
          <a:p>
            <a:pPr indent="-457200" lvl="1" marL="857250" rtl="0" algn="l">
              <a:lnSpc>
                <a:spcPct val="90000"/>
              </a:lnSpc>
              <a:spcBef>
                <a:spcPts val="500"/>
              </a:spcBef>
              <a:spcAft>
                <a:spcPts val="0"/>
              </a:spcAft>
              <a:buClr>
                <a:schemeClr val="dk1"/>
              </a:buClr>
              <a:buSzPts val="2400"/>
              <a:buFont typeface="Arial"/>
              <a:buChar char="•"/>
            </a:pPr>
            <a:r>
              <a:rPr lang="en-US"/>
              <a:t>Proposal mechanism can be trained</a:t>
            </a:r>
            <a:endParaRPr/>
          </a:p>
          <a:p>
            <a:pPr indent="-50800" lvl="0" marL="228600" rtl="0" algn="l">
              <a:lnSpc>
                <a:spcPct val="90000"/>
              </a:lnSpc>
              <a:spcBef>
                <a:spcPts val="1000"/>
              </a:spcBef>
              <a:spcAft>
                <a:spcPts val="0"/>
              </a:spcAft>
              <a:buClr>
                <a:schemeClr val="dk1"/>
              </a:buClr>
              <a:buSzPts val="2800"/>
              <a:buNone/>
            </a:pPr>
            <a:r>
              <a:t/>
            </a:r>
            <a:endParaRPr/>
          </a:p>
        </p:txBody>
      </p:sp>
      <p:pic>
        <p:nvPicPr>
          <p:cNvPr descr="Screen Shot 2016-04-20 at 1.57.53 PM.png" id="551" name="Google Shape;551;g2bb8c1dba0d_0_837"/>
          <p:cNvPicPr preferRelativeResize="0"/>
          <p:nvPr/>
        </p:nvPicPr>
        <p:blipFill rotWithShape="1">
          <a:blip r:embed="rId3">
            <a:alphaModFix/>
          </a:blip>
          <a:srcRect b="0" l="0" r="0" t="0"/>
          <a:stretch/>
        </p:blipFill>
        <p:spPr>
          <a:xfrm>
            <a:off x="554183" y="1421822"/>
            <a:ext cx="8312727" cy="2337955"/>
          </a:xfrm>
          <a:prstGeom prst="rect">
            <a:avLst/>
          </a:prstGeom>
          <a:noFill/>
          <a:ln>
            <a:noFill/>
          </a:ln>
        </p:spPr>
      </p:pic>
      <p:sp>
        <p:nvSpPr>
          <p:cNvPr id="552" name="Google Shape;552;g2bb8c1dba0d_0_837"/>
          <p:cNvSpPr txBox="1"/>
          <p:nvPr/>
        </p:nvSpPr>
        <p:spPr>
          <a:xfrm>
            <a:off x="476539" y="6429539"/>
            <a:ext cx="107469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Slide Credit: S. Lazebnik</a:t>
            </a:r>
            <a:endParaRPr b="0" i="0" sz="12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0">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g33253b389c9_0_178"/>
          <p:cNvSpPr txBox="1"/>
          <p:nvPr>
            <p:ph type="title"/>
          </p:nvPr>
        </p:nvSpPr>
        <p:spPr>
          <a:xfrm>
            <a:off x="838200" y="365126"/>
            <a:ext cx="10515600" cy="1325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Segmentation to do selective search </a:t>
            </a:r>
            <a:endParaRPr/>
          </a:p>
        </p:txBody>
      </p:sp>
      <p:sp>
        <p:nvSpPr>
          <p:cNvPr id="559" name="Google Shape;559;g33253b389c9_0_178"/>
          <p:cNvSpPr txBox="1"/>
          <p:nvPr>
            <p:ph idx="12" type="sldNum"/>
          </p:nvPr>
        </p:nvSpPr>
        <p:spPr>
          <a:xfrm>
            <a:off x="8610600" y="6356351"/>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560" name="Google Shape;560;g33253b389c9_0_178"/>
          <p:cNvPicPr preferRelativeResize="0"/>
          <p:nvPr/>
        </p:nvPicPr>
        <p:blipFill>
          <a:blip r:embed="rId3">
            <a:alphaModFix/>
          </a:blip>
          <a:stretch>
            <a:fillRect/>
          </a:stretch>
        </p:blipFill>
        <p:spPr>
          <a:xfrm>
            <a:off x="1660500" y="1338688"/>
            <a:ext cx="8001000" cy="51530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g2bb8c1dba0d_0_845"/>
          <p:cNvSpPr/>
          <p:nvPr/>
        </p:nvSpPr>
        <p:spPr>
          <a:xfrm>
            <a:off x="3910993" y="3862905"/>
            <a:ext cx="1039200" cy="246000"/>
          </a:xfrm>
          <a:prstGeom prst="parallelogram">
            <a:avLst>
              <a:gd fmla="val 92429" name="adj"/>
            </a:avLst>
          </a:prstGeom>
          <a:solidFill>
            <a:schemeClr val="lt1">
              <a:alpha val="60000"/>
            </a:schemeClr>
          </a:solid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67" name="Google Shape;567;g2bb8c1dba0d_0_845"/>
          <p:cNvSpPr txBox="1"/>
          <p:nvPr>
            <p:ph type="title"/>
          </p:nvPr>
        </p:nvSpPr>
        <p:spPr>
          <a:xfrm>
            <a:off x="609600" y="0"/>
            <a:ext cx="11175900" cy="838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R-CNN: Region proposals + CNN features</a:t>
            </a:r>
            <a:endParaRPr/>
          </a:p>
        </p:txBody>
      </p:sp>
      <p:sp>
        <p:nvSpPr>
          <p:cNvPr id="568" name="Google Shape;568;g2bb8c1dba0d_0_845"/>
          <p:cNvSpPr/>
          <p:nvPr/>
        </p:nvSpPr>
        <p:spPr>
          <a:xfrm>
            <a:off x="1587976" y="4484153"/>
            <a:ext cx="6327600" cy="1570200"/>
          </a:xfrm>
          <a:prstGeom prst="parallelogram">
            <a:avLst>
              <a:gd fmla="val 92429" name="adj"/>
            </a:avLst>
          </a:prstGeom>
          <a:blipFill rotWithShape="1">
            <a:blip r:embed="rId3">
              <a:alphaModFix/>
            </a:blip>
            <a:stretch>
              <a:fillRect b="0" l="0" r="0" t="0"/>
            </a:stretch>
          </a:blip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569" name="Google Shape;569;g2bb8c1dba0d_0_845"/>
          <p:cNvSpPr txBox="1"/>
          <p:nvPr/>
        </p:nvSpPr>
        <p:spPr>
          <a:xfrm>
            <a:off x="6807200" y="5382595"/>
            <a:ext cx="16761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Input image</a:t>
            </a:r>
            <a:endParaRPr b="0" i="0" sz="1400" u="none" cap="none" strike="noStrike">
              <a:solidFill>
                <a:srgbClr val="000000"/>
              </a:solidFill>
              <a:latin typeface="Arial"/>
              <a:ea typeface="Arial"/>
              <a:cs typeface="Arial"/>
              <a:sym typeface="Arial"/>
            </a:endParaRPr>
          </a:p>
        </p:txBody>
      </p:sp>
      <p:sp>
        <p:nvSpPr>
          <p:cNvPr id="570" name="Google Shape;570;g2bb8c1dba0d_0_845"/>
          <p:cNvSpPr/>
          <p:nvPr/>
        </p:nvSpPr>
        <p:spPr>
          <a:xfrm>
            <a:off x="2782363" y="4568147"/>
            <a:ext cx="3200400" cy="1006200"/>
          </a:xfrm>
          <a:prstGeom prst="parallelogram">
            <a:avLst>
              <a:gd fmla="val 92429" name="adj"/>
            </a:avLst>
          </a:prstGeom>
          <a:solidFill>
            <a:schemeClr val="lt1">
              <a:alpha val="60000"/>
            </a:schemeClr>
          </a:solid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71" name="Google Shape;571;g2bb8c1dba0d_0_845"/>
          <p:cNvSpPr/>
          <p:nvPr/>
        </p:nvSpPr>
        <p:spPr>
          <a:xfrm>
            <a:off x="5982876" y="4586645"/>
            <a:ext cx="1533900" cy="415200"/>
          </a:xfrm>
          <a:prstGeom prst="parallelogram">
            <a:avLst>
              <a:gd fmla="val 92429" name="adj"/>
            </a:avLst>
          </a:prstGeom>
          <a:solidFill>
            <a:schemeClr val="lt1">
              <a:alpha val="60000"/>
            </a:schemeClr>
          </a:solid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72" name="Google Shape;572;g2bb8c1dba0d_0_845"/>
          <p:cNvSpPr/>
          <p:nvPr/>
        </p:nvSpPr>
        <p:spPr>
          <a:xfrm>
            <a:off x="1678409" y="5388278"/>
            <a:ext cx="1488900" cy="645900"/>
          </a:xfrm>
          <a:prstGeom prst="parallelogram">
            <a:avLst>
              <a:gd fmla="val 92429" name="adj"/>
            </a:avLst>
          </a:prstGeom>
          <a:solidFill>
            <a:schemeClr val="lt1">
              <a:alpha val="60000"/>
            </a:schemeClr>
          </a:solid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73" name="Google Shape;573;g2bb8c1dba0d_0_845"/>
          <p:cNvSpPr/>
          <p:nvPr/>
        </p:nvSpPr>
        <p:spPr>
          <a:xfrm>
            <a:off x="3825116" y="2033880"/>
            <a:ext cx="1843200" cy="1657800"/>
          </a:xfrm>
          <a:prstGeom prst="cube">
            <a:avLst>
              <a:gd fmla="val 25000" name="adj"/>
            </a:avLst>
          </a:prstGeom>
          <a:solidFill>
            <a:schemeClr val="lt1">
              <a:alpha val="60000"/>
            </a:schemeClr>
          </a:solid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ConvNet</a:t>
            </a:r>
            <a:endParaRPr b="0" i="0" sz="1600" u="none" cap="none" strike="noStrike">
              <a:solidFill>
                <a:srgbClr val="000000"/>
              </a:solidFill>
              <a:latin typeface="Arial"/>
              <a:ea typeface="Arial"/>
              <a:cs typeface="Arial"/>
              <a:sym typeface="Arial"/>
            </a:endParaRPr>
          </a:p>
        </p:txBody>
      </p:sp>
      <p:sp>
        <p:nvSpPr>
          <p:cNvPr id="574" name="Google Shape;574;g2bb8c1dba0d_0_845"/>
          <p:cNvSpPr/>
          <p:nvPr/>
        </p:nvSpPr>
        <p:spPr>
          <a:xfrm>
            <a:off x="6007941" y="1664046"/>
            <a:ext cx="1843200" cy="1657800"/>
          </a:xfrm>
          <a:prstGeom prst="cube">
            <a:avLst>
              <a:gd fmla="val 25000" name="adj"/>
            </a:avLst>
          </a:prstGeom>
          <a:solidFill>
            <a:schemeClr val="lt1">
              <a:alpha val="60000"/>
            </a:schemeClr>
          </a:solid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ConvNet</a:t>
            </a:r>
            <a:endParaRPr b="0" i="0" sz="1600" u="none" cap="none" strike="noStrike">
              <a:solidFill>
                <a:srgbClr val="000000"/>
              </a:solidFill>
              <a:latin typeface="Arial"/>
              <a:ea typeface="Arial"/>
              <a:cs typeface="Arial"/>
              <a:sym typeface="Arial"/>
            </a:endParaRPr>
          </a:p>
        </p:txBody>
      </p:sp>
      <p:sp>
        <p:nvSpPr>
          <p:cNvPr id="575" name="Google Shape;575;g2bb8c1dba0d_0_845"/>
          <p:cNvSpPr/>
          <p:nvPr/>
        </p:nvSpPr>
        <p:spPr>
          <a:xfrm>
            <a:off x="1809677" y="2547529"/>
            <a:ext cx="1843200" cy="1657800"/>
          </a:xfrm>
          <a:prstGeom prst="cube">
            <a:avLst>
              <a:gd fmla="val 25000" name="adj"/>
            </a:avLst>
          </a:prstGeom>
          <a:solidFill>
            <a:schemeClr val="lt1">
              <a:alpha val="60000"/>
            </a:schemeClr>
          </a:solid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ConvNet</a:t>
            </a:r>
            <a:endParaRPr b="0" i="0" sz="1600" u="none" cap="none" strike="noStrike">
              <a:solidFill>
                <a:srgbClr val="000000"/>
              </a:solidFill>
              <a:latin typeface="Arial"/>
              <a:ea typeface="Arial"/>
              <a:cs typeface="Arial"/>
              <a:sym typeface="Arial"/>
            </a:endParaRPr>
          </a:p>
        </p:txBody>
      </p:sp>
      <p:sp>
        <p:nvSpPr>
          <p:cNvPr id="576" name="Google Shape;576;g2bb8c1dba0d_0_845"/>
          <p:cNvSpPr/>
          <p:nvPr/>
        </p:nvSpPr>
        <p:spPr>
          <a:xfrm>
            <a:off x="6284511" y="3550517"/>
            <a:ext cx="1039200" cy="246000"/>
          </a:xfrm>
          <a:prstGeom prst="parallelogram">
            <a:avLst>
              <a:gd fmla="val 92429" name="adj"/>
            </a:avLst>
          </a:prstGeom>
          <a:solidFill>
            <a:schemeClr val="lt1">
              <a:alpha val="60000"/>
            </a:schemeClr>
          </a:solid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77" name="Google Shape;577;g2bb8c1dba0d_0_845"/>
          <p:cNvSpPr/>
          <p:nvPr/>
        </p:nvSpPr>
        <p:spPr>
          <a:xfrm>
            <a:off x="2115595" y="4451267"/>
            <a:ext cx="1039200" cy="246000"/>
          </a:xfrm>
          <a:prstGeom prst="parallelogram">
            <a:avLst>
              <a:gd fmla="val 92429" name="adj"/>
            </a:avLst>
          </a:prstGeom>
          <a:solidFill>
            <a:schemeClr val="lt1">
              <a:alpha val="60000"/>
            </a:schemeClr>
          </a:solid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78" name="Google Shape;578;g2bb8c1dba0d_0_845"/>
          <p:cNvSpPr txBox="1"/>
          <p:nvPr/>
        </p:nvSpPr>
        <p:spPr>
          <a:xfrm>
            <a:off x="2190731" y="2033880"/>
            <a:ext cx="975900" cy="338700"/>
          </a:xfrm>
          <a:prstGeom prst="rect">
            <a:avLst/>
          </a:prstGeom>
          <a:noFill/>
          <a:ln cap="flat" cmpd="sng" w="1905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SVMs</a:t>
            </a:r>
            <a:endParaRPr b="0" i="0" sz="1600" u="none" cap="none" strike="noStrike">
              <a:solidFill>
                <a:schemeClr val="dk1"/>
              </a:solidFill>
              <a:latin typeface="Arial"/>
              <a:ea typeface="Arial"/>
              <a:cs typeface="Arial"/>
              <a:sym typeface="Arial"/>
            </a:endParaRPr>
          </a:p>
        </p:txBody>
      </p:sp>
      <p:sp>
        <p:nvSpPr>
          <p:cNvPr id="579" name="Google Shape;579;g2bb8c1dba0d_0_845"/>
          <p:cNvSpPr/>
          <p:nvPr/>
        </p:nvSpPr>
        <p:spPr>
          <a:xfrm>
            <a:off x="2500812" y="2431709"/>
            <a:ext cx="323100" cy="301800"/>
          </a:xfrm>
          <a:prstGeom prst="upArrow">
            <a:avLst>
              <a:gd fmla="val 50000" name="adj1"/>
              <a:gd fmla="val 50000" name="adj2"/>
            </a:avLst>
          </a:prstGeom>
          <a:solidFill>
            <a:schemeClr val="accent1"/>
          </a:solid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580" name="Google Shape;580;g2bb8c1dba0d_0_845"/>
          <p:cNvSpPr txBox="1"/>
          <p:nvPr/>
        </p:nvSpPr>
        <p:spPr>
          <a:xfrm>
            <a:off x="4197067" y="1544619"/>
            <a:ext cx="975900" cy="338700"/>
          </a:xfrm>
          <a:prstGeom prst="rect">
            <a:avLst/>
          </a:prstGeom>
          <a:noFill/>
          <a:ln cap="flat" cmpd="sng" w="1905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SVMs</a:t>
            </a:r>
            <a:endParaRPr b="0" i="0" sz="1600" u="none" cap="none" strike="noStrike">
              <a:solidFill>
                <a:schemeClr val="dk1"/>
              </a:solidFill>
              <a:latin typeface="Arial"/>
              <a:ea typeface="Arial"/>
              <a:cs typeface="Arial"/>
              <a:sym typeface="Arial"/>
            </a:endParaRPr>
          </a:p>
        </p:txBody>
      </p:sp>
      <p:sp>
        <p:nvSpPr>
          <p:cNvPr id="581" name="Google Shape;581;g2bb8c1dba0d_0_845"/>
          <p:cNvSpPr/>
          <p:nvPr/>
        </p:nvSpPr>
        <p:spPr>
          <a:xfrm>
            <a:off x="4507148" y="1942448"/>
            <a:ext cx="323100" cy="301800"/>
          </a:xfrm>
          <a:prstGeom prst="upArrow">
            <a:avLst>
              <a:gd fmla="val 50000" name="adj1"/>
              <a:gd fmla="val 50000" name="adj2"/>
            </a:avLst>
          </a:prstGeom>
          <a:solidFill>
            <a:schemeClr val="accent1"/>
          </a:solid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582" name="Google Shape;582;g2bb8c1dba0d_0_845"/>
          <p:cNvSpPr txBox="1"/>
          <p:nvPr/>
        </p:nvSpPr>
        <p:spPr>
          <a:xfrm>
            <a:off x="6615115" y="1174785"/>
            <a:ext cx="975900" cy="338700"/>
          </a:xfrm>
          <a:prstGeom prst="rect">
            <a:avLst/>
          </a:prstGeom>
          <a:noFill/>
          <a:ln cap="flat" cmpd="sng" w="1905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SVMs</a:t>
            </a:r>
            <a:endParaRPr b="0" i="0" sz="1600" u="none" cap="none" strike="noStrike">
              <a:solidFill>
                <a:schemeClr val="dk1"/>
              </a:solidFill>
              <a:latin typeface="Arial"/>
              <a:ea typeface="Arial"/>
              <a:cs typeface="Arial"/>
              <a:sym typeface="Arial"/>
            </a:endParaRPr>
          </a:p>
        </p:txBody>
      </p:sp>
      <p:sp>
        <p:nvSpPr>
          <p:cNvPr id="583" name="Google Shape;583;g2bb8c1dba0d_0_845"/>
          <p:cNvSpPr/>
          <p:nvPr/>
        </p:nvSpPr>
        <p:spPr>
          <a:xfrm>
            <a:off x="6925196" y="1572614"/>
            <a:ext cx="323100" cy="301800"/>
          </a:xfrm>
          <a:prstGeom prst="upArrow">
            <a:avLst>
              <a:gd fmla="val 50000" name="adj1"/>
              <a:gd fmla="val 50000" name="adj2"/>
            </a:avLst>
          </a:prstGeom>
          <a:solidFill>
            <a:schemeClr val="accent1"/>
          </a:solid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584" name="Google Shape;584;g2bb8c1dba0d_0_845"/>
          <p:cNvSpPr/>
          <p:nvPr/>
        </p:nvSpPr>
        <p:spPr>
          <a:xfrm>
            <a:off x="2379267" y="4730209"/>
            <a:ext cx="323100" cy="994500"/>
          </a:xfrm>
          <a:prstGeom prst="upArrow">
            <a:avLst>
              <a:gd fmla="val 50000" name="adj1"/>
              <a:gd fmla="val 50000" name="adj2"/>
            </a:avLst>
          </a:prstGeom>
          <a:solidFill>
            <a:schemeClr val="accent1"/>
          </a:solid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585" name="Google Shape;585;g2bb8c1dba0d_0_845"/>
          <p:cNvSpPr/>
          <p:nvPr/>
        </p:nvSpPr>
        <p:spPr>
          <a:xfrm>
            <a:off x="2380031" y="4231203"/>
            <a:ext cx="323100" cy="301800"/>
          </a:xfrm>
          <a:prstGeom prst="upArrow">
            <a:avLst>
              <a:gd fmla="val 50000" name="adj1"/>
              <a:gd fmla="val 50000" name="adj2"/>
            </a:avLst>
          </a:prstGeom>
          <a:solidFill>
            <a:schemeClr val="accent1"/>
          </a:solid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586" name="Google Shape;586;g2bb8c1dba0d_0_845"/>
          <p:cNvSpPr/>
          <p:nvPr/>
        </p:nvSpPr>
        <p:spPr>
          <a:xfrm>
            <a:off x="4269072" y="4177924"/>
            <a:ext cx="323100" cy="994500"/>
          </a:xfrm>
          <a:prstGeom prst="upArrow">
            <a:avLst>
              <a:gd fmla="val 50000" name="adj1"/>
              <a:gd fmla="val 50000" name="adj2"/>
            </a:avLst>
          </a:prstGeom>
          <a:solidFill>
            <a:schemeClr val="accent1"/>
          </a:solid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587" name="Google Shape;587;g2bb8c1dba0d_0_845"/>
          <p:cNvSpPr/>
          <p:nvPr/>
        </p:nvSpPr>
        <p:spPr>
          <a:xfrm>
            <a:off x="4269072" y="3714470"/>
            <a:ext cx="323100" cy="301800"/>
          </a:xfrm>
          <a:prstGeom prst="upArrow">
            <a:avLst>
              <a:gd fmla="val 50000" name="adj1"/>
              <a:gd fmla="val 50000" name="adj2"/>
            </a:avLst>
          </a:prstGeom>
          <a:solidFill>
            <a:schemeClr val="accent1"/>
          </a:solid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588" name="Google Shape;588;g2bb8c1dba0d_0_845"/>
          <p:cNvSpPr/>
          <p:nvPr/>
        </p:nvSpPr>
        <p:spPr>
          <a:xfrm>
            <a:off x="6593943" y="3833796"/>
            <a:ext cx="323100" cy="994500"/>
          </a:xfrm>
          <a:prstGeom prst="upArrow">
            <a:avLst>
              <a:gd fmla="val 50000" name="adj1"/>
              <a:gd fmla="val 50000" name="adj2"/>
            </a:avLst>
          </a:prstGeom>
          <a:solidFill>
            <a:schemeClr val="accent1"/>
          </a:solid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589" name="Google Shape;589;g2bb8c1dba0d_0_845"/>
          <p:cNvSpPr/>
          <p:nvPr/>
        </p:nvSpPr>
        <p:spPr>
          <a:xfrm>
            <a:off x="6593943" y="3357742"/>
            <a:ext cx="323100" cy="301800"/>
          </a:xfrm>
          <a:prstGeom prst="upArrow">
            <a:avLst>
              <a:gd fmla="val 50000" name="adj1"/>
              <a:gd fmla="val 50000" name="adj2"/>
            </a:avLst>
          </a:prstGeom>
          <a:solidFill>
            <a:schemeClr val="accent1"/>
          </a:solid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cxnSp>
        <p:nvCxnSpPr>
          <p:cNvPr id="590" name="Google Shape;590;g2bb8c1dba0d_0_845"/>
          <p:cNvCxnSpPr/>
          <p:nvPr/>
        </p:nvCxnSpPr>
        <p:spPr>
          <a:xfrm rot="10800000">
            <a:off x="6960120" y="4730209"/>
            <a:ext cx="1214400" cy="0"/>
          </a:xfrm>
          <a:prstGeom prst="straightConnector1">
            <a:avLst/>
          </a:prstGeom>
          <a:noFill/>
          <a:ln cap="flat" cmpd="sng" w="19050">
            <a:solidFill>
              <a:schemeClr val="accent5"/>
            </a:solidFill>
            <a:prstDash val="solid"/>
            <a:miter lim="800000"/>
            <a:headEnd len="sm" w="sm" type="none"/>
            <a:tailEnd len="med" w="med" type="triangle"/>
          </a:ln>
        </p:spPr>
      </p:cxnSp>
      <p:sp>
        <p:nvSpPr>
          <p:cNvPr id="591" name="Google Shape;591;g2bb8c1dba0d_0_845"/>
          <p:cNvSpPr txBox="1"/>
          <p:nvPr/>
        </p:nvSpPr>
        <p:spPr>
          <a:xfrm>
            <a:off x="7312137" y="3526204"/>
            <a:ext cx="36732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Warped image regions</a:t>
            </a:r>
            <a:endParaRPr b="0" i="0" sz="1600" u="none" cap="none" strike="noStrike">
              <a:solidFill>
                <a:schemeClr val="dk1"/>
              </a:solidFill>
              <a:latin typeface="Arial"/>
              <a:ea typeface="Arial"/>
              <a:cs typeface="Arial"/>
              <a:sym typeface="Arial"/>
            </a:endParaRPr>
          </a:p>
        </p:txBody>
      </p:sp>
      <p:sp>
        <p:nvSpPr>
          <p:cNvPr id="592" name="Google Shape;592;g2bb8c1dba0d_0_845"/>
          <p:cNvSpPr txBox="1"/>
          <p:nvPr/>
        </p:nvSpPr>
        <p:spPr>
          <a:xfrm>
            <a:off x="7851259" y="2133965"/>
            <a:ext cx="29832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Forward each region through ConvNet</a:t>
            </a:r>
            <a:endParaRPr b="0" i="0" sz="1600" u="none" cap="none" strike="noStrike">
              <a:solidFill>
                <a:schemeClr val="dk1"/>
              </a:solidFill>
              <a:latin typeface="Arial"/>
              <a:ea typeface="Arial"/>
              <a:cs typeface="Arial"/>
              <a:sym typeface="Arial"/>
            </a:endParaRPr>
          </a:p>
        </p:txBody>
      </p:sp>
      <p:sp>
        <p:nvSpPr>
          <p:cNvPr id="593" name="Google Shape;593;g2bb8c1dba0d_0_845"/>
          <p:cNvSpPr txBox="1"/>
          <p:nvPr/>
        </p:nvSpPr>
        <p:spPr>
          <a:xfrm>
            <a:off x="7915624" y="1143000"/>
            <a:ext cx="36216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Classify regions with SVMs</a:t>
            </a:r>
            <a:endParaRPr b="0" i="0" sz="1400" u="none" cap="none" strike="noStrike">
              <a:solidFill>
                <a:srgbClr val="000000"/>
              </a:solidFill>
              <a:latin typeface="Arial"/>
              <a:ea typeface="Arial"/>
              <a:cs typeface="Arial"/>
              <a:sym typeface="Arial"/>
            </a:endParaRPr>
          </a:p>
        </p:txBody>
      </p:sp>
      <p:cxnSp>
        <p:nvCxnSpPr>
          <p:cNvPr id="594" name="Google Shape;594;g2bb8c1dba0d_0_845"/>
          <p:cNvCxnSpPr/>
          <p:nvPr/>
        </p:nvCxnSpPr>
        <p:spPr>
          <a:xfrm flipH="1">
            <a:off x="4638123" y="4730209"/>
            <a:ext cx="3536400" cy="394200"/>
          </a:xfrm>
          <a:prstGeom prst="straightConnector1">
            <a:avLst/>
          </a:prstGeom>
          <a:noFill/>
          <a:ln cap="flat" cmpd="sng" w="19050">
            <a:solidFill>
              <a:schemeClr val="accent5"/>
            </a:solidFill>
            <a:prstDash val="solid"/>
            <a:miter lim="800000"/>
            <a:headEnd len="sm" w="sm" type="none"/>
            <a:tailEnd len="med" w="med" type="triangle"/>
          </a:ln>
        </p:spPr>
      </p:cxnSp>
      <p:cxnSp>
        <p:nvCxnSpPr>
          <p:cNvPr id="595" name="Google Shape;595;g2bb8c1dba0d_0_845"/>
          <p:cNvCxnSpPr/>
          <p:nvPr/>
        </p:nvCxnSpPr>
        <p:spPr>
          <a:xfrm flipH="1">
            <a:off x="2475969" y="4737988"/>
            <a:ext cx="5652900" cy="1068000"/>
          </a:xfrm>
          <a:prstGeom prst="straightConnector1">
            <a:avLst/>
          </a:prstGeom>
          <a:noFill/>
          <a:ln cap="flat" cmpd="sng" w="19050">
            <a:solidFill>
              <a:schemeClr val="accent5"/>
            </a:solidFill>
            <a:prstDash val="solid"/>
            <a:miter lim="800000"/>
            <a:headEnd len="sm" w="sm" type="none"/>
            <a:tailEnd len="med" w="med" type="triangle"/>
          </a:ln>
        </p:spPr>
      </p:cxnSp>
      <p:sp>
        <p:nvSpPr>
          <p:cNvPr id="596" name="Google Shape;596;g2bb8c1dba0d_0_845"/>
          <p:cNvSpPr txBox="1"/>
          <p:nvPr/>
        </p:nvSpPr>
        <p:spPr>
          <a:xfrm>
            <a:off x="8174520" y="4570518"/>
            <a:ext cx="33891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Region proposals</a:t>
            </a:r>
            <a:endParaRPr b="0" i="0" sz="1400" u="none" cap="none" strike="noStrike">
              <a:solidFill>
                <a:srgbClr val="000000"/>
              </a:solidFill>
              <a:latin typeface="Arial"/>
              <a:ea typeface="Arial"/>
              <a:cs typeface="Arial"/>
              <a:sym typeface="Arial"/>
            </a:endParaRPr>
          </a:p>
        </p:txBody>
      </p:sp>
      <p:sp>
        <p:nvSpPr>
          <p:cNvPr id="597" name="Google Shape;597;g2bb8c1dba0d_0_845"/>
          <p:cNvSpPr txBox="1"/>
          <p:nvPr/>
        </p:nvSpPr>
        <p:spPr>
          <a:xfrm>
            <a:off x="0" y="6258580"/>
            <a:ext cx="121920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R. Girshick, J. Donahue, T. Darrell, and J. Malik, </a:t>
            </a:r>
            <a:r>
              <a:rPr b="0" i="0" lang="en-US" sz="1400" u="sng" cap="none" strike="noStrike">
                <a:solidFill>
                  <a:schemeClr val="dk1"/>
                </a:solidFill>
                <a:latin typeface="Arial"/>
                <a:ea typeface="Arial"/>
                <a:cs typeface="Arial"/>
                <a:sym typeface="Arial"/>
                <a:hlinkClick r:id="rId4">
                  <a:extLst>
                    <a:ext uri="{A12FA001-AC4F-418D-AE19-62706E023703}">
                      <ahyp:hlinkClr val="tx"/>
                    </a:ext>
                  </a:extLst>
                </a:hlinkClick>
              </a:rPr>
              <a:t>Rich Feature Hierarchies for Accurate Object Detection and Semantic Segmentation</a:t>
            </a:r>
            <a:r>
              <a:rPr b="0" i="0" lang="en-US" sz="1400" u="none" cap="none" strike="noStrike">
                <a:solidFill>
                  <a:schemeClr val="dk1"/>
                </a:solidFill>
                <a:latin typeface="Arial"/>
                <a:ea typeface="Arial"/>
                <a:cs typeface="Arial"/>
                <a:sym typeface="Arial"/>
              </a:rPr>
              <a:t>, CVPR 2014. </a:t>
            </a:r>
            <a:endParaRPr b="0" i="0" sz="1400" u="none" cap="none" strike="noStrike">
              <a:solidFill>
                <a:srgbClr val="000000"/>
              </a:solidFill>
              <a:latin typeface="Arial"/>
              <a:ea typeface="Arial"/>
              <a:cs typeface="Arial"/>
              <a:sym typeface="Arial"/>
            </a:endParaRPr>
          </a:p>
        </p:txBody>
      </p:sp>
      <p:sp>
        <p:nvSpPr>
          <p:cNvPr id="598" name="Google Shape;598;g2bb8c1dba0d_0_845"/>
          <p:cNvSpPr txBox="1"/>
          <p:nvPr/>
        </p:nvSpPr>
        <p:spPr>
          <a:xfrm>
            <a:off x="817337" y="880646"/>
            <a:ext cx="23325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Source: R. Girshick</a:t>
            </a:r>
            <a:endParaRPr b="0" i="0" sz="14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g2bb8c1dba0d_0_2964"/>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pic>
        <p:nvPicPr>
          <p:cNvPr id="605" name="Google Shape;605;g2bb8c1dba0d_0_2964"/>
          <p:cNvPicPr preferRelativeResize="0"/>
          <p:nvPr/>
        </p:nvPicPr>
        <p:blipFill rotWithShape="1">
          <a:blip r:embed="rId3">
            <a:alphaModFix/>
          </a:blip>
          <a:srcRect b="0" l="0" r="0" t="0"/>
          <a:stretch/>
        </p:blipFill>
        <p:spPr>
          <a:xfrm>
            <a:off x="146575" y="1104612"/>
            <a:ext cx="11721849" cy="42549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g2bb8c1dba0d_0_882"/>
          <p:cNvSpPr txBox="1"/>
          <p:nvPr>
            <p:ph type="title"/>
          </p:nvPr>
        </p:nvSpPr>
        <p:spPr>
          <a:xfrm>
            <a:off x="1117600" y="365125"/>
            <a:ext cx="101652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R-CNN details</a:t>
            </a:r>
            <a:endParaRPr/>
          </a:p>
        </p:txBody>
      </p:sp>
      <p:sp>
        <p:nvSpPr>
          <p:cNvPr id="612" name="Google Shape;612;g2bb8c1dba0d_0_882"/>
          <p:cNvSpPr txBox="1"/>
          <p:nvPr>
            <p:ph idx="1" type="body"/>
          </p:nvPr>
        </p:nvSpPr>
        <p:spPr>
          <a:xfrm>
            <a:off x="304800" y="3201034"/>
            <a:ext cx="11480700" cy="3200400"/>
          </a:xfrm>
          <a:prstGeom prst="rect">
            <a:avLst/>
          </a:prstGeom>
          <a:noFill/>
          <a:ln>
            <a:noFill/>
          </a:ln>
        </p:spPr>
        <p:txBody>
          <a:bodyPr anchorCtr="0" anchor="t" bIns="45700" lIns="91425" spcFirstLastPara="1" rIns="91425" wrap="square" tIns="45700">
            <a:normAutofit lnSpcReduction="10000"/>
          </a:bodyPr>
          <a:lstStyle/>
          <a:p>
            <a:pPr indent="-457200" lvl="0" marL="457200" rtl="0" algn="l">
              <a:lnSpc>
                <a:spcPct val="90000"/>
              </a:lnSpc>
              <a:spcBef>
                <a:spcPts val="0"/>
              </a:spcBef>
              <a:spcAft>
                <a:spcPts val="0"/>
              </a:spcAft>
              <a:buClr>
                <a:schemeClr val="dk1"/>
              </a:buClr>
              <a:buSzPts val="2400"/>
              <a:buFont typeface="Arial"/>
              <a:buChar char="•"/>
            </a:pPr>
            <a:r>
              <a:rPr b="1" lang="en-US" sz="2400"/>
              <a:t>Regions</a:t>
            </a:r>
            <a:r>
              <a:rPr lang="en-US" sz="2400"/>
              <a:t>: ~2000 Selective Search proposals</a:t>
            </a:r>
            <a:endParaRPr/>
          </a:p>
          <a:p>
            <a:pPr indent="-457200" lvl="0" marL="457200" rtl="0" algn="l">
              <a:lnSpc>
                <a:spcPct val="90000"/>
              </a:lnSpc>
              <a:spcBef>
                <a:spcPts val="1000"/>
              </a:spcBef>
              <a:spcAft>
                <a:spcPts val="0"/>
              </a:spcAft>
              <a:buClr>
                <a:schemeClr val="dk1"/>
              </a:buClr>
              <a:buSzPts val="2400"/>
              <a:buFont typeface="Arial"/>
              <a:buChar char="•"/>
            </a:pPr>
            <a:r>
              <a:rPr b="1" lang="en-US" sz="2400"/>
              <a:t>Network</a:t>
            </a:r>
            <a:r>
              <a:rPr lang="en-US" sz="2400"/>
              <a:t>: AlexNet </a:t>
            </a:r>
            <a:r>
              <a:rPr i="1" lang="en-US" sz="2400"/>
              <a:t>pre-trained</a:t>
            </a:r>
            <a:r>
              <a:rPr lang="en-US" sz="2400"/>
              <a:t> on ImageNet (1000 classes), </a:t>
            </a:r>
            <a:r>
              <a:rPr i="1" lang="en-US" sz="2400"/>
              <a:t>fine-tuned</a:t>
            </a:r>
            <a:r>
              <a:rPr lang="en-US" sz="2400"/>
              <a:t> on PASCAL (21 classes)</a:t>
            </a:r>
            <a:endParaRPr/>
          </a:p>
          <a:p>
            <a:pPr indent="-457200" lvl="0" marL="457200" rtl="0" algn="l">
              <a:lnSpc>
                <a:spcPct val="90000"/>
              </a:lnSpc>
              <a:spcBef>
                <a:spcPts val="1000"/>
              </a:spcBef>
              <a:spcAft>
                <a:spcPts val="0"/>
              </a:spcAft>
              <a:buClr>
                <a:schemeClr val="dk1"/>
              </a:buClr>
              <a:buSzPts val="2400"/>
              <a:buFont typeface="Arial"/>
              <a:buChar char="•"/>
            </a:pPr>
            <a:r>
              <a:rPr b="1" lang="en-US" sz="2400"/>
              <a:t>Final detector</a:t>
            </a:r>
            <a:r>
              <a:rPr lang="en-US" sz="2400"/>
              <a:t>: warp proposal regions, extract fc7 network activations (4096 dimensions), classify with linear SVM</a:t>
            </a:r>
            <a:endParaRPr/>
          </a:p>
          <a:p>
            <a:pPr indent="-457200" lvl="0" marL="457200" rtl="0" algn="l">
              <a:lnSpc>
                <a:spcPct val="90000"/>
              </a:lnSpc>
              <a:spcBef>
                <a:spcPts val="1000"/>
              </a:spcBef>
              <a:spcAft>
                <a:spcPts val="0"/>
              </a:spcAft>
              <a:buClr>
                <a:schemeClr val="dk1"/>
              </a:buClr>
              <a:buSzPts val="2400"/>
              <a:buFont typeface="Arial"/>
              <a:buChar char="•"/>
            </a:pPr>
            <a:r>
              <a:rPr b="1" lang="en-US" sz="2400"/>
              <a:t>Bounding box regression</a:t>
            </a:r>
            <a:r>
              <a:rPr i="1" lang="en-US" sz="2400"/>
              <a:t> </a:t>
            </a:r>
            <a:r>
              <a:rPr lang="en-US" sz="2400"/>
              <a:t>to refine box locations</a:t>
            </a:r>
            <a:endParaRPr/>
          </a:p>
          <a:p>
            <a:pPr indent="-457200" lvl="0" marL="457200" rtl="0" algn="l">
              <a:lnSpc>
                <a:spcPct val="90000"/>
              </a:lnSpc>
              <a:spcBef>
                <a:spcPts val="1000"/>
              </a:spcBef>
              <a:spcAft>
                <a:spcPts val="0"/>
              </a:spcAft>
              <a:buClr>
                <a:schemeClr val="dk1"/>
              </a:buClr>
              <a:buSzPts val="2400"/>
              <a:buFont typeface="Arial"/>
              <a:buChar char="•"/>
            </a:pPr>
            <a:r>
              <a:rPr b="1" lang="en-US" sz="2400"/>
              <a:t>Performance:</a:t>
            </a:r>
            <a:r>
              <a:rPr lang="en-US" sz="2400"/>
              <a:t> mAP of 53.7% on PASCAL 2010 </a:t>
            </a:r>
            <a:br>
              <a:rPr lang="en-US" sz="2400"/>
            </a:br>
            <a:r>
              <a:rPr lang="en-US" sz="2400"/>
              <a:t>(vs. 35.1% for Selective Search and 33.4% for DPM).</a:t>
            </a:r>
            <a:endParaRPr/>
          </a:p>
        </p:txBody>
      </p:sp>
      <p:sp>
        <p:nvSpPr>
          <p:cNvPr id="613" name="Google Shape;613;g2bb8c1dba0d_0_882"/>
          <p:cNvSpPr txBox="1"/>
          <p:nvPr/>
        </p:nvSpPr>
        <p:spPr>
          <a:xfrm>
            <a:off x="0" y="6258580"/>
            <a:ext cx="121920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R. Girshick, J. Donahue, T. Darrell, and J. Malik, </a:t>
            </a:r>
            <a:r>
              <a:rPr b="0" i="0" lang="en-US" sz="1400" u="sng" cap="none" strike="noStrike">
                <a:solidFill>
                  <a:schemeClr val="dk1"/>
                </a:solidFill>
                <a:latin typeface="Arial"/>
                <a:ea typeface="Arial"/>
                <a:cs typeface="Arial"/>
                <a:sym typeface="Arial"/>
                <a:hlinkClick r:id="rId3">
                  <a:extLst>
                    <a:ext uri="{A12FA001-AC4F-418D-AE19-62706E023703}">
                      <ahyp:hlinkClr val="tx"/>
                    </a:ext>
                  </a:extLst>
                </a:hlinkClick>
              </a:rPr>
              <a:t>Rich Feature Hierarchies for Accurate Object Detection and Semantic Segmentation</a:t>
            </a:r>
            <a:r>
              <a:rPr b="0" i="0" lang="en-US" sz="1400" u="none" cap="none" strike="noStrike">
                <a:solidFill>
                  <a:schemeClr val="dk1"/>
                </a:solidFill>
                <a:latin typeface="Arial"/>
                <a:ea typeface="Arial"/>
                <a:cs typeface="Arial"/>
                <a:sym typeface="Arial"/>
              </a:rPr>
              <a:t>, CVPR 2014. </a:t>
            </a:r>
            <a:endParaRPr b="0" i="0" sz="1400" u="none" cap="none" strike="noStrike">
              <a:solidFill>
                <a:srgbClr val="000000"/>
              </a:solidFill>
              <a:latin typeface="Arial"/>
              <a:ea typeface="Arial"/>
              <a:cs typeface="Arial"/>
              <a:sym typeface="Arial"/>
            </a:endParaRPr>
          </a:p>
        </p:txBody>
      </p:sp>
      <p:pic>
        <p:nvPicPr>
          <p:cNvPr id="614" name="Google Shape;614;g2bb8c1dba0d_0_882"/>
          <p:cNvPicPr preferRelativeResize="0"/>
          <p:nvPr/>
        </p:nvPicPr>
        <p:blipFill rotWithShape="1">
          <a:blip r:embed="rId4">
            <a:alphaModFix/>
          </a:blip>
          <a:srcRect b="27434" l="0" r="0" t="15037"/>
          <a:stretch/>
        </p:blipFill>
        <p:spPr>
          <a:xfrm>
            <a:off x="406400" y="1333948"/>
            <a:ext cx="11379199" cy="173736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2">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g2bb8c1dba0d_0_2972"/>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621" name="Google Shape;621;g2bb8c1dba0d_0_2972"/>
          <p:cNvPicPr preferRelativeResize="0"/>
          <p:nvPr/>
        </p:nvPicPr>
        <p:blipFill rotWithShape="1">
          <a:blip r:embed="rId3">
            <a:alphaModFix/>
          </a:blip>
          <a:srcRect b="0" l="0" r="0" t="0"/>
          <a:stretch/>
        </p:blipFill>
        <p:spPr>
          <a:xfrm>
            <a:off x="0" y="5"/>
            <a:ext cx="6880374" cy="2497550"/>
          </a:xfrm>
          <a:prstGeom prst="rect">
            <a:avLst/>
          </a:prstGeom>
          <a:noFill/>
          <a:ln>
            <a:noFill/>
          </a:ln>
        </p:spPr>
      </p:pic>
      <p:pic>
        <p:nvPicPr>
          <p:cNvPr id="622" name="Google Shape;622;g2bb8c1dba0d_0_2972"/>
          <p:cNvPicPr preferRelativeResize="0"/>
          <p:nvPr/>
        </p:nvPicPr>
        <p:blipFill rotWithShape="1">
          <a:blip r:embed="rId4">
            <a:alphaModFix/>
          </a:blip>
          <a:srcRect b="0" l="0" r="0" t="0"/>
          <a:stretch/>
        </p:blipFill>
        <p:spPr>
          <a:xfrm>
            <a:off x="2819400" y="3390905"/>
            <a:ext cx="9372600" cy="3467100"/>
          </a:xfrm>
          <a:prstGeom prst="rect">
            <a:avLst/>
          </a:prstGeom>
          <a:noFill/>
          <a:ln>
            <a:noFill/>
          </a:ln>
        </p:spPr>
      </p:pic>
      <p:cxnSp>
        <p:nvCxnSpPr>
          <p:cNvPr id="623" name="Google Shape;623;g2bb8c1dba0d_0_2972"/>
          <p:cNvCxnSpPr/>
          <p:nvPr/>
        </p:nvCxnSpPr>
        <p:spPr>
          <a:xfrm>
            <a:off x="1128500" y="1462475"/>
            <a:ext cx="1592700" cy="4203300"/>
          </a:xfrm>
          <a:prstGeom prst="straightConnector1">
            <a:avLst/>
          </a:prstGeom>
          <a:noFill/>
          <a:ln cap="flat" cmpd="sng" w="38100">
            <a:solidFill>
              <a:srgbClr val="38761D"/>
            </a:solidFill>
            <a:prstDash val="solid"/>
            <a:round/>
            <a:headEnd len="sm" w="sm" type="none"/>
            <a:tailEnd len="med" w="med" type="triangle"/>
          </a:ln>
        </p:spPr>
      </p:cxnSp>
      <p:cxnSp>
        <p:nvCxnSpPr>
          <p:cNvPr id="624" name="Google Shape;624;g2bb8c1dba0d_0_2972"/>
          <p:cNvCxnSpPr/>
          <p:nvPr/>
        </p:nvCxnSpPr>
        <p:spPr>
          <a:xfrm rot="10800000">
            <a:off x="2035525" y="1949000"/>
            <a:ext cx="6946500" cy="1681500"/>
          </a:xfrm>
          <a:prstGeom prst="straightConnector1">
            <a:avLst/>
          </a:prstGeom>
          <a:noFill/>
          <a:ln cap="flat" cmpd="sng" w="38100">
            <a:solidFill>
              <a:srgbClr val="38761D"/>
            </a:solidFill>
            <a:prstDash val="solid"/>
            <a:round/>
            <a:headEnd len="sm" w="sm" type="none"/>
            <a:tailEnd len="med" w="med" type="triangle"/>
          </a:ln>
        </p:spPr>
      </p:cxnSp>
      <p:sp>
        <p:nvSpPr>
          <p:cNvPr id="625" name="Google Shape;625;g2bb8c1dba0d_0_2972"/>
          <p:cNvSpPr txBox="1"/>
          <p:nvPr/>
        </p:nvSpPr>
        <p:spPr>
          <a:xfrm>
            <a:off x="666300" y="2789825"/>
            <a:ext cx="7320300" cy="492600"/>
          </a:xfrm>
          <a:prstGeom prst="rect">
            <a:avLst/>
          </a:prstGeom>
          <a:solidFill>
            <a:srgbClr val="FFFF00"/>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Selective Search at all scales and return region proposals</a:t>
            </a:r>
            <a:endParaRPr b="1" i="0" sz="2000" u="none" cap="none" strike="noStrike">
              <a:solidFill>
                <a:schemeClr val="dk1"/>
              </a:solidFill>
              <a:latin typeface="Arial"/>
              <a:ea typeface="Arial"/>
              <a:cs typeface="Arial"/>
              <a:sym typeface="Arial"/>
            </a:endParaRPr>
          </a:p>
        </p:txBody>
      </p:sp>
      <p:sp>
        <p:nvSpPr>
          <p:cNvPr id="626" name="Google Shape;626;g2bb8c1dba0d_0_2972"/>
          <p:cNvSpPr txBox="1"/>
          <p:nvPr/>
        </p:nvSpPr>
        <p:spPr>
          <a:xfrm>
            <a:off x="7411325" y="489075"/>
            <a:ext cx="4686600" cy="861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Ref:</a:t>
            </a:r>
            <a:endParaRPr b="1"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Selective Search for Object Recognition</a:t>
            </a:r>
            <a:endParaRPr b="1"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rgbClr val="333333"/>
                </a:solidFill>
                <a:uFill>
                  <a:noFill/>
                </a:uFill>
                <a:latin typeface="Arial"/>
                <a:ea typeface="Arial"/>
                <a:cs typeface="Arial"/>
                <a:sym typeface="Arial"/>
                <a:hlinkClick r:id="rId5">
                  <a:extLst>
                    <a:ext uri="{A12FA001-AC4F-418D-AE19-62706E023703}">
                      <ahyp:hlinkClr val="tx"/>
                    </a:ext>
                  </a:extLst>
                </a:hlinkClick>
              </a:rPr>
              <a:t>J. R. R. Uijlings</a:t>
            </a:r>
            <a:r>
              <a:rPr b="0" i="0" lang="en-US" sz="1100" u="none" cap="none" strike="noStrike">
                <a:solidFill>
                  <a:schemeClr val="dk1"/>
                </a:solidFill>
                <a:latin typeface="Arial"/>
                <a:ea typeface="Arial"/>
                <a:cs typeface="Arial"/>
                <a:sym typeface="Arial"/>
              </a:rPr>
              <a:t>, </a:t>
            </a:r>
            <a:r>
              <a:rPr b="0" i="0" lang="en-US" sz="1100" u="none" cap="none" strike="noStrike">
                <a:solidFill>
                  <a:srgbClr val="333333"/>
                </a:solidFill>
                <a:uFill>
                  <a:noFill/>
                </a:uFill>
                <a:latin typeface="Arial"/>
                <a:ea typeface="Arial"/>
                <a:cs typeface="Arial"/>
                <a:sym typeface="Arial"/>
                <a:hlinkClick r:id="rId6">
                  <a:extLst>
                    <a:ext uri="{A12FA001-AC4F-418D-AE19-62706E023703}">
                      <ahyp:hlinkClr val="tx"/>
                    </a:ext>
                  </a:extLst>
                </a:hlinkClick>
              </a:rPr>
              <a:t>K. E. A. van de Sande</a:t>
            </a:r>
            <a:r>
              <a:rPr b="0" i="0" lang="en-US" sz="1100" u="none" cap="none" strike="noStrike">
                <a:solidFill>
                  <a:schemeClr val="dk1"/>
                </a:solidFill>
                <a:latin typeface="Arial"/>
                <a:ea typeface="Arial"/>
                <a:cs typeface="Arial"/>
                <a:sym typeface="Arial"/>
              </a:rPr>
              <a:t>, </a:t>
            </a:r>
            <a:r>
              <a:rPr b="0" i="0" lang="en-US" sz="1100" u="none" cap="none" strike="noStrike">
                <a:solidFill>
                  <a:srgbClr val="333333"/>
                </a:solidFill>
                <a:uFill>
                  <a:noFill/>
                </a:uFill>
                <a:latin typeface="Arial"/>
                <a:ea typeface="Arial"/>
                <a:cs typeface="Arial"/>
                <a:sym typeface="Arial"/>
                <a:hlinkClick r:id="rId7">
                  <a:extLst>
                    <a:ext uri="{A12FA001-AC4F-418D-AE19-62706E023703}">
                      <ahyp:hlinkClr val="tx"/>
                    </a:ext>
                  </a:extLst>
                </a:hlinkClick>
              </a:rPr>
              <a:t>T. Gevers</a:t>
            </a:r>
            <a:r>
              <a:rPr b="0" i="0" lang="en-US" sz="1100" u="none" cap="none" strike="noStrike">
                <a:solidFill>
                  <a:schemeClr val="dk1"/>
                </a:solidFill>
                <a:latin typeface="Arial"/>
                <a:ea typeface="Arial"/>
                <a:cs typeface="Arial"/>
                <a:sym typeface="Arial"/>
              </a:rPr>
              <a:t>, </a:t>
            </a:r>
            <a:r>
              <a:rPr b="0" i="0" lang="en-US" sz="1100" u="none" cap="none" strike="noStrike">
                <a:solidFill>
                  <a:srgbClr val="333333"/>
                </a:solidFill>
                <a:uFill>
                  <a:noFill/>
                </a:uFill>
                <a:latin typeface="Arial"/>
                <a:ea typeface="Arial"/>
                <a:cs typeface="Arial"/>
                <a:sym typeface="Arial"/>
                <a:hlinkClick r:id="rId8">
                  <a:extLst>
                    <a:ext uri="{A12FA001-AC4F-418D-AE19-62706E023703}">
                      <ahyp:hlinkClr val="tx"/>
                    </a:ext>
                  </a:extLst>
                </a:hlinkClick>
              </a:rPr>
              <a:t>A. W. M. Smeulders</a:t>
            </a:r>
            <a:endParaRPr b="0" i="0" sz="1100" u="none" cap="none" strike="noStrike">
              <a:solidFill>
                <a:srgbClr val="33333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In International Journal of Computer Vision 2013.</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g2bb8c1dba0d_0_2985"/>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633" name="Google Shape;633;g2bb8c1dba0d_0_2985"/>
          <p:cNvPicPr preferRelativeResize="0"/>
          <p:nvPr/>
        </p:nvPicPr>
        <p:blipFill rotWithShape="1">
          <a:blip r:embed="rId3">
            <a:alphaModFix/>
          </a:blip>
          <a:srcRect b="0" l="0" r="0" t="0"/>
          <a:stretch/>
        </p:blipFill>
        <p:spPr>
          <a:xfrm>
            <a:off x="0" y="5"/>
            <a:ext cx="6880374" cy="2497550"/>
          </a:xfrm>
          <a:prstGeom prst="rect">
            <a:avLst/>
          </a:prstGeom>
          <a:noFill/>
          <a:ln>
            <a:noFill/>
          </a:ln>
        </p:spPr>
      </p:pic>
      <p:sp>
        <p:nvSpPr>
          <p:cNvPr id="634" name="Google Shape;634;g2bb8c1dba0d_0_2985"/>
          <p:cNvSpPr txBox="1"/>
          <p:nvPr/>
        </p:nvSpPr>
        <p:spPr>
          <a:xfrm>
            <a:off x="7411325" y="489075"/>
            <a:ext cx="4686600" cy="861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Ref:</a:t>
            </a:r>
            <a:endParaRPr b="1"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Selective Search for Object Recognition</a:t>
            </a:r>
            <a:endParaRPr b="1"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333333"/>
                </a:solidFill>
                <a:uFill>
                  <a:noFill/>
                </a:uFill>
                <a:latin typeface="Arial"/>
                <a:ea typeface="Arial"/>
                <a:cs typeface="Arial"/>
                <a:sym typeface="Arial"/>
                <a:hlinkClick r:id="rId4">
                  <a:extLst>
                    <a:ext uri="{A12FA001-AC4F-418D-AE19-62706E023703}">
                      <ahyp:hlinkClr val="tx"/>
                    </a:ext>
                  </a:extLst>
                </a:hlinkClick>
              </a:rPr>
              <a:t>J. R. R. Uijlings</a:t>
            </a:r>
            <a:r>
              <a:rPr b="0" i="0" lang="en-US" sz="1100" u="none" cap="none" strike="noStrike">
                <a:solidFill>
                  <a:schemeClr val="dk1"/>
                </a:solidFill>
                <a:latin typeface="Arial"/>
                <a:ea typeface="Arial"/>
                <a:cs typeface="Arial"/>
                <a:sym typeface="Arial"/>
              </a:rPr>
              <a:t>, </a:t>
            </a:r>
            <a:r>
              <a:rPr b="0" i="0" lang="en-US" sz="1100" u="none" cap="none" strike="noStrike">
                <a:solidFill>
                  <a:srgbClr val="333333"/>
                </a:solidFill>
                <a:uFill>
                  <a:noFill/>
                </a:uFill>
                <a:latin typeface="Arial"/>
                <a:ea typeface="Arial"/>
                <a:cs typeface="Arial"/>
                <a:sym typeface="Arial"/>
                <a:hlinkClick r:id="rId5">
                  <a:extLst>
                    <a:ext uri="{A12FA001-AC4F-418D-AE19-62706E023703}">
                      <ahyp:hlinkClr val="tx"/>
                    </a:ext>
                  </a:extLst>
                </a:hlinkClick>
              </a:rPr>
              <a:t>K. E. A. van de Sande</a:t>
            </a:r>
            <a:r>
              <a:rPr b="0" i="0" lang="en-US" sz="1100" u="none" cap="none" strike="noStrike">
                <a:solidFill>
                  <a:schemeClr val="dk1"/>
                </a:solidFill>
                <a:latin typeface="Arial"/>
                <a:ea typeface="Arial"/>
                <a:cs typeface="Arial"/>
                <a:sym typeface="Arial"/>
              </a:rPr>
              <a:t>, </a:t>
            </a:r>
            <a:r>
              <a:rPr b="0" i="0" lang="en-US" sz="1100" u="none" cap="none" strike="noStrike">
                <a:solidFill>
                  <a:srgbClr val="333333"/>
                </a:solidFill>
                <a:uFill>
                  <a:noFill/>
                </a:uFill>
                <a:latin typeface="Arial"/>
                <a:ea typeface="Arial"/>
                <a:cs typeface="Arial"/>
                <a:sym typeface="Arial"/>
                <a:hlinkClick r:id="rId6">
                  <a:extLst>
                    <a:ext uri="{A12FA001-AC4F-418D-AE19-62706E023703}">
                      <ahyp:hlinkClr val="tx"/>
                    </a:ext>
                  </a:extLst>
                </a:hlinkClick>
              </a:rPr>
              <a:t>T. Gevers</a:t>
            </a:r>
            <a:r>
              <a:rPr b="0" i="0" lang="en-US" sz="1100" u="none" cap="none" strike="noStrike">
                <a:solidFill>
                  <a:schemeClr val="dk1"/>
                </a:solidFill>
                <a:latin typeface="Arial"/>
                <a:ea typeface="Arial"/>
                <a:cs typeface="Arial"/>
                <a:sym typeface="Arial"/>
              </a:rPr>
              <a:t>, </a:t>
            </a:r>
            <a:r>
              <a:rPr b="0" i="0" lang="en-US" sz="1100" u="none" cap="none" strike="noStrike">
                <a:solidFill>
                  <a:srgbClr val="333333"/>
                </a:solidFill>
                <a:uFill>
                  <a:noFill/>
                </a:uFill>
                <a:latin typeface="Arial"/>
                <a:ea typeface="Arial"/>
                <a:cs typeface="Arial"/>
                <a:sym typeface="Arial"/>
                <a:hlinkClick r:id="rId7">
                  <a:extLst>
                    <a:ext uri="{A12FA001-AC4F-418D-AE19-62706E023703}">
                      <ahyp:hlinkClr val="tx"/>
                    </a:ext>
                  </a:extLst>
                </a:hlinkClick>
              </a:rPr>
              <a:t>A. W. M. Smeulders</a:t>
            </a:r>
            <a:endParaRPr b="0" i="0" sz="1100" u="none" cap="none" strike="noStrike">
              <a:solidFill>
                <a:srgbClr val="33333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In International Journal of Computer Vision 2013.</a:t>
            </a:r>
            <a:endParaRPr b="0" i="0" sz="2800" u="none" cap="none" strike="noStrike">
              <a:solidFill>
                <a:schemeClr val="dk1"/>
              </a:solidFill>
              <a:latin typeface="Arial"/>
              <a:ea typeface="Arial"/>
              <a:cs typeface="Arial"/>
              <a:sym typeface="Arial"/>
            </a:endParaRPr>
          </a:p>
        </p:txBody>
      </p:sp>
      <p:pic>
        <p:nvPicPr>
          <p:cNvPr id="635" name="Google Shape;635;g2bb8c1dba0d_0_2985"/>
          <p:cNvPicPr preferRelativeResize="0"/>
          <p:nvPr/>
        </p:nvPicPr>
        <p:blipFill rotWithShape="1">
          <a:blip r:embed="rId8">
            <a:alphaModFix/>
          </a:blip>
          <a:srcRect b="0" l="0" r="0" t="0"/>
          <a:stretch/>
        </p:blipFill>
        <p:spPr>
          <a:xfrm>
            <a:off x="93775" y="2764623"/>
            <a:ext cx="7821594" cy="3706400"/>
          </a:xfrm>
          <a:prstGeom prst="rect">
            <a:avLst/>
          </a:prstGeom>
          <a:noFill/>
          <a:ln>
            <a:noFill/>
          </a:ln>
        </p:spPr>
      </p:pic>
      <p:sp>
        <p:nvSpPr>
          <p:cNvPr id="636" name="Google Shape;636;g2bb8c1dba0d_0_2985"/>
          <p:cNvSpPr txBox="1"/>
          <p:nvPr/>
        </p:nvSpPr>
        <p:spPr>
          <a:xfrm>
            <a:off x="8011700" y="3637450"/>
            <a:ext cx="3990000" cy="2539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073763"/>
                </a:solidFill>
                <a:latin typeface="Proxima Nova"/>
                <a:ea typeface="Proxima Nova"/>
                <a:cs typeface="Proxima Nova"/>
                <a:sym typeface="Proxima Nova"/>
              </a:rPr>
              <a:t>The training procedure of object recognition pipeline. </a:t>
            </a:r>
            <a:endParaRPr b="1" i="0" sz="1700" u="none" cap="none" strike="noStrike">
              <a:solidFill>
                <a:srgbClr val="073763"/>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rgbClr val="073763"/>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073763"/>
                </a:solidFill>
                <a:latin typeface="Proxima Nova"/>
                <a:ea typeface="Proxima Nova"/>
                <a:cs typeface="Proxima Nova"/>
                <a:sym typeface="Proxima Nova"/>
              </a:rPr>
              <a:t>As positive learning examples we use the ground truth. As negatives we use examples that have a 20-50% overlap with the positive examples. We iteratively add hard negatives using a retraining phase.</a:t>
            </a:r>
            <a:endParaRPr b="1" i="0" sz="1700" u="none" cap="none" strike="noStrike">
              <a:solidFill>
                <a:srgbClr val="073763"/>
              </a:solidFill>
              <a:latin typeface="Proxima Nova"/>
              <a:ea typeface="Proxima Nova"/>
              <a:cs typeface="Proxima Nova"/>
              <a:sym typeface="Proxima Nova"/>
            </a:endParaRPr>
          </a:p>
        </p:txBody>
      </p:sp>
      <p:cxnSp>
        <p:nvCxnSpPr>
          <p:cNvPr id="637" name="Google Shape;637;g2bb8c1dba0d_0_2985"/>
          <p:cNvCxnSpPr/>
          <p:nvPr/>
        </p:nvCxnSpPr>
        <p:spPr>
          <a:xfrm flipH="1">
            <a:off x="6434375" y="1812900"/>
            <a:ext cx="2639100" cy="1483200"/>
          </a:xfrm>
          <a:prstGeom prst="straightConnector1">
            <a:avLst/>
          </a:prstGeom>
          <a:noFill/>
          <a:ln cap="flat" cmpd="sng" w="76200">
            <a:solidFill>
              <a:schemeClr val="dk2"/>
            </a:solidFill>
            <a:prstDash val="solid"/>
            <a:round/>
            <a:headEnd len="sm" w="sm" type="none"/>
            <a:tailEnd len="med" w="med" type="triangle"/>
          </a:ln>
        </p:spPr>
      </p:cxnSp>
      <p:sp>
        <p:nvSpPr>
          <p:cNvPr id="638" name="Google Shape;638;g2bb8c1dba0d_0_2985"/>
          <p:cNvSpPr txBox="1"/>
          <p:nvPr/>
        </p:nvSpPr>
        <p:spPr>
          <a:xfrm>
            <a:off x="8190750" y="2241000"/>
            <a:ext cx="17112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833C0B"/>
                </a:solidFill>
                <a:latin typeface="Arial"/>
                <a:ea typeface="Arial"/>
                <a:cs typeface="Arial"/>
                <a:sym typeface="Arial"/>
              </a:rPr>
              <a:t>Optional </a:t>
            </a:r>
            <a:endParaRPr b="1" i="0" sz="2400" u="none" cap="none" strike="noStrike">
              <a:solidFill>
                <a:srgbClr val="833C0B"/>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g2bb8c1dba0d_0_890"/>
          <p:cNvSpPr txBox="1"/>
          <p:nvPr>
            <p:ph type="title"/>
          </p:nvPr>
        </p:nvSpPr>
        <p:spPr>
          <a:xfrm>
            <a:off x="1117600" y="365125"/>
            <a:ext cx="109617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R-CNN pros and cons</a:t>
            </a:r>
            <a:endParaRPr/>
          </a:p>
        </p:txBody>
      </p:sp>
      <p:sp>
        <p:nvSpPr>
          <p:cNvPr id="645" name="Google Shape;645;g2bb8c1dba0d_0_890"/>
          <p:cNvSpPr txBox="1"/>
          <p:nvPr>
            <p:ph idx="1" type="body"/>
          </p:nvPr>
        </p:nvSpPr>
        <p:spPr>
          <a:xfrm>
            <a:off x="1117600" y="1825625"/>
            <a:ext cx="14020800" cy="4351200"/>
          </a:xfrm>
          <a:prstGeom prst="rect">
            <a:avLst/>
          </a:prstGeom>
          <a:noFill/>
          <a:ln>
            <a:noFill/>
          </a:ln>
        </p:spPr>
        <p:txBody>
          <a:bodyPr anchorCtr="0" anchor="t" bIns="45700" lIns="91425" spcFirstLastPara="1" rIns="91425" wrap="square" tIns="45700">
            <a:normAutofit/>
          </a:bodyPr>
          <a:lstStyle/>
          <a:p>
            <a:pPr indent="-457200" lvl="0" marL="457200" rtl="0" algn="l">
              <a:lnSpc>
                <a:spcPct val="90000"/>
              </a:lnSpc>
              <a:spcBef>
                <a:spcPts val="0"/>
              </a:spcBef>
              <a:spcAft>
                <a:spcPts val="0"/>
              </a:spcAft>
              <a:buClr>
                <a:srgbClr val="0000FF"/>
              </a:buClr>
              <a:buSzPts val="2800"/>
              <a:buFont typeface="Arial"/>
              <a:buChar char="•"/>
            </a:pPr>
            <a:r>
              <a:rPr lang="en-US">
                <a:solidFill>
                  <a:srgbClr val="0000FF"/>
                </a:solidFill>
              </a:rPr>
              <a:t>Pros</a:t>
            </a:r>
            <a:endParaRPr/>
          </a:p>
          <a:p>
            <a:pPr indent="-468630" lvl="1" marL="857250" rtl="0" algn="l">
              <a:lnSpc>
                <a:spcPct val="90000"/>
              </a:lnSpc>
              <a:spcBef>
                <a:spcPts val="500"/>
              </a:spcBef>
              <a:spcAft>
                <a:spcPts val="0"/>
              </a:spcAft>
              <a:buClr>
                <a:srgbClr val="000000"/>
              </a:buClr>
              <a:buSzPts val="2400"/>
              <a:buFont typeface="Arial"/>
              <a:buChar char="•"/>
            </a:pPr>
            <a:r>
              <a:rPr lang="en-US">
                <a:solidFill>
                  <a:srgbClr val="000000"/>
                </a:solidFill>
              </a:rPr>
              <a:t>Accurate!</a:t>
            </a:r>
            <a:endParaRPr/>
          </a:p>
          <a:p>
            <a:pPr indent="-468630" lvl="1" marL="857250" rtl="0" algn="l">
              <a:lnSpc>
                <a:spcPct val="90000"/>
              </a:lnSpc>
              <a:spcBef>
                <a:spcPts val="500"/>
              </a:spcBef>
              <a:spcAft>
                <a:spcPts val="0"/>
              </a:spcAft>
              <a:buClr>
                <a:srgbClr val="000000"/>
              </a:buClr>
              <a:buSzPts val="2400"/>
              <a:buFont typeface="Arial"/>
              <a:buChar char="•"/>
            </a:pPr>
            <a:r>
              <a:rPr lang="en-US">
                <a:solidFill>
                  <a:srgbClr val="000000"/>
                </a:solidFill>
              </a:rPr>
              <a:t>Any deep architecture can immediately be “plugged in”</a:t>
            </a:r>
            <a:endParaRPr/>
          </a:p>
          <a:p>
            <a:pPr indent="-457200" lvl="0" marL="457200" rtl="0" algn="l">
              <a:lnSpc>
                <a:spcPct val="90000"/>
              </a:lnSpc>
              <a:spcBef>
                <a:spcPts val="1000"/>
              </a:spcBef>
              <a:spcAft>
                <a:spcPts val="0"/>
              </a:spcAft>
              <a:buClr>
                <a:srgbClr val="FF0000"/>
              </a:buClr>
              <a:buSzPts val="2800"/>
              <a:buFont typeface="Arial"/>
              <a:buChar char="•"/>
            </a:pPr>
            <a:r>
              <a:rPr lang="en-US">
                <a:solidFill>
                  <a:srgbClr val="FF0000"/>
                </a:solidFill>
              </a:rPr>
              <a:t>Cons</a:t>
            </a:r>
            <a:endParaRPr/>
          </a:p>
          <a:p>
            <a:pPr indent="-468630" lvl="1" marL="857250" rtl="0" algn="l">
              <a:lnSpc>
                <a:spcPct val="90000"/>
              </a:lnSpc>
              <a:spcBef>
                <a:spcPts val="500"/>
              </a:spcBef>
              <a:spcAft>
                <a:spcPts val="0"/>
              </a:spcAft>
              <a:buClr>
                <a:srgbClr val="000000"/>
              </a:buClr>
              <a:buSzPts val="2400"/>
              <a:buFont typeface="Arial"/>
              <a:buChar char="•"/>
            </a:pPr>
            <a:r>
              <a:rPr lang="en-US">
                <a:solidFill>
                  <a:srgbClr val="000000"/>
                </a:solidFill>
              </a:rPr>
              <a:t>Ad hoc training objectives</a:t>
            </a:r>
            <a:endParaRPr/>
          </a:p>
          <a:p>
            <a:pPr indent="-466725" lvl="2" marL="1257300" rtl="0" algn="l">
              <a:lnSpc>
                <a:spcPct val="90000"/>
              </a:lnSpc>
              <a:spcBef>
                <a:spcPts val="500"/>
              </a:spcBef>
              <a:spcAft>
                <a:spcPts val="0"/>
              </a:spcAft>
              <a:buClr>
                <a:srgbClr val="000000"/>
              </a:buClr>
              <a:buSzPts val="2000"/>
              <a:buFont typeface="Arial"/>
              <a:buChar char="•"/>
            </a:pPr>
            <a:r>
              <a:rPr lang="en-US">
                <a:solidFill>
                  <a:srgbClr val="000000"/>
                </a:solidFill>
              </a:rPr>
              <a:t>Fine-tune network with softmax classifier (log loss)</a:t>
            </a:r>
            <a:endParaRPr/>
          </a:p>
          <a:p>
            <a:pPr indent="-466725" lvl="2" marL="1257300" rtl="0" algn="l">
              <a:lnSpc>
                <a:spcPct val="90000"/>
              </a:lnSpc>
              <a:spcBef>
                <a:spcPts val="500"/>
              </a:spcBef>
              <a:spcAft>
                <a:spcPts val="0"/>
              </a:spcAft>
              <a:buClr>
                <a:srgbClr val="000000"/>
              </a:buClr>
              <a:buSzPts val="2000"/>
              <a:buFont typeface="Arial"/>
              <a:buChar char="•"/>
            </a:pPr>
            <a:r>
              <a:rPr lang="en-US">
                <a:solidFill>
                  <a:srgbClr val="000000"/>
                </a:solidFill>
              </a:rPr>
              <a:t>Train post-hoc linear SVMs (hinge loss)</a:t>
            </a:r>
            <a:endParaRPr/>
          </a:p>
          <a:p>
            <a:pPr indent="-466725" lvl="2" marL="1257300" rtl="0" algn="l">
              <a:lnSpc>
                <a:spcPct val="90000"/>
              </a:lnSpc>
              <a:spcBef>
                <a:spcPts val="500"/>
              </a:spcBef>
              <a:spcAft>
                <a:spcPts val="0"/>
              </a:spcAft>
              <a:buClr>
                <a:srgbClr val="000000"/>
              </a:buClr>
              <a:buSzPts val="2000"/>
              <a:buFont typeface="Arial"/>
              <a:buChar char="•"/>
            </a:pPr>
            <a:r>
              <a:rPr lang="en-US">
                <a:solidFill>
                  <a:srgbClr val="000000"/>
                </a:solidFill>
              </a:rPr>
              <a:t>Train post-hoc bounding-box regressions (least squares)</a:t>
            </a:r>
            <a:endParaRPr/>
          </a:p>
          <a:p>
            <a:pPr indent="-468630" lvl="1" marL="857250" rtl="0" algn="l">
              <a:lnSpc>
                <a:spcPct val="90000"/>
              </a:lnSpc>
              <a:spcBef>
                <a:spcPts val="500"/>
              </a:spcBef>
              <a:spcAft>
                <a:spcPts val="0"/>
              </a:spcAft>
              <a:buClr>
                <a:srgbClr val="000000"/>
              </a:buClr>
              <a:buSzPts val="2400"/>
              <a:buFont typeface="Arial"/>
              <a:buChar char="•"/>
            </a:pPr>
            <a:r>
              <a:rPr lang="en-US">
                <a:solidFill>
                  <a:srgbClr val="000000"/>
                </a:solidFill>
              </a:rPr>
              <a:t>Training is slow (84h), takes a lot of disk space</a:t>
            </a:r>
            <a:endParaRPr/>
          </a:p>
          <a:p>
            <a:pPr indent="-466725" lvl="2" marL="1257300" rtl="0" algn="l">
              <a:lnSpc>
                <a:spcPct val="90000"/>
              </a:lnSpc>
              <a:spcBef>
                <a:spcPts val="500"/>
              </a:spcBef>
              <a:spcAft>
                <a:spcPts val="0"/>
              </a:spcAft>
              <a:buClr>
                <a:srgbClr val="000000"/>
              </a:buClr>
              <a:buSzPts val="2000"/>
              <a:buFont typeface="Arial"/>
              <a:buChar char="•"/>
            </a:pPr>
            <a:r>
              <a:rPr lang="en-US">
                <a:solidFill>
                  <a:srgbClr val="000000"/>
                </a:solidFill>
              </a:rPr>
              <a:t>2000 image pass into CNN</a:t>
            </a:r>
            <a:endParaRPr/>
          </a:p>
          <a:p>
            <a:pPr indent="-468630" lvl="1" marL="857250" rtl="0" algn="l">
              <a:lnSpc>
                <a:spcPct val="90000"/>
              </a:lnSpc>
              <a:spcBef>
                <a:spcPts val="500"/>
              </a:spcBef>
              <a:spcAft>
                <a:spcPts val="0"/>
              </a:spcAft>
              <a:buClr>
                <a:srgbClr val="000000"/>
              </a:buClr>
              <a:buSzPts val="2400"/>
              <a:buFont typeface="Arial"/>
              <a:buChar char="•"/>
            </a:pPr>
            <a:r>
              <a:rPr lang="en-US">
                <a:solidFill>
                  <a:srgbClr val="000000"/>
                </a:solidFill>
              </a:rPr>
              <a:t>Inference (detection) is slow (47s / image with VGG16)</a:t>
            </a:r>
            <a:endParaRPr/>
          </a:p>
        </p:txBody>
      </p:sp>
      <p:sp>
        <p:nvSpPr>
          <p:cNvPr id="646" name="Google Shape;646;g2bb8c1dba0d_0_890"/>
          <p:cNvSpPr txBox="1"/>
          <p:nvPr/>
        </p:nvSpPr>
        <p:spPr>
          <a:xfrm>
            <a:off x="476539" y="6429539"/>
            <a:ext cx="107469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Slide Credit: S. Lazebnik</a:t>
            </a:r>
            <a:endParaRPr b="0" i="0" sz="12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5">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5">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g2bb8c1dba0d_0_3033"/>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653" name="Google Shape;653;g2bb8c1dba0d_0_3033"/>
          <p:cNvSpPr txBox="1"/>
          <p:nvPr>
            <p:ph type="title"/>
          </p:nvPr>
        </p:nvSpPr>
        <p:spPr>
          <a:xfrm>
            <a:off x="838200" y="60325"/>
            <a:ext cx="10515600" cy="889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800"/>
              <a:buNone/>
            </a:pPr>
            <a:r>
              <a:rPr lang="en-US"/>
              <a:t>Fast R-CNN</a:t>
            </a:r>
            <a:endParaRPr/>
          </a:p>
        </p:txBody>
      </p:sp>
      <p:pic>
        <p:nvPicPr>
          <p:cNvPr id="654" name="Google Shape;654;g2bb8c1dba0d_0_3033"/>
          <p:cNvPicPr preferRelativeResize="0"/>
          <p:nvPr/>
        </p:nvPicPr>
        <p:blipFill rotWithShape="1">
          <a:blip r:embed="rId3">
            <a:alphaModFix/>
          </a:blip>
          <a:srcRect b="0" l="0" r="0" t="0"/>
          <a:stretch/>
        </p:blipFill>
        <p:spPr>
          <a:xfrm>
            <a:off x="28750" y="852625"/>
            <a:ext cx="10759226" cy="5679299"/>
          </a:xfrm>
          <a:prstGeom prst="rect">
            <a:avLst/>
          </a:prstGeom>
          <a:noFill/>
          <a:ln>
            <a:noFill/>
          </a:ln>
        </p:spPr>
      </p:pic>
      <p:sp>
        <p:nvSpPr>
          <p:cNvPr id="655" name="Google Shape;655;g2bb8c1dba0d_0_3033"/>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https://arxiv.org/pdf/1504.08083</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pic>
        <p:nvPicPr>
          <p:cNvPr id="660" name="Google Shape;660;g2bb8c1dba0d_0_897"/>
          <p:cNvPicPr preferRelativeResize="0"/>
          <p:nvPr/>
        </p:nvPicPr>
        <p:blipFill rotWithShape="1">
          <a:blip r:embed="rId3">
            <a:alphaModFix/>
          </a:blip>
          <a:srcRect b="0" l="0" r="0" t="0"/>
          <a:stretch/>
        </p:blipFill>
        <p:spPr>
          <a:xfrm>
            <a:off x="7267023" y="3352801"/>
            <a:ext cx="3149600" cy="790922"/>
          </a:xfrm>
          <a:prstGeom prst="rect">
            <a:avLst/>
          </a:prstGeom>
          <a:noFill/>
          <a:ln>
            <a:noFill/>
          </a:ln>
        </p:spPr>
      </p:pic>
      <p:pic>
        <p:nvPicPr>
          <p:cNvPr id="661" name="Google Shape;661;g2bb8c1dba0d_0_897"/>
          <p:cNvPicPr preferRelativeResize="0"/>
          <p:nvPr/>
        </p:nvPicPr>
        <p:blipFill rotWithShape="1">
          <a:blip r:embed="rId3">
            <a:alphaModFix/>
          </a:blip>
          <a:srcRect b="0" l="0" r="0" t="0"/>
          <a:stretch/>
        </p:blipFill>
        <p:spPr>
          <a:xfrm>
            <a:off x="2032000" y="3352800"/>
            <a:ext cx="3048001" cy="761999"/>
          </a:xfrm>
          <a:prstGeom prst="rect">
            <a:avLst/>
          </a:prstGeom>
          <a:noFill/>
          <a:ln>
            <a:noFill/>
          </a:ln>
        </p:spPr>
      </p:pic>
      <p:pic>
        <p:nvPicPr>
          <p:cNvPr id="662" name="Google Shape;662;g2bb8c1dba0d_0_897"/>
          <p:cNvPicPr preferRelativeResize="0"/>
          <p:nvPr/>
        </p:nvPicPr>
        <p:blipFill rotWithShape="1">
          <a:blip r:embed="rId4">
            <a:alphaModFix/>
          </a:blip>
          <a:srcRect b="0" l="0" r="0" t="0"/>
          <a:stretch/>
        </p:blipFill>
        <p:spPr>
          <a:xfrm>
            <a:off x="6583272" y="5102291"/>
            <a:ext cx="3215945" cy="1008349"/>
          </a:xfrm>
          <a:prstGeom prst="rect">
            <a:avLst/>
          </a:prstGeom>
          <a:noFill/>
          <a:ln>
            <a:noFill/>
          </a:ln>
        </p:spPr>
      </p:pic>
      <p:sp>
        <p:nvSpPr>
          <p:cNvPr id="663" name="Google Shape;663;g2bb8c1dba0d_0_897"/>
          <p:cNvSpPr/>
          <p:nvPr/>
        </p:nvSpPr>
        <p:spPr>
          <a:xfrm>
            <a:off x="7222436" y="4293130"/>
            <a:ext cx="2922900" cy="1466700"/>
          </a:xfrm>
          <a:prstGeom prst="cube">
            <a:avLst>
              <a:gd fmla="val 25000" name="adj"/>
            </a:avLst>
          </a:prstGeom>
          <a:solidFill>
            <a:schemeClr val="lt1"/>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CNN</a:t>
            </a:r>
            <a:endParaRPr b="0" i="0" sz="1400" u="none" cap="none" strike="noStrike">
              <a:solidFill>
                <a:srgbClr val="000000"/>
              </a:solidFill>
              <a:latin typeface="Arial"/>
              <a:ea typeface="Arial"/>
              <a:cs typeface="Arial"/>
              <a:sym typeface="Arial"/>
            </a:endParaRPr>
          </a:p>
        </p:txBody>
      </p:sp>
      <p:sp>
        <p:nvSpPr>
          <p:cNvPr id="664" name="Google Shape;664;g2bb8c1dba0d_0_897"/>
          <p:cNvSpPr/>
          <p:nvPr/>
        </p:nvSpPr>
        <p:spPr>
          <a:xfrm>
            <a:off x="8555601" y="4215203"/>
            <a:ext cx="344400" cy="280500"/>
          </a:xfrm>
          <a:prstGeom prst="upArrow">
            <a:avLst>
              <a:gd fmla="val 50000" name="adj1"/>
              <a:gd fmla="val 50000" name="adj2"/>
            </a:avLst>
          </a:prstGeom>
          <a:solidFill>
            <a:srgbClr val="FF9900"/>
          </a:solidFill>
          <a:ln cap="flat" cmpd="sng" w="12700">
            <a:solidFill>
              <a:srgbClr val="FF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665" name="Google Shape;665;g2bb8c1dba0d_0_897"/>
          <p:cNvSpPr txBox="1"/>
          <p:nvPr/>
        </p:nvSpPr>
        <p:spPr>
          <a:xfrm>
            <a:off x="9841032" y="3663038"/>
            <a:ext cx="2046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C00000"/>
                </a:solidFill>
                <a:latin typeface="Arial"/>
                <a:ea typeface="Arial"/>
                <a:cs typeface="Arial"/>
                <a:sym typeface="Arial"/>
              </a:rPr>
              <a:t>feature map</a:t>
            </a:r>
            <a:endParaRPr b="0" i="0" sz="1400" u="none" cap="none" strike="noStrike">
              <a:solidFill>
                <a:srgbClr val="000000"/>
              </a:solidFill>
              <a:latin typeface="Arial"/>
              <a:ea typeface="Arial"/>
              <a:cs typeface="Arial"/>
              <a:sym typeface="Arial"/>
            </a:endParaRPr>
          </a:p>
        </p:txBody>
      </p:sp>
      <p:grpSp>
        <p:nvGrpSpPr>
          <p:cNvPr id="666" name="Google Shape;666;g2bb8c1dba0d_0_897"/>
          <p:cNvGrpSpPr/>
          <p:nvPr/>
        </p:nvGrpSpPr>
        <p:grpSpPr>
          <a:xfrm>
            <a:off x="4673503" y="2395420"/>
            <a:ext cx="3009523" cy="979515"/>
            <a:chOff x="4083425" y="2367582"/>
            <a:chExt cx="2536685" cy="1100826"/>
          </a:xfrm>
        </p:grpSpPr>
        <p:grpSp>
          <p:nvGrpSpPr>
            <p:cNvPr id="667" name="Google Shape;667;g2bb8c1dba0d_0_897"/>
            <p:cNvGrpSpPr/>
            <p:nvPr/>
          </p:nvGrpSpPr>
          <p:grpSpPr>
            <a:xfrm flipH="1" rot="10800000">
              <a:off x="4083425" y="2367582"/>
              <a:ext cx="2536685" cy="990247"/>
              <a:chOff x="1907" y="1601"/>
              <a:chExt cx="1537" cy="600"/>
            </a:xfrm>
          </p:grpSpPr>
          <p:sp>
            <p:nvSpPr>
              <p:cNvPr id="668" name="Google Shape;668;g2bb8c1dba0d_0_897"/>
              <p:cNvSpPr/>
              <p:nvPr/>
            </p:nvSpPr>
            <p:spPr>
              <a:xfrm>
                <a:off x="1907" y="1601"/>
                <a:ext cx="1500" cy="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669" name="Google Shape;669;g2bb8c1dba0d_0_897"/>
              <p:cNvSpPr/>
              <p:nvPr/>
            </p:nvSpPr>
            <p:spPr>
              <a:xfrm flipH="1" rot="10800000">
                <a:off x="1909" y="1601"/>
                <a:ext cx="1535" cy="483"/>
              </a:xfrm>
              <a:custGeom>
                <a:rect b="b" l="l" r="r" t="t"/>
                <a:pathLst>
                  <a:path extrusionOk="0" h="483" w="1535">
                    <a:moveTo>
                      <a:pt x="26" y="474"/>
                    </a:moveTo>
                    <a:lnTo>
                      <a:pt x="428" y="9"/>
                    </a:lnTo>
                    <a:lnTo>
                      <a:pt x="1509" y="9"/>
                    </a:lnTo>
                    <a:lnTo>
                      <a:pt x="1107" y="474"/>
                    </a:lnTo>
                    <a:lnTo>
                      <a:pt x="26" y="474"/>
                    </a:lnTo>
                    <a:close/>
                    <a:moveTo>
                      <a:pt x="1535" y="0"/>
                    </a:moveTo>
                    <a:lnTo>
                      <a:pt x="421" y="0"/>
                    </a:lnTo>
                    <a:lnTo>
                      <a:pt x="0" y="483"/>
                    </a:lnTo>
                    <a:lnTo>
                      <a:pt x="1116" y="483"/>
                    </a:lnTo>
                    <a:lnTo>
                      <a:pt x="1535" y="0"/>
                    </a:lnTo>
                    <a:close/>
                  </a:path>
                </a:pathLst>
              </a:custGeom>
              <a:solidFill>
                <a:srgbClr val="BE1E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670" name="Google Shape;670;g2bb8c1dba0d_0_897"/>
              <p:cNvSpPr/>
              <p:nvPr/>
            </p:nvSpPr>
            <p:spPr>
              <a:xfrm>
                <a:off x="1909" y="1601"/>
                <a:ext cx="1535" cy="483"/>
              </a:xfrm>
              <a:custGeom>
                <a:rect b="b" l="l" r="r" t="t"/>
                <a:pathLst>
                  <a:path extrusionOk="0" h="483" w="1535">
                    <a:moveTo>
                      <a:pt x="26" y="474"/>
                    </a:moveTo>
                    <a:lnTo>
                      <a:pt x="428" y="9"/>
                    </a:lnTo>
                    <a:lnTo>
                      <a:pt x="1509" y="9"/>
                    </a:lnTo>
                    <a:lnTo>
                      <a:pt x="1107" y="474"/>
                    </a:lnTo>
                    <a:lnTo>
                      <a:pt x="26" y="474"/>
                    </a:lnTo>
                    <a:moveTo>
                      <a:pt x="1535" y="0"/>
                    </a:moveTo>
                    <a:lnTo>
                      <a:pt x="421" y="0"/>
                    </a:lnTo>
                    <a:lnTo>
                      <a:pt x="0" y="483"/>
                    </a:lnTo>
                    <a:lnTo>
                      <a:pt x="1116" y="483"/>
                    </a:lnTo>
                    <a:lnTo>
                      <a:pt x="1535"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grpSp>
        <p:grpSp>
          <p:nvGrpSpPr>
            <p:cNvPr id="671" name="Google Shape;671;g2bb8c1dba0d_0_897"/>
            <p:cNvGrpSpPr/>
            <p:nvPr/>
          </p:nvGrpSpPr>
          <p:grpSpPr>
            <a:xfrm>
              <a:off x="4266621" y="2973284"/>
              <a:ext cx="991898" cy="495124"/>
              <a:chOff x="2018" y="1849"/>
              <a:chExt cx="601" cy="300"/>
            </a:xfrm>
          </p:grpSpPr>
          <p:sp>
            <p:nvSpPr>
              <p:cNvPr id="672" name="Google Shape;672;g2bb8c1dba0d_0_897"/>
              <p:cNvSpPr/>
              <p:nvPr/>
            </p:nvSpPr>
            <p:spPr>
              <a:xfrm>
                <a:off x="2019" y="1849"/>
                <a:ext cx="600" cy="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673" name="Google Shape;673;g2bb8c1dba0d_0_897"/>
              <p:cNvSpPr/>
              <p:nvPr/>
            </p:nvSpPr>
            <p:spPr>
              <a:xfrm>
                <a:off x="2018" y="1850"/>
                <a:ext cx="597" cy="187"/>
              </a:xfrm>
              <a:custGeom>
                <a:rect b="b" l="l" r="r" t="t"/>
                <a:pathLst>
                  <a:path extrusionOk="0" h="187" w="597">
                    <a:moveTo>
                      <a:pt x="14" y="182"/>
                    </a:moveTo>
                    <a:lnTo>
                      <a:pt x="168" y="5"/>
                    </a:lnTo>
                    <a:lnTo>
                      <a:pt x="583" y="5"/>
                    </a:lnTo>
                    <a:lnTo>
                      <a:pt x="429" y="182"/>
                    </a:lnTo>
                    <a:lnTo>
                      <a:pt x="14" y="182"/>
                    </a:lnTo>
                    <a:close/>
                    <a:moveTo>
                      <a:pt x="597" y="0"/>
                    </a:moveTo>
                    <a:lnTo>
                      <a:pt x="164" y="0"/>
                    </a:lnTo>
                    <a:lnTo>
                      <a:pt x="0" y="187"/>
                    </a:lnTo>
                    <a:lnTo>
                      <a:pt x="433" y="187"/>
                    </a:lnTo>
                    <a:lnTo>
                      <a:pt x="597" y="0"/>
                    </a:lnTo>
                    <a:close/>
                  </a:path>
                </a:pathLst>
              </a:custGeom>
              <a:solidFill>
                <a:srgbClr val="92949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674" name="Google Shape;674;g2bb8c1dba0d_0_897"/>
              <p:cNvSpPr/>
              <p:nvPr/>
            </p:nvSpPr>
            <p:spPr>
              <a:xfrm>
                <a:off x="2018" y="1850"/>
                <a:ext cx="597" cy="187"/>
              </a:xfrm>
              <a:custGeom>
                <a:rect b="b" l="l" r="r" t="t"/>
                <a:pathLst>
                  <a:path extrusionOk="0" h="187" w="597">
                    <a:moveTo>
                      <a:pt x="14" y="182"/>
                    </a:moveTo>
                    <a:lnTo>
                      <a:pt x="168" y="5"/>
                    </a:lnTo>
                    <a:lnTo>
                      <a:pt x="583" y="5"/>
                    </a:lnTo>
                    <a:lnTo>
                      <a:pt x="429" y="182"/>
                    </a:lnTo>
                    <a:lnTo>
                      <a:pt x="14" y="182"/>
                    </a:lnTo>
                    <a:moveTo>
                      <a:pt x="597" y="0"/>
                    </a:moveTo>
                    <a:lnTo>
                      <a:pt x="164" y="0"/>
                    </a:lnTo>
                    <a:lnTo>
                      <a:pt x="0" y="187"/>
                    </a:lnTo>
                    <a:lnTo>
                      <a:pt x="433" y="187"/>
                    </a:lnTo>
                    <a:lnTo>
                      <a:pt x="597"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675" name="Google Shape;675;g2bb8c1dba0d_0_897"/>
              <p:cNvSpPr/>
              <p:nvPr/>
            </p:nvSpPr>
            <p:spPr>
              <a:xfrm>
                <a:off x="2018" y="1850"/>
                <a:ext cx="597" cy="187"/>
              </a:xfrm>
              <a:custGeom>
                <a:rect b="b" l="l" r="r" t="t"/>
                <a:pathLst>
                  <a:path extrusionOk="0" h="187" w="597">
                    <a:moveTo>
                      <a:pt x="14" y="182"/>
                    </a:moveTo>
                    <a:lnTo>
                      <a:pt x="168" y="5"/>
                    </a:lnTo>
                    <a:lnTo>
                      <a:pt x="583" y="5"/>
                    </a:lnTo>
                    <a:lnTo>
                      <a:pt x="429" y="182"/>
                    </a:lnTo>
                    <a:lnTo>
                      <a:pt x="14" y="182"/>
                    </a:lnTo>
                    <a:close/>
                    <a:moveTo>
                      <a:pt x="597" y="0"/>
                    </a:moveTo>
                    <a:lnTo>
                      <a:pt x="164" y="0"/>
                    </a:lnTo>
                    <a:lnTo>
                      <a:pt x="0" y="187"/>
                    </a:lnTo>
                    <a:lnTo>
                      <a:pt x="433" y="187"/>
                    </a:lnTo>
                    <a:lnTo>
                      <a:pt x="597" y="0"/>
                    </a:lnTo>
                    <a:close/>
                  </a:path>
                </a:pathLst>
              </a:custGeom>
              <a:solidFill>
                <a:srgbClr val="92949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676" name="Google Shape;676;g2bb8c1dba0d_0_897"/>
              <p:cNvSpPr/>
              <p:nvPr/>
            </p:nvSpPr>
            <p:spPr>
              <a:xfrm>
                <a:off x="2018" y="1850"/>
                <a:ext cx="597" cy="187"/>
              </a:xfrm>
              <a:custGeom>
                <a:rect b="b" l="l" r="r" t="t"/>
                <a:pathLst>
                  <a:path extrusionOk="0" h="187" w="597">
                    <a:moveTo>
                      <a:pt x="14" y="182"/>
                    </a:moveTo>
                    <a:lnTo>
                      <a:pt x="168" y="5"/>
                    </a:lnTo>
                    <a:lnTo>
                      <a:pt x="583" y="5"/>
                    </a:lnTo>
                    <a:lnTo>
                      <a:pt x="429" y="182"/>
                    </a:lnTo>
                    <a:lnTo>
                      <a:pt x="14" y="182"/>
                    </a:lnTo>
                    <a:moveTo>
                      <a:pt x="597" y="0"/>
                    </a:moveTo>
                    <a:lnTo>
                      <a:pt x="164" y="0"/>
                    </a:lnTo>
                    <a:lnTo>
                      <a:pt x="0" y="187"/>
                    </a:lnTo>
                    <a:lnTo>
                      <a:pt x="433" y="187"/>
                    </a:lnTo>
                    <a:lnTo>
                      <a:pt x="597"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grpSp>
        <p:grpSp>
          <p:nvGrpSpPr>
            <p:cNvPr id="677" name="Google Shape;677;g2bb8c1dba0d_0_897"/>
            <p:cNvGrpSpPr/>
            <p:nvPr/>
          </p:nvGrpSpPr>
          <p:grpSpPr>
            <a:xfrm>
              <a:off x="5114934" y="2654753"/>
              <a:ext cx="547937" cy="173294"/>
              <a:chOff x="2532" y="1656"/>
              <a:chExt cx="332" cy="105"/>
            </a:xfrm>
          </p:grpSpPr>
          <p:sp>
            <p:nvSpPr>
              <p:cNvPr id="678" name="Google Shape;678;g2bb8c1dba0d_0_897"/>
              <p:cNvSpPr/>
              <p:nvPr/>
            </p:nvSpPr>
            <p:spPr>
              <a:xfrm>
                <a:off x="2532" y="1656"/>
                <a:ext cx="300" cy="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679" name="Google Shape;679;g2bb8c1dba0d_0_897"/>
              <p:cNvSpPr/>
              <p:nvPr/>
            </p:nvSpPr>
            <p:spPr>
              <a:xfrm>
                <a:off x="2532" y="1657"/>
                <a:ext cx="332" cy="104"/>
              </a:xfrm>
              <a:custGeom>
                <a:rect b="b" l="l" r="r" t="t"/>
                <a:pathLst>
                  <a:path extrusionOk="0" h="104" w="332">
                    <a:moveTo>
                      <a:pt x="7" y="101"/>
                    </a:moveTo>
                    <a:lnTo>
                      <a:pt x="93" y="3"/>
                    </a:lnTo>
                    <a:lnTo>
                      <a:pt x="325" y="3"/>
                    </a:lnTo>
                    <a:lnTo>
                      <a:pt x="239" y="101"/>
                    </a:lnTo>
                    <a:lnTo>
                      <a:pt x="7" y="101"/>
                    </a:lnTo>
                    <a:close/>
                    <a:moveTo>
                      <a:pt x="332" y="0"/>
                    </a:moveTo>
                    <a:lnTo>
                      <a:pt x="91" y="0"/>
                    </a:lnTo>
                    <a:lnTo>
                      <a:pt x="0" y="104"/>
                    </a:lnTo>
                    <a:lnTo>
                      <a:pt x="241" y="104"/>
                    </a:lnTo>
                    <a:lnTo>
                      <a:pt x="332" y="0"/>
                    </a:lnTo>
                    <a:close/>
                  </a:path>
                </a:pathLst>
              </a:custGeom>
              <a:solidFill>
                <a:srgbClr val="92949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680" name="Google Shape;680;g2bb8c1dba0d_0_897"/>
              <p:cNvSpPr/>
              <p:nvPr/>
            </p:nvSpPr>
            <p:spPr>
              <a:xfrm>
                <a:off x="2532" y="1657"/>
                <a:ext cx="332" cy="104"/>
              </a:xfrm>
              <a:custGeom>
                <a:rect b="b" l="l" r="r" t="t"/>
                <a:pathLst>
                  <a:path extrusionOk="0" h="104" w="332">
                    <a:moveTo>
                      <a:pt x="7" y="101"/>
                    </a:moveTo>
                    <a:lnTo>
                      <a:pt x="93" y="3"/>
                    </a:lnTo>
                    <a:lnTo>
                      <a:pt x="325" y="3"/>
                    </a:lnTo>
                    <a:lnTo>
                      <a:pt x="239" y="101"/>
                    </a:lnTo>
                    <a:lnTo>
                      <a:pt x="7" y="101"/>
                    </a:lnTo>
                    <a:moveTo>
                      <a:pt x="332" y="0"/>
                    </a:moveTo>
                    <a:lnTo>
                      <a:pt x="91" y="0"/>
                    </a:lnTo>
                    <a:lnTo>
                      <a:pt x="0" y="104"/>
                    </a:lnTo>
                    <a:lnTo>
                      <a:pt x="241" y="104"/>
                    </a:lnTo>
                    <a:lnTo>
                      <a:pt x="332"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681" name="Google Shape;681;g2bb8c1dba0d_0_897"/>
              <p:cNvSpPr/>
              <p:nvPr/>
            </p:nvSpPr>
            <p:spPr>
              <a:xfrm>
                <a:off x="2532" y="1657"/>
                <a:ext cx="332" cy="104"/>
              </a:xfrm>
              <a:custGeom>
                <a:rect b="b" l="l" r="r" t="t"/>
                <a:pathLst>
                  <a:path extrusionOk="0" h="104" w="332">
                    <a:moveTo>
                      <a:pt x="7" y="101"/>
                    </a:moveTo>
                    <a:lnTo>
                      <a:pt x="93" y="3"/>
                    </a:lnTo>
                    <a:lnTo>
                      <a:pt x="325" y="3"/>
                    </a:lnTo>
                    <a:lnTo>
                      <a:pt x="239" y="101"/>
                    </a:lnTo>
                    <a:lnTo>
                      <a:pt x="7" y="101"/>
                    </a:lnTo>
                    <a:close/>
                    <a:moveTo>
                      <a:pt x="332" y="0"/>
                    </a:moveTo>
                    <a:lnTo>
                      <a:pt x="91" y="0"/>
                    </a:lnTo>
                    <a:lnTo>
                      <a:pt x="0" y="104"/>
                    </a:lnTo>
                    <a:lnTo>
                      <a:pt x="241" y="104"/>
                    </a:lnTo>
                    <a:lnTo>
                      <a:pt x="332" y="0"/>
                    </a:lnTo>
                    <a:close/>
                  </a:path>
                </a:pathLst>
              </a:custGeom>
              <a:solidFill>
                <a:srgbClr val="92949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682" name="Google Shape;682;g2bb8c1dba0d_0_897"/>
              <p:cNvSpPr/>
              <p:nvPr/>
            </p:nvSpPr>
            <p:spPr>
              <a:xfrm>
                <a:off x="2532" y="1657"/>
                <a:ext cx="332" cy="104"/>
              </a:xfrm>
              <a:custGeom>
                <a:rect b="b" l="l" r="r" t="t"/>
                <a:pathLst>
                  <a:path extrusionOk="0" h="104" w="332">
                    <a:moveTo>
                      <a:pt x="7" y="101"/>
                    </a:moveTo>
                    <a:lnTo>
                      <a:pt x="93" y="3"/>
                    </a:lnTo>
                    <a:lnTo>
                      <a:pt x="325" y="3"/>
                    </a:lnTo>
                    <a:lnTo>
                      <a:pt x="239" y="101"/>
                    </a:lnTo>
                    <a:lnTo>
                      <a:pt x="7" y="101"/>
                    </a:lnTo>
                    <a:moveTo>
                      <a:pt x="332" y="0"/>
                    </a:moveTo>
                    <a:lnTo>
                      <a:pt x="91" y="0"/>
                    </a:lnTo>
                    <a:lnTo>
                      <a:pt x="0" y="104"/>
                    </a:lnTo>
                    <a:lnTo>
                      <a:pt x="241" y="104"/>
                    </a:lnTo>
                    <a:lnTo>
                      <a:pt x="332"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grpSp>
        <p:grpSp>
          <p:nvGrpSpPr>
            <p:cNvPr id="683" name="Google Shape;683;g2bb8c1dba0d_0_897"/>
            <p:cNvGrpSpPr/>
            <p:nvPr/>
          </p:nvGrpSpPr>
          <p:grpSpPr>
            <a:xfrm>
              <a:off x="5332789" y="2837950"/>
              <a:ext cx="991899" cy="495123"/>
              <a:chOff x="2664" y="1767"/>
              <a:chExt cx="601" cy="300"/>
            </a:xfrm>
          </p:grpSpPr>
          <p:sp>
            <p:nvSpPr>
              <p:cNvPr id="684" name="Google Shape;684;g2bb8c1dba0d_0_897"/>
              <p:cNvSpPr/>
              <p:nvPr/>
            </p:nvSpPr>
            <p:spPr>
              <a:xfrm>
                <a:off x="2665" y="1767"/>
                <a:ext cx="600" cy="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685" name="Google Shape;685;g2bb8c1dba0d_0_897"/>
              <p:cNvSpPr/>
              <p:nvPr/>
            </p:nvSpPr>
            <p:spPr>
              <a:xfrm>
                <a:off x="2664" y="1768"/>
                <a:ext cx="541" cy="170"/>
              </a:xfrm>
              <a:custGeom>
                <a:rect b="b" l="l" r="r" t="t"/>
                <a:pathLst>
                  <a:path extrusionOk="0" h="170" w="541">
                    <a:moveTo>
                      <a:pt x="13" y="165"/>
                    </a:moveTo>
                    <a:lnTo>
                      <a:pt x="153" y="5"/>
                    </a:lnTo>
                    <a:lnTo>
                      <a:pt x="528" y="5"/>
                    </a:lnTo>
                    <a:lnTo>
                      <a:pt x="388" y="165"/>
                    </a:lnTo>
                    <a:lnTo>
                      <a:pt x="13" y="165"/>
                    </a:lnTo>
                    <a:close/>
                    <a:moveTo>
                      <a:pt x="541" y="0"/>
                    </a:moveTo>
                    <a:lnTo>
                      <a:pt x="148" y="0"/>
                    </a:lnTo>
                    <a:lnTo>
                      <a:pt x="0" y="170"/>
                    </a:lnTo>
                    <a:lnTo>
                      <a:pt x="393" y="170"/>
                    </a:lnTo>
                    <a:lnTo>
                      <a:pt x="541" y="0"/>
                    </a:lnTo>
                    <a:close/>
                  </a:path>
                </a:pathLst>
              </a:custGeom>
              <a:solidFill>
                <a:srgbClr val="92949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686" name="Google Shape;686;g2bb8c1dba0d_0_897"/>
              <p:cNvSpPr/>
              <p:nvPr/>
            </p:nvSpPr>
            <p:spPr>
              <a:xfrm>
                <a:off x="2664" y="1768"/>
                <a:ext cx="541" cy="170"/>
              </a:xfrm>
              <a:custGeom>
                <a:rect b="b" l="l" r="r" t="t"/>
                <a:pathLst>
                  <a:path extrusionOk="0" h="170" w="541">
                    <a:moveTo>
                      <a:pt x="13" y="165"/>
                    </a:moveTo>
                    <a:lnTo>
                      <a:pt x="153" y="5"/>
                    </a:lnTo>
                    <a:lnTo>
                      <a:pt x="528" y="5"/>
                    </a:lnTo>
                    <a:lnTo>
                      <a:pt x="388" y="165"/>
                    </a:lnTo>
                    <a:lnTo>
                      <a:pt x="13" y="165"/>
                    </a:lnTo>
                    <a:moveTo>
                      <a:pt x="541" y="0"/>
                    </a:moveTo>
                    <a:lnTo>
                      <a:pt x="148" y="0"/>
                    </a:lnTo>
                    <a:lnTo>
                      <a:pt x="0" y="170"/>
                    </a:lnTo>
                    <a:lnTo>
                      <a:pt x="393" y="170"/>
                    </a:lnTo>
                    <a:lnTo>
                      <a:pt x="541"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687" name="Google Shape;687;g2bb8c1dba0d_0_897"/>
              <p:cNvSpPr/>
              <p:nvPr/>
            </p:nvSpPr>
            <p:spPr>
              <a:xfrm>
                <a:off x="2664" y="1768"/>
                <a:ext cx="541" cy="170"/>
              </a:xfrm>
              <a:custGeom>
                <a:rect b="b" l="l" r="r" t="t"/>
                <a:pathLst>
                  <a:path extrusionOk="0" h="170" w="541">
                    <a:moveTo>
                      <a:pt x="13" y="165"/>
                    </a:moveTo>
                    <a:lnTo>
                      <a:pt x="153" y="5"/>
                    </a:lnTo>
                    <a:lnTo>
                      <a:pt x="528" y="5"/>
                    </a:lnTo>
                    <a:lnTo>
                      <a:pt x="388" y="165"/>
                    </a:lnTo>
                    <a:lnTo>
                      <a:pt x="13" y="165"/>
                    </a:lnTo>
                    <a:close/>
                    <a:moveTo>
                      <a:pt x="541" y="0"/>
                    </a:moveTo>
                    <a:lnTo>
                      <a:pt x="148" y="0"/>
                    </a:lnTo>
                    <a:lnTo>
                      <a:pt x="0" y="170"/>
                    </a:lnTo>
                    <a:lnTo>
                      <a:pt x="393" y="170"/>
                    </a:lnTo>
                    <a:lnTo>
                      <a:pt x="541" y="0"/>
                    </a:lnTo>
                    <a:close/>
                  </a:path>
                </a:pathLst>
              </a:custGeom>
              <a:solidFill>
                <a:srgbClr val="92949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688" name="Google Shape;688;g2bb8c1dba0d_0_897"/>
              <p:cNvSpPr/>
              <p:nvPr/>
            </p:nvSpPr>
            <p:spPr>
              <a:xfrm>
                <a:off x="2664" y="1768"/>
                <a:ext cx="541" cy="170"/>
              </a:xfrm>
              <a:custGeom>
                <a:rect b="b" l="l" r="r" t="t"/>
                <a:pathLst>
                  <a:path extrusionOk="0" h="170" w="541">
                    <a:moveTo>
                      <a:pt x="13" y="165"/>
                    </a:moveTo>
                    <a:lnTo>
                      <a:pt x="153" y="5"/>
                    </a:lnTo>
                    <a:lnTo>
                      <a:pt x="528" y="5"/>
                    </a:lnTo>
                    <a:lnTo>
                      <a:pt x="388" y="165"/>
                    </a:lnTo>
                    <a:lnTo>
                      <a:pt x="13" y="165"/>
                    </a:lnTo>
                    <a:moveTo>
                      <a:pt x="541" y="0"/>
                    </a:moveTo>
                    <a:lnTo>
                      <a:pt x="148" y="0"/>
                    </a:lnTo>
                    <a:lnTo>
                      <a:pt x="0" y="170"/>
                    </a:lnTo>
                    <a:lnTo>
                      <a:pt x="393" y="170"/>
                    </a:lnTo>
                    <a:lnTo>
                      <a:pt x="541"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grpSp>
      </p:grpSp>
      <p:sp>
        <p:nvSpPr>
          <p:cNvPr id="689" name="Google Shape;689;g2bb8c1dba0d_0_897"/>
          <p:cNvSpPr txBox="1"/>
          <p:nvPr/>
        </p:nvSpPr>
        <p:spPr>
          <a:xfrm>
            <a:off x="3352800" y="2057400"/>
            <a:ext cx="19305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Region proposals</a:t>
            </a:r>
            <a:endParaRPr b="0" i="0" sz="1400" u="none" cap="none" strike="noStrike">
              <a:solidFill>
                <a:srgbClr val="000000"/>
              </a:solidFill>
              <a:latin typeface="Arial"/>
              <a:ea typeface="Arial"/>
              <a:cs typeface="Arial"/>
              <a:sym typeface="Arial"/>
            </a:endParaRPr>
          </a:p>
        </p:txBody>
      </p:sp>
      <p:sp>
        <p:nvSpPr>
          <p:cNvPr id="690" name="Google Shape;690;g2bb8c1dba0d_0_897"/>
          <p:cNvSpPr/>
          <p:nvPr/>
        </p:nvSpPr>
        <p:spPr>
          <a:xfrm>
            <a:off x="9344147" y="2209799"/>
            <a:ext cx="409500" cy="1224900"/>
          </a:xfrm>
          <a:prstGeom prst="upArrow">
            <a:avLst>
              <a:gd fmla="val 50000" name="adj1"/>
              <a:gd fmla="val 50000" name="adj2"/>
            </a:avLst>
          </a:prstGeom>
          <a:solidFill>
            <a:srgbClr val="FF9900"/>
          </a:solidFill>
          <a:ln cap="flat" cmpd="sng" w="12700">
            <a:solidFill>
              <a:srgbClr val="FF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691" name="Google Shape;691;g2bb8c1dba0d_0_897"/>
          <p:cNvSpPr/>
          <p:nvPr/>
        </p:nvSpPr>
        <p:spPr>
          <a:xfrm flipH="1" rot="2087370">
            <a:off x="7812517" y="2063501"/>
            <a:ext cx="403286" cy="588097"/>
          </a:xfrm>
          <a:prstGeom prst="upArrow">
            <a:avLst>
              <a:gd fmla="val 50000" name="adj1"/>
              <a:gd fmla="val 50000" name="adj2"/>
            </a:avLst>
          </a:prstGeom>
          <a:solidFill>
            <a:srgbClr val="FF9900"/>
          </a:solidFill>
          <a:ln cap="flat" cmpd="sng" w="12700">
            <a:solidFill>
              <a:srgbClr val="FF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pic>
        <p:nvPicPr>
          <p:cNvPr id="692" name="Google Shape;692;g2bb8c1dba0d_0_897"/>
          <p:cNvPicPr preferRelativeResize="0"/>
          <p:nvPr/>
        </p:nvPicPr>
        <p:blipFill rotWithShape="1">
          <a:blip r:embed="rId4">
            <a:alphaModFix/>
          </a:blip>
          <a:srcRect b="0" l="0" r="0" t="0"/>
          <a:stretch/>
        </p:blipFill>
        <p:spPr>
          <a:xfrm>
            <a:off x="1382552" y="5102291"/>
            <a:ext cx="3215945" cy="1008349"/>
          </a:xfrm>
          <a:prstGeom prst="rect">
            <a:avLst/>
          </a:prstGeom>
          <a:noFill/>
          <a:ln>
            <a:noFill/>
          </a:ln>
        </p:spPr>
      </p:pic>
      <p:sp>
        <p:nvSpPr>
          <p:cNvPr id="693" name="Google Shape;693;g2bb8c1dba0d_0_897"/>
          <p:cNvSpPr/>
          <p:nvPr/>
        </p:nvSpPr>
        <p:spPr>
          <a:xfrm>
            <a:off x="2021716" y="4293130"/>
            <a:ext cx="2922900" cy="1466700"/>
          </a:xfrm>
          <a:prstGeom prst="cube">
            <a:avLst>
              <a:gd fmla="val 25000" name="adj"/>
            </a:avLst>
          </a:prstGeom>
          <a:solidFill>
            <a:schemeClr val="lt1"/>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CNN</a:t>
            </a:r>
            <a:endParaRPr b="0" i="0" sz="1400" u="none" cap="none" strike="noStrike">
              <a:solidFill>
                <a:srgbClr val="000000"/>
              </a:solidFill>
              <a:latin typeface="Arial"/>
              <a:ea typeface="Arial"/>
              <a:cs typeface="Arial"/>
              <a:sym typeface="Arial"/>
            </a:endParaRPr>
          </a:p>
        </p:txBody>
      </p:sp>
      <p:sp>
        <p:nvSpPr>
          <p:cNvPr id="694" name="Google Shape;694;g2bb8c1dba0d_0_897"/>
          <p:cNvSpPr/>
          <p:nvPr/>
        </p:nvSpPr>
        <p:spPr>
          <a:xfrm>
            <a:off x="3354881" y="4213956"/>
            <a:ext cx="344400" cy="280500"/>
          </a:xfrm>
          <a:prstGeom prst="upArrow">
            <a:avLst>
              <a:gd fmla="val 50000" name="adj1"/>
              <a:gd fmla="val 50000" name="adj2"/>
            </a:avLst>
          </a:prstGeom>
          <a:solidFill>
            <a:srgbClr val="FF9900"/>
          </a:solidFill>
          <a:ln cap="flat" cmpd="sng" w="12700">
            <a:solidFill>
              <a:srgbClr val="FF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695" name="Google Shape;695;g2bb8c1dba0d_0_897"/>
          <p:cNvSpPr txBox="1"/>
          <p:nvPr/>
        </p:nvSpPr>
        <p:spPr>
          <a:xfrm>
            <a:off x="4470400" y="3733800"/>
            <a:ext cx="2046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C00000"/>
                </a:solidFill>
                <a:latin typeface="Arial"/>
                <a:ea typeface="Arial"/>
                <a:cs typeface="Arial"/>
                <a:sym typeface="Arial"/>
              </a:rPr>
              <a:t>feature map</a:t>
            </a:r>
            <a:endParaRPr b="0" i="0" sz="1400" u="none" cap="none" strike="noStrike">
              <a:solidFill>
                <a:srgbClr val="000000"/>
              </a:solidFill>
              <a:latin typeface="Arial"/>
              <a:ea typeface="Arial"/>
              <a:cs typeface="Arial"/>
              <a:sym typeface="Arial"/>
            </a:endParaRPr>
          </a:p>
        </p:txBody>
      </p:sp>
      <p:sp>
        <p:nvSpPr>
          <p:cNvPr id="696" name="Google Shape;696;g2bb8c1dba0d_0_897"/>
          <p:cNvSpPr txBox="1"/>
          <p:nvPr/>
        </p:nvSpPr>
        <p:spPr>
          <a:xfrm>
            <a:off x="-193577" y="3377624"/>
            <a:ext cx="31884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Region Proposal Network</a:t>
            </a:r>
            <a:endParaRPr b="0" i="0" sz="1400" u="none" cap="none" strike="noStrike">
              <a:solidFill>
                <a:srgbClr val="000000"/>
              </a:solidFill>
              <a:latin typeface="Arial"/>
              <a:ea typeface="Arial"/>
              <a:cs typeface="Arial"/>
              <a:sym typeface="Arial"/>
            </a:endParaRPr>
          </a:p>
        </p:txBody>
      </p:sp>
      <p:cxnSp>
        <p:nvCxnSpPr>
          <p:cNvPr id="697" name="Google Shape;697;g2bb8c1dba0d_0_897"/>
          <p:cNvCxnSpPr/>
          <p:nvPr/>
        </p:nvCxnSpPr>
        <p:spPr>
          <a:xfrm>
            <a:off x="4572000" y="4953000"/>
            <a:ext cx="2554800" cy="0"/>
          </a:xfrm>
          <a:prstGeom prst="straightConnector1">
            <a:avLst/>
          </a:prstGeom>
          <a:noFill/>
          <a:ln cap="flat" cmpd="sng" w="76200">
            <a:solidFill>
              <a:srgbClr val="FF6600"/>
            </a:solidFill>
            <a:prstDash val="solid"/>
            <a:miter lim="800000"/>
            <a:headEnd len="med" w="med" type="triangle"/>
            <a:tailEnd len="med" w="med" type="triangle"/>
          </a:ln>
        </p:spPr>
      </p:cxnSp>
      <p:pic>
        <p:nvPicPr>
          <p:cNvPr descr="Screen Shot 2016-04-25 at 12.06.49 PM.png" id="698" name="Google Shape;698;g2bb8c1dba0d_0_897"/>
          <p:cNvPicPr preferRelativeResize="0"/>
          <p:nvPr/>
        </p:nvPicPr>
        <p:blipFill rotWithShape="1">
          <a:blip r:embed="rId5">
            <a:alphaModFix/>
          </a:blip>
          <a:srcRect b="0" l="0" r="0" t="0"/>
          <a:stretch/>
        </p:blipFill>
        <p:spPr>
          <a:xfrm>
            <a:off x="7463087" y="914400"/>
            <a:ext cx="3103314" cy="1219200"/>
          </a:xfrm>
          <a:prstGeom prst="rect">
            <a:avLst/>
          </a:prstGeom>
          <a:noFill/>
          <a:ln>
            <a:noFill/>
          </a:ln>
        </p:spPr>
      </p:pic>
      <p:sp>
        <p:nvSpPr>
          <p:cNvPr id="699" name="Google Shape;699;g2bb8c1dba0d_0_897"/>
          <p:cNvSpPr/>
          <p:nvPr/>
        </p:nvSpPr>
        <p:spPr>
          <a:xfrm>
            <a:off x="3454400" y="2642176"/>
            <a:ext cx="1422300" cy="838200"/>
          </a:xfrm>
          <a:prstGeom prst="bentArrow">
            <a:avLst>
              <a:gd fmla="val 18940" name="adj1"/>
              <a:gd fmla="val 25000" name="adj2"/>
              <a:gd fmla="val 25000" name="adj3"/>
              <a:gd fmla="val 43750" name="adj4"/>
            </a:avLst>
          </a:prstGeom>
          <a:solidFill>
            <a:srgbClr val="FF99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700" name="Google Shape;700;g2bb8c1dba0d_0_897"/>
          <p:cNvSpPr/>
          <p:nvPr/>
        </p:nvSpPr>
        <p:spPr>
          <a:xfrm>
            <a:off x="10160000" y="1676400"/>
            <a:ext cx="507900" cy="2286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701" name="Google Shape;701;g2bb8c1dba0d_0_897"/>
          <p:cNvSpPr/>
          <p:nvPr/>
        </p:nvSpPr>
        <p:spPr>
          <a:xfrm>
            <a:off x="0" y="6273224"/>
            <a:ext cx="12192000" cy="584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S. Ren, K. He, R. Girshick, and J. Sun, </a:t>
            </a:r>
            <a:r>
              <a:rPr b="0" i="0" lang="en-US" sz="1600" u="sng" cap="none" strike="noStrike">
                <a:solidFill>
                  <a:schemeClr val="dk1"/>
                </a:solidFill>
                <a:latin typeface="Arial"/>
                <a:ea typeface="Arial"/>
                <a:cs typeface="Arial"/>
                <a:sym typeface="Arial"/>
                <a:hlinkClick r:id="rId6">
                  <a:extLst>
                    <a:ext uri="{A12FA001-AC4F-418D-AE19-62706E023703}">
                      <ahyp:hlinkClr val="tx"/>
                    </a:ext>
                  </a:extLst>
                </a:hlinkClick>
              </a:rPr>
              <a:t>Faster R-CNN: Towards Real-Time Object Detection with Region Proposal Networks</a:t>
            </a:r>
            <a:r>
              <a:rPr b="0" i="0" lang="en-US" sz="1600" u="none" cap="none" strike="noStrike">
                <a:solidFill>
                  <a:schemeClr val="dk1"/>
                </a:solidFill>
                <a:latin typeface="Arial"/>
                <a:ea typeface="Arial"/>
                <a:cs typeface="Arial"/>
                <a:sym typeface="Arial"/>
              </a:rPr>
              <a:t>, NIPS 2015</a:t>
            </a:r>
            <a:endParaRPr b="0" i="0" sz="1400" u="none" cap="none" strike="noStrike">
              <a:solidFill>
                <a:srgbClr val="000000"/>
              </a:solidFill>
              <a:latin typeface="Arial"/>
              <a:ea typeface="Arial"/>
              <a:cs typeface="Arial"/>
              <a:sym typeface="Arial"/>
            </a:endParaRPr>
          </a:p>
        </p:txBody>
      </p:sp>
      <p:sp>
        <p:nvSpPr>
          <p:cNvPr id="702" name="Google Shape;702;g2bb8c1dba0d_0_897"/>
          <p:cNvSpPr txBox="1"/>
          <p:nvPr/>
        </p:nvSpPr>
        <p:spPr>
          <a:xfrm>
            <a:off x="4862632" y="4538246"/>
            <a:ext cx="2046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C00000"/>
                </a:solidFill>
                <a:latin typeface="Arial"/>
                <a:ea typeface="Arial"/>
                <a:cs typeface="Arial"/>
                <a:sym typeface="Arial"/>
              </a:rPr>
              <a:t>share features</a:t>
            </a:r>
            <a:endParaRPr b="0" i="0" sz="1400" u="none" cap="none" strike="noStrike">
              <a:solidFill>
                <a:srgbClr val="000000"/>
              </a:solidFill>
              <a:latin typeface="Arial"/>
              <a:ea typeface="Arial"/>
              <a:cs typeface="Arial"/>
              <a:sym typeface="Arial"/>
            </a:endParaRPr>
          </a:p>
        </p:txBody>
      </p:sp>
      <p:sp>
        <p:nvSpPr>
          <p:cNvPr id="703" name="Google Shape;703;g2bb8c1dba0d_0_897"/>
          <p:cNvSpPr txBox="1"/>
          <p:nvPr>
            <p:ph type="title"/>
          </p:nvPr>
        </p:nvSpPr>
        <p:spPr>
          <a:xfrm>
            <a:off x="232700" y="151525"/>
            <a:ext cx="110502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Faster R-CNN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g2bb8c1dba0d_0_944"/>
          <p:cNvSpPr txBox="1"/>
          <p:nvPr>
            <p:ph type="title"/>
          </p:nvPr>
        </p:nvSpPr>
        <p:spPr>
          <a:xfrm>
            <a:off x="1117600" y="365125"/>
            <a:ext cx="105633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Region Proposal Network (RPN)</a:t>
            </a:r>
            <a:endParaRPr/>
          </a:p>
        </p:txBody>
      </p:sp>
      <p:grpSp>
        <p:nvGrpSpPr>
          <p:cNvPr id="709" name="Google Shape;709;g2bb8c1dba0d_0_944"/>
          <p:cNvGrpSpPr/>
          <p:nvPr/>
        </p:nvGrpSpPr>
        <p:grpSpPr>
          <a:xfrm>
            <a:off x="316601" y="4750218"/>
            <a:ext cx="3928965" cy="1601947"/>
            <a:chOff x="1051560" y="3991926"/>
            <a:chExt cx="4745700" cy="2580041"/>
          </a:xfrm>
        </p:grpSpPr>
        <p:sp>
          <p:nvSpPr>
            <p:cNvPr id="710" name="Google Shape;710;g2bb8c1dba0d_0_944"/>
            <p:cNvSpPr/>
            <p:nvPr/>
          </p:nvSpPr>
          <p:spPr>
            <a:xfrm>
              <a:off x="1051560" y="5001767"/>
              <a:ext cx="4745700" cy="1570200"/>
            </a:xfrm>
            <a:prstGeom prst="parallelogram">
              <a:avLst>
                <a:gd fmla="val 92429" name="adj"/>
              </a:avLst>
            </a:prstGeom>
            <a:blipFill rotWithShape="1">
              <a:blip r:embed="rId3">
                <a:alphaModFix/>
              </a:blip>
              <a:stretch>
                <a:fillRect b="0" l="0" r="0" t="0"/>
              </a:stretch>
            </a:blip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711" name="Google Shape;711;g2bb8c1dba0d_0_944"/>
            <p:cNvSpPr/>
            <p:nvPr/>
          </p:nvSpPr>
          <p:spPr>
            <a:xfrm>
              <a:off x="2116836" y="4215384"/>
              <a:ext cx="2761500" cy="1897500"/>
            </a:xfrm>
            <a:prstGeom prst="cube">
              <a:avLst>
                <a:gd fmla="val 25000" name="adj"/>
              </a:avLst>
            </a:prstGeom>
            <a:solidFill>
              <a:schemeClr val="lt1">
                <a:alpha val="92549"/>
              </a:schemeClr>
            </a:solid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ConvNet</a:t>
              </a:r>
              <a:endParaRPr b="0" i="0" sz="1600" u="none" cap="none" strike="noStrike">
                <a:solidFill>
                  <a:srgbClr val="000000"/>
                </a:solidFill>
                <a:latin typeface="Arial"/>
                <a:ea typeface="Arial"/>
                <a:cs typeface="Arial"/>
                <a:sym typeface="Arial"/>
              </a:endParaRPr>
            </a:p>
          </p:txBody>
        </p:sp>
        <p:sp>
          <p:nvSpPr>
            <p:cNvPr id="712" name="Google Shape;712;g2bb8c1dba0d_0_944"/>
            <p:cNvSpPr/>
            <p:nvPr/>
          </p:nvSpPr>
          <p:spPr>
            <a:xfrm>
              <a:off x="2116836" y="4092510"/>
              <a:ext cx="2761500" cy="466200"/>
            </a:xfrm>
            <a:prstGeom prst="parallelogram">
              <a:avLst>
                <a:gd fmla="val 92429" name="adj"/>
              </a:avLst>
            </a:prstGeom>
            <a:solidFill>
              <a:schemeClr val="lt1"/>
            </a:solid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713" name="Google Shape;713;g2bb8c1dba0d_0_944"/>
            <p:cNvSpPr/>
            <p:nvPr/>
          </p:nvSpPr>
          <p:spPr>
            <a:xfrm>
              <a:off x="2369820" y="4202237"/>
              <a:ext cx="766500" cy="297300"/>
            </a:xfrm>
            <a:prstGeom prst="parallelogram">
              <a:avLst>
                <a:gd fmla="val 92429" name="adj"/>
              </a:avLst>
            </a:prstGeom>
            <a:solidFill>
              <a:schemeClr val="lt1"/>
            </a:solid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714" name="Google Shape;714;g2bb8c1dba0d_0_944"/>
            <p:cNvSpPr/>
            <p:nvPr/>
          </p:nvSpPr>
          <p:spPr>
            <a:xfrm>
              <a:off x="3114294" y="4330253"/>
              <a:ext cx="872400" cy="121200"/>
            </a:xfrm>
            <a:prstGeom prst="parallelogram">
              <a:avLst>
                <a:gd fmla="val 92429" name="adj"/>
              </a:avLst>
            </a:prstGeom>
            <a:solidFill>
              <a:schemeClr val="lt1"/>
            </a:solid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715" name="Google Shape;715;g2bb8c1dba0d_0_944"/>
            <p:cNvSpPr/>
            <p:nvPr/>
          </p:nvSpPr>
          <p:spPr>
            <a:xfrm>
              <a:off x="3986784" y="4150805"/>
              <a:ext cx="683100" cy="348600"/>
            </a:xfrm>
            <a:prstGeom prst="parallelogram">
              <a:avLst>
                <a:gd fmla="val 92429" name="adj"/>
              </a:avLst>
            </a:prstGeom>
            <a:solidFill>
              <a:schemeClr val="lt1"/>
            </a:solid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716" name="Google Shape;716;g2bb8c1dba0d_0_944"/>
            <p:cNvSpPr/>
            <p:nvPr/>
          </p:nvSpPr>
          <p:spPr>
            <a:xfrm>
              <a:off x="2688336" y="3991926"/>
              <a:ext cx="242400" cy="301800"/>
            </a:xfrm>
            <a:prstGeom prst="upArrow">
              <a:avLst>
                <a:gd fmla="val 50000" name="adj1"/>
                <a:gd fmla="val 50000" name="adj2"/>
              </a:avLst>
            </a:prstGeom>
            <a:solidFill>
              <a:schemeClr val="accent1"/>
            </a:solid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717" name="Google Shape;717;g2bb8c1dba0d_0_944"/>
            <p:cNvSpPr/>
            <p:nvPr/>
          </p:nvSpPr>
          <p:spPr>
            <a:xfrm>
              <a:off x="3442716" y="4103373"/>
              <a:ext cx="242400" cy="301800"/>
            </a:xfrm>
            <a:prstGeom prst="upArrow">
              <a:avLst>
                <a:gd fmla="val 50000" name="adj1"/>
                <a:gd fmla="val 50000" name="adj2"/>
              </a:avLst>
            </a:prstGeom>
            <a:solidFill>
              <a:schemeClr val="accent1"/>
            </a:solid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718" name="Google Shape;718;g2bb8c1dba0d_0_944"/>
            <p:cNvSpPr/>
            <p:nvPr/>
          </p:nvSpPr>
          <p:spPr>
            <a:xfrm>
              <a:off x="4197096" y="4043371"/>
              <a:ext cx="242400" cy="301800"/>
            </a:xfrm>
            <a:prstGeom prst="upArrow">
              <a:avLst>
                <a:gd fmla="val 50000" name="adj1"/>
                <a:gd fmla="val 50000" name="adj2"/>
              </a:avLst>
            </a:prstGeom>
            <a:solidFill>
              <a:schemeClr val="accent1"/>
            </a:solid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grpSp>
      <p:pic>
        <p:nvPicPr>
          <p:cNvPr descr="Screen Shot 2016-04-25 at 12.20.34 PM.png" id="719" name="Google Shape;719;g2bb8c1dba0d_0_944"/>
          <p:cNvPicPr preferRelativeResize="0"/>
          <p:nvPr/>
        </p:nvPicPr>
        <p:blipFill rotWithShape="1">
          <a:blip r:embed="rId4">
            <a:alphaModFix/>
          </a:blip>
          <a:srcRect b="0" l="2200" r="0" t="0"/>
          <a:stretch/>
        </p:blipFill>
        <p:spPr>
          <a:xfrm>
            <a:off x="0" y="1770226"/>
            <a:ext cx="6569335" cy="2980077"/>
          </a:xfrm>
          <a:prstGeom prst="rect">
            <a:avLst/>
          </a:prstGeom>
          <a:noFill/>
          <a:ln>
            <a:noFill/>
          </a:ln>
        </p:spPr>
      </p:pic>
      <p:sp>
        <p:nvSpPr>
          <p:cNvPr id="720" name="Google Shape;720;g2bb8c1dba0d_0_944"/>
          <p:cNvSpPr txBox="1"/>
          <p:nvPr/>
        </p:nvSpPr>
        <p:spPr>
          <a:xfrm>
            <a:off x="6569336" y="1648477"/>
            <a:ext cx="5622900" cy="3540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Small network applied to conv5 feature map.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Predicts: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good box or not (classification),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how to modify box (regression)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for k “anchors” or boxes relative to the position in feature map. </a:t>
            </a:r>
            <a:endParaRPr b="0" i="0" sz="1400" u="none" cap="none" strike="noStrike">
              <a:solidFill>
                <a:srgbClr val="000000"/>
              </a:solidFill>
              <a:latin typeface="Arial"/>
              <a:ea typeface="Arial"/>
              <a:cs typeface="Arial"/>
              <a:sym typeface="Arial"/>
            </a:endParaRPr>
          </a:p>
        </p:txBody>
      </p:sp>
      <p:sp>
        <p:nvSpPr>
          <p:cNvPr id="721" name="Google Shape;721;g2bb8c1dba0d_0_944"/>
          <p:cNvSpPr txBox="1"/>
          <p:nvPr/>
        </p:nvSpPr>
        <p:spPr>
          <a:xfrm>
            <a:off x="-16933" y="6550223"/>
            <a:ext cx="23325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Source: R. Girshick</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g2bb8c1dba0d_0_961"/>
          <p:cNvSpPr txBox="1"/>
          <p:nvPr>
            <p:ph type="title"/>
          </p:nvPr>
        </p:nvSpPr>
        <p:spPr>
          <a:xfrm>
            <a:off x="1117600" y="365125"/>
            <a:ext cx="103863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ROI Pooling/Align</a:t>
            </a:r>
            <a:endParaRPr/>
          </a:p>
        </p:txBody>
      </p:sp>
      <p:sp>
        <p:nvSpPr>
          <p:cNvPr id="727" name="Google Shape;727;g2bb8c1dba0d_0_961"/>
          <p:cNvSpPr/>
          <p:nvPr/>
        </p:nvSpPr>
        <p:spPr>
          <a:xfrm>
            <a:off x="316596" y="5377335"/>
            <a:ext cx="3928800" cy="975000"/>
          </a:xfrm>
          <a:prstGeom prst="parallelogram">
            <a:avLst>
              <a:gd fmla="val 92429" name="adj"/>
            </a:avLst>
          </a:prstGeom>
          <a:blipFill rotWithShape="1">
            <a:blip r:embed="rId3">
              <a:alphaModFix/>
            </a:blip>
            <a:stretch>
              <a:fillRect b="0" l="0" r="0" t="0"/>
            </a:stretch>
          </a:blip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728" name="Google Shape;728;g2bb8c1dba0d_0_961"/>
          <p:cNvSpPr/>
          <p:nvPr/>
        </p:nvSpPr>
        <p:spPr>
          <a:xfrm>
            <a:off x="1198532" y="4889053"/>
            <a:ext cx="2286300" cy="1178100"/>
          </a:xfrm>
          <a:prstGeom prst="cube">
            <a:avLst>
              <a:gd fmla="val 25000" name="adj"/>
            </a:avLst>
          </a:prstGeom>
          <a:solidFill>
            <a:schemeClr val="lt1">
              <a:alpha val="92549"/>
            </a:schemeClr>
          </a:solid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ConvNet</a:t>
            </a:r>
            <a:endParaRPr b="0" i="0" sz="1600" u="none" cap="none" strike="noStrike">
              <a:solidFill>
                <a:srgbClr val="000000"/>
              </a:solidFill>
              <a:latin typeface="Arial"/>
              <a:ea typeface="Arial"/>
              <a:cs typeface="Arial"/>
              <a:sym typeface="Arial"/>
            </a:endParaRPr>
          </a:p>
        </p:txBody>
      </p:sp>
      <p:cxnSp>
        <p:nvCxnSpPr>
          <p:cNvPr id="729" name="Google Shape;729;g2bb8c1dba0d_0_961"/>
          <p:cNvCxnSpPr/>
          <p:nvPr/>
        </p:nvCxnSpPr>
        <p:spPr>
          <a:xfrm rot="10800000">
            <a:off x="2333937" y="4697435"/>
            <a:ext cx="0" cy="322800"/>
          </a:xfrm>
          <a:prstGeom prst="straightConnector1">
            <a:avLst/>
          </a:prstGeom>
          <a:noFill/>
          <a:ln cap="flat" cmpd="sng" w="57150">
            <a:solidFill>
              <a:schemeClr val="dk1"/>
            </a:solidFill>
            <a:prstDash val="solid"/>
            <a:miter lim="800000"/>
            <a:headEnd len="sm" w="sm" type="none"/>
            <a:tailEnd len="med" w="med" type="triangle"/>
          </a:ln>
        </p:spPr>
      </p:cxnSp>
      <p:sp>
        <p:nvSpPr>
          <p:cNvPr id="730" name="Google Shape;730;g2bb8c1dba0d_0_961"/>
          <p:cNvSpPr txBox="1"/>
          <p:nvPr/>
        </p:nvSpPr>
        <p:spPr>
          <a:xfrm>
            <a:off x="4455741" y="1485681"/>
            <a:ext cx="7736400" cy="3971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Given box in original image, calculate where the box goes.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Example: H=600,W=800</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Feature map is H’=6, W’=8</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Box: left x=50, top y=150, width=250, height=350</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chemeClr val="accent1"/>
              </a:buClr>
              <a:buSzPts val="2800"/>
              <a:buFont typeface="Arial"/>
              <a:buChar char="•"/>
            </a:pPr>
            <a:r>
              <a:rPr b="0" i="0" lang="en-US" sz="2800" u="none" cap="none" strike="noStrike">
                <a:solidFill>
                  <a:schemeClr val="accent1"/>
                </a:solidFill>
                <a:latin typeface="Arial"/>
                <a:ea typeface="Arial"/>
                <a:cs typeface="Arial"/>
                <a:sym typeface="Arial"/>
              </a:rPr>
              <a:t>Feature map box: left x=0.5, y =1.5, width=2.5, height=3.5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Arial"/>
              <a:ea typeface="Arial"/>
              <a:cs typeface="Arial"/>
              <a:sym typeface="Arial"/>
            </a:endParaRPr>
          </a:p>
        </p:txBody>
      </p:sp>
      <p:grpSp>
        <p:nvGrpSpPr>
          <p:cNvPr id="731" name="Google Shape;731;g2bb8c1dba0d_0_961"/>
          <p:cNvGrpSpPr/>
          <p:nvPr/>
        </p:nvGrpSpPr>
        <p:grpSpPr>
          <a:xfrm>
            <a:off x="535802" y="2422627"/>
            <a:ext cx="3596271" cy="2096164"/>
            <a:chOff x="428194" y="2085115"/>
            <a:chExt cx="3263700" cy="2536500"/>
          </a:xfrm>
        </p:grpSpPr>
        <p:grpSp>
          <p:nvGrpSpPr>
            <p:cNvPr id="732" name="Google Shape;732;g2bb8c1dba0d_0_961"/>
            <p:cNvGrpSpPr/>
            <p:nvPr/>
          </p:nvGrpSpPr>
          <p:grpSpPr>
            <a:xfrm>
              <a:off x="428194" y="2085115"/>
              <a:ext cx="3263700" cy="2536500"/>
              <a:chOff x="331256" y="1833238"/>
              <a:chExt cx="3263700" cy="2536500"/>
            </a:xfrm>
          </p:grpSpPr>
          <p:sp>
            <p:nvSpPr>
              <p:cNvPr id="733" name="Google Shape;733;g2bb8c1dba0d_0_961"/>
              <p:cNvSpPr/>
              <p:nvPr/>
            </p:nvSpPr>
            <p:spPr>
              <a:xfrm>
                <a:off x="331256" y="1833238"/>
                <a:ext cx="3263700" cy="2536500"/>
              </a:xfrm>
              <a:prstGeom prst="cube">
                <a:avLst>
                  <a:gd fmla="val 9460" name="adj"/>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734" name="Google Shape;734;g2bb8c1dba0d_0_961"/>
              <p:cNvGrpSpPr/>
              <p:nvPr/>
            </p:nvGrpSpPr>
            <p:grpSpPr>
              <a:xfrm>
                <a:off x="331256" y="2059661"/>
                <a:ext cx="3021041" cy="2310035"/>
                <a:chOff x="331256" y="2050696"/>
                <a:chExt cx="3021041" cy="2310035"/>
              </a:xfrm>
            </p:grpSpPr>
            <p:grpSp>
              <p:nvGrpSpPr>
                <p:cNvPr id="735" name="Google Shape;735;g2bb8c1dba0d_0_961"/>
                <p:cNvGrpSpPr/>
                <p:nvPr/>
              </p:nvGrpSpPr>
              <p:grpSpPr>
                <a:xfrm>
                  <a:off x="331256" y="2050696"/>
                  <a:ext cx="385500" cy="2310035"/>
                  <a:chOff x="331256" y="2043953"/>
                  <a:chExt cx="385500" cy="2310035"/>
                </a:xfrm>
              </p:grpSpPr>
              <p:sp>
                <p:nvSpPr>
                  <p:cNvPr id="736" name="Google Shape;736;g2bb8c1dba0d_0_961"/>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37" name="Google Shape;737;g2bb8c1dba0d_0_961"/>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38" name="Google Shape;738;g2bb8c1dba0d_0_961"/>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39" name="Google Shape;739;g2bb8c1dba0d_0_961"/>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40" name="Google Shape;740;g2bb8c1dba0d_0_961"/>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41" name="Google Shape;741;g2bb8c1dba0d_0_961"/>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742" name="Google Shape;742;g2bb8c1dba0d_0_961"/>
                <p:cNvGrpSpPr/>
                <p:nvPr/>
              </p:nvGrpSpPr>
              <p:grpSpPr>
                <a:xfrm>
                  <a:off x="707762" y="2050696"/>
                  <a:ext cx="385500" cy="2310035"/>
                  <a:chOff x="331256" y="2043953"/>
                  <a:chExt cx="385500" cy="2310035"/>
                </a:xfrm>
              </p:grpSpPr>
              <p:sp>
                <p:nvSpPr>
                  <p:cNvPr id="743" name="Google Shape;743;g2bb8c1dba0d_0_961"/>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44" name="Google Shape;744;g2bb8c1dba0d_0_961"/>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45" name="Google Shape;745;g2bb8c1dba0d_0_961"/>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46" name="Google Shape;746;g2bb8c1dba0d_0_961"/>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47" name="Google Shape;747;g2bb8c1dba0d_0_961"/>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48" name="Google Shape;748;g2bb8c1dba0d_0_961"/>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749" name="Google Shape;749;g2bb8c1dba0d_0_961"/>
                <p:cNvGrpSpPr/>
                <p:nvPr/>
              </p:nvGrpSpPr>
              <p:grpSpPr>
                <a:xfrm>
                  <a:off x="1084268" y="2050696"/>
                  <a:ext cx="385500" cy="2310035"/>
                  <a:chOff x="331256" y="2043953"/>
                  <a:chExt cx="385500" cy="2310035"/>
                </a:xfrm>
              </p:grpSpPr>
              <p:sp>
                <p:nvSpPr>
                  <p:cNvPr id="750" name="Google Shape;750;g2bb8c1dba0d_0_961"/>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51" name="Google Shape;751;g2bb8c1dba0d_0_961"/>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52" name="Google Shape;752;g2bb8c1dba0d_0_961"/>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53" name="Google Shape;753;g2bb8c1dba0d_0_961"/>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54" name="Google Shape;754;g2bb8c1dba0d_0_961"/>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55" name="Google Shape;755;g2bb8c1dba0d_0_961"/>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756" name="Google Shape;756;g2bb8c1dba0d_0_961"/>
                <p:cNvGrpSpPr/>
                <p:nvPr/>
              </p:nvGrpSpPr>
              <p:grpSpPr>
                <a:xfrm>
                  <a:off x="1460774" y="2050696"/>
                  <a:ext cx="385500" cy="2310035"/>
                  <a:chOff x="331256" y="2043953"/>
                  <a:chExt cx="385500" cy="2310035"/>
                </a:xfrm>
              </p:grpSpPr>
              <p:sp>
                <p:nvSpPr>
                  <p:cNvPr id="757" name="Google Shape;757;g2bb8c1dba0d_0_961"/>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58" name="Google Shape;758;g2bb8c1dba0d_0_961"/>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59" name="Google Shape;759;g2bb8c1dba0d_0_961"/>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60" name="Google Shape;760;g2bb8c1dba0d_0_961"/>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61" name="Google Shape;761;g2bb8c1dba0d_0_961"/>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62" name="Google Shape;762;g2bb8c1dba0d_0_961"/>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763" name="Google Shape;763;g2bb8c1dba0d_0_961"/>
                <p:cNvGrpSpPr/>
                <p:nvPr/>
              </p:nvGrpSpPr>
              <p:grpSpPr>
                <a:xfrm>
                  <a:off x="1837280" y="2050696"/>
                  <a:ext cx="385500" cy="2310035"/>
                  <a:chOff x="331256" y="2043953"/>
                  <a:chExt cx="385500" cy="2310035"/>
                </a:xfrm>
              </p:grpSpPr>
              <p:sp>
                <p:nvSpPr>
                  <p:cNvPr id="764" name="Google Shape;764;g2bb8c1dba0d_0_961"/>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65" name="Google Shape;765;g2bb8c1dba0d_0_961"/>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66" name="Google Shape;766;g2bb8c1dba0d_0_961"/>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67" name="Google Shape;767;g2bb8c1dba0d_0_961"/>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68" name="Google Shape;768;g2bb8c1dba0d_0_961"/>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69" name="Google Shape;769;g2bb8c1dba0d_0_961"/>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770" name="Google Shape;770;g2bb8c1dba0d_0_961"/>
                <p:cNvGrpSpPr/>
                <p:nvPr/>
              </p:nvGrpSpPr>
              <p:grpSpPr>
                <a:xfrm>
                  <a:off x="2213786" y="2050696"/>
                  <a:ext cx="385500" cy="2310035"/>
                  <a:chOff x="331256" y="2043953"/>
                  <a:chExt cx="385500" cy="2310035"/>
                </a:xfrm>
              </p:grpSpPr>
              <p:sp>
                <p:nvSpPr>
                  <p:cNvPr id="771" name="Google Shape;771;g2bb8c1dba0d_0_961"/>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72" name="Google Shape;772;g2bb8c1dba0d_0_961"/>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73" name="Google Shape;773;g2bb8c1dba0d_0_961"/>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74" name="Google Shape;774;g2bb8c1dba0d_0_961"/>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75" name="Google Shape;775;g2bb8c1dba0d_0_961"/>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76" name="Google Shape;776;g2bb8c1dba0d_0_961"/>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777" name="Google Shape;777;g2bb8c1dba0d_0_961"/>
                <p:cNvGrpSpPr/>
                <p:nvPr/>
              </p:nvGrpSpPr>
              <p:grpSpPr>
                <a:xfrm>
                  <a:off x="2590292" y="2050696"/>
                  <a:ext cx="385500" cy="2310035"/>
                  <a:chOff x="331256" y="2043953"/>
                  <a:chExt cx="385500" cy="2310035"/>
                </a:xfrm>
              </p:grpSpPr>
              <p:sp>
                <p:nvSpPr>
                  <p:cNvPr id="778" name="Google Shape;778;g2bb8c1dba0d_0_961"/>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79" name="Google Shape;779;g2bb8c1dba0d_0_961"/>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80" name="Google Shape;780;g2bb8c1dba0d_0_961"/>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81" name="Google Shape;781;g2bb8c1dba0d_0_961"/>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82" name="Google Shape;782;g2bb8c1dba0d_0_961"/>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83" name="Google Shape;783;g2bb8c1dba0d_0_961"/>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784" name="Google Shape;784;g2bb8c1dba0d_0_961"/>
                <p:cNvGrpSpPr/>
                <p:nvPr/>
              </p:nvGrpSpPr>
              <p:grpSpPr>
                <a:xfrm>
                  <a:off x="2966797" y="2050696"/>
                  <a:ext cx="385500" cy="2310035"/>
                  <a:chOff x="331256" y="2043953"/>
                  <a:chExt cx="385500" cy="2310035"/>
                </a:xfrm>
              </p:grpSpPr>
              <p:sp>
                <p:nvSpPr>
                  <p:cNvPr id="785" name="Google Shape;785;g2bb8c1dba0d_0_961"/>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86" name="Google Shape;786;g2bb8c1dba0d_0_961"/>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87" name="Google Shape;787;g2bb8c1dba0d_0_961"/>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88" name="Google Shape;788;g2bb8c1dba0d_0_961"/>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89" name="Google Shape;789;g2bb8c1dba0d_0_961"/>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90" name="Google Shape;790;g2bb8c1dba0d_0_961"/>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grpSp>
        <p:sp>
          <p:nvSpPr>
            <p:cNvPr id="791" name="Google Shape;791;g2bb8c1dba0d_0_961"/>
            <p:cNvSpPr/>
            <p:nvPr/>
          </p:nvSpPr>
          <p:spPr>
            <a:xfrm>
              <a:off x="598106" y="2909950"/>
              <a:ext cx="954600" cy="1326000"/>
            </a:xfrm>
            <a:prstGeom prst="rect">
              <a:avLst/>
            </a:prstGeom>
            <a:noFill/>
            <a:ln cap="flat" cmpd="sng" w="762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792" name="Google Shape;792;g2bb8c1dba0d_0_961"/>
          <p:cNvSpPr txBox="1"/>
          <p:nvPr/>
        </p:nvSpPr>
        <p:spPr>
          <a:xfrm>
            <a:off x="212131" y="1486289"/>
            <a:ext cx="4243500" cy="954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Feature Map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(e.g., 6x8x256)</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g2bb8c1dba0d_0_1031"/>
          <p:cNvSpPr txBox="1"/>
          <p:nvPr>
            <p:ph type="title"/>
          </p:nvPr>
        </p:nvSpPr>
        <p:spPr>
          <a:xfrm>
            <a:off x="1117600" y="365125"/>
            <a:ext cx="108732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ROI Pooling/Align</a:t>
            </a:r>
            <a:endParaRPr/>
          </a:p>
        </p:txBody>
      </p:sp>
      <p:sp>
        <p:nvSpPr>
          <p:cNvPr id="798" name="Google Shape;798;g2bb8c1dba0d_0_1031"/>
          <p:cNvSpPr/>
          <p:nvPr/>
        </p:nvSpPr>
        <p:spPr>
          <a:xfrm>
            <a:off x="316596" y="5377335"/>
            <a:ext cx="3928800" cy="975000"/>
          </a:xfrm>
          <a:prstGeom prst="parallelogram">
            <a:avLst>
              <a:gd fmla="val 92429" name="adj"/>
            </a:avLst>
          </a:prstGeom>
          <a:blipFill rotWithShape="1">
            <a:blip r:embed="rId3">
              <a:alphaModFix/>
            </a:blip>
            <a:stretch>
              <a:fillRect b="0" l="0" r="0" t="0"/>
            </a:stretch>
          </a:blip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799" name="Google Shape;799;g2bb8c1dba0d_0_1031"/>
          <p:cNvSpPr/>
          <p:nvPr/>
        </p:nvSpPr>
        <p:spPr>
          <a:xfrm>
            <a:off x="1198532" y="4889053"/>
            <a:ext cx="2286300" cy="1178100"/>
          </a:xfrm>
          <a:prstGeom prst="cube">
            <a:avLst>
              <a:gd fmla="val 25000" name="adj"/>
            </a:avLst>
          </a:prstGeom>
          <a:solidFill>
            <a:schemeClr val="lt1">
              <a:alpha val="92549"/>
            </a:schemeClr>
          </a:solid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ConvNet</a:t>
            </a:r>
            <a:endParaRPr b="0" i="0" sz="1600" u="none" cap="none" strike="noStrike">
              <a:solidFill>
                <a:srgbClr val="000000"/>
              </a:solidFill>
              <a:latin typeface="Arial"/>
              <a:ea typeface="Arial"/>
              <a:cs typeface="Arial"/>
              <a:sym typeface="Arial"/>
            </a:endParaRPr>
          </a:p>
        </p:txBody>
      </p:sp>
      <p:cxnSp>
        <p:nvCxnSpPr>
          <p:cNvPr id="800" name="Google Shape;800;g2bb8c1dba0d_0_1031"/>
          <p:cNvCxnSpPr/>
          <p:nvPr/>
        </p:nvCxnSpPr>
        <p:spPr>
          <a:xfrm rot="10800000">
            <a:off x="2333937" y="4697435"/>
            <a:ext cx="0" cy="322800"/>
          </a:xfrm>
          <a:prstGeom prst="straightConnector1">
            <a:avLst/>
          </a:prstGeom>
          <a:noFill/>
          <a:ln cap="flat" cmpd="sng" w="57150">
            <a:solidFill>
              <a:schemeClr val="dk1"/>
            </a:solidFill>
            <a:prstDash val="solid"/>
            <a:miter lim="800000"/>
            <a:headEnd len="sm" w="sm" type="none"/>
            <a:tailEnd len="med" w="med" type="triangle"/>
          </a:ln>
        </p:spPr>
      </p:cxnSp>
      <p:sp>
        <p:nvSpPr>
          <p:cNvPr id="801" name="Google Shape;801;g2bb8c1dba0d_0_1031"/>
          <p:cNvSpPr txBox="1"/>
          <p:nvPr/>
        </p:nvSpPr>
        <p:spPr>
          <a:xfrm>
            <a:off x="4455741" y="1485681"/>
            <a:ext cx="7736400" cy="4833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Given box in original image, calculate where the box goes.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Example: H=600,W=800</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Feature map is H’=6, W’=8</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Box: left x=50, top y=150, width=250, height=350</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chemeClr val="accent1"/>
              </a:buClr>
              <a:buSzPts val="2800"/>
              <a:buFont typeface="Arial"/>
              <a:buChar char="•"/>
            </a:pPr>
            <a:r>
              <a:rPr b="0" i="0" lang="en-US" sz="2800" u="none" cap="none" strike="noStrike">
                <a:solidFill>
                  <a:schemeClr val="accent1"/>
                </a:solidFill>
                <a:latin typeface="Arial"/>
                <a:ea typeface="Arial"/>
                <a:cs typeface="Arial"/>
                <a:sym typeface="Arial"/>
              </a:rPr>
              <a:t>Feature map box: left x=0.5, y =1.5, width=2.5, height=3.5</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chemeClr val="accent2"/>
              </a:buClr>
              <a:buSzPts val="2800"/>
              <a:buFont typeface="Arial"/>
              <a:buChar char="•"/>
            </a:pPr>
            <a:r>
              <a:rPr b="0" i="0" lang="en-US" sz="2800" u="none" cap="none" strike="noStrike">
                <a:solidFill>
                  <a:schemeClr val="accent2"/>
                </a:solidFill>
                <a:latin typeface="Arial"/>
                <a:ea typeface="Arial"/>
                <a:cs typeface="Arial"/>
                <a:sym typeface="Arial"/>
              </a:rPr>
              <a:t>Other feature map box: left x=2, top y = 1, width=5, height=3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Arial"/>
              <a:ea typeface="Arial"/>
              <a:cs typeface="Arial"/>
              <a:sym typeface="Arial"/>
            </a:endParaRPr>
          </a:p>
        </p:txBody>
      </p:sp>
      <p:grpSp>
        <p:nvGrpSpPr>
          <p:cNvPr id="802" name="Google Shape;802;g2bb8c1dba0d_0_1031"/>
          <p:cNvGrpSpPr/>
          <p:nvPr/>
        </p:nvGrpSpPr>
        <p:grpSpPr>
          <a:xfrm>
            <a:off x="535802" y="2422627"/>
            <a:ext cx="3596271" cy="2096164"/>
            <a:chOff x="428194" y="2085115"/>
            <a:chExt cx="3263700" cy="2536500"/>
          </a:xfrm>
        </p:grpSpPr>
        <p:grpSp>
          <p:nvGrpSpPr>
            <p:cNvPr id="803" name="Google Shape;803;g2bb8c1dba0d_0_1031"/>
            <p:cNvGrpSpPr/>
            <p:nvPr/>
          </p:nvGrpSpPr>
          <p:grpSpPr>
            <a:xfrm>
              <a:off x="428194" y="2085115"/>
              <a:ext cx="3263700" cy="2536500"/>
              <a:chOff x="331256" y="1833238"/>
              <a:chExt cx="3263700" cy="2536500"/>
            </a:xfrm>
          </p:grpSpPr>
          <p:sp>
            <p:nvSpPr>
              <p:cNvPr id="804" name="Google Shape;804;g2bb8c1dba0d_0_1031"/>
              <p:cNvSpPr/>
              <p:nvPr/>
            </p:nvSpPr>
            <p:spPr>
              <a:xfrm>
                <a:off x="331256" y="1833238"/>
                <a:ext cx="3263700" cy="2536500"/>
              </a:xfrm>
              <a:prstGeom prst="cube">
                <a:avLst>
                  <a:gd fmla="val 9460" name="adj"/>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805" name="Google Shape;805;g2bb8c1dba0d_0_1031"/>
              <p:cNvGrpSpPr/>
              <p:nvPr/>
            </p:nvGrpSpPr>
            <p:grpSpPr>
              <a:xfrm>
                <a:off x="331256" y="2059661"/>
                <a:ext cx="3021041" cy="2310035"/>
                <a:chOff x="331256" y="2050696"/>
                <a:chExt cx="3021041" cy="2310035"/>
              </a:xfrm>
            </p:grpSpPr>
            <p:grpSp>
              <p:nvGrpSpPr>
                <p:cNvPr id="806" name="Google Shape;806;g2bb8c1dba0d_0_1031"/>
                <p:cNvGrpSpPr/>
                <p:nvPr/>
              </p:nvGrpSpPr>
              <p:grpSpPr>
                <a:xfrm>
                  <a:off x="331256" y="2050696"/>
                  <a:ext cx="385500" cy="2310035"/>
                  <a:chOff x="331256" y="2043953"/>
                  <a:chExt cx="385500" cy="2310035"/>
                </a:xfrm>
              </p:grpSpPr>
              <p:sp>
                <p:nvSpPr>
                  <p:cNvPr id="807" name="Google Shape;807;g2bb8c1dba0d_0_1031"/>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08" name="Google Shape;808;g2bb8c1dba0d_0_1031"/>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09" name="Google Shape;809;g2bb8c1dba0d_0_1031"/>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10" name="Google Shape;810;g2bb8c1dba0d_0_1031"/>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11" name="Google Shape;811;g2bb8c1dba0d_0_1031"/>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12" name="Google Shape;812;g2bb8c1dba0d_0_1031"/>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813" name="Google Shape;813;g2bb8c1dba0d_0_1031"/>
                <p:cNvGrpSpPr/>
                <p:nvPr/>
              </p:nvGrpSpPr>
              <p:grpSpPr>
                <a:xfrm>
                  <a:off x="707762" y="2050696"/>
                  <a:ext cx="385500" cy="2310035"/>
                  <a:chOff x="331256" y="2043953"/>
                  <a:chExt cx="385500" cy="2310035"/>
                </a:xfrm>
              </p:grpSpPr>
              <p:sp>
                <p:nvSpPr>
                  <p:cNvPr id="814" name="Google Shape;814;g2bb8c1dba0d_0_1031"/>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15" name="Google Shape;815;g2bb8c1dba0d_0_1031"/>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16" name="Google Shape;816;g2bb8c1dba0d_0_1031"/>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17" name="Google Shape;817;g2bb8c1dba0d_0_1031"/>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18" name="Google Shape;818;g2bb8c1dba0d_0_1031"/>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19" name="Google Shape;819;g2bb8c1dba0d_0_1031"/>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820" name="Google Shape;820;g2bb8c1dba0d_0_1031"/>
                <p:cNvGrpSpPr/>
                <p:nvPr/>
              </p:nvGrpSpPr>
              <p:grpSpPr>
                <a:xfrm>
                  <a:off x="1084268" y="2050696"/>
                  <a:ext cx="385500" cy="2310035"/>
                  <a:chOff x="331256" y="2043953"/>
                  <a:chExt cx="385500" cy="2310035"/>
                </a:xfrm>
              </p:grpSpPr>
              <p:sp>
                <p:nvSpPr>
                  <p:cNvPr id="821" name="Google Shape;821;g2bb8c1dba0d_0_1031"/>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22" name="Google Shape;822;g2bb8c1dba0d_0_1031"/>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23" name="Google Shape;823;g2bb8c1dba0d_0_1031"/>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24" name="Google Shape;824;g2bb8c1dba0d_0_1031"/>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25" name="Google Shape;825;g2bb8c1dba0d_0_1031"/>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26" name="Google Shape;826;g2bb8c1dba0d_0_1031"/>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827" name="Google Shape;827;g2bb8c1dba0d_0_1031"/>
                <p:cNvGrpSpPr/>
                <p:nvPr/>
              </p:nvGrpSpPr>
              <p:grpSpPr>
                <a:xfrm>
                  <a:off x="1460774" y="2050696"/>
                  <a:ext cx="385500" cy="2310035"/>
                  <a:chOff x="331256" y="2043953"/>
                  <a:chExt cx="385500" cy="2310035"/>
                </a:xfrm>
              </p:grpSpPr>
              <p:sp>
                <p:nvSpPr>
                  <p:cNvPr id="828" name="Google Shape;828;g2bb8c1dba0d_0_1031"/>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29" name="Google Shape;829;g2bb8c1dba0d_0_1031"/>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30" name="Google Shape;830;g2bb8c1dba0d_0_1031"/>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31" name="Google Shape;831;g2bb8c1dba0d_0_1031"/>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32" name="Google Shape;832;g2bb8c1dba0d_0_1031"/>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33" name="Google Shape;833;g2bb8c1dba0d_0_1031"/>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834" name="Google Shape;834;g2bb8c1dba0d_0_1031"/>
                <p:cNvGrpSpPr/>
                <p:nvPr/>
              </p:nvGrpSpPr>
              <p:grpSpPr>
                <a:xfrm>
                  <a:off x="1837280" y="2050696"/>
                  <a:ext cx="385500" cy="2310035"/>
                  <a:chOff x="331256" y="2043953"/>
                  <a:chExt cx="385500" cy="2310035"/>
                </a:xfrm>
              </p:grpSpPr>
              <p:sp>
                <p:nvSpPr>
                  <p:cNvPr id="835" name="Google Shape;835;g2bb8c1dba0d_0_1031"/>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36" name="Google Shape;836;g2bb8c1dba0d_0_1031"/>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37" name="Google Shape;837;g2bb8c1dba0d_0_1031"/>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38" name="Google Shape;838;g2bb8c1dba0d_0_1031"/>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39" name="Google Shape;839;g2bb8c1dba0d_0_1031"/>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40" name="Google Shape;840;g2bb8c1dba0d_0_1031"/>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841" name="Google Shape;841;g2bb8c1dba0d_0_1031"/>
                <p:cNvGrpSpPr/>
                <p:nvPr/>
              </p:nvGrpSpPr>
              <p:grpSpPr>
                <a:xfrm>
                  <a:off x="2213786" y="2050696"/>
                  <a:ext cx="385500" cy="2310035"/>
                  <a:chOff x="331256" y="2043953"/>
                  <a:chExt cx="385500" cy="2310035"/>
                </a:xfrm>
              </p:grpSpPr>
              <p:sp>
                <p:nvSpPr>
                  <p:cNvPr id="842" name="Google Shape;842;g2bb8c1dba0d_0_1031"/>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43" name="Google Shape;843;g2bb8c1dba0d_0_1031"/>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44" name="Google Shape;844;g2bb8c1dba0d_0_1031"/>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45" name="Google Shape;845;g2bb8c1dba0d_0_1031"/>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46" name="Google Shape;846;g2bb8c1dba0d_0_1031"/>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47" name="Google Shape;847;g2bb8c1dba0d_0_1031"/>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848" name="Google Shape;848;g2bb8c1dba0d_0_1031"/>
                <p:cNvGrpSpPr/>
                <p:nvPr/>
              </p:nvGrpSpPr>
              <p:grpSpPr>
                <a:xfrm>
                  <a:off x="2590292" y="2050696"/>
                  <a:ext cx="385500" cy="2310035"/>
                  <a:chOff x="331256" y="2043953"/>
                  <a:chExt cx="385500" cy="2310035"/>
                </a:xfrm>
              </p:grpSpPr>
              <p:sp>
                <p:nvSpPr>
                  <p:cNvPr id="849" name="Google Shape;849;g2bb8c1dba0d_0_1031"/>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50" name="Google Shape;850;g2bb8c1dba0d_0_1031"/>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51" name="Google Shape;851;g2bb8c1dba0d_0_1031"/>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52" name="Google Shape;852;g2bb8c1dba0d_0_1031"/>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53" name="Google Shape;853;g2bb8c1dba0d_0_1031"/>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54" name="Google Shape;854;g2bb8c1dba0d_0_1031"/>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855" name="Google Shape;855;g2bb8c1dba0d_0_1031"/>
                <p:cNvGrpSpPr/>
                <p:nvPr/>
              </p:nvGrpSpPr>
              <p:grpSpPr>
                <a:xfrm>
                  <a:off x="2966797" y="2050696"/>
                  <a:ext cx="385500" cy="2310035"/>
                  <a:chOff x="331256" y="2043953"/>
                  <a:chExt cx="385500" cy="2310035"/>
                </a:xfrm>
              </p:grpSpPr>
              <p:sp>
                <p:nvSpPr>
                  <p:cNvPr id="856" name="Google Shape;856;g2bb8c1dba0d_0_1031"/>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57" name="Google Shape;857;g2bb8c1dba0d_0_1031"/>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58" name="Google Shape;858;g2bb8c1dba0d_0_1031"/>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59" name="Google Shape;859;g2bb8c1dba0d_0_1031"/>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60" name="Google Shape;860;g2bb8c1dba0d_0_1031"/>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61" name="Google Shape;861;g2bb8c1dba0d_0_1031"/>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grpSp>
        <p:sp>
          <p:nvSpPr>
            <p:cNvPr id="862" name="Google Shape;862;g2bb8c1dba0d_0_1031"/>
            <p:cNvSpPr/>
            <p:nvPr/>
          </p:nvSpPr>
          <p:spPr>
            <a:xfrm>
              <a:off x="598106" y="2909950"/>
              <a:ext cx="954600" cy="1326000"/>
            </a:xfrm>
            <a:prstGeom prst="rect">
              <a:avLst/>
            </a:prstGeom>
            <a:noFill/>
            <a:ln cap="flat" cmpd="sng" w="762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863" name="Google Shape;863;g2bb8c1dba0d_0_1031"/>
          <p:cNvSpPr txBox="1"/>
          <p:nvPr/>
        </p:nvSpPr>
        <p:spPr>
          <a:xfrm>
            <a:off x="212131" y="1486289"/>
            <a:ext cx="4243500" cy="954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Feature Map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(e.g., 6x8x256)</a:t>
            </a:r>
            <a:endParaRPr b="0" i="0" sz="1400" u="none" cap="none" strike="noStrike">
              <a:solidFill>
                <a:srgbClr val="000000"/>
              </a:solidFill>
              <a:latin typeface="Arial"/>
              <a:ea typeface="Arial"/>
              <a:cs typeface="Arial"/>
              <a:sym typeface="Arial"/>
            </a:endParaRPr>
          </a:p>
        </p:txBody>
      </p:sp>
      <p:sp>
        <p:nvSpPr>
          <p:cNvPr id="864" name="Google Shape;864;g2bb8c1dba0d_0_1031"/>
          <p:cNvSpPr/>
          <p:nvPr/>
        </p:nvSpPr>
        <p:spPr>
          <a:xfrm>
            <a:off x="1365580" y="2931720"/>
            <a:ext cx="2048400" cy="950700"/>
          </a:xfrm>
          <a:prstGeom prst="rect">
            <a:avLst/>
          </a:prstGeom>
          <a:noFill/>
          <a:ln cap="flat" cmpd="sng" w="762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g2bb8c1dba0d_0_1102"/>
          <p:cNvSpPr txBox="1"/>
          <p:nvPr>
            <p:ph type="title"/>
          </p:nvPr>
        </p:nvSpPr>
        <p:spPr>
          <a:xfrm>
            <a:off x="1117600" y="365125"/>
            <a:ext cx="103422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ROI Pooling/Align</a:t>
            </a:r>
            <a:endParaRPr/>
          </a:p>
        </p:txBody>
      </p:sp>
      <p:sp>
        <p:nvSpPr>
          <p:cNvPr id="870" name="Google Shape;870;g2bb8c1dba0d_0_1102"/>
          <p:cNvSpPr/>
          <p:nvPr/>
        </p:nvSpPr>
        <p:spPr>
          <a:xfrm>
            <a:off x="316596" y="5377335"/>
            <a:ext cx="3928800" cy="975000"/>
          </a:xfrm>
          <a:prstGeom prst="parallelogram">
            <a:avLst>
              <a:gd fmla="val 92429" name="adj"/>
            </a:avLst>
          </a:prstGeom>
          <a:blipFill rotWithShape="1">
            <a:blip r:embed="rId3">
              <a:alphaModFix/>
            </a:blip>
            <a:stretch>
              <a:fillRect b="0" l="0" r="0" t="0"/>
            </a:stretch>
          </a:blip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871" name="Google Shape;871;g2bb8c1dba0d_0_1102"/>
          <p:cNvSpPr/>
          <p:nvPr/>
        </p:nvSpPr>
        <p:spPr>
          <a:xfrm>
            <a:off x="1198532" y="4889053"/>
            <a:ext cx="2286300" cy="1178100"/>
          </a:xfrm>
          <a:prstGeom prst="cube">
            <a:avLst>
              <a:gd fmla="val 25000" name="adj"/>
            </a:avLst>
          </a:prstGeom>
          <a:solidFill>
            <a:schemeClr val="lt1">
              <a:alpha val="92549"/>
            </a:schemeClr>
          </a:solid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ConvNet</a:t>
            </a:r>
            <a:endParaRPr b="0" i="0" sz="1600" u="none" cap="none" strike="noStrike">
              <a:solidFill>
                <a:srgbClr val="000000"/>
              </a:solidFill>
              <a:latin typeface="Arial"/>
              <a:ea typeface="Arial"/>
              <a:cs typeface="Arial"/>
              <a:sym typeface="Arial"/>
            </a:endParaRPr>
          </a:p>
        </p:txBody>
      </p:sp>
      <p:cxnSp>
        <p:nvCxnSpPr>
          <p:cNvPr id="872" name="Google Shape;872;g2bb8c1dba0d_0_1102"/>
          <p:cNvCxnSpPr/>
          <p:nvPr/>
        </p:nvCxnSpPr>
        <p:spPr>
          <a:xfrm rot="10800000">
            <a:off x="2333937" y="4697435"/>
            <a:ext cx="0" cy="322800"/>
          </a:xfrm>
          <a:prstGeom prst="straightConnector1">
            <a:avLst/>
          </a:prstGeom>
          <a:noFill/>
          <a:ln cap="flat" cmpd="sng" w="57150">
            <a:solidFill>
              <a:schemeClr val="dk1"/>
            </a:solidFill>
            <a:prstDash val="solid"/>
            <a:miter lim="800000"/>
            <a:headEnd len="sm" w="sm" type="none"/>
            <a:tailEnd len="med" w="med" type="triangle"/>
          </a:ln>
        </p:spPr>
      </p:cxnSp>
      <p:grpSp>
        <p:nvGrpSpPr>
          <p:cNvPr id="873" name="Google Shape;873;g2bb8c1dba0d_0_1102"/>
          <p:cNvGrpSpPr/>
          <p:nvPr/>
        </p:nvGrpSpPr>
        <p:grpSpPr>
          <a:xfrm>
            <a:off x="535802" y="2422627"/>
            <a:ext cx="3596271" cy="2096164"/>
            <a:chOff x="428194" y="2085115"/>
            <a:chExt cx="3263700" cy="2536500"/>
          </a:xfrm>
        </p:grpSpPr>
        <p:grpSp>
          <p:nvGrpSpPr>
            <p:cNvPr id="874" name="Google Shape;874;g2bb8c1dba0d_0_1102"/>
            <p:cNvGrpSpPr/>
            <p:nvPr/>
          </p:nvGrpSpPr>
          <p:grpSpPr>
            <a:xfrm>
              <a:off x="428194" y="2085115"/>
              <a:ext cx="3263700" cy="2536500"/>
              <a:chOff x="331256" y="1833238"/>
              <a:chExt cx="3263700" cy="2536500"/>
            </a:xfrm>
          </p:grpSpPr>
          <p:sp>
            <p:nvSpPr>
              <p:cNvPr id="875" name="Google Shape;875;g2bb8c1dba0d_0_1102"/>
              <p:cNvSpPr/>
              <p:nvPr/>
            </p:nvSpPr>
            <p:spPr>
              <a:xfrm>
                <a:off x="331256" y="1833238"/>
                <a:ext cx="3263700" cy="2536500"/>
              </a:xfrm>
              <a:prstGeom prst="cube">
                <a:avLst>
                  <a:gd fmla="val 9460" name="adj"/>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876" name="Google Shape;876;g2bb8c1dba0d_0_1102"/>
              <p:cNvGrpSpPr/>
              <p:nvPr/>
            </p:nvGrpSpPr>
            <p:grpSpPr>
              <a:xfrm>
                <a:off x="331256" y="2059661"/>
                <a:ext cx="3021041" cy="2310035"/>
                <a:chOff x="331256" y="2050696"/>
                <a:chExt cx="3021041" cy="2310035"/>
              </a:xfrm>
            </p:grpSpPr>
            <p:grpSp>
              <p:nvGrpSpPr>
                <p:cNvPr id="877" name="Google Shape;877;g2bb8c1dba0d_0_1102"/>
                <p:cNvGrpSpPr/>
                <p:nvPr/>
              </p:nvGrpSpPr>
              <p:grpSpPr>
                <a:xfrm>
                  <a:off x="331256" y="2050696"/>
                  <a:ext cx="385500" cy="2310035"/>
                  <a:chOff x="331256" y="2043953"/>
                  <a:chExt cx="385500" cy="2310035"/>
                </a:xfrm>
              </p:grpSpPr>
              <p:sp>
                <p:nvSpPr>
                  <p:cNvPr id="878" name="Google Shape;878;g2bb8c1dba0d_0_1102"/>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79" name="Google Shape;879;g2bb8c1dba0d_0_1102"/>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80" name="Google Shape;880;g2bb8c1dba0d_0_1102"/>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81" name="Google Shape;881;g2bb8c1dba0d_0_1102"/>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82" name="Google Shape;882;g2bb8c1dba0d_0_1102"/>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83" name="Google Shape;883;g2bb8c1dba0d_0_1102"/>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884" name="Google Shape;884;g2bb8c1dba0d_0_1102"/>
                <p:cNvGrpSpPr/>
                <p:nvPr/>
              </p:nvGrpSpPr>
              <p:grpSpPr>
                <a:xfrm>
                  <a:off x="707762" y="2050696"/>
                  <a:ext cx="385500" cy="2310035"/>
                  <a:chOff x="331256" y="2043953"/>
                  <a:chExt cx="385500" cy="2310035"/>
                </a:xfrm>
              </p:grpSpPr>
              <p:sp>
                <p:nvSpPr>
                  <p:cNvPr id="885" name="Google Shape;885;g2bb8c1dba0d_0_1102"/>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86" name="Google Shape;886;g2bb8c1dba0d_0_1102"/>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87" name="Google Shape;887;g2bb8c1dba0d_0_1102"/>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88" name="Google Shape;888;g2bb8c1dba0d_0_1102"/>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89" name="Google Shape;889;g2bb8c1dba0d_0_1102"/>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90" name="Google Shape;890;g2bb8c1dba0d_0_1102"/>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891" name="Google Shape;891;g2bb8c1dba0d_0_1102"/>
                <p:cNvGrpSpPr/>
                <p:nvPr/>
              </p:nvGrpSpPr>
              <p:grpSpPr>
                <a:xfrm>
                  <a:off x="1084268" y="2050696"/>
                  <a:ext cx="385500" cy="2310035"/>
                  <a:chOff x="331256" y="2043953"/>
                  <a:chExt cx="385500" cy="2310035"/>
                </a:xfrm>
              </p:grpSpPr>
              <p:sp>
                <p:nvSpPr>
                  <p:cNvPr id="892" name="Google Shape;892;g2bb8c1dba0d_0_1102"/>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93" name="Google Shape;893;g2bb8c1dba0d_0_1102"/>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94" name="Google Shape;894;g2bb8c1dba0d_0_1102"/>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95" name="Google Shape;895;g2bb8c1dba0d_0_1102"/>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96" name="Google Shape;896;g2bb8c1dba0d_0_1102"/>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97" name="Google Shape;897;g2bb8c1dba0d_0_1102"/>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898" name="Google Shape;898;g2bb8c1dba0d_0_1102"/>
                <p:cNvGrpSpPr/>
                <p:nvPr/>
              </p:nvGrpSpPr>
              <p:grpSpPr>
                <a:xfrm>
                  <a:off x="1460774" y="2050696"/>
                  <a:ext cx="385500" cy="2310035"/>
                  <a:chOff x="331256" y="2043953"/>
                  <a:chExt cx="385500" cy="2310035"/>
                </a:xfrm>
              </p:grpSpPr>
              <p:sp>
                <p:nvSpPr>
                  <p:cNvPr id="899" name="Google Shape;899;g2bb8c1dba0d_0_1102"/>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00" name="Google Shape;900;g2bb8c1dba0d_0_1102"/>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01" name="Google Shape;901;g2bb8c1dba0d_0_1102"/>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02" name="Google Shape;902;g2bb8c1dba0d_0_1102"/>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03" name="Google Shape;903;g2bb8c1dba0d_0_1102"/>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04" name="Google Shape;904;g2bb8c1dba0d_0_1102"/>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905" name="Google Shape;905;g2bb8c1dba0d_0_1102"/>
                <p:cNvGrpSpPr/>
                <p:nvPr/>
              </p:nvGrpSpPr>
              <p:grpSpPr>
                <a:xfrm>
                  <a:off x="1837280" y="2050696"/>
                  <a:ext cx="385500" cy="2310035"/>
                  <a:chOff x="331256" y="2043953"/>
                  <a:chExt cx="385500" cy="2310035"/>
                </a:xfrm>
              </p:grpSpPr>
              <p:sp>
                <p:nvSpPr>
                  <p:cNvPr id="906" name="Google Shape;906;g2bb8c1dba0d_0_1102"/>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07" name="Google Shape;907;g2bb8c1dba0d_0_1102"/>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08" name="Google Shape;908;g2bb8c1dba0d_0_1102"/>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09" name="Google Shape;909;g2bb8c1dba0d_0_1102"/>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10" name="Google Shape;910;g2bb8c1dba0d_0_1102"/>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11" name="Google Shape;911;g2bb8c1dba0d_0_1102"/>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912" name="Google Shape;912;g2bb8c1dba0d_0_1102"/>
                <p:cNvGrpSpPr/>
                <p:nvPr/>
              </p:nvGrpSpPr>
              <p:grpSpPr>
                <a:xfrm>
                  <a:off x="2213786" y="2050696"/>
                  <a:ext cx="385500" cy="2310035"/>
                  <a:chOff x="331256" y="2043953"/>
                  <a:chExt cx="385500" cy="2310035"/>
                </a:xfrm>
              </p:grpSpPr>
              <p:sp>
                <p:nvSpPr>
                  <p:cNvPr id="913" name="Google Shape;913;g2bb8c1dba0d_0_1102"/>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14" name="Google Shape;914;g2bb8c1dba0d_0_1102"/>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15" name="Google Shape;915;g2bb8c1dba0d_0_1102"/>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16" name="Google Shape;916;g2bb8c1dba0d_0_1102"/>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17" name="Google Shape;917;g2bb8c1dba0d_0_1102"/>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18" name="Google Shape;918;g2bb8c1dba0d_0_1102"/>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919" name="Google Shape;919;g2bb8c1dba0d_0_1102"/>
                <p:cNvGrpSpPr/>
                <p:nvPr/>
              </p:nvGrpSpPr>
              <p:grpSpPr>
                <a:xfrm>
                  <a:off x="2590292" y="2050696"/>
                  <a:ext cx="385500" cy="2310035"/>
                  <a:chOff x="331256" y="2043953"/>
                  <a:chExt cx="385500" cy="2310035"/>
                </a:xfrm>
              </p:grpSpPr>
              <p:sp>
                <p:nvSpPr>
                  <p:cNvPr id="920" name="Google Shape;920;g2bb8c1dba0d_0_1102"/>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21" name="Google Shape;921;g2bb8c1dba0d_0_1102"/>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22" name="Google Shape;922;g2bb8c1dba0d_0_1102"/>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23" name="Google Shape;923;g2bb8c1dba0d_0_1102"/>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24" name="Google Shape;924;g2bb8c1dba0d_0_1102"/>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25" name="Google Shape;925;g2bb8c1dba0d_0_1102"/>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926" name="Google Shape;926;g2bb8c1dba0d_0_1102"/>
                <p:cNvGrpSpPr/>
                <p:nvPr/>
              </p:nvGrpSpPr>
              <p:grpSpPr>
                <a:xfrm>
                  <a:off x="2966797" y="2050696"/>
                  <a:ext cx="385500" cy="2310035"/>
                  <a:chOff x="331256" y="2043953"/>
                  <a:chExt cx="385500" cy="2310035"/>
                </a:xfrm>
              </p:grpSpPr>
              <p:sp>
                <p:nvSpPr>
                  <p:cNvPr id="927" name="Google Shape;927;g2bb8c1dba0d_0_1102"/>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28" name="Google Shape;928;g2bb8c1dba0d_0_1102"/>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29" name="Google Shape;929;g2bb8c1dba0d_0_1102"/>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30" name="Google Shape;930;g2bb8c1dba0d_0_1102"/>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31" name="Google Shape;931;g2bb8c1dba0d_0_1102"/>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32" name="Google Shape;932;g2bb8c1dba0d_0_1102"/>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grpSp>
        <p:sp>
          <p:nvSpPr>
            <p:cNvPr id="933" name="Google Shape;933;g2bb8c1dba0d_0_1102"/>
            <p:cNvSpPr/>
            <p:nvPr/>
          </p:nvSpPr>
          <p:spPr>
            <a:xfrm>
              <a:off x="598106" y="2909950"/>
              <a:ext cx="954600" cy="1326000"/>
            </a:xfrm>
            <a:prstGeom prst="rect">
              <a:avLst/>
            </a:prstGeom>
            <a:noFill/>
            <a:ln cap="flat" cmpd="sng" w="762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934" name="Google Shape;934;g2bb8c1dba0d_0_1102"/>
          <p:cNvSpPr txBox="1"/>
          <p:nvPr/>
        </p:nvSpPr>
        <p:spPr>
          <a:xfrm>
            <a:off x="212131" y="1486289"/>
            <a:ext cx="4243500" cy="954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Feature Map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(e.g., 6x8x256)</a:t>
            </a:r>
            <a:endParaRPr b="0" i="0" sz="1400" u="none" cap="none" strike="noStrike">
              <a:solidFill>
                <a:srgbClr val="000000"/>
              </a:solidFill>
              <a:latin typeface="Arial"/>
              <a:ea typeface="Arial"/>
              <a:cs typeface="Arial"/>
              <a:sym typeface="Arial"/>
            </a:endParaRPr>
          </a:p>
        </p:txBody>
      </p:sp>
      <p:sp>
        <p:nvSpPr>
          <p:cNvPr id="935" name="Google Shape;935;g2bb8c1dba0d_0_1102"/>
          <p:cNvSpPr/>
          <p:nvPr/>
        </p:nvSpPr>
        <p:spPr>
          <a:xfrm>
            <a:off x="1365580" y="2931720"/>
            <a:ext cx="2048400" cy="950700"/>
          </a:xfrm>
          <a:prstGeom prst="rect">
            <a:avLst/>
          </a:prstGeom>
          <a:noFill/>
          <a:ln cap="flat" cmpd="sng" w="762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936" name="Google Shape;936;g2bb8c1dba0d_0_1102"/>
          <p:cNvGrpSpPr/>
          <p:nvPr/>
        </p:nvGrpSpPr>
        <p:grpSpPr>
          <a:xfrm>
            <a:off x="5088875" y="2943190"/>
            <a:ext cx="839662" cy="636776"/>
            <a:chOff x="3594152" y="2927480"/>
            <a:chExt cx="629762" cy="636776"/>
          </a:xfrm>
        </p:grpSpPr>
        <p:sp>
          <p:nvSpPr>
            <p:cNvPr id="937" name="Google Shape;937;g2bb8c1dba0d_0_1102"/>
            <p:cNvSpPr/>
            <p:nvPr/>
          </p:nvSpPr>
          <p:spPr>
            <a:xfrm>
              <a:off x="3594152" y="2927480"/>
              <a:ext cx="318600" cy="3186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38" name="Google Shape;938;g2bb8c1dba0d_0_1102"/>
            <p:cNvSpPr/>
            <p:nvPr/>
          </p:nvSpPr>
          <p:spPr>
            <a:xfrm>
              <a:off x="3594152" y="3245585"/>
              <a:ext cx="318600" cy="3186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39" name="Google Shape;939;g2bb8c1dba0d_0_1102"/>
            <p:cNvSpPr/>
            <p:nvPr/>
          </p:nvSpPr>
          <p:spPr>
            <a:xfrm>
              <a:off x="3905314" y="2927480"/>
              <a:ext cx="318600" cy="3186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40" name="Google Shape;940;g2bb8c1dba0d_0_1102"/>
            <p:cNvSpPr/>
            <p:nvPr/>
          </p:nvSpPr>
          <p:spPr>
            <a:xfrm>
              <a:off x="3905314" y="3245585"/>
              <a:ext cx="318600" cy="3186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41" name="Google Shape;941;g2bb8c1dba0d_0_1102"/>
            <p:cNvSpPr/>
            <p:nvPr/>
          </p:nvSpPr>
          <p:spPr>
            <a:xfrm>
              <a:off x="3597056" y="2927956"/>
              <a:ext cx="626700" cy="636300"/>
            </a:xfrm>
            <a:prstGeom prst="rect">
              <a:avLst/>
            </a:prstGeom>
            <a:noFill/>
            <a:ln cap="flat" cmpd="sng" w="762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942" name="Google Shape;942;g2bb8c1dba0d_0_1102"/>
          <p:cNvGrpSpPr/>
          <p:nvPr/>
        </p:nvGrpSpPr>
        <p:grpSpPr>
          <a:xfrm>
            <a:off x="5093820" y="3764802"/>
            <a:ext cx="839662" cy="636776"/>
            <a:chOff x="3594152" y="2927480"/>
            <a:chExt cx="629762" cy="636776"/>
          </a:xfrm>
        </p:grpSpPr>
        <p:sp>
          <p:nvSpPr>
            <p:cNvPr id="943" name="Google Shape;943;g2bb8c1dba0d_0_1102"/>
            <p:cNvSpPr/>
            <p:nvPr/>
          </p:nvSpPr>
          <p:spPr>
            <a:xfrm>
              <a:off x="3594152" y="2927480"/>
              <a:ext cx="318600" cy="3186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44" name="Google Shape;944;g2bb8c1dba0d_0_1102"/>
            <p:cNvSpPr/>
            <p:nvPr/>
          </p:nvSpPr>
          <p:spPr>
            <a:xfrm>
              <a:off x="3594152" y="3245585"/>
              <a:ext cx="318600" cy="3186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45" name="Google Shape;945;g2bb8c1dba0d_0_1102"/>
            <p:cNvSpPr/>
            <p:nvPr/>
          </p:nvSpPr>
          <p:spPr>
            <a:xfrm>
              <a:off x="3905314" y="2927480"/>
              <a:ext cx="318600" cy="3186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46" name="Google Shape;946;g2bb8c1dba0d_0_1102"/>
            <p:cNvSpPr/>
            <p:nvPr/>
          </p:nvSpPr>
          <p:spPr>
            <a:xfrm>
              <a:off x="3905314" y="3245585"/>
              <a:ext cx="318600" cy="3186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47" name="Google Shape;947;g2bb8c1dba0d_0_1102"/>
            <p:cNvSpPr/>
            <p:nvPr/>
          </p:nvSpPr>
          <p:spPr>
            <a:xfrm>
              <a:off x="3597056" y="2927956"/>
              <a:ext cx="626700" cy="636300"/>
            </a:xfrm>
            <a:prstGeom prst="rect">
              <a:avLst/>
            </a:prstGeom>
            <a:noFill/>
            <a:ln cap="flat" cmpd="sng" w="762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cxnSp>
        <p:nvCxnSpPr>
          <p:cNvPr id="948" name="Google Shape;948;g2bb8c1dba0d_0_1102"/>
          <p:cNvCxnSpPr>
            <a:stCxn id="935" idx="3"/>
            <a:endCxn id="941" idx="1"/>
          </p:cNvCxnSpPr>
          <p:nvPr/>
        </p:nvCxnSpPr>
        <p:spPr>
          <a:xfrm flipH="1" rot="10800000">
            <a:off x="3413980" y="3261870"/>
            <a:ext cx="1678800" cy="145200"/>
          </a:xfrm>
          <a:prstGeom prst="curvedConnector3">
            <a:avLst>
              <a:gd fmla="val 50000" name="adj1"/>
            </a:avLst>
          </a:prstGeom>
          <a:noFill/>
          <a:ln cap="flat" cmpd="sng" w="76200">
            <a:solidFill>
              <a:schemeClr val="accent2"/>
            </a:solidFill>
            <a:prstDash val="solid"/>
            <a:miter lim="800000"/>
            <a:headEnd len="sm" w="sm" type="none"/>
            <a:tailEnd len="med" w="med" type="triangle"/>
          </a:ln>
        </p:spPr>
      </p:cxnSp>
      <p:cxnSp>
        <p:nvCxnSpPr>
          <p:cNvPr id="949" name="Google Shape;949;g2bb8c1dba0d_0_1102"/>
          <p:cNvCxnSpPr>
            <a:stCxn id="933" idx="3"/>
            <a:endCxn id="947" idx="1"/>
          </p:cNvCxnSpPr>
          <p:nvPr/>
        </p:nvCxnSpPr>
        <p:spPr>
          <a:xfrm>
            <a:off x="1774902" y="3652174"/>
            <a:ext cx="3322800" cy="431400"/>
          </a:xfrm>
          <a:prstGeom prst="curvedConnector3">
            <a:avLst>
              <a:gd fmla="val 50000" name="adj1"/>
            </a:avLst>
          </a:prstGeom>
          <a:noFill/>
          <a:ln cap="flat" cmpd="sng" w="76200">
            <a:solidFill>
              <a:schemeClr val="accent1"/>
            </a:solidFill>
            <a:prstDash val="solid"/>
            <a:miter lim="800000"/>
            <a:headEnd len="sm" w="sm" type="none"/>
            <a:tailEnd len="med" w="med" type="triangle"/>
          </a:ln>
        </p:spPr>
      </p:cxnSp>
      <p:sp>
        <p:nvSpPr>
          <p:cNvPr id="950" name="Google Shape;950;g2bb8c1dba0d_0_1102"/>
          <p:cNvSpPr/>
          <p:nvPr/>
        </p:nvSpPr>
        <p:spPr>
          <a:xfrm>
            <a:off x="6735123" y="3150662"/>
            <a:ext cx="741300" cy="1091400"/>
          </a:xfrm>
          <a:prstGeom prst="cube">
            <a:avLst>
              <a:gd fmla="val 67261" name="adj"/>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51" name="Google Shape;951;g2bb8c1dba0d_0_1102"/>
          <p:cNvSpPr/>
          <p:nvPr/>
        </p:nvSpPr>
        <p:spPr>
          <a:xfrm>
            <a:off x="7289212" y="3272289"/>
            <a:ext cx="612300" cy="902100"/>
          </a:xfrm>
          <a:prstGeom prst="cube">
            <a:avLst>
              <a:gd fmla="val 67261" name="adj"/>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52" name="Google Shape;952;g2bb8c1dba0d_0_1102"/>
          <p:cNvSpPr/>
          <p:nvPr/>
        </p:nvSpPr>
        <p:spPr>
          <a:xfrm>
            <a:off x="7800199" y="3429174"/>
            <a:ext cx="459900" cy="509100"/>
          </a:xfrm>
          <a:prstGeom prst="cube">
            <a:avLst>
              <a:gd fmla="val 58129" name="adj"/>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53" name="Google Shape;953;g2bb8c1dba0d_0_1102"/>
          <p:cNvSpPr/>
          <p:nvPr/>
        </p:nvSpPr>
        <p:spPr>
          <a:xfrm>
            <a:off x="8407276" y="3606428"/>
            <a:ext cx="741300" cy="221700"/>
          </a:xfrm>
          <a:prstGeom prst="cube">
            <a:avLst>
              <a:gd fmla="val 29835" name="adj"/>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54" name="Google Shape;954;g2bb8c1dba0d_0_1102"/>
          <p:cNvSpPr txBox="1"/>
          <p:nvPr/>
        </p:nvSpPr>
        <p:spPr>
          <a:xfrm>
            <a:off x="9263529" y="2990766"/>
            <a:ext cx="2463600" cy="147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P(airplane)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P(cat)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P(car)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P(zebra)</a:t>
            </a:r>
            <a:endParaRPr b="0" i="0" sz="1400" u="none" cap="none" strike="noStrike">
              <a:solidFill>
                <a:srgbClr val="000000"/>
              </a:solidFill>
              <a:latin typeface="Arial"/>
              <a:ea typeface="Arial"/>
              <a:cs typeface="Arial"/>
              <a:sym typeface="Arial"/>
            </a:endParaRPr>
          </a:p>
        </p:txBody>
      </p:sp>
      <p:cxnSp>
        <p:nvCxnSpPr>
          <p:cNvPr id="955" name="Google Shape;955;g2bb8c1dba0d_0_1102"/>
          <p:cNvCxnSpPr/>
          <p:nvPr/>
        </p:nvCxnSpPr>
        <p:spPr>
          <a:xfrm>
            <a:off x="6096000" y="3385262"/>
            <a:ext cx="475200" cy="357900"/>
          </a:xfrm>
          <a:prstGeom prst="straightConnector1">
            <a:avLst/>
          </a:prstGeom>
          <a:noFill/>
          <a:ln cap="flat" cmpd="sng" w="57150">
            <a:solidFill>
              <a:schemeClr val="dk1"/>
            </a:solidFill>
            <a:prstDash val="solid"/>
            <a:miter lim="800000"/>
            <a:headEnd len="sm" w="sm" type="none"/>
            <a:tailEnd len="med" w="med" type="triangle"/>
          </a:ln>
        </p:spPr>
      </p:cxnSp>
      <p:sp>
        <p:nvSpPr>
          <p:cNvPr id="956" name="Google Shape;956;g2bb8c1dba0d_0_1102"/>
          <p:cNvSpPr txBox="1"/>
          <p:nvPr/>
        </p:nvSpPr>
        <p:spPr>
          <a:xfrm>
            <a:off x="4507635" y="1485681"/>
            <a:ext cx="72513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Resize to fixed size (e.g., 7x7)</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Details </a:t>
            </a:r>
            <a:r>
              <a:rPr b="1" i="0" lang="en-US" sz="2800" u="sng" cap="none" strike="noStrike">
                <a:solidFill>
                  <a:schemeClr val="dk1"/>
                </a:solidFill>
                <a:latin typeface="Arial"/>
                <a:ea typeface="Arial"/>
                <a:cs typeface="Arial"/>
                <a:sym typeface="Arial"/>
              </a:rPr>
              <a:t>critical</a:t>
            </a:r>
            <a:r>
              <a:rPr b="0" i="0" lang="en-US" sz="2800" u="none" cap="none" strike="noStrike">
                <a:solidFill>
                  <a:schemeClr val="dk1"/>
                </a:solidFill>
                <a:latin typeface="Arial"/>
                <a:ea typeface="Arial"/>
                <a:cs typeface="Arial"/>
                <a:sym typeface="Arial"/>
              </a:rPr>
              <a:t>, but beyond scope of class. </a:t>
            </a:r>
            <a:endParaRPr b="0" i="0" sz="1400" u="none" cap="none" strike="noStrike">
              <a:solidFill>
                <a:srgbClr val="000000"/>
              </a:solidFill>
              <a:latin typeface="Arial"/>
              <a:ea typeface="Arial"/>
              <a:cs typeface="Arial"/>
              <a:sym typeface="Arial"/>
            </a:endParaRPr>
          </a:p>
        </p:txBody>
      </p:sp>
      <p:sp>
        <p:nvSpPr>
          <p:cNvPr id="957" name="Google Shape;957;g2bb8c1dba0d_0_1102"/>
          <p:cNvSpPr txBox="1"/>
          <p:nvPr/>
        </p:nvSpPr>
        <p:spPr>
          <a:xfrm>
            <a:off x="4473219" y="4543181"/>
            <a:ext cx="7103100" cy="138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Afterwards, can add a small neural network that classifies the box and is applied to each window.</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g2bb8c1dba0d_0_1194"/>
          <p:cNvSpPr txBox="1"/>
          <p:nvPr>
            <p:ph type="title"/>
          </p:nvPr>
        </p:nvSpPr>
        <p:spPr>
          <a:xfrm>
            <a:off x="1117600" y="365125"/>
            <a:ext cx="107469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Mask RCNN</a:t>
            </a:r>
            <a:endParaRPr/>
          </a:p>
        </p:txBody>
      </p:sp>
      <p:sp>
        <p:nvSpPr>
          <p:cNvPr id="963" name="Google Shape;963;g2bb8c1dba0d_0_1194"/>
          <p:cNvSpPr/>
          <p:nvPr/>
        </p:nvSpPr>
        <p:spPr>
          <a:xfrm>
            <a:off x="316596" y="5377335"/>
            <a:ext cx="3928800" cy="975000"/>
          </a:xfrm>
          <a:prstGeom prst="parallelogram">
            <a:avLst>
              <a:gd fmla="val 92429" name="adj"/>
            </a:avLst>
          </a:prstGeom>
          <a:blipFill rotWithShape="1">
            <a:blip r:embed="rId3">
              <a:alphaModFix/>
            </a:blip>
            <a:stretch>
              <a:fillRect b="0" l="0" r="0" t="0"/>
            </a:stretch>
          </a:blip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964" name="Google Shape;964;g2bb8c1dba0d_0_1194"/>
          <p:cNvSpPr/>
          <p:nvPr/>
        </p:nvSpPr>
        <p:spPr>
          <a:xfrm>
            <a:off x="1198532" y="4889053"/>
            <a:ext cx="2286300" cy="1178100"/>
          </a:xfrm>
          <a:prstGeom prst="cube">
            <a:avLst>
              <a:gd fmla="val 25000" name="adj"/>
            </a:avLst>
          </a:prstGeom>
          <a:solidFill>
            <a:schemeClr val="lt1">
              <a:alpha val="92549"/>
            </a:schemeClr>
          </a:solid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ConvNet</a:t>
            </a:r>
            <a:endParaRPr b="0" i="0" sz="1600" u="none" cap="none" strike="noStrike">
              <a:solidFill>
                <a:srgbClr val="000000"/>
              </a:solidFill>
              <a:latin typeface="Arial"/>
              <a:ea typeface="Arial"/>
              <a:cs typeface="Arial"/>
              <a:sym typeface="Arial"/>
            </a:endParaRPr>
          </a:p>
        </p:txBody>
      </p:sp>
      <p:cxnSp>
        <p:nvCxnSpPr>
          <p:cNvPr id="965" name="Google Shape;965;g2bb8c1dba0d_0_1194"/>
          <p:cNvCxnSpPr/>
          <p:nvPr/>
        </p:nvCxnSpPr>
        <p:spPr>
          <a:xfrm rot="10800000">
            <a:off x="2333937" y="4697435"/>
            <a:ext cx="0" cy="322800"/>
          </a:xfrm>
          <a:prstGeom prst="straightConnector1">
            <a:avLst/>
          </a:prstGeom>
          <a:noFill/>
          <a:ln cap="flat" cmpd="sng" w="57150">
            <a:solidFill>
              <a:schemeClr val="dk1"/>
            </a:solidFill>
            <a:prstDash val="solid"/>
            <a:miter lim="800000"/>
            <a:headEnd len="sm" w="sm" type="none"/>
            <a:tailEnd len="med" w="med" type="triangle"/>
          </a:ln>
        </p:spPr>
      </p:cxnSp>
      <p:grpSp>
        <p:nvGrpSpPr>
          <p:cNvPr id="966" name="Google Shape;966;g2bb8c1dba0d_0_1194"/>
          <p:cNvGrpSpPr/>
          <p:nvPr/>
        </p:nvGrpSpPr>
        <p:grpSpPr>
          <a:xfrm>
            <a:off x="535802" y="2422627"/>
            <a:ext cx="3596271" cy="2096164"/>
            <a:chOff x="428194" y="2085115"/>
            <a:chExt cx="3263700" cy="2536500"/>
          </a:xfrm>
        </p:grpSpPr>
        <p:grpSp>
          <p:nvGrpSpPr>
            <p:cNvPr id="967" name="Google Shape;967;g2bb8c1dba0d_0_1194"/>
            <p:cNvGrpSpPr/>
            <p:nvPr/>
          </p:nvGrpSpPr>
          <p:grpSpPr>
            <a:xfrm>
              <a:off x="428194" y="2085115"/>
              <a:ext cx="3263700" cy="2536500"/>
              <a:chOff x="331256" y="1833238"/>
              <a:chExt cx="3263700" cy="2536500"/>
            </a:xfrm>
          </p:grpSpPr>
          <p:sp>
            <p:nvSpPr>
              <p:cNvPr id="968" name="Google Shape;968;g2bb8c1dba0d_0_1194"/>
              <p:cNvSpPr/>
              <p:nvPr/>
            </p:nvSpPr>
            <p:spPr>
              <a:xfrm>
                <a:off x="331256" y="1833238"/>
                <a:ext cx="3263700" cy="2536500"/>
              </a:xfrm>
              <a:prstGeom prst="cube">
                <a:avLst>
                  <a:gd fmla="val 9460" name="adj"/>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969" name="Google Shape;969;g2bb8c1dba0d_0_1194"/>
              <p:cNvGrpSpPr/>
              <p:nvPr/>
            </p:nvGrpSpPr>
            <p:grpSpPr>
              <a:xfrm>
                <a:off x="331256" y="2059661"/>
                <a:ext cx="3021041" cy="2310035"/>
                <a:chOff x="331256" y="2050696"/>
                <a:chExt cx="3021041" cy="2310035"/>
              </a:xfrm>
            </p:grpSpPr>
            <p:grpSp>
              <p:nvGrpSpPr>
                <p:cNvPr id="970" name="Google Shape;970;g2bb8c1dba0d_0_1194"/>
                <p:cNvGrpSpPr/>
                <p:nvPr/>
              </p:nvGrpSpPr>
              <p:grpSpPr>
                <a:xfrm>
                  <a:off x="331256" y="2050696"/>
                  <a:ext cx="385500" cy="2310035"/>
                  <a:chOff x="331256" y="2043953"/>
                  <a:chExt cx="385500" cy="2310035"/>
                </a:xfrm>
              </p:grpSpPr>
              <p:sp>
                <p:nvSpPr>
                  <p:cNvPr id="971" name="Google Shape;971;g2bb8c1dba0d_0_1194"/>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72" name="Google Shape;972;g2bb8c1dba0d_0_1194"/>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73" name="Google Shape;973;g2bb8c1dba0d_0_1194"/>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74" name="Google Shape;974;g2bb8c1dba0d_0_1194"/>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75" name="Google Shape;975;g2bb8c1dba0d_0_1194"/>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76" name="Google Shape;976;g2bb8c1dba0d_0_1194"/>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977" name="Google Shape;977;g2bb8c1dba0d_0_1194"/>
                <p:cNvGrpSpPr/>
                <p:nvPr/>
              </p:nvGrpSpPr>
              <p:grpSpPr>
                <a:xfrm>
                  <a:off x="707762" y="2050696"/>
                  <a:ext cx="385500" cy="2310035"/>
                  <a:chOff x="331256" y="2043953"/>
                  <a:chExt cx="385500" cy="2310035"/>
                </a:xfrm>
              </p:grpSpPr>
              <p:sp>
                <p:nvSpPr>
                  <p:cNvPr id="978" name="Google Shape;978;g2bb8c1dba0d_0_1194"/>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79" name="Google Shape;979;g2bb8c1dba0d_0_1194"/>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80" name="Google Shape;980;g2bb8c1dba0d_0_1194"/>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81" name="Google Shape;981;g2bb8c1dba0d_0_1194"/>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82" name="Google Shape;982;g2bb8c1dba0d_0_1194"/>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83" name="Google Shape;983;g2bb8c1dba0d_0_1194"/>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984" name="Google Shape;984;g2bb8c1dba0d_0_1194"/>
                <p:cNvGrpSpPr/>
                <p:nvPr/>
              </p:nvGrpSpPr>
              <p:grpSpPr>
                <a:xfrm>
                  <a:off x="1084268" y="2050696"/>
                  <a:ext cx="385500" cy="2310035"/>
                  <a:chOff x="331256" y="2043953"/>
                  <a:chExt cx="385500" cy="2310035"/>
                </a:xfrm>
              </p:grpSpPr>
              <p:sp>
                <p:nvSpPr>
                  <p:cNvPr id="985" name="Google Shape;985;g2bb8c1dba0d_0_1194"/>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86" name="Google Shape;986;g2bb8c1dba0d_0_1194"/>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87" name="Google Shape;987;g2bb8c1dba0d_0_1194"/>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88" name="Google Shape;988;g2bb8c1dba0d_0_1194"/>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89" name="Google Shape;989;g2bb8c1dba0d_0_1194"/>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90" name="Google Shape;990;g2bb8c1dba0d_0_1194"/>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991" name="Google Shape;991;g2bb8c1dba0d_0_1194"/>
                <p:cNvGrpSpPr/>
                <p:nvPr/>
              </p:nvGrpSpPr>
              <p:grpSpPr>
                <a:xfrm>
                  <a:off x="1460774" y="2050696"/>
                  <a:ext cx="385500" cy="2310035"/>
                  <a:chOff x="331256" y="2043953"/>
                  <a:chExt cx="385500" cy="2310035"/>
                </a:xfrm>
              </p:grpSpPr>
              <p:sp>
                <p:nvSpPr>
                  <p:cNvPr id="992" name="Google Shape;992;g2bb8c1dba0d_0_1194"/>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93" name="Google Shape;993;g2bb8c1dba0d_0_1194"/>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94" name="Google Shape;994;g2bb8c1dba0d_0_1194"/>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95" name="Google Shape;995;g2bb8c1dba0d_0_1194"/>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96" name="Google Shape;996;g2bb8c1dba0d_0_1194"/>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97" name="Google Shape;997;g2bb8c1dba0d_0_1194"/>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998" name="Google Shape;998;g2bb8c1dba0d_0_1194"/>
                <p:cNvGrpSpPr/>
                <p:nvPr/>
              </p:nvGrpSpPr>
              <p:grpSpPr>
                <a:xfrm>
                  <a:off x="1837280" y="2050696"/>
                  <a:ext cx="385500" cy="2310035"/>
                  <a:chOff x="331256" y="2043953"/>
                  <a:chExt cx="385500" cy="2310035"/>
                </a:xfrm>
              </p:grpSpPr>
              <p:sp>
                <p:nvSpPr>
                  <p:cNvPr id="999" name="Google Shape;999;g2bb8c1dba0d_0_1194"/>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00" name="Google Shape;1000;g2bb8c1dba0d_0_1194"/>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01" name="Google Shape;1001;g2bb8c1dba0d_0_1194"/>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02" name="Google Shape;1002;g2bb8c1dba0d_0_1194"/>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03" name="Google Shape;1003;g2bb8c1dba0d_0_1194"/>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04" name="Google Shape;1004;g2bb8c1dba0d_0_1194"/>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005" name="Google Shape;1005;g2bb8c1dba0d_0_1194"/>
                <p:cNvGrpSpPr/>
                <p:nvPr/>
              </p:nvGrpSpPr>
              <p:grpSpPr>
                <a:xfrm>
                  <a:off x="2213786" y="2050696"/>
                  <a:ext cx="385500" cy="2310035"/>
                  <a:chOff x="331256" y="2043953"/>
                  <a:chExt cx="385500" cy="2310035"/>
                </a:xfrm>
              </p:grpSpPr>
              <p:sp>
                <p:nvSpPr>
                  <p:cNvPr id="1006" name="Google Shape;1006;g2bb8c1dba0d_0_1194"/>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07" name="Google Shape;1007;g2bb8c1dba0d_0_1194"/>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08" name="Google Shape;1008;g2bb8c1dba0d_0_1194"/>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09" name="Google Shape;1009;g2bb8c1dba0d_0_1194"/>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10" name="Google Shape;1010;g2bb8c1dba0d_0_1194"/>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11" name="Google Shape;1011;g2bb8c1dba0d_0_1194"/>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012" name="Google Shape;1012;g2bb8c1dba0d_0_1194"/>
                <p:cNvGrpSpPr/>
                <p:nvPr/>
              </p:nvGrpSpPr>
              <p:grpSpPr>
                <a:xfrm>
                  <a:off x="2590292" y="2050696"/>
                  <a:ext cx="385500" cy="2310035"/>
                  <a:chOff x="331256" y="2043953"/>
                  <a:chExt cx="385500" cy="2310035"/>
                </a:xfrm>
              </p:grpSpPr>
              <p:sp>
                <p:nvSpPr>
                  <p:cNvPr id="1013" name="Google Shape;1013;g2bb8c1dba0d_0_1194"/>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14" name="Google Shape;1014;g2bb8c1dba0d_0_1194"/>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15" name="Google Shape;1015;g2bb8c1dba0d_0_1194"/>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16" name="Google Shape;1016;g2bb8c1dba0d_0_1194"/>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17" name="Google Shape;1017;g2bb8c1dba0d_0_1194"/>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18" name="Google Shape;1018;g2bb8c1dba0d_0_1194"/>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019" name="Google Shape;1019;g2bb8c1dba0d_0_1194"/>
                <p:cNvGrpSpPr/>
                <p:nvPr/>
              </p:nvGrpSpPr>
              <p:grpSpPr>
                <a:xfrm>
                  <a:off x="2966797" y="2050696"/>
                  <a:ext cx="385500" cy="2310035"/>
                  <a:chOff x="331256" y="2043953"/>
                  <a:chExt cx="385500" cy="2310035"/>
                </a:xfrm>
              </p:grpSpPr>
              <p:sp>
                <p:nvSpPr>
                  <p:cNvPr id="1020" name="Google Shape;1020;g2bb8c1dba0d_0_1194"/>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21" name="Google Shape;1021;g2bb8c1dba0d_0_1194"/>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22" name="Google Shape;1022;g2bb8c1dba0d_0_1194"/>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23" name="Google Shape;1023;g2bb8c1dba0d_0_1194"/>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24" name="Google Shape;1024;g2bb8c1dba0d_0_1194"/>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25" name="Google Shape;1025;g2bb8c1dba0d_0_1194"/>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grpSp>
        <p:sp>
          <p:nvSpPr>
            <p:cNvPr id="1026" name="Google Shape;1026;g2bb8c1dba0d_0_1194"/>
            <p:cNvSpPr/>
            <p:nvPr/>
          </p:nvSpPr>
          <p:spPr>
            <a:xfrm>
              <a:off x="598106" y="2909950"/>
              <a:ext cx="954600" cy="1326000"/>
            </a:xfrm>
            <a:prstGeom prst="rect">
              <a:avLst/>
            </a:prstGeom>
            <a:noFill/>
            <a:ln cap="flat" cmpd="sng" w="762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1027" name="Google Shape;1027;g2bb8c1dba0d_0_1194"/>
          <p:cNvSpPr txBox="1"/>
          <p:nvPr/>
        </p:nvSpPr>
        <p:spPr>
          <a:xfrm>
            <a:off x="212131" y="1486289"/>
            <a:ext cx="4243500" cy="954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Feature Map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(e.g., 6x8x256)</a:t>
            </a:r>
            <a:endParaRPr b="0" i="0" sz="1400" u="none" cap="none" strike="noStrike">
              <a:solidFill>
                <a:srgbClr val="000000"/>
              </a:solidFill>
              <a:latin typeface="Arial"/>
              <a:ea typeface="Arial"/>
              <a:cs typeface="Arial"/>
              <a:sym typeface="Arial"/>
            </a:endParaRPr>
          </a:p>
        </p:txBody>
      </p:sp>
      <p:sp>
        <p:nvSpPr>
          <p:cNvPr id="1028" name="Google Shape;1028;g2bb8c1dba0d_0_1194"/>
          <p:cNvSpPr/>
          <p:nvPr/>
        </p:nvSpPr>
        <p:spPr>
          <a:xfrm>
            <a:off x="1365580" y="2931720"/>
            <a:ext cx="2048400" cy="950700"/>
          </a:xfrm>
          <a:prstGeom prst="rect">
            <a:avLst/>
          </a:prstGeom>
          <a:noFill/>
          <a:ln cap="flat" cmpd="sng" w="762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1029" name="Google Shape;1029;g2bb8c1dba0d_0_1194"/>
          <p:cNvGrpSpPr/>
          <p:nvPr/>
        </p:nvGrpSpPr>
        <p:grpSpPr>
          <a:xfrm>
            <a:off x="5088875" y="2943190"/>
            <a:ext cx="839662" cy="636776"/>
            <a:chOff x="3594152" y="2927480"/>
            <a:chExt cx="629762" cy="636776"/>
          </a:xfrm>
        </p:grpSpPr>
        <p:sp>
          <p:nvSpPr>
            <p:cNvPr id="1030" name="Google Shape;1030;g2bb8c1dba0d_0_1194"/>
            <p:cNvSpPr/>
            <p:nvPr/>
          </p:nvSpPr>
          <p:spPr>
            <a:xfrm>
              <a:off x="3594152" y="2927480"/>
              <a:ext cx="318600" cy="3186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31" name="Google Shape;1031;g2bb8c1dba0d_0_1194"/>
            <p:cNvSpPr/>
            <p:nvPr/>
          </p:nvSpPr>
          <p:spPr>
            <a:xfrm>
              <a:off x="3594152" y="3245585"/>
              <a:ext cx="318600" cy="3186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32" name="Google Shape;1032;g2bb8c1dba0d_0_1194"/>
            <p:cNvSpPr/>
            <p:nvPr/>
          </p:nvSpPr>
          <p:spPr>
            <a:xfrm>
              <a:off x="3905314" y="2927480"/>
              <a:ext cx="318600" cy="3186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33" name="Google Shape;1033;g2bb8c1dba0d_0_1194"/>
            <p:cNvSpPr/>
            <p:nvPr/>
          </p:nvSpPr>
          <p:spPr>
            <a:xfrm>
              <a:off x="3905314" y="3245585"/>
              <a:ext cx="318600" cy="3186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34" name="Google Shape;1034;g2bb8c1dba0d_0_1194"/>
            <p:cNvSpPr/>
            <p:nvPr/>
          </p:nvSpPr>
          <p:spPr>
            <a:xfrm>
              <a:off x="3597056" y="2927956"/>
              <a:ext cx="626700" cy="636300"/>
            </a:xfrm>
            <a:prstGeom prst="rect">
              <a:avLst/>
            </a:prstGeom>
            <a:noFill/>
            <a:ln cap="flat" cmpd="sng" w="762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035" name="Google Shape;1035;g2bb8c1dba0d_0_1194"/>
          <p:cNvGrpSpPr/>
          <p:nvPr/>
        </p:nvGrpSpPr>
        <p:grpSpPr>
          <a:xfrm>
            <a:off x="5093820" y="3764802"/>
            <a:ext cx="839662" cy="636776"/>
            <a:chOff x="3594152" y="2927480"/>
            <a:chExt cx="629762" cy="636776"/>
          </a:xfrm>
        </p:grpSpPr>
        <p:sp>
          <p:nvSpPr>
            <p:cNvPr id="1036" name="Google Shape;1036;g2bb8c1dba0d_0_1194"/>
            <p:cNvSpPr/>
            <p:nvPr/>
          </p:nvSpPr>
          <p:spPr>
            <a:xfrm>
              <a:off x="3594152" y="2927480"/>
              <a:ext cx="318600" cy="3186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37" name="Google Shape;1037;g2bb8c1dba0d_0_1194"/>
            <p:cNvSpPr/>
            <p:nvPr/>
          </p:nvSpPr>
          <p:spPr>
            <a:xfrm>
              <a:off x="3594152" y="3245585"/>
              <a:ext cx="318600" cy="3186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38" name="Google Shape;1038;g2bb8c1dba0d_0_1194"/>
            <p:cNvSpPr/>
            <p:nvPr/>
          </p:nvSpPr>
          <p:spPr>
            <a:xfrm>
              <a:off x="3905314" y="2927480"/>
              <a:ext cx="318600" cy="3186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39" name="Google Shape;1039;g2bb8c1dba0d_0_1194"/>
            <p:cNvSpPr/>
            <p:nvPr/>
          </p:nvSpPr>
          <p:spPr>
            <a:xfrm>
              <a:off x="3905314" y="3245585"/>
              <a:ext cx="318600" cy="3186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40" name="Google Shape;1040;g2bb8c1dba0d_0_1194"/>
            <p:cNvSpPr/>
            <p:nvPr/>
          </p:nvSpPr>
          <p:spPr>
            <a:xfrm>
              <a:off x="3597056" y="2927956"/>
              <a:ext cx="626700" cy="636300"/>
            </a:xfrm>
            <a:prstGeom prst="rect">
              <a:avLst/>
            </a:prstGeom>
            <a:noFill/>
            <a:ln cap="flat" cmpd="sng" w="762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cxnSp>
        <p:nvCxnSpPr>
          <p:cNvPr id="1041" name="Google Shape;1041;g2bb8c1dba0d_0_1194"/>
          <p:cNvCxnSpPr>
            <a:stCxn id="1028" idx="3"/>
            <a:endCxn id="1034" idx="1"/>
          </p:cNvCxnSpPr>
          <p:nvPr/>
        </p:nvCxnSpPr>
        <p:spPr>
          <a:xfrm flipH="1" rot="10800000">
            <a:off x="3413980" y="3261870"/>
            <a:ext cx="1678800" cy="145200"/>
          </a:xfrm>
          <a:prstGeom prst="curvedConnector3">
            <a:avLst>
              <a:gd fmla="val 50000" name="adj1"/>
            </a:avLst>
          </a:prstGeom>
          <a:noFill/>
          <a:ln cap="flat" cmpd="sng" w="76200">
            <a:solidFill>
              <a:schemeClr val="accent2"/>
            </a:solidFill>
            <a:prstDash val="solid"/>
            <a:miter lim="800000"/>
            <a:headEnd len="sm" w="sm" type="none"/>
            <a:tailEnd len="med" w="med" type="triangle"/>
          </a:ln>
        </p:spPr>
      </p:cxnSp>
      <p:cxnSp>
        <p:nvCxnSpPr>
          <p:cNvPr id="1042" name="Google Shape;1042;g2bb8c1dba0d_0_1194"/>
          <p:cNvCxnSpPr>
            <a:stCxn id="1026" idx="3"/>
            <a:endCxn id="1040" idx="1"/>
          </p:cNvCxnSpPr>
          <p:nvPr/>
        </p:nvCxnSpPr>
        <p:spPr>
          <a:xfrm>
            <a:off x="1774902" y="3652174"/>
            <a:ext cx="3322800" cy="431400"/>
          </a:xfrm>
          <a:prstGeom prst="curvedConnector3">
            <a:avLst>
              <a:gd fmla="val 50000" name="adj1"/>
            </a:avLst>
          </a:prstGeom>
          <a:noFill/>
          <a:ln cap="flat" cmpd="sng" w="76200">
            <a:solidFill>
              <a:schemeClr val="accent1"/>
            </a:solidFill>
            <a:prstDash val="solid"/>
            <a:miter lim="800000"/>
            <a:headEnd len="sm" w="sm" type="none"/>
            <a:tailEnd len="med" w="med" type="triangle"/>
          </a:ln>
        </p:spPr>
      </p:cxnSp>
      <p:sp>
        <p:nvSpPr>
          <p:cNvPr id="1043" name="Google Shape;1043;g2bb8c1dba0d_0_1194"/>
          <p:cNvSpPr txBox="1"/>
          <p:nvPr/>
        </p:nvSpPr>
        <p:spPr>
          <a:xfrm>
            <a:off x="4507635" y="4801962"/>
            <a:ext cx="7684500" cy="1816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Can also predict a mask!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Everything is learned together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Simple and effective; details critical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Arial"/>
              <a:ea typeface="Arial"/>
              <a:cs typeface="Arial"/>
              <a:sym typeface="Arial"/>
            </a:endParaRPr>
          </a:p>
        </p:txBody>
      </p:sp>
      <p:sp>
        <p:nvSpPr>
          <p:cNvPr id="1044" name="Google Shape;1044;g2bb8c1dba0d_0_1194"/>
          <p:cNvSpPr/>
          <p:nvPr/>
        </p:nvSpPr>
        <p:spPr>
          <a:xfrm>
            <a:off x="6336489" y="3150662"/>
            <a:ext cx="741300" cy="1091400"/>
          </a:xfrm>
          <a:prstGeom prst="cube">
            <a:avLst>
              <a:gd fmla="val 67261" name="adj"/>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45" name="Google Shape;1045;g2bb8c1dba0d_0_1194"/>
          <p:cNvSpPr/>
          <p:nvPr/>
        </p:nvSpPr>
        <p:spPr>
          <a:xfrm>
            <a:off x="6796800" y="3150662"/>
            <a:ext cx="741300" cy="1091400"/>
          </a:xfrm>
          <a:prstGeom prst="cube">
            <a:avLst>
              <a:gd fmla="val 67261" name="adj"/>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46" name="Google Shape;1046;g2bb8c1dba0d_0_1194"/>
          <p:cNvSpPr/>
          <p:nvPr/>
        </p:nvSpPr>
        <p:spPr>
          <a:xfrm>
            <a:off x="7257111" y="3150662"/>
            <a:ext cx="741300" cy="1091400"/>
          </a:xfrm>
          <a:prstGeom prst="cube">
            <a:avLst>
              <a:gd fmla="val 67261" name="adj"/>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47" name="Google Shape;1047;g2bb8c1dba0d_0_1194"/>
          <p:cNvSpPr/>
          <p:nvPr/>
        </p:nvSpPr>
        <p:spPr>
          <a:xfrm>
            <a:off x="7717421" y="3150662"/>
            <a:ext cx="741300" cy="1091400"/>
          </a:xfrm>
          <a:prstGeom prst="cube">
            <a:avLst>
              <a:gd fmla="val 67261" name="adj"/>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1048" name="Google Shape;1048;g2bb8c1dba0d_0_1194"/>
          <p:cNvGrpSpPr/>
          <p:nvPr/>
        </p:nvGrpSpPr>
        <p:grpSpPr>
          <a:xfrm>
            <a:off x="9091502" y="2697838"/>
            <a:ext cx="2499151" cy="1909126"/>
            <a:chOff x="6818797" y="2697838"/>
            <a:chExt cx="1874410" cy="1909126"/>
          </a:xfrm>
        </p:grpSpPr>
        <p:sp>
          <p:nvSpPr>
            <p:cNvPr id="1049" name="Google Shape;1049;g2bb8c1dba0d_0_1194"/>
            <p:cNvSpPr/>
            <p:nvPr/>
          </p:nvSpPr>
          <p:spPr>
            <a:xfrm>
              <a:off x="6818797" y="2697838"/>
              <a:ext cx="318600" cy="318600"/>
            </a:xfrm>
            <a:prstGeom prst="rect">
              <a:avLst/>
            </a:prstGeom>
            <a:solidFill>
              <a:srgbClr val="595959"/>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50" name="Google Shape;1050;g2bb8c1dba0d_0_1194"/>
            <p:cNvSpPr/>
            <p:nvPr/>
          </p:nvSpPr>
          <p:spPr>
            <a:xfrm>
              <a:off x="6818797" y="3015943"/>
              <a:ext cx="318600" cy="318600"/>
            </a:xfrm>
            <a:prstGeom prst="rect">
              <a:avLst/>
            </a:prstGeom>
            <a:solidFill>
              <a:srgbClr val="595959"/>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51" name="Google Shape;1051;g2bb8c1dba0d_0_1194"/>
            <p:cNvSpPr/>
            <p:nvPr/>
          </p:nvSpPr>
          <p:spPr>
            <a:xfrm>
              <a:off x="6818797" y="3334048"/>
              <a:ext cx="318600" cy="318600"/>
            </a:xfrm>
            <a:prstGeom prst="rect">
              <a:avLst/>
            </a:prstGeom>
            <a:solidFill>
              <a:srgbClr val="595959"/>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52" name="Google Shape;1052;g2bb8c1dba0d_0_1194"/>
            <p:cNvSpPr/>
            <p:nvPr/>
          </p:nvSpPr>
          <p:spPr>
            <a:xfrm>
              <a:off x="6818797" y="3652153"/>
              <a:ext cx="318600" cy="3186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53" name="Google Shape;1053;g2bb8c1dba0d_0_1194"/>
            <p:cNvSpPr/>
            <p:nvPr/>
          </p:nvSpPr>
          <p:spPr>
            <a:xfrm>
              <a:off x="6818797" y="3970259"/>
              <a:ext cx="318600" cy="3186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54" name="Google Shape;1054;g2bb8c1dba0d_0_1194"/>
            <p:cNvSpPr/>
            <p:nvPr/>
          </p:nvSpPr>
          <p:spPr>
            <a:xfrm>
              <a:off x="6818797" y="4288364"/>
              <a:ext cx="318600" cy="3186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55" name="Google Shape;1055;g2bb8c1dba0d_0_1194"/>
            <p:cNvSpPr/>
            <p:nvPr/>
          </p:nvSpPr>
          <p:spPr>
            <a:xfrm>
              <a:off x="7129959" y="2697838"/>
              <a:ext cx="318600" cy="318600"/>
            </a:xfrm>
            <a:prstGeom prst="rect">
              <a:avLst/>
            </a:prstGeom>
            <a:solidFill>
              <a:srgbClr val="595959"/>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56" name="Google Shape;1056;g2bb8c1dba0d_0_1194"/>
            <p:cNvSpPr/>
            <p:nvPr/>
          </p:nvSpPr>
          <p:spPr>
            <a:xfrm>
              <a:off x="7129959" y="3015943"/>
              <a:ext cx="318600" cy="318600"/>
            </a:xfrm>
            <a:prstGeom prst="rect">
              <a:avLst/>
            </a:prstGeom>
            <a:solidFill>
              <a:srgbClr val="595959"/>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57" name="Google Shape;1057;g2bb8c1dba0d_0_1194"/>
            <p:cNvSpPr/>
            <p:nvPr/>
          </p:nvSpPr>
          <p:spPr>
            <a:xfrm>
              <a:off x="7129959" y="3334048"/>
              <a:ext cx="318600" cy="318600"/>
            </a:xfrm>
            <a:prstGeom prst="rect">
              <a:avLst/>
            </a:prstGeom>
            <a:solidFill>
              <a:srgbClr val="595959"/>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58" name="Google Shape;1058;g2bb8c1dba0d_0_1194"/>
            <p:cNvSpPr/>
            <p:nvPr/>
          </p:nvSpPr>
          <p:spPr>
            <a:xfrm>
              <a:off x="7129959" y="3652153"/>
              <a:ext cx="318600" cy="3186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59" name="Google Shape;1059;g2bb8c1dba0d_0_1194"/>
            <p:cNvSpPr/>
            <p:nvPr/>
          </p:nvSpPr>
          <p:spPr>
            <a:xfrm>
              <a:off x="7129959" y="3970259"/>
              <a:ext cx="318600" cy="318600"/>
            </a:xfrm>
            <a:prstGeom prst="rect">
              <a:avLst/>
            </a:prstGeom>
            <a:solidFill>
              <a:srgbClr val="595959"/>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60" name="Google Shape;1060;g2bb8c1dba0d_0_1194"/>
            <p:cNvSpPr/>
            <p:nvPr/>
          </p:nvSpPr>
          <p:spPr>
            <a:xfrm>
              <a:off x="7129959" y="4288364"/>
              <a:ext cx="318600" cy="318600"/>
            </a:xfrm>
            <a:prstGeom prst="rect">
              <a:avLst/>
            </a:prstGeom>
            <a:solidFill>
              <a:srgbClr val="595959"/>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61" name="Google Shape;1061;g2bb8c1dba0d_0_1194"/>
            <p:cNvSpPr/>
            <p:nvPr/>
          </p:nvSpPr>
          <p:spPr>
            <a:xfrm>
              <a:off x="7441121" y="2697838"/>
              <a:ext cx="318600" cy="318600"/>
            </a:xfrm>
            <a:prstGeom prst="rect">
              <a:avLst/>
            </a:prstGeom>
            <a:solidFill>
              <a:srgbClr val="595959"/>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62" name="Google Shape;1062;g2bb8c1dba0d_0_1194"/>
            <p:cNvSpPr/>
            <p:nvPr/>
          </p:nvSpPr>
          <p:spPr>
            <a:xfrm>
              <a:off x="7441121" y="3015943"/>
              <a:ext cx="318600" cy="318600"/>
            </a:xfrm>
            <a:prstGeom prst="rect">
              <a:avLst/>
            </a:prstGeom>
            <a:solidFill>
              <a:srgbClr val="7F7F7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63" name="Google Shape;1063;g2bb8c1dba0d_0_1194"/>
            <p:cNvSpPr/>
            <p:nvPr/>
          </p:nvSpPr>
          <p:spPr>
            <a:xfrm>
              <a:off x="7441121" y="3334048"/>
              <a:ext cx="318600" cy="3186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64" name="Google Shape;1064;g2bb8c1dba0d_0_1194"/>
            <p:cNvSpPr/>
            <p:nvPr/>
          </p:nvSpPr>
          <p:spPr>
            <a:xfrm>
              <a:off x="7441121" y="3652153"/>
              <a:ext cx="318600" cy="3186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65" name="Google Shape;1065;g2bb8c1dba0d_0_1194"/>
            <p:cNvSpPr/>
            <p:nvPr/>
          </p:nvSpPr>
          <p:spPr>
            <a:xfrm>
              <a:off x="7441121" y="3970259"/>
              <a:ext cx="318600" cy="3186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66" name="Google Shape;1066;g2bb8c1dba0d_0_1194"/>
            <p:cNvSpPr/>
            <p:nvPr/>
          </p:nvSpPr>
          <p:spPr>
            <a:xfrm>
              <a:off x="7441121" y="4288364"/>
              <a:ext cx="318600" cy="3186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67" name="Google Shape;1067;g2bb8c1dba0d_0_1194"/>
            <p:cNvSpPr/>
            <p:nvPr/>
          </p:nvSpPr>
          <p:spPr>
            <a:xfrm>
              <a:off x="7752283" y="2697838"/>
              <a:ext cx="318600" cy="318600"/>
            </a:xfrm>
            <a:prstGeom prst="rect">
              <a:avLst/>
            </a:prstGeom>
            <a:solidFill>
              <a:srgbClr val="595959"/>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68" name="Google Shape;1068;g2bb8c1dba0d_0_1194"/>
            <p:cNvSpPr/>
            <p:nvPr/>
          </p:nvSpPr>
          <p:spPr>
            <a:xfrm>
              <a:off x="7752283" y="3015943"/>
              <a:ext cx="318600" cy="3186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69" name="Google Shape;1069;g2bb8c1dba0d_0_1194"/>
            <p:cNvSpPr/>
            <p:nvPr/>
          </p:nvSpPr>
          <p:spPr>
            <a:xfrm>
              <a:off x="7752283" y="3334048"/>
              <a:ext cx="318600" cy="3186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70" name="Google Shape;1070;g2bb8c1dba0d_0_1194"/>
            <p:cNvSpPr/>
            <p:nvPr/>
          </p:nvSpPr>
          <p:spPr>
            <a:xfrm>
              <a:off x="7752283" y="3652153"/>
              <a:ext cx="318600" cy="3186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71" name="Google Shape;1071;g2bb8c1dba0d_0_1194"/>
            <p:cNvSpPr/>
            <p:nvPr/>
          </p:nvSpPr>
          <p:spPr>
            <a:xfrm>
              <a:off x="7752283" y="3970259"/>
              <a:ext cx="318600" cy="3186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72" name="Google Shape;1072;g2bb8c1dba0d_0_1194"/>
            <p:cNvSpPr/>
            <p:nvPr/>
          </p:nvSpPr>
          <p:spPr>
            <a:xfrm>
              <a:off x="7752283" y="4288364"/>
              <a:ext cx="318600" cy="3186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73" name="Google Shape;1073;g2bb8c1dba0d_0_1194"/>
            <p:cNvSpPr/>
            <p:nvPr/>
          </p:nvSpPr>
          <p:spPr>
            <a:xfrm>
              <a:off x="8063445" y="2697838"/>
              <a:ext cx="318600" cy="318600"/>
            </a:xfrm>
            <a:prstGeom prst="rect">
              <a:avLst/>
            </a:prstGeom>
            <a:solidFill>
              <a:srgbClr val="595959"/>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74" name="Google Shape;1074;g2bb8c1dba0d_0_1194"/>
            <p:cNvSpPr/>
            <p:nvPr/>
          </p:nvSpPr>
          <p:spPr>
            <a:xfrm>
              <a:off x="8063445" y="3015943"/>
              <a:ext cx="318600" cy="318600"/>
            </a:xfrm>
            <a:prstGeom prst="rect">
              <a:avLst/>
            </a:prstGeom>
            <a:solidFill>
              <a:srgbClr val="7F7F7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75" name="Google Shape;1075;g2bb8c1dba0d_0_1194"/>
            <p:cNvSpPr/>
            <p:nvPr/>
          </p:nvSpPr>
          <p:spPr>
            <a:xfrm>
              <a:off x="8063445" y="3334048"/>
              <a:ext cx="318600" cy="3186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76" name="Google Shape;1076;g2bb8c1dba0d_0_1194"/>
            <p:cNvSpPr/>
            <p:nvPr/>
          </p:nvSpPr>
          <p:spPr>
            <a:xfrm>
              <a:off x="8063445" y="3652153"/>
              <a:ext cx="318600" cy="3186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77" name="Google Shape;1077;g2bb8c1dba0d_0_1194"/>
            <p:cNvSpPr/>
            <p:nvPr/>
          </p:nvSpPr>
          <p:spPr>
            <a:xfrm>
              <a:off x="8063445" y="3970259"/>
              <a:ext cx="318600" cy="3186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78" name="Google Shape;1078;g2bb8c1dba0d_0_1194"/>
            <p:cNvSpPr/>
            <p:nvPr/>
          </p:nvSpPr>
          <p:spPr>
            <a:xfrm>
              <a:off x="8063445" y="4288364"/>
              <a:ext cx="318600" cy="3186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79" name="Google Shape;1079;g2bb8c1dba0d_0_1194"/>
            <p:cNvSpPr/>
            <p:nvPr/>
          </p:nvSpPr>
          <p:spPr>
            <a:xfrm>
              <a:off x="8374607" y="2697838"/>
              <a:ext cx="318600" cy="318600"/>
            </a:xfrm>
            <a:prstGeom prst="rect">
              <a:avLst/>
            </a:prstGeom>
            <a:solidFill>
              <a:srgbClr val="595959"/>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80" name="Google Shape;1080;g2bb8c1dba0d_0_1194"/>
            <p:cNvSpPr/>
            <p:nvPr/>
          </p:nvSpPr>
          <p:spPr>
            <a:xfrm>
              <a:off x="8374607" y="3015943"/>
              <a:ext cx="318600" cy="318600"/>
            </a:xfrm>
            <a:prstGeom prst="rect">
              <a:avLst/>
            </a:prstGeom>
            <a:solidFill>
              <a:srgbClr val="595959"/>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81" name="Google Shape;1081;g2bb8c1dba0d_0_1194"/>
            <p:cNvSpPr/>
            <p:nvPr/>
          </p:nvSpPr>
          <p:spPr>
            <a:xfrm>
              <a:off x="8374607" y="3334048"/>
              <a:ext cx="318600" cy="318600"/>
            </a:xfrm>
            <a:prstGeom prst="rect">
              <a:avLst/>
            </a:prstGeom>
            <a:solidFill>
              <a:srgbClr val="595959"/>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82" name="Google Shape;1082;g2bb8c1dba0d_0_1194"/>
            <p:cNvSpPr/>
            <p:nvPr/>
          </p:nvSpPr>
          <p:spPr>
            <a:xfrm>
              <a:off x="8374607" y="3652153"/>
              <a:ext cx="318600" cy="3186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83" name="Google Shape;1083;g2bb8c1dba0d_0_1194"/>
            <p:cNvSpPr/>
            <p:nvPr/>
          </p:nvSpPr>
          <p:spPr>
            <a:xfrm>
              <a:off x="8374607" y="3970259"/>
              <a:ext cx="318600" cy="318600"/>
            </a:xfrm>
            <a:prstGeom prst="rect">
              <a:avLst/>
            </a:prstGeom>
            <a:solidFill>
              <a:srgbClr val="595959"/>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84" name="Google Shape;1084;g2bb8c1dba0d_0_1194"/>
            <p:cNvSpPr/>
            <p:nvPr/>
          </p:nvSpPr>
          <p:spPr>
            <a:xfrm>
              <a:off x="8374607" y="4288364"/>
              <a:ext cx="318600" cy="318600"/>
            </a:xfrm>
            <a:prstGeom prst="rect">
              <a:avLst/>
            </a:prstGeom>
            <a:solidFill>
              <a:srgbClr val="595959"/>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cxnSp>
        <p:nvCxnSpPr>
          <p:cNvPr id="1085" name="Google Shape;1085;g2bb8c1dba0d_0_1194"/>
          <p:cNvCxnSpPr/>
          <p:nvPr/>
        </p:nvCxnSpPr>
        <p:spPr>
          <a:xfrm>
            <a:off x="6038405" y="3218977"/>
            <a:ext cx="319200" cy="240600"/>
          </a:xfrm>
          <a:prstGeom prst="straightConnector1">
            <a:avLst/>
          </a:prstGeom>
          <a:noFill/>
          <a:ln cap="flat" cmpd="sng" w="57150">
            <a:solidFill>
              <a:schemeClr val="dk1"/>
            </a:solidFill>
            <a:prstDash val="solid"/>
            <a:miter lim="800000"/>
            <a:headEnd len="sm" w="sm" type="none"/>
            <a:tailEnd len="med" w="med" type="triangle"/>
          </a:ln>
        </p:spPr>
      </p:cxnSp>
      <p:sp>
        <p:nvSpPr>
          <p:cNvPr id="1086" name="Google Shape;1086;g2bb8c1dba0d_0_1194"/>
          <p:cNvSpPr txBox="1"/>
          <p:nvPr/>
        </p:nvSpPr>
        <p:spPr>
          <a:xfrm>
            <a:off x="4507635" y="1485681"/>
            <a:ext cx="72513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Resize to fixed size (e.g., 7x7)</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Details </a:t>
            </a:r>
            <a:r>
              <a:rPr b="1" i="0" lang="en-US" sz="2800" u="sng" cap="none" strike="noStrike">
                <a:solidFill>
                  <a:schemeClr val="dk1"/>
                </a:solidFill>
                <a:latin typeface="Arial"/>
                <a:ea typeface="Arial"/>
                <a:cs typeface="Arial"/>
                <a:sym typeface="Arial"/>
              </a:rPr>
              <a:t>critical</a:t>
            </a:r>
            <a:r>
              <a:rPr b="0" i="0" lang="en-US" sz="2800" u="none" cap="none" strike="noStrike">
                <a:solidFill>
                  <a:schemeClr val="dk1"/>
                </a:solidFill>
                <a:latin typeface="Arial"/>
                <a:ea typeface="Arial"/>
                <a:cs typeface="Arial"/>
                <a:sym typeface="Arial"/>
              </a:rPr>
              <a:t>, but beyond scope of class. </a:t>
            </a:r>
            <a:endParaRPr b="0" i="0" sz="1400" u="none" cap="none" strike="noStrike">
              <a:solidFill>
                <a:srgbClr val="000000"/>
              </a:solidFill>
              <a:latin typeface="Arial"/>
              <a:ea typeface="Arial"/>
              <a:cs typeface="Arial"/>
              <a:sym typeface="Arial"/>
            </a:endParaRPr>
          </a:p>
        </p:txBody>
      </p:sp>
      <p:sp>
        <p:nvSpPr>
          <p:cNvPr id="1087" name="Google Shape;1087;g2bb8c1dba0d_0_1194"/>
          <p:cNvSpPr txBox="1"/>
          <p:nvPr/>
        </p:nvSpPr>
        <p:spPr>
          <a:xfrm>
            <a:off x="476539" y="6429539"/>
            <a:ext cx="107469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Mask RCNN: He, Gkioxari, Dollar, Girshick . ICCV 2017.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0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g2bb8c1dba0d_0_1323"/>
          <p:cNvSpPr txBox="1"/>
          <p:nvPr>
            <p:ph type="title"/>
          </p:nvPr>
        </p:nvSpPr>
        <p:spPr>
          <a:xfrm>
            <a:off x="1117600" y="365125"/>
            <a:ext cx="104307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MaskRCNN – Results </a:t>
            </a:r>
            <a:endParaRPr/>
          </a:p>
        </p:txBody>
      </p:sp>
      <p:pic>
        <p:nvPicPr>
          <p:cNvPr id="1093" name="Google Shape;1093;g2bb8c1dba0d_0_1323"/>
          <p:cNvPicPr preferRelativeResize="0"/>
          <p:nvPr/>
        </p:nvPicPr>
        <p:blipFill rotWithShape="1">
          <a:blip r:embed="rId3">
            <a:alphaModFix/>
          </a:blip>
          <a:srcRect b="0" l="0" r="0" t="0"/>
          <a:stretch/>
        </p:blipFill>
        <p:spPr>
          <a:xfrm>
            <a:off x="0" y="1797498"/>
            <a:ext cx="9144001" cy="326300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g2bb8c1dba0d_0_1328"/>
          <p:cNvSpPr txBox="1"/>
          <p:nvPr>
            <p:ph type="title"/>
          </p:nvPr>
        </p:nvSpPr>
        <p:spPr>
          <a:xfrm>
            <a:off x="1117600" y="365125"/>
            <a:ext cx="107469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Extending Object Detection</a:t>
            </a:r>
            <a:endParaRPr/>
          </a:p>
        </p:txBody>
      </p:sp>
      <p:sp>
        <p:nvSpPr>
          <p:cNvPr id="1099" name="Google Shape;1099;g2bb8c1dba0d_0_1328"/>
          <p:cNvSpPr/>
          <p:nvPr/>
        </p:nvSpPr>
        <p:spPr>
          <a:xfrm>
            <a:off x="316596" y="5377335"/>
            <a:ext cx="3928800" cy="975000"/>
          </a:xfrm>
          <a:prstGeom prst="parallelogram">
            <a:avLst>
              <a:gd fmla="val 92429" name="adj"/>
            </a:avLst>
          </a:prstGeom>
          <a:blipFill rotWithShape="1">
            <a:blip r:embed="rId3">
              <a:alphaModFix/>
            </a:blip>
            <a:stretch>
              <a:fillRect b="0" l="0" r="0" t="0"/>
            </a:stretch>
          </a:blip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1100" name="Google Shape;1100;g2bb8c1dba0d_0_1328"/>
          <p:cNvSpPr/>
          <p:nvPr/>
        </p:nvSpPr>
        <p:spPr>
          <a:xfrm>
            <a:off x="1198532" y="4889053"/>
            <a:ext cx="2286300" cy="1178100"/>
          </a:xfrm>
          <a:prstGeom prst="cube">
            <a:avLst>
              <a:gd fmla="val 25000" name="adj"/>
            </a:avLst>
          </a:prstGeom>
          <a:solidFill>
            <a:schemeClr val="lt1">
              <a:alpha val="92549"/>
            </a:schemeClr>
          </a:solid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ConvNet</a:t>
            </a:r>
            <a:endParaRPr b="0" i="0" sz="1600" u="none" cap="none" strike="noStrike">
              <a:solidFill>
                <a:srgbClr val="000000"/>
              </a:solidFill>
              <a:latin typeface="Arial"/>
              <a:ea typeface="Arial"/>
              <a:cs typeface="Arial"/>
              <a:sym typeface="Arial"/>
            </a:endParaRPr>
          </a:p>
        </p:txBody>
      </p:sp>
      <p:cxnSp>
        <p:nvCxnSpPr>
          <p:cNvPr id="1101" name="Google Shape;1101;g2bb8c1dba0d_0_1328"/>
          <p:cNvCxnSpPr/>
          <p:nvPr/>
        </p:nvCxnSpPr>
        <p:spPr>
          <a:xfrm rot="10800000">
            <a:off x="2333937" y="4697435"/>
            <a:ext cx="0" cy="322800"/>
          </a:xfrm>
          <a:prstGeom prst="straightConnector1">
            <a:avLst/>
          </a:prstGeom>
          <a:noFill/>
          <a:ln cap="flat" cmpd="sng" w="57150">
            <a:solidFill>
              <a:schemeClr val="dk1"/>
            </a:solidFill>
            <a:prstDash val="solid"/>
            <a:miter lim="800000"/>
            <a:headEnd len="sm" w="sm" type="none"/>
            <a:tailEnd len="med" w="med" type="triangle"/>
          </a:ln>
        </p:spPr>
      </p:cxnSp>
      <p:grpSp>
        <p:nvGrpSpPr>
          <p:cNvPr id="1102" name="Google Shape;1102;g2bb8c1dba0d_0_1328"/>
          <p:cNvGrpSpPr/>
          <p:nvPr/>
        </p:nvGrpSpPr>
        <p:grpSpPr>
          <a:xfrm>
            <a:off x="535802" y="2422627"/>
            <a:ext cx="3596271" cy="2096164"/>
            <a:chOff x="428194" y="2085115"/>
            <a:chExt cx="3263700" cy="2536500"/>
          </a:xfrm>
        </p:grpSpPr>
        <p:grpSp>
          <p:nvGrpSpPr>
            <p:cNvPr id="1103" name="Google Shape;1103;g2bb8c1dba0d_0_1328"/>
            <p:cNvGrpSpPr/>
            <p:nvPr/>
          </p:nvGrpSpPr>
          <p:grpSpPr>
            <a:xfrm>
              <a:off x="428194" y="2085115"/>
              <a:ext cx="3263700" cy="2536500"/>
              <a:chOff x="331256" y="1833238"/>
              <a:chExt cx="3263700" cy="2536500"/>
            </a:xfrm>
          </p:grpSpPr>
          <p:sp>
            <p:nvSpPr>
              <p:cNvPr id="1104" name="Google Shape;1104;g2bb8c1dba0d_0_1328"/>
              <p:cNvSpPr/>
              <p:nvPr/>
            </p:nvSpPr>
            <p:spPr>
              <a:xfrm>
                <a:off x="331256" y="1833238"/>
                <a:ext cx="3263700" cy="2536500"/>
              </a:xfrm>
              <a:prstGeom prst="cube">
                <a:avLst>
                  <a:gd fmla="val 9460" name="adj"/>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1105" name="Google Shape;1105;g2bb8c1dba0d_0_1328"/>
              <p:cNvGrpSpPr/>
              <p:nvPr/>
            </p:nvGrpSpPr>
            <p:grpSpPr>
              <a:xfrm>
                <a:off x="331256" y="2059661"/>
                <a:ext cx="3021041" cy="2310035"/>
                <a:chOff x="331256" y="2050696"/>
                <a:chExt cx="3021041" cy="2310035"/>
              </a:xfrm>
            </p:grpSpPr>
            <p:grpSp>
              <p:nvGrpSpPr>
                <p:cNvPr id="1106" name="Google Shape;1106;g2bb8c1dba0d_0_1328"/>
                <p:cNvGrpSpPr/>
                <p:nvPr/>
              </p:nvGrpSpPr>
              <p:grpSpPr>
                <a:xfrm>
                  <a:off x="331256" y="2050696"/>
                  <a:ext cx="385500" cy="2310035"/>
                  <a:chOff x="331256" y="2043953"/>
                  <a:chExt cx="385500" cy="2310035"/>
                </a:xfrm>
              </p:grpSpPr>
              <p:sp>
                <p:nvSpPr>
                  <p:cNvPr id="1107" name="Google Shape;1107;g2bb8c1dba0d_0_1328"/>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08" name="Google Shape;1108;g2bb8c1dba0d_0_1328"/>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09" name="Google Shape;1109;g2bb8c1dba0d_0_1328"/>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10" name="Google Shape;1110;g2bb8c1dba0d_0_1328"/>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11" name="Google Shape;1111;g2bb8c1dba0d_0_1328"/>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12" name="Google Shape;1112;g2bb8c1dba0d_0_1328"/>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113" name="Google Shape;1113;g2bb8c1dba0d_0_1328"/>
                <p:cNvGrpSpPr/>
                <p:nvPr/>
              </p:nvGrpSpPr>
              <p:grpSpPr>
                <a:xfrm>
                  <a:off x="707762" y="2050696"/>
                  <a:ext cx="385500" cy="2310035"/>
                  <a:chOff x="331256" y="2043953"/>
                  <a:chExt cx="385500" cy="2310035"/>
                </a:xfrm>
              </p:grpSpPr>
              <p:sp>
                <p:nvSpPr>
                  <p:cNvPr id="1114" name="Google Shape;1114;g2bb8c1dba0d_0_1328"/>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15" name="Google Shape;1115;g2bb8c1dba0d_0_1328"/>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16" name="Google Shape;1116;g2bb8c1dba0d_0_1328"/>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17" name="Google Shape;1117;g2bb8c1dba0d_0_1328"/>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18" name="Google Shape;1118;g2bb8c1dba0d_0_1328"/>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19" name="Google Shape;1119;g2bb8c1dba0d_0_1328"/>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120" name="Google Shape;1120;g2bb8c1dba0d_0_1328"/>
                <p:cNvGrpSpPr/>
                <p:nvPr/>
              </p:nvGrpSpPr>
              <p:grpSpPr>
                <a:xfrm>
                  <a:off x="1084268" y="2050696"/>
                  <a:ext cx="385500" cy="2310035"/>
                  <a:chOff x="331256" y="2043953"/>
                  <a:chExt cx="385500" cy="2310035"/>
                </a:xfrm>
              </p:grpSpPr>
              <p:sp>
                <p:nvSpPr>
                  <p:cNvPr id="1121" name="Google Shape;1121;g2bb8c1dba0d_0_1328"/>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22" name="Google Shape;1122;g2bb8c1dba0d_0_1328"/>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23" name="Google Shape;1123;g2bb8c1dba0d_0_1328"/>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24" name="Google Shape;1124;g2bb8c1dba0d_0_1328"/>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25" name="Google Shape;1125;g2bb8c1dba0d_0_1328"/>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26" name="Google Shape;1126;g2bb8c1dba0d_0_1328"/>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127" name="Google Shape;1127;g2bb8c1dba0d_0_1328"/>
                <p:cNvGrpSpPr/>
                <p:nvPr/>
              </p:nvGrpSpPr>
              <p:grpSpPr>
                <a:xfrm>
                  <a:off x="1460774" y="2050696"/>
                  <a:ext cx="385500" cy="2310035"/>
                  <a:chOff x="331256" y="2043953"/>
                  <a:chExt cx="385500" cy="2310035"/>
                </a:xfrm>
              </p:grpSpPr>
              <p:sp>
                <p:nvSpPr>
                  <p:cNvPr id="1128" name="Google Shape;1128;g2bb8c1dba0d_0_1328"/>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29" name="Google Shape;1129;g2bb8c1dba0d_0_1328"/>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30" name="Google Shape;1130;g2bb8c1dba0d_0_1328"/>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31" name="Google Shape;1131;g2bb8c1dba0d_0_1328"/>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32" name="Google Shape;1132;g2bb8c1dba0d_0_1328"/>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33" name="Google Shape;1133;g2bb8c1dba0d_0_1328"/>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134" name="Google Shape;1134;g2bb8c1dba0d_0_1328"/>
                <p:cNvGrpSpPr/>
                <p:nvPr/>
              </p:nvGrpSpPr>
              <p:grpSpPr>
                <a:xfrm>
                  <a:off x="1837280" y="2050696"/>
                  <a:ext cx="385500" cy="2310035"/>
                  <a:chOff x="331256" y="2043953"/>
                  <a:chExt cx="385500" cy="2310035"/>
                </a:xfrm>
              </p:grpSpPr>
              <p:sp>
                <p:nvSpPr>
                  <p:cNvPr id="1135" name="Google Shape;1135;g2bb8c1dba0d_0_1328"/>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36" name="Google Shape;1136;g2bb8c1dba0d_0_1328"/>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37" name="Google Shape;1137;g2bb8c1dba0d_0_1328"/>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38" name="Google Shape;1138;g2bb8c1dba0d_0_1328"/>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39" name="Google Shape;1139;g2bb8c1dba0d_0_1328"/>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40" name="Google Shape;1140;g2bb8c1dba0d_0_1328"/>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141" name="Google Shape;1141;g2bb8c1dba0d_0_1328"/>
                <p:cNvGrpSpPr/>
                <p:nvPr/>
              </p:nvGrpSpPr>
              <p:grpSpPr>
                <a:xfrm>
                  <a:off x="2213786" y="2050696"/>
                  <a:ext cx="385500" cy="2310035"/>
                  <a:chOff x="331256" y="2043953"/>
                  <a:chExt cx="385500" cy="2310035"/>
                </a:xfrm>
              </p:grpSpPr>
              <p:sp>
                <p:nvSpPr>
                  <p:cNvPr id="1142" name="Google Shape;1142;g2bb8c1dba0d_0_1328"/>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43" name="Google Shape;1143;g2bb8c1dba0d_0_1328"/>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44" name="Google Shape;1144;g2bb8c1dba0d_0_1328"/>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45" name="Google Shape;1145;g2bb8c1dba0d_0_1328"/>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46" name="Google Shape;1146;g2bb8c1dba0d_0_1328"/>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47" name="Google Shape;1147;g2bb8c1dba0d_0_1328"/>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148" name="Google Shape;1148;g2bb8c1dba0d_0_1328"/>
                <p:cNvGrpSpPr/>
                <p:nvPr/>
              </p:nvGrpSpPr>
              <p:grpSpPr>
                <a:xfrm>
                  <a:off x="2590292" y="2050696"/>
                  <a:ext cx="385500" cy="2310035"/>
                  <a:chOff x="331256" y="2043953"/>
                  <a:chExt cx="385500" cy="2310035"/>
                </a:xfrm>
              </p:grpSpPr>
              <p:sp>
                <p:nvSpPr>
                  <p:cNvPr id="1149" name="Google Shape;1149;g2bb8c1dba0d_0_1328"/>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50" name="Google Shape;1150;g2bb8c1dba0d_0_1328"/>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51" name="Google Shape;1151;g2bb8c1dba0d_0_1328"/>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52" name="Google Shape;1152;g2bb8c1dba0d_0_1328"/>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53" name="Google Shape;1153;g2bb8c1dba0d_0_1328"/>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54" name="Google Shape;1154;g2bb8c1dba0d_0_1328"/>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155" name="Google Shape;1155;g2bb8c1dba0d_0_1328"/>
                <p:cNvGrpSpPr/>
                <p:nvPr/>
              </p:nvGrpSpPr>
              <p:grpSpPr>
                <a:xfrm>
                  <a:off x="2966797" y="2050696"/>
                  <a:ext cx="385500" cy="2310035"/>
                  <a:chOff x="331256" y="2043953"/>
                  <a:chExt cx="385500" cy="2310035"/>
                </a:xfrm>
              </p:grpSpPr>
              <p:sp>
                <p:nvSpPr>
                  <p:cNvPr id="1156" name="Google Shape;1156;g2bb8c1dba0d_0_1328"/>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57" name="Google Shape;1157;g2bb8c1dba0d_0_1328"/>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58" name="Google Shape;1158;g2bb8c1dba0d_0_1328"/>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59" name="Google Shape;1159;g2bb8c1dba0d_0_1328"/>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60" name="Google Shape;1160;g2bb8c1dba0d_0_1328"/>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61" name="Google Shape;1161;g2bb8c1dba0d_0_1328"/>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grpSp>
        <p:sp>
          <p:nvSpPr>
            <p:cNvPr id="1162" name="Google Shape;1162;g2bb8c1dba0d_0_1328"/>
            <p:cNvSpPr/>
            <p:nvPr/>
          </p:nvSpPr>
          <p:spPr>
            <a:xfrm>
              <a:off x="598106" y="2909950"/>
              <a:ext cx="954600" cy="1326000"/>
            </a:xfrm>
            <a:prstGeom prst="rect">
              <a:avLst/>
            </a:prstGeom>
            <a:noFill/>
            <a:ln cap="flat" cmpd="sng" w="762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1163" name="Google Shape;1163;g2bb8c1dba0d_0_1328"/>
          <p:cNvSpPr txBox="1"/>
          <p:nvPr/>
        </p:nvSpPr>
        <p:spPr>
          <a:xfrm>
            <a:off x="212131" y="1486289"/>
            <a:ext cx="4243500" cy="954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Feature Map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(e.g., 6x8x256)</a:t>
            </a:r>
            <a:endParaRPr b="0" i="0" sz="1400" u="none" cap="none" strike="noStrike">
              <a:solidFill>
                <a:srgbClr val="000000"/>
              </a:solidFill>
              <a:latin typeface="Arial"/>
              <a:ea typeface="Arial"/>
              <a:cs typeface="Arial"/>
              <a:sym typeface="Arial"/>
            </a:endParaRPr>
          </a:p>
        </p:txBody>
      </p:sp>
      <p:sp>
        <p:nvSpPr>
          <p:cNvPr id="1164" name="Google Shape;1164;g2bb8c1dba0d_0_1328"/>
          <p:cNvSpPr/>
          <p:nvPr/>
        </p:nvSpPr>
        <p:spPr>
          <a:xfrm>
            <a:off x="1365580" y="2931720"/>
            <a:ext cx="2048400" cy="950700"/>
          </a:xfrm>
          <a:prstGeom prst="rect">
            <a:avLst/>
          </a:prstGeom>
          <a:noFill/>
          <a:ln cap="flat" cmpd="sng" w="762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1165" name="Google Shape;1165;g2bb8c1dba0d_0_1328"/>
          <p:cNvGrpSpPr/>
          <p:nvPr/>
        </p:nvGrpSpPr>
        <p:grpSpPr>
          <a:xfrm>
            <a:off x="5088875" y="4022746"/>
            <a:ext cx="839662" cy="636776"/>
            <a:chOff x="3594152" y="2927480"/>
            <a:chExt cx="629762" cy="636776"/>
          </a:xfrm>
        </p:grpSpPr>
        <p:sp>
          <p:nvSpPr>
            <p:cNvPr id="1166" name="Google Shape;1166;g2bb8c1dba0d_0_1328"/>
            <p:cNvSpPr/>
            <p:nvPr/>
          </p:nvSpPr>
          <p:spPr>
            <a:xfrm>
              <a:off x="3594152" y="2927480"/>
              <a:ext cx="318600" cy="3186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67" name="Google Shape;1167;g2bb8c1dba0d_0_1328"/>
            <p:cNvSpPr/>
            <p:nvPr/>
          </p:nvSpPr>
          <p:spPr>
            <a:xfrm>
              <a:off x="3594152" y="3245585"/>
              <a:ext cx="318600" cy="3186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68" name="Google Shape;1168;g2bb8c1dba0d_0_1328"/>
            <p:cNvSpPr/>
            <p:nvPr/>
          </p:nvSpPr>
          <p:spPr>
            <a:xfrm>
              <a:off x="3905314" y="2927480"/>
              <a:ext cx="318600" cy="3186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69" name="Google Shape;1169;g2bb8c1dba0d_0_1328"/>
            <p:cNvSpPr/>
            <p:nvPr/>
          </p:nvSpPr>
          <p:spPr>
            <a:xfrm>
              <a:off x="3905314" y="3245585"/>
              <a:ext cx="318600" cy="3186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70" name="Google Shape;1170;g2bb8c1dba0d_0_1328"/>
            <p:cNvSpPr/>
            <p:nvPr/>
          </p:nvSpPr>
          <p:spPr>
            <a:xfrm>
              <a:off x="3597056" y="2927956"/>
              <a:ext cx="626700" cy="636300"/>
            </a:xfrm>
            <a:prstGeom prst="rect">
              <a:avLst/>
            </a:prstGeom>
            <a:noFill/>
            <a:ln cap="flat" cmpd="sng" w="762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171" name="Google Shape;1171;g2bb8c1dba0d_0_1328"/>
          <p:cNvGrpSpPr/>
          <p:nvPr/>
        </p:nvGrpSpPr>
        <p:grpSpPr>
          <a:xfrm>
            <a:off x="5093820" y="4844358"/>
            <a:ext cx="839662" cy="636776"/>
            <a:chOff x="3594152" y="2927480"/>
            <a:chExt cx="629762" cy="636776"/>
          </a:xfrm>
        </p:grpSpPr>
        <p:sp>
          <p:nvSpPr>
            <p:cNvPr id="1172" name="Google Shape;1172;g2bb8c1dba0d_0_1328"/>
            <p:cNvSpPr/>
            <p:nvPr/>
          </p:nvSpPr>
          <p:spPr>
            <a:xfrm>
              <a:off x="3594152" y="2927480"/>
              <a:ext cx="318600" cy="3186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73" name="Google Shape;1173;g2bb8c1dba0d_0_1328"/>
            <p:cNvSpPr/>
            <p:nvPr/>
          </p:nvSpPr>
          <p:spPr>
            <a:xfrm>
              <a:off x="3594152" y="3245585"/>
              <a:ext cx="318600" cy="3186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74" name="Google Shape;1174;g2bb8c1dba0d_0_1328"/>
            <p:cNvSpPr/>
            <p:nvPr/>
          </p:nvSpPr>
          <p:spPr>
            <a:xfrm>
              <a:off x="3905314" y="2927480"/>
              <a:ext cx="318600" cy="3186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75" name="Google Shape;1175;g2bb8c1dba0d_0_1328"/>
            <p:cNvSpPr/>
            <p:nvPr/>
          </p:nvSpPr>
          <p:spPr>
            <a:xfrm>
              <a:off x="3905314" y="3245585"/>
              <a:ext cx="318600" cy="3186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76" name="Google Shape;1176;g2bb8c1dba0d_0_1328"/>
            <p:cNvSpPr/>
            <p:nvPr/>
          </p:nvSpPr>
          <p:spPr>
            <a:xfrm>
              <a:off x="3597056" y="2927956"/>
              <a:ext cx="626700" cy="636300"/>
            </a:xfrm>
            <a:prstGeom prst="rect">
              <a:avLst/>
            </a:prstGeom>
            <a:noFill/>
            <a:ln cap="flat" cmpd="sng" w="762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cxnSp>
        <p:nvCxnSpPr>
          <p:cNvPr id="1177" name="Google Shape;1177;g2bb8c1dba0d_0_1328"/>
          <p:cNvCxnSpPr>
            <a:stCxn id="1164" idx="3"/>
            <a:endCxn id="1170" idx="1"/>
          </p:cNvCxnSpPr>
          <p:nvPr/>
        </p:nvCxnSpPr>
        <p:spPr>
          <a:xfrm>
            <a:off x="3413980" y="3407070"/>
            <a:ext cx="1678800" cy="934200"/>
          </a:xfrm>
          <a:prstGeom prst="curvedConnector3">
            <a:avLst>
              <a:gd fmla="val 50000" name="adj1"/>
            </a:avLst>
          </a:prstGeom>
          <a:noFill/>
          <a:ln cap="flat" cmpd="sng" w="76200">
            <a:solidFill>
              <a:schemeClr val="accent2"/>
            </a:solidFill>
            <a:prstDash val="solid"/>
            <a:miter lim="800000"/>
            <a:headEnd len="sm" w="sm" type="none"/>
            <a:tailEnd len="med" w="med" type="triangle"/>
          </a:ln>
        </p:spPr>
      </p:cxnSp>
      <p:cxnSp>
        <p:nvCxnSpPr>
          <p:cNvPr id="1178" name="Google Shape;1178;g2bb8c1dba0d_0_1328"/>
          <p:cNvCxnSpPr>
            <a:stCxn id="1162" idx="3"/>
            <a:endCxn id="1176" idx="1"/>
          </p:cNvCxnSpPr>
          <p:nvPr/>
        </p:nvCxnSpPr>
        <p:spPr>
          <a:xfrm>
            <a:off x="1774902" y="3652174"/>
            <a:ext cx="3322800" cy="1510800"/>
          </a:xfrm>
          <a:prstGeom prst="curvedConnector3">
            <a:avLst>
              <a:gd fmla="val 50000" name="adj1"/>
            </a:avLst>
          </a:prstGeom>
          <a:noFill/>
          <a:ln cap="flat" cmpd="sng" w="76200">
            <a:solidFill>
              <a:schemeClr val="accent1"/>
            </a:solidFill>
            <a:prstDash val="solid"/>
            <a:miter lim="800000"/>
            <a:headEnd len="sm" w="sm" type="none"/>
            <a:tailEnd len="med" w="med" type="triangle"/>
          </a:ln>
        </p:spPr>
      </p:cxnSp>
      <p:sp>
        <p:nvSpPr>
          <p:cNvPr id="1179" name="Google Shape;1179;g2bb8c1dba0d_0_1328"/>
          <p:cNvSpPr/>
          <p:nvPr/>
        </p:nvSpPr>
        <p:spPr>
          <a:xfrm>
            <a:off x="6344421" y="4230218"/>
            <a:ext cx="741300" cy="1091400"/>
          </a:xfrm>
          <a:prstGeom prst="cube">
            <a:avLst>
              <a:gd fmla="val 67261" name="adj"/>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80" name="Google Shape;1180;g2bb8c1dba0d_0_1328"/>
          <p:cNvSpPr/>
          <p:nvPr/>
        </p:nvSpPr>
        <p:spPr>
          <a:xfrm>
            <a:off x="6707121" y="4351845"/>
            <a:ext cx="612300" cy="902100"/>
          </a:xfrm>
          <a:prstGeom prst="cube">
            <a:avLst>
              <a:gd fmla="val 67261" name="adj"/>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81" name="Google Shape;1181;g2bb8c1dba0d_0_1328"/>
          <p:cNvSpPr/>
          <p:nvPr/>
        </p:nvSpPr>
        <p:spPr>
          <a:xfrm>
            <a:off x="7036165" y="4508730"/>
            <a:ext cx="459900" cy="509100"/>
          </a:xfrm>
          <a:prstGeom prst="cube">
            <a:avLst>
              <a:gd fmla="val 58129" name="adj"/>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82" name="Google Shape;1182;g2bb8c1dba0d_0_1328"/>
          <p:cNvSpPr/>
          <p:nvPr/>
        </p:nvSpPr>
        <p:spPr>
          <a:xfrm>
            <a:off x="7367551" y="4685984"/>
            <a:ext cx="405600" cy="221700"/>
          </a:xfrm>
          <a:prstGeom prst="cube">
            <a:avLst>
              <a:gd fmla="val 29835" name="adj"/>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83" name="Google Shape;1183;g2bb8c1dba0d_0_1328"/>
          <p:cNvSpPr txBox="1"/>
          <p:nvPr/>
        </p:nvSpPr>
        <p:spPr>
          <a:xfrm>
            <a:off x="7847923" y="4535268"/>
            <a:ext cx="43440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cxnSp>
        <p:nvCxnSpPr>
          <p:cNvPr id="1184" name="Google Shape;1184;g2bb8c1dba0d_0_1328"/>
          <p:cNvCxnSpPr/>
          <p:nvPr/>
        </p:nvCxnSpPr>
        <p:spPr>
          <a:xfrm>
            <a:off x="6096000" y="4464818"/>
            <a:ext cx="149700" cy="379500"/>
          </a:xfrm>
          <a:prstGeom prst="straightConnector1">
            <a:avLst/>
          </a:prstGeom>
          <a:noFill/>
          <a:ln cap="flat" cmpd="sng" w="57150">
            <a:solidFill>
              <a:schemeClr val="dk1"/>
            </a:solidFill>
            <a:prstDash val="solid"/>
            <a:miter lim="800000"/>
            <a:headEnd len="sm" w="sm" type="none"/>
            <a:tailEnd len="med" w="med" type="triangle"/>
          </a:ln>
        </p:spPr>
      </p:cxnSp>
      <p:sp>
        <p:nvSpPr>
          <p:cNvPr id="1185" name="Google Shape;1185;g2bb8c1dba0d_0_1328"/>
          <p:cNvSpPr txBox="1"/>
          <p:nvPr/>
        </p:nvSpPr>
        <p:spPr>
          <a:xfrm>
            <a:off x="4507635" y="1485681"/>
            <a:ext cx="7472400" cy="2247300"/>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Can ask the network to predict  </a:t>
            </a:r>
            <a:r>
              <a:rPr b="0" i="1" lang="en-US" sz="2800" u="none" cap="none" strike="noStrike">
                <a:solidFill>
                  <a:schemeClr val="dk1"/>
                </a:solidFill>
                <a:latin typeface="Arial"/>
                <a:ea typeface="Arial"/>
                <a:cs typeface="Arial"/>
                <a:sym typeface="Arial"/>
              </a:rPr>
              <a:t>nearly</a:t>
            </a:r>
            <a:r>
              <a:rPr b="0" i="0" lang="en-US" sz="2800" u="none" cap="none" strike="noStrike">
                <a:solidFill>
                  <a:schemeClr val="dk1"/>
                </a:solidFill>
                <a:latin typeface="Arial"/>
                <a:ea typeface="Arial"/>
                <a:cs typeface="Arial"/>
                <a:sym typeface="Arial"/>
              </a:rPr>
              <a:t> anything.</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If you can associate it with a bounding box and can get data for it, you can train the model</a:t>
            </a:r>
            <a:endParaRPr b="0" i="0" sz="1400" u="none" cap="none" strike="noStrike">
              <a:solidFill>
                <a:srgbClr val="000000"/>
              </a:solidFill>
              <a:latin typeface="Arial"/>
              <a:ea typeface="Arial"/>
              <a:cs typeface="Arial"/>
              <a:sym typeface="Arial"/>
            </a:endParaRPr>
          </a:p>
        </p:txBody>
      </p:sp>
      <p:sp>
        <p:nvSpPr>
          <p:cNvPr id="1186" name="Google Shape;1186;g2bb8c1dba0d_0_1328"/>
          <p:cNvSpPr txBox="1"/>
          <p:nvPr/>
        </p:nvSpPr>
        <p:spPr>
          <a:xfrm>
            <a:off x="476539" y="6429539"/>
            <a:ext cx="107469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Liu et al. </a:t>
            </a:r>
            <a:r>
              <a:rPr b="0" i="1" lang="en-US" sz="1200" u="none" cap="none" strike="noStrike">
                <a:solidFill>
                  <a:schemeClr val="dk1"/>
                </a:solidFill>
                <a:latin typeface="Arial"/>
                <a:ea typeface="Arial"/>
                <a:cs typeface="Arial"/>
                <a:sym typeface="Arial"/>
              </a:rPr>
              <a:t>PlaneRCNN: 3D Plane Detection and Reconstruction from a Single Image. </a:t>
            </a:r>
            <a:r>
              <a:rPr b="0" i="0" lang="en-US" sz="1200" u="none" cap="none" strike="noStrike">
                <a:solidFill>
                  <a:schemeClr val="dk1"/>
                </a:solidFill>
                <a:latin typeface="Arial"/>
                <a:ea typeface="Arial"/>
                <a:cs typeface="Arial"/>
                <a:sym typeface="Arial"/>
              </a:rPr>
              <a:t>CVPR 2019.</a:t>
            </a:r>
            <a:endParaRPr b="0" i="1" sz="12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1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0" name="Shape 1190"/>
        <p:cNvGrpSpPr/>
        <p:nvPr/>
      </p:nvGrpSpPr>
      <p:grpSpPr>
        <a:xfrm>
          <a:off x="0" y="0"/>
          <a:ext cx="0" cy="0"/>
          <a:chOff x="0" y="0"/>
          <a:chExt cx="0" cy="0"/>
        </a:xfrm>
      </p:grpSpPr>
      <p:sp>
        <p:nvSpPr>
          <p:cNvPr id="1191" name="Google Shape;1191;g2bb8c1dba0d_0_1420"/>
          <p:cNvSpPr txBox="1"/>
          <p:nvPr>
            <p:ph type="title"/>
          </p:nvPr>
        </p:nvSpPr>
        <p:spPr>
          <a:xfrm>
            <a:off x="1117600" y="365125"/>
            <a:ext cx="106443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Extending Object Detection</a:t>
            </a:r>
            <a:endParaRPr/>
          </a:p>
        </p:txBody>
      </p:sp>
      <p:pic>
        <p:nvPicPr>
          <p:cNvPr id="1192" name="Google Shape;1192;g2bb8c1dba0d_0_1420"/>
          <p:cNvPicPr preferRelativeResize="0"/>
          <p:nvPr/>
        </p:nvPicPr>
        <p:blipFill rotWithShape="1">
          <a:blip r:embed="rId3">
            <a:alphaModFix/>
          </a:blip>
          <a:srcRect b="0" l="0" r="0" t="0"/>
          <a:stretch/>
        </p:blipFill>
        <p:spPr>
          <a:xfrm>
            <a:off x="293459" y="2505178"/>
            <a:ext cx="3498233" cy="2690325"/>
          </a:xfrm>
          <a:prstGeom prst="rect">
            <a:avLst/>
          </a:prstGeom>
          <a:noFill/>
          <a:ln>
            <a:noFill/>
          </a:ln>
        </p:spPr>
      </p:pic>
      <p:sp>
        <p:nvSpPr>
          <p:cNvPr id="1193" name="Google Shape;1193;g2bb8c1dba0d_0_1420"/>
          <p:cNvSpPr txBox="1"/>
          <p:nvPr/>
        </p:nvSpPr>
        <p:spPr>
          <a:xfrm>
            <a:off x="476539" y="6429539"/>
            <a:ext cx="107469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Liu et al. </a:t>
            </a:r>
            <a:r>
              <a:rPr b="0" i="1" lang="en-US" sz="1200" u="none" cap="none" strike="noStrike">
                <a:solidFill>
                  <a:schemeClr val="dk1"/>
                </a:solidFill>
                <a:latin typeface="Arial"/>
                <a:ea typeface="Arial"/>
                <a:cs typeface="Arial"/>
                <a:sym typeface="Arial"/>
              </a:rPr>
              <a:t>PlaneRCNN: 3D Plane Detection and Reconstruction from a Single Image. </a:t>
            </a:r>
            <a:r>
              <a:rPr b="0" i="0" lang="en-US" sz="1200" u="none" cap="none" strike="noStrike">
                <a:solidFill>
                  <a:schemeClr val="dk1"/>
                </a:solidFill>
                <a:latin typeface="Arial"/>
                <a:ea typeface="Arial"/>
                <a:cs typeface="Arial"/>
                <a:sym typeface="Arial"/>
              </a:rPr>
              <a:t>CVPR 2019.</a:t>
            </a:r>
            <a:endParaRPr b="0" i="1" sz="1200" u="none" cap="none" strike="noStrike">
              <a:solidFill>
                <a:schemeClr val="dk1"/>
              </a:solidFill>
              <a:latin typeface="Arial"/>
              <a:ea typeface="Arial"/>
              <a:cs typeface="Arial"/>
              <a:sym typeface="Arial"/>
            </a:endParaRPr>
          </a:p>
        </p:txBody>
      </p:sp>
      <p:sp>
        <p:nvSpPr>
          <p:cNvPr id="1194" name="Google Shape;1194;g2bb8c1dba0d_0_1420"/>
          <p:cNvSpPr/>
          <p:nvPr/>
        </p:nvSpPr>
        <p:spPr>
          <a:xfrm>
            <a:off x="2283012" y="2680447"/>
            <a:ext cx="2570100" cy="1846800"/>
          </a:xfrm>
          <a:prstGeom prst="rect">
            <a:avLst/>
          </a:prstGeom>
          <a:noFill/>
          <a:ln cap="flat" cmpd="sng" w="762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cxnSp>
        <p:nvCxnSpPr>
          <p:cNvPr id="1195" name="Google Shape;1195;g2bb8c1dba0d_0_1420"/>
          <p:cNvCxnSpPr>
            <a:endCxn id="1196" idx="1"/>
          </p:cNvCxnSpPr>
          <p:nvPr/>
        </p:nvCxnSpPr>
        <p:spPr>
          <a:xfrm flipH="1" rot="10800000">
            <a:off x="3525981" y="2704224"/>
            <a:ext cx="2930400" cy="863700"/>
          </a:xfrm>
          <a:prstGeom prst="curvedConnector3">
            <a:avLst>
              <a:gd fmla="val 50000" name="adj1"/>
            </a:avLst>
          </a:prstGeom>
          <a:noFill/>
          <a:ln cap="flat" cmpd="sng" w="76200">
            <a:solidFill>
              <a:schemeClr val="accent2"/>
            </a:solidFill>
            <a:prstDash val="solid"/>
            <a:miter lim="800000"/>
            <a:headEnd len="sm" w="sm" type="none"/>
            <a:tailEnd len="med" w="med" type="triangle"/>
          </a:ln>
        </p:spPr>
      </p:cxnSp>
      <p:grpSp>
        <p:nvGrpSpPr>
          <p:cNvPr id="1197" name="Google Shape;1197;g2bb8c1dba0d_0_1420"/>
          <p:cNvGrpSpPr/>
          <p:nvPr/>
        </p:nvGrpSpPr>
        <p:grpSpPr>
          <a:xfrm>
            <a:off x="6495773" y="3116166"/>
            <a:ext cx="1477754" cy="1042519"/>
            <a:chOff x="5131836" y="2924724"/>
            <a:chExt cx="1963271" cy="1846800"/>
          </a:xfrm>
        </p:grpSpPr>
        <p:sp>
          <p:nvSpPr>
            <p:cNvPr id="1198" name="Google Shape;1198;g2bb8c1dba0d_0_1420"/>
            <p:cNvSpPr/>
            <p:nvPr/>
          </p:nvSpPr>
          <p:spPr>
            <a:xfrm>
              <a:off x="5146953" y="2924724"/>
              <a:ext cx="1927500" cy="1846800"/>
            </a:xfrm>
            <a:prstGeom prst="rect">
              <a:avLst/>
            </a:prstGeom>
            <a:solidFill>
              <a:schemeClr val="dk1"/>
            </a:solidFill>
            <a:ln cap="flat" cmpd="sng" w="762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99" name="Google Shape;1199;g2bb8c1dba0d_0_1420"/>
            <p:cNvSpPr/>
            <p:nvPr/>
          </p:nvSpPr>
          <p:spPr>
            <a:xfrm>
              <a:off x="5131836" y="2953870"/>
              <a:ext cx="1963271" cy="1792942"/>
            </a:xfrm>
            <a:custGeom>
              <a:rect b="b" l="l" r="r" t="t"/>
              <a:pathLst>
                <a:path extrusionOk="0" h="1792942" w="1963271">
                  <a:moveTo>
                    <a:pt x="1936377" y="0"/>
                  </a:moveTo>
                  <a:lnTo>
                    <a:pt x="0" y="143436"/>
                  </a:lnTo>
                  <a:cubicBezTo>
                    <a:pt x="2988" y="603624"/>
                    <a:pt x="5977" y="1063812"/>
                    <a:pt x="8965" y="1524000"/>
                  </a:cubicBezTo>
                  <a:lnTo>
                    <a:pt x="1963271" y="1792942"/>
                  </a:lnTo>
                  <a:lnTo>
                    <a:pt x="1936377" y="0"/>
                  </a:lnTo>
                  <a:close/>
                </a:path>
              </a:pathLst>
            </a:cu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1200" name="Google Shape;1200;g2bb8c1dba0d_0_1420"/>
          <p:cNvSpPr txBox="1"/>
          <p:nvPr/>
        </p:nvSpPr>
        <p:spPr>
          <a:xfrm>
            <a:off x="8055831" y="3349243"/>
            <a:ext cx="43440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Mask</a:t>
            </a:r>
            <a:endParaRPr b="0" i="0" sz="1400" u="none" cap="none" strike="noStrike">
              <a:solidFill>
                <a:srgbClr val="000000"/>
              </a:solidFill>
              <a:latin typeface="Arial"/>
              <a:ea typeface="Arial"/>
              <a:cs typeface="Arial"/>
              <a:sym typeface="Arial"/>
            </a:endParaRPr>
          </a:p>
        </p:txBody>
      </p:sp>
      <p:sp>
        <p:nvSpPr>
          <p:cNvPr id="1201" name="Google Shape;1201;g2bb8c1dba0d_0_1420"/>
          <p:cNvSpPr txBox="1"/>
          <p:nvPr/>
        </p:nvSpPr>
        <p:spPr>
          <a:xfrm>
            <a:off x="212129" y="1486289"/>
            <a:ext cx="115497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Example: RGB image input, detect planar surfaces</a:t>
            </a:r>
            <a:endParaRPr b="0" i="0" sz="1400" u="none" cap="none" strike="noStrike">
              <a:solidFill>
                <a:srgbClr val="000000"/>
              </a:solidFill>
              <a:latin typeface="Arial"/>
              <a:ea typeface="Arial"/>
              <a:cs typeface="Arial"/>
              <a:sym typeface="Arial"/>
            </a:endParaRPr>
          </a:p>
        </p:txBody>
      </p:sp>
      <p:cxnSp>
        <p:nvCxnSpPr>
          <p:cNvPr id="1202" name="Google Shape;1202;g2bb8c1dba0d_0_1420"/>
          <p:cNvCxnSpPr>
            <a:endCxn id="1198" idx="1"/>
          </p:cNvCxnSpPr>
          <p:nvPr/>
        </p:nvCxnSpPr>
        <p:spPr>
          <a:xfrm>
            <a:off x="3568352" y="3568125"/>
            <a:ext cx="2938800" cy="69300"/>
          </a:xfrm>
          <a:prstGeom prst="curvedConnector3">
            <a:avLst>
              <a:gd fmla="val 50000" name="adj1"/>
            </a:avLst>
          </a:prstGeom>
          <a:noFill/>
          <a:ln cap="flat" cmpd="sng" w="76200">
            <a:solidFill>
              <a:schemeClr val="accent2"/>
            </a:solidFill>
            <a:prstDash val="solid"/>
            <a:miter lim="800000"/>
            <a:headEnd len="sm" w="sm" type="none"/>
            <a:tailEnd len="med" w="med" type="triangle"/>
          </a:ln>
        </p:spPr>
      </p:cxnSp>
      <p:sp>
        <p:nvSpPr>
          <p:cNvPr id="1196" name="Google Shape;1196;g2bb8c1dba0d_0_1420"/>
          <p:cNvSpPr txBox="1"/>
          <p:nvPr/>
        </p:nvSpPr>
        <p:spPr>
          <a:xfrm>
            <a:off x="6456381" y="2442624"/>
            <a:ext cx="43440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Plane/No Plane</a:t>
            </a:r>
            <a:endParaRPr b="0" i="0" sz="1400" u="none" cap="none" strike="noStrike">
              <a:solidFill>
                <a:srgbClr val="000000"/>
              </a:solidFill>
              <a:latin typeface="Arial"/>
              <a:ea typeface="Arial"/>
              <a:cs typeface="Arial"/>
              <a:sym typeface="Arial"/>
            </a:endParaRPr>
          </a:p>
        </p:txBody>
      </p:sp>
      <p:sp>
        <p:nvSpPr>
          <p:cNvPr id="1203" name="Google Shape;1203;g2bb8c1dba0d_0_1420"/>
          <p:cNvSpPr txBox="1"/>
          <p:nvPr/>
        </p:nvSpPr>
        <p:spPr>
          <a:xfrm>
            <a:off x="6312947" y="4203795"/>
            <a:ext cx="43440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Surface Normal</a:t>
            </a:r>
            <a:endParaRPr b="0" i="0" sz="1400" u="none" cap="none" strike="noStrike">
              <a:solidFill>
                <a:srgbClr val="000000"/>
              </a:solidFill>
              <a:latin typeface="Arial"/>
              <a:ea typeface="Arial"/>
              <a:cs typeface="Arial"/>
              <a:sym typeface="Arial"/>
            </a:endParaRPr>
          </a:p>
        </p:txBody>
      </p:sp>
      <p:sp>
        <p:nvSpPr>
          <p:cNvPr id="1204" name="Google Shape;1204;g2bb8c1dba0d_0_1420"/>
          <p:cNvSpPr txBox="1"/>
          <p:nvPr/>
        </p:nvSpPr>
        <p:spPr>
          <a:xfrm>
            <a:off x="6325487" y="4667764"/>
            <a:ext cx="43440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Offset</a:t>
            </a:r>
            <a:endParaRPr b="0" i="0" sz="1400" u="none" cap="none" strike="noStrike">
              <a:solidFill>
                <a:srgbClr val="000000"/>
              </a:solidFill>
              <a:latin typeface="Arial"/>
              <a:ea typeface="Arial"/>
              <a:cs typeface="Arial"/>
              <a:sym typeface="Arial"/>
            </a:endParaRPr>
          </a:p>
        </p:txBody>
      </p:sp>
      <p:cxnSp>
        <p:nvCxnSpPr>
          <p:cNvPr id="1205" name="Google Shape;1205;g2bb8c1dba0d_0_1420"/>
          <p:cNvCxnSpPr>
            <a:endCxn id="1203" idx="1"/>
          </p:cNvCxnSpPr>
          <p:nvPr/>
        </p:nvCxnSpPr>
        <p:spPr>
          <a:xfrm>
            <a:off x="3568247" y="3555795"/>
            <a:ext cx="2744700" cy="909600"/>
          </a:xfrm>
          <a:prstGeom prst="curvedConnector3">
            <a:avLst>
              <a:gd fmla="val 50000" name="adj1"/>
            </a:avLst>
          </a:prstGeom>
          <a:noFill/>
          <a:ln cap="flat" cmpd="sng" w="76200">
            <a:solidFill>
              <a:schemeClr val="accent2"/>
            </a:solidFill>
            <a:prstDash val="solid"/>
            <a:miter lim="800000"/>
            <a:headEnd len="sm" w="sm" type="none"/>
            <a:tailEnd len="med" w="med" type="triangle"/>
          </a:ln>
        </p:spPr>
      </p:cxnSp>
      <p:cxnSp>
        <p:nvCxnSpPr>
          <p:cNvPr id="1206" name="Google Shape;1206;g2bb8c1dba0d_0_1420"/>
          <p:cNvCxnSpPr>
            <a:endCxn id="1204" idx="1"/>
          </p:cNvCxnSpPr>
          <p:nvPr/>
        </p:nvCxnSpPr>
        <p:spPr>
          <a:xfrm>
            <a:off x="3577487" y="3555964"/>
            <a:ext cx="2748000" cy="1373400"/>
          </a:xfrm>
          <a:prstGeom prst="curvedConnector3">
            <a:avLst>
              <a:gd fmla="val 50000" name="adj1"/>
            </a:avLst>
          </a:prstGeom>
          <a:noFill/>
          <a:ln cap="flat" cmpd="sng" w="76200">
            <a:solidFill>
              <a:schemeClr val="accent2"/>
            </a:solidFill>
            <a:prstDash val="solid"/>
            <a:miter lim="800000"/>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2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0" name="Shape 1210"/>
        <p:cNvGrpSpPr/>
        <p:nvPr/>
      </p:nvGrpSpPr>
      <p:grpSpPr>
        <a:xfrm>
          <a:off x="0" y="0"/>
          <a:ext cx="0" cy="0"/>
          <a:chOff x="0" y="0"/>
          <a:chExt cx="0" cy="0"/>
        </a:xfrm>
      </p:grpSpPr>
      <p:sp>
        <p:nvSpPr>
          <p:cNvPr id="1211" name="Google Shape;1211;g2bb8c1dba0d_0_1439"/>
          <p:cNvSpPr txBox="1"/>
          <p:nvPr>
            <p:ph type="title"/>
          </p:nvPr>
        </p:nvSpPr>
        <p:spPr>
          <a:xfrm>
            <a:off x="1117600" y="365125"/>
            <a:ext cx="106518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Extending Object Detection</a:t>
            </a:r>
            <a:endParaRPr/>
          </a:p>
        </p:txBody>
      </p:sp>
      <p:pic>
        <p:nvPicPr>
          <p:cNvPr id="1212" name="Google Shape;1212;g2bb8c1dba0d_0_1439"/>
          <p:cNvPicPr preferRelativeResize="0"/>
          <p:nvPr/>
        </p:nvPicPr>
        <p:blipFill rotWithShape="1">
          <a:blip r:embed="rId3">
            <a:alphaModFix/>
          </a:blip>
          <a:srcRect b="0" l="0" r="0" t="0"/>
          <a:stretch/>
        </p:blipFill>
        <p:spPr>
          <a:xfrm>
            <a:off x="0" y="1451552"/>
            <a:ext cx="9144000" cy="2269532"/>
          </a:xfrm>
          <a:prstGeom prst="rect">
            <a:avLst/>
          </a:prstGeom>
          <a:noFill/>
          <a:ln>
            <a:noFill/>
          </a:ln>
        </p:spPr>
      </p:pic>
      <p:sp>
        <p:nvSpPr>
          <p:cNvPr id="1213" name="Google Shape;1213;g2bb8c1dba0d_0_1439"/>
          <p:cNvSpPr txBox="1"/>
          <p:nvPr/>
        </p:nvSpPr>
        <p:spPr>
          <a:xfrm>
            <a:off x="0" y="6429539"/>
            <a:ext cx="115359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S. Agarwala, L. Jin, C. Rockwell, D.F. Fouhey. PlaneFormers: From Sparse View Planes to 3D Reconstruction.???, 2022</a:t>
            </a:r>
            <a:endParaRPr b="0" i="1" sz="1200" u="none" cap="none" strike="noStrike">
              <a:solidFill>
                <a:schemeClr val="dk1"/>
              </a:solidFill>
              <a:latin typeface="Arial"/>
              <a:ea typeface="Arial"/>
              <a:cs typeface="Arial"/>
              <a:sym typeface="Arial"/>
            </a:endParaRPr>
          </a:p>
        </p:txBody>
      </p:sp>
      <p:grpSp>
        <p:nvGrpSpPr>
          <p:cNvPr id="1214" name="Google Shape;1214;g2bb8c1dba0d_0_1439"/>
          <p:cNvGrpSpPr/>
          <p:nvPr/>
        </p:nvGrpSpPr>
        <p:grpSpPr>
          <a:xfrm>
            <a:off x="172293" y="3835979"/>
            <a:ext cx="11847109" cy="2297903"/>
            <a:chOff x="129223" y="3835979"/>
            <a:chExt cx="8885554" cy="2297903"/>
          </a:xfrm>
        </p:grpSpPr>
        <p:pic>
          <p:nvPicPr>
            <p:cNvPr id="1215" name="Google Shape;1215;g2bb8c1dba0d_0_1439"/>
            <p:cNvPicPr preferRelativeResize="0"/>
            <p:nvPr/>
          </p:nvPicPr>
          <p:blipFill rotWithShape="1">
            <a:blip r:embed="rId4">
              <a:alphaModFix/>
            </a:blip>
            <a:srcRect b="0" l="0" r="0" t="0"/>
            <a:stretch/>
          </p:blipFill>
          <p:spPr>
            <a:xfrm>
              <a:off x="2769301" y="3835979"/>
              <a:ext cx="6245476" cy="2297903"/>
            </a:xfrm>
            <a:prstGeom prst="rect">
              <a:avLst/>
            </a:prstGeom>
            <a:noFill/>
            <a:ln>
              <a:noFill/>
            </a:ln>
          </p:spPr>
        </p:pic>
        <p:sp>
          <p:nvSpPr>
            <p:cNvPr id="1216" name="Google Shape;1216;g2bb8c1dba0d_0_1439"/>
            <p:cNvSpPr txBox="1"/>
            <p:nvPr/>
          </p:nvSpPr>
          <p:spPr>
            <a:xfrm>
              <a:off x="129223" y="4384765"/>
              <a:ext cx="26400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Core building block is detecting plane in image.</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0" name="Shape 1220"/>
        <p:cNvGrpSpPr/>
        <p:nvPr/>
      </p:nvGrpSpPr>
      <p:grpSpPr>
        <a:xfrm>
          <a:off x="0" y="0"/>
          <a:ext cx="0" cy="0"/>
          <a:chOff x="0" y="0"/>
          <a:chExt cx="0" cy="0"/>
        </a:xfrm>
      </p:grpSpPr>
      <p:sp>
        <p:nvSpPr>
          <p:cNvPr id="1221" name="Google Shape;1221;g2bb8c1dba0d_0_1462"/>
          <p:cNvSpPr txBox="1"/>
          <p:nvPr>
            <p:ph type="title"/>
          </p:nvPr>
        </p:nvSpPr>
        <p:spPr>
          <a:xfrm>
            <a:off x="1117600" y="365125"/>
            <a:ext cx="108732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YOLO</a:t>
            </a:r>
            <a:endParaRPr/>
          </a:p>
        </p:txBody>
      </p:sp>
      <p:sp>
        <p:nvSpPr>
          <p:cNvPr id="1222" name="Google Shape;1222;g2bb8c1dba0d_0_1462"/>
          <p:cNvSpPr/>
          <p:nvPr/>
        </p:nvSpPr>
        <p:spPr>
          <a:xfrm>
            <a:off x="304800" y="6490169"/>
            <a:ext cx="11582400" cy="276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J. Redmon, S. Divvala, R. Girshick, and A. Farhadi, </a:t>
            </a:r>
            <a:r>
              <a:rPr b="0" i="0" lang="en-US" sz="1200" u="sng" cap="none" strike="noStrike">
                <a:solidFill>
                  <a:schemeClr val="dk1"/>
                </a:solidFill>
                <a:latin typeface="Arial"/>
                <a:ea typeface="Arial"/>
                <a:cs typeface="Arial"/>
                <a:sym typeface="Arial"/>
                <a:hlinkClick r:id="rId3">
                  <a:extLst>
                    <a:ext uri="{A12FA001-AC4F-418D-AE19-62706E023703}">
                      <ahyp:hlinkClr val="tx"/>
                    </a:ext>
                  </a:extLst>
                </a:hlinkClick>
              </a:rPr>
              <a:t>You Only Look Once: Unified, Real-Time Object Detection</a:t>
            </a:r>
            <a:r>
              <a:rPr b="0" i="0" lang="en-US" sz="1200" u="none" cap="none" strike="noStrike">
                <a:solidFill>
                  <a:schemeClr val="dk1"/>
                </a:solidFill>
                <a:latin typeface="Arial"/>
                <a:ea typeface="Arial"/>
                <a:cs typeface="Arial"/>
                <a:sym typeface="Arial"/>
              </a:rPr>
              <a:t>, CVPR 2016</a:t>
            </a:r>
            <a:endParaRPr b="0" i="0" sz="1400" u="none" cap="none" strike="noStrike">
              <a:solidFill>
                <a:srgbClr val="000000"/>
              </a:solidFill>
              <a:latin typeface="Arial"/>
              <a:ea typeface="Arial"/>
              <a:cs typeface="Arial"/>
              <a:sym typeface="Arial"/>
            </a:endParaRPr>
          </a:p>
        </p:txBody>
      </p:sp>
      <p:sp>
        <p:nvSpPr>
          <p:cNvPr id="1223" name="Google Shape;1223;g2bb8c1dba0d_0_1462"/>
          <p:cNvSpPr txBox="1"/>
          <p:nvPr/>
        </p:nvSpPr>
        <p:spPr>
          <a:xfrm>
            <a:off x="4537051" y="1794495"/>
            <a:ext cx="7350000" cy="3971100"/>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No proposals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Predict at each location in 7x7 feature map, score for each class + 2 bboxes</a:t>
            </a:r>
            <a:endParaRPr b="0" i="0" sz="28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7x faster than Faster-RCNN, but worse accuracy, precision</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Immensely popular in robotics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Loads of similar methods (YOLOv2, YOLOv3)</a:t>
            </a:r>
            <a:endParaRPr b="0" i="0" sz="1400" u="none" cap="none" strike="noStrike">
              <a:solidFill>
                <a:srgbClr val="000000"/>
              </a:solidFill>
              <a:latin typeface="Arial"/>
              <a:ea typeface="Arial"/>
              <a:cs typeface="Arial"/>
              <a:sym typeface="Arial"/>
            </a:endParaRPr>
          </a:p>
          <a:p>
            <a:pPr indent="-279400" lvl="0" marL="457200" marR="0" rtl="0" algn="l">
              <a:lnSpc>
                <a:spcPct val="100000"/>
              </a:lnSpc>
              <a:spcBef>
                <a:spcPts val="0"/>
              </a:spcBef>
              <a:spcAft>
                <a:spcPts val="0"/>
              </a:spcAft>
              <a:buClr>
                <a:schemeClr val="dk1"/>
              </a:buClr>
              <a:buSzPts val="2800"/>
              <a:buFont typeface="Arial"/>
              <a:buNone/>
            </a:pPr>
            <a:r>
              <a:t/>
            </a:r>
            <a:endParaRPr b="0" i="0" sz="2800" u="none" cap="none" strike="noStrike">
              <a:solidFill>
                <a:schemeClr val="dk1"/>
              </a:solidFill>
              <a:latin typeface="Arial"/>
              <a:ea typeface="Arial"/>
              <a:cs typeface="Arial"/>
              <a:sym typeface="Arial"/>
            </a:endParaRPr>
          </a:p>
        </p:txBody>
      </p:sp>
      <p:sp>
        <p:nvSpPr>
          <p:cNvPr id="1224" name="Google Shape;1224;g2bb8c1dba0d_0_1462"/>
          <p:cNvSpPr/>
          <p:nvPr/>
        </p:nvSpPr>
        <p:spPr>
          <a:xfrm>
            <a:off x="316596" y="5377335"/>
            <a:ext cx="3928800" cy="975000"/>
          </a:xfrm>
          <a:prstGeom prst="parallelogram">
            <a:avLst>
              <a:gd fmla="val 92429" name="adj"/>
            </a:avLst>
          </a:prstGeom>
          <a:blipFill rotWithShape="1">
            <a:blip r:embed="rId4">
              <a:alphaModFix/>
            </a:blip>
            <a:stretch>
              <a:fillRect b="0" l="0" r="0" t="0"/>
            </a:stretch>
          </a:blip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1225" name="Google Shape;1225;g2bb8c1dba0d_0_1462"/>
          <p:cNvSpPr/>
          <p:nvPr/>
        </p:nvSpPr>
        <p:spPr>
          <a:xfrm>
            <a:off x="1198532" y="4889053"/>
            <a:ext cx="2286300" cy="1178100"/>
          </a:xfrm>
          <a:prstGeom prst="cube">
            <a:avLst>
              <a:gd fmla="val 25000" name="adj"/>
            </a:avLst>
          </a:prstGeom>
          <a:solidFill>
            <a:schemeClr val="lt1">
              <a:alpha val="92549"/>
            </a:schemeClr>
          </a:solid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ConvNet</a:t>
            </a:r>
            <a:endParaRPr b="0" i="0" sz="1600" u="none" cap="none" strike="noStrike">
              <a:solidFill>
                <a:srgbClr val="000000"/>
              </a:solidFill>
              <a:latin typeface="Arial"/>
              <a:ea typeface="Arial"/>
              <a:cs typeface="Arial"/>
              <a:sym typeface="Arial"/>
            </a:endParaRPr>
          </a:p>
        </p:txBody>
      </p:sp>
      <p:cxnSp>
        <p:nvCxnSpPr>
          <p:cNvPr id="1226" name="Google Shape;1226;g2bb8c1dba0d_0_1462"/>
          <p:cNvCxnSpPr/>
          <p:nvPr/>
        </p:nvCxnSpPr>
        <p:spPr>
          <a:xfrm rot="10800000">
            <a:off x="2333937" y="4697435"/>
            <a:ext cx="0" cy="322800"/>
          </a:xfrm>
          <a:prstGeom prst="straightConnector1">
            <a:avLst/>
          </a:prstGeom>
          <a:noFill/>
          <a:ln cap="flat" cmpd="sng" w="57150">
            <a:solidFill>
              <a:schemeClr val="dk1"/>
            </a:solidFill>
            <a:prstDash val="solid"/>
            <a:miter lim="800000"/>
            <a:headEnd len="sm" w="sm" type="none"/>
            <a:tailEnd len="med" w="med" type="triangle"/>
          </a:ln>
        </p:spPr>
      </p:cxnSp>
      <p:grpSp>
        <p:nvGrpSpPr>
          <p:cNvPr id="1227" name="Google Shape;1227;g2bb8c1dba0d_0_1462"/>
          <p:cNvGrpSpPr/>
          <p:nvPr/>
        </p:nvGrpSpPr>
        <p:grpSpPr>
          <a:xfrm>
            <a:off x="535805" y="2422639"/>
            <a:ext cx="3596271" cy="2096164"/>
            <a:chOff x="331256" y="1833238"/>
            <a:chExt cx="3263700" cy="2536500"/>
          </a:xfrm>
        </p:grpSpPr>
        <p:sp>
          <p:nvSpPr>
            <p:cNvPr id="1228" name="Google Shape;1228;g2bb8c1dba0d_0_1462"/>
            <p:cNvSpPr/>
            <p:nvPr/>
          </p:nvSpPr>
          <p:spPr>
            <a:xfrm>
              <a:off x="331256" y="1833238"/>
              <a:ext cx="3263700" cy="2536500"/>
            </a:xfrm>
            <a:prstGeom prst="cube">
              <a:avLst>
                <a:gd fmla="val 9460" name="adj"/>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1229" name="Google Shape;1229;g2bb8c1dba0d_0_1462"/>
            <p:cNvGrpSpPr/>
            <p:nvPr/>
          </p:nvGrpSpPr>
          <p:grpSpPr>
            <a:xfrm>
              <a:off x="331256" y="2059661"/>
              <a:ext cx="3021041" cy="2310035"/>
              <a:chOff x="331256" y="2050696"/>
              <a:chExt cx="3021041" cy="2310035"/>
            </a:xfrm>
          </p:grpSpPr>
          <p:grpSp>
            <p:nvGrpSpPr>
              <p:cNvPr id="1230" name="Google Shape;1230;g2bb8c1dba0d_0_1462"/>
              <p:cNvGrpSpPr/>
              <p:nvPr/>
            </p:nvGrpSpPr>
            <p:grpSpPr>
              <a:xfrm>
                <a:off x="331256" y="2050696"/>
                <a:ext cx="385500" cy="2310035"/>
                <a:chOff x="331256" y="2043953"/>
                <a:chExt cx="385500" cy="2310035"/>
              </a:xfrm>
            </p:grpSpPr>
            <p:sp>
              <p:nvSpPr>
                <p:cNvPr id="1231" name="Google Shape;1231;g2bb8c1dba0d_0_1462"/>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32" name="Google Shape;1232;g2bb8c1dba0d_0_1462"/>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33" name="Google Shape;1233;g2bb8c1dba0d_0_1462"/>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34" name="Google Shape;1234;g2bb8c1dba0d_0_1462"/>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35" name="Google Shape;1235;g2bb8c1dba0d_0_1462"/>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36" name="Google Shape;1236;g2bb8c1dba0d_0_1462"/>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237" name="Google Shape;1237;g2bb8c1dba0d_0_1462"/>
              <p:cNvGrpSpPr/>
              <p:nvPr/>
            </p:nvGrpSpPr>
            <p:grpSpPr>
              <a:xfrm>
                <a:off x="707762" y="2050696"/>
                <a:ext cx="385500" cy="2310035"/>
                <a:chOff x="331256" y="2043953"/>
                <a:chExt cx="385500" cy="2310035"/>
              </a:xfrm>
            </p:grpSpPr>
            <p:sp>
              <p:nvSpPr>
                <p:cNvPr id="1238" name="Google Shape;1238;g2bb8c1dba0d_0_1462"/>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39" name="Google Shape;1239;g2bb8c1dba0d_0_1462"/>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40" name="Google Shape;1240;g2bb8c1dba0d_0_1462"/>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41" name="Google Shape;1241;g2bb8c1dba0d_0_1462"/>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42" name="Google Shape;1242;g2bb8c1dba0d_0_1462"/>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43" name="Google Shape;1243;g2bb8c1dba0d_0_1462"/>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244" name="Google Shape;1244;g2bb8c1dba0d_0_1462"/>
              <p:cNvGrpSpPr/>
              <p:nvPr/>
            </p:nvGrpSpPr>
            <p:grpSpPr>
              <a:xfrm>
                <a:off x="1084268" y="2050696"/>
                <a:ext cx="385500" cy="2310035"/>
                <a:chOff x="331256" y="2043953"/>
                <a:chExt cx="385500" cy="2310035"/>
              </a:xfrm>
            </p:grpSpPr>
            <p:sp>
              <p:nvSpPr>
                <p:cNvPr id="1245" name="Google Shape;1245;g2bb8c1dba0d_0_1462"/>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46" name="Google Shape;1246;g2bb8c1dba0d_0_1462"/>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47" name="Google Shape;1247;g2bb8c1dba0d_0_1462"/>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48" name="Google Shape;1248;g2bb8c1dba0d_0_1462"/>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49" name="Google Shape;1249;g2bb8c1dba0d_0_1462"/>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50" name="Google Shape;1250;g2bb8c1dba0d_0_1462"/>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251" name="Google Shape;1251;g2bb8c1dba0d_0_1462"/>
              <p:cNvGrpSpPr/>
              <p:nvPr/>
            </p:nvGrpSpPr>
            <p:grpSpPr>
              <a:xfrm>
                <a:off x="1460774" y="2050696"/>
                <a:ext cx="385500" cy="2310035"/>
                <a:chOff x="331256" y="2043953"/>
                <a:chExt cx="385500" cy="2310035"/>
              </a:xfrm>
            </p:grpSpPr>
            <p:sp>
              <p:nvSpPr>
                <p:cNvPr id="1252" name="Google Shape;1252;g2bb8c1dba0d_0_1462"/>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53" name="Google Shape;1253;g2bb8c1dba0d_0_1462"/>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54" name="Google Shape;1254;g2bb8c1dba0d_0_1462"/>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55" name="Google Shape;1255;g2bb8c1dba0d_0_1462"/>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56" name="Google Shape;1256;g2bb8c1dba0d_0_1462"/>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57" name="Google Shape;1257;g2bb8c1dba0d_0_1462"/>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258" name="Google Shape;1258;g2bb8c1dba0d_0_1462"/>
              <p:cNvGrpSpPr/>
              <p:nvPr/>
            </p:nvGrpSpPr>
            <p:grpSpPr>
              <a:xfrm>
                <a:off x="1837280" y="2050696"/>
                <a:ext cx="385500" cy="2310035"/>
                <a:chOff x="331256" y="2043953"/>
                <a:chExt cx="385500" cy="2310035"/>
              </a:xfrm>
            </p:grpSpPr>
            <p:sp>
              <p:nvSpPr>
                <p:cNvPr id="1259" name="Google Shape;1259;g2bb8c1dba0d_0_1462"/>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60" name="Google Shape;1260;g2bb8c1dba0d_0_1462"/>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61" name="Google Shape;1261;g2bb8c1dba0d_0_1462"/>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62" name="Google Shape;1262;g2bb8c1dba0d_0_1462"/>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63" name="Google Shape;1263;g2bb8c1dba0d_0_1462"/>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64" name="Google Shape;1264;g2bb8c1dba0d_0_1462"/>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265" name="Google Shape;1265;g2bb8c1dba0d_0_1462"/>
              <p:cNvGrpSpPr/>
              <p:nvPr/>
            </p:nvGrpSpPr>
            <p:grpSpPr>
              <a:xfrm>
                <a:off x="2213786" y="2050696"/>
                <a:ext cx="385500" cy="2310035"/>
                <a:chOff x="331256" y="2043953"/>
                <a:chExt cx="385500" cy="2310035"/>
              </a:xfrm>
            </p:grpSpPr>
            <p:sp>
              <p:nvSpPr>
                <p:cNvPr id="1266" name="Google Shape;1266;g2bb8c1dba0d_0_1462"/>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67" name="Google Shape;1267;g2bb8c1dba0d_0_1462"/>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68" name="Google Shape;1268;g2bb8c1dba0d_0_1462"/>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69" name="Google Shape;1269;g2bb8c1dba0d_0_1462"/>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70" name="Google Shape;1270;g2bb8c1dba0d_0_1462"/>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71" name="Google Shape;1271;g2bb8c1dba0d_0_1462"/>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272" name="Google Shape;1272;g2bb8c1dba0d_0_1462"/>
              <p:cNvGrpSpPr/>
              <p:nvPr/>
            </p:nvGrpSpPr>
            <p:grpSpPr>
              <a:xfrm>
                <a:off x="2590292" y="2050696"/>
                <a:ext cx="385500" cy="2310035"/>
                <a:chOff x="331256" y="2043953"/>
                <a:chExt cx="385500" cy="2310035"/>
              </a:xfrm>
            </p:grpSpPr>
            <p:sp>
              <p:nvSpPr>
                <p:cNvPr id="1273" name="Google Shape;1273;g2bb8c1dba0d_0_1462"/>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74" name="Google Shape;1274;g2bb8c1dba0d_0_1462"/>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75" name="Google Shape;1275;g2bb8c1dba0d_0_1462"/>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76" name="Google Shape;1276;g2bb8c1dba0d_0_1462"/>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77" name="Google Shape;1277;g2bb8c1dba0d_0_1462"/>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78" name="Google Shape;1278;g2bb8c1dba0d_0_1462"/>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279" name="Google Shape;1279;g2bb8c1dba0d_0_1462"/>
              <p:cNvGrpSpPr/>
              <p:nvPr/>
            </p:nvGrpSpPr>
            <p:grpSpPr>
              <a:xfrm>
                <a:off x="2966797" y="2050696"/>
                <a:ext cx="385500" cy="2310035"/>
                <a:chOff x="331256" y="2043953"/>
                <a:chExt cx="385500" cy="2310035"/>
              </a:xfrm>
            </p:grpSpPr>
            <p:sp>
              <p:nvSpPr>
                <p:cNvPr id="1280" name="Google Shape;1280;g2bb8c1dba0d_0_1462"/>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81" name="Google Shape;1281;g2bb8c1dba0d_0_1462"/>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82" name="Google Shape;1282;g2bb8c1dba0d_0_1462"/>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83" name="Google Shape;1283;g2bb8c1dba0d_0_1462"/>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84" name="Google Shape;1284;g2bb8c1dba0d_0_1462"/>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85" name="Google Shape;1285;g2bb8c1dba0d_0_1462"/>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grpSp>
      <p:sp>
        <p:nvSpPr>
          <p:cNvPr id="1286" name="Google Shape;1286;g2bb8c1dba0d_0_1462"/>
          <p:cNvSpPr/>
          <p:nvPr/>
        </p:nvSpPr>
        <p:spPr>
          <a:xfrm>
            <a:off x="1375471" y="2925069"/>
            <a:ext cx="414900" cy="318600"/>
          </a:xfrm>
          <a:prstGeom prst="rect">
            <a:avLst/>
          </a:prstGeom>
          <a:noFill/>
          <a:ln cap="flat" cmpd="sng" w="762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87" name="Google Shape;1287;g2bb8c1dba0d_0_1462"/>
          <p:cNvSpPr txBox="1"/>
          <p:nvPr/>
        </p:nvSpPr>
        <p:spPr>
          <a:xfrm>
            <a:off x="334208" y="939463"/>
            <a:ext cx="1871100" cy="76950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Score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Bbox</a:t>
            </a:r>
            <a:endParaRPr b="0" i="0" sz="2200" u="none" cap="none" strike="noStrike">
              <a:solidFill>
                <a:schemeClr val="dk1"/>
              </a:solidFill>
              <a:latin typeface="Arial"/>
              <a:ea typeface="Arial"/>
              <a:cs typeface="Arial"/>
              <a:sym typeface="Arial"/>
            </a:endParaRPr>
          </a:p>
        </p:txBody>
      </p:sp>
      <p:cxnSp>
        <p:nvCxnSpPr>
          <p:cNvPr id="1288" name="Google Shape;1288;g2bb8c1dba0d_0_1462"/>
          <p:cNvCxnSpPr>
            <a:stCxn id="1286" idx="0"/>
            <a:endCxn id="1287" idx="2"/>
          </p:cNvCxnSpPr>
          <p:nvPr/>
        </p:nvCxnSpPr>
        <p:spPr>
          <a:xfrm flipH="1" rot="5400000">
            <a:off x="818221" y="2160369"/>
            <a:ext cx="1216200" cy="313200"/>
          </a:xfrm>
          <a:prstGeom prst="curvedConnector3">
            <a:avLst>
              <a:gd fmla="val 49999" name="adj1"/>
            </a:avLst>
          </a:prstGeom>
          <a:noFill/>
          <a:ln cap="flat" cmpd="sng" w="57150">
            <a:solidFill>
              <a:schemeClr val="accent1"/>
            </a:solidFill>
            <a:prstDash val="solid"/>
            <a:miter lim="800000"/>
            <a:headEnd len="sm" w="sm" type="none"/>
            <a:tailEnd len="med" w="med" type="triangle"/>
          </a:ln>
        </p:spPr>
      </p:cxnSp>
      <p:sp>
        <p:nvSpPr>
          <p:cNvPr id="1289" name="Google Shape;1289;g2bb8c1dba0d_0_1462"/>
          <p:cNvSpPr txBox="1"/>
          <p:nvPr/>
        </p:nvSpPr>
        <p:spPr>
          <a:xfrm>
            <a:off x="2301983" y="1290709"/>
            <a:ext cx="1871100" cy="769500"/>
          </a:xfrm>
          <a:prstGeom prst="rect">
            <a:avLst/>
          </a:prstGeom>
          <a:noFill/>
          <a:ln cap="flat" cmpd="sng" w="9525">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Score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Bbox</a:t>
            </a:r>
            <a:endParaRPr b="0" i="0" sz="2200" u="none" cap="none" strike="noStrike">
              <a:solidFill>
                <a:schemeClr val="dk1"/>
              </a:solidFill>
              <a:latin typeface="Arial"/>
              <a:ea typeface="Arial"/>
              <a:cs typeface="Arial"/>
              <a:sym typeface="Arial"/>
            </a:endParaRPr>
          </a:p>
        </p:txBody>
      </p:sp>
      <p:sp>
        <p:nvSpPr>
          <p:cNvPr id="1290" name="Google Shape;1290;g2bb8c1dba0d_0_1462"/>
          <p:cNvSpPr/>
          <p:nvPr/>
        </p:nvSpPr>
        <p:spPr>
          <a:xfrm>
            <a:off x="2610228" y="2948876"/>
            <a:ext cx="414900" cy="318600"/>
          </a:xfrm>
          <a:prstGeom prst="rect">
            <a:avLst/>
          </a:prstGeom>
          <a:noFill/>
          <a:ln cap="flat" cmpd="sng" w="762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cxnSp>
        <p:nvCxnSpPr>
          <p:cNvPr id="1291" name="Google Shape;1291;g2bb8c1dba0d_0_1462"/>
          <p:cNvCxnSpPr>
            <a:stCxn id="1290" idx="0"/>
            <a:endCxn id="1289" idx="2"/>
          </p:cNvCxnSpPr>
          <p:nvPr/>
        </p:nvCxnSpPr>
        <p:spPr>
          <a:xfrm rot="-5400000">
            <a:off x="2583378" y="2294576"/>
            <a:ext cx="888600" cy="420000"/>
          </a:xfrm>
          <a:prstGeom prst="curvedConnector3">
            <a:avLst>
              <a:gd fmla="val 50007" name="adj1"/>
            </a:avLst>
          </a:prstGeom>
          <a:noFill/>
          <a:ln cap="flat" cmpd="sng" w="57150">
            <a:solidFill>
              <a:schemeClr val="accent2"/>
            </a:solidFill>
            <a:prstDash val="solid"/>
            <a:miter lim="800000"/>
            <a:headEnd len="sm" w="sm" type="none"/>
            <a:tailEnd len="med" w="med" type="triangle"/>
          </a:ln>
        </p:spPr>
      </p:cxn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5" name="Shape 1295"/>
        <p:cNvGrpSpPr/>
        <p:nvPr/>
      </p:nvGrpSpPr>
      <p:grpSpPr>
        <a:xfrm>
          <a:off x="0" y="0"/>
          <a:ext cx="0" cy="0"/>
          <a:chOff x="0" y="0"/>
          <a:chExt cx="0" cy="0"/>
        </a:xfrm>
      </p:grpSpPr>
      <p:sp>
        <p:nvSpPr>
          <p:cNvPr id="1296" name="Google Shape;1296;g2bb8c1dba0d_0_1536"/>
          <p:cNvSpPr txBox="1"/>
          <p:nvPr>
            <p:ph type="title"/>
          </p:nvPr>
        </p:nvSpPr>
        <p:spPr>
          <a:xfrm>
            <a:off x="1117600" y="365125"/>
            <a:ext cx="98775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YOLO</a:t>
            </a:r>
            <a:endParaRPr/>
          </a:p>
        </p:txBody>
      </p:sp>
      <p:sp>
        <p:nvSpPr>
          <p:cNvPr id="1297" name="Google Shape;1297;g2bb8c1dba0d_0_1536"/>
          <p:cNvSpPr/>
          <p:nvPr/>
        </p:nvSpPr>
        <p:spPr>
          <a:xfrm>
            <a:off x="304800" y="6490169"/>
            <a:ext cx="11582400" cy="276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J. Redmon, A. Farhadi, </a:t>
            </a:r>
            <a:r>
              <a:rPr b="0" i="1" lang="en-US" sz="1200" u="none" cap="none" strike="noStrike">
                <a:solidFill>
                  <a:schemeClr val="dk1"/>
                </a:solidFill>
                <a:latin typeface="Arial"/>
                <a:ea typeface="Arial"/>
                <a:cs typeface="Arial"/>
                <a:sym typeface="Arial"/>
              </a:rPr>
              <a:t>YOLOv3: An Incremental Improvement . </a:t>
            </a:r>
            <a:endParaRPr b="0" i="1" sz="1200" u="none" cap="none" strike="noStrike">
              <a:solidFill>
                <a:schemeClr val="dk1"/>
              </a:solidFill>
              <a:latin typeface="Arial"/>
              <a:ea typeface="Arial"/>
              <a:cs typeface="Arial"/>
              <a:sym typeface="Arial"/>
            </a:endParaRPr>
          </a:p>
        </p:txBody>
      </p:sp>
      <p:sp>
        <p:nvSpPr>
          <p:cNvPr id="1298" name="Google Shape;1298;g2bb8c1dba0d_0_1536"/>
          <p:cNvSpPr txBox="1"/>
          <p:nvPr/>
        </p:nvSpPr>
        <p:spPr>
          <a:xfrm>
            <a:off x="4537051" y="1794495"/>
            <a:ext cx="7350000" cy="3971100"/>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No proposals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Predict at each location in 7x7 feature map, score for each class + 2 bboxes</a:t>
            </a:r>
            <a:endParaRPr b="0" i="0" sz="28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7x faster than Faster-RCNN, but worse accuracy, precision</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Immensely popular in robotics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Loads of similar methods (YOLOv2, YOLOv3)</a:t>
            </a:r>
            <a:endParaRPr b="0" i="0" sz="1400" u="none" cap="none" strike="noStrike">
              <a:solidFill>
                <a:srgbClr val="000000"/>
              </a:solidFill>
              <a:latin typeface="Arial"/>
              <a:ea typeface="Arial"/>
              <a:cs typeface="Arial"/>
              <a:sym typeface="Arial"/>
            </a:endParaRPr>
          </a:p>
          <a:p>
            <a:pPr indent="-279400" lvl="0" marL="457200" marR="0" rtl="0" algn="l">
              <a:lnSpc>
                <a:spcPct val="100000"/>
              </a:lnSpc>
              <a:spcBef>
                <a:spcPts val="0"/>
              </a:spcBef>
              <a:spcAft>
                <a:spcPts val="0"/>
              </a:spcAft>
              <a:buClr>
                <a:schemeClr val="dk1"/>
              </a:buClr>
              <a:buSzPts val="2800"/>
              <a:buFont typeface="Arial"/>
              <a:buNone/>
            </a:pPr>
            <a:r>
              <a:t/>
            </a:r>
            <a:endParaRPr b="0" i="0" sz="2800" u="none" cap="none" strike="noStrike">
              <a:solidFill>
                <a:schemeClr val="dk1"/>
              </a:solidFill>
              <a:latin typeface="Arial"/>
              <a:ea typeface="Arial"/>
              <a:cs typeface="Arial"/>
              <a:sym typeface="Arial"/>
            </a:endParaRPr>
          </a:p>
        </p:txBody>
      </p:sp>
      <p:sp>
        <p:nvSpPr>
          <p:cNvPr id="1299" name="Google Shape;1299;g2bb8c1dba0d_0_1536"/>
          <p:cNvSpPr/>
          <p:nvPr/>
        </p:nvSpPr>
        <p:spPr>
          <a:xfrm>
            <a:off x="316596" y="5377335"/>
            <a:ext cx="3928800" cy="975000"/>
          </a:xfrm>
          <a:prstGeom prst="parallelogram">
            <a:avLst>
              <a:gd fmla="val 92429" name="adj"/>
            </a:avLst>
          </a:prstGeom>
          <a:blipFill rotWithShape="1">
            <a:blip r:embed="rId3">
              <a:alphaModFix/>
            </a:blip>
            <a:stretch>
              <a:fillRect b="0" l="0" r="0" t="0"/>
            </a:stretch>
          </a:blip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1300" name="Google Shape;1300;g2bb8c1dba0d_0_1536"/>
          <p:cNvSpPr/>
          <p:nvPr/>
        </p:nvSpPr>
        <p:spPr>
          <a:xfrm>
            <a:off x="1198532" y="4889053"/>
            <a:ext cx="2286300" cy="1178100"/>
          </a:xfrm>
          <a:prstGeom prst="cube">
            <a:avLst>
              <a:gd fmla="val 25000" name="adj"/>
            </a:avLst>
          </a:prstGeom>
          <a:solidFill>
            <a:schemeClr val="lt1">
              <a:alpha val="92549"/>
            </a:schemeClr>
          </a:solidFill>
          <a:ln cap="flat" cmpd="sng" w="12700">
            <a:solidFill>
              <a:srgbClr val="395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ConvNet</a:t>
            </a:r>
            <a:endParaRPr b="0" i="0" sz="1600" u="none" cap="none" strike="noStrike">
              <a:solidFill>
                <a:srgbClr val="000000"/>
              </a:solidFill>
              <a:latin typeface="Arial"/>
              <a:ea typeface="Arial"/>
              <a:cs typeface="Arial"/>
              <a:sym typeface="Arial"/>
            </a:endParaRPr>
          </a:p>
        </p:txBody>
      </p:sp>
      <p:cxnSp>
        <p:nvCxnSpPr>
          <p:cNvPr id="1301" name="Google Shape;1301;g2bb8c1dba0d_0_1536"/>
          <p:cNvCxnSpPr/>
          <p:nvPr/>
        </p:nvCxnSpPr>
        <p:spPr>
          <a:xfrm rot="10800000">
            <a:off x="2333937" y="4697435"/>
            <a:ext cx="0" cy="322800"/>
          </a:xfrm>
          <a:prstGeom prst="straightConnector1">
            <a:avLst/>
          </a:prstGeom>
          <a:noFill/>
          <a:ln cap="flat" cmpd="sng" w="57150">
            <a:solidFill>
              <a:schemeClr val="dk1"/>
            </a:solidFill>
            <a:prstDash val="solid"/>
            <a:miter lim="800000"/>
            <a:headEnd len="sm" w="sm" type="none"/>
            <a:tailEnd len="med" w="med" type="triangle"/>
          </a:ln>
        </p:spPr>
      </p:cxnSp>
      <p:grpSp>
        <p:nvGrpSpPr>
          <p:cNvPr id="1302" name="Google Shape;1302;g2bb8c1dba0d_0_1536"/>
          <p:cNvGrpSpPr/>
          <p:nvPr/>
        </p:nvGrpSpPr>
        <p:grpSpPr>
          <a:xfrm>
            <a:off x="535805" y="2422639"/>
            <a:ext cx="3596271" cy="2096164"/>
            <a:chOff x="331256" y="1833238"/>
            <a:chExt cx="3263700" cy="2536500"/>
          </a:xfrm>
        </p:grpSpPr>
        <p:sp>
          <p:nvSpPr>
            <p:cNvPr id="1303" name="Google Shape;1303;g2bb8c1dba0d_0_1536"/>
            <p:cNvSpPr/>
            <p:nvPr/>
          </p:nvSpPr>
          <p:spPr>
            <a:xfrm>
              <a:off x="331256" y="1833238"/>
              <a:ext cx="3263700" cy="2536500"/>
            </a:xfrm>
            <a:prstGeom prst="cube">
              <a:avLst>
                <a:gd fmla="val 9460" name="adj"/>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1304" name="Google Shape;1304;g2bb8c1dba0d_0_1536"/>
            <p:cNvGrpSpPr/>
            <p:nvPr/>
          </p:nvGrpSpPr>
          <p:grpSpPr>
            <a:xfrm>
              <a:off x="331256" y="2059661"/>
              <a:ext cx="3021041" cy="2310035"/>
              <a:chOff x="331256" y="2050696"/>
              <a:chExt cx="3021041" cy="2310035"/>
            </a:xfrm>
          </p:grpSpPr>
          <p:grpSp>
            <p:nvGrpSpPr>
              <p:cNvPr id="1305" name="Google Shape;1305;g2bb8c1dba0d_0_1536"/>
              <p:cNvGrpSpPr/>
              <p:nvPr/>
            </p:nvGrpSpPr>
            <p:grpSpPr>
              <a:xfrm>
                <a:off x="331256" y="2050696"/>
                <a:ext cx="385500" cy="2310035"/>
                <a:chOff x="331256" y="2043953"/>
                <a:chExt cx="385500" cy="2310035"/>
              </a:xfrm>
            </p:grpSpPr>
            <p:sp>
              <p:nvSpPr>
                <p:cNvPr id="1306" name="Google Shape;1306;g2bb8c1dba0d_0_1536"/>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07" name="Google Shape;1307;g2bb8c1dba0d_0_1536"/>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08" name="Google Shape;1308;g2bb8c1dba0d_0_1536"/>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09" name="Google Shape;1309;g2bb8c1dba0d_0_1536"/>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10" name="Google Shape;1310;g2bb8c1dba0d_0_1536"/>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11" name="Google Shape;1311;g2bb8c1dba0d_0_1536"/>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312" name="Google Shape;1312;g2bb8c1dba0d_0_1536"/>
              <p:cNvGrpSpPr/>
              <p:nvPr/>
            </p:nvGrpSpPr>
            <p:grpSpPr>
              <a:xfrm>
                <a:off x="707762" y="2050696"/>
                <a:ext cx="385500" cy="2310035"/>
                <a:chOff x="331256" y="2043953"/>
                <a:chExt cx="385500" cy="2310035"/>
              </a:xfrm>
            </p:grpSpPr>
            <p:sp>
              <p:nvSpPr>
                <p:cNvPr id="1313" name="Google Shape;1313;g2bb8c1dba0d_0_1536"/>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14" name="Google Shape;1314;g2bb8c1dba0d_0_1536"/>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15" name="Google Shape;1315;g2bb8c1dba0d_0_1536"/>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16" name="Google Shape;1316;g2bb8c1dba0d_0_1536"/>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17" name="Google Shape;1317;g2bb8c1dba0d_0_1536"/>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18" name="Google Shape;1318;g2bb8c1dba0d_0_1536"/>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319" name="Google Shape;1319;g2bb8c1dba0d_0_1536"/>
              <p:cNvGrpSpPr/>
              <p:nvPr/>
            </p:nvGrpSpPr>
            <p:grpSpPr>
              <a:xfrm>
                <a:off x="1084268" y="2050696"/>
                <a:ext cx="385500" cy="2310035"/>
                <a:chOff x="331256" y="2043953"/>
                <a:chExt cx="385500" cy="2310035"/>
              </a:xfrm>
            </p:grpSpPr>
            <p:sp>
              <p:nvSpPr>
                <p:cNvPr id="1320" name="Google Shape;1320;g2bb8c1dba0d_0_1536"/>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21" name="Google Shape;1321;g2bb8c1dba0d_0_1536"/>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22" name="Google Shape;1322;g2bb8c1dba0d_0_1536"/>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23" name="Google Shape;1323;g2bb8c1dba0d_0_1536"/>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24" name="Google Shape;1324;g2bb8c1dba0d_0_1536"/>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25" name="Google Shape;1325;g2bb8c1dba0d_0_1536"/>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326" name="Google Shape;1326;g2bb8c1dba0d_0_1536"/>
              <p:cNvGrpSpPr/>
              <p:nvPr/>
            </p:nvGrpSpPr>
            <p:grpSpPr>
              <a:xfrm>
                <a:off x="1460774" y="2050696"/>
                <a:ext cx="385500" cy="2310035"/>
                <a:chOff x="331256" y="2043953"/>
                <a:chExt cx="385500" cy="2310035"/>
              </a:xfrm>
            </p:grpSpPr>
            <p:sp>
              <p:nvSpPr>
                <p:cNvPr id="1327" name="Google Shape;1327;g2bb8c1dba0d_0_1536"/>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28" name="Google Shape;1328;g2bb8c1dba0d_0_1536"/>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29" name="Google Shape;1329;g2bb8c1dba0d_0_1536"/>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30" name="Google Shape;1330;g2bb8c1dba0d_0_1536"/>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31" name="Google Shape;1331;g2bb8c1dba0d_0_1536"/>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32" name="Google Shape;1332;g2bb8c1dba0d_0_1536"/>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333" name="Google Shape;1333;g2bb8c1dba0d_0_1536"/>
              <p:cNvGrpSpPr/>
              <p:nvPr/>
            </p:nvGrpSpPr>
            <p:grpSpPr>
              <a:xfrm>
                <a:off x="1837280" y="2050696"/>
                <a:ext cx="385500" cy="2310035"/>
                <a:chOff x="331256" y="2043953"/>
                <a:chExt cx="385500" cy="2310035"/>
              </a:xfrm>
            </p:grpSpPr>
            <p:sp>
              <p:nvSpPr>
                <p:cNvPr id="1334" name="Google Shape;1334;g2bb8c1dba0d_0_1536"/>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35" name="Google Shape;1335;g2bb8c1dba0d_0_1536"/>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36" name="Google Shape;1336;g2bb8c1dba0d_0_1536"/>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37" name="Google Shape;1337;g2bb8c1dba0d_0_1536"/>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38" name="Google Shape;1338;g2bb8c1dba0d_0_1536"/>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39" name="Google Shape;1339;g2bb8c1dba0d_0_1536"/>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340" name="Google Shape;1340;g2bb8c1dba0d_0_1536"/>
              <p:cNvGrpSpPr/>
              <p:nvPr/>
            </p:nvGrpSpPr>
            <p:grpSpPr>
              <a:xfrm>
                <a:off x="2213786" y="2050696"/>
                <a:ext cx="385500" cy="2310035"/>
                <a:chOff x="331256" y="2043953"/>
                <a:chExt cx="385500" cy="2310035"/>
              </a:xfrm>
            </p:grpSpPr>
            <p:sp>
              <p:nvSpPr>
                <p:cNvPr id="1341" name="Google Shape;1341;g2bb8c1dba0d_0_1536"/>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42" name="Google Shape;1342;g2bb8c1dba0d_0_1536"/>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43" name="Google Shape;1343;g2bb8c1dba0d_0_1536"/>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44" name="Google Shape;1344;g2bb8c1dba0d_0_1536"/>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45" name="Google Shape;1345;g2bb8c1dba0d_0_1536"/>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46" name="Google Shape;1346;g2bb8c1dba0d_0_1536"/>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347" name="Google Shape;1347;g2bb8c1dba0d_0_1536"/>
              <p:cNvGrpSpPr/>
              <p:nvPr/>
            </p:nvGrpSpPr>
            <p:grpSpPr>
              <a:xfrm>
                <a:off x="2590292" y="2050696"/>
                <a:ext cx="385500" cy="2310035"/>
                <a:chOff x="331256" y="2043953"/>
                <a:chExt cx="385500" cy="2310035"/>
              </a:xfrm>
            </p:grpSpPr>
            <p:sp>
              <p:nvSpPr>
                <p:cNvPr id="1348" name="Google Shape;1348;g2bb8c1dba0d_0_1536"/>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49" name="Google Shape;1349;g2bb8c1dba0d_0_1536"/>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50" name="Google Shape;1350;g2bb8c1dba0d_0_1536"/>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51" name="Google Shape;1351;g2bb8c1dba0d_0_1536"/>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52" name="Google Shape;1352;g2bb8c1dba0d_0_1536"/>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53" name="Google Shape;1353;g2bb8c1dba0d_0_1536"/>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354" name="Google Shape;1354;g2bb8c1dba0d_0_1536"/>
              <p:cNvGrpSpPr/>
              <p:nvPr/>
            </p:nvGrpSpPr>
            <p:grpSpPr>
              <a:xfrm>
                <a:off x="2966797" y="2050696"/>
                <a:ext cx="385500" cy="2310035"/>
                <a:chOff x="331256" y="2043953"/>
                <a:chExt cx="385500" cy="2310035"/>
              </a:xfrm>
            </p:grpSpPr>
            <p:sp>
              <p:nvSpPr>
                <p:cNvPr id="1355" name="Google Shape;1355;g2bb8c1dba0d_0_1536"/>
                <p:cNvSpPr/>
                <p:nvPr/>
              </p:nvSpPr>
              <p:spPr>
                <a:xfrm>
                  <a:off x="331256" y="2043953"/>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56" name="Google Shape;1356;g2bb8c1dba0d_0_1536"/>
                <p:cNvSpPr/>
                <p:nvPr/>
              </p:nvSpPr>
              <p:spPr>
                <a:xfrm>
                  <a:off x="331256" y="2428860"/>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57" name="Google Shape;1357;g2bb8c1dba0d_0_1536"/>
                <p:cNvSpPr/>
                <p:nvPr/>
              </p:nvSpPr>
              <p:spPr>
                <a:xfrm>
                  <a:off x="331256" y="2813767"/>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58" name="Google Shape;1358;g2bb8c1dba0d_0_1536"/>
                <p:cNvSpPr/>
                <p:nvPr/>
              </p:nvSpPr>
              <p:spPr>
                <a:xfrm>
                  <a:off x="331256" y="3198674"/>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59" name="Google Shape;1359;g2bb8c1dba0d_0_1536"/>
                <p:cNvSpPr/>
                <p:nvPr/>
              </p:nvSpPr>
              <p:spPr>
                <a:xfrm>
                  <a:off x="331256" y="3583581"/>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60" name="Google Shape;1360;g2bb8c1dba0d_0_1536"/>
                <p:cNvSpPr/>
                <p:nvPr/>
              </p:nvSpPr>
              <p:spPr>
                <a:xfrm>
                  <a:off x="331256" y="3968488"/>
                  <a:ext cx="385500" cy="385500"/>
                </a:xfrm>
                <a:prstGeom prst="rect">
                  <a:avLst/>
                </a:prstGeom>
                <a:solidFill>
                  <a:srgbClr val="D8D8D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grpSp>
      <p:sp>
        <p:nvSpPr>
          <p:cNvPr id="1361" name="Google Shape;1361;g2bb8c1dba0d_0_1536"/>
          <p:cNvSpPr/>
          <p:nvPr/>
        </p:nvSpPr>
        <p:spPr>
          <a:xfrm>
            <a:off x="1375471" y="2925069"/>
            <a:ext cx="414900" cy="318600"/>
          </a:xfrm>
          <a:prstGeom prst="rect">
            <a:avLst/>
          </a:prstGeom>
          <a:noFill/>
          <a:ln cap="flat" cmpd="sng" w="762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62" name="Google Shape;1362;g2bb8c1dba0d_0_1536"/>
          <p:cNvSpPr txBox="1"/>
          <p:nvPr/>
        </p:nvSpPr>
        <p:spPr>
          <a:xfrm>
            <a:off x="334208" y="939463"/>
            <a:ext cx="1871100" cy="76950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Score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Bbox</a:t>
            </a:r>
            <a:endParaRPr b="0" i="0" sz="2200" u="none" cap="none" strike="noStrike">
              <a:solidFill>
                <a:schemeClr val="dk1"/>
              </a:solidFill>
              <a:latin typeface="Arial"/>
              <a:ea typeface="Arial"/>
              <a:cs typeface="Arial"/>
              <a:sym typeface="Arial"/>
            </a:endParaRPr>
          </a:p>
        </p:txBody>
      </p:sp>
      <p:cxnSp>
        <p:nvCxnSpPr>
          <p:cNvPr id="1363" name="Google Shape;1363;g2bb8c1dba0d_0_1536"/>
          <p:cNvCxnSpPr>
            <a:stCxn id="1361" idx="0"/>
            <a:endCxn id="1362" idx="2"/>
          </p:cNvCxnSpPr>
          <p:nvPr/>
        </p:nvCxnSpPr>
        <p:spPr>
          <a:xfrm flipH="1" rot="5400000">
            <a:off x="818221" y="2160369"/>
            <a:ext cx="1216200" cy="313200"/>
          </a:xfrm>
          <a:prstGeom prst="curvedConnector3">
            <a:avLst>
              <a:gd fmla="val 49999" name="adj1"/>
            </a:avLst>
          </a:prstGeom>
          <a:noFill/>
          <a:ln cap="flat" cmpd="sng" w="57150">
            <a:solidFill>
              <a:schemeClr val="accent1"/>
            </a:solidFill>
            <a:prstDash val="solid"/>
            <a:miter lim="800000"/>
            <a:headEnd len="sm" w="sm" type="none"/>
            <a:tailEnd len="med" w="med" type="triangle"/>
          </a:ln>
        </p:spPr>
      </p:cxnSp>
      <p:sp>
        <p:nvSpPr>
          <p:cNvPr id="1364" name="Google Shape;1364;g2bb8c1dba0d_0_1536"/>
          <p:cNvSpPr txBox="1"/>
          <p:nvPr/>
        </p:nvSpPr>
        <p:spPr>
          <a:xfrm>
            <a:off x="2301983" y="1290709"/>
            <a:ext cx="1871100" cy="769500"/>
          </a:xfrm>
          <a:prstGeom prst="rect">
            <a:avLst/>
          </a:prstGeom>
          <a:noFill/>
          <a:ln cap="flat" cmpd="sng" w="9525">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Score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Bbox</a:t>
            </a:r>
            <a:endParaRPr b="0" i="0" sz="2200" u="none" cap="none" strike="noStrike">
              <a:solidFill>
                <a:schemeClr val="dk1"/>
              </a:solidFill>
              <a:latin typeface="Arial"/>
              <a:ea typeface="Arial"/>
              <a:cs typeface="Arial"/>
              <a:sym typeface="Arial"/>
            </a:endParaRPr>
          </a:p>
        </p:txBody>
      </p:sp>
      <p:sp>
        <p:nvSpPr>
          <p:cNvPr id="1365" name="Google Shape;1365;g2bb8c1dba0d_0_1536"/>
          <p:cNvSpPr/>
          <p:nvPr/>
        </p:nvSpPr>
        <p:spPr>
          <a:xfrm>
            <a:off x="2610228" y="2948876"/>
            <a:ext cx="414900" cy="318600"/>
          </a:xfrm>
          <a:prstGeom prst="rect">
            <a:avLst/>
          </a:prstGeom>
          <a:noFill/>
          <a:ln cap="flat" cmpd="sng" w="762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cxnSp>
        <p:nvCxnSpPr>
          <p:cNvPr id="1366" name="Google Shape;1366;g2bb8c1dba0d_0_1536"/>
          <p:cNvCxnSpPr>
            <a:stCxn id="1365" idx="0"/>
            <a:endCxn id="1364" idx="2"/>
          </p:cNvCxnSpPr>
          <p:nvPr/>
        </p:nvCxnSpPr>
        <p:spPr>
          <a:xfrm rot="-5400000">
            <a:off x="2583378" y="2294576"/>
            <a:ext cx="888600" cy="420000"/>
          </a:xfrm>
          <a:prstGeom prst="curvedConnector3">
            <a:avLst>
              <a:gd fmla="val 50007" name="adj1"/>
            </a:avLst>
          </a:prstGeom>
          <a:noFill/>
          <a:ln cap="flat" cmpd="sng" w="57150">
            <a:solidFill>
              <a:schemeClr val="accent2"/>
            </a:solidFill>
            <a:prstDash val="solid"/>
            <a:miter lim="800000"/>
            <a:headEnd len="sm" w="sm" type="none"/>
            <a:tailEnd len="med" w="med" type="triangle"/>
          </a:ln>
        </p:spPr>
      </p:cxn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1" name="Shape 1371"/>
        <p:cNvGrpSpPr/>
        <p:nvPr/>
      </p:nvGrpSpPr>
      <p:grpSpPr>
        <a:xfrm>
          <a:off x="0" y="0"/>
          <a:ext cx="0" cy="0"/>
          <a:chOff x="0" y="0"/>
          <a:chExt cx="0" cy="0"/>
        </a:xfrm>
      </p:grpSpPr>
      <p:sp>
        <p:nvSpPr>
          <p:cNvPr id="1372" name="Google Shape;1372;g2f7be7dd8b8_0_0"/>
          <p:cNvSpPr txBox="1"/>
          <p:nvPr>
            <p:ph type="title"/>
          </p:nvPr>
        </p:nvSpPr>
        <p:spPr>
          <a:xfrm>
            <a:off x="838200" y="365126"/>
            <a:ext cx="10515600" cy="1325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YOLO</a:t>
            </a:r>
            <a:endParaRPr/>
          </a:p>
        </p:txBody>
      </p:sp>
      <p:sp>
        <p:nvSpPr>
          <p:cNvPr id="1373" name="Google Shape;1373;g2f7be7dd8b8_0_0"/>
          <p:cNvSpPr txBox="1"/>
          <p:nvPr>
            <p:ph idx="12" type="sldNum"/>
          </p:nvPr>
        </p:nvSpPr>
        <p:spPr>
          <a:xfrm>
            <a:off x="8610600" y="6356351"/>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374" name="Google Shape;1374;g2f7be7dd8b8_0_0"/>
          <p:cNvPicPr preferRelativeResize="0"/>
          <p:nvPr/>
        </p:nvPicPr>
        <p:blipFill rotWithShape="1">
          <a:blip r:embed="rId3">
            <a:alphaModFix/>
          </a:blip>
          <a:srcRect b="0" l="0" r="0" t="0"/>
          <a:stretch/>
        </p:blipFill>
        <p:spPr>
          <a:xfrm>
            <a:off x="1332233" y="1690830"/>
            <a:ext cx="8220075" cy="511492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8" name="Shape 1378"/>
        <p:cNvGrpSpPr/>
        <p:nvPr/>
      </p:nvGrpSpPr>
      <p:grpSpPr>
        <a:xfrm>
          <a:off x="0" y="0"/>
          <a:ext cx="0" cy="0"/>
          <a:chOff x="0" y="0"/>
          <a:chExt cx="0" cy="0"/>
        </a:xfrm>
      </p:grpSpPr>
      <p:sp>
        <p:nvSpPr>
          <p:cNvPr id="1379" name="Google Shape;1379;g2bb8c1dba0d_0_1611"/>
          <p:cNvSpPr txBox="1"/>
          <p:nvPr>
            <p:ph type="title"/>
          </p:nvPr>
        </p:nvSpPr>
        <p:spPr>
          <a:xfrm>
            <a:off x="711200" y="0"/>
            <a:ext cx="11074500" cy="838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New detection benchmark: COCO (2014)</a:t>
            </a:r>
            <a:endParaRPr/>
          </a:p>
        </p:txBody>
      </p:sp>
      <p:sp>
        <p:nvSpPr>
          <p:cNvPr id="1380" name="Google Shape;1380;g2bb8c1dba0d_0_1611"/>
          <p:cNvSpPr txBox="1"/>
          <p:nvPr>
            <p:ph idx="1" type="body"/>
          </p:nvPr>
        </p:nvSpPr>
        <p:spPr>
          <a:xfrm>
            <a:off x="304800" y="990600"/>
            <a:ext cx="6502500" cy="1447800"/>
          </a:xfrm>
          <a:prstGeom prst="rect">
            <a:avLst/>
          </a:prstGeom>
          <a:noFill/>
          <a:ln>
            <a:noFill/>
          </a:ln>
        </p:spPr>
        <p:txBody>
          <a:bodyPr anchorCtr="0" anchor="t" bIns="45700" lIns="91425" spcFirstLastPara="1" rIns="91425" wrap="square" tIns="45700">
            <a:normAutofit/>
          </a:bodyPr>
          <a:lstStyle/>
          <a:p>
            <a:pPr indent="-457200" lvl="0" marL="457200" rtl="0" algn="l">
              <a:lnSpc>
                <a:spcPct val="90000"/>
              </a:lnSpc>
              <a:spcBef>
                <a:spcPts val="0"/>
              </a:spcBef>
              <a:spcAft>
                <a:spcPts val="0"/>
              </a:spcAft>
              <a:buClr>
                <a:schemeClr val="dk1"/>
              </a:buClr>
              <a:buSzPts val="2800"/>
              <a:buFont typeface="Arial"/>
              <a:buChar char="•"/>
            </a:pPr>
            <a:r>
              <a:rPr lang="en-US"/>
              <a:t>80 categories instead of PASCAL’s 20</a:t>
            </a:r>
            <a:endParaRPr/>
          </a:p>
          <a:p>
            <a:pPr indent="-457200" lvl="0" marL="457200" rtl="0" algn="l">
              <a:lnSpc>
                <a:spcPct val="90000"/>
              </a:lnSpc>
              <a:spcBef>
                <a:spcPts val="1000"/>
              </a:spcBef>
              <a:spcAft>
                <a:spcPts val="0"/>
              </a:spcAft>
              <a:buClr>
                <a:schemeClr val="dk1"/>
              </a:buClr>
              <a:buSzPts val="2800"/>
              <a:buFont typeface="Arial"/>
              <a:buChar char="•"/>
            </a:pPr>
            <a:r>
              <a:rPr lang="en-US"/>
              <a:t>Current best mAP: 52%</a:t>
            </a:r>
            <a:endParaRPr/>
          </a:p>
        </p:txBody>
      </p:sp>
      <p:sp>
        <p:nvSpPr>
          <p:cNvPr id="1381" name="Google Shape;1381;g2bb8c1dba0d_0_1611"/>
          <p:cNvSpPr/>
          <p:nvPr/>
        </p:nvSpPr>
        <p:spPr>
          <a:xfrm>
            <a:off x="3480821" y="6324600"/>
            <a:ext cx="55617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chemeClr val="dk1"/>
                </a:solidFill>
                <a:latin typeface="Arial"/>
                <a:ea typeface="Arial"/>
                <a:cs typeface="Arial"/>
                <a:sym typeface="Arial"/>
                <a:hlinkClick r:id="rId3">
                  <a:extLst>
                    <a:ext uri="{A12FA001-AC4F-418D-AE19-62706E023703}">
                      <ahyp:hlinkClr val="tx"/>
                    </a:ext>
                  </a:extLst>
                </a:hlinkClick>
              </a:rPr>
              <a:t>http://cocodataset.org/#home</a:t>
            </a:r>
            <a:endParaRPr b="0" i="0" sz="1800" u="none" cap="none" strike="noStrike">
              <a:solidFill>
                <a:schemeClr val="dk1"/>
              </a:solidFill>
              <a:latin typeface="Arial"/>
              <a:ea typeface="Arial"/>
              <a:cs typeface="Arial"/>
              <a:sym typeface="Arial"/>
            </a:endParaRPr>
          </a:p>
        </p:txBody>
      </p:sp>
      <p:pic>
        <p:nvPicPr>
          <p:cNvPr descr="Screen Shot 2016-04-25 at 1.38.05 PM.png" id="1382" name="Google Shape;1382;g2bb8c1dba0d_0_1611"/>
          <p:cNvPicPr preferRelativeResize="0"/>
          <p:nvPr/>
        </p:nvPicPr>
        <p:blipFill rotWithShape="1">
          <a:blip r:embed="rId4">
            <a:alphaModFix/>
          </a:blip>
          <a:srcRect b="0" l="0" r="0" t="0"/>
          <a:stretch/>
        </p:blipFill>
        <p:spPr>
          <a:xfrm>
            <a:off x="6807200" y="2544096"/>
            <a:ext cx="3647873" cy="1828800"/>
          </a:xfrm>
          <a:prstGeom prst="rect">
            <a:avLst/>
          </a:prstGeom>
          <a:noFill/>
          <a:ln>
            <a:noFill/>
          </a:ln>
        </p:spPr>
      </p:pic>
      <p:pic>
        <p:nvPicPr>
          <p:cNvPr descr="Screen Shot 2016-04-25 at 1.38.14 PM.png" id="1383" name="Google Shape;1383;g2bb8c1dba0d_0_1611"/>
          <p:cNvPicPr preferRelativeResize="0"/>
          <p:nvPr/>
        </p:nvPicPr>
        <p:blipFill rotWithShape="1">
          <a:blip r:embed="rId5">
            <a:alphaModFix/>
          </a:blip>
          <a:srcRect b="0" l="0" r="0" t="0"/>
          <a:stretch/>
        </p:blipFill>
        <p:spPr>
          <a:xfrm>
            <a:off x="6807199" y="4372896"/>
            <a:ext cx="3657601" cy="1799304"/>
          </a:xfrm>
          <a:prstGeom prst="rect">
            <a:avLst/>
          </a:prstGeom>
          <a:noFill/>
          <a:ln>
            <a:noFill/>
          </a:ln>
        </p:spPr>
      </p:pic>
      <p:pic>
        <p:nvPicPr>
          <p:cNvPr descr="Screen Shot 2018-04-18 at 11.53.49 AM.png" id="1384" name="Google Shape;1384;g2bb8c1dba0d_0_1611"/>
          <p:cNvPicPr preferRelativeResize="0"/>
          <p:nvPr/>
        </p:nvPicPr>
        <p:blipFill rotWithShape="1">
          <a:blip r:embed="rId6">
            <a:alphaModFix/>
          </a:blip>
          <a:srcRect b="0" l="0" r="0" t="0"/>
          <a:stretch/>
        </p:blipFill>
        <p:spPr>
          <a:xfrm>
            <a:off x="7687733" y="1143000"/>
            <a:ext cx="2997200" cy="919830"/>
          </a:xfrm>
          <a:prstGeom prst="rect">
            <a:avLst/>
          </a:prstGeom>
          <a:noFill/>
          <a:ln>
            <a:noFill/>
          </a:ln>
        </p:spPr>
      </p:pic>
      <p:pic>
        <p:nvPicPr>
          <p:cNvPr descr="Screen Shot 2018-04-18 at 11.53.40 AM.png" id="1385" name="Google Shape;1385;g2bb8c1dba0d_0_1611"/>
          <p:cNvPicPr preferRelativeResize="0"/>
          <p:nvPr/>
        </p:nvPicPr>
        <p:blipFill rotWithShape="1">
          <a:blip r:embed="rId7">
            <a:alphaModFix/>
          </a:blip>
          <a:srcRect b="-68" l="0" r="0" t="13405"/>
          <a:stretch/>
        </p:blipFill>
        <p:spPr>
          <a:xfrm>
            <a:off x="1016000" y="2667000"/>
            <a:ext cx="4089333" cy="356616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9" name="Shape 1389"/>
        <p:cNvGrpSpPr/>
        <p:nvPr/>
      </p:nvGrpSpPr>
      <p:grpSpPr>
        <a:xfrm>
          <a:off x="0" y="0"/>
          <a:ext cx="0" cy="0"/>
          <a:chOff x="0" y="0"/>
          <a:chExt cx="0" cy="0"/>
        </a:xfrm>
      </p:grpSpPr>
      <p:sp>
        <p:nvSpPr>
          <p:cNvPr id="1390" name="Google Shape;1390;g2bb8c1dba0d_0_1621"/>
          <p:cNvSpPr txBox="1"/>
          <p:nvPr>
            <p:ph type="title"/>
          </p:nvPr>
        </p:nvSpPr>
        <p:spPr>
          <a:xfrm>
            <a:off x="1117600" y="365125"/>
            <a:ext cx="99219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A Few Caveats</a:t>
            </a:r>
            <a:endParaRPr/>
          </a:p>
        </p:txBody>
      </p:sp>
      <p:sp>
        <p:nvSpPr>
          <p:cNvPr id="1391" name="Google Shape;1391;g2bb8c1dba0d_0_1621"/>
          <p:cNvSpPr txBox="1"/>
          <p:nvPr>
            <p:ph idx="1" type="body"/>
          </p:nvPr>
        </p:nvSpPr>
        <p:spPr>
          <a:xfrm>
            <a:off x="1117600" y="1825625"/>
            <a:ext cx="104970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Flickr images come from a really weird process</a:t>
            </a:r>
            <a:endParaRPr/>
          </a:p>
          <a:p>
            <a:pPr indent="-228600" lvl="0" marL="228600" rtl="0" algn="l">
              <a:lnSpc>
                <a:spcPct val="90000"/>
              </a:lnSpc>
              <a:spcBef>
                <a:spcPts val="1000"/>
              </a:spcBef>
              <a:spcAft>
                <a:spcPts val="0"/>
              </a:spcAft>
              <a:buClr>
                <a:schemeClr val="dk1"/>
              </a:buClr>
              <a:buSzPts val="2800"/>
              <a:buChar char="•"/>
            </a:pPr>
            <a:r>
              <a:rPr lang="en-US"/>
              <a:t>Step 1: user takes a picture</a:t>
            </a:r>
            <a:endParaRPr/>
          </a:p>
          <a:p>
            <a:pPr indent="-228600" lvl="0" marL="228600" rtl="0" algn="l">
              <a:lnSpc>
                <a:spcPct val="90000"/>
              </a:lnSpc>
              <a:spcBef>
                <a:spcPts val="1000"/>
              </a:spcBef>
              <a:spcAft>
                <a:spcPts val="0"/>
              </a:spcAft>
              <a:buClr>
                <a:schemeClr val="dk1"/>
              </a:buClr>
              <a:buSzPts val="2800"/>
              <a:buChar char="•"/>
            </a:pPr>
            <a:r>
              <a:rPr lang="en-US"/>
              <a:t>Step 2: user decides to upload it</a:t>
            </a:r>
            <a:endParaRPr/>
          </a:p>
          <a:p>
            <a:pPr indent="-228600" lvl="0" marL="228600" rtl="0" algn="l">
              <a:lnSpc>
                <a:spcPct val="90000"/>
              </a:lnSpc>
              <a:spcBef>
                <a:spcPts val="1000"/>
              </a:spcBef>
              <a:spcAft>
                <a:spcPts val="0"/>
              </a:spcAft>
              <a:buClr>
                <a:schemeClr val="dk1"/>
              </a:buClr>
              <a:buSzPts val="2800"/>
              <a:buChar char="•"/>
            </a:pPr>
            <a:r>
              <a:rPr lang="en-US"/>
              <a:t>Step 3: user decides to write something like “refrigerator” somewhere in the description</a:t>
            </a:r>
            <a:endParaRPr/>
          </a:p>
          <a:p>
            <a:pPr indent="-228600" lvl="0" marL="228600" rtl="0" algn="l">
              <a:lnSpc>
                <a:spcPct val="90000"/>
              </a:lnSpc>
              <a:spcBef>
                <a:spcPts val="1000"/>
              </a:spcBef>
              <a:spcAft>
                <a:spcPts val="0"/>
              </a:spcAft>
              <a:buClr>
                <a:schemeClr val="dk1"/>
              </a:buClr>
              <a:buSzPts val="2800"/>
              <a:buChar char="•"/>
            </a:pPr>
            <a:r>
              <a:rPr lang="en-US"/>
              <a:t>Step 4: a vision person stumbles on it while searching Flickr for refrigerators for a dataset</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1">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5" name="Shape 1395"/>
        <p:cNvGrpSpPr/>
        <p:nvPr/>
      </p:nvGrpSpPr>
      <p:grpSpPr>
        <a:xfrm>
          <a:off x="0" y="0"/>
          <a:ext cx="0" cy="0"/>
          <a:chOff x="0" y="0"/>
          <a:chExt cx="0" cy="0"/>
        </a:xfrm>
      </p:grpSpPr>
      <p:pic>
        <p:nvPicPr>
          <p:cNvPr id="1396" name="Google Shape;1396;g2bb8c1dba0d_0_1626"/>
          <p:cNvPicPr preferRelativeResize="0"/>
          <p:nvPr/>
        </p:nvPicPr>
        <p:blipFill rotWithShape="1">
          <a:blip r:embed="rId3">
            <a:alphaModFix/>
          </a:blip>
          <a:srcRect b="0" l="0" r="0" t="0"/>
          <a:stretch/>
        </p:blipFill>
        <p:spPr>
          <a:xfrm>
            <a:off x="10066673" y="77277"/>
            <a:ext cx="1505559" cy="2224841"/>
          </a:xfrm>
          <a:prstGeom prst="rect">
            <a:avLst/>
          </a:prstGeom>
          <a:noFill/>
          <a:ln>
            <a:noFill/>
          </a:ln>
        </p:spPr>
      </p:pic>
      <p:pic>
        <p:nvPicPr>
          <p:cNvPr id="1397" name="Google Shape;1397;g2bb8c1dba0d_0_1626"/>
          <p:cNvPicPr preferRelativeResize="0"/>
          <p:nvPr/>
        </p:nvPicPr>
        <p:blipFill rotWithShape="1">
          <a:blip r:embed="rId4">
            <a:alphaModFix/>
          </a:blip>
          <a:srcRect b="0" l="0" r="0" t="0"/>
          <a:stretch/>
        </p:blipFill>
        <p:spPr>
          <a:xfrm>
            <a:off x="7164935" y="77277"/>
            <a:ext cx="1848813" cy="2224843"/>
          </a:xfrm>
          <a:prstGeom prst="rect">
            <a:avLst/>
          </a:prstGeom>
          <a:noFill/>
          <a:ln>
            <a:noFill/>
          </a:ln>
        </p:spPr>
      </p:pic>
      <p:pic>
        <p:nvPicPr>
          <p:cNvPr id="1398" name="Google Shape;1398;g2bb8c1dba0d_0_1626"/>
          <p:cNvPicPr preferRelativeResize="0"/>
          <p:nvPr/>
        </p:nvPicPr>
        <p:blipFill rotWithShape="1">
          <a:blip r:embed="rId5">
            <a:alphaModFix/>
          </a:blip>
          <a:srcRect b="0" l="0" r="0" t="0"/>
          <a:stretch/>
        </p:blipFill>
        <p:spPr>
          <a:xfrm>
            <a:off x="2764748" y="77277"/>
            <a:ext cx="2972650" cy="2224842"/>
          </a:xfrm>
          <a:prstGeom prst="rect">
            <a:avLst/>
          </a:prstGeom>
          <a:noFill/>
          <a:ln>
            <a:noFill/>
          </a:ln>
        </p:spPr>
      </p:pic>
      <p:pic>
        <p:nvPicPr>
          <p:cNvPr id="1399" name="Google Shape;1399;g2bb8c1dba0d_0_1626"/>
          <p:cNvPicPr preferRelativeResize="0"/>
          <p:nvPr/>
        </p:nvPicPr>
        <p:blipFill rotWithShape="1">
          <a:blip r:embed="rId6">
            <a:alphaModFix/>
          </a:blip>
          <a:srcRect b="0" l="0" r="0" t="0"/>
          <a:stretch/>
        </p:blipFill>
        <p:spPr>
          <a:xfrm>
            <a:off x="103252" y="77277"/>
            <a:ext cx="1668632" cy="2224843"/>
          </a:xfrm>
          <a:prstGeom prst="rect">
            <a:avLst/>
          </a:prstGeom>
          <a:noFill/>
          <a:ln>
            <a:noFill/>
          </a:ln>
        </p:spPr>
      </p:pic>
      <p:pic>
        <p:nvPicPr>
          <p:cNvPr id="1400" name="Google Shape;1400;g2bb8c1dba0d_0_1626"/>
          <p:cNvPicPr preferRelativeResize="0"/>
          <p:nvPr/>
        </p:nvPicPr>
        <p:blipFill rotWithShape="1">
          <a:blip r:embed="rId7">
            <a:alphaModFix/>
          </a:blip>
          <a:srcRect b="0" l="0" r="0" t="0"/>
          <a:stretch/>
        </p:blipFill>
        <p:spPr>
          <a:xfrm>
            <a:off x="103252" y="4732851"/>
            <a:ext cx="2779814" cy="1850314"/>
          </a:xfrm>
          <a:prstGeom prst="rect">
            <a:avLst/>
          </a:prstGeom>
          <a:noFill/>
          <a:ln>
            <a:noFill/>
          </a:ln>
        </p:spPr>
      </p:pic>
      <p:pic>
        <p:nvPicPr>
          <p:cNvPr id="1401" name="Google Shape;1401;g2bb8c1dba0d_0_1626"/>
          <p:cNvPicPr preferRelativeResize="0"/>
          <p:nvPr/>
        </p:nvPicPr>
        <p:blipFill rotWithShape="1">
          <a:blip r:embed="rId8">
            <a:alphaModFix/>
          </a:blip>
          <a:srcRect b="0" l="0" r="0" t="0"/>
          <a:stretch/>
        </p:blipFill>
        <p:spPr>
          <a:xfrm>
            <a:off x="103252" y="2429673"/>
            <a:ext cx="2840325" cy="2130244"/>
          </a:xfrm>
          <a:prstGeom prst="rect">
            <a:avLst/>
          </a:prstGeom>
          <a:noFill/>
          <a:ln>
            <a:noFill/>
          </a:ln>
        </p:spPr>
      </p:pic>
      <p:pic>
        <p:nvPicPr>
          <p:cNvPr id="1402" name="Google Shape;1402;g2bb8c1dba0d_0_1626"/>
          <p:cNvPicPr preferRelativeResize="0"/>
          <p:nvPr/>
        </p:nvPicPr>
        <p:blipFill rotWithShape="1">
          <a:blip r:embed="rId9">
            <a:alphaModFix/>
          </a:blip>
          <a:srcRect b="0" l="0" r="0" t="0"/>
          <a:stretch/>
        </p:blipFill>
        <p:spPr>
          <a:xfrm>
            <a:off x="7826500" y="2429673"/>
            <a:ext cx="3184340" cy="4153487"/>
          </a:xfrm>
          <a:prstGeom prst="rect">
            <a:avLst/>
          </a:prstGeom>
          <a:noFill/>
          <a:ln>
            <a:noFill/>
          </a:ln>
        </p:spPr>
      </p:pic>
      <p:pic>
        <p:nvPicPr>
          <p:cNvPr id="1403" name="Google Shape;1403;g2bb8c1dba0d_0_1626"/>
          <p:cNvPicPr preferRelativeResize="0"/>
          <p:nvPr/>
        </p:nvPicPr>
        <p:blipFill rotWithShape="1">
          <a:blip r:embed="rId10">
            <a:alphaModFix/>
          </a:blip>
          <a:srcRect b="0" l="0" r="0" t="0"/>
          <a:stretch/>
        </p:blipFill>
        <p:spPr>
          <a:xfrm>
            <a:off x="4279083" y="4409283"/>
            <a:ext cx="2400566" cy="2173877"/>
          </a:xfrm>
          <a:prstGeom prst="rect">
            <a:avLst/>
          </a:prstGeom>
          <a:noFill/>
          <a:ln>
            <a:noFill/>
          </a:ln>
        </p:spPr>
      </p:pic>
      <p:sp>
        <p:nvSpPr>
          <p:cNvPr id="1404" name="Google Shape;1404;g2bb8c1dba0d_0_1626"/>
          <p:cNvSpPr txBox="1"/>
          <p:nvPr/>
        </p:nvSpPr>
        <p:spPr>
          <a:xfrm>
            <a:off x="3831639" y="2429673"/>
            <a:ext cx="3994800" cy="1815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Who takes photos of open refrigerators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8" name="Shape 1408"/>
        <p:cNvGrpSpPr/>
        <p:nvPr/>
      </p:nvGrpSpPr>
      <p:grpSpPr>
        <a:xfrm>
          <a:off x="0" y="0"/>
          <a:ext cx="0" cy="0"/>
          <a:chOff x="0" y="0"/>
          <a:chExt cx="0" cy="0"/>
        </a:xfrm>
      </p:grpSpPr>
      <p:sp>
        <p:nvSpPr>
          <p:cNvPr id="1409" name="Google Shape;1409;g2bb8c1dba0d_0_1638"/>
          <p:cNvSpPr txBox="1"/>
          <p:nvPr>
            <p:ph type="title"/>
          </p:nvPr>
        </p:nvSpPr>
        <p:spPr>
          <a:xfrm>
            <a:off x="1117600" y="365125"/>
            <a:ext cx="109830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Guess the category!</a:t>
            </a:r>
            <a:endParaRPr/>
          </a:p>
        </p:txBody>
      </p:sp>
      <p:sp>
        <p:nvSpPr>
          <p:cNvPr id="1410" name="Google Shape;1410;g2bb8c1dba0d_0_1638"/>
          <p:cNvSpPr txBox="1"/>
          <p:nvPr/>
        </p:nvSpPr>
        <p:spPr>
          <a:xfrm>
            <a:off x="248357" y="5713681"/>
            <a:ext cx="3574500" cy="708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000"/>
              <a:buFont typeface="Arial"/>
              <a:buNone/>
            </a:pPr>
            <a:r>
              <a:rPr b="0" i="0" lang="en-US" sz="4000" u="none" cap="none" strike="noStrike">
                <a:solidFill>
                  <a:schemeClr val="dk1"/>
                </a:solidFill>
                <a:latin typeface="Arial"/>
                <a:ea typeface="Arial"/>
                <a:cs typeface="Arial"/>
                <a:sym typeface="Arial"/>
              </a:rPr>
              <a:t>(1) Person</a:t>
            </a:r>
            <a:endParaRPr b="0" i="0" sz="1400" u="none" cap="none" strike="noStrike">
              <a:solidFill>
                <a:srgbClr val="000000"/>
              </a:solidFill>
              <a:latin typeface="Arial"/>
              <a:ea typeface="Arial"/>
              <a:cs typeface="Arial"/>
              <a:sym typeface="Arial"/>
            </a:endParaRPr>
          </a:p>
        </p:txBody>
      </p:sp>
      <p:sp>
        <p:nvSpPr>
          <p:cNvPr id="1411" name="Google Shape;1411;g2bb8c1dba0d_0_1638"/>
          <p:cNvSpPr txBox="1"/>
          <p:nvPr/>
        </p:nvSpPr>
        <p:spPr>
          <a:xfrm>
            <a:off x="4238187" y="5713681"/>
            <a:ext cx="3904500" cy="708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000"/>
              <a:buFont typeface="Arial"/>
              <a:buNone/>
            </a:pPr>
            <a:r>
              <a:rPr b="0" i="0" lang="en-US" sz="4000" u="none" cap="none" strike="noStrike">
                <a:solidFill>
                  <a:schemeClr val="dk1"/>
                </a:solidFill>
                <a:latin typeface="Arial"/>
                <a:ea typeface="Arial"/>
                <a:cs typeface="Arial"/>
                <a:sym typeface="Arial"/>
              </a:rPr>
              <a:t>(2) Giraffe</a:t>
            </a:r>
            <a:endParaRPr b="0" i="0" sz="1400" u="none" cap="none" strike="noStrike">
              <a:solidFill>
                <a:srgbClr val="000000"/>
              </a:solidFill>
              <a:latin typeface="Arial"/>
              <a:ea typeface="Arial"/>
              <a:cs typeface="Arial"/>
              <a:sym typeface="Arial"/>
            </a:endParaRPr>
          </a:p>
        </p:txBody>
      </p:sp>
      <p:sp>
        <p:nvSpPr>
          <p:cNvPr id="1412" name="Google Shape;1412;g2bb8c1dba0d_0_1638"/>
          <p:cNvSpPr txBox="1"/>
          <p:nvPr/>
        </p:nvSpPr>
        <p:spPr>
          <a:xfrm>
            <a:off x="8558217" y="5713681"/>
            <a:ext cx="3542400" cy="708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000"/>
              <a:buFont typeface="Arial"/>
              <a:buNone/>
            </a:pPr>
            <a:r>
              <a:rPr b="0" i="0" lang="en-US" sz="4000" u="none" cap="none" strike="noStrike">
                <a:solidFill>
                  <a:schemeClr val="dk1"/>
                </a:solidFill>
                <a:latin typeface="Arial"/>
                <a:ea typeface="Arial"/>
                <a:cs typeface="Arial"/>
                <a:sym typeface="Arial"/>
              </a:rPr>
              <a:t>(3) Bicycle</a:t>
            </a:r>
            <a:endParaRPr b="0" i="0" sz="1400" u="none" cap="none" strike="noStrike">
              <a:solidFill>
                <a:srgbClr val="000000"/>
              </a:solidFill>
              <a:latin typeface="Arial"/>
              <a:ea typeface="Arial"/>
              <a:cs typeface="Arial"/>
              <a:sym typeface="Arial"/>
            </a:endParaRPr>
          </a:p>
        </p:txBody>
      </p:sp>
      <p:grpSp>
        <p:nvGrpSpPr>
          <p:cNvPr id="1413" name="Google Shape;1413;g2bb8c1dba0d_0_1638"/>
          <p:cNvGrpSpPr/>
          <p:nvPr/>
        </p:nvGrpSpPr>
        <p:grpSpPr>
          <a:xfrm>
            <a:off x="329943" y="2484167"/>
            <a:ext cx="11531841" cy="2985039"/>
            <a:chOff x="552450" y="1400175"/>
            <a:chExt cx="7147983" cy="2466975"/>
          </a:xfrm>
        </p:grpSpPr>
        <p:pic>
          <p:nvPicPr>
            <p:cNvPr id="1414" name="Google Shape;1414;g2bb8c1dba0d_0_1638"/>
            <p:cNvPicPr preferRelativeResize="0"/>
            <p:nvPr/>
          </p:nvPicPr>
          <p:blipFill rotWithShape="1">
            <a:blip r:embed="rId3">
              <a:alphaModFix/>
            </a:blip>
            <a:srcRect b="0" l="39623" r="0" t="0"/>
            <a:stretch/>
          </p:blipFill>
          <p:spPr>
            <a:xfrm>
              <a:off x="552450" y="1400175"/>
              <a:ext cx="2647950" cy="2466975"/>
            </a:xfrm>
            <a:prstGeom prst="rect">
              <a:avLst/>
            </a:prstGeom>
            <a:noFill/>
            <a:ln>
              <a:noFill/>
            </a:ln>
          </p:spPr>
        </p:pic>
        <p:pic>
          <p:nvPicPr>
            <p:cNvPr id="1415" name="Google Shape;1415;g2bb8c1dba0d_0_1638"/>
            <p:cNvPicPr preferRelativeResize="0"/>
            <p:nvPr/>
          </p:nvPicPr>
          <p:blipFill rotWithShape="1">
            <a:blip r:embed="rId4">
              <a:alphaModFix/>
            </a:blip>
            <a:srcRect b="0" l="0" r="0" t="0"/>
            <a:stretch/>
          </p:blipFill>
          <p:spPr>
            <a:xfrm>
              <a:off x="3314700" y="1400175"/>
              <a:ext cx="4385733" cy="2466975"/>
            </a:xfrm>
            <a:prstGeom prst="rect">
              <a:avLst/>
            </a:prstGeom>
            <a:noFill/>
            <a:ln>
              <a:noFill/>
            </a:ln>
          </p:spPr>
        </p:pic>
      </p:grpSp>
      <p:sp>
        <p:nvSpPr>
          <p:cNvPr id="1416" name="Google Shape;1416;g2bb8c1dba0d_0_1638"/>
          <p:cNvSpPr txBox="1"/>
          <p:nvPr/>
        </p:nvSpPr>
        <p:spPr>
          <a:xfrm>
            <a:off x="329960" y="1388793"/>
            <a:ext cx="11532000" cy="954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These were detected with &gt;90% confidence, corresponding to 99% precision on original dataset</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0" name="Shape 1420"/>
        <p:cNvGrpSpPr/>
        <p:nvPr/>
      </p:nvGrpSpPr>
      <p:grpSpPr>
        <a:xfrm>
          <a:off x="0" y="0"/>
          <a:ext cx="0" cy="0"/>
          <a:chOff x="0" y="0"/>
          <a:chExt cx="0" cy="0"/>
        </a:xfrm>
      </p:grpSpPr>
      <p:sp>
        <p:nvSpPr>
          <p:cNvPr id="1421" name="Google Shape;1421;g2bb8c1dba0d_0_1649"/>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Kitchens from Googling</a:t>
            </a:r>
            <a:endParaRPr/>
          </a:p>
        </p:txBody>
      </p:sp>
      <p:grpSp>
        <p:nvGrpSpPr>
          <p:cNvPr id="1422" name="Google Shape;1422;g2bb8c1dba0d_0_1649"/>
          <p:cNvGrpSpPr/>
          <p:nvPr/>
        </p:nvGrpSpPr>
        <p:grpSpPr>
          <a:xfrm>
            <a:off x="596348" y="4309852"/>
            <a:ext cx="8290196" cy="1328947"/>
            <a:chOff x="447261" y="4309852"/>
            <a:chExt cx="8290196" cy="1328947"/>
          </a:xfrm>
        </p:grpSpPr>
        <p:pic>
          <p:nvPicPr>
            <p:cNvPr descr="http://places2.csail.mit.edu/explore/original/217/68.jpg" id="1423" name="Google Shape;1423;g2bb8c1dba0d_0_1649"/>
            <p:cNvPicPr preferRelativeResize="0"/>
            <p:nvPr/>
          </p:nvPicPr>
          <p:blipFill rotWithShape="1">
            <a:blip r:embed="rId3">
              <a:alphaModFix/>
            </a:blip>
            <a:srcRect b="0" l="0" r="0" t="0"/>
            <a:stretch/>
          </p:blipFill>
          <p:spPr>
            <a:xfrm>
              <a:off x="2620594" y="4309852"/>
              <a:ext cx="1775390" cy="1328947"/>
            </a:xfrm>
            <a:prstGeom prst="rect">
              <a:avLst/>
            </a:prstGeom>
            <a:solidFill>
              <a:schemeClr val="accent2"/>
            </a:solidFill>
            <a:ln cap="flat" cmpd="sng" w="9525">
              <a:solidFill>
                <a:schemeClr val="dk1"/>
              </a:solidFill>
              <a:prstDash val="solid"/>
              <a:round/>
              <a:headEnd len="sm" w="sm" type="none"/>
              <a:tailEnd len="sm" w="sm" type="none"/>
            </a:ln>
          </p:spPr>
        </p:pic>
        <p:pic>
          <p:nvPicPr>
            <p:cNvPr descr="http://places2.csail.mit.edu/explore/original/217/22.jpg" id="1424" name="Google Shape;1424;g2bb8c1dba0d_0_1649"/>
            <p:cNvPicPr preferRelativeResize="0"/>
            <p:nvPr/>
          </p:nvPicPr>
          <p:blipFill rotWithShape="1">
            <a:blip r:embed="rId4">
              <a:alphaModFix/>
            </a:blip>
            <a:srcRect b="0" l="0" r="0" t="0"/>
            <a:stretch/>
          </p:blipFill>
          <p:spPr>
            <a:xfrm>
              <a:off x="6749228" y="4309852"/>
              <a:ext cx="1988229" cy="1328947"/>
            </a:xfrm>
            <a:prstGeom prst="rect">
              <a:avLst/>
            </a:prstGeom>
            <a:solidFill>
              <a:schemeClr val="accent2"/>
            </a:solidFill>
            <a:ln cap="flat" cmpd="sng" w="9525">
              <a:solidFill>
                <a:schemeClr val="dk1"/>
              </a:solidFill>
              <a:prstDash val="solid"/>
              <a:round/>
              <a:headEnd len="sm" w="sm" type="none"/>
              <a:tailEnd len="sm" w="sm" type="none"/>
            </a:ln>
          </p:spPr>
        </p:pic>
        <p:pic>
          <p:nvPicPr>
            <p:cNvPr descr="http://places2.csail.mit.edu/explore/original/217/137.jpg" id="1425" name="Google Shape;1425;g2bb8c1dba0d_0_1649"/>
            <p:cNvPicPr preferRelativeResize="0"/>
            <p:nvPr/>
          </p:nvPicPr>
          <p:blipFill rotWithShape="1">
            <a:blip r:embed="rId5">
              <a:alphaModFix/>
            </a:blip>
            <a:srcRect b="0" l="0" r="0" t="0"/>
            <a:stretch/>
          </p:blipFill>
          <p:spPr>
            <a:xfrm>
              <a:off x="4575896" y="4309852"/>
              <a:ext cx="1993421" cy="1328947"/>
            </a:xfrm>
            <a:prstGeom prst="rect">
              <a:avLst/>
            </a:prstGeom>
            <a:solidFill>
              <a:schemeClr val="accent2"/>
            </a:solidFill>
            <a:ln cap="flat" cmpd="sng" w="9525">
              <a:solidFill>
                <a:schemeClr val="dk1"/>
              </a:solidFill>
              <a:prstDash val="solid"/>
              <a:round/>
              <a:headEnd len="sm" w="sm" type="none"/>
              <a:tailEnd len="sm" w="sm" type="none"/>
            </a:ln>
          </p:spPr>
        </p:pic>
        <p:pic>
          <p:nvPicPr>
            <p:cNvPr descr="http://places2.csail.mit.edu/explore/original/217/158.jpg" id="1426" name="Google Shape;1426;g2bb8c1dba0d_0_1649"/>
            <p:cNvPicPr preferRelativeResize="0"/>
            <p:nvPr/>
          </p:nvPicPr>
          <p:blipFill rotWithShape="1">
            <a:blip r:embed="rId6">
              <a:alphaModFix/>
            </a:blip>
            <a:srcRect b="0" l="0" r="0" t="0"/>
            <a:stretch/>
          </p:blipFill>
          <p:spPr>
            <a:xfrm>
              <a:off x="447261" y="4309852"/>
              <a:ext cx="1993421" cy="1328947"/>
            </a:xfrm>
            <a:prstGeom prst="rect">
              <a:avLst/>
            </a:prstGeom>
            <a:solidFill>
              <a:schemeClr val="accent2"/>
            </a:solidFill>
            <a:ln cap="flat" cmpd="sng" w="9525">
              <a:solidFill>
                <a:schemeClr val="dk1"/>
              </a:solidFill>
              <a:prstDash val="solid"/>
              <a:round/>
              <a:headEnd len="sm" w="sm" type="none"/>
              <a:tailEnd len="sm" w="sm" type="none"/>
            </a:ln>
          </p:spPr>
        </p:pic>
      </p:grpSp>
      <p:grpSp>
        <p:nvGrpSpPr>
          <p:cNvPr id="1427" name="Google Shape;1427;g2bb8c1dba0d_0_1649"/>
          <p:cNvGrpSpPr/>
          <p:nvPr/>
        </p:nvGrpSpPr>
        <p:grpSpPr>
          <a:xfrm>
            <a:off x="596349" y="1477616"/>
            <a:ext cx="8290195" cy="1328947"/>
            <a:chOff x="447262" y="1477616"/>
            <a:chExt cx="8290195" cy="1328947"/>
          </a:xfrm>
        </p:grpSpPr>
        <p:pic>
          <p:nvPicPr>
            <p:cNvPr descr="http://places2.csail.mit.edu/explore/original/217/122.jpg" id="1428" name="Google Shape;1428;g2bb8c1dba0d_0_1649"/>
            <p:cNvPicPr preferRelativeResize="0"/>
            <p:nvPr/>
          </p:nvPicPr>
          <p:blipFill rotWithShape="1">
            <a:blip r:embed="rId7">
              <a:alphaModFix/>
            </a:blip>
            <a:srcRect b="0" l="0" r="0" t="0"/>
            <a:stretch/>
          </p:blipFill>
          <p:spPr>
            <a:xfrm>
              <a:off x="447262" y="1477616"/>
              <a:ext cx="1775390" cy="1328947"/>
            </a:xfrm>
            <a:prstGeom prst="rect">
              <a:avLst/>
            </a:prstGeom>
            <a:solidFill>
              <a:schemeClr val="accent2"/>
            </a:solidFill>
            <a:ln cap="flat" cmpd="sng" w="9525">
              <a:solidFill>
                <a:schemeClr val="dk1"/>
              </a:solidFill>
              <a:prstDash val="solid"/>
              <a:round/>
              <a:headEnd len="sm" w="sm" type="none"/>
              <a:tailEnd len="sm" w="sm" type="none"/>
            </a:ln>
          </p:spPr>
        </p:pic>
        <p:pic>
          <p:nvPicPr>
            <p:cNvPr descr="http://places2.csail.mit.edu/explore/original/217/23.jpg" id="1429" name="Google Shape;1429;g2bb8c1dba0d_0_1649"/>
            <p:cNvPicPr preferRelativeResize="0"/>
            <p:nvPr/>
          </p:nvPicPr>
          <p:blipFill rotWithShape="1">
            <a:blip r:embed="rId8">
              <a:alphaModFix/>
            </a:blip>
            <a:srcRect b="0" l="0" r="0" t="0"/>
            <a:stretch/>
          </p:blipFill>
          <p:spPr>
            <a:xfrm>
              <a:off x="6728462" y="1477616"/>
              <a:ext cx="2008995" cy="1328947"/>
            </a:xfrm>
            <a:prstGeom prst="rect">
              <a:avLst/>
            </a:prstGeom>
            <a:solidFill>
              <a:schemeClr val="accent2"/>
            </a:solidFill>
            <a:ln cap="flat" cmpd="sng" w="9525">
              <a:solidFill>
                <a:schemeClr val="dk1"/>
              </a:solidFill>
              <a:prstDash val="solid"/>
              <a:round/>
              <a:headEnd len="sm" w="sm" type="none"/>
              <a:tailEnd len="sm" w="sm" type="none"/>
            </a:ln>
          </p:spPr>
        </p:pic>
        <p:pic>
          <p:nvPicPr>
            <p:cNvPr descr="http://places2.csail.mit.edu/explore/original/217/62.jpg" id="1430" name="Google Shape;1430;g2bb8c1dba0d_0_1649"/>
            <p:cNvPicPr preferRelativeResize="0"/>
            <p:nvPr/>
          </p:nvPicPr>
          <p:blipFill rotWithShape="1">
            <a:blip r:embed="rId9">
              <a:alphaModFix/>
            </a:blip>
            <a:srcRect b="0" l="0" r="0" t="0"/>
            <a:stretch/>
          </p:blipFill>
          <p:spPr>
            <a:xfrm>
              <a:off x="4454766" y="1477616"/>
              <a:ext cx="2045333" cy="1328947"/>
            </a:xfrm>
            <a:prstGeom prst="rect">
              <a:avLst/>
            </a:prstGeom>
            <a:solidFill>
              <a:schemeClr val="accent2"/>
            </a:solidFill>
            <a:ln cap="flat" cmpd="sng" w="9525">
              <a:solidFill>
                <a:schemeClr val="dk1"/>
              </a:solidFill>
              <a:prstDash val="solid"/>
              <a:round/>
              <a:headEnd len="sm" w="sm" type="none"/>
              <a:tailEnd len="sm" w="sm" type="none"/>
            </a:ln>
          </p:spPr>
        </p:pic>
        <p:pic>
          <p:nvPicPr>
            <p:cNvPr descr="http://places2.csail.mit.edu/explore/original/217/110.jpg" id="1431" name="Google Shape;1431;g2bb8c1dba0d_0_1649"/>
            <p:cNvPicPr preferRelativeResize="0"/>
            <p:nvPr/>
          </p:nvPicPr>
          <p:blipFill rotWithShape="1">
            <a:blip r:embed="rId10">
              <a:alphaModFix/>
            </a:blip>
            <a:srcRect b="0" l="0" r="0" t="0"/>
            <a:stretch/>
          </p:blipFill>
          <p:spPr>
            <a:xfrm>
              <a:off x="2451014" y="1477616"/>
              <a:ext cx="1775390" cy="1328947"/>
            </a:xfrm>
            <a:prstGeom prst="rect">
              <a:avLst/>
            </a:prstGeom>
            <a:solidFill>
              <a:schemeClr val="accent2"/>
            </a:solidFill>
            <a:ln cap="flat" cmpd="sng" w="9525">
              <a:solidFill>
                <a:schemeClr val="dk1"/>
              </a:solidFill>
              <a:prstDash val="solid"/>
              <a:round/>
              <a:headEnd len="sm" w="sm" type="none"/>
              <a:tailEnd len="sm" w="sm" type="none"/>
            </a:ln>
          </p:spPr>
        </p:pic>
      </p:grpSp>
      <p:grpSp>
        <p:nvGrpSpPr>
          <p:cNvPr id="1432" name="Google Shape;1432;g2bb8c1dba0d_0_1649"/>
          <p:cNvGrpSpPr/>
          <p:nvPr/>
        </p:nvGrpSpPr>
        <p:grpSpPr>
          <a:xfrm>
            <a:off x="596348" y="2893734"/>
            <a:ext cx="8290196" cy="1328947"/>
            <a:chOff x="447261" y="2893734"/>
            <a:chExt cx="8290196" cy="1328947"/>
          </a:xfrm>
        </p:grpSpPr>
        <p:pic>
          <p:nvPicPr>
            <p:cNvPr descr="http://places2.csail.mit.edu/explore/original/217/134.jpg" id="1433" name="Google Shape;1433;g2bb8c1dba0d_0_1649"/>
            <p:cNvPicPr preferRelativeResize="0"/>
            <p:nvPr/>
          </p:nvPicPr>
          <p:blipFill rotWithShape="1">
            <a:blip r:embed="rId11">
              <a:alphaModFix/>
            </a:blip>
            <a:srcRect b="0" l="0" r="0" t="0"/>
            <a:stretch/>
          </p:blipFill>
          <p:spPr>
            <a:xfrm>
              <a:off x="6962067" y="2893734"/>
              <a:ext cx="1775390" cy="1328947"/>
            </a:xfrm>
            <a:prstGeom prst="rect">
              <a:avLst/>
            </a:prstGeom>
            <a:solidFill>
              <a:schemeClr val="accent2"/>
            </a:solidFill>
            <a:ln cap="flat" cmpd="sng" w="9525">
              <a:solidFill>
                <a:schemeClr val="dk1"/>
              </a:solidFill>
              <a:prstDash val="solid"/>
              <a:round/>
              <a:headEnd len="sm" w="sm" type="none"/>
              <a:tailEnd len="sm" w="sm" type="none"/>
            </a:ln>
          </p:spPr>
        </p:pic>
        <p:pic>
          <p:nvPicPr>
            <p:cNvPr descr="http://places2.csail.mit.edu/explore/original/217/91.jpg" id="1434" name="Google Shape;1434;g2bb8c1dba0d_0_1649"/>
            <p:cNvPicPr preferRelativeResize="0"/>
            <p:nvPr/>
          </p:nvPicPr>
          <p:blipFill rotWithShape="1">
            <a:blip r:embed="rId12">
              <a:alphaModFix/>
            </a:blip>
            <a:srcRect b="0" l="0" r="0" t="0"/>
            <a:stretch/>
          </p:blipFill>
          <p:spPr>
            <a:xfrm>
              <a:off x="4866603" y="2893734"/>
              <a:ext cx="1775390" cy="1328947"/>
            </a:xfrm>
            <a:prstGeom prst="rect">
              <a:avLst/>
            </a:prstGeom>
            <a:solidFill>
              <a:schemeClr val="accent2"/>
            </a:solidFill>
            <a:ln cap="flat" cmpd="sng" w="9525">
              <a:solidFill>
                <a:schemeClr val="dk1"/>
              </a:solidFill>
              <a:prstDash val="solid"/>
              <a:round/>
              <a:headEnd len="sm" w="sm" type="none"/>
              <a:tailEnd len="sm" w="sm" type="none"/>
            </a:ln>
          </p:spPr>
        </p:pic>
        <p:pic>
          <p:nvPicPr>
            <p:cNvPr descr="http://places2.csail.mit.edu/explore/original/217/191.jpg" id="1435" name="Google Shape;1435;g2bb8c1dba0d_0_1649"/>
            <p:cNvPicPr preferRelativeResize="0"/>
            <p:nvPr/>
          </p:nvPicPr>
          <p:blipFill rotWithShape="1">
            <a:blip r:embed="rId13">
              <a:alphaModFix/>
            </a:blip>
            <a:srcRect b="0" l="0" r="0" t="0"/>
            <a:stretch/>
          </p:blipFill>
          <p:spPr>
            <a:xfrm>
              <a:off x="2542725" y="2893734"/>
              <a:ext cx="2003804" cy="1328947"/>
            </a:xfrm>
            <a:prstGeom prst="rect">
              <a:avLst/>
            </a:prstGeom>
            <a:solidFill>
              <a:schemeClr val="accent2"/>
            </a:solidFill>
            <a:ln cap="flat" cmpd="sng" w="9525">
              <a:solidFill>
                <a:schemeClr val="dk1"/>
              </a:solidFill>
              <a:prstDash val="solid"/>
              <a:round/>
              <a:headEnd len="sm" w="sm" type="none"/>
              <a:tailEnd len="sm" w="sm" type="none"/>
            </a:ln>
          </p:spPr>
        </p:pic>
        <p:pic>
          <p:nvPicPr>
            <p:cNvPr descr="http://places2.csail.mit.edu/explore/original/217/96.jpg" id="1436" name="Google Shape;1436;g2bb8c1dba0d_0_1649"/>
            <p:cNvPicPr preferRelativeResize="0"/>
            <p:nvPr/>
          </p:nvPicPr>
          <p:blipFill rotWithShape="1">
            <a:blip r:embed="rId14">
              <a:alphaModFix/>
            </a:blip>
            <a:srcRect b="0" l="0" r="0" t="0"/>
            <a:stretch/>
          </p:blipFill>
          <p:spPr>
            <a:xfrm>
              <a:off x="447261" y="2893734"/>
              <a:ext cx="1775390" cy="1328947"/>
            </a:xfrm>
            <a:prstGeom prst="rect">
              <a:avLst/>
            </a:prstGeom>
            <a:solidFill>
              <a:schemeClr val="accent2"/>
            </a:solidFill>
            <a:ln cap="flat" cmpd="sng" w="9525">
              <a:solidFill>
                <a:schemeClr val="dk1"/>
              </a:solidFill>
              <a:prstDash val="solid"/>
              <a:round/>
              <a:headEnd len="sm" w="sm" type="none"/>
              <a:tailEnd len="sm" w="sm" type="none"/>
            </a:ln>
          </p:spPr>
        </p:pic>
      </p:grpSp>
      <p:sp>
        <p:nvSpPr>
          <p:cNvPr id="1437" name="Google Shape;1437;g2bb8c1dba0d_0_1649"/>
          <p:cNvSpPr txBox="1"/>
          <p:nvPr/>
        </p:nvSpPr>
        <p:spPr>
          <a:xfrm>
            <a:off x="5022785" y="6019800"/>
            <a:ext cx="6485100" cy="3693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Places 365 Dataset, Zhou et al. ‘17</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1" name="Shape 1441"/>
        <p:cNvGrpSpPr/>
        <p:nvPr/>
      </p:nvGrpSpPr>
      <p:grpSpPr>
        <a:xfrm>
          <a:off x="0" y="0"/>
          <a:ext cx="0" cy="0"/>
          <a:chOff x="0" y="0"/>
          <a:chExt cx="0" cy="0"/>
        </a:xfrm>
      </p:grpSpPr>
      <p:sp>
        <p:nvSpPr>
          <p:cNvPr id="1442" name="Google Shape;1442;g2bb8c1dba0d_0_1669"/>
          <p:cNvSpPr txBox="1"/>
          <p:nvPr>
            <p:ph type="title"/>
          </p:nvPr>
        </p:nvSpPr>
        <p:spPr>
          <a:xfrm>
            <a:off x="711200" y="0"/>
            <a:ext cx="11074500" cy="838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New detection benchmark: COCO (2014)</a:t>
            </a:r>
            <a:endParaRPr/>
          </a:p>
        </p:txBody>
      </p:sp>
      <p:sp>
        <p:nvSpPr>
          <p:cNvPr id="1443" name="Google Shape;1443;g2bb8c1dba0d_0_1669"/>
          <p:cNvSpPr/>
          <p:nvPr/>
        </p:nvSpPr>
        <p:spPr>
          <a:xfrm>
            <a:off x="812800" y="5766137"/>
            <a:ext cx="10363200" cy="1015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J. Huang et al., </a:t>
            </a:r>
            <a:r>
              <a:rPr b="0" i="0" lang="en-US" sz="2000" u="sng" cap="none" strike="noStrike">
                <a:solidFill>
                  <a:schemeClr val="dk1"/>
                </a:solidFill>
                <a:latin typeface="Arial"/>
                <a:ea typeface="Arial"/>
                <a:cs typeface="Arial"/>
                <a:sym typeface="Arial"/>
                <a:hlinkClick r:id="rId3">
                  <a:extLst>
                    <a:ext uri="{A12FA001-AC4F-418D-AE19-62706E023703}">
                      <ahyp:hlinkClr val="tx"/>
                    </a:ext>
                  </a:extLst>
                </a:hlinkClick>
              </a:rPr>
              <a:t>Speed/accuracy trade-offs for modern convolutional object detectors</a:t>
            </a:r>
            <a:r>
              <a:rPr b="0" i="0" lang="en-US" sz="2000" u="none" cap="none" strike="noStrike">
                <a:solidFill>
                  <a:schemeClr val="dk1"/>
                </a:solidFill>
                <a:latin typeface="Arial"/>
                <a:ea typeface="Arial"/>
                <a:cs typeface="Arial"/>
                <a:sym typeface="Arial"/>
              </a:rPr>
              <a:t>, CVPR 2017</a:t>
            </a:r>
            <a:endParaRPr b="0" i="0" sz="1400" u="none" cap="none" strike="noStrike">
              <a:solidFill>
                <a:srgbClr val="000000"/>
              </a:solidFill>
              <a:latin typeface="Arial"/>
              <a:ea typeface="Arial"/>
              <a:cs typeface="Arial"/>
              <a:sym typeface="Arial"/>
            </a:endParaRPr>
          </a:p>
        </p:txBody>
      </p:sp>
      <p:pic>
        <p:nvPicPr>
          <p:cNvPr descr="Screen Shot 2018-04-18 at 3.19.04 PM.png" id="1444" name="Google Shape;1444;g2bb8c1dba0d_0_1669"/>
          <p:cNvPicPr preferRelativeResize="0"/>
          <p:nvPr/>
        </p:nvPicPr>
        <p:blipFill rotWithShape="1">
          <a:blip r:embed="rId4">
            <a:alphaModFix/>
          </a:blip>
          <a:srcRect b="0" l="0" r="0" t="0"/>
          <a:stretch/>
        </p:blipFill>
        <p:spPr>
          <a:xfrm>
            <a:off x="711200" y="938623"/>
            <a:ext cx="8001001" cy="4776377"/>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8" name="Shape 1448"/>
        <p:cNvGrpSpPr/>
        <p:nvPr/>
      </p:nvGrpSpPr>
      <p:grpSpPr>
        <a:xfrm>
          <a:off x="0" y="0"/>
          <a:ext cx="0" cy="0"/>
          <a:chOff x="0" y="0"/>
          <a:chExt cx="0" cy="0"/>
        </a:xfrm>
      </p:grpSpPr>
      <p:pic>
        <p:nvPicPr>
          <p:cNvPr id="1449" name="Google Shape;1449;g2bb8c1dba0d_0_1675"/>
          <p:cNvPicPr preferRelativeResize="0"/>
          <p:nvPr/>
        </p:nvPicPr>
        <p:blipFill rotWithShape="1">
          <a:blip r:embed="rId3">
            <a:alphaModFix/>
          </a:blip>
          <a:srcRect b="0" l="0" r="0" t="0"/>
          <a:stretch/>
        </p:blipFill>
        <p:spPr>
          <a:xfrm>
            <a:off x="709568" y="394823"/>
            <a:ext cx="8312727" cy="5816846"/>
          </a:xfrm>
          <a:prstGeom prst="rect">
            <a:avLst/>
          </a:prstGeom>
          <a:noFill/>
          <a:ln>
            <a:noFill/>
          </a:ln>
        </p:spPr>
      </p:pic>
      <p:sp>
        <p:nvSpPr>
          <p:cNvPr id="1450" name="Google Shape;1450;g2bb8c1dba0d_0_1675"/>
          <p:cNvSpPr txBox="1"/>
          <p:nvPr>
            <p:ph type="title"/>
          </p:nvPr>
        </p:nvSpPr>
        <p:spPr>
          <a:xfrm>
            <a:off x="838200" y="-358588"/>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What’s It Good For?</a:t>
            </a:r>
            <a:endParaRPr/>
          </a:p>
        </p:txBody>
      </p:sp>
      <p:sp>
        <p:nvSpPr>
          <p:cNvPr id="1451" name="Google Shape;1451;g2bb8c1dba0d_0_1675"/>
          <p:cNvSpPr/>
          <p:nvPr/>
        </p:nvSpPr>
        <p:spPr>
          <a:xfrm>
            <a:off x="155387" y="6211669"/>
            <a:ext cx="12192000" cy="646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Z. Zhou, G. Hassena, B.C. Weeks, D.F. Fouhey. </a:t>
            </a:r>
            <a:r>
              <a:rPr b="0" i="1" lang="en-US" sz="1200" u="none" cap="none" strike="noStrike">
                <a:solidFill>
                  <a:srgbClr val="000000"/>
                </a:solidFill>
                <a:latin typeface="Arial"/>
                <a:ea typeface="Arial"/>
                <a:cs typeface="Arial"/>
                <a:sym typeface="Arial"/>
              </a:rPr>
              <a:t>Quantifying Bird Skeletons. </a:t>
            </a:r>
            <a:r>
              <a:rPr b="0" i="0" lang="en-US" sz="1200" u="none" cap="none" strike="noStrike">
                <a:solidFill>
                  <a:srgbClr val="000000"/>
                </a:solidFill>
                <a:latin typeface="Arial"/>
                <a:ea typeface="Arial"/>
                <a:cs typeface="Arial"/>
                <a:sym typeface="Arial"/>
              </a:rPr>
              <a:t>CVPR Workshops, 2021.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B.C. Weeks, Z. Zhou, B.K. O'Brien, R. Darling, M. Dean, T. Dias, G. Hassena, M. Zhang, D.F. Fouhey. </a:t>
            </a:r>
            <a:r>
              <a:rPr b="0" i="1" lang="en-US" sz="1200" u="none" cap="none" strike="noStrike">
                <a:solidFill>
                  <a:srgbClr val="000000"/>
                </a:solidFill>
                <a:latin typeface="Arial"/>
                <a:ea typeface="Arial"/>
                <a:cs typeface="Arial"/>
                <a:sym typeface="Arial"/>
              </a:rPr>
              <a:t>A deep neural network for high throughput measurement of functional traits on museum skeletal specimens</a:t>
            </a:r>
            <a:r>
              <a:rPr b="0" i="0" lang="en-US" sz="1200" u="none" cap="none" strike="noStrike">
                <a:solidFill>
                  <a:srgbClr val="000000"/>
                </a:solidFill>
                <a:latin typeface="Arial"/>
                <a:ea typeface="Arial"/>
                <a:cs typeface="Arial"/>
                <a:sym typeface="Arial"/>
              </a:rPr>
              <a:t>. Methods in Ecology and Evolution, 2022. </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5" name="Shape 1455"/>
        <p:cNvGrpSpPr/>
        <p:nvPr/>
      </p:nvGrpSpPr>
      <p:grpSpPr>
        <a:xfrm>
          <a:off x="0" y="0"/>
          <a:ext cx="0" cy="0"/>
          <a:chOff x="0" y="0"/>
          <a:chExt cx="0" cy="0"/>
        </a:xfrm>
      </p:grpSpPr>
      <p:sp>
        <p:nvSpPr>
          <p:cNvPr id="1456" name="Google Shape;1456;g2bb8c1dba0d_0_1681"/>
          <p:cNvSpPr txBox="1"/>
          <p:nvPr>
            <p:ph type="title"/>
          </p:nvPr>
        </p:nvSpPr>
        <p:spPr>
          <a:xfrm>
            <a:off x="838200" y="-358588"/>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800"/>
              <a:buFont typeface="Arial"/>
              <a:buNone/>
            </a:pPr>
            <a:r>
              <a:rPr lang="en-US"/>
              <a:t>What’s It Good For?</a:t>
            </a:r>
            <a:endParaRPr/>
          </a:p>
        </p:txBody>
      </p:sp>
      <p:pic>
        <p:nvPicPr>
          <p:cNvPr id="1457" name="Google Shape;1457;g2bb8c1dba0d_0_1681"/>
          <p:cNvPicPr preferRelativeResize="0"/>
          <p:nvPr/>
        </p:nvPicPr>
        <p:blipFill rotWithShape="1">
          <a:blip r:embed="rId3">
            <a:alphaModFix/>
          </a:blip>
          <a:srcRect b="0" l="50000" r="0" t="0"/>
          <a:stretch/>
        </p:blipFill>
        <p:spPr>
          <a:xfrm>
            <a:off x="11269" y="1942097"/>
            <a:ext cx="6240121" cy="3554821"/>
          </a:xfrm>
          <a:prstGeom prst="rect">
            <a:avLst/>
          </a:prstGeom>
          <a:noFill/>
          <a:ln>
            <a:noFill/>
          </a:ln>
        </p:spPr>
      </p:pic>
      <p:sp>
        <p:nvSpPr>
          <p:cNvPr id="1458" name="Google Shape;1458;g2bb8c1dba0d_0_1681"/>
          <p:cNvSpPr txBox="1"/>
          <p:nvPr/>
        </p:nvSpPr>
        <p:spPr>
          <a:xfrm>
            <a:off x="6096000" y="1903624"/>
            <a:ext cx="5967600" cy="3484200"/>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chemeClr val="dk1"/>
              </a:buClr>
              <a:buSzPts val="2600"/>
              <a:buFont typeface="Arial"/>
              <a:buChar char="•"/>
            </a:pPr>
            <a:r>
              <a:rPr b="0" i="0" lang="en-US" sz="2600" u="none" cap="none" strike="noStrike">
                <a:solidFill>
                  <a:schemeClr val="dk1"/>
                </a:solidFill>
                <a:latin typeface="Arial"/>
                <a:ea typeface="Arial"/>
                <a:cs typeface="Arial"/>
                <a:sym typeface="Arial"/>
              </a:rPr>
              <a:t>UM has 25K bird skeletons but measuring bird bones by hand is hard and tedious.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2600"/>
              <a:buFont typeface="Arial"/>
              <a:buChar char="•"/>
            </a:pPr>
            <a:r>
              <a:rPr b="0" i="0" lang="en-US" sz="2600" u="none" cap="none" strike="noStrike">
                <a:solidFill>
                  <a:schemeClr val="dk1"/>
                </a:solidFill>
                <a:latin typeface="Arial"/>
                <a:ea typeface="Arial"/>
                <a:cs typeface="Arial"/>
                <a:sym typeface="Arial"/>
              </a:rPr>
              <a:t>New solution: dump the bones, take a picture, use a deep network.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2600"/>
              <a:buFont typeface="Arial"/>
              <a:buChar char="•"/>
            </a:pPr>
            <a:r>
              <a:rPr b="0" i="0" lang="en-US" sz="2600" u="none" cap="none" strike="noStrike">
                <a:solidFill>
                  <a:schemeClr val="dk1"/>
                </a:solidFill>
                <a:latin typeface="Arial"/>
                <a:ea typeface="Arial"/>
                <a:cs typeface="Arial"/>
                <a:sym typeface="Arial"/>
              </a:rPr>
              <a:t>Now enabling testing hypotheses about birds at huge scale</a:t>
            </a:r>
            <a:endParaRPr b="0" i="0" sz="1400" u="none" cap="none" strike="noStrike">
              <a:solidFill>
                <a:srgbClr val="000000"/>
              </a:solidFill>
              <a:latin typeface="Arial"/>
              <a:ea typeface="Arial"/>
              <a:cs typeface="Arial"/>
              <a:sym typeface="Arial"/>
            </a:endParaRPr>
          </a:p>
          <a:p>
            <a:pPr indent="-292100" lvl="0" marL="457200" marR="0" rtl="0" algn="l">
              <a:lnSpc>
                <a:spcPct val="100000"/>
              </a:lnSpc>
              <a:spcBef>
                <a:spcPts val="0"/>
              </a:spcBef>
              <a:spcAft>
                <a:spcPts val="0"/>
              </a:spcAft>
              <a:buClr>
                <a:schemeClr val="dk1"/>
              </a:buClr>
              <a:buSzPts val="2600"/>
              <a:buFont typeface="Arial"/>
              <a:buNone/>
            </a:pPr>
            <a:r>
              <a:t/>
            </a:r>
            <a:endParaRPr b="0" i="0" sz="2600" u="none" cap="none" strike="noStrike">
              <a:solidFill>
                <a:schemeClr val="dk1"/>
              </a:solidFill>
              <a:latin typeface="Arial"/>
              <a:ea typeface="Arial"/>
              <a:cs typeface="Arial"/>
              <a:sym typeface="Arial"/>
            </a:endParaRPr>
          </a:p>
          <a:p>
            <a:pPr indent="-292100" lvl="0" marL="457200" marR="0" rtl="0" algn="l">
              <a:lnSpc>
                <a:spcPct val="100000"/>
              </a:lnSpc>
              <a:spcBef>
                <a:spcPts val="0"/>
              </a:spcBef>
              <a:spcAft>
                <a:spcPts val="0"/>
              </a:spcAft>
              <a:buClr>
                <a:schemeClr val="dk1"/>
              </a:buClr>
              <a:buSzPts val="2600"/>
              <a:buFont typeface="Arial"/>
              <a:buNone/>
            </a:pPr>
            <a:r>
              <a:t/>
            </a:r>
            <a:endParaRPr b="0" i="0" sz="2600" u="none" cap="none" strike="noStrike">
              <a:solidFill>
                <a:schemeClr val="dk1"/>
              </a:solidFill>
              <a:latin typeface="Arial"/>
              <a:ea typeface="Arial"/>
              <a:cs typeface="Arial"/>
              <a:sym typeface="Arial"/>
            </a:endParaRPr>
          </a:p>
        </p:txBody>
      </p:sp>
      <p:sp>
        <p:nvSpPr>
          <p:cNvPr id="1459" name="Google Shape;1459;g2bb8c1dba0d_0_1681"/>
          <p:cNvSpPr/>
          <p:nvPr/>
        </p:nvSpPr>
        <p:spPr>
          <a:xfrm>
            <a:off x="155387" y="6211669"/>
            <a:ext cx="12192000" cy="646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Z. Zhou, G. Hassena, B.C. Weeks, D.F. Fouhey. </a:t>
            </a:r>
            <a:r>
              <a:rPr b="0" i="1" lang="en-US" sz="1200" u="none" cap="none" strike="noStrike">
                <a:solidFill>
                  <a:srgbClr val="000000"/>
                </a:solidFill>
                <a:latin typeface="Arial"/>
                <a:ea typeface="Arial"/>
                <a:cs typeface="Arial"/>
                <a:sym typeface="Arial"/>
              </a:rPr>
              <a:t>Quantifying Bird Skeletons. </a:t>
            </a:r>
            <a:r>
              <a:rPr b="0" i="0" lang="en-US" sz="1200" u="none" cap="none" strike="noStrike">
                <a:solidFill>
                  <a:srgbClr val="000000"/>
                </a:solidFill>
                <a:latin typeface="Arial"/>
                <a:ea typeface="Arial"/>
                <a:cs typeface="Arial"/>
                <a:sym typeface="Arial"/>
              </a:rPr>
              <a:t>CVPR Workshops, 2021.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B.C. Weeks, Z. Zhou, B.K. O'Brien, R. Darling, M. Dean, T. Dias, G. Hassena, M. Zhang, D.F. Fouhey. </a:t>
            </a:r>
            <a:r>
              <a:rPr b="0" i="1" lang="en-US" sz="1200" u="none" cap="none" strike="noStrike">
                <a:solidFill>
                  <a:srgbClr val="000000"/>
                </a:solidFill>
                <a:latin typeface="Arial"/>
                <a:ea typeface="Arial"/>
                <a:cs typeface="Arial"/>
                <a:sym typeface="Arial"/>
              </a:rPr>
              <a:t>A deep neural network for high throughput measurement of functional traits on museum skeletal specimens</a:t>
            </a:r>
            <a:r>
              <a:rPr b="0" i="0" lang="en-US" sz="1200" u="none" cap="none" strike="noStrike">
                <a:solidFill>
                  <a:srgbClr val="000000"/>
                </a:solidFill>
                <a:latin typeface="Arial"/>
                <a:ea typeface="Arial"/>
                <a:cs typeface="Arial"/>
                <a:sym typeface="Arial"/>
              </a:rPr>
              <a:t>. Methods in Ecology and Evolution, 2022. </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3" name="Shape 1463"/>
        <p:cNvGrpSpPr/>
        <p:nvPr/>
      </p:nvGrpSpPr>
      <p:grpSpPr>
        <a:xfrm>
          <a:off x="0" y="0"/>
          <a:ext cx="0" cy="0"/>
          <a:chOff x="0" y="0"/>
          <a:chExt cx="0" cy="0"/>
        </a:xfrm>
      </p:grpSpPr>
      <p:sp>
        <p:nvSpPr>
          <p:cNvPr id="1464" name="Google Shape;1464;p6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
        <p:nvSpPr>
          <p:cNvPr id="1465" name="Google Shape;1465;p67"/>
          <p:cNvSpPr txBox="1"/>
          <p:nvPr>
            <p:ph idx="1" type="body"/>
          </p:nvPr>
        </p:nvSpPr>
        <p:spPr>
          <a:xfrm>
            <a:off x="79325" y="1993425"/>
            <a:ext cx="11955600" cy="4362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800"/>
              <a:buNone/>
            </a:pPr>
            <a:r>
              <a:t/>
            </a:r>
            <a:endParaRPr sz="2000">
              <a:latin typeface="Proxima Nova"/>
              <a:ea typeface="Proxima Nova"/>
              <a:cs typeface="Proxima Nova"/>
              <a:sym typeface="Proxima Nova"/>
            </a:endParaRPr>
          </a:p>
          <a:p>
            <a:pPr indent="0" lvl="0" marL="0" rtl="0" algn="l">
              <a:lnSpc>
                <a:spcPct val="90000"/>
              </a:lnSpc>
              <a:spcBef>
                <a:spcPts val="0"/>
              </a:spcBef>
              <a:spcAft>
                <a:spcPts val="0"/>
              </a:spcAft>
              <a:buSzPts val="2800"/>
              <a:buNone/>
            </a:pPr>
            <a:r>
              <a:rPr lang="en-US" sz="2000">
                <a:latin typeface="Proxima Nova"/>
                <a:ea typeface="Proxima Nova"/>
                <a:cs typeface="Proxima Nova"/>
                <a:sym typeface="Proxima Nova"/>
              </a:rPr>
              <a:t>(1)  Computer Vision: Algorithms and Applications, 2nd ed ( Text Book-1) , Richard Szeliski ; Section 6.3</a:t>
            </a:r>
            <a:endParaRPr sz="2000">
              <a:latin typeface="Proxima Nova"/>
              <a:ea typeface="Proxima Nova"/>
              <a:cs typeface="Proxima Nova"/>
              <a:sym typeface="Proxima Nova"/>
            </a:endParaRPr>
          </a:p>
          <a:p>
            <a:pPr indent="0" lvl="0" marL="0" rtl="0" algn="l">
              <a:lnSpc>
                <a:spcPct val="90000"/>
              </a:lnSpc>
              <a:spcBef>
                <a:spcPts val="0"/>
              </a:spcBef>
              <a:spcAft>
                <a:spcPts val="0"/>
              </a:spcAft>
              <a:buSzPts val="2800"/>
              <a:buNone/>
            </a:pPr>
            <a:r>
              <a:rPr lang="en-US" sz="2000">
                <a:latin typeface="Proxima Nova"/>
                <a:ea typeface="Proxima Nova"/>
                <a:cs typeface="Proxima Nova"/>
                <a:sym typeface="Proxima Nova"/>
              </a:rPr>
              <a:t>(2) </a:t>
            </a:r>
            <a:r>
              <a:rPr lang="en-US" sz="2000" u="sng">
                <a:solidFill>
                  <a:schemeClr val="hlink"/>
                </a:solidFill>
                <a:latin typeface="Proxima Nova"/>
                <a:ea typeface="Proxima Nova"/>
                <a:cs typeface="Proxima Nova"/>
                <a:sym typeface="Proxima Nova"/>
                <a:hlinkClick r:id="rId3"/>
              </a:rPr>
              <a:t>Object Detection with Deep Learning: A Review</a:t>
            </a:r>
            <a:r>
              <a:rPr lang="en-US" sz="2000">
                <a:latin typeface="Proxima Nova"/>
                <a:ea typeface="Proxima Nova"/>
                <a:cs typeface="Proxima Nova"/>
                <a:sym typeface="Proxima Nova"/>
              </a:rPr>
              <a:t> [ IEEE Transactions on NN &amp; LS	)</a:t>
            </a:r>
            <a:endParaRPr sz="2000">
              <a:latin typeface="Proxima Nova"/>
              <a:ea typeface="Proxima Nova"/>
              <a:cs typeface="Proxima Nova"/>
              <a:sym typeface="Proxima Nova"/>
            </a:endParaRPr>
          </a:p>
          <a:p>
            <a:pPr indent="0" lvl="0" marL="0" rtl="0" algn="l">
              <a:lnSpc>
                <a:spcPct val="90000"/>
              </a:lnSpc>
              <a:spcBef>
                <a:spcPts val="0"/>
              </a:spcBef>
              <a:spcAft>
                <a:spcPts val="0"/>
              </a:spcAft>
              <a:buSzPts val="2800"/>
              <a:buNone/>
            </a:pPr>
            <a:r>
              <a:t/>
            </a:r>
            <a:endParaRPr sz="2000">
              <a:latin typeface="Proxima Nova"/>
              <a:ea typeface="Proxima Nova"/>
              <a:cs typeface="Proxima Nova"/>
              <a:sym typeface="Proxima Nova"/>
            </a:endParaRPr>
          </a:p>
          <a:p>
            <a:pPr indent="0" lvl="0" marL="0" rtl="0" algn="l">
              <a:lnSpc>
                <a:spcPct val="90000"/>
              </a:lnSpc>
              <a:spcBef>
                <a:spcPts val="0"/>
              </a:spcBef>
              <a:spcAft>
                <a:spcPts val="0"/>
              </a:spcAft>
              <a:buSzPts val="2800"/>
              <a:buNone/>
            </a:pPr>
            <a:r>
              <a:rPr lang="en-US" sz="2000">
                <a:latin typeface="Proxima Nova"/>
                <a:ea typeface="Proxima Nova"/>
                <a:cs typeface="Proxima Nova"/>
                <a:sym typeface="Proxima Nova"/>
              </a:rPr>
              <a:t>(3) </a:t>
            </a:r>
            <a:r>
              <a:rPr lang="en-US" sz="2000" u="sng">
                <a:solidFill>
                  <a:schemeClr val="hlink"/>
                </a:solidFill>
                <a:latin typeface="Proxima Nova"/>
                <a:ea typeface="Proxima Nova"/>
                <a:cs typeface="Proxima Nova"/>
                <a:sym typeface="Proxima Nova"/>
                <a:hlinkClick r:id="rId4"/>
              </a:rPr>
              <a:t>Chapter -10 – Object Detection, Yolo and their Implementation</a:t>
            </a:r>
            <a:endParaRPr sz="2000">
              <a:latin typeface="Proxima Nova"/>
              <a:ea typeface="Proxima Nova"/>
              <a:cs typeface="Proxima Nova"/>
              <a:sym typeface="Proxima Nova"/>
            </a:endParaRPr>
          </a:p>
          <a:p>
            <a:pPr indent="0" lvl="0" marL="0" rtl="0" algn="l">
              <a:lnSpc>
                <a:spcPct val="90000"/>
              </a:lnSpc>
              <a:spcBef>
                <a:spcPts val="0"/>
              </a:spcBef>
              <a:spcAft>
                <a:spcPts val="0"/>
              </a:spcAft>
              <a:buSzPts val="2800"/>
              <a:buNone/>
            </a:pPr>
            <a:r>
              <a:t/>
            </a:r>
            <a:endParaRPr sz="2000">
              <a:latin typeface="Proxima Nova"/>
              <a:ea typeface="Proxima Nova"/>
              <a:cs typeface="Proxima Nova"/>
              <a:sym typeface="Proxima Nova"/>
            </a:endParaRPr>
          </a:p>
          <a:p>
            <a:pPr indent="0" lvl="0" marL="0" rtl="0" algn="l">
              <a:lnSpc>
                <a:spcPct val="90000"/>
              </a:lnSpc>
              <a:spcBef>
                <a:spcPts val="0"/>
              </a:spcBef>
              <a:spcAft>
                <a:spcPts val="0"/>
              </a:spcAft>
              <a:buSzPts val="2800"/>
              <a:buNone/>
            </a:pPr>
            <a:r>
              <a:rPr lang="en-US" sz="2000">
                <a:latin typeface="Proxima Nova"/>
                <a:ea typeface="Proxima Nova"/>
                <a:cs typeface="Proxima Nova"/>
                <a:sym typeface="Proxima Nova"/>
              </a:rPr>
              <a:t>(4) R-CNN paper - </a:t>
            </a:r>
            <a:r>
              <a:rPr lang="en-US" sz="2000" u="sng">
                <a:solidFill>
                  <a:schemeClr val="hlink"/>
                </a:solidFill>
                <a:latin typeface="Proxima Nova"/>
                <a:ea typeface="Proxima Nova"/>
                <a:cs typeface="Proxima Nova"/>
                <a:sym typeface="Proxima Nova"/>
                <a:hlinkClick r:id="rId5"/>
              </a:rPr>
              <a:t>https://arxiv.org/pdf/1311.2524</a:t>
            </a:r>
            <a:br>
              <a:rPr lang="en-US" sz="2000">
                <a:latin typeface="Proxima Nova"/>
                <a:ea typeface="Proxima Nova"/>
                <a:cs typeface="Proxima Nova"/>
                <a:sym typeface="Proxima Nova"/>
              </a:rPr>
            </a:br>
            <a:endParaRPr sz="2000">
              <a:latin typeface="Proxima Nova"/>
              <a:ea typeface="Proxima Nova"/>
              <a:cs typeface="Proxima Nova"/>
              <a:sym typeface="Proxima Nova"/>
            </a:endParaRPr>
          </a:p>
          <a:p>
            <a:pPr indent="0" lvl="0" marL="0" rtl="0" algn="l">
              <a:lnSpc>
                <a:spcPct val="90000"/>
              </a:lnSpc>
              <a:spcBef>
                <a:spcPts val="0"/>
              </a:spcBef>
              <a:spcAft>
                <a:spcPts val="0"/>
              </a:spcAft>
              <a:buSzPts val="2800"/>
              <a:buNone/>
            </a:pPr>
            <a:r>
              <a:rPr lang="en-US" sz="2000">
                <a:latin typeface="Proxima Nova"/>
                <a:ea typeface="Proxima Nova"/>
                <a:cs typeface="Proxima Nova"/>
                <a:sym typeface="Proxima Nova"/>
              </a:rPr>
              <a:t>(5) Fast R-CNN - </a:t>
            </a:r>
            <a:r>
              <a:rPr lang="en-US" sz="2000" u="sng">
                <a:solidFill>
                  <a:schemeClr val="hlink"/>
                </a:solidFill>
                <a:latin typeface="Proxima Nova"/>
                <a:ea typeface="Proxima Nova"/>
                <a:cs typeface="Proxima Nova"/>
                <a:sym typeface="Proxima Nova"/>
                <a:hlinkClick r:id="rId6"/>
              </a:rPr>
              <a:t>https://arxiv.org/pdf/1504.08083</a:t>
            </a:r>
            <a:endParaRPr sz="2000">
              <a:latin typeface="Proxima Nova"/>
              <a:ea typeface="Proxima Nova"/>
              <a:cs typeface="Proxima Nova"/>
              <a:sym typeface="Proxima Nova"/>
            </a:endParaRPr>
          </a:p>
          <a:p>
            <a:pPr indent="0" lvl="0" marL="0" rtl="0" algn="l">
              <a:lnSpc>
                <a:spcPct val="90000"/>
              </a:lnSpc>
              <a:spcBef>
                <a:spcPts val="0"/>
              </a:spcBef>
              <a:spcAft>
                <a:spcPts val="0"/>
              </a:spcAft>
              <a:buSzPts val="2800"/>
              <a:buNone/>
            </a:pPr>
            <a:r>
              <a:t/>
            </a:r>
            <a:endParaRPr sz="2000">
              <a:latin typeface="Proxima Nova"/>
              <a:ea typeface="Proxima Nova"/>
              <a:cs typeface="Proxima Nova"/>
              <a:sym typeface="Proxima Nova"/>
            </a:endParaRPr>
          </a:p>
          <a:p>
            <a:pPr indent="0" lvl="0" marL="0" rtl="0" algn="l">
              <a:lnSpc>
                <a:spcPct val="90000"/>
              </a:lnSpc>
              <a:spcBef>
                <a:spcPts val="0"/>
              </a:spcBef>
              <a:spcAft>
                <a:spcPts val="0"/>
              </a:spcAft>
              <a:buSzPts val="2800"/>
              <a:buNone/>
            </a:pPr>
            <a:r>
              <a:rPr lang="en-US" sz="2000">
                <a:latin typeface="Proxima Nova"/>
                <a:ea typeface="Proxima Nova"/>
                <a:cs typeface="Proxima Nova"/>
                <a:sym typeface="Proxima Nova"/>
              </a:rPr>
              <a:t>(6) Faster R-CNN - </a:t>
            </a:r>
            <a:r>
              <a:rPr lang="en-US" sz="2000" u="sng">
                <a:solidFill>
                  <a:schemeClr val="hlink"/>
                </a:solidFill>
                <a:latin typeface="Proxima Nova"/>
                <a:ea typeface="Proxima Nova"/>
                <a:cs typeface="Proxima Nova"/>
                <a:sym typeface="Proxima Nova"/>
                <a:hlinkClick r:id="rId7"/>
              </a:rPr>
              <a:t>https://arxiv.org/pdf/1506.01497</a:t>
            </a:r>
            <a:r>
              <a:rPr lang="en-US" sz="2000">
                <a:latin typeface="Proxima Nova"/>
                <a:ea typeface="Proxima Nova"/>
                <a:cs typeface="Proxima Nova"/>
                <a:sym typeface="Proxima Nova"/>
              </a:rPr>
              <a:t> </a:t>
            </a:r>
            <a:endParaRPr sz="2000">
              <a:latin typeface="Proxima Nova"/>
              <a:ea typeface="Proxima Nova"/>
              <a:cs typeface="Proxima Nova"/>
              <a:sym typeface="Proxima Nova"/>
            </a:endParaRPr>
          </a:p>
          <a:p>
            <a:pPr indent="0" lvl="0" marL="0" rtl="0" algn="l">
              <a:lnSpc>
                <a:spcPct val="90000"/>
              </a:lnSpc>
              <a:spcBef>
                <a:spcPts val="0"/>
              </a:spcBef>
              <a:spcAft>
                <a:spcPts val="0"/>
              </a:spcAft>
              <a:buSzPts val="2800"/>
              <a:buNone/>
            </a:pPr>
            <a:r>
              <a:t/>
            </a:r>
            <a:endParaRPr sz="2000">
              <a:latin typeface="Proxima Nova"/>
              <a:ea typeface="Proxima Nova"/>
              <a:cs typeface="Proxima Nova"/>
              <a:sym typeface="Proxima Nova"/>
            </a:endParaRPr>
          </a:p>
          <a:p>
            <a:pPr indent="0" lvl="0" marL="0" rtl="0" algn="l">
              <a:lnSpc>
                <a:spcPct val="90000"/>
              </a:lnSpc>
              <a:spcBef>
                <a:spcPts val="0"/>
              </a:spcBef>
              <a:spcAft>
                <a:spcPts val="0"/>
              </a:spcAft>
              <a:buSzPts val="2800"/>
              <a:buNone/>
            </a:pPr>
            <a:r>
              <a:t/>
            </a:r>
            <a:endParaRPr sz="2000">
              <a:latin typeface="Proxima Nova"/>
              <a:ea typeface="Proxima Nova"/>
              <a:cs typeface="Proxima Nova"/>
              <a:sym typeface="Proxima Nova"/>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9" name="Shape 1469"/>
        <p:cNvGrpSpPr/>
        <p:nvPr/>
      </p:nvGrpSpPr>
      <p:grpSpPr>
        <a:xfrm>
          <a:off x="0" y="0"/>
          <a:ext cx="0" cy="0"/>
          <a:chOff x="0" y="0"/>
          <a:chExt cx="0" cy="0"/>
        </a:xfrm>
      </p:grpSpPr>
      <p:sp>
        <p:nvSpPr>
          <p:cNvPr id="1470" name="Google Shape;1470;g24320ba2c05_0_0"/>
          <p:cNvSpPr txBox="1"/>
          <p:nvPr>
            <p:ph type="title"/>
          </p:nvPr>
        </p:nvSpPr>
        <p:spPr>
          <a:xfrm>
            <a:off x="4657724" y="2809875"/>
            <a:ext cx="6696000" cy="1909800"/>
          </a:xfrm>
          <a:prstGeom prst="rect">
            <a:avLst/>
          </a:prstGeom>
          <a:noFill/>
          <a:ln>
            <a:noFill/>
          </a:ln>
        </p:spPr>
        <p:txBody>
          <a:bodyPr anchorCtr="0" anchor="b" bIns="45700" lIns="91425" spcFirstLastPara="1" rIns="91425" wrap="square" tIns="45700">
            <a:normAutofit/>
          </a:bodyPr>
          <a:lstStyle/>
          <a:p>
            <a:pPr indent="0" lvl="0" marL="0" rtl="0" algn="r">
              <a:lnSpc>
                <a:spcPct val="90000"/>
              </a:lnSpc>
              <a:spcBef>
                <a:spcPts val="0"/>
              </a:spcBef>
              <a:spcAft>
                <a:spcPts val="0"/>
              </a:spcAft>
              <a:buClr>
                <a:schemeClr val="dk1"/>
              </a:buClr>
              <a:buSzPts val="3600"/>
              <a:buFont typeface="Calibri"/>
              <a:buNone/>
            </a:pPr>
            <a:br>
              <a:rPr lang="en-US" sz="3600"/>
            </a:br>
            <a:r>
              <a:rPr lang="en-US" sz="3600"/>
              <a:t>Thank you</a:t>
            </a:r>
            <a:endParaRPr sz="3600"/>
          </a:p>
        </p:txBody>
      </p:sp>
      <p:sp>
        <p:nvSpPr>
          <p:cNvPr id="1471" name="Google Shape;1471;g24320ba2c05_0_0"/>
          <p:cNvSpPr txBox="1"/>
          <p:nvPr>
            <p:ph idx="12" type="sldNum"/>
          </p:nvPr>
        </p:nvSpPr>
        <p:spPr>
          <a:xfrm>
            <a:off x="9658350" y="6356350"/>
            <a:ext cx="1695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My New Default Theme">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Custom 149">
      <a:dk1>
        <a:srgbClr val="000000"/>
      </a:dk1>
      <a:lt1>
        <a:srgbClr val="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2023-01-18T09:26:06Z</dcterms:created>
  <dc:creator>Vimal S P</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