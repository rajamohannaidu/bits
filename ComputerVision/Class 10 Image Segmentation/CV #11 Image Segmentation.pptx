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62"/>
  </p:notesMasterIdLst>
  <p:sldIdLst>
    <p:sldId id="256" r:id="rId3"/>
    <p:sldId id="319"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Lst>
  <p:sldSz cx="9144000" cy="6858000" type="screen4x3"/>
  <p:notesSz cx="10234613" cy="7104063"/>
  <p:embeddedFontLst>
    <p:embeddedFont>
      <p:font typeface="Comic Sans MS" panose="030F0702030302020204" pitchFamily="66" charset="0"/>
      <p:regular r:id="rId63"/>
      <p:bold r:id="rId64"/>
      <p:italic r:id="rId65"/>
      <p:boldItalic r:id="rId66"/>
    </p:embeddedFont>
    <p:embeddedFont>
      <p:font typeface="Noto Sans Symbols" panose="020B0604020202020204" charset="0"/>
      <p:regular r:id="rId67"/>
      <p:bold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9" roundtripDataSignature="AMtx7mgDwNBXXQRAbqe07RryiQ5etq3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440" y="2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fntdata"/><Relationship Id="rId68"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4.fntdata"/><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2.fntdata"/><Relationship Id="rId69" Type="http://customschemas.google.com/relationships/presentationmetadata" Target="meta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3.fntdata"/><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4428781" cy="353559"/>
          </a:xfrm>
          <a:prstGeom prst="rect">
            <a:avLst/>
          </a:prstGeom>
          <a:noFill/>
          <a:ln>
            <a:noFill/>
          </a:ln>
        </p:spPr>
        <p:txBody>
          <a:bodyPr spcFirstLastPara="1" wrap="square" lIns="95300" tIns="47650" rIns="95300" bIns="4765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5761413" y="0"/>
            <a:ext cx="4428781" cy="353559"/>
          </a:xfrm>
          <a:prstGeom prst="rect">
            <a:avLst/>
          </a:prstGeom>
          <a:noFill/>
          <a:ln>
            <a:noFill/>
          </a:ln>
        </p:spPr>
        <p:txBody>
          <a:bodyPr spcFirstLastPara="1" wrap="square" lIns="95300" tIns="47650" rIns="95300" bIns="4765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6777521"/>
            <a:ext cx="4428781" cy="353559"/>
          </a:xfrm>
          <a:prstGeom prst="rect">
            <a:avLst/>
          </a:prstGeom>
          <a:noFill/>
          <a:ln>
            <a:noFill/>
          </a:ln>
        </p:spPr>
        <p:txBody>
          <a:bodyPr spcFirstLastPara="1" wrap="square" lIns="95300" tIns="47650" rIns="95300" bIns="4765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8fa4b45176_0_184:notes"/>
          <p:cNvSpPr>
            <a:spLocks noGrp="1" noRot="1" noChangeAspect="1"/>
          </p:cNvSpPr>
          <p:nvPr>
            <p:ph type="sldImg" idx="2"/>
          </p:nvPr>
        </p:nvSpPr>
        <p:spPr>
          <a:xfrm>
            <a:off x="3517900" y="887413"/>
            <a:ext cx="3198813" cy="23987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8fa4b45176_0_184:notes"/>
          <p:cNvSpPr txBox="1">
            <a:spLocks noGrp="1"/>
          </p:cNvSpPr>
          <p:nvPr>
            <p:ph type="body" idx="1"/>
          </p:nvPr>
        </p:nvSpPr>
        <p:spPr>
          <a:xfrm>
            <a:off x="1023460" y="3418824"/>
            <a:ext cx="8187600" cy="2797200"/>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265" name="Google Shape;265;g28fa4b45176_0_184:notes"/>
          <p:cNvSpPr txBox="1">
            <a:spLocks noGrp="1"/>
          </p:cNvSpPr>
          <p:nvPr>
            <p:ph type="sldNum" idx="12"/>
          </p:nvPr>
        </p:nvSpPr>
        <p:spPr>
          <a:xfrm>
            <a:off x="5797238" y="6747615"/>
            <a:ext cx="4434900" cy="356400"/>
          </a:xfrm>
          <a:prstGeom prst="rect">
            <a:avLst/>
          </a:prstGeom>
        </p:spPr>
        <p:txBody>
          <a:bodyPr spcFirstLastPara="1" wrap="square" lIns="95300" tIns="47650" rIns="95300" bIns="4765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273" name="Google Shape;273;p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8fa4b45176_0_696:notes"/>
          <p:cNvSpPr>
            <a:spLocks noGrp="1" noRot="1" noChangeAspect="1"/>
          </p:cNvSpPr>
          <p:nvPr>
            <p:ph type="sldImg" idx="2"/>
          </p:nvPr>
        </p:nvSpPr>
        <p:spPr>
          <a:xfrm>
            <a:off x="3328988" y="531813"/>
            <a:ext cx="3533700" cy="2651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8fa4b45176_0_696:notes"/>
          <p:cNvSpPr txBox="1">
            <a:spLocks noGrp="1"/>
          </p:cNvSpPr>
          <p:nvPr>
            <p:ph type="body" idx="1"/>
          </p:nvPr>
        </p:nvSpPr>
        <p:spPr>
          <a:xfrm>
            <a:off x="1328190" y="3359395"/>
            <a:ext cx="7533900" cy="3240900"/>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281" name="Google Shape;281;g28fa4b45176_0_696:notes"/>
          <p:cNvSpPr txBox="1">
            <a:spLocks noGrp="1"/>
          </p:cNvSpPr>
          <p:nvPr>
            <p:ph type="sldNum" idx="12"/>
          </p:nvPr>
        </p:nvSpPr>
        <p:spPr>
          <a:xfrm>
            <a:off x="5761413" y="6777521"/>
            <a:ext cx="4428900" cy="353700"/>
          </a:xfrm>
          <a:prstGeom prst="rect">
            <a:avLst/>
          </a:prstGeom>
        </p:spPr>
        <p:txBody>
          <a:bodyPr spcFirstLastPara="1" wrap="square" lIns="95300" tIns="47650" rIns="95300" bIns="4765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287" name="Google Shape;287;p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8fa4b45176_0_713:notes"/>
          <p:cNvSpPr>
            <a:spLocks noGrp="1" noRot="1" noChangeAspect="1"/>
          </p:cNvSpPr>
          <p:nvPr>
            <p:ph type="sldImg" idx="2"/>
          </p:nvPr>
        </p:nvSpPr>
        <p:spPr>
          <a:xfrm>
            <a:off x="3328988" y="531813"/>
            <a:ext cx="3533700" cy="2651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8fa4b45176_0_713:notes"/>
          <p:cNvSpPr txBox="1">
            <a:spLocks noGrp="1"/>
          </p:cNvSpPr>
          <p:nvPr>
            <p:ph type="body" idx="1"/>
          </p:nvPr>
        </p:nvSpPr>
        <p:spPr>
          <a:xfrm>
            <a:off x="1328190" y="3359395"/>
            <a:ext cx="7533900" cy="3240900"/>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296" name="Google Shape;296;g28fa4b45176_0_713:notes"/>
          <p:cNvSpPr txBox="1">
            <a:spLocks noGrp="1"/>
          </p:cNvSpPr>
          <p:nvPr>
            <p:ph type="sldNum" idx="12"/>
          </p:nvPr>
        </p:nvSpPr>
        <p:spPr>
          <a:xfrm>
            <a:off x="5761413" y="6777521"/>
            <a:ext cx="4428900" cy="353700"/>
          </a:xfrm>
          <a:prstGeom prst="rect">
            <a:avLst/>
          </a:prstGeom>
        </p:spPr>
        <p:txBody>
          <a:bodyPr spcFirstLastPara="1" wrap="square" lIns="95300" tIns="47650" rIns="95300" bIns="4765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8fa4b45176_0_706:notes"/>
          <p:cNvSpPr>
            <a:spLocks noGrp="1" noRot="1" noChangeAspect="1"/>
          </p:cNvSpPr>
          <p:nvPr>
            <p:ph type="sldImg" idx="2"/>
          </p:nvPr>
        </p:nvSpPr>
        <p:spPr>
          <a:xfrm>
            <a:off x="3328988" y="531813"/>
            <a:ext cx="3533700" cy="2651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8fa4b45176_0_706:notes"/>
          <p:cNvSpPr txBox="1">
            <a:spLocks noGrp="1"/>
          </p:cNvSpPr>
          <p:nvPr>
            <p:ph type="body" idx="1"/>
          </p:nvPr>
        </p:nvSpPr>
        <p:spPr>
          <a:xfrm>
            <a:off x="1328190" y="3359395"/>
            <a:ext cx="7533900" cy="3240900"/>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04" name="Google Shape;304;g28fa4b45176_0_706:notes"/>
          <p:cNvSpPr txBox="1">
            <a:spLocks noGrp="1"/>
          </p:cNvSpPr>
          <p:nvPr>
            <p:ph type="sldNum" idx="12"/>
          </p:nvPr>
        </p:nvSpPr>
        <p:spPr>
          <a:xfrm>
            <a:off x="5761413" y="6777521"/>
            <a:ext cx="4428900" cy="353700"/>
          </a:xfrm>
          <a:prstGeom prst="rect">
            <a:avLst/>
          </a:prstGeom>
        </p:spPr>
        <p:txBody>
          <a:bodyPr spcFirstLastPara="1" wrap="square" lIns="95300" tIns="47650" rIns="95300" bIns="4765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11" name="Google Shape;311;p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4: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20" name="Google Shape;320;p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5: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26" name="Google Shape;326;p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6: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35" name="Google Shape;335;p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7: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50" name="Google Shape;350;p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8: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58" name="Google Shape;358;p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9: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369" name="Google Shape;369;p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0: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426" name="Google Shape;426;p1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1: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480" name="Google Shape;480;p1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8fa4b45176_0_726:notes"/>
          <p:cNvSpPr>
            <a:spLocks noGrp="1" noRot="1" noChangeAspect="1"/>
          </p:cNvSpPr>
          <p:nvPr>
            <p:ph type="sldImg" idx="2"/>
          </p:nvPr>
        </p:nvSpPr>
        <p:spPr>
          <a:xfrm>
            <a:off x="3328988" y="531813"/>
            <a:ext cx="3533700" cy="2651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8fa4b45176_0_726:notes"/>
          <p:cNvSpPr txBox="1">
            <a:spLocks noGrp="1"/>
          </p:cNvSpPr>
          <p:nvPr>
            <p:ph type="body" idx="1"/>
          </p:nvPr>
        </p:nvSpPr>
        <p:spPr>
          <a:xfrm>
            <a:off x="1328190" y="3359395"/>
            <a:ext cx="7533900" cy="3240900"/>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488" name="Google Shape;488;g28fa4b45176_0_726:notes"/>
          <p:cNvSpPr txBox="1">
            <a:spLocks noGrp="1"/>
          </p:cNvSpPr>
          <p:nvPr>
            <p:ph type="sldNum" idx="12"/>
          </p:nvPr>
        </p:nvSpPr>
        <p:spPr>
          <a:xfrm>
            <a:off x="5761413" y="6777521"/>
            <a:ext cx="4428900" cy="353700"/>
          </a:xfrm>
          <a:prstGeom prst="rect">
            <a:avLst/>
          </a:prstGeom>
        </p:spPr>
        <p:txBody>
          <a:bodyPr spcFirstLastPara="1" wrap="square" lIns="95300" tIns="47650" rIns="95300" bIns="4765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2: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494" name="Google Shape;494;p1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13: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500" name="Google Shape;500;p1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14: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537" name="Google Shape;537;p1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5: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571" name="Google Shape;571;p1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16: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582" name="Google Shape;582;p1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17: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588" name="Google Shape;588;p1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18: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594" name="Google Shape;594;p1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19: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600" name="Google Shape;600;p1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20: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
        <p:nvSpPr>
          <p:cNvPr id="610" name="Google Shape;610;p20: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1" name="Google Shape;611;p20: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1: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27</a:t>
            </a:fld>
            <a:endParaRPr sz="1200" b="0" i="0" u="none" strike="noStrike" cap="none">
              <a:solidFill>
                <a:srgbClr val="000000"/>
              </a:solidFill>
              <a:latin typeface="Calibri"/>
              <a:ea typeface="Calibri"/>
              <a:cs typeface="Calibri"/>
              <a:sym typeface="Calibri"/>
            </a:endParaRPr>
          </a:p>
        </p:txBody>
      </p:sp>
      <p:sp>
        <p:nvSpPr>
          <p:cNvPr id="619" name="Google Shape;619;p21: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0" name="Google Shape;620;p2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22: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631" name="Google Shape;631;p2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23: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000000"/>
                </a:solidFill>
                <a:latin typeface="Calibri"/>
                <a:ea typeface="Calibri"/>
                <a:cs typeface="Calibri"/>
                <a:sym typeface="Calibri"/>
              </a:rPr>
              <a:t>29</a:t>
            </a:fld>
            <a:endParaRPr sz="1200" b="0" i="0" u="none" strike="noStrike" cap="none">
              <a:solidFill>
                <a:srgbClr val="000000"/>
              </a:solidFill>
              <a:latin typeface="Calibri"/>
              <a:ea typeface="Calibri"/>
              <a:cs typeface="Calibri"/>
              <a:sym typeface="Calibri"/>
            </a:endParaRPr>
          </a:p>
        </p:txBody>
      </p:sp>
      <p:sp>
        <p:nvSpPr>
          <p:cNvPr id="640" name="Google Shape;640;p23: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1" name="Google Shape;641;p23: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24: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30</a:t>
            </a:fld>
            <a:endParaRPr sz="1200">
              <a:solidFill>
                <a:srgbClr val="000000"/>
              </a:solidFill>
              <a:latin typeface="Calibri"/>
              <a:ea typeface="Calibri"/>
              <a:cs typeface="Calibri"/>
              <a:sym typeface="Calibri"/>
            </a:endParaRPr>
          </a:p>
        </p:txBody>
      </p:sp>
      <p:sp>
        <p:nvSpPr>
          <p:cNvPr id="757" name="Google Shape;757;p24: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8" name="Google Shape;758;p24: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25: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31</a:t>
            </a:fld>
            <a:endParaRPr sz="1200">
              <a:solidFill>
                <a:srgbClr val="000000"/>
              </a:solidFill>
              <a:latin typeface="Calibri"/>
              <a:ea typeface="Calibri"/>
              <a:cs typeface="Calibri"/>
              <a:sym typeface="Calibri"/>
            </a:endParaRPr>
          </a:p>
        </p:txBody>
      </p:sp>
      <p:sp>
        <p:nvSpPr>
          <p:cNvPr id="870" name="Google Shape;870;p25: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1" name="Google Shape;871;p25: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p26: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32</a:t>
            </a:fld>
            <a:endParaRPr sz="1200">
              <a:solidFill>
                <a:srgbClr val="000000"/>
              </a:solidFill>
              <a:latin typeface="Calibri"/>
              <a:ea typeface="Calibri"/>
              <a:cs typeface="Calibri"/>
              <a:sym typeface="Calibri"/>
            </a:endParaRPr>
          </a:p>
        </p:txBody>
      </p:sp>
      <p:sp>
        <p:nvSpPr>
          <p:cNvPr id="983" name="Google Shape;983;p26: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4" name="Google Shape;984;p26: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27: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33</a:t>
            </a:fld>
            <a:endParaRPr sz="1200">
              <a:solidFill>
                <a:srgbClr val="000000"/>
              </a:solidFill>
              <a:latin typeface="Calibri"/>
              <a:ea typeface="Calibri"/>
              <a:cs typeface="Calibri"/>
              <a:sym typeface="Calibri"/>
            </a:endParaRPr>
          </a:p>
        </p:txBody>
      </p:sp>
      <p:sp>
        <p:nvSpPr>
          <p:cNvPr id="1095" name="Google Shape;1095;p27: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6" name="Google Shape;1096;p27: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p28: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34</a:t>
            </a:fld>
            <a:endParaRPr sz="1200">
              <a:solidFill>
                <a:srgbClr val="000000"/>
              </a:solidFill>
              <a:latin typeface="Calibri"/>
              <a:ea typeface="Calibri"/>
              <a:cs typeface="Calibri"/>
              <a:sym typeface="Calibri"/>
            </a:endParaRPr>
          </a:p>
        </p:txBody>
      </p:sp>
      <p:sp>
        <p:nvSpPr>
          <p:cNvPr id="1209" name="Google Shape;1209;p28: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0" name="Google Shape;1210;p28: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p29: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35</a:t>
            </a:fld>
            <a:endParaRPr sz="1200">
              <a:solidFill>
                <a:srgbClr val="000000"/>
              </a:solidFill>
              <a:latin typeface="Calibri"/>
              <a:ea typeface="Calibri"/>
              <a:cs typeface="Calibri"/>
              <a:sym typeface="Calibri"/>
            </a:endParaRPr>
          </a:p>
        </p:txBody>
      </p:sp>
      <p:sp>
        <p:nvSpPr>
          <p:cNvPr id="1322" name="Google Shape;1322;p29: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3" name="Google Shape;1323;p29: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30: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36</a:t>
            </a:fld>
            <a:endParaRPr sz="1200">
              <a:solidFill>
                <a:srgbClr val="000000"/>
              </a:solidFill>
              <a:latin typeface="Calibri"/>
              <a:ea typeface="Calibri"/>
              <a:cs typeface="Calibri"/>
              <a:sym typeface="Calibri"/>
            </a:endParaRPr>
          </a:p>
        </p:txBody>
      </p:sp>
      <p:sp>
        <p:nvSpPr>
          <p:cNvPr id="1434" name="Google Shape;1434;p3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5" name="Google Shape;1435;p30: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p31: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37</a:t>
            </a:fld>
            <a:endParaRPr sz="1200">
              <a:solidFill>
                <a:srgbClr val="000000"/>
              </a:solidFill>
              <a:latin typeface="Calibri"/>
              <a:ea typeface="Calibri"/>
              <a:cs typeface="Calibri"/>
              <a:sym typeface="Calibri"/>
            </a:endParaRPr>
          </a:p>
        </p:txBody>
      </p:sp>
      <p:sp>
        <p:nvSpPr>
          <p:cNvPr id="1482" name="Google Shape;1482;p3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3" name="Google Shape;1483;p31: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6"/>
        <p:cNvGrpSpPr/>
        <p:nvPr/>
      </p:nvGrpSpPr>
      <p:grpSpPr>
        <a:xfrm>
          <a:off x="0" y="0"/>
          <a:ext cx="0" cy="0"/>
          <a:chOff x="0" y="0"/>
          <a:chExt cx="0" cy="0"/>
        </a:xfrm>
      </p:grpSpPr>
      <p:sp>
        <p:nvSpPr>
          <p:cNvPr id="1597" name="Google Shape;1597;p32: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38</a:t>
            </a:fld>
            <a:endParaRPr sz="1200">
              <a:solidFill>
                <a:srgbClr val="000000"/>
              </a:solidFill>
              <a:latin typeface="Calibri"/>
              <a:ea typeface="Calibri"/>
              <a:cs typeface="Calibri"/>
              <a:sym typeface="Calibri"/>
            </a:endParaRPr>
          </a:p>
        </p:txBody>
      </p:sp>
      <p:sp>
        <p:nvSpPr>
          <p:cNvPr id="1598" name="Google Shape;1598;p32: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9" name="Google Shape;1599;p32: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8"/>
        <p:cNvGrpSpPr/>
        <p:nvPr/>
      </p:nvGrpSpPr>
      <p:grpSpPr>
        <a:xfrm>
          <a:off x="0" y="0"/>
          <a:ext cx="0" cy="0"/>
          <a:chOff x="0" y="0"/>
          <a:chExt cx="0" cy="0"/>
        </a:xfrm>
      </p:grpSpPr>
      <p:sp>
        <p:nvSpPr>
          <p:cNvPr id="1629" name="Google Shape;1629;p33: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39</a:t>
            </a:fld>
            <a:endParaRPr sz="1200">
              <a:solidFill>
                <a:srgbClr val="000000"/>
              </a:solidFill>
              <a:latin typeface="Calibri"/>
              <a:ea typeface="Calibri"/>
              <a:cs typeface="Calibri"/>
              <a:sym typeface="Calibri"/>
            </a:endParaRPr>
          </a:p>
        </p:txBody>
      </p:sp>
      <p:sp>
        <p:nvSpPr>
          <p:cNvPr id="1630" name="Google Shape;1630;p33: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1" name="Google Shape;1631;p33:notes"/>
          <p:cNvSpPr txBox="1">
            <a:spLocks noGrp="1"/>
          </p:cNvSpPr>
          <p:nvPr>
            <p:ph type="body" idx="1"/>
          </p:nvPr>
        </p:nvSpPr>
        <p:spPr>
          <a:xfrm>
            <a:off x="1279328" y="3213743"/>
            <a:ext cx="7036296" cy="304459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5"/>
        <p:cNvGrpSpPr/>
        <p:nvPr/>
      </p:nvGrpSpPr>
      <p:grpSpPr>
        <a:xfrm>
          <a:off x="0" y="0"/>
          <a:ext cx="0" cy="0"/>
          <a:chOff x="0" y="0"/>
          <a:chExt cx="0" cy="0"/>
        </a:xfrm>
      </p:grpSpPr>
      <p:sp>
        <p:nvSpPr>
          <p:cNvPr id="1636" name="Google Shape;1636;p34: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637" name="Google Shape;1637;p3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5"/>
        <p:cNvGrpSpPr/>
        <p:nvPr/>
      </p:nvGrpSpPr>
      <p:grpSpPr>
        <a:xfrm>
          <a:off x="0" y="0"/>
          <a:ext cx="0" cy="0"/>
          <a:chOff x="0" y="0"/>
          <a:chExt cx="0" cy="0"/>
        </a:xfrm>
      </p:grpSpPr>
      <p:sp>
        <p:nvSpPr>
          <p:cNvPr id="1646" name="Google Shape;1646;p35: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647" name="Google Shape;1647;p3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
        <p:cNvGrpSpPr/>
        <p:nvPr/>
      </p:nvGrpSpPr>
      <p:grpSpPr>
        <a:xfrm>
          <a:off x="0" y="0"/>
          <a:ext cx="0" cy="0"/>
          <a:chOff x="0" y="0"/>
          <a:chExt cx="0" cy="0"/>
        </a:xfrm>
      </p:grpSpPr>
      <p:sp>
        <p:nvSpPr>
          <p:cNvPr id="1655" name="Google Shape;1655;p36: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656" name="Google Shape;1656;p3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p37: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43</a:t>
            </a:fld>
            <a:endParaRPr sz="1200">
              <a:solidFill>
                <a:srgbClr val="000000"/>
              </a:solidFill>
              <a:latin typeface="Calibri"/>
              <a:ea typeface="Calibri"/>
              <a:cs typeface="Calibri"/>
              <a:sym typeface="Calibri"/>
            </a:endParaRPr>
          </a:p>
        </p:txBody>
      </p:sp>
      <p:sp>
        <p:nvSpPr>
          <p:cNvPr id="1665" name="Google Shape;1665;p37: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6" name="Google Shape;1666;p37: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0"/>
        <p:cNvGrpSpPr/>
        <p:nvPr/>
      </p:nvGrpSpPr>
      <p:grpSpPr>
        <a:xfrm>
          <a:off x="0" y="0"/>
          <a:ext cx="0" cy="0"/>
          <a:chOff x="0" y="0"/>
          <a:chExt cx="0" cy="0"/>
        </a:xfrm>
      </p:grpSpPr>
      <p:sp>
        <p:nvSpPr>
          <p:cNvPr id="1671" name="Google Shape;1671;p38: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44</a:t>
            </a:fld>
            <a:endParaRPr sz="1200">
              <a:solidFill>
                <a:srgbClr val="000000"/>
              </a:solidFill>
              <a:latin typeface="Calibri"/>
              <a:ea typeface="Calibri"/>
              <a:cs typeface="Calibri"/>
              <a:sym typeface="Calibri"/>
            </a:endParaRPr>
          </a:p>
        </p:txBody>
      </p:sp>
      <p:sp>
        <p:nvSpPr>
          <p:cNvPr id="1672" name="Google Shape;1672;p38: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73" name="Google Shape;1673;p38: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2"/>
        <p:cNvGrpSpPr/>
        <p:nvPr/>
      </p:nvGrpSpPr>
      <p:grpSpPr>
        <a:xfrm>
          <a:off x="0" y="0"/>
          <a:ext cx="0" cy="0"/>
          <a:chOff x="0" y="0"/>
          <a:chExt cx="0" cy="0"/>
        </a:xfrm>
      </p:grpSpPr>
      <p:sp>
        <p:nvSpPr>
          <p:cNvPr id="1683" name="Google Shape;1683;p39: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45</a:t>
            </a:fld>
            <a:endParaRPr sz="1200">
              <a:solidFill>
                <a:srgbClr val="000000"/>
              </a:solidFill>
              <a:latin typeface="Calibri"/>
              <a:ea typeface="Calibri"/>
              <a:cs typeface="Calibri"/>
              <a:sym typeface="Calibri"/>
            </a:endParaRPr>
          </a:p>
        </p:txBody>
      </p:sp>
      <p:sp>
        <p:nvSpPr>
          <p:cNvPr id="1684" name="Google Shape;1684;p39: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5" name="Google Shape;1685;p39: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p40: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692" name="Google Shape;1692;p4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6"/>
        <p:cNvGrpSpPr/>
        <p:nvPr/>
      </p:nvGrpSpPr>
      <p:grpSpPr>
        <a:xfrm>
          <a:off x="0" y="0"/>
          <a:ext cx="0" cy="0"/>
          <a:chOff x="0" y="0"/>
          <a:chExt cx="0" cy="0"/>
        </a:xfrm>
      </p:grpSpPr>
      <p:sp>
        <p:nvSpPr>
          <p:cNvPr id="1697" name="Google Shape;1697;p41: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marR="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47</a:t>
            </a:fld>
            <a:endParaRPr sz="1200">
              <a:solidFill>
                <a:srgbClr val="000000"/>
              </a:solidFill>
              <a:latin typeface="Calibri"/>
              <a:ea typeface="Calibri"/>
              <a:cs typeface="Calibri"/>
              <a:sym typeface="Calibri"/>
            </a:endParaRPr>
          </a:p>
        </p:txBody>
      </p:sp>
      <p:sp>
        <p:nvSpPr>
          <p:cNvPr id="1698" name="Google Shape;1698;p41:notes"/>
          <p:cNvSpPr>
            <a:spLocks noGrp="1" noRot="1" noChangeAspect="1"/>
          </p:cNvSpPr>
          <p:nvPr>
            <p:ph type="sldImg" idx="2"/>
          </p:nvPr>
        </p:nvSpPr>
        <p:spPr>
          <a:xfrm>
            <a:off x="1601381" y="507434"/>
            <a:ext cx="6396633" cy="253716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9" name="Google Shape;1699;p4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3"/>
        <p:cNvGrpSpPr/>
        <p:nvPr/>
      </p:nvGrpSpPr>
      <p:grpSpPr>
        <a:xfrm>
          <a:off x="0" y="0"/>
          <a:ext cx="0" cy="0"/>
          <a:chOff x="0" y="0"/>
          <a:chExt cx="0" cy="0"/>
        </a:xfrm>
      </p:grpSpPr>
      <p:sp>
        <p:nvSpPr>
          <p:cNvPr id="1704" name="Google Shape;1704;p42: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705" name="Google Shape;1705;p4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2"/>
        <p:cNvGrpSpPr/>
        <p:nvPr/>
      </p:nvGrpSpPr>
      <p:grpSpPr>
        <a:xfrm>
          <a:off x="0" y="0"/>
          <a:ext cx="0" cy="0"/>
          <a:chOff x="0" y="0"/>
          <a:chExt cx="0" cy="0"/>
        </a:xfrm>
      </p:grpSpPr>
      <p:sp>
        <p:nvSpPr>
          <p:cNvPr id="1713" name="Google Shape;1713;p43: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714" name="Google Shape;1714;p4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4"/>
        <p:cNvGrpSpPr/>
        <p:nvPr/>
      </p:nvGrpSpPr>
      <p:grpSpPr>
        <a:xfrm>
          <a:off x="0" y="0"/>
          <a:ext cx="0" cy="0"/>
          <a:chOff x="0" y="0"/>
          <a:chExt cx="0" cy="0"/>
        </a:xfrm>
      </p:grpSpPr>
      <p:sp>
        <p:nvSpPr>
          <p:cNvPr id="1765" name="Google Shape;1765;p44: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766" name="Google Shape;1766;p44: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0"/>
        <p:cNvGrpSpPr/>
        <p:nvPr/>
      </p:nvGrpSpPr>
      <p:grpSpPr>
        <a:xfrm>
          <a:off x="0" y="0"/>
          <a:ext cx="0" cy="0"/>
          <a:chOff x="0" y="0"/>
          <a:chExt cx="0" cy="0"/>
        </a:xfrm>
      </p:grpSpPr>
      <p:sp>
        <p:nvSpPr>
          <p:cNvPr id="1771" name="Google Shape;1771;p45: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772" name="Google Shape;1772;p45: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6"/>
        <p:cNvGrpSpPr/>
        <p:nvPr/>
      </p:nvGrpSpPr>
      <p:grpSpPr>
        <a:xfrm>
          <a:off x="0" y="0"/>
          <a:ext cx="0" cy="0"/>
          <a:chOff x="0" y="0"/>
          <a:chExt cx="0" cy="0"/>
        </a:xfrm>
      </p:grpSpPr>
      <p:sp>
        <p:nvSpPr>
          <p:cNvPr id="1777" name="Google Shape;1777;p46: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778" name="Google Shape;1778;p46: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2"/>
        <p:cNvGrpSpPr/>
        <p:nvPr/>
      </p:nvGrpSpPr>
      <p:grpSpPr>
        <a:xfrm>
          <a:off x="0" y="0"/>
          <a:ext cx="0" cy="0"/>
          <a:chOff x="0" y="0"/>
          <a:chExt cx="0" cy="0"/>
        </a:xfrm>
      </p:grpSpPr>
      <p:sp>
        <p:nvSpPr>
          <p:cNvPr id="1823" name="Google Shape;1823;p47: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4" name="Google Shape;1824;p47: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r>
              <a:rPr lang="en-US"/>
              <a:t> min-cut approach offers an elegant solution, it can result in group-</a:t>
            </a:r>
            <a:endParaRPr/>
          </a:p>
          <a:p>
            <a:pPr marL="0" lvl="0" indent="0" algn="l" rtl="0">
              <a:spcBef>
                <a:spcPts val="360"/>
              </a:spcBef>
              <a:spcAft>
                <a:spcPts val="0"/>
              </a:spcAft>
              <a:buNone/>
            </a:pPr>
            <a:r>
              <a:rPr lang="en-US"/>
              <a:t>ings that favor cutting small sets of isolated nodes in a graph, leading to improper </a:t>
            </a:r>
            <a:endParaRPr/>
          </a:p>
          <a:p>
            <a:pPr marL="0" lvl="0" indent="0" algn="l" rtl="0">
              <a:spcBef>
                <a:spcPts val="360"/>
              </a:spcBef>
              <a:spcAft>
                <a:spcPts val="0"/>
              </a:spcAft>
              <a:buNone/>
            </a:pPr>
            <a:r>
              <a:rPr lang="en-US"/>
              <a:t>segmentations.</a:t>
            </a:r>
            <a:endParaRPr/>
          </a:p>
        </p:txBody>
      </p:sp>
      <p:sp>
        <p:nvSpPr>
          <p:cNvPr id="1825" name="Google Shape;1825;p47: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53</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3"/>
        <p:cNvGrpSpPr/>
        <p:nvPr/>
      </p:nvGrpSpPr>
      <p:grpSpPr>
        <a:xfrm>
          <a:off x="0" y="0"/>
          <a:ext cx="0" cy="0"/>
          <a:chOff x="0" y="0"/>
          <a:chExt cx="0" cy="0"/>
        </a:xfrm>
      </p:grpSpPr>
      <p:sp>
        <p:nvSpPr>
          <p:cNvPr id="1874" name="Google Shape;1874;p48: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875" name="Google Shape;1875;p48: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9"/>
        <p:cNvGrpSpPr/>
        <p:nvPr/>
      </p:nvGrpSpPr>
      <p:grpSpPr>
        <a:xfrm>
          <a:off x="0" y="0"/>
          <a:ext cx="0" cy="0"/>
          <a:chOff x="0" y="0"/>
          <a:chExt cx="0" cy="0"/>
        </a:xfrm>
      </p:grpSpPr>
      <p:sp>
        <p:nvSpPr>
          <p:cNvPr id="1880" name="Google Shape;1880;p49: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881" name="Google Shape;1881;p49: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5"/>
        <p:cNvGrpSpPr/>
        <p:nvPr/>
      </p:nvGrpSpPr>
      <p:grpSpPr>
        <a:xfrm>
          <a:off x="0" y="0"/>
          <a:ext cx="0" cy="0"/>
          <a:chOff x="0" y="0"/>
          <a:chExt cx="0" cy="0"/>
        </a:xfrm>
      </p:grpSpPr>
      <p:sp>
        <p:nvSpPr>
          <p:cNvPr id="1886" name="Google Shape;1886;p50: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7" name="Google Shape;1887;p50: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r>
              <a:rPr lang="en-US"/>
              <a:t>Instead of looking at the total weight value of the edges that connect two parti-</a:t>
            </a:r>
            <a:endParaRPr/>
          </a:p>
          <a:p>
            <a:pPr marL="0" lvl="0" indent="0" algn="l" rtl="0">
              <a:spcBef>
                <a:spcPts val="360"/>
              </a:spcBef>
              <a:spcAft>
                <a:spcPts val="0"/>
              </a:spcAft>
              <a:buNone/>
            </a:pPr>
            <a:r>
              <a:rPr lang="en-US"/>
              <a:t>tions, the idea is to work with a measure of “disassociation” that computes the cost </a:t>
            </a:r>
            <a:endParaRPr/>
          </a:p>
          <a:p>
            <a:pPr marL="0" lvl="0" indent="0" algn="l" rtl="0">
              <a:spcBef>
                <a:spcPts val="360"/>
              </a:spcBef>
              <a:spcAft>
                <a:spcPts val="0"/>
              </a:spcAft>
              <a:buNone/>
            </a:pPr>
            <a:r>
              <a:rPr lang="en-US"/>
              <a:t>as a fraction of the total edge connections to all nodes in the graph. This measure, </a:t>
            </a:r>
            <a:endParaRPr/>
          </a:p>
          <a:p>
            <a:pPr marL="0" lvl="0" indent="0" algn="l" rtl="0">
              <a:spcBef>
                <a:spcPts val="360"/>
              </a:spcBef>
              <a:spcAft>
                <a:spcPts val="0"/>
              </a:spcAft>
              <a:buNone/>
            </a:pPr>
            <a:r>
              <a:rPr lang="en-US"/>
              <a:t>called the normalized cut (Ncut),</a:t>
            </a:r>
            <a:endParaRPr/>
          </a:p>
          <a:p>
            <a:pPr marL="0" lvl="0" indent="0" algn="l" rtl="0">
              <a:spcBef>
                <a:spcPts val="360"/>
              </a:spcBef>
              <a:spcAft>
                <a:spcPts val="0"/>
              </a:spcAft>
              <a:buNone/>
            </a:pPr>
            <a:endParaRPr/>
          </a:p>
          <a:p>
            <a:pPr marL="0" lvl="0" indent="0" algn="l" rtl="0">
              <a:spcBef>
                <a:spcPts val="360"/>
              </a:spcBef>
              <a:spcAft>
                <a:spcPts val="0"/>
              </a:spcAft>
              <a:buNone/>
            </a:pPr>
            <a:r>
              <a:rPr lang="en-US"/>
              <a:t>By using  Ncut A B ( , ) instead of cut A B ( , ), the cut that partitions isolated points </a:t>
            </a:r>
            <a:endParaRPr/>
          </a:p>
          <a:p>
            <a:pPr marL="0" lvl="0" indent="0" algn="l" rtl="0">
              <a:spcBef>
                <a:spcPts val="360"/>
              </a:spcBef>
              <a:spcAft>
                <a:spcPts val="0"/>
              </a:spcAft>
              <a:buNone/>
            </a:pPr>
            <a:r>
              <a:rPr lang="en-US"/>
              <a:t>will no longer have small values.</a:t>
            </a:r>
            <a:endParaRPr/>
          </a:p>
          <a:p>
            <a:pPr marL="0" lvl="0" indent="0" algn="l" rtl="0">
              <a:spcBef>
                <a:spcPts val="360"/>
              </a:spcBef>
              <a:spcAft>
                <a:spcPts val="0"/>
              </a:spcAft>
              <a:buNone/>
            </a:pPr>
            <a:endParaRPr/>
          </a:p>
          <a:p>
            <a:pPr marL="0" lvl="0" indent="0" algn="l" rtl="0">
              <a:spcBef>
                <a:spcPts val="360"/>
              </a:spcBef>
              <a:spcAft>
                <a:spcPts val="0"/>
              </a:spcAft>
              <a:buNone/>
            </a:pPr>
            <a:r>
              <a:rPr lang="en-US"/>
              <a:t>Based on the preceding discussion, image segmentation using graph cuts is now </a:t>
            </a:r>
            <a:endParaRPr/>
          </a:p>
          <a:p>
            <a:pPr marL="0" lvl="0" indent="0" algn="l" rtl="0">
              <a:spcBef>
                <a:spcPts val="360"/>
              </a:spcBef>
              <a:spcAft>
                <a:spcPts val="0"/>
              </a:spcAft>
              <a:buNone/>
            </a:pPr>
            <a:r>
              <a:rPr lang="en-US"/>
              <a:t>based on ﬁnding a partition that minimizes Ncut A B ( , ). Unfortunately, minimizing </a:t>
            </a:r>
            <a:endParaRPr/>
          </a:p>
          <a:p>
            <a:pPr marL="0" lvl="0" indent="0" algn="l" rtl="0">
              <a:spcBef>
                <a:spcPts val="360"/>
              </a:spcBef>
              <a:spcAft>
                <a:spcPts val="0"/>
              </a:spcAft>
              <a:buNone/>
            </a:pPr>
            <a:r>
              <a:rPr lang="en-US"/>
              <a:t>this quantity exactly is an NP-complete computational task, and we can no longer </a:t>
            </a:r>
            <a:endParaRPr/>
          </a:p>
          <a:p>
            <a:pPr marL="0" lvl="0" indent="0" algn="l" rtl="0">
              <a:spcBef>
                <a:spcPts val="360"/>
              </a:spcBef>
              <a:spcAft>
                <a:spcPts val="0"/>
              </a:spcAft>
              <a:buNone/>
            </a:pPr>
            <a:r>
              <a:rPr lang="en-US"/>
              <a:t>rely on the solutions available for max ﬂow because the approach being followed </a:t>
            </a:r>
            <a:endParaRPr/>
          </a:p>
          <a:p>
            <a:pPr marL="0" lvl="0" indent="0" algn="l" rtl="0">
              <a:spcBef>
                <a:spcPts val="360"/>
              </a:spcBef>
              <a:spcAft>
                <a:spcPts val="0"/>
              </a:spcAft>
              <a:buNone/>
            </a:pPr>
            <a:r>
              <a:rPr lang="en-US"/>
              <a:t>now is based on the concepts explained in connection with Fig. 10.53. However, Shi </a:t>
            </a:r>
            <a:endParaRPr/>
          </a:p>
          <a:p>
            <a:pPr marL="0" lvl="0" indent="0" algn="l" rtl="0">
              <a:spcBef>
                <a:spcPts val="360"/>
              </a:spcBef>
              <a:spcAft>
                <a:spcPts val="0"/>
              </a:spcAft>
              <a:buNone/>
            </a:pPr>
            <a:r>
              <a:rPr lang="en-US"/>
              <a:t>and Malik [2000] (see also Hochbaum [2010]) were able to ﬁnd an approximate dis-</a:t>
            </a:r>
            <a:endParaRPr/>
          </a:p>
          <a:p>
            <a:pPr marL="0" lvl="0" indent="0" algn="l" rtl="0">
              <a:spcBef>
                <a:spcPts val="360"/>
              </a:spcBef>
              <a:spcAft>
                <a:spcPts val="0"/>
              </a:spcAft>
              <a:buNone/>
            </a:pPr>
            <a:r>
              <a:rPr lang="en-US"/>
              <a:t>crete solution to minimizing Ncut A B ( , ) by formulating minimization as a general-</a:t>
            </a:r>
            <a:endParaRPr/>
          </a:p>
          <a:p>
            <a:pPr marL="0" lvl="0" indent="0" algn="l" rtl="0">
              <a:spcBef>
                <a:spcPts val="360"/>
              </a:spcBef>
              <a:spcAft>
                <a:spcPts val="0"/>
              </a:spcAft>
              <a:buNone/>
            </a:pPr>
            <a:r>
              <a:rPr lang="en-US"/>
              <a:t>ized eigenvalue problem, for which numerous implementations exist</a:t>
            </a:r>
            <a:endParaRPr/>
          </a:p>
        </p:txBody>
      </p:sp>
      <p:sp>
        <p:nvSpPr>
          <p:cNvPr id="1888" name="Google Shape;1888;p50: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56</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8"/>
        <p:cNvGrpSpPr/>
        <p:nvPr/>
      </p:nvGrpSpPr>
      <p:grpSpPr>
        <a:xfrm>
          <a:off x="0" y="0"/>
          <a:ext cx="0" cy="0"/>
          <a:chOff x="0" y="0"/>
          <a:chExt cx="0" cy="0"/>
        </a:xfrm>
      </p:grpSpPr>
      <p:sp>
        <p:nvSpPr>
          <p:cNvPr id="1939" name="Google Shape;1939;p51: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0" name="Google Shape;1940;p51: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r>
              <a:rPr lang="en-US"/>
              <a:t>Graph cuts are ideally suited for obtaining a rough segmentation of the principal regions in an image.  Figure 10.56 shows a typical result. Figure 10.56(a) is the familiar building image. Consistent with the  idea of extracting the principal regions of an image, Fig. 10.56(b) shows the image smoothed with a  simple 25 25 ×  box kernel. Observe how the ﬁne detail is smoothed out, leaving only major regional  features such as the facade and sky. Figure 10.56(c) is the result of segmentation using the graph cut  algorithm just developed, with weights of the form discussed in the previous example, and allowing only  two partitions. Note how well the region corresponding to the building was extracted, with none of the  details characteristic of the methods discussed earlier in this chapter. In fact, it would have been nearly  impossible to obtain comparable results using any of the methods we have discussed thus far without  signiﬁcant additional processing. </a:t>
            </a:r>
            <a:r>
              <a:rPr lang="en-US" b="1"/>
              <a:t>This type of result is ideal for tasks such as providing broad cues for  autonomous navigation, for searching image databases, and for low-level image analysis.</a:t>
            </a:r>
            <a:endParaRPr b="1"/>
          </a:p>
        </p:txBody>
      </p:sp>
      <p:sp>
        <p:nvSpPr>
          <p:cNvPr id="1941" name="Google Shape;1941;p51: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57</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52:notes"/>
          <p:cNvSpPr txBox="1">
            <a:spLocks noGrp="1"/>
          </p:cNvSpPr>
          <p:nvPr>
            <p:ph type="body" idx="1"/>
          </p:nvPr>
        </p:nvSpPr>
        <p:spPr>
          <a:xfrm>
            <a:off x="1328190" y="3359395"/>
            <a:ext cx="7533813" cy="3240759"/>
          </a:xfrm>
          <a:prstGeom prst="rect">
            <a:avLst/>
          </a:prstGeom>
        </p:spPr>
        <p:txBody>
          <a:bodyPr spcFirstLastPara="1" wrap="square" lIns="95300" tIns="47650" rIns="95300" bIns="47650" anchor="t" anchorCtr="0">
            <a:noAutofit/>
          </a:bodyPr>
          <a:lstStyle/>
          <a:p>
            <a:pPr marL="0" lvl="0" indent="0" algn="l" rtl="0">
              <a:spcBef>
                <a:spcPts val="360"/>
              </a:spcBef>
              <a:spcAft>
                <a:spcPts val="0"/>
              </a:spcAft>
              <a:buNone/>
            </a:pPr>
            <a:endParaRPr/>
          </a:p>
        </p:txBody>
      </p:sp>
      <p:sp>
        <p:nvSpPr>
          <p:cNvPr id="1947" name="Google Shape;1947;p52: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2"/>
        <p:cNvGrpSpPr/>
        <p:nvPr/>
      </p:nvGrpSpPr>
      <p:grpSpPr>
        <a:xfrm>
          <a:off x="0" y="0"/>
          <a:ext cx="0" cy="0"/>
          <a:chOff x="0" y="0"/>
          <a:chExt cx="0" cy="0"/>
        </a:xfrm>
      </p:grpSpPr>
      <p:sp>
        <p:nvSpPr>
          <p:cNvPr id="1953" name="Google Shape;1953;p53:notes"/>
          <p:cNvSpPr>
            <a:spLocks noGrp="1" noRot="1" noChangeAspect="1"/>
          </p:cNvSpPr>
          <p:nvPr>
            <p:ph type="sldImg" idx="2"/>
          </p:nvPr>
        </p:nvSpPr>
        <p:spPr>
          <a:xfrm>
            <a:off x="3328988" y="531813"/>
            <a:ext cx="3533775" cy="26511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54" name="Google Shape;1954;p53:notes"/>
          <p:cNvSpPr txBox="1">
            <a:spLocks noGrp="1"/>
          </p:cNvSpPr>
          <p:nvPr>
            <p:ph type="body" idx="1"/>
          </p:nvPr>
        </p:nvSpPr>
        <p:spPr>
          <a:xfrm>
            <a:off x="1328190" y="3359395"/>
            <a:ext cx="7533813" cy="3240759"/>
          </a:xfrm>
          <a:prstGeom prst="rect">
            <a:avLst/>
          </a:prstGeom>
          <a:noFill/>
          <a:ln>
            <a:noFill/>
          </a:ln>
        </p:spPr>
        <p:txBody>
          <a:bodyPr spcFirstLastPara="1" wrap="square" lIns="95300" tIns="47650" rIns="95300" bIns="47650" anchor="t" anchorCtr="0">
            <a:noAutofit/>
          </a:bodyPr>
          <a:lstStyle/>
          <a:p>
            <a:pPr marL="0" lvl="0" indent="0" algn="l" rtl="0">
              <a:spcBef>
                <a:spcPts val="0"/>
              </a:spcBef>
              <a:spcAft>
                <a:spcPts val="0"/>
              </a:spcAft>
              <a:buNone/>
            </a:pPr>
            <a:r>
              <a:rPr lang="en-US" b="1" u="sng"/>
              <a:t>How to get the split up from the second smallest eigen vector</a:t>
            </a:r>
            <a:r>
              <a:rPr lang="en-US"/>
              <a:t>:</a:t>
            </a:r>
            <a:endParaRPr/>
          </a:p>
          <a:p>
            <a:pPr marL="0" lvl="0" indent="0" algn="l" rtl="0">
              <a:spcBef>
                <a:spcPts val="360"/>
              </a:spcBef>
              <a:spcAft>
                <a:spcPts val="0"/>
              </a:spcAft>
              <a:buNone/>
            </a:pPr>
            <a:r>
              <a:rPr lang="en-US"/>
              <a:t>Thus, we can find the (continuous-valued) eigenvector corresponding to the second  smallest eigenvalue using either a generalized or a standard eigenvalue solver. The </a:t>
            </a:r>
            <a:endParaRPr/>
          </a:p>
          <a:p>
            <a:pPr marL="0" lvl="0" indent="0" algn="l" rtl="0">
              <a:spcBef>
                <a:spcPts val="360"/>
              </a:spcBef>
              <a:spcAft>
                <a:spcPts val="0"/>
              </a:spcAft>
              <a:buNone/>
            </a:pPr>
            <a:r>
              <a:rPr lang="en-US"/>
              <a:t>desired (discrete) vector x can be generated from the resulting, continuous valued  solution vector by finding a splitting point that divides the values of the continuous </a:t>
            </a:r>
            <a:endParaRPr/>
          </a:p>
          <a:p>
            <a:pPr marL="0" lvl="0" indent="0" algn="l" rtl="0">
              <a:spcBef>
                <a:spcPts val="360"/>
              </a:spcBef>
              <a:spcAft>
                <a:spcPts val="0"/>
              </a:spcAft>
              <a:buNone/>
            </a:pPr>
            <a:r>
              <a:rPr lang="en-US"/>
              <a:t>eigenvector elements into two parts. We do this by finding the splitting point that  yields the smallest value of Ncut A B ( , ), since this is the quantity we are trying to </a:t>
            </a:r>
            <a:endParaRPr/>
          </a:p>
          <a:p>
            <a:pPr marL="0" lvl="0" indent="0" algn="l" rtl="0">
              <a:spcBef>
                <a:spcPts val="360"/>
              </a:spcBef>
              <a:spcAft>
                <a:spcPts val="0"/>
              </a:spcAft>
              <a:buNone/>
            </a:pPr>
            <a:r>
              <a:rPr lang="en-US"/>
              <a:t>minimize. To simplify the search, we divide the range of values in the continuous  vector into Q evenly spaced values, evaluate Eq. (10-104) for each value, and choose </a:t>
            </a:r>
            <a:endParaRPr/>
          </a:p>
          <a:p>
            <a:pPr marL="0" lvl="0" indent="0" algn="l" rtl="0">
              <a:spcBef>
                <a:spcPts val="360"/>
              </a:spcBef>
              <a:spcAft>
                <a:spcPts val="0"/>
              </a:spcAft>
              <a:buNone/>
            </a:pPr>
            <a:r>
              <a:rPr lang="en-US"/>
              <a:t>the splitting point that yields the smallest value of Ncut A B ( , ). Then, all values of the  eigenvector with values above the split point are assigned the value 1; all others are </a:t>
            </a:r>
            <a:endParaRPr/>
          </a:p>
          <a:p>
            <a:pPr marL="0" lvl="0" indent="0" algn="l" rtl="0">
              <a:spcBef>
                <a:spcPts val="360"/>
              </a:spcBef>
              <a:spcAft>
                <a:spcPts val="0"/>
              </a:spcAft>
              <a:buNone/>
            </a:pPr>
            <a:r>
              <a:rPr lang="en-US"/>
              <a:t>assigned the value  − 1. The result is the desired vector x. Then, partition A is the set  nodes in V corresponding to 1’s in x; the remaining nodes correspond to partition B. </a:t>
            </a:r>
            <a:endParaRPr/>
          </a:p>
        </p:txBody>
      </p:sp>
      <p:sp>
        <p:nvSpPr>
          <p:cNvPr id="1955" name="Google Shape;1955;p53:notes"/>
          <p:cNvSpPr txBox="1">
            <a:spLocks noGrp="1"/>
          </p:cNvSpPr>
          <p:nvPr>
            <p:ph type="sldNum" idx="12"/>
          </p:nvPr>
        </p:nvSpPr>
        <p:spPr>
          <a:xfrm>
            <a:off x="5761413" y="6777521"/>
            <a:ext cx="4428781" cy="353559"/>
          </a:xfrm>
          <a:prstGeom prst="rect">
            <a:avLst/>
          </a:prstGeom>
          <a:noFill/>
          <a:ln>
            <a:noFill/>
          </a:ln>
        </p:spPr>
        <p:txBody>
          <a:bodyPr spcFirstLastPara="1" wrap="square" lIns="95300" tIns="47650" rIns="95300" bIns="476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59</a:t>
            </a:fld>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mailto:vimalsp@wilp.bits-pilani.ac.in" TargetMode="External"/><Relationship Id="rId2" Type="http://schemas.openxmlformats.org/officeDocument/2006/relationships/image" Target="../media/image1.gif"/><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0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07"/>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0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0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22" name="Google Shape;22;p107"/>
          <p:cNvSpPr txBox="1"/>
          <p:nvPr/>
        </p:nvSpPr>
        <p:spPr>
          <a:xfrm>
            <a:off x="6690200" y="2312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CV 11: Image Segmentation</a:t>
            </a:r>
            <a:endParaRPr sz="800">
              <a:solidFill>
                <a:schemeClr val="dk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10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0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0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8"/>
        <p:cNvGrpSpPr/>
        <p:nvPr/>
      </p:nvGrpSpPr>
      <p:grpSpPr>
        <a:xfrm>
          <a:off x="0" y="0"/>
          <a:ext cx="0" cy="0"/>
          <a:chOff x="0" y="0"/>
          <a:chExt cx="0" cy="0"/>
        </a:xfrm>
      </p:grpSpPr>
      <p:sp>
        <p:nvSpPr>
          <p:cNvPr id="29" name="Google Shape;29;p10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9"/>
          <p:cNvSpPr txBox="1">
            <a:spLocks noGrp="1"/>
          </p:cNvSpPr>
          <p:nvPr>
            <p:ph type="body" idx="1"/>
          </p:nvPr>
        </p:nvSpPr>
        <p:spPr>
          <a:xfrm>
            <a:off x="6858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09"/>
          <p:cNvSpPr txBox="1">
            <a:spLocks noGrp="1"/>
          </p:cNvSpPr>
          <p:nvPr>
            <p:ph type="body" idx="2"/>
          </p:nvPr>
        </p:nvSpPr>
        <p:spPr>
          <a:xfrm>
            <a:off x="46482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0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5"/>
        <p:cNvGrpSpPr/>
        <p:nvPr/>
      </p:nvGrpSpPr>
      <p:grpSpPr>
        <a:xfrm>
          <a:off x="0" y="0"/>
          <a:ext cx="0" cy="0"/>
          <a:chOff x="0" y="0"/>
          <a:chExt cx="0" cy="0"/>
        </a:xfrm>
      </p:grpSpPr>
      <p:sp>
        <p:nvSpPr>
          <p:cNvPr id="36" name="Google Shape;36;p110"/>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1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Clr>
                <a:schemeClr val="dk1"/>
              </a:buClr>
              <a:buSzPts val="2400"/>
              <a:buFont typeface="Arial"/>
              <a:buNone/>
              <a:defRPr sz="2400"/>
            </a:lvl1pPr>
            <a:lvl2pPr lvl="1" algn="ctr">
              <a:spcBef>
                <a:spcPts val="400"/>
              </a:spcBef>
              <a:spcAft>
                <a:spcPts val="0"/>
              </a:spcAft>
              <a:buClr>
                <a:schemeClr val="dk1"/>
              </a:buClr>
              <a:buSzPts val="2000"/>
              <a:buFont typeface="Arial"/>
              <a:buNone/>
              <a:defRPr sz="2000"/>
            </a:lvl2pPr>
            <a:lvl3pPr lvl="2" algn="ctr">
              <a:spcBef>
                <a:spcPts val="360"/>
              </a:spcBef>
              <a:spcAft>
                <a:spcPts val="0"/>
              </a:spcAft>
              <a:buClr>
                <a:schemeClr val="dk1"/>
              </a:buClr>
              <a:buSzPts val="1800"/>
              <a:buFont typeface="Arial"/>
              <a:buNone/>
              <a:defRPr sz="1800"/>
            </a:lvl3pPr>
            <a:lvl4pPr lvl="3" algn="ctr">
              <a:spcBef>
                <a:spcPts val="320"/>
              </a:spcBef>
              <a:spcAft>
                <a:spcPts val="0"/>
              </a:spcAft>
              <a:buClr>
                <a:schemeClr val="dk1"/>
              </a:buClr>
              <a:buSzPts val="1600"/>
              <a:buFont typeface="Arial"/>
              <a:buNone/>
              <a:defRPr sz="1600"/>
            </a:lvl4pPr>
            <a:lvl5pPr lvl="4" algn="ctr">
              <a:spcBef>
                <a:spcPts val="320"/>
              </a:spcBef>
              <a:spcAft>
                <a:spcPts val="0"/>
              </a:spcAft>
              <a:buClr>
                <a:schemeClr val="dk1"/>
              </a:buClr>
              <a:buSzPts val="1600"/>
              <a:buFont typeface="Arial"/>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8" name="Google Shape;38;p110"/>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1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10"/>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111"/>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1"/>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Arial"/>
              <a:buNone/>
              <a:defRPr sz="2400"/>
            </a:lvl1pPr>
            <a:lvl2pPr marL="914400" lvl="1" indent="-228600" algn="l">
              <a:spcBef>
                <a:spcPts val="400"/>
              </a:spcBef>
              <a:spcAft>
                <a:spcPts val="0"/>
              </a:spcAft>
              <a:buClr>
                <a:schemeClr val="dk1"/>
              </a:buClr>
              <a:buSzPts val="2000"/>
              <a:buFont typeface="Arial"/>
              <a:buNone/>
              <a:defRPr sz="2000"/>
            </a:lvl2pPr>
            <a:lvl3pPr marL="1371600" lvl="2" indent="-228600" algn="l">
              <a:spcBef>
                <a:spcPts val="360"/>
              </a:spcBef>
              <a:spcAft>
                <a:spcPts val="0"/>
              </a:spcAft>
              <a:buClr>
                <a:schemeClr val="dk1"/>
              </a:buClr>
              <a:buSzPts val="1800"/>
              <a:buFont typeface="Arial"/>
              <a:buNone/>
              <a:defRPr sz="1800"/>
            </a:lvl3pPr>
            <a:lvl4pPr marL="1828800" lvl="3" indent="-228600" algn="l">
              <a:spcBef>
                <a:spcPts val="320"/>
              </a:spcBef>
              <a:spcAft>
                <a:spcPts val="0"/>
              </a:spcAft>
              <a:buClr>
                <a:schemeClr val="dk1"/>
              </a:buClr>
              <a:buSzPts val="1600"/>
              <a:buFont typeface="Arial"/>
              <a:buNone/>
              <a:defRPr sz="1600"/>
            </a:lvl4pPr>
            <a:lvl5pPr marL="2286000" lvl="4" indent="-228600" algn="l">
              <a:spcBef>
                <a:spcPts val="320"/>
              </a:spcBef>
              <a:spcAft>
                <a:spcPts val="0"/>
              </a:spcAft>
              <a:buClr>
                <a:schemeClr val="dk1"/>
              </a:buClr>
              <a:buSzPts val="1600"/>
              <a:buFont typeface="Arial"/>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44" name="Google Shape;44;p11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1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1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12"/>
          <p:cNvSpPr txBox="1">
            <a:spLocks noGrp="1"/>
          </p:cNvSpPr>
          <p:nvPr>
            <p:ph type="body" idx="1"/>
          </p:nvPr>
        </p:nvSpPr>
        <p:spPr>
          <a:xfrm>
            <a:off x="6858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12"/>
          <p:cNvSpPr txBox="1">
            <a:spLocks noGrp="1"/>
          </p:cNvSpPr>
          <p:nvPr>
            <p:ph type="body" idx="2"/>
          </p:nvPr>
        </p:nvSpPr>
        <p:spPr>
          <a:xfrm>
            <a:off x="4648200" y="914400"/>
            <a:ext cx="3810000" cy="52578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1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113"/>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3"/>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113"/>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13"/>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113"/>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11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1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1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11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1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115"/>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15"/>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228600" algn="l">
              <a:spcBef>
                <a:spcPts val="640"/>
              </a:spcBef>
              <a:spcAft>
                <a:spcPts val="0"/>
              </a:spcAft>
              <a:buSzPts val="1400"/>
              <a:buNone/>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115"/>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Arial"/>
              <a:buNone/>
              <a:defRPr sz="1600"/>
            </a:lvl1pPr>
            <a:lvl2pPr marL="914400" lvl="1" indent="-228600" algn="l">
              <a:spcBef>
                <a:spcPts val="280"/>
              </a:spcBef>
              <a:spcAft>
                <a:spcPts val="0"/>
              </a:spcAft>
              <a:buClr>
                <a:schemeClr val="dk1"/>
              </a:buClr>
              <a:buSzPts val="1400"/>
              <a:buFont typeface="Arial"/>
              <a:buNone/>
              <a:defRPr sz="1400"/>
            </a:lvl2pPr>
            <a:lvl3pPr marL="1371600" lvl="2" indent="-228600" algn="l">
              <a:spcBef>
                <a:spcPts val="240"/>
              </a:spcBef>
              <a:spcAft>
                <a:spcPts val="0"/>
              </a:spcAft>
              <a:buClr>
                <a:schemeClr val="dk1"/>
              </a:buClr>
              <a:buSzPts val="1200"/>
              <a:buFont typeface="Arial"/>
              <a:buNone/>
              <a:defRPr sz="1200"/>
            </a:lvl3pPr>
            <a:lvl4pPr marL="1828800" lvl="3" indent="-228600" algn="l">
              <a:spcBef>
                <a:spcPts val="200"/>
              </a:spcBef>
              <a:spcAft>
                <a:spcPts val="0"/>
              </a:spcAft>
              <a:buClr>
                <a:schemeClr val="dk1"/>
              </a:buClr>
              <a:buSzPts val="1000"/>
              <a:buFont typeface="Arial"/>
              <a:buNone/>
              <a:defRPr sz="1000"/>
            </a:lvl4pPr>
            <a:lvl5pPr marL="2286000" lvl="4" indent="-228600" algn="l">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1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11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6"/>
          <p:cNvSpPr>
            <a:spLocks noGrp="1"/>
          </p:cNvSpPr>
          <p:nvPr>
            <p:ph type="pic" idx="2"/>
          </p:nvPr>
        </p:nvSpPr>
        <p:spPr>
          <a:xfrm>
            <a:off x="3887788" y="987425"/>
            <a:ext cx="4629150" cy="4873625"/>
          </a:xfrm>
          <a:prstGeom prst="rect">
            <a:avLst/>
          </a:prstGeom>
          <a:noFill/>
          <a:ln>
            <a:noFill/>
          </a:ln>
        </p:spPr>
      </p:sp>
      <p:sp>
        <p:nvSpPr>
          <p:cNvPr id="77" name="Google Shape;77;p116"/>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Arial"/>
              <a:buNone/>
              <a:defRPr sz="1600"/>
            </a:lvl1pPr>
            <a:lvl2pPr marL="914400" lvl="1" indent="-228600" algn="l">
              <a:spcBef>
                <a:spcPts val="280"/>
              </a:spcBef>
              <a:spcAft>
                <a:spcPts val="0"/>
              </a:spcAft>
              <a:buClr>
                <a:schemeClr val="dk1"/>
              </a:buClr>
              <a:buSzPts val="1400"/>
              <a:buFont typeface="Arial"/>
              <a:buNone/>
              <a:defRPr sz="1400"/>
            </a:lvl2pPr>
            <a:lvl3pPr marL="1371600" lvl="2" indent="-228600" algn="l">
              <a:spcBef>
                <a:spcPts val="240"/>
              </a:spcBef>
              <a:spcAft>
                <a:spcPts val="0"/>
              </a:spcAft>
              <a:buClr>
                <a:schemeClr val="dk1"/>
              </a:buClr>
              <a:buSzPts val="1200"/>
              <a:buFont typeface="Arial"/>
              <a:buNone/>
              <a:defRPr sz="1200"/>
            </a:lvl3pPr>
            <a:lvl4pPr marL="1828800" lvl="3" indent="-228600" algn="l">
              <a:spcBef>
                <a:spcPts val="200"/>
              </a:spcBef>
              <a:spcAft>
                <a:spcPts val="0"/>
              </a:spcAft>
              <a:buClr>
                <a:schemeClr val="dk1"/>
              </a:buClr>
              <a:buSzPts val="1000"/>
              <a:buFont typeface="Arial"/>
              <a:buNone/>
              <a:defRPr sz="1000"/>
            </a:lvl4pPr>
            <a:lvl5pPr marL="2286000" lvl="4" indent="-228600" algn="l">
              <a:spcBef>
                <a:spcPts val="200"/>
              </a:spcBef>
              <a:spcAft>
                <a:spcPts val="0"/>
              </a:spcAft>
              <a:buClr>
                <a:schemeClr val="dk1"/>
              </a:buClr>
              <a:buSzPts val="1000"/>
              <a:buFont typeface="Arial"/>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11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1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7"/>
          <p:cNvSpPr txBox="1">
            <a:spLocks noGrp="1"/>
          </p:cNvSpPr>
          <p:nvPr>
            <p:ph type="body" idx="1"/>
          </p:nvPr>
        </p:nvSpPr>
        <p:spPr>
          <a:xfrm rot="5400000">
            <a:off x="1943100" y="-342900"/>
            <a:ext cx="5257800" cy="77724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1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118"/>
          <p:cNvSpPr txBox="1">
            <a:spLocks noGrp="1"/>
          </p:cNvSpPr>
          <p:nvPr>
            <p:ph type="title"/>
          </p:nvPr>
        </p:nvSpPr>
        <p:spPr>
          <a:xfrm rot="5400000">
            <a:off x="4438650" y="2152650"/>
            <a:ext cx="6096000" cy="1943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8"/>
          <p:cNvSpPr txBox="1">
            <a:spLocks noGrp="1"/>
          </p:cNvSpPr>
          <p:nvPr>
            <p:ph type="body" idx="1"/>
          </p:nvPr>
        </p:nvSpPr>
        <p:spPr>
          <a:xfrm rot="5400000">
            <a:off x="476250" y="285750"/>
            <a:ext cx="6096000" cy="5676900"/>
          </a:xfrm>
          <a:prstGeom prst="rect">
            <a:avLst/>
          </a:prstGeom>
          <a:noFill/>
          <a:ln>
            <a:noFill/>
          </a:ln>
        </p:spPr>
        <p:txBody>
          <a:bodyPr spcFirstLastPara="1" wrap="square" lIns="91425" tIns="45700" rIns="91425" bIns="45700" anchor="t" anchorCtr="0">
            <a:noAutofit/>
          </a:bodyPr>
          <a:lstStyle>
            <a:lvl1pPr marL="457200" lvl="0" indent="-228600" algn="l">
              <a:spcBef>
                <a:spcPts val="360"/>
              </a:spcBef>
              <a:spcAft>
                <a:spcPts val="0"/>
              </a:spcAft>
              <a:buSzPts val="1400"/>
              <a:buNone/>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1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1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None/>
              <a:defRPr sz="1400">
                <a:solidFill>
                  <a:schemeClr val="dk1"/>
                </a:solidFill>
                <a:latin typeface="Times New Roman"/>
                <a:ea typeface="Times New Roman"/>
                <a:cs typeface="Times New Roman"/>
                <a:sym typeface="Times New Roman"/>
              </a:defRPr>
            </a:lvl1pPr>
            <a:lvl2pPr marL="0" marR="0" lvl="1" indent="0" algn="r">
              <a:spcBef>
                <a:spcPts val="0"/>
              </a:spcBef>
              <a:spcAft>
                <a:spcPts val="0"/>
              </a:spcAft>
              <a:buNone/>
              <a:defRPr sz="1400">
                <a:solidFill>
                  <a:schemeClr val="dk1"/>
                </a:solidFill>
                <a:latin typeface="Times New Roman"/>
                <a:ea typeface="Times New Roman"/>
                <a:cs typeface="Times New Roman"/>
                <a:sym typeface="Times New Roman"/>
              </a:defRPr>
            </a:lvl2pPr>
            <a:lvl3pPr marL="0" marR="0" lvl="2" indent="0" algn="r">
              <a:spcBef>
                <a:spcPts val="0"/>
              </a:spcBef>
              <a:spcAft>
                <a:spcPts val="0"/>
              </a:spcAft>
              <a:buNone/>
              <a:defRPr sz="1400">
                <a:solidFill>
                  <a:schemeClr val="dk1"/>
                </a:solidFill>
                <a:latin typeface="Times New Roman"/>
                <a:ea typeface="Times New Roman"/>
                <a:cs typeface="Times New Roman"/>
                <a:sym typeface="Times New Roman"/>
              </a:defRPr>
            </a:lvl3pPr>
            <a:lvl4pPr marL="0" marR="0" lvl="3" indent="0" algn="r">
              <a:spcBef>
                <a:spcPts val="0"/>
              </a:spcBef>
              <a:spcAft>
                <a:spcPts val="0"/>
              </a:spcAft>
              <a:buNone/>
              <a:defRPr sz="1400">
                <a:solidFill>
                  <a:schemeClr val="dk1"/>
                </a:solidFill>
                <a:latin typeface="Times New Roman"/>
                <a:ea typeface="Times New Roman"/>
                <a:cs typeface="Times New Roman"/>
                <a:sym typeface="Times New Roman"/>
              </a:defRPr>
            </a:lvl4pPr>
            <a:lvl5pPr marL="0" marR="0" lvl="4" indent="0" algn="r">
              <a:spcBef>
                <a:spcPts val="0"/>
              </a:spcBef>
              <a:spcAft>
                <a:spcPts val="0"/>
              </a:spcAft>
              <a:buNone/>
              <a:defRPr sz="1400">
                <a:solidFill>
                  <a:schemeClr val="dk1"/>
                </a:solidFill>
                <a:latin typeface="Times New Roman"/>
                <a:ea typeface="Times New Roman"/>
                <a:cs typeface="Times New Roman"/>
                <a:sym typeface="Times New Roman"/>
              </a:defRPr>
            </a:lvl5pPr>
            <a:lvl6pPr marL="0" marR="0" lvl="5" indent="0" algn="r">
              <a:spcBef>
                <a:spcPts val="0"/>
              </a:spcBef>
              <a:spcAft>
                <a:spcPts val="0"/>
              </a:spcAft>
              <a:buNone/>
              <a:defRPr sz="1400">
                <a:solidFill>
                  <a:schemeClr val="dk1"/>
                </a:solidFill>
                <a:latin typeface="Times New Roman"/>
                <a:ea typeface="Times New Roman"/>
                <a:cs typeface="Times New Roman"/>
                <a:sym typeface="Times New Roman"/>
              </a:defRPr>
            </a:lvl6pPr>
            <a:lvl7pPr marL="0" marR="0" lvl="6" indent="0" algn="r">
              <a:spcBef>
                <a:spcPts val="0"/>
              </a:spcBef>
              <a:spcAft>
                <a:spcPts val="0"/>
              </a:spcAft>
              <a:buNone/>
              <a:defRPr sz="1400">
                <a:solidFill>
                  <a:schemeClr val="dk1"/>
                </a:solidFill>
                <a:latin typeface="Times New Roman"/>
                <a:ea typeface="Times New Roman"/>
                <a:cs typeface="Times New Roman"/>
                <a:sym typeface="Times New Roman"/>
              </a:defRPr>
            </a:lvl7pPr>
            <a:lvl8pPr marL="0" marR="0" lvl="7" indent="0" algn="r">
              <a:spcBef>
                <a:spcPts val="0"/>
              </a:spcBef>
              <a:spcAft>
                <a:spcPts val="0"/>
              </a:spcAft>
              <a:buNone/>
              <a:defRPr sz="1400">
                <a:solidFill>
                  <a:schemeClr val="dk1"/>
                </a:solidFill>
                <a:latin typeface="Times New Roman"/>
                <a:ea typeface="Times New Roman"/>
                <a:cs typeface="Times New Roman"/>
                <a:sym typeface="Times New Roman"/>
              </a:defRPr>
            </a:lvl8pPr>
            <a:lvl9pPr marL="0" marR="0" lvl="8" indent="0" algn="r">
              <a:spcBef>
                <a:spcPts val="0"/>
              </a:spcBef>
              <a:spcAft>
                <a:spcPts val="0"/>
              </a:spcAft>
              <a:buNone/>
              <a:defRPr sz="1400">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8"/>
        <p:cNvGrpSpPr/>
        <p:nvPr/>
      </p:nvGrpSpPr>
      <p:grpSpPr>
        <a:xfrm>
          <a:off x="0" y="0"/>
          <a:ext cx="0" cy="0"/>
          <a:chOff x="0" y="0"/>
          <a:chExt cx="0" cy="0"/>
        </a:xfrm>
      </p:grpSpPr>
      <p:pic>
        <p:nvPicPr>
          <p:cNvPr id="99" name="Google Shape;99;g28fa4b45176_0_197" descr="BITS Pilani logo"/>
          <p:cNvPicPr preferRelativeResize="0"/>
          <p:nvPr/>
        </p:nvPicPr>
        <p:blipFill rotWithShape="1">
          <a:blip r:embed="rId2">
            <a:alphaModFix/>
          </a:blip>
          <a:srcRect/>
          <a:stretch/>
        </p:blipFill>
        <p:spPr>
          <a:xfrm>
            <a:off x="6617084" y="262802"/>
            <a:ext cx="2504055" cy="649430"/>
          </a:xfrm>
          <a:prstGeom prst="rect">
            <a:avLst/>
          </a:prstGeom>
          <a:noFill/>
          <a:ln>
            <a:noFill/>
          </a:ln>
        </p:spPr>
      </p:pic>
      <p:sp>
        <p:nvSpPr>
          <p:cNvPr id="100" name="Google Shape;100;g28fa4b45176_0_197"/>
          <p:cNvSpPr txBox="1"/>
          <p:nvPr/>
        </p:nvSpPr>
        <p:spPr>
          <a:xfrm>
            <a:off x="2783149" y="5716225"/>
            <a:ext cx="5908200" cy="8658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endParaRPr sz="1600" b="1" i="1" u="none" strike="noStrike" cap="none">
              <a:solidFill>
                <a:srgbClr val="7030A0"/>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8106"/>
              <a:buFont typeface="Arial"/>
              <a:buNone/>
            </a:pPr>
            <a:r>
              <a:rPr lang="en-US" sz="1600" b="1" i="1" u="none" strike="noStrike" cap="none">
                <a:solidFill>
                  <a:srgbClr val="7030A0"/>
                </a:solidFill>
                <a:latin typeface="Calibri"/>
                <a:ea typeface="Calibri"/>
                <a:cs typeface="Calibri"/>
                <a:sym typeface="Calibri"/>
              </a:rPr>
              <a:t>	S. P. Vimal</a:t>
            </a:r>
            <a:r>
              <a:rPr lang="en-US" sz="1600" b="1" i="1" u="none" strike="noStrike" cap="none">
                <a:solidFill>
                  <a:schemeClr val="dk1"/>
                </a:solidFill>
                <a:latin typeface="Calibri"/>
                <a:ea typeface="Calibri"/>
                <a:cs typeface="Calibri"/>
                <a:sym typeface="Calibri"/>
              </a:rPr>
              <a:t> | </a:t>
            </a:r>
            <a:r>
              <a:rPr lang="en-US" sz="1600" b="1" i="1" u="none" strike="noStrike" cap="none">
                <a:solidFill>
                  <a:srgbClr val="833C0B"/>
                </a:solidFill>
                <a:latin typeface="Calibri"/>
                <a:ea typeface="Calibri"/>
                <a:cs typeface="Calibri"/>
                <a:sym typeface="Calibri"/>
              </a:rPr>
              <a:t>CSIS Department</a:t>
            </a:r>
            <a:r>
              <a:rPr lang="en-US" sz="1600" b="1" i="1" u="none" strike="noStrike" cap="none">
                <a:solidFill>
                  <a:srgbClr val="2E75B5"/>
                </a:solidFill>
                <a:latin typeface="Calibri"/>
                <a:ea typeface="Calibri"/>
                <a:cs typeface="Calibri"/>
                <a:sym typeface="Calibri"/>
              </a:rPr>
              <a:t> </a:t>
            </a:r>
            <a:r>
              <a:rPr lang="en-US" sz="1600" b="1" i="1" u="none" strike="noStrike" cap="none">
                <a:solidFill>
                  <a:schemeClr val="dk1"/>
                </a:solidFill>
                <a:latin typeface="Calibri"/>
                <a:ea typeface="Calibri"/>
                <a:cs typeface="Calibri"/>
                <a:sym typeface="Calibri"/>
              </a:rPr>
              <a:t>| </a:t>
            </a:r>
            <a:r>
              <a:rPr lang="en-US" sz="1600" b="1" i="1" u="none" strike="noStrike" cap="none">
                <a:solidFill>
                  <a:srgbClr val="833C0B"/>
                </a:solidFill>
                <a:latin typeface="Calibri"/>
                <a:ea typeface="Calibri"/>
                <a:cs typeface="Calibri"/>
                <a:sym typeface="Calibri"/>
              </a:rPr>
              <a:t>WILP</a:t>
            </a:r>
            <a:r>
              <a:rPr lang="en-US" sz="1600" b="1" i="1" u="none" strike="noStrike" cap="none">
                <a:solidFill>
                  <a:schemeClr val="dk1"/>
                </a:solidFill>
                <a:latin typeface="Calibri"/>
                <a:ea typeface="Calibri"/>
                <a:cs typeface="Calibri"/>
                <a:sym typeface="Calibri"/>
              </a:rPr>
              <a:t> | </a:t>
            </a:r>
            <a:r>
              <a:rPr lang="en-US" sz="1600" b="1" i="1" u="none" strike="noStrike" cap="none">
                <a:solidFill>
                  <a:srgbClr val="833C0B"/>
                </a:solidFill>
                <a:latin typeface="Calibri"/>
                <a:ea typeface="Calibri"/>
                <a:cs typeface="Calibri"/>
                <a:sym typeface="Calibri"/>
              </a:rPr>
              <a:t>BITS – Pilani </a:t>
            </a:r>
            <a:r>
              <a:rPr lang="en-US" sz="1600" b="1" i="1" u="none" strike="noStrike" cap="none">
                <a:solidFill>
                  <a:schemeClr val="dk1"/>
                </a:solidFill>
                <a:latin typeface="Calibri"/>
                <a:ea typeface="Calibri"/>
                <a:cs typeface="Calibri"/>
                <a:sym typeface="Calibri"/>
              </a:rPr>
              <a:t>(</a:t>
            </a:r>
            <a:r>
              <a:rPr lang="en-US" sz="1600" b="1" i="1" u="sng" strike="noStrike" cap="none">
                <a:solidFill>
                  <a:schemeClr val="hlink"/>
                </a:solidFill>
                <a:latin typeface="Calibri"/>
                <a:ea typeface="Calibri"/>
                <a:cs typeface="Calibri"/>
                <a:sym typeface="Calibri"/>
                <a:hlinkClick r:id="rId3"/>
              </a:rPr>
              <a:t>vimalsp@wilp.bits-pilani.ac.in</a:t>
            </a:r>
            <a:r>
              <a:rPr lang="en-US" sz="1600" b="1" i="1"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pic>
        <p:nvPicPr>
          <p:cNvPr id="101" name="Google Shape;101;g28fa4b45176_0_197"/>
          <p:cNvPicPr preferRelativeResize="0"/>
          <p:nvPr/>
        </p:nvPicPr>
        <p:blipFill rotWithShape="1">
          <a:blip r:embed="rId4">
            <a:alphaModFix/>
          </a:blip>
          <a:srcRect/>
          <a:stretch/>
        </p:blipFill>
        <p:spPr>
          <a:xfrm>
            <a:off x="0" y="0"/>
            <a:ext cx="4186242" cy="5143500"/>
          </a:xfrm>
          <a:prstGeom prst="rect">
            <a:avLst/>
          </a:prstGeom>
          <a:noFill/>
          <a:ln>
            <a:noFill/>
          </a:ln>
        </p:spPr>
      </p:pic>
      <p:sp>
        <p:nvSpPr>
          <p:cNvPr id="102" name="Google Shape;102;g28fa4b45176_0_197"/>
          <p:cNvSpPr txBox="1">
            <a:spLocks noGrp="1"/>
          </p:cNvSpPr>
          <p:nvPr>
            <p:ph type="ctrTitle"/>
          </p:nvPr>
        </p:nvSpPr>
        <p:spPr>
          <a:xfrm>
            <a:off x="1400993" y="3226527"/>
            <a:ext cx="7117500" cy="12735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dk1"/>
              </a:buClr>
              <a:buSzPts val="3600"/>
              <a:buFont typeface="Calibri"/>
              <a:buNone/>
              <a:defRPr sz="3600" cap="none">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3" name="Google Shape;103;g28fa4b45176_0_197"/>
          <p:cNvSpPr txBox="1"/>
          <p:nvPr/>
        </p:nvSpPr>
        <p:spPr>
          <a:xfrm>
            <a:off x="48394" y="1053900"/>
            <a:ext cx="3147000" cy="909600"/>
          </a:xfrm>
          <a:prstGeom prst="rect">
            <a:avLst/>
          </a:prstGeom>
          <a:noFill/>
          <a:ln>
            <a:noFill/>
          </a:ln>
        </p:spPr>
        <p:txBody>
          <a:bodyPr spcFirstLastPara="1" wrap="square" lIns="91425" tIns="45700" rIns="91425" bIns="45700" anchor="t" anchorCtr="0">
            <a:normAutofit lnSpcReduction="10000"/>
          </a:bodyPr>
          <a:lstStyle/>
          <a:p>
            <a:pPr marL="0" marR="0" lvl="0" indent="0" algn="r" rtl="0">
              <a:lnSpc>
                <a:spcPct val="90000"/>
              </a:lnSpc>
              <a:spcBef>
                <a:spcPts val="0"/>
              </a:spcBef>
              <a:spcAft>
                <a:spcPts val="0"/>
              </a:spcAft>
              <a:buClr>
                <a:schemeClr val="dk1"/>
              </a:buClr>
              <a:buSzPts val="1600"/>
              <a:buFont typeface="Arial"/>
              <a:buNone/>
            </a:pPr>
            <a:r>
              <a:rPr lang="en-US" sz="2600" b="0" i="0" u="none" strike="noStrike" cap="none">
                <a:solidFill>
                  <a:schemeClr val="dk1"/>
                </a:solidFill>
                <a:latin typeface="Calibri"/>
                <a:ea typeface="Calibri"/>
                <a:cs typeface="Calibri"/>
                <a:sym typeface="Calibri"/>
              </a:rPr>
              <a:t>Computer Vision</a:t>
            </a:r>
            <a:endParaRPr sz="2600" b="0" i="0" u="none" strike="noStrike" cap="none">
              <a:solidFill>
                <a:schemeClr val="dk1"/>
              </a:solidFill>
              <a:latin typeface="Calibri"/>
              <a:ea typeface="Calibri"/>
              <a:cs typeface="Calibri"/>
              <a:sym typeface="Calibri"/>
            </a:endParaRPr>
          </a:p>
          <a:p>
            <a:pPr marL="0" marR="0" lvl="0" indent="0" algn="r" rtl="0">
              <a:lnSpc>
                <a:spcPct val="90000"/>
              </a:lnSpc>
              <a:spcBef>
                <a:spcPts val="0"/>
              </a:spcBef>
              <a:spcAft>
                <a:spcPts val="0"/>
              </a:spcAft>
              <a:buClr>
                <a:schemeClr val="dk1"/>
              </a:buClr>
              <a:buSzPts val="1600"/>
              <a:buFont typeface="Arial"/>
              <a:buNone/>
            </a:pPr>
            <a:r>
              <a:rPr lang="en-US" sz="1700" b="0" i="0" u="none" strike="noStrike" cap="none">
                <a:solidFill>
                  <a:schemeClr val="dk1"/>
                </a:solidFill>
                <a:latin typeface="Calibri"/>
                <a:ea typeface="Calibri"/>
                <a:cs typeface="Calibri"/>
                <a:sym typeface="Calibri"/>
              </a:rPr>
              <a:t>2023-24 First Semester, M.Tech (AIML)   </a:t>
            </a:r>
            <a:endParaRPr sz="15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104"/>
        <p:cNvGrpSpPr/>
        <p:nvPr/>
      </p:nvGrpSpPr>
      <p:grpSpPr>
        <a:xfrm>
          <a:off x="0" y="0"/>
          <a:ext cx="0" cy="0"/>
          <a:chOff x="0" y="0"/>
          <a:chExt cx="0" cy="0"/>
        </a:xfrm>
      </p:grpSpPr>
      <p:pic>
        <p:nvPicPr>
          <p:cNvPr id="105" name="Google Shape;105;g28fa4b45176_0_203" descr="BITS Pilani logo"/>
          <p:cNvPicPr preferRelativeResize="0"/>
          <p:nvPr/>
        </p:nvPicPr>
        <p:blipFill rotWithShape="1">
          <a:blip r:embed="rId2">
            <a:alphaModFix/>
          </a:blip>
          <a:srcRect/>
          <a:stretch/>
        </p:blipFill>
        <p:spPr>
          <a:xfrm>
            <a:off x="288131" y="288928"/>
            <a:ext cx="2504055" cy="649430"/>
          </a:xfrm>
          <a:prstGeom prst="rect">
            <a:avLst/>
          </a:prstGeom>
          <a:noFill/>
          <a:ln>
            <a:noFill/>
          </a:ln>
        </p:spPr>
      </p:pic>
      <p:sp>
        <p:nvSpPr>
          <p:cNvPr id="106" name="Google Shape;106;g28fa4b45176_0_203"/>
          <p:cNvSpPr txBox="1">
            <a:spLocks noGrp="1"/>
          </p:cNvSpPr>
          <p:nvPr>
            <p:ph type="title"/>
          </p:nvPr>
        </p:nvSpPr>
        <p:spPr>
          <a:xfrm>
            <a:off x="351337" y="1671639"/>
            <a:ext cx="4504200" cy="653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7" name="Google Shape;107;g28fa4b45176_0_203"/>
          <p:cNvSpPr txBox="1">
            <a:spLocks noGrp="1"/>
          </p:cNvSpPr>
          <p:nvPr>
            <p:ph type="body" idx="1"/>
          </p:nvPr>
        </p:nvSpPr>
        <p:spPr>
          <a:xfrm>
            <a:off x="1021556" y="2586447"/>
            <a:ext cx="4504200" cy="33048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8" name="Google Shape;108;g28fa4b45176_0_203"/>
          <p:cNvSpPr txBox="1">
            <a:spLocks noGrp="1"/>
          </p:cNvSpPr>
          <p:nvPr>
            <p:ph type="ftr" idx="11"/>
          </p:nvPr>
        </p:nvSpPr>
        <p:spPr>
          <a:xfrm>
            <a:off x="1847850" y="6356350"/>
            <a:ext cx="26097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9" name="Google Shape;109;g28fa4b45176_0_20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110"/>
        <p:cNvGrpSpPr/>
        <p:nvPr/>
      </p:nvGrpSpPr>
      <p:grpSpPr>
        <a:xfrm>
          <a:off x="0" y="0"/>
          <a:ext cx="0" cy="0"/>
          <a:chOff x="0" y="0"/>
          <a:chExt cx="0" cy="0"/>
        </a:xfrm>
      </p:grpSpPr>
      <p:sp>
        <p:nvSpPr>
          <p:cNvPr id="111" name="Google Shape;111;g28fa4b45176_0_20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4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2" name="Google Shape;112;g28fa4b45176_0_209"/>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113" name="Google Shape;113;g28fa4b45176_0_209"/>
          <p:cNvSpPr txBox="1">
            <a:spLocks noGrp="1"/>
          </p:cNvSpPr>
          <p:nvPr>
            <p:ph type="dt" idx="10"/>
          </p:nvPr>
        </p:nvSpPr>
        <p:spPr>
          <a:xfrm>
            <a:off x="457200" y="6245225"/>
            <a:ext cx="2133600" cy="476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4" name="Google Shape;114;g28fa4b45176_0_209"/>
          <p:cNvSpPr txBox="1">
            <a:spLocks noGrp="1"/>
          </p:cNvSpPr>
          <p:nvPr>
            <p:ph type="ftr" idx="11"/>
          </p:nvPr>
        </p:nvSpPr>
        <p:spPr>
          <a:xfrm>
            <a:off x="3124200" y="6245225"/>
            <a:ext cx="2895600" cy="476400"/>
          </a:xfrm>
          <a:prstGeom prst="rect">
            <a:avLst/>
          </a:prstGeom>
          <a:noFill/>
          <a:ln>
            <a:noFill/>
          </a:ln>
        </p:spPr>
        <p:txBody>
          <a:bodyPr spcFirstLastPara="1" wrap="square" lIns="91425" tIns="45700" rIns="91425" bIns="45700" anchor="t"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5" name="Google Shape;115;g28fa4b45176_0_209"/>
          <p:cNvSpPr txBox="1">
            <a:spLocks noGrp="1"/>
          </p:cNvSpPr>
          <p:nvPr>
            <p:ph type="sldNum" idx="12"/>
          </p:nvPr>
        </p:nvSpPr>
        <p:spPr>
          <a:xfrm>
            <a:off x="6553200" y="6245225"/>
            <a:ext cx="2133600" cy="4764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2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6"/>
        <p:cNvGrpSpPr/>
        <p:nvPr/>
      </p:nvGrpSpPr>
      <p:grpSpPr>
        <a:xfrm>
          <a:off x="0" y="0"/>
          <a:ext cx="0" cy="0"/>
          <a:chOff x="0" y="0"/>
          <a:chExt cx="0" cy="0"/>
        </a:xfrm>
      </p:grpSpPr>
      <p:sp>
        <p:nvSpPr>
          <p:cNvPr id="117" name="Google Shape;117;g28fa4b45176_0_21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4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g28fa4b45176_0_215"/>
          <p:cNvSpPr txBox="1">
            <a:spLocks noGrp="1"/>
          </p:cNvSpPr>
          <p:nvPr>
            <p:ph type="dt" idx="10"/>
          </p:nvPr>
        </p:nvSpPr>
        <p:spPr>
          <a:xfrm>
            <a:off x="457200" y="6245225"/>
            <a:ext cx="2133600" cy="476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g28fa4b45176_0_215"/>
          <p:cNvSpPr txBox="1">
            <a:spLocks noGrp="1"/>
          </p:cNvSpPr>
          <p:nvPr>
            <p:ph type="ftr" idx="11"/>
          </p:nvPr>
        </p:nvSpPr>
        <p:spPr>
          <a:xfrm>
            <a:off x="3124200" y="6245225"/>
            <a:ext cx="2895600" cy="476400"/>
          </a:xfrm>
          <a:prstGeom prst="rect">
            <a:avLst/>
          </a:prstGeom>
          <a:noFill/>
          <a:ln>
            <a:noFill/>
          </a:ln>
        </p:spPr>
        <p:txBody>
          <a:bodyPr spcFirstLastPara="1" wrap="square" lIns="91425" tIns="45700" rIns="91425" bIns="45700" anchor="t"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0" name="Google Shape;120;g28fa4b45176_0_215"/>
          <p:cNvSpPr txBox="1">
            <a:spLocks noGrp="1"/>
          </p:cNvSpPr>
          <p:nvPr>
            <p:ph type="sldNum" idx="12"/>
          </p:nvPr>
        </p:nvSpPr>
        <p:spPr>
          <a:xfrm>
            <a:off x="6553200" y="6245225"/>
            <a:ext cx="2133600" cy="4764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2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accent1"/>
        </a:solidFill>
        <a:effectLst/>
      </p:bgPr>
    </p:bg>
    <p:spTree>
      <p:nvGrpSpPr>
        <p:cNvPr id="1" name="Shape 121"/>
        <p:cNvGrpSpPr/>
        <p:nvPr/>
      </p:nvGrpSpPr>
      <p:grpSpPr>
        <a:xfrm>
          <a:off x="0" y="0"/>
          <a:ext cx="0" cy="0"/>
          <a:chOff x="0" y="0"/>
          <a:chExt cx="0" cy="0"/>
        </a:xfrm>
      </p:grpSpPr>
      <p:sp>
        <p:nvSpPr>
          <p:cNvPr id="122" name="Google Shape;122;g28fa4b45176_0_220"/>
          <p:cNvSpPr txBox="1">
            <a:spLocks noGrp="1"/>
          </p:cNvSpPr>
          <p:nvPr>
            <p:ph type="title"/>
          </p:nvPr>
        </p:nvSpPr>
        <p:spPr>
          <a:xfrm>
            <a:off x="628650" y="365125"/>
            <a:ext cx="7886700" cy="12468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3" name="Google Shape;123;g28fa4b45176_0_220"/>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24" name="Google Shape;124;g28fa4b45176_0_220"/>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25" name="Google Shape;125;g28fa4b45176_0_220"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126" name="Google Shape;126;g28fa4b45176_0_220"/>
          <p:cNvSpPr txBox="1">
            <a:spLocks noGrp="1"/>
          </p:cNvSpPr>
          <p:nvPr>
            <p:ph type="body" idx="1"/>
          </p:nvPr>
        </p:nvSpPr>
        <p:spPr>
          <a:xfrm>
            <a:off x="628650" y="1894114"/>
            <a:ext cx="7886700" cy="41802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27"/>
        <p:cNvGrpSpPr/>
        <p:nvPr/>
      </p:nvGrpSpPr>
      <p:grpSpPr>
        <a:xfrm>
          <a:off x="0" y="0"/>
          <a:ext cx="0" cy="0"/>
          <a:chOff x="0" y="0"/>
          <a:chExt cx="0" cy="0"/>
        </a:xfrm>
      </p:grpSpPr>
      <p:pic>
        <p:nvPicPr>
          <p:cNvPr id="128" name="Google Shape;128;g28fa4b45176_0_226"/>
          <p:cNvPicPr preferRelativeResize="0"/>
          <p:nvPr/>
        </p:nvPicPr>
        <p:blipFill rotWithShape="1">
          <a:blip r:embed="rId2">
            <a:alphaModFix/>
          </a:blip>
          <a:srcRect/>
          <a:stretch/>
        </p:blipFill>
        <p:spPr>
          <a:xfrm>
            <a:off x="0" y="0"/>
            <a:ext cx="4186242" cy="5143500"/>
          </a:xfrm>
          <a:prstGeom prst="rect">
            <a:avLst/>
          </a:prstGeom>
          <a:noFill/>
          <a:ln>
            <a:noFill/>
          </a:ln>
        </p:spPr>
      </p:pic>
      <p:sp>
        <p:nvSpPr>
          <p:cNvPr id="129" name="Google Shape;129;g28fa4b45176_0_226"/>
          <p:cNvSpPr txBox="1">
            <a:spLocks noGrp="1"/>
          </p:cNvSpPr>
          <p:nvPr>
            <p:ph type="title"/>
          </p:nvPr>
        </p:nvSpPr>
        <p:spPr>
          <a:xfrm>
            <a:off x="3493293" y="2809875"/>
            <a:ext cx="5022000" cy="1909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0" name="Google Shape;130;g28fa4b45176_0_226"/>
          <p:cNvSpPr txBox="1">
            <a:spLocks noGrp="1"/>
          </p:cNvSpPr>
          <p:nvPr>
            <p:ph type="subTitle" idx="1"/>
          </p:nvPr>
        </p:nvSpPr>
        <p:spPr>
          <a:xfrm>
            <a:off x="3493294" y="5028803"/>
            <a:ext cx="5022000" cy="365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1000"/>
              </a:spcBef>
              <a:spcAft>
                <a:spcPts val="0"/>
              </a:spcAft>
              <a:buClr>
                <a:srgbClr val="757070"/>
              </a:buClr>
              <a:buSzPts val="1600"/>
              <a:buNone/>
              <a:defRPr sz="1600">
                <a:solidFill>
                  <a:srgbClr val="757070"/>
                </a:solidFill>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131" name="Google Shape;131;g28fa4b45176_0_226"/>
          <p:cNvSpPr txBox="1">
            <a:spLocks noGrp="1"/>
          </p:cNvSpPr>
          <p:nvPr>
            <p:ph type="ftr" idx="11"/>
          </p:nvPr>
        </p:nvSpPr>
        <p:spPr>
          <a:xfrm>
            <a:off x="5057774" y="6356350"/>
            <a:ext cx="19074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2" name="Google Shape;132;g28fa4b45176_0_226"/>
          <p:cNvSpPr txBox="1">
            <a:spLocks noGrp="1"/>
          </p:cNvSpPr>
          <p:nvPr>
            <p:ph type="sldNum" idx="12"/>
          </p:nvPr>
        </p:nvSpPr>
        <p:spPr>
          <a:xfrm>
            <a:off x="7243763" y="6356350"/>
            <a:ext cx="12717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3" name="Google Shape;133;g28fa4b45176_0_226" descr="BITS Pilani logo"/>
          <p:cNvPicPr preferRelativeResize="0"/>
          <p:nvPr/>
        </p:nvPicPr>
        <p:blipFill rotWithShape="1">
          <a:blip r:embed="rId3">
            <a:alphaModFix/>
          </a:blip>
          <a:srcRect/>
          <a:stretch/>
        </p:blipFill>
        <p:spPr>
          <a:xfrm>
            <a:off x="6627529" y="192510"/>
            <a:ext cx="2504055" cy="64943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134"/>
        <p:cNvGrpSpPr/>
        <p:nvPr/>
      </p:nvGrpSpPr>
      <p:grpSpPr>
        <a:xfrm>
          <a:off x="0" y="0"/>
          <a:ext cx="0" cy="0"/>
          <a:chOff x="0" y="0"/>
          <a:chExt cx="0" cy="0"/>
        </a:xfrm>
      </p:grpSpPr>
      <p:sp>
        <p:nvSpPr>
          <p:cNvPr id="135" name="Google Shape;135;g28fa4b45176_0_233"/>
          <p:cNvSpPr txBox="1">
            <a:spLocks noGrp="1"/>
          </p:cNvSpPr>
          <p:nvPr>
            <p:ph type="title"/>
          </p:nvPr>
        </p:nvSpPr>
        <p:spPr>
          <a:xfrm>
            <a:off x="628650" y="365126"/>
            <a:ext cx="7650000" cy="10278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6" name="Google Shape;136;g28fa4b45176_0_23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37" name="Google Shape;137;g28fa4b45176_0_23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8" name="Google Shape;138;g28fa4b45176_0_233"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139" name="Google Shape;139;g28fa4b45176_0_233"/>
          <p:cNvSpPr txBox="1">
            <a:spLocks noGrp="1"/>
          </p:cNvSpPr>
          <p:nvPr>
            <p:ph type="body" idx="1"/>
          </p:nvPr>
        </p:nvSpPr>
        <p:spPr>
          <a:xfrm>
            <a:off x="628650" y="1632858"/>
            <a:ext cx="7886700" cy="44415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Break" type="title">
  <p:cSld name="TITLE">
    <p:bg>
      <p:bgPr>
        <a:solidFill>
          <a:schemeClr val="dk1"/>
        </a:solidFill>
        <a:effectLst/>
      </p:bgPr>
    </p:bg>
    <p:spTree>
      <p:nvGrpSpPr>
        <p:cNvPr id="1" name="Shape 140"/>
        <p:cNvGrpSpPr/>
        <p:nvPr/>
      </p:nvGrpSpPr>
      <p:grpSpPr>
        <a:xfrm>
          <a:off x="0" y="0"/>
          <a:ext cx="0" cy="0"/>
          <a:chOff x="0" y="0"/>
          <a:chExt cx="0" cy="0"/>
        </a:xfrm>
      </p:grpSpPr>
      <p:sp>
        <p:nvSpPr>
          <p:cNvPr id="141" name="Google Shape;141;g28fa4b45176_0_239"/>
          <p:cNvSpPr txBox="1">
            <a:spLocks noGrp="1"/>
          </p:cNvSpPr>
          <p:nvPr>
            <p:ph type="ctrTitle"/>
          </p:nvPr>
        </p:nvSpPr>
        <p:spPr>
          <a:xfrm>
            <a:off x="5243513" y="2148840"/>
            <a:ext cx="3134700" cy="17154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lt1"/>
              </a:buClr>
              <a:buSzPts val="3600"/>
              <a:buFont typeface="Calibri"/>
              <a:buNone/>
              <a:defRPr sz="36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2" name="Google Shape;142;g28fa4b45176_0_239"/>
          <p:cNvSpPr txBox="1">
            <a:spLocks noGrp="1"/>
          </p:cNvSpPr>
          <p:nvPr>
            <p:ph type="subTitle" idx="1"/>
          </p:nvPr>
        </p:nvSpPr>
        <p:spPr>
          <a:xfrm>
            <a:off x="5243513" y="3962003"/>
            <a:ext cx="3134700" cy="3651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1000"/>
              </a:spcBef>
              <a:spcAft>
                <a:spcPts val="0"/>
              </a:spcAft>
              <a:buClr>
                <a:schemeClr val="lt1"/>
              </a:buClr>
              <a:buSzPts val="1600"/>
              <a:buNone/>
              <a:defRPr sz="1600">
                <a:solidFill>
                  <a:schemeClr val="lt1"/>
                </a:solidFill>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pic>
        <p:nvPicPr>
          <p:cNvPr id="143" name="Google Shape;143;g28fa4b45176_0_239"/>
          <p:cNvPicPr preferRelativeResize="0"/>
          <p:nvPr/>
        </p:nvPicPr>
        <p:blipFill rotWithShape="1">
          <a:blip r:embed="rId2">
            <a:alphaModFix/>
          </a:blip>
          <a:srcRect/>
          <a:stretch/>
        </p:blipFill>
        <p:spPr>
          <a:xfrm>
            <a:off x="0" y="828675"/>
            <a:ext cx="4407694" cy="390048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144"/>
        <p:cNvGrpSpPr/>
        <p:nvPr/>
      </p:nvGrpSpPr>
      <p:grpSpPr>
        <a:xfrm>
          <a:off x="0" y="0"/>
          <a:ext cx="0" cy="0"/>
          <a:chOff x="0" y="0"/>
          <a:chExt cx="0" cy="0"/>
        </a:xfrm>
      </p:grpSpPr>
      <p:sp>
        <p:nvSpPr>
          <p:cNvPr id="145" name="Google Shape;145;g28fa4b45176_0_243"/>
          <p:cNvSpPr txBox="1">
            <a:spLocks noGrp="1"/>
          </p:cNvSpPr>
          <p:nvPr>
            <p:ph type="title"/>
          </p:nvPr>
        </p:nvSpPr>
        <p:spPr>
          <a:xfrm>
            <a:off x="932328" y="443369"/>
            <a:ext cx="7583100" cy="10515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6" name="Google Shape;146;g28fa4b45176_0_243"/>
          <p:cNvSpPr txBox="1">
            <a:spLocks noGrp="1"/>
          </p:cNvSpPr>
          <p:nvPr>
            <p:ph type="body" idx="1"/>
          </p:nvPr>
        </p:nvSpPr>
        <p:spPr>
          <a:xfrm>
            <a:off x="932327" y="1932770"/>
            <a:ext cx="21618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47" name="Google Shape;147;g28fa4b45176_0_243"/>
          <p:cNvSpPr txBox="1">
            <a:spLocks noGrp="1"/>
          </p:cNvSpPr>
          <p:nvPr>
            <p:ph type="body" idx="2"/>
          </p:nvPr>
        </p:nvSpPr>
        <p:spPr>
          <a:xfrm>
            <a:off x="932328"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000"/>
              </a:spcBef>
              <a:spcAft>
                <a:spcPts val="0"/>
              </a:spcAft>
              <a:buClr>
                <a:schemeClr val="dk1"/>
              </a:buClr>
              <a:buSzPts val="1400"/>
              <a:buNone/>
              <a:defRPr sz="1400"/>
            </a:lvl1pPr>
            <a:lvl2pPr marL="914400" lvl="1" indent="-228600" algn="l" rtl="0">
              <a:lnSpc>
                <a:spcPct val="100000"/>
              </a:lnSpc>
              <a:spcBef>
                <a:spcPts val="500"/>
              </a:spcBef>
              <a:spcAft>
                <a:spcPts val="0"/>
              </a:spcAft>
              <a:buClr>
                <a:schemeClr val="dk1"/>
              </a:buClr>
              <a:buSzPts val="1400"/>
              <a:buNone/>
              <a:defRPr sz="1400"/>
            </a:lvl2pPr>
            <a:lvl3pPr marL="1371600" lvl="2" indent="-228600" algn="l" rtl="0">
              <a:lnSpc>
                <a:spcPct val="100000"/>
              </a:lnSpc>
              <a:spcBef>
                <a:spcPts val="500"/>
              </a:spcBef>
              <a:spcAft>
                <a:spcPts val="0"/>
              </a:spcAft>
              <a:buClr>
                <a:schemeClr val="dk1"/>
              </a:buClr>
              <a:buSzPts val="1400"/>
              <a:buNone/>
              <a:defRPr sz="1400"/>
            </a:lvl3pPr>
            <a:lvl4pPr marL="1828800" lvl="3" indent="-228600" algn="l" rtl="0">
              <a:lnSpc>
                <a:spcPct val="100000"/>
              </a:lnSpc>
              <a:spcBef>
                <a:spcPts val="500"/>
              </a:spcBef>
              <a:spcAft>
                <a:spcPts val="0"/>
              </a:spcAft>
              <a:buClr>
                <a:schemeClr val="dk1"/>
              </a:buClr>
              <a:buSzPts val="1400"/>
              <a:buNone/>
              <a:defRPr sz="1400"/>
            </a:lvl4pPr>
            <a:lvl5pPr marL="2286000" lvl="4" indent="-228600" algn="l" rtl="0">
              <a:lnSpc>
                <a:spcPct val="100000"/>
              </a:lnSpc>
              <a:spcBef>
                <a:spcPts val="500"/>
              </a:spcBef>
              <a:spcAft>
                <a:spcPts val="0"/>
              </a:spcAft>
              <a:buClr>
                <a:schemeClr val="dk1"/>
              </a:buClr>
              <a:buSzPts val="1400"/>
              <a:buNone/>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48" name="Google Shape;148;g28fa4b45176_0_243"/>
          <p:cNvSpPr txBox="1">
            <a:spLocks noGrp="1"/>
          </p:cNvSpPr>
          <p:nvPr>
            <p:ph type="body" idx="3"/>
          </p:nvPr>
        </p:nvSpPr>
        <p:spPr>
          <a:xfrm>
            <a:off x="3485748" y="1953443"/>
            <a:ext cx="21726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49" name="Google Shape;149;g28fa4b45176_0_243"/>
          <p:cNvSpPr txBox="1">
            <a:spLocks noGrp="1"/>
          </p:cNvSpPr>
          <p:nvPr>
            <p:ph type="body" idx="4"/>
          </p:nvPr>
        </p:nvSpPr>
        <p:spPr>
          <a:xfrm>
            <a:off x="3485749" y="3056709"/>
            <a:ext cx="2172600" cy="2775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000"/>
              </a:spcBef>
              <a:spcAft>
                <a:spcPts val="0"/>
              </a:spcAft>
              <a:buClr>
                <a:schemeClr val="dk1"/>
              </a:buClr>
              <a:buSzPts val="1400"/>
              <a:buNone/>
              <a:defRPr sz="1400"/>
            </a:lvl1pPr>
            <a:lvl2pPr marL="914400" lvl="1" indent="-228600" algn="l" rtl="0">
              <a:lnSpc>
                <a:spcPct val="100000"/>
              </a:lnSpc>
              <a:spcBef>
                <a:spcPts val="500"/>
              </a:spcBef>
              <a:spcAft>
                <a:spcPts val="0"/>
              </a:spcAft>
              <a:buClr>
                <a:schemeClr val="dk1"/>
              </a:buClr>
              <a:buSzPts val="1400"/>
              <a:buNone/>
              <a:defRPr sz="1400"/>
            </a:lvl2pPr>
            <a:lvl3pPr marL="1371600" lvl="2" indent="-228600" algn="l" rtl="0">
              <a:lnSpc>
                <a:spcPct val="100000"/>
              </a:lnSpc>
              <a:spcBef>
                <a:spcPts val="500"/>
              </a:spcBef>
              <a:spcAft>
                <a:spcPts val="0"/>
              </a:spcAft>
              <a:buClr>
                <a:schemeClr val="dk1"/>
              </a:buClr>
              <a:buSzPts val="1400"/>
              <a:buNone/>
              <a:defRPr sz="1400"/>
            </a:lvl3pPr>
            <a:lvl4pPr marL="1828800" lvl="3" indent="-228600" algn="l" rtl="0">
              <a:lnSpc>
                <a:spcPct val="100000"/>
              </a:lnSpc>
              <a:spcBef>
                <a:spcPts val="500"/>
              </a:spcBef>
              <a:spcAft>
                <a:spcPts val="0"/>
              </a:spcAft>
              <a:buClr>
                <a:schemeClr val="dk1"/>
              </a:buClr>
              <a:buSzPts val="1400"/>
              <a:buNone/>
              <a:defRPr sz="1400"/>
            </a:lvl4pPr>
            <a:lvl5pPr marL="2286000" lvl="4" indent="-228600" algn="l" rtl="0">
              <a:lnSpc>
                <a:spcPct val="100000"/>
              </a:lnSpc>
              <a:spcBef>
                <a:spcPts val="500"/>
              </a:spcBef>
              <a:spcAft>
                <a:spcPts val="0"/>
              </a:spcAft>
              <a:buClr>
                <a:schemeClr val="dk1"/>
              </a:buClr>
              <a:buSzPts val="1400"/>
              <a:buNone/>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50" name="Google Shape;150;g28fa4b45176_0_243"/>
          <p:cNvSpPr txBox="1">
            <a:spLocks noGrp="1"/>
          </p:cNvSpPr>
          <p:nvPr>
            <p:ph type="body" idx="5"/>
          </p:nvPr>
        </p:nvSpPr>
        <p:spPr>
          <a:xfrm>
            <a:off x="6049815" y="1958896"/>
            <a:ext cx="21618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51" name="Google Shape;151;g28fa4b45176_0_243"/>
          <p:cNvSpPr txBox="1">
            <a:spLocks noGrp="1"/>
          </p:cNvSpPr>
          <p:nvPr>
            <p:ph type="body" idx="6"/>
          </p:nvPr>
        </p:nvSpPr>
        <p:spPr>
          <a:xfrm>
            <a:off x="6049816"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000"/>
              </a:spcBef>
              <a:spcAft>
                <a:spcPts val="0"/>
              </a:spcAft>
              <a:buClr>
                <a:schemeClr val="dk1"/>
              </a:buClr>
              <a:buSzPts val="1400"/>
              <a:buNone/>
              <a:defRPr sz="1400"/>
            </a:lvl1pPr>
            <a:lvl2pPr marL="914400" lvl="1" indent="-228600" algn="l" rtl="0">
              <a:lnSpc>
                <a:spcPct val="100000"/>
              </a:lnSpc>
              <a:spcBef>
                <a:spcPts val="500"/>
              </a:spcBef>
              <a:spcAft>
                <a:spcPts val="0"/>
              </a:spcAft>
              <a:buClr>
                <a:schemeClr val="dk1"/>
              </a:buClr>
              <a:buSzPts val="1400"/>
              <a:buNone/>
              <a:defRPr sz="1400"/>
            </a:lvl2pPr>
            <a:lvl3pPr marL="1371600" lvl="2" indent="-228600" algn="l" rtl="0">
              <a:lnSpc>
                <a:spcPct val="100000"/>
              </a:lnSpc>
              <a:spcBef>
                <a:spcPts val="500"/>
              </a:spcBef>
              <a:spcAft>
                <a:spcPts val="0"/>
              </a:spcAft>
              <a:buClr>
                <a:schemeClr val="dk1"/>
              </a:buClr>
              <a:buSzPts val="1400"/>
              <a:buNone/>
              <a:defRPr sz="1400"/>
            </a:lvl3pPr>
            <a:lvl4pPr marL="1828800" lvl="3" indent="-228600" algn="l" rtl="0">
              <a:lnSpc>
                <a:spcPct val="100000"/>
              </a:lnSpc>
              <a:spcBef>
                <a:spcPts val="500"/>
              </a:spcBef>
              <a:spcAft>
                <a:spcPts val="0"/>
              </a:spcAft>
              <a:buClr>
                <a:schemeClr val="dk1"/>
              </a:buClr>
              <a:buSzPts val="1400"/>
              <a:buNone/>
              <a:defRPr sz="1400"/>
            </a:lvl4pPr>
            <a:lvl5pPr marL="2286000" lvl="4" indent="-228600" algn="l" rtl="0">
              <a:lnSpc>
                <a:spcPct val="100000"/>
              </a:lnSpc>
              <a:spcBef>
                <a:spcPts val="500"/>
              </a:spcBef>
              <a:spcAft>
                <a:spcPts val="0"/>
              </a:spcAft>
              <a:buClr>
                <a:schemeClr val="dk1"/>
              </a:buClr>
              <a:buSzPts val="1400"/>
              <a:buNone/>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52" name="Google Shape;152;g28fa4b45176_0_24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3" name="Google Shape;153;g28fa4b45176_0_24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4" name="Google Shape;154;g28fa4b45176_0_243"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155"/>
        <p:cNvGrpSpPr/>
        <p:nvPr/>
      </p:nvGrpSpPr>
      <p:grpSpPr>
        <a:xfrm>
          <a:off x="0" y="0"/>
          <a:ext cx="0" cy="0"/>
          <a:chOff x="0" y="0"/>
          <a:chExt cx="0" cy="0"/>
        </a:xfrm>
      </p:grpSpPr>
      <p:sp>
        <p:nvSpPr>
          <p:cNvPr id="156" name="Google Shape;156;g28fa4b45176_0_254"/>
          <p:cNvSpPr txBox="1">
            <a:spLocks noGrp="1"/>
          </p:cNvSpPr>
          <p:nvPr>
            <p:ph type="title"/>
          </p:nvPr>
        </p:nvSpPr>
        <p:spPr>
          <a:xfrm>
            <a:off x="628650" y="365125"/>
            <a:ext cx="7886700" cy="12462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chemeClr val="dk1"/>
              </a:buClr>
              <a:buSzPts val="4000"/>
              <a:buFont typeface="Calibri"/>
              <a:buNone/>
              <a:defRPr sz="4000" b="1"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7" name="Google Shape;157;g28fa4b45176_0_254"/>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8" name="Google Shape;158;g28fa4b45176_0_254"/>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9" name="Google Shape;159;g28fa4b45176_0_254"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160" name="Google Shape;160;g28fa4b45176_0_254"/>
          <p:cNvSpPr txBox="1">
            <a:spLocks noGrp="1"/>
          </p:cNvSpPr>
          <p:nvPr>
            <p:ph type="body" idx="1"/>
          </p:nvPr>
        </p:nvSpPr>
        <p:spPr>
          <a:xfrm>
            <a:off x="628650" y="1894114"/>
            <a:ext cx="7886700" cy="41802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dk1"/>
        </a:solidFill>
        <a:effectLst/>
      </p:bgPr>
    </p:bg>
    <p:spTree>
      <p:nvGrpSpPr>
        <p:cNvPr id="1" name="Shape 161"/>
        <p:cNvGrpSpPr/>
        <p:nvPr/>
      </p:nvGrpSpPr>
      <p:grpSpPr>
        <a:xfrm>
          <a:off x="0" y="0"/>
          <a:ext cx="0" cy="0"/>
          <a:chOff x="0" y="0"/>
          <a:chExt cx="0" cy="0"/>
        </a:xfrm>
      </p:grpSpPr>
      <p:pic>
        <p:nvPicPr>
          <p:cNvPr id="162" name="Google Shape;162;g28fa4b45176_0_260"/>
          <p:cNvPicPr preferRelativeResize="0"/>
          <p:nvPr/>
        </p:nvPicPr>
        <p:blipFill rotWithShape="1">
          <a:blip r:embed="rId2">
            <a:alphaModFix/>
          </a:blip>
          <a:srcRect t="18298" r="28341" b="23071"/>
          <a:stretch/>
        </p:blipFill>
        <p:spPr>
          <a:xfrm>
            <a:off x="4116611" y="0"/>
            <a:ext cx="5027390" cy="6858000"/>
          </a:xfrm>
          <a:prstGeom prst="rect">
            <a:avLst/>
          </a:prstGeom>
          <a:noFill/>
          <a:ln>
            <a:noFill/>
          </a:ln>
        </p:spPr>
      </p:pic>
      <p:sp>
        <p:nvSpPr>
          <p:cNvPr id="163" name="Google Shape;163;g28fa4b45176_0_260"/>
          <p:cNvSpPr txBox="1">
            <a:spLocks noGrp="1"/>
          </p:cNvSpPr>
          <p:nvPr>
            <p:ph type="title"/>
          </p:nvPr>
        </p:nvSpPr>
        <p:spPr>
          <a:xfrm>
            <a:off x="1000125" y="1020445"/>
            <a:ext cx="2171700" cy="1325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2800"/>
              <a:buFont typeface="Calibri"/>
              <a:buNone/>
              <a:defRPr sz="28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4" name="Google Shape;164;g28fa4b45176_0_260"/>
          <p:cNvSpPr txBox="1">
            <a:spLocks noGrp="1"/>
          </p:cNvSpPr>
          <p:nvPr>
            <p:ph type="body" idx="1"/>
          </p:nvPr>
        </p:nvSpPr>
        <p:spPr>
          <a:xfrm>
            <a:off x="1000125" y="2924175"/>
            <a:ext cx="2171700" cy="2519400"/>
          </a:xfrm>
          <a:prstGeom prst="rect">
            <a:avLst/>
          </a:prstGeom>
          <a:noFill/>
          <a:ln>
            <a:noFill/>
          </a:ln>
        </p:spPr>
        <p:txBody>
          <a:bodyPr spcFirstLastPara="1" wrap="square" lIns="91425" tIns="45700" rIns="91425" bIns="45700" anchor="t" anchorCtr="0">
            <a:normAutofit/>
          </a:bodyPr>
          <a:lstStyle>
            <a:lvl1pPr marL="457200" lvl="0" indent="-228600" algn="l" rtl="0">
              <a:lnSpc>
                <a:spcPct val="150000"/>
              </a:lnSpc>
              <a:spcBef>
                <a:spcPts val="1000"/>
              </a:spcBef>
              <a:spcAft>
                <a:spcPts val="0"/>
              </a:spcAft>
              <a:buClr>
                <a:schemeClr val="lt1"/>
              </a:buClr>
              <a:buSzPts val="1400"/>
              <a:buNone/>
              <a:defRPr sz="1400">
                <a:solidFill>
                  <a:schemeClr val="lt1"/>
                </a:solidFill>
              </a:defRPr>
            </a:lvl1pPr>
            <a:lvl2pPr marL="914400" lvl="1" indent="-228600" algn="l" rtl="0">
              <a:lnSpc>
                <a:spcPct val="150000"/>
              </a:lnSpc>
              <a:spcBef>
                <a:spcPts val="500"/>
              </a:spcBef>
              <a:spcAft>
                <a:spcPts val="0"/>
              </a:spcAft>
              <a:buClr>
                <a:schemeClr val="lt1"/>
              </a:buClr>
              <a:buSzPts val="1400"/>
              <a:buNone/>
              <a:defRPr sz="1400">
                <a:solidFill>
                  <a:schemeClr val="lt1"/>
                </a:solidFill>
              </a:defRPr>
            </a:lvl2pPr>
            <a:lvl3pPr marL="1371600" lvl="2" indent="-228600" algn="l" rtl="0">
              <a:lnSpc>
                <a:spcPct val="150000"/>
              </a:lnSpc>
              <a:spcBef>
                <a:spcPts val="500"/>
              </a:spcBef>
              <a:spcAft>
                <a:spcPts val="0"/>
              </a:spcAft>
              <a:buClr>
                <a:schemeClr val="lt1"/>
              </a:buClr>
              <a:buSzPts val="1400"/>
              <a:buNone/>
              <a:defRPr sz="1400">
                <a:solidFill>
                  <a:schemeClr val="lt1"/>
                </a:solidFill>
              </a:defRPr>
            </a:lvl3pPr>
            <a:lvl4pPr marL="1828800" lvl="3" indent="-228600" algn="l" rtl="0">
              <a:lnSpc>
                <a:spcPct val="150000"/>
              </a:lnSpc>
              <a:spcBef>
                <a:spcPts val="500"/>
              </a:spcBef>
              <a:spcAft>
                <a:spcPts val="0"/>
              </a:spcAft>
              <a:buClr>
                <a:schemeClr val="lt1"/>
              </a:buClr>
              <a:buSzPts val="1400"/>
              <a:buNone/>
              <a:defRPr sz="1400">
                <a:solidFill>
                  <a:schemeClr val="lt1"/>
                </a:solidFill>
              </a:defRPr>
            </a:lvl4pPr>
            <a:lvl5pPr marL="2286000" lvl="4" indent="-228600" algn="l" rtl="0">
              <a:lnSpc>
                <a:spcPct val="150000"/>
              </a:lnSpc>
              <a:spcBef>
                <a:spcPts val="500"/>
              </a:spcBef>
              <a:spcAft>
                <a:spcPts val="0"/>
              </a:spcAft>
              <a:buClr>
                <a:schemeClr val="lt1"/>
              </a:buClr>
              <a:buSzPts val="1400"/>
              <a:buNone/>
              <a:defRPr sz="1400">
                <a:solidFill>
                  <a:schemeClr val="lt1"/>
                </a:solidFil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65" name="Google Shape;165;g28fa4b45176_0_260"/>
          <p:cNvSpPr txBox="1">
            <a:spLocks noGrp="1"/>
          </p:cNvSpPr>
          <p:nvPr>
            <p:ph type="ftr" idx="11"/>
          </p:nvPr>
        </p:nvSpPr>
        <p:spPr>
          <a:xfrm>
            <a:off x="2002414" y="6356349"/>
            <a:ext cx="1862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6" name="Google Shape;166;g28fa4b45176_0_260"/>
          <p:cNvSpPr txBox="1">
            <a:spLocks noGrp="1"/>
          </p:cNvSpPr>
          <p:nvPr>
            <p:ph type="sldNum" idx="12"/>
          </p:nvPr>
        </p:nvSpPr>
        <p:spPr>
          <a:xfrm>
            <a:off x="4152229" y="6356350"/>
            <a:ext cx="7407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Introduction" type="secHead">
  <p:cSld name="SECTION_HEADER">
    <p:spTree>
      <p:nvGrpSpPr>
        <p:cNvPr id="1" name="Shape 167"/>
        <p:cNvGrpSpPr/>
        <p:nvPr/>
      </p:nvGrpSpPr>
      <p:grpSpPr>
        <a:xfrm>
          <a:off x="0" y="0"/>
          <a:ext cx="0" cy="0"/>
          <a:chOff x="0" y="0"/>
          <a:chExt cx="0" cy="0"/>
        </a:xfrm>
      </p:grpSpPr>
      <p:sp>
        <p:nvSpPr>
          <p:cNvPr id="168" name="Google Shape;168;g28fa4b45176_0_266"/>
          <p:cNvSpPr txBox="1">
            <a:spLocks noGrp="1"/>
          </p:cNvSpPr>
          <p:nvPr>
            <p:ph type="title"/>
          </p:nvPr>
        </p:nvSpPr>
        <p:spPr>
          <a:xfrm>
            <a:off x="351337" y="1671639"/>
            <a:ext cx="4504200" cy="6531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9" name="Google Shape;169;g28fa4b45176_0_266"/>
          <p:cNvSpPr txBox="1">
            <a:spLocks noGrp="1"/>
          </p:cNvSpPr>
          <p:nvPr>
            <p:ph type="body" idx="1"/>
          </p:nvPr>
        </p:nvSpPr>
        <p:spPr>
          <a:xfrm>
            <a:off x="1021556" y="2586447"/>
            <a:ext cx="4504200" cy="33048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70" name="Google Shape;170;g28fa4b45176_0_266"/>
          <p:cNvSpPr txBox="1">
            <a:spLocks noGrp="1"/>
          </p:cNvSpPr>
          <p:nvPr>
            <p:ph type="ftr" idx="11"/>
          </p:nvPr>
        </p:nvSpPr>
        <p:spPr>
          <a:xfrm>
            <a:off x="1847850" y="6356350"/>
            <a:ext cx="26097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1" name="Google Shape;171;g28fa4b45176_0_266"/>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72" name="Google Shape;172;g28fa4b45176_0_266" descr="BITS Pilani logo"/>
          <p:cNvPicPr preferRelativeResize="0"/>
          <p:nvPr/>
        </p:nvPicPr>
        <p:blipFill rotWithShape="1">
          <a:blip r:embed="rId2">
            <a:alphaModFix/>
          </a:blip>
          <a:srcRect/>
          <a:stretch/>
        </p:blipFill>
        <p:spPr>
          <a:xfrm>
            <a:off x="288131" y="288928"/>
            <a:ext cx="2504055" cy="64943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173"/>
        <p:cNvGrpSpPr/>
        <p:nvPr/>
      </p:nvGrpSpPr>
      <p:grpSpPr>
        <a:xfrm>
          <a:off x="0" y="0"/>
          <a:ext cx="0" cy="0"/>
          <a:chOff x="0" y="0"/>
          <a:chExt cx="0" cy="0"/>
        </a:xfrm>
      </p:grpSpPr>
      <p:sp>
        <p:nvSpPr>
          <p:cNvPr id="174" name="Google Shape;174;g28fa4b45176_0_272"/>
          <p:cNvSpPr txBox="1">
            <a:spLocks noGrp="1"/>
          </p:cNvSpPr>
          <p:nvPr>
            <p:ph type="title"/>
          </p:nvPr>
        </p:nvSpPr>
        <p:spPr>
          <a:xfrm>
            <a:off x="921425" y="373362"/>
            <a:ext cx="7847100" cy="12987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5" name="Google Shape;175;g28fa4b45176_0_272"/>
          <p:cNvSpPr>
            <a:spLocks noGrp="1"/>
          </p:cNvSpPr>
          <p:nvPr>
            <p:ph type="pic" idx="2"/>
          </p:nvPr>
        </p:nvSpPr>
        <p:spPr>
          <a:xfrm>
            <a:off x="1115386" y="2886074"/>
            <a:ext cx="1384200" cy="1384200"/>
          </a:xfrm>
          <a:prstGeom prst="rect">
            <a:avLst/>
          </a:prstGeom>
          <a:solidFill>
            <a:srgbClr val="F2F2F2"/>
          </a:solidFill>
          <a:ln>
            <a:noFill/>
          </a:ln>
        </p:spPr>
      </p:sp>
      <p:sp>
        <p:nvSpPr>
          <p:cNvPr id="176" name="Google Shape;176;g28fa4b45176_0_272"/>
          <p:cNvSpPr txBox="1">
            <a:spLocks noGrp="1"/>
          </p:cNvSpPr>
          <p:nvPr>
            <p:ph type="body" idx="1"/>
          </p:nvPr>
        </p:nvSpPr>
        <p:spPr>
          <a:xfrm>
            <a:off x="921426"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77" name="Google Shape;177;g28fa4b45176_0_272"/>
          <p:cNvSpPr txBox="1">
            <a:spLocks noGrp="1"/>
          </p:cNvSpPr>
          <p:nvPr>
            <p:ph type="body" idx="3"/>
          </p:nvPr>
        </p:nvSpPr>
        <p:spPr>
          <a:xfrm>
            <a:off x="1115386" y="5464114"/>
            <a:ext cx="13842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78" name="Google Shape;178;g28fa4b45176_0_272"/>
          <p:cNvSpPr>
            <a:spLocks noGrp="1"/>
          </p:cNvSpPr>
          <p:nvPr>
            <p:ph type="pic" idx="4"/>
          </p:nvPr>
        </p:nvSpPr>
        <p:spPr>
          <a:xfrm>
            <a:off x="2877685" y="2886074"/>
            <a:ext cx="1384200" cy="1384200"/>
          </a:xfrm>
          <a:prstGeom prst="rect">
            <a:avLst/>
          </a:prstGeom>
          <a:solidFill>
            <a:srgbClr val="F2F2F2"/>
          </a:solidFill>
          <a:ln>
            <a:noFill/>
          </a:ln>
        </p:spPr>
      </p:sp>
      <p:sp>
        <p:nvSpPr>
          <p:cNvPr id="179" name="Google Shape;179;g28fa4b45176_0_272"/>
          <p:cNvSpPr txBox="1">
            <a:spLocks noGrp="1"/>
          </p:cNvSpPr>
          <p:nvPr>
            <p:ph type="body" idx="5"/>
          </p:nvPr>
        </p:nvSpPr>
        <p:spPr>
          <a:xfrm>
            <a:off x="2683725" y="5084524"/>
            <a:ext cx="17481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80" name="Google Shape;180;g28fa4b45176_0_272"/>
          <p:cNvSpPr txBox="1">
            <a:spLocks noGrp="1"/>
          </p:cNvSpPr>
          <p:nvPr>
            <p:ph type="body" idx="6"/>
          </p:nvPr>
        </p:nvSpPr>
        <p:spPr>
          <a:xfrm>
            <a:off x="2877685" y="5478796"/>
            <a:ext cx="13920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81" name="Google Shape;181;g28fa4b45176_0_272"/>
          <p:cNvSpPr>
            <a:spLocks noGrp="1"/>
          </p:cNvSpPr>
          <p:nvPr>
            <p:ph type="pic" idx="7"/>
          </p:nvPr>
        </p:nvSpPr>
        <p:spPr>
          <a:xfrm>
            <a:off x="4745684" y="2886074"/>
            <a:ext cx="1384200" cy="1384200"/>
          </a:xfrm>
          <a:prstGeom prst="rect">
            <a:avLst/>
          </a:prstGeom>
          <a:solidFill>
            <a:srgbClr val="F2F2F2"/>
          </a:solidFill>
          <a:ln>
            <a:noFill/>
          </a:ln>
        </p:spPr>
      </p:sp>
      <p:sp>
        <p:nvSpPr>
          <p:cNvPr id="182" name="Google Shape;182;g28fa4b45176_0_272"/>
          <p:cNvSpPr txBox="1">
            <a:spLocks noGrp="1"/>
          </p:cNvSpPr>
          <p:nvPr>
            <p:ph type="body" idx="8"/>
          </p:nvPr>
        </p:nvSpPr>
        <p:spPr>
          <a:xfrm>
            <a:off x="4551723"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83" name="Google Shape;183;g28fa4b45176_0_272"/>
          <p:cNvSpPr txBox="1">
            <a:spLocks noGrp="1"/>
          </p:cNvSpPr>
          <p:nvPr>
            <p:ph type="body" idx="9"/>
          </p:nvPr>
        </p:nvSpPr>
        <p:spPr>
          <a:xfrm>
            <a:off x="4745683" y="5478796"/>
            <a:ext cx="13842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84" name="Google Shape;184;g28fa4b45176_0_272"/>
          <p:cNvSpPr>
            <a:spLocks noGrp="1"/>
          </p:cNvSpPr>
          <p:nvPr>
            <p:ph type="pic" idx="13"/>
          </p:nvPr>
        </p:nvSpPr>
        <p:spPr>
          <a:xfrm>
            <a:off x="6560594" y="2886074"/>
            <a:ext cx="1384200" cy="1384200"/>
          </a:xfrm>
          <a:prstGeom prst="rect">
            <a:avLst/>
          </a:prstGeom>
          <a:solidFill>
            <a:srgbClr val="F2F2F2"/>
          </a:solidFill>
          <a:ln>
            <a:noFill/>
          </a:ln>
        </p:spPr>
      </p:sp>
      <p:sp>
        <p:nvSpPr>
          <p:cNvPr id="185" name="Google Shape;185;g28fa4b45176_0_272"/>
          <p:cNvSpPr txBox="1">
            <a:spLocks noGrp="1"/>
          </p:cNvSpPr>
          <p:nvPr>
            <p:ph type="body" idx="14"/>
          </p:nvPr>
        </p:nvSpPr>
        <p:spPr>
          <a:xfrm>
            <a:off x="6366634" y="5084524"/>
            <a:ext cx="17385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86" name="Google Shape;186;g28fa4b45176_0_272"/>
          <p:cNvSpPr txBox="1">
            <a:spLocks noGrp="1"/>
          </p:cNvSpPr>
          <p:nvPr>
            <p:ph type="body" idx="15"/>
          </p:nvPr>
        </p:nvSpPr>
        <p:spPr>
          <a:xfrm>
            <a:off x="6560594" y="5464114"/>
            <a:ext cx="13842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87" name="Google Shape;187;g28fa4b45176_0_272"/>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8" name="Google Shape;188;g28fa4b45176_0_272"/>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89" name="Google Shape;189;g28fa4b45176_0_272"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dk1"/>
        </a:solidFill>
        <a:effectLst/>
      </p:bgPr>
    </p:bg>
    <p:spTree>
      <p:nvGrpSpPr>
        <p:cNvPr id="1" name="Shape 190"/>
        <p:cNvGrpSpPr/>
        <p:nvPr/>
      </p:nvGrpSpPr>
      <p:grpSpPr>
        <a:xfrm>
          <a:off x="0" y="0"/>
          <a:ext cx="0" cy="0"/>
          <a:chOff x="0" y="0"/>
          <a:chExt cx="0" cy="0"/>
        </a:xfrm>
      </p:grpSpPr>
      <p:grpSp>
        <p:nvGrpSpPr>
          <p:cNvPr id="191" name="Google Shape;191;g28fa4b45176_0_289"/>
          <p:cNvGrpSpPr/>
          <p:nvPr/>
        </p:nvGrpSpPr>
        <p:grpSpPr>
          <a:xfrm>
            <a:off x="0" y="473953"/>
            <a:ext cx="9144000" cy="4216002"/>
            <a:chOff x="0" y="473953"/>
            <a:chExt cx="12192000" cy="5621336"/>
          </a:xfrm>
        </p:grpSpPr>
        <p:pic>
          <p:nvPicPr>
            <p:cNvPr id="192" name="Google Shape;192;g28fa4b45176_0_289"/>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193" name="Google Shape;193;g28fa4b45176_0_289"/>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194" name="Google Shape;194;g28fa4b45176_0_289"/>
          <p:cNvSpPr txBox="1">
            <a:spLocks noGrp="1"/>
          </p:cNvSpPr>
          <p:nvPr>
            <p:ph type="title"/>
          </p:nvPr>
        </p:nvSpPr>
        <p:spPr>
          <a:xfrm>
            <a:off x="1413867" y="892177"/>
            <a:ext cx="6316200" cy="13257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95" name="Google Shape;195;g28fa4b45176_0_289"/>
          <p:cNvSpPr>
            <a:spLocks noGrp="1"/>
          </p:cNvSpPr>
          <p:nvPr>
            <p:ph type="pic" idx="2"/>
          </p:nvPr>
        </p:nvSpPr>
        <p:spPr>
          <a:xfrm>
            <a:off x="1407882" y="2428875"/>
            <a:ext cx="800100" cy="800100"/>
          </a:xfrm>
          <a:prstGeom prst="rect">
            <a:avLst/>
          </a:prstGeom>
          <a:solidFill>
            <a:schemeClr val="lt1"/>
          </a:solidFill>
          <a:ln>
            <a:noFill/>
          </a:ln>
        </p:spPr>
      </p:sp>
      <p:sp>
        <p:nvSpPr>
          <p:cNvPr id="196" name="Google Shape;196;g28fa4b45176_0_289"/>
          <p:cNvSpPr txBox="1">
            <a:spLocks noGrp="1"/>
          </p:cNvSpPr>
          <p:nvPr>
            <p:ph type="body" idx="1"/>
          </p:nvPr>
        </p:nvSpPr>
        <p:spPr>
          <a:xfrm>
            <a:off x="1125126"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197" name="Google Shape;197;g28fa4b45176_0_289"/>
          <p:cNvSpPr txBox="1">
            <a:spLocks noGrp="1"/>
          </p:cNvSpPr>
          <p:nvPr>
            <p:ph type="body" idx="3"/>
          </p:nvPr>
        </p:nvSpPr>
        <p:spPr>
          <a:xfrm>
            <a:off x="1125126" y="3809747"/>
            <a:ext cx="13716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198" name="Google Shape;198;g28fa4b45176_0_289"/>
          <p:cNvSpPr>
            <a:spLocks noGrp="1"/>
          </p:cNvSpPr>
          <p:nvPr>
            <p:ph type="pic" idx="4"/>
          </p:nvPr>
        </p:nvSpPr>
        <p:spPr>
          <a:xfrm>
            <a:off x="3169703" y="2428875"/>
            <a:ext cx="800100" cy="800100"/>
          </a:xfrm>
          <a:prstGeom prst="rect">
            <a:avLst/>
          </a:prstGeom>
          <a:solidFill>
            <a:schemeClr val="lt1"/>
          </a:solidFill>
          <a:ln>
            <a:noFill/>
          </a:ln>
        </p:spPr>
      </p:sp>
      <p:sp>
        <p:nvSpPr>
          <p:cNvPr id="199" name="Google Shape;199;g28fa4b45176_0_289"/>
          <p:cNvSpPr txBox="1">
            <a:spLocks noGrp="1"/>
          </p:cNvSpPr>
          <p:nvPr>
            <p:ph type="body" idx="5"/>
          </p:nvPr>
        </p:nvSpPr>
        <p:spPr>
          <a:xfrm>
            <a:off x="2886946"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00" name="Google Shape;200;g28fa4b45176_0_289"/>
          <p:cNvSpPr txBox="1">
            <a:spLocks noGrp="1"/>
          </p:cNvSpPr>
          <p:nvPr>
            <p:ph type="body" idx="6"/>
          </p:nvPr>
        </p:nvSpPr>
        <p:spPr>
          <a:xfrm>
            <a:off x="2886946" y="3809747"/>
            <a:ext cx="13716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01" name="Google Shape;201;g28fa4b45176_0_289"/>
          <p:cNvSpPr>
            <a:spLocks noGrp="1"/>
          </p:cNvSpPr>
          <p:nvPr>
            <p:ph type="pic" idx="7"/>
          </p:nvPr>
        </p:nvSpPr>
        <p:spPr>
          <a:xfrm>
            <a:off x="4991688" y="2428875"/>
            <a:ext cx="800100" cy="800100"/>
          </a:xfrm>
          <a:prstGeom prst="rect">
            <a:avLst/>
          </a:prstGeom>
          <a:solidFill>
            <a:schemeClr val="lt1"/>
          </a:solidFill>
          <a:ln>
            <a:noFill/>
          </a:ln>
        </p:spPr>
      </p:sp>
      <p:sp>
        <p:nvSpPr>
          <p:cNvPr id="202" name="Google Shape;202;g28fa4b45176_0_289"/>
          <p:cNvSpPr txBox="1">
            <a:spLocks noGrp="1"/>
          </p:cNvSpPr>
          <p:nvPr>
            <p:ph type="body" idx="8"/>
          </p:nvPr>
        </p:nvSpPr>
        <p:spPr>
          <a:xfrm>
            <a:off x="4648766" y="3654378"/>
            <a:ext cx="15789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03" name="Google Shape;203;g28fa4b45176_0_289"/>
          <p:cNvSpPr txBox="1">
            <a:spLocks noGrp="1"/>
          </p:cNvSpPr>
          <p:nvPr>
            <p:ph type="body" idx="9"/>
          </p:nvPr>
        </p:nvSpPr>
        <p:spPr>
          <a:xfrm>
            <a:off x="4571999" y="3809747"/>
            <a:ext cx="17250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04" name="Google Shape;204;g28fa4b45176_0_289"/>
          <p:cNvSpPr>
            <a:spLocks noGrp="1"/>
          </p:cNvSpPr>
          <p:nvPr>
            <p:ph type="pic" idx="13"/>
          </p:nvPr>
        </p:nvSpPr>
        <p:spPr>
          <a:xfrm>
            <a:off x="6852611" y="2428875"/>
            <a:ext cx="800100" cy="800100"/>
          </a:xfrm>
          <a:prstGeom prst="rect">
            <a:avLst/>
          </a:prstGeom>
          <a:solidFill>
            <a:schemeClr val="lt1"/>
          </a:solidFill>
          <a:ln>
            <a:noFill/>
          </a:ln>
        </p:spPr>
      </p:sp>
      <p:sp>
        <p:nvSpPr>
          <p:cNvPr id="205" name="Google Shape;205;g28fa4b45176_0_289"/>
          <p:cNvSpPr txBox="1">
            <a:spLocks noGrp="1"/>
          </p:cNvSpPr>
          <p:nvPr>
            <p:ph type="body" idx="14"/>
          </p:nvPr>
        </p:nvSpPr>
        <p:spPr>
          <a:xfrm>
            <a:off x="6569855" y="3654378"/>
            <a:ext cx="13716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06" name="Google Shape;206;g28fa4b45176_0_289"/>
          <p:cNvSpPr txBox="1">
            <a:spLocks noGrp="1"/>
          </p:cNvSpPr>
          <p:nvPr>
            <p:ph type="body" idx="15"/>
          </p:nvPr>
        </p:nvSpPr>
        <p:spPr>
          <a:xfrm>
            <a:off x="6558360" y="3809747"/>
            <a:ext cx="13830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07" name="Google Shape;207;g28fa4b45176_0_289"/>
          <p:cNvSpPr>
            <a:spLocks noGrp="1"/>
          </p:cNvSpPr>
          <p:nvPr>
            <p:ph type="pic" idx="16"/>
          </p:nvPr>
        </p:nvSpPr>
        <p:spPr>
          <a:xfrm>
            <a:off x="1407882" y="4287711"/>
            <a:ext cx="800100" cy="800100"/>
          </a:xfrm>
          <a:prstGeom prst="rect">
            <a:avLst/>
          </a:prstGeom>
          <a:solidFill>
            <a:schemeClr val="lt1"/>
          </a:solidFill>
          <a:ln>
            <a:noFill/>
          </a:ln>
        </p:spPr>
      </p:sp>
      <p:sp>
        <p:nvSpPr>
          <p:cNvPr id="208" name="Google Shape;208;g28fa4b45176_0_289"/>
          <p:cNvSpPr txBox="1">
            <a:spLocks noGrp="1"/>
          </p:cNvSpPr>
          <p:nvPr>
            <p:ph type="body" idx="17"/>
          </p:nvPr>
        </p:nvSpPr>
        <p:spPr>
          <a:xfrm>
            <a:off x="1125126"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09" name="Google Shape;209;g28fa4b45176_0_289"/>
          <p:cNvSpPr txBox="1">
            <a:spLocks noGrp="1"/>
          </p:cNvSpPr>
          <p:nvPr>
            <p:ph type="body" idx="18"/>
          </p:nvPr>
        </p:nvSpPr>
        <p:spPr>
          <a:xfrm>
            <a:off x="1125126" y="5668583"/>
            <a:ext cx="13716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10" name="Google Shape;210;g28fa4b45176_0_289"/>
          <p:cNvSpPr>
            <a:spLocks noGrp="1"/>
          </p:cNvSpPr>
          <p:nvPr>
            <p:ph type="pic" idx="19"/>
          </p:nvPr>
        </p:nvSpPr>
        <p:spPr>
          <a:xfrm>
            <a:off x="3169703" y="4287711"/>
            <a:ext cx="800100" cy="800100"/>
          </a:xfrm>
          <a:prstGeom prst="rect">
            <a:avLst/>
          </a:prstGeom>
          <a:solidFill>
            <a:schemeClr val="lt1"/>
          </a:solidFill>
          <a:ln>
            <a:noFill/>
          </a:ln>
        </p:spPr>
      </p:sp>
      <p:sp>
        <p:nvSpPr>
          <p:cNvPr id="211" name="Google Shape;211;g28fa4b45176_0_289"/>
          <p:cNvSpPr txBox="1">
            <a:spLocks noGrp="1"/>
          </p:cNvSpPr>
          <p:nvPr>
            <p:ph type="body" idx="20"/>
          </p:nvPr>
        </p:nvSpPr>
        <p:spPr>
          <a:xfrm>
            <a:off x="2886946"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12" name="Google Shape;212;g28fa4b45176_0_289"/>
          <p:cNvSpPr txBox="1">
            <a:spLocks noGrp="1"/>
          </p:cNvSpPr>
          <p:nvPr>
            <p:ph type="body" idx="21"/>
          </p:nvPr>
        </p:nvSpPr>
        <p:spPr>
          <a:xfrm>
            <a:off x="2886946" y="5668583"/>
            <a:ext cx="13716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13" name="Google Shape;213;g28fa4b45176_0_289"/>
          <p:cNvSpPr>
            <a:spLocks noGrp="1"/>
          </p:cNvSpPr>
          <p:nvPr>
            <p:ph type="pic" idx="22"/>
          </p:nvPr>
        </p:nvSpPr>
        <p:spPr>
          <a:xfrm>
            <a:off x="4991688" y="4287711"/>
            <a:ext cx="800100" cy="800100"/>
          </a:xfrm>
          <a:prstGeom prst="rect">
            <a:avLst/>
          </a:prstGeom>
          <a:solidFill>
            <a:schemeClr val="lt1"/>
          </a:solidFill>
          <a:ln>
            <a:noFill/>
          </a:ln>
        </p:spPr>
      </p:sp>
      <p:sp>
        <p:nvSpPr>
          <p:cNvPr id="214" name="Google Shape;214;g28fa4b45176_0_289"/>
          <p:cNvSpPr txBox="1">
            <a:spLocks noGrp="1"/>
          </p:cNvSpPr>
          <p:nvPr>
            <p:ph type="body" idx="23"/>
          </p:nvPr>
        </p:nvSpPr>
        <p:spPr>
          <a:xfrm>
            <a:off x="4754945"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15" name="Google Shape;215;g28fa4b45176_0_289"/>
          <p:cNvSpPr txBox="1">
            <a:spLocks noGrp="1"/>
          </p:cNvSpPr>
          <p:nvPr>
            <p:ph type="body" idx="24"/>
          </p:nvPr>
        </p:nvSpPr>
        <p:spPr>
          <a:xfrm>
            <a:off x="4754945" y="5668583"/>
            <a:ext cx="13602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16" name="Google Shape;216;g28fa4b45176_0_289"/>
          <p:cNvSpPr>
            <a:spLocks noGrp="1"/>
          </p:cNvSpPr>
          <p:nvPr>
            <p:ph type="pic" idx="25"/>
          </p:nvPr>
        </p:nvSpPr>
        <p:spPr>
          <a:xfrm>
            <a:off x="6852611" y="4287711"/>
            <a:ext cx="800100" cy="800100"/>
          </a:xfrm>
          <a:prstGeom prst="rect">
            <a:avLst/>
          </a:prstGeom>
          <a:solidFill>
            <a:schemeClr val="lt1"/>
          </a:solidFill>
          <a:ln>
            <a:noFill/>
          </a:ln>
        </p:spPr>
      </p:sp>
      <p:sp>
        <p:nvSpPr>
          <p:cNvPr id="217" name="Google Shape;217;g28fa4b45176_0_289"/>
          <p:cNvSpPr txBox="1">
            <a:spLocks noGrp="1"/>
          </p:cNvSpPr>
          <p:nvPr>
            <p:ph type="body" idx="26"/>
          </p:nvPr>
        </p:nvSpPr>
        <p:spPr>
          <a:xfrm>
            <a:off x="6569855" y="5513214"/>
            <a:ext cx="1371600" cy="343200"/>
          </a:xfrm>
          <a:prstGeom prst="rect">
            <a:avLst/>
          </a:prstGeom>
          <a:noFill/>
          <a:ln>
            <a:noFill/>
          </a:ln>
        </p:spPr>
        <p:txBody>
          <a:bodyPr spcFirstLastPara="1" wrap="square" lIns="91425" tIns="45700" rIns="91425" bIns="45700" anchor="t" anchorCtr="0">
            <a:noAutofit/>
          </a:bodyPr>
          <a:lstStyle>
            <a:lvl1pPr marL="457200" lvl="0" indent="-228600" algn="ctr" rtl="0">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18" name="Google Shape;218;g28fa4b45176_0_289"/>
          <p:cNvSpPr txBox="1">
            <a:spLocks noGrp="1"/>
          </p:cNvSpPr>
          <p:nvPr>
            <p:ph type="body" idx="27"/>
          </p:nvPr>
        </p:nvSpPr>
        <p:spPr>
          <a:xfrm>
            <a:off x="6558360" y="5668583"/>
            <a:ext cx="1383000" cy="343200"/>
          </a:xfrm>
          <a:prstGeom prst="rect">
            <a:avLst/>
          </a:prstGeom>
          <a:noFill/>
          <a:ln>
            <a:noFill/>
          </a:ln>
        </p:spPr>
        <p:txBody>
          <a:bodyPr spcFirstLastPara="1" wrap="square" lIns="91425" tIns="45700" rIns="91425" bIns="45700" anchor="ctr" anchorCtr="0">
            <a:noAutofit/>
          </a:bodyPr>
          <a:lstStyle>
            <a:lvl1pPr marL="457200" lvl="0" indent="-228600" algn="ctr" rtl="0">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rtl="0">
              <a:lnSpc>
                <a:spcPct val="90000"/>
              </a:lnSpc>
              <a:spcBef>
                <a:spcPts val="500"/>
              </a:spcBef>
              <a:spcAft>
                <a:spcPts val="0"/>
              </a:spcAft>
              <a:buClr>
                <a:schemeClr val="lt1"/>
              </a:buClr>
              <a:buSzPts val="2000"/>
              <a:buNone/>
              <a:defRPr sz="2000" b="1"/>
            </a:lvl2pPr>
            <a:lvl3pPr marL="1371600" lvl="2" indent="-228600" algn="l" rtl="0">
              <a:lnSpc>
                <a:spcPct val="90000"/>
              </a:lnSpc>
              <a:spcBef>
                <a:spcPts val="500"/>
              </a:spcBef>
              <a:spcAft>
                <a:spcPts val="0"/>
              </a:spcAft>
              <a:buClr>
                <a:schemeClr val="lt1"/>
              </a:buClr>
              <a:buSzPts val="1800"/>
              <a:buNone/>
              <a:defRPr sz="1800" b="1"/>
            </a:lvl3pPr>
            <a:lvl4pPr marL="1828800" lvl="3" indent="-228600" algn="l" rtl="0">
              <a:lnSpc>
                <a:spcPct val="90000"/>
              </a:lnSpc>
              <a:spcBef>
                <a:spcPts val="500"/>
              </a:spcBef>
              <a:spcAft>
                <a:spcPts val="0"/>
              </a:spcAft>
              <a:buClr>
                <a:schemeClr val="lt1"/>
              </a:buClr>
              <a:buSzPts val="1600"/>
              <a:buNone/>
              <a:defRPr sz="1600" b="1"/>
            </a:lvl4pPr>
            <a:lvl5pPr marL="2286000" lvl="4" indent="-228600" algn="l" rtl="0">
              <a:lnSpc>
                <a:spcPct val="90000"/>
              </a:lnSpc>
              <a:spcBef>
                <a:spcPts val="500"/>
              </a:spcBef>
              <a:spcAft>
                <a:spcPts val="0"/>
              </a:spcAft>
              <a:buClr>
                <a:schemeClr val="lt1"/>
              </a:buClr>
              <a:buSzPts val="1600"/>
              <a:buNone/>
              <a:defRPr sz="1600" b="1"/>
            </a:lvl5pPr>
            <a:lvl6pPr marL="2743200" lvl="5" indent="-228600" algn="l" rtl="0">
              <a:lnSpc>
                <a:spcPct val="90000"/>
              </a:lnSpc>
              <a:spcBef>
                <a:spcPts val="500"/>
              </a:spcBef>
              <a:spcAft>
                <a:spcPts val="0"/>
              </a:spcAft>
              <a:buClr>
                <a:schemeClr val="lt1"/>
              </a:buClr>
              <a:buSzPts val="1600"/>
              <a:buNone/>
              <a:defRPr sz="1600" b="1"/>
            </a:lvl6pPr>
            <a:lvl7pPr marL="3200400" lvl="6" indent="-228600" algn="l" rtl="0">
              <a:lnSpc>
                <a:spcPct val="90000"/>
              </a:lnSpc>
              <a:spcBef>
                <a:spcPts val="500"/>
              </a:spcBef>
              <a:spcAft>
                <a:spcPts val="0"/>
              </a:spcAft>
              <a:buClr>
                <a:schemeClr val="lt1"/>
              </a:buClr>
              <a:buSzPts val="1600"/>
              <a:buNone/>
              <a:defRPr sz="1600" b="1"/>
            </a:lvl7pPr>
            <a:lvl8pPr marL="3657600" lvl="7" indent="-228600" algn="l" rtl="0">
              <a:lnSpc>
                <a:spcPct val="90000"/>
              </a:lnSpc>
              <a:spcBef>
                <a:spcPts val="500"/>
              </a:spcBef>
              <a:spcAft>
                <a:spcPts val="0"/>
              </a:spcAft>
              <a:buClr>
                <a:schemeClr val="lt1"/>
              </a:buClr>
              <a:buSzPts val="1600"/>
              <a:buNone/>
              <a:defRPr sz="1600" b="1"/>
            </a:lvl8pPr>
            <a:lvl9pPr marL="4114800" lvl="8" indent="-228600" algn="l" rtl="0">
              <a:lnSpc>
                <a:spcPct val="90000"/>
              </a:lnSpc>
              <a:spcBef>
                <a:spcPts val="500"/>
              </a:spcBef>
              <a:spcAft>
                <a:spcPts val="0"/>
              </a:spcAft>
              <a:buClr>
                <a:schemeClr val="lt1"/>
              </a:buClr>
              <a:buSzPts val="1600"/>
              <a:buNone/>
              <a:defRPr sz="1600" b="1"/>
            </a:lvl9pPr>
          </a:lstStyle>
          <a:p>
            <a:endParaRPr/>
          </a:p>
        </p:txBody>
      </p:sp>
      <p:sp>
        <p:nvSpPr>
          <p:cNvPr id="219" name="Google Shape;219;g28fa4b45176_0_289"/>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solidFill>
                  <a:srgbClr val="898989"/>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0" name="Google Shape;220;g28fa4b45176_0_289"/>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221"/>
        <p:cNvGrpSpPr/>
        <p:nvPr/>
      </p:nvGrpSpPr>
      <p:grpSpPr>
        <a:xfrm>
          <a:off x="0" y="0"/>
          <a:ext cx="0" cy="0"/>
          <a:chOff x="0" y="0"/>
          <a:chExt cx="0" cy="0"/>
        </a:xfrm>
      </p:grpSpPr>
      <p:sp>
        <p:nvSpPr>
          <p:cNvPr id="222" name="Google Shape;222;g28fa4b45176_0_320"/>
          <p:cNvSpPr/>
          <p:nvPr/>
        </p:nvSpPr>
        <p:spPr>
          <a:xfrm>
            <a:off x="1585413" y="0"/>
            <a:ext cx="7558587" cy="6858000"/>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3" name="Google Shape;223;g28fa4b45176_0_320"/>
          <p:cNvSpPr txBox="1">
            <a:spLocks noGrp="1"/>
          </p:cNvSpPr>
          <p:nvPr>
            <p:ph type="body" idx="1"/>
          </p:nvPr>
        </p:nvSpPr>
        <p:spPr>
          <a:xfrm>
            <a:off x="124556" y="1716780"/>
            <a:ext cx="1606200" cy="514500"/>
          </a:xfrm>
          <a:prstGeom prst="rect">
            <a:avLst/>
          </a:prstGeom>
          <a:noFill/>
          <a:ln>
            <a:noFill/>
          </a:ln>
        </p:spPr>
        <p:txBody>
          <a:bodyPr spcFirstLastPara="1" wrap="square" lIns="91425" tIns="45700" rIns="91425" bIns="45700" anchor="ctr" anchorCtr="0">
            <a:normAutofit/>
          </a:bodyPr>
          <a:lstStyle>
            <a:lvl1pPr marL="457200" lvl="0" indent="-228600" algn="r" rtl="0">
              <a:lnSpc>
                <a:spcPct val="90000"/>
              </a:lnSpc>
              <a:spcBef>
                <a:spcPts val="1000"/>
              </a:spcBef>
              <a:spcAft>
                <a:spcPts val="0"/>
              </a:spcAft>
              <a:buClr>
                <a:schemeClr val="dk1"/>
              </a:buClr>
              <a:buSzPts val="2400"/>
              <a:buNone/>
              <a:defRPr sz="24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4" name="Google Shape;224;g28fa4b45176_0_320"/>
          <p:cNvSpPr txBox="1">
            <a:spLocks noGrp="1"/>
          </p:cNvSpPr>
          <p:nvPr>
            <p:ph type="body" idx="2"/>
          </p:nvPr>
        </p:nvSpPr>
        <p:spPr>
          <a:xfrm>
            <a:off x="549098" y="2793105"/>
            <a:ext cx="1606200" cy="514500"/>
          </a:xfrm>
          <a:prstGeom prst="rect">
            <a:avLst/>
          </a:prstGeom>
          <a:noFill/>
          <a:ln>
            <a:noFill/>
          </a:ln>
        </p:spPr>
        <p:txBody>
          <a:bodyPr spcFirstLastPara="1" wrap="square" lIns="91425" tIns="45700" rIns="91425" bIns="45700" anchor="ctr" anchorCtr="0">
            <a:normAutofit/>
          </a:bodyPr>
          <a:lstStyle>
            <a:lvl1pPr marL="457200" lvl="0" indent="-228600" algn="r" rtl="0">
              <a:lnSpc>
                <a:spcPct val="90000"/>
              </a:lnSpc>
              <a:spcBef>
                <a:spcPts val="1000"/>
              </a:spcBef>
              <a:spcAft>
                <a:spcPts val="0"/>
              </a:spcAft>
              <a:buClr>
                <a:schemeClr val="dk1"/>
              </a:buClr>
              <a:buSzPts val="2000"/>
              <a:buNone/>
              <a:defRPr sz="20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5" name="Google Shape;225;g28fa4b45176_0_320"/>
          <p:cNvSpPr txBox="1">
            <a:spLocks noGrp="1"/>
          </p:cNvSpPr>
          <p:nvPr>
            <p:ph type="body" idx="3"/>
          </p:nvPr>
        </p:nvSpPr>
        <p:spPr>
          <a:xfrm>
            <a:off x="1003917" y="3869430"/>
            <a:ext cx="1606200" cy="514500"/>
          </a:xfrm>
          <a:prstGeom prst="rect">
            <a:avLst/>
          </a:prstGeom>
          <a:noFill/>
          <a:ln>
            <a:noFill/>
          </a:ln>
        </p:spPr>
        <p:txBody>
          <a:bodyPr spcFirstLastPara="1" wrap="square" lIns="91425" tIns="45700" rIns="91425" bIns="45700" anchor="ctr" anchorCtr="0">
            <a:normAutofit/>
          </a:bodyPr>
          <a:lstStyle>
            <a:lvl1pPr marL="457200" lvl="0" indent="-228600" algn="r" rtl="0">
              <a:lnSpc>
                <a:spcPct val="90000"/>
              </a:lnSpc>
              <a:spcBef>
                <a:spcPts val="1000"/>
              </a:spcBef>
              <a:spcAft>
                <a:spcPts val="0"/>
              </a:spcAft>
              <a:buClr>
                <a:schemeClr val="dk1"/>
              </a:buClr>
              <a:buSzPts val="2000"/>
              <a:buNone/>
              <a:defRPr sz="20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6" name="Google Shape;226;g28fa4b45176_0_320"/>
          <p:cNvSpPr txBox="1">
            <a:spLocks noGrp="1"/>
          </p:cNvSpPr>
          <p:nvPr>
            <p:ph type="body" idx="4"/>
          </p:nvPr>
        </p:nvSpPr>
        <p:spPr>
          <a:xfrm>
            <a:off x="1442067" y="4958819"/>
            <a:ext cx="1606200" cy="514500"/>
          </a:xfrm>
          <a:prstGeom prst="rect">
            <a:avLst/>
          </a:prstGeom>
          <a:noFill/>
          <a:ln>
            <a:noFill/>
          </a:ln>
        </p:spPr>
        <p:txBody>
          <a:bodyPr spcFirstLastPara="1" wrap="square" lIns="91425" tIns="45700" rIns="91425" bIns="45700" anchor="ctr" anchorCtr="0">
            <a:normAutofit/>
          </a:bodyPr>
          <a:lstStyle>
            <a:lvl1pPr marL="457200" lvl="0" indent="-228600" algn="r" rtl="0">
              <a:lnSpc>
                <a:spcPct val="90000"/>
              </a:lnSpc>
              <a:spcBef>
                <a:spcPts val="1000"/>
              </a:spcBef>
              <a:spcAft>
                <a:spcPts val="0"/>
              </a:spcAft>
              <a:buClr>
                <a:schemeClr val="dk1"/>
              </a:buClr>
              <a:buSzPts val="2000"/>
              <a:buNone/>
              <a:defRPr sz="20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7" name="Google Shape;227;g28fa4b45176_0_320"/>
          <p:cNvSpPr txBox="1">
            <a:spLocks noGrp="1"/>
          </p:cNvSpPr>
          <p:nvPr>
            <p:ph type="body" idx="5"/>
          </p:nvPr>
        </p:nvSpPr>
        <p:spPr>
          <a:xfrm>
            <a:off x="3291355" y="1482898"/>
            <a:ext cx="3827100" cy="1010700"/>
          </a:xfrm>
          <a:prstGeom prst="rect">
            <a:avLst/>
          </a:prstGeom>
          <a:noFill/>
          <a:ln>
            <a:noFill/>
          </a:ln>
        </p:spPr>
        <p:txBody>
          <a:bodyPr spcFirstLastPara="1" wrap="square" lIns="91425" tIns="45700" rIns="91425" bIns="45700" anchor="t" anchorCtr="0">
            <a:normAutofit/>
          </a:bodyPr>
          <a:lstStyle>
            <a:lvl1pPr marL="457200" lvl="0" indent="-355600" algn="l" rtl="0">
              <a:lnSpc>
                <a:spcPct val="100000"/>
              </a:lnSpc>
              <a:spcBef>
                <a:spcPts val="1000"/>
              </a:spcBef>
              <a:spcAft>
                <a:spcPts val="0"/>
              </a:spcAft>
              <a:buClr>
                <a:schemeClr val="dk1"/>
              </a:buClr>
              <a:buSzPts val="2000"/>
              <a:buFont typeface="Arial"/>
              <a:buChar char="•"/>
              <a:defRPr sz="20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8" name="Google Shape;228;g28fa4b45176_0_320"/>
          <p:cNvSpPr txBox="1">
            <a:spLocks noGrp="1"/>
          </p:cNvSpPr>
          <p:nvPr>
            <p:ph type="body" idx="6"/>
          </p:nvPr>
        </p:nvSpPr>
        <p:spPr>
          <a:xfrm>
            <a:off x="3739522" y="2604186"/>
            <a:ext cx="3827100" cy="1010700"/>
          </a:xfrm>
          <a:prstGeom prst="rect">
            <a:avLst/>
          </a:prstGeom>
          <a:noFill/>
          <a:ln>
            <a:noFill/>
          </a:ln>
        </p:spPr>
        <p:txBody>
          <a:bodyPr spcFirstLastPara="1" wrap="square" lIns="91425" tIns="45700" rIns="91425" bIns="45700" anchor="t" anchorCtr="0">
            <a:normAutofit/>
          </a:bodyPr>
          <a:lstStyle>
            <a:lvl1pPr marL="457200" lvl="0" indent="-355600" algn="l" rtl="0">
              <a:lnSpc>
                <a:spcPct val="100000"/>
              </a:lnSpc>
              <a:spcBef>
                <a:spcPts val="1000"/>
              </a:spcBef>
              <a:spcAft>
                <a:spcPts val="0"/>
              </a:spcAft>
              <a:buClr>
                <a:schemeClr val="dk1"/>
              </a:buClr>
              <a:buSzPts val="2000"/>
              <a:buFont typeface="Arial"/>
              <a:buChar char="•"/>
              <a:defRPr sz="20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9" name="Google Shape;229;g28fa4b45176_0_320"/>
          <p:cNvSpPr txBox="1">
            <a:spLocks noGrp="1"/>
          </p:cNvSpPr>
          <p:nvPr>
            <p:ph type="body" idx="7"/>
          </p:nvPr>
        </p:nvSpPr>
        <p:spPr>
          <a:xfrm>
            <a:off x="4182704" y="3677018"/>
            <a:ext cx="3827100" cy="1010700"/>
          </a:xfrm>
          <a:prstGeom prst="rect">
            <a:avLst/>
          </a:prstGeom>
          <a:noFill/>
          <a:ln>
            <a:noFill/>
          </a:ln>
        </p:spPr>
        <p:txBody>
          <a:bodyPr spcFirstLastPara="1" wrap="square" lIns="91425" tIns="45700" rIns="91425" bIns="45700" anchor="t" anchorCtr="0">
            <a:normAutofit/>
          </a:bodyPr>
          <a:lstStyle>
            <a:lvl1pPr marL="457200" lvl="0" indent="-355600" algn="l" rtl="0">
              <a:lnSpc>
                <a:spcPct val="100000"/>
              </a:lnSpc>
              <a:spcBef>
                <a:spcPts val="1000"/>
              </a:spcBef>
              <a:spcAft>
                <a:spcPts val="0"/>
              </a:spcAft>
              <a:buClr>
                <a:schemeClr val="dk1"/>
              </a:buClr>
              <a:buSzPts val="2000"/>
              <a:buFont typeface="Arial"/>
              <a:buChar char="•"/>
              <a:defRPr sz="20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0" name="Google Shape;230;g28fa4b45176_0_320"/>
          <p:cNvSpPr txBox="1">
            <a:spLocks noGrp="1"/>
          </p:cNvSpPr>
          <p:nvPr>
            <p:ph type="body" idx="8"/>
          </p:nvPr>
        </p:nvSpPr>
        <p:spPr>
          <a:xfrm>
            <a:off x="4631460" y="4785241"/>
            <a:ext cx="3827100" cy="1010700"/>
          </a:xfrm>
          <a:prstGeom prst="rect">
            <a:avLst/>
          </a:prstGeom>
          <a:noFill/>
          <a:ln>
            <a:noFill/>
          </a:ln>
        </p:spPr>
        <p:txBody>
          <a:bodyPr spcFirstLastPara="1" wrap="square" lIns="91425" tIns="45700" rIns="91425" bIns="45700" anchor="t" anchorCtr="0">
            <a:normAutofit/>
          </a:bodyPr>
          <a:lstStyle>
            <a:lvl1pPr marL="457200" lvl="0" indent="-355600" algn="l" rtl="0">
              <a:lnSpc>
                <a:spcPct val="100000"/>
              </a:lnSpc>
              <a:spcBef>
                <a:spcPts val="1000"/>
              </a:spcBef>
              <a:spcAft>
                <a:spcPts val="0"/>
              </a:spcAft>
              <a:buClr>
                <a:schemeClr val="dk1"/>
              </a:buClr>
              <a:buSzPts val="2000"/>
              <a:buFont typeface="Arial"/>
              <a:buChar char="•"/>
              <a:defRPr sz="2000"/>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1" name="Google Shape;231;g28fa4b45176_0_320"/>
          <p:cNvSpPr txBox="1">
            <a:spLocks noGrp="1"/>
          </p:cNvSpPr>
          <p:nvPr>
            <p:ph type="ftr" idx="11"/>
          </p:nvPr>
        </p:nvSpPr>
        <p:spPr>
          <a:xfrm>
            <a:off x="5061857" y="6356350"/>
            <a:ext cx="28320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14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32" name="Google Shape;232;g28fa4b45176_0_320"/>
          <p:cNvSpPr txBox="1">
            <a:spLocks noGrp="1"/>
          </p:cNvSpPr>
          <p:nvPr>
            <p:ph type="sldNum" idx="12"/>
          </p:nvPr>
        </p:nvSpPr>
        <p:spPr>
          <a:xfrm>
            <a:off x="8108156" y="6356350"/>
            <a:ext cx="407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33" name="Google Shape;233;g28fa4b45176_0_320"/>
          <p:cNvCxnSpPr/>
          <p:nvPr/>
        </p:nvCxnSpPr>
        <p:spPr>
          <a:xfrm>
            <a:off x="3265136" y="5259067"/>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234" name="Google Shape;234;g28fa4b45176_0_320"/>
          <p:cNvCxnSpPr/>
          <p:nvPr/>
        </p:nvCxnSpPr>
        <p:spPr>
          <a:xfrm>
            <a:off x="2819938" y="4157459"/>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235" name="Google Shape;235;g28fa4b45176_0_320"/>
          <p:cNvCxnSpPr/>
          <p:nvPr/>
        </p:nvCxnSpPr>
        <p:spPr>
          <a:xfrm>
            <a:off x="2380090" y="3081694"/>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236" name="Google Shape;236;g28fa4b45176_0_320"/>
          <p:cNvCxnSpPr/>
          <p:nvPr/>
        </p:nvCxnSpPr>
        <p:spPr>
          <a:xfrm>
            <a:off x="1939697" y="2005091"/>
            <a:ext cx="1134900" cy="0"/>
          </a:xfrm>
          <a:prstGeom prst="straightConnector1">
            <a:avLst/>
          </a:prstGeom>
          <a:noFill/>
          <a:ln w="9525" cap="flat" cmpd="sng">
            <a:solidFill>
              <a:schemeClr val="dk1"/>
            </a:solidFill>
            <a:prstDash val="solid"/>
            <a:miter lim="800000"/>
            <a:headEnd type="none" w="sm" len="sm"/>
            <a:tailEnd type="none" w="sm" len="sm"/>
          </a:ln>
        </p:spPr>
      </p:cxnSp>
      <p:pic>
        <p:nvPicPr>
          <p:cNvPr id="237" name="Google Shape;237;g28fa4b45176_0_320"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
        <p:nvSpPr>
          <p:cNvPr id="238" name="Google Shape;238;g28fa4b45176_0_320"/>
          <p:cNvSpPr txBox="1"/>
          <p:nvPr/>
        </p:nvSpPr>
        <p:spPr>
          <a:xfrm>
            <a:off x="547282" y="574358"/>
            <a:ext cx="4504200" cy="6531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3200"/>
              <a:buFont typeface="Calibri"/>
              <a:buNone/>
            </a:pPr>
            <a:r>
              <a:rPr lang="en-US" sz="3200" b="0" i="0" u="none" strike="noStrike" cap="none">
                <a:solidFill>
                  <a:schemeClr val="dk1"/>
                </a:solidFill>
                <a:latin typeface="Calibri"/>
                <a:ea typeface="Calibri"/>
                <a:cs typeface="Calibri"/>
                <a:sym typeface="Calibri"/>
              </a:rPr>
              <a:t>Agenda</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1"/>
        </a:solidFill>
        <a:effectLst/>
      </p:bgPr>
    </p:bg>
    <p:spTree>
      <p:nvGrpSpPr>
        <p:cNvPr id="1" name="Shape 239"/>
        <p:cNvGrpSpPr/>
        <p:nvPr/>
      </p:nvGrpSpPr>
      <p:grpSpPr>
        <a:xfrm>
          <a:off x="0" y="0"/>
          <a:ext cx="0" cy="0"/>
          <a:chOff x="0" y="0"/>
          <a:chExt cx="0" cy="0"/>
        </a:xfrm>
      </p:grpSpPr>
      <p:sp>
        <p:nvSpPr>
          <p:cNvPr id="240" name="Google Shape;240;g28fa4b45176_0_338"/>
          <p:cNvSpPr txBox="1">
            <a:spLocks noGrp="1"/>
          </p:cNvSpPr>
          <p:nvPr>
            <p:ph type="title"/>
          </p:nvPr>
        </p:nvSpPr>
        <p:spPr>
          <a:xfrm>
            <a:off x="932328" y="443369"/>
            <a:ext cx="7583100" cy="1051500"/>
          </a:xfrm>
          <a:prstGeom prst="rect">
            <a:avLst/>
          </a:prstGeom>
          <a:noFill/>
          <a:ln>
            <a:noFill/>
          </a:ln>
        </p:spPr>
        <p:txBody>
          <a:bodyPr spcFirstLastPara="1" wrap="square" lIns="91425" tIns="45700" rIns="91425" bIns="45700" anchor="ctr" anchorCtr="0">
            <a:normAutofit/>
          </a:bodyPr>
          <a:lstStyle>
            <a:lvl1pPr lvl="0" algn="ctr" rtl="0">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1" name="Google Shape;241;g28fa4b45176_0_338"/>
          <p:cNvSpPr txBox="1">
            <a:spLocks noGrp="1"/>
          </p:cNvSpPr>
          <p:nvPr>
            <p:ph type="body" idx="1"/>
          </p:nvPr>
        </p:nvSpPr>
        <p:spPr>
          <a:xfrm>
            <a:off x="932327" y="1932770"/>
            <a:ext cx="21618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42" name="Google Shape;242;g28fa4b45176_0_338"/>
          <p:cNvSpPr txBox="1">
            <a:spLocks noGrp="1"/>
          </p:cNvSpPr>
          <p:nvPr>
            <p:ph type="body" idx="2"/>
          </p:nvPr>
        </p:nvSpPr>
        <p:spPr>
          <a:xfrm>
            <a:off x="932328"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000"/>
              </a:spcBef>
              <a:spcAft>
                <a:spcPts val="0"/>
              </a:spcAft>
              <a:buClr>
                <a:schemeClr val="dk1"/>
              </a:buClr>
              <a:buSzPts val="1400"/>
              <a:buNone/>
              <a:defRPr sz="1400"/>
            </a:lvl1pPr>
            <a:lvl2pPr marL="914400" lvl="1" indent="-228600" algn="l" rtl="0">
              <a:lnSpc>
                <a:spcPct val="100000"/>
              </a:lnSpc>
              <a:spcBef>
                <a:spcPts val="500"/>
              </a:spcBef>
              <a:spcAft>
                <a:spcPts val="0"/>
              </a:spcAft>
              <a:buClr>
                <a:schemeClr val="dk1"/>
              </a:buClr>
              <a:buSzPts val="1400"/>
              <a:buNone/>
              <a:defRPr sz="1400"/>
            </a:lvl2pPr>
            <a:lvl3pPr marL="1371600" lvl="2" indent="-228600" algn="l" rtl="0">
              <a:lnSpc>
                <a:spcPct val="100000"/>
              </a:lnSpc>
              <a:spcBef>
                <a:spcPts val="500"/>
              </a:spcBef>
              <a:spcAft>
                <a:spcPts val="0"/>
              </a:spcAft>
              <a:buClr>
                <a:schemeClr val="dk1"/>
              </a:buClr>
              <a:buSzPts val="1400"/>
              <a:buNone/>
              <a:defRPr sz="1400"/>
            </a:lvl3pPr>
            <a:lvl4pPr marL="1828800" lvl="3" indent="-228600" algn="l" rtl="0">
              <a:lnSpc>
                <a:spcPct val="100000"/>
              </a:lnSpc>
              <a:spcBef>
                <a:spcPts val="500"/>
              </a:spcBef>
              <a:spcAft>
                <a:spcPts val="0"/>
              </a:spcAft>
              <a:buClr>
                <a:schemeClr val="dk1"/>
              </a:buClr>
              <a:buSzPts val="1400"/>
              <a:buNone/>
              <a:defRPr sz="1400"/>
            </a:lvl4pPr>
            <a:lvl5pPr marL="2286000" lvl="4" indent="-228600" algn="l" rtl="0">
              <a:lnSpc>
                <a:spcPct val="100000"/>
              </a:lnSpc>
              <a:spcBef>
                <a:spcPts val="500"/>
              </a:spcBef>
              <a:spcAft>
                <a:spcPts val="0"/>
              </a:spcAft>
              <a:buClr>
                <a:schemeClr val="dk1"/>
              </a:buClr>
              <a:buSzPts val="1400"/>
              <a:buNone/>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43" name="Google Shape;243;g28fa4b45176_0_338"/>
          <p:cNvSpPr txBox="1">
            <a:spLocks noGrp="1"/>
          </p:cNvSpPr>
          <p:nvPr>
            <p:ph type="body" idx="3"/>
          </p:nvPr>
        </p:nvSpPr>
        <p:spPr>
          <a:xfrm>
            <a:off x="3485748" y="1953443"/>
            <a:ext cx="21726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44" name="Google Shape;244;g28fa4b45176_0_338"/>
          <p:cNvSpPr txBox="1">
            <a:spLocks noGrp="1"/>
          </p:cNvSpPr>
          <p:nvPr>
            <p:ph type="body" idx="4"/>
          </p:nvPr>
        </p:nvSpPr>
        <p:spPr>
          <a:xfrm>
            <a:off x="3485749" y="3056709"/>
            <a:ext cx="2172600" cy="2775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000"/>
              </a:spcBef>
              <a:spcAft>
                <a:spcPts val="0"/>
              </a:spcAft>
              <a:buClr>
                <a:schemeClr val="dk1"/>
              </a:buClr>
              <a:buSzPts val="1400"/>
              <a:buNone/>
              <a:defRPr sz="1400"/>
            </a:lvl1pPr>
            <a:lvl2pPr marL="914400" lvl="1" indent="-228600" algn="l" rtl="0">
              <a:lnSpc>
                <a:spcPct val="100000"/>
              </a:lnSpc>
              <a:spcBef>
                <a:spcPts val="500"/>
              </a:spcBef>
              <a:spcAft>
                <a:spcPts val="0"/>
              </a:spcAft>
              <a:buClr>
                <a:schemeClr val="dk1"/>
              </a:buClr>
              <a:buSzPts val="1400"/>
              <a:buNone/>
              <a:defRPr sz="1400"/>
            </a:lvl2pPr>
            <a:lvl3pPr marL="1371600" lvl="2" indent="-228600" algn="l" rtl="0">
              <a:lnSpc>
                <a:spcPct val="100000"/>
              </a:lnSpc>
              <a:spcBef>
                <a:spcPts val="500"/>
              </a:spcBef>
              <a:spcAft>
                <a:spcPts val="0"/>
              </a:spcAft>
              <a:buClr>
                <a:schemeClr val="dk1"/>
              </a:buClr>
              <a:buSzPts val="1400"/>
              <a:buNone/>
              <a:defRPr sz="1400"/>
            </a:lvl3pPr>
            <a:lvl4pPr marL="1828800" lvl="3" indent="-228600" algn="l" rtl="0">
              <a:lnSpc>
                <a:spcPct val="100000"/>
              </a:lnSpc>
              <a:spcBef>
                <a:spcPts val="500"/>
              </a:spcBef>
              <a:spcAft>
                <a:spcPts val="0"/>
              </a:spcAft>
              <a:buClr>
                <a:schemeClr val="dk1"/>
              </a:buClr>
              <a:buSzPts val="1400"/>
              <a:buNone/>
              <a:defRPr sz="1400"/>
            </a:lvl4pPr>
            <a:lvl5pPr marL="2286000" lvl="4" indent="-228600" algn="l" rtl="0">
              <a:lnSpc>
                <a:spcPct val="100000"/>
              </a:lnSpc>
              <a:spcBef>
                <a:spcPts val="500"/>
              </a:spcBef>
              <a:spcAft>
                <a:spcPts val="0"/>
              </a:spcAft>
              <a:buClr>
                <a:schemeClr val="dk1"/>
              </a:buClr>
              <a:buSzPts val="1400"/>
              <a:buNone/>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45" name="Google Shape;245;g28fa4b45176_0_338"/>
          <p:cNvSpPr txBox="1">
            <a:spLocks noGrp="1"/>
          </p:cNvSpPr>
          <p:nvPr>
            <p:ph type="body" idx="5"/>
          </p:nvPr>
        </p:nvSpPr>
        <p:spPr>
          <a:xfrm>
            <a:off x="6049815" y="1958896"/>
            <a:ext cx="2161800" cy="8238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46" name="Google Shape;246;g28fa4b45176_0_338"/>
          <p:cNvSpPr txBox="1">
            <a:spLocks noGrp="1"/>
          </p:cNvSpPr>
          <p:nvPr>
            <p:ph type="body" idx="6"/>
          </p:nvPr>
        </p:nvSpPr>
        <p:spPr>
          <a:xfrm>
            <a:off x="6049816" y="3056709"/>
            <a:ext cx="2161800" cy="2775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000"/>
              </a:spcBef>
              <a:spcAft>
                <a:spcPts val="0"/>
              </a:spcAft>
              <a:buClr>
                <a:schemeClr val="dk1"/>
              </a:buClr>
              <a:buSzPts val="1400"/>
              <a:buNone/>
              <a:defRPr sz="1400"/>
            </a:lvl1pPr>
            <a:lvl2pPr marL="914400" lvl="1" indent="-228600" algn="l" rtl="0">
              <a:lnSpc>
                <a:spcPct val="100000"/>
              </a:lnSpc>
              <a:spcBef>
                <a:spcPts val="500"/>
              </a:spcBef>
              <a:spcAft>
                <a:spcPts val="0"/>
              </a:spcAft>
              <a:buClr>
                <a:schemeClr val="dk1"/>
              </a:buClr>
              <a:buSzPts val="1400"/>
              <a:buNone/>
              <a:defRPr sz="1400"/>
            </a:lvl2pPr>
            <a:lvl3pPr marL="1371600" lvl="2" indent="-228600" algn="l" rtl="0">
              <a:lnSpc>
                <a:spcPct val="100000"/>
              </a:lnSpc>
              <a:spcBef>
                <a:spcPts val="500"/>
              </a:spcBef>
              <a:spcAft>
                <a:spcPts val="0"/>
              </a:spcAft>
              <a:buClr>
                <a:schemeClr val="dk1"/>
              </a:buClr>
              <a:buSzPts val="1400"/>
              <a:buNone/>
              <a:defRPr sz="1400"/>
            </a:lvl3pPr>
            <a:lvl4pPr marL="1828800" lvl="3" indent="-228600" algn="l" rtl="0">
              <a:lnSpc>
                <a:spcPct val="100000"/>
              </a:lnSpc>
              <a:spcBef>
                <a:spcPts val="500"/>
              </a:spcBef>
              <a:spcAft>
                <a:spcPts val="0"/>
              </a:spcAft>
              <a:buClr>
                <a:schemeClr val="dk1"/>
              </a:buClr>
              <a:buSzPts val="1400"/>
              <a:buNone/>
              <a:defRPr sz="1400"/>
            </a:lvl4pPr>
            <a:lvl5pPr marL="2286000" lvl="4" indent="-228600" algn="l" rtl="0">
              <a:lnSpc>
                <a:spcPct val="100000"/>
              </a:lnSpc>
              <a:spcBef>
                <a:spcPts val="500"/>
              </a:spcBef>
              <a:spcAft>
                <a:spcPts val="0"/>
              </a:spcAft>
              <a:buClr>
                <a:schemeClr val="dk1"/>
              </a:buClr>
              <a:buSzPts val="1400"/>
              <a:buNone/>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47" name="Google Shape;247;g28fa4b45176_0_338"/>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48" name="Google Shape;248;g28fa4b45176_0_338"/>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49" name="Google Shape;249;g28fa4b45176_0_338" descr="Birla Institute of Technology and Science, Pilani | Logopedia | Fandom"/>
          <p:cNvPicPr preferRelativeResize="0"/>
          <p:nvPr/>
        </p:nvPicPr>
        <p:blipFill rotWithShape="1">
          <a:blip r:embed="rId2">
            <a:alphaModFix/>
          </a:blip>
          <a:srcRect/>
          <a:stretch/>
        </p:blipFill>
        <p:spPr>
          <a:xfrm>
            <a:off x="0" y="28575"/>
            <a:ext cx="528638" cy="52863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250"/>
        <p:cNvGrpSpPr/>
        <p:nvPr/>
      </p:nvGrpSpPr>
      <p:grpSpPr>
        <a:xfrm>
          <a:off x="0" y="0"/>
          <a:ext cx="0" cy="0"/>
          <a:chOff x="0" y="0"/>
          <a:chExt cx="0" cy="0"/>
        </a:xfrm>
      </p:grpSpPr>
      <p:sp>
        <p:nvSpPr>
          <p:cNvPr id="251" name="Google Shape;251;g28fa4b45176_0_349"/>
          <p:cNvSpPr txBox="1">
            <a:spLocks noGrp="1"/>
          </p:cNvSpPr>
          <p:nvPr>
            <p:ph type="title"/>
          </p:nvPr>
        </p:nvSpPr>
        <p:spPr>
          <a:xfrm>
            <a:off x="2890157" y="1671639"/>
            <a:ext cx="5051400" cy="12048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2" name="Google Shape;252;g28fa4b45176_0_349"/>
          <p:cNvSpPr txBox="1">
            <a:spLocks noGrp="1"/>
          </p:cNvSpPr>
          <p:nvPr>
            <p:ph type="body" idx="1"/>
          </p:nvPr>
        </p:nvSpPr>
        <p:spPr>
          <a:xfrm>
            <a:off x="2890157" y="3660774"/>
            <a:ext cx="5051400" cy="15255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1000"/>
              </a:spcBef>
              <a:spcAft>
                <a:spcPts val="0"/>
              </a:spcAft>
              <a:buClr>
                <a:schemeClr val="dk1"/>
              </a:buClr>
              <a:buSzPts val="2400"/>
              <a:buNone/>
              <a:defRPr sz="2400">
                <a:solidFill>
                  <a:schemeClr val="dk1"/>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53" name="Google Shape;253;g28fa4b45176_0_349"/>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4" name="Google Shape;254;g28fa4b45176_0_349"/>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55" name="Google Shape;255;g28fa4b45176_0_349" descr="BITS Pilani logo"/>
          <p:cNvPicPr preferRelativeResize="0"/>
          <p:nvPr/>
        </p:nvPicPr>
        <p:blipFill rotWithShape="1">
          <a:blip r:embed="rId2">
            <a:alphaModFix/>
          </a:blip>
          <a:srcRect/>
          <a:stretch/>
        </p:blipFill>
        <p:spPr>
          <a:xfrm>
            <a:off x="6627529" y="192510"/>
            <a:ext cx="2504055" cy="649430"/>
          </a:xfrm>
          <a:prstGeom prst="rect">
            <a:avLst/>
          </a:prstGeom>
          <a:noFill/>
          <a:ln>
            <a:noFill/>
          </a:ln>
        </p:spPr>
      </p:pic>
    </p:spTree>
  </p:cSld>
  <p:clrMapOvr>
    <a:masterClrMapping/>
  </p:clrMapOvr>
  <p:extLst>
    <p:ext uri="{DCECCB84-F9BA-43D5-87BE-67443E8EF086}">
      <p15:sldGuideLst xmlns:p15="http://schemas.microsoft.com/office/powerpoint/2012/main">
        <p15:guide id="1" pos="225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dk1"/>
        </a:solidFill>
        <a:effectLst/>
      </p:bgPr>
    </p:bg>
    <p:spTree>
      <p:nvGrpSpPr>
        <p:cNvPr id="1" name="Shape 256"/>
        <p:cNvGrpSpPr/>
        <p:nvPr/>
      </p:nvGrpSpPr>
      <p:grpSpPr>
        <a:xfrm>
          <a:off x="0" y="0"/>
          <a:ext cx="0" cy="0"/>
          <a:chOff x="0" y="0"/>
          <a:chExt cx="0" cy="0"/>
        </a:xfrm>
      </p:grpSpPr>
      <p:sp>
        <p:nvSpPr>
          <p:cNvPr id="257" name="Google Shape;257;g28fa4b45176_0_355"/>
          <p:cNvSpPr txBox="1">
            <a:spLocks noGrp="1"/>
          </p:cNvSpPr>
          <p:nvPr>
            <p:ph type="ctrTitle"/>
          </p:nvPr>
        </p:nvSpPr>
        <p:spPr>
          <a:xfrm>
            <a:off x="3200400" y="1615736"/>
            <a:ext cx="3134700" cy="1524600"/>
          </a:xfrm>
          <a:prstGeom prst="rect">
            <a:avLst/>
          </a:prstGeom>
          <a:noFill/>
          <a:ln>
            <a:noFill/>
          </a:ln>
        </p:spPr>
        <p:txBody>
          <a:bodyPr spcFirstLastPara="1" wrap="square" lIns="91425" tIns="45700" rIns="91425" bIns="45700" anchor="b" anchorCtr="0">
            <a:noAutofit/>
          </a:bodyPr>
          <a:lstStyle>
            <a:lvl1pPr lvl="0" algn="l" rtl="0">
              <a:lnSpc>
                <a:spcPct val="90000"/>
              </a:lnSpc>
              <a:spcBef>
                <a:spcPts val="0"/>
              </a:spcBef>
              <a:spcAft>
                <a:spcPts val="0"/>
              </a:spcAft>
              <a:buClr>
                <a:schemeClr val="lt1"/>
              </a:buClr>
              <a:buSzPts val="3600"/>
              <a:buFont typeface="Calibri"/>
              <a:buNone/>
              <a:defRPr sz="3600">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58" name="Google Shape;258;g28fa4b45176_0_355"/>
          <p:cNvSpPr txBox="1">
            <a:spLocks noGrp="1"/>
          </p:cNvSpPr>
          <p:nvPr>
            <p:ph type="subTitle" idx="1"/>
          </p:nvPr>
        </p:nvSpPr>
        <p:spPr>
          <a:xfrm>
            <a:off x="3200400" y="3238103"/>
            <a:ext cx="3134700" cy="1371900"/>
          </a:xfrm>
          <a:prstGeom prst="rect">
            <a:avLst/>
          </a:prstGeom>
          <a:noFill/>
          <a:ln>
            <a:noFill/>
          </a:ln>
        </p:spPr>
        <p:txBody>
          <a:bodyPr spcFirstLastPara="1" wrap="square" lIns="91425" tIns="45700" rIns="91425" bIns="45700" anchor="t" anchorCtr="0">
            <a:normAutofit/>
          </a:bodyPr>
          <a:lstStyle>
            <a:lvl1pPr lvl="0" algn="l" rtl="0">
              <a:lnSpc>
                <a:spcPct val="150000"/>
              </a:lnSpc>
              <a:spcBef>
                <a:spcPts val="1000"/>
              </a:spcBef>
              <a:spcAft>
                <a:spcPts val="0"/>
              </a:spcAft>
              <a:buClr>
                <a:schemeClr val="lt1"/>
              </a:buClr>
              <a:buSzPts val="1400"/>
              <a:buNone/>
              <a:defRPr sz="1400">
                <a:solidFill>
                  <a:schemeClr val="lt1"/>
                </a:solidFill>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pic>
        <p:nvPicPr>
          <p:cNvPr id="259" name="Google Shape;259;g28fa4b45176_0_355"/>
          <p:cNvPicPr preferRelativeResize="0"/>
          <p:nvPr/>
        </p:nvPicPr>
        <p:blipFill rotWithShape="1">
          <a:blip r:embed="rId2">
            <a:alphaModFix/>
          </a:blip>
          <a:srcRect/>
          <a:stretch/>
        </p:blipFill>
        <p:spPr>
          <a:xfrm>
            <a:off x="0" y="0"/>
            <a:ext cx="2382704" cy="5143500"/>
          </a:xfrm>
          <a:prstGeom prst="rect">
            <a:avLst/>
          </a:prstGeom>
          <a:noFill/>
          <a:ln>
            <a:noFill/>
          </a:ln>
        </p:spPr>
      </p:pic>
      <p:sp>
        <p:nvSpPr>
          <p:cNvPr id="260" name="Google Shape;260;g28fa4b45176_0_355"/>
          <p:cNvSpPr txBox="1">
            <a:spLocks noGrp="1"/>
          </p:cNvSpPr>
          <p:nvPr>
            <p:ph type="ftr" idx="11"/>
          </p:nvPr>
        </p:nvSpPr>
        <p:spPr>
          <a:xfrm>
            <a:off x="4859791" y="6356350"/>
            <a:ext cx="19962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900"/>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61" name="Google Shape;261;g28fa4b45176_0_355"/>
          <p:cNvSpPr txBox="1">
            <a:spLocks noGrp="1"/>
          </p:cNvSpPr>
          <p:nvPr>
            <p:ph type="sldNum" idx="12"/>
          </p:nvPr>
        </p:nvSpPr>
        <p:spPr>
          <a:xfrm>
            <a:off x="7184571" y="6356350"/>
            <a:ext cx="13308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4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34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34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34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34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34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34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34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3400" b="0" i="0" u="none" strike="noStrike" cap="none">
                <a:solidFill>
                  <a:schemeClr val="dk2"/>
                </a:solidFill>
                <a:latin typeface="Arial"/>
                <a:ea typeface="Arial"/>
                <a:cs typeface="Arial"/>
                <a:sym typeface="Arial"/>
              </a:defRPr>
            </a:lvl9pPr>
          </a:lstStyle>
          <a:p>
            <a:endParaRPr/>
          </a:p>
        </p:txBody>
      </p:sp>
      <p:sp>
        <p:nvSpPr>
          <p:cNvPr id="11" name="Google Shape;11;p106"/>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8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17500" algn="l" rtl="0">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0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10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10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1pPr>
            <a:lvl2pPr marL="0" marR="0" lvl="1"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2pPr>
            <a:lvl3pPr marL="0" marR="0" lvl="2"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3pPr>
            <a:lvl4pPr marL="0" marR="0" lvl="3"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4pPr>
            <a:lvl5pPr marL="0" marR="0" lvl="4"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5pPr>
            <a:lvl6pPr marL="0" marR="0" lvl="5"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6pPr>
            <a:lvl7pPr marL="0" marR="0" lvl="6"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7pPr>
            <a:lvl8pPr marL="0" marR="0" lvl="7"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8pPr>
            <a:lvl9pPr marL="0" marR="0" lvl="8" indent="0" algn="r" rtl="0">
              <a:spcBef>
                <a:spcPts val="0"/>
              </a:spcBef>
              <a:spcAft>
                <a:spcPts val="0"/>
              </a:spcAft>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cxnSp>
        <p:nvCxnSpPr>
          <p:cNvPr id="15" name="Google Shape;15;p106"/>
          <p:cNvCxnSpPr/>
          <p:nvPr/>
        </p:nvCxnSpPr>
        <p:spPr>
          <a:xfrm>
            <a:off x="685800" y="838200"/>
            <a:ext cx="7772400" cy="0"/>
          </a:xfrm>
          <a:prstGeom prst="straightConnector1">
            <a:avLst/>
          </a:prstGeom>
          <a:noFill/>
          <a:ln w="38100" cap="flat" cmpd="sng">
            <a:solidFill>
              <a:schemeClr val="dk1"/>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
        <p:cNvGrpSpPr/>
        <p:nvPr/>
      </p:nvGrpSpPr>
      <p:grpSpPr>
        <a:xfrm>
          <a:off x="0" y="0"/>
          <a:ext cx="0" cy="0"/>
          <a:chOff x="0" y="0"/>
          <a:chExt cx="0" cy="0"/>
        </a:xfrm>
      </p:grpSpPr>
      <p:sp>
        <p:nvSpPr>
          <p:cNvPr id="94" name="Google Shape;94;g28fa4b45176_0_192"/>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g28fa4b45176_0_192"/>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6" name="Google Shape;96;g28fa4b45176_0_192"/>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7" name="Google Shape;97;g28fa4b45176_0_192"/>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goelaakash123/" TargetMode="Externa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www.psych.utoronto.ca/~joordens/courses/PsyA01/Chapter7/sld010.htm"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hyperlink" Target="https://ai.stanford.edu/~syyeung/cvweb/tutorial3.html"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hyperlink" Target="http://www.caip.rutgers.edu/~comanici/segm_images.html" TargetMode="External"/><Relationship Id="rId3" Type="http://schemas.openxmlformats.org/officeDocument/2006/relationships/hyperlink" Target="http://www.caip.rutgers.edu/riul/research/papers/pdf/spatmsft.pdf" TargetMode="External"/><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34.png"/><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hyperlink" Target="http://www.caip.rutgers.edu/~comanici/clusterDemo.html" TargetMode="External"/><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8.jp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hyperlink" Target="http://www.caip.rutgers.edu/~comanici/MSPAMI/msPamiResults.html"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png"/></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hyperlink" Target="http://www.cs.washington.edu/education/courses/455/03wi/readings/Ncu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28fa4b45176_0_184"/>
          <p:cNvSpPr txBox="1">
            <a:spLocks noGrp="1"/>
          </p:cNvSpPr>
          <p:nvPr>
            <p:ph type="title"/>
          </p:nvPr>
        </p:nvSpPr>
        <p:spPr>
          <a:xfrm>
            <a:off x="2100074" y="1913100"/>
            <a:ext cx="5022000" cy="1909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3600"/>
              <a:buFont typeface="Calibri"/>
              <a:buNone/>
            </a:pPr>
            <a:r>
              <a:rPr lang="en-US" sz="3600" u="sng"/>
              <a:t>Session #11: </a:t>
            </a:r>
            <a:endParaRPr sz="3600" u="sng"/>
          </a:p>
          <a:p>
            <a:pPr marL="0" lvl="0" indent="0" algn="l" rtl="0">
              <a:spcBef>
                <a:spcPts val="0"/>
              </a:spcBef>
              <a:spcAft>
                <a:spcPts val="0"/>
              </a:spcAft>
              <a:buClr>
                <a:schemeClr val="dk1"/>
              </a:buClr>
              <a:buSzPts val="3600"/>
              <a:buFont typeface="Calibri"/>
              <a:buNone/>
            </a:pPr>
            <a:r>
              <a:rPr lang="en-US" sz="3100"/>
              <a:t>Image Segmentation</a:t>
            </a:r>
            <a:endParaRPr u="sng"/>
          </a:p>
        </p:txBody>
      </p:sp>
      <p:sp>
        <p:nvSpPr>
          <p:cNvPr id="268" name="Google Shape;268;g28fa4b45176_0_184"/>
          <p:cNvSpPr txBox="1"/>
          <p:nvPr/>
        </p:nvSpPr>
        <p:spPr>
          <a:xfrm>
            <a:off x="0" y="6368025"/>
            <a:ext cx="851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highlight>
                  <a:srgbClr val="FFFF00"/>
                </a:highlight>
                <a:latin typeface="Arial"/>
                <a:ea typeface="Arial"/>
                <a:cs typeface="Arial"/>
                <a:sym typeface="Arial"/>
              </a:rPr>
              <a:t>Acknowledgement</a:t>
            </a:r>
            <a:r>
              <a:rPr lang="en-US" sz="1400" b="0" i="0" u="none" strike="noStrike" cap="none">
                <a:solidFill>
                  <a:srgbClr val="C00000"/>
                </a:solidFill>
                <a:latin typeface="Arial"/>
                <a:ea typeface="Arial"/>
                <a:cs typeface="Arial"/>
                <a:sym typeface="Arial"/>
              </a:rPr>
              <a:t>: Slide Materials adopted from  - </a:t>
            </a:r>
            <a:r>
              <a:rPr lang="en-US">
                <a:solidFill>
                  <a:srgbClr val="C00000"/>
                </a:solidFill>
              </a:rPr>
              <a:t>EECS 442 – David Fouhey</a:t>
            </a:r>
            <a:r>
              <a:rPr lang="en-US" sz="1400" b="0" i="0" u="none" strike="noStrike" cap="none">
                <a:solidFill>
                  <a:srgbClr val="C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69" name="Google Shape;269;g28fa4b45176_0_184"/>
          <p:cNvSpPr txBox="1"/>
          <p:nvPr/>
        </p:nvSpPr>
        <p:spPr>
          <a:xfrm>
            <a:off x="2478578" y="3949825"/>
            <a:ext cx="5800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a:solidFill>
                  <a:schemeClr val="dk1"/>
                </a:solidFill>
                <a:latin typeface="Calibri"/>
                <a:ea typeface="Calibri"/>
                <a:cs typeface="Calibri"/>
                <a:sym typeface="Calibri"/>
              </a:rPr>
              <a:t>Mithun Kumar S R</a:t>
            </a:r>
            <a:endParaRPr sz="2800">
              <a:solidFill>
                <a:schemeClr val="dk1"/>
              </a:solidFill>
              <a:latin typeface="Calibri"/>
              <a:ea typeface="Calibri"/>
              <a:cs typeface="Calibri"/>
              <a:sym typeface="Calibri"/>
            </a:endParaRPr>
          </a:p>
          <a:p>
            <a:pPr marL="0" lvl="0" indent="0" algn="l" rtl="0">
              <a:spcBef>
                <a:spcPts val="0"/>
              </a:spcBef>
              <a:spcAft>
                <a:spcPts val="0"/>
              </a:spcAft>
              <a:buNone/>
            </a:pPr>
            <a:r>
              <a:rPr lang="en-US" sz="2800">
                <a:solidFill>
                  <a:schemeClr val="dk1"/>
                </a:solidFill>
                <a:latin typeface="Calibri"/>
                <a:ea typeface="Calibri"/>
                <a:cs typeface="Calibri"/>
                <a:sym typeface="Calibri"/>
              </a:rPr>
              <a:t>mithunkumar.sr@wilp.bits-pilani.ac.in</a:t>
            </a:r>
            <a:endParaRPr sz="2800">
              <a:solidFill>
                <a:schemeClr val="dk1"/>
              </a:solidFill>
              <a:latin typeface="Calibri"/>
              <a:ea typeface="Calibri"/>
              <a:cs typeface="Calibri"/>
              <a:sym typeface="Calibri"/>
            </a:endParaRPr>
          </a:p>
        </p:txBody>
      </p:sp>
      <p:sp>
        <p:nvSpPr>
          <p:cNvPr id="270" name="Google Shape;270;g28fa4b45176_0_184"/>
          <p:cNvSpPr txBox="1">
            <a:spLocks noGrp="1"/>
          </p:cNvSpPr>
          <p:nvPr>
            <p:ph type="sldNum" idx="12"/>
          </p:nvPr>
        </p:nvSpPr>
        <p:spPr>
          <a:xfrm>
            <a:off x="7243763" y="6356350"/>
            <a:ext cx="12717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0C69-C9ED-17AF-8127-828113E1227F}"/>
              </a:ext>
            </a:extLst>
          </p:cNvPr>
          <p:cNvSpPr>
            <a:spLocks noGrp="1"/>
          </p:cNvSpPr>
          <p:nvPr>
            <p:ph type="title"/>
          </p:nvPr>
        </p:nvSpPr>
        <p:spPr/>
        <p:txBody>
          <a:bodyPr>
            <a:normAutofit/>
          </a:bodyPr>
          <a:lstStyle/>
          <a:p>
            <a:r>
              <a:rPr lang="en-US" sz="2100" dirty="0"/>
              <a:t>Aakash Goel</a:t>
            </a:r>
            <a:br>
              <a:rPr lang="en-US" sz="2100" dirty="0"/>
            </a:br>
            <a:r>
              <a:rPr lang="en-US" sz="2100" dirty="0">
                <a:hlinkClick r:id="rId2"/>
              </a:rPr>
              <a:t>https://www.linkedin.com/in/goelaakash123/</a:t>
            </a:r>
            <a:endParaRPr lang="en-US" dirty="0"/>
          </a:p>
        </p:txBody>
      </p:sp>
      <p:sp>
        <p:nvSpPr>
          <p:cNvPr id="3" name="Subtitle 2">
            <a:extLst>
              <a:ext uri="{FF2B5EF4-FFF2-40B4-BE49-F238E27FC236}">
                <a16:creationId xmlns:a16="http://schemas.microsoft.com/office/drawing/2014/main" id="{C84DECD3-7272-A66B-D05A-F5C716C54AE3}"/>
              </a:ext>
            </a:extLst>
          </p:cNvPr>
          <p:cNvSpPr>
            <a:spLocks noGrp="1"/>
          </p:cNvSpPr>
          <p:nvPr>
            <p:ph type="subTitle" idx="1"/>
          </p:nvPr>
        </p:nvSpPr>
        <p:spPr>
          <a:xfrm>
            <a:off x="3493294" y="4628853"/>
            <a:ext cx="5022056" cy="516619"/>
          </a:xfrm>
        </p:spPr>
        <p:txBody>
          <a:bodyPr>
            <a:noAutofit/>
          </a:bodyPr>
          <a:lstStyle/>
          <a:p>
            <a:r>
              <a:rPr lang="en-US" sz="900" dirty="0"/>
              <a:t>Acknowledgement: </a:t>
            </a:r>
            <a:r>
              <a:rPr lang="en-US" sz="900" dirty="0">
                <a:solidFill>
                  <a:srgbClr val="FF0000"/>
                </a:solidFill>
                <a:latin typeface="Arial"/>
                <a:ea typeface="Arial"/>
                <a:cs typeface="Arial"/>
                <a:sym typeface="Arial"/>
              </a:rPr>
              <a:t>Slide Materials adopted from  - Intro to Computer Vision (Cornell Tech); Noah Snavely, </a:t>
            </a:r>
            <a:r>
              <a:rPr lang="en-US" sz="900" dirty="0">
                <a:solidFill>
                  <a:srgbClr val="FF0000"/>
                </a:solidFill>
              </a:rPr>
              <a:t>prepared by the lead instructor Prof S P Vimal , modified (added some content) by Aakash Goel</a:t>
            </a:r>
          </a:p>
        </p:txBody>
      </p:sp>
      <p:sp>
        <p:nvSpPr>
          <p:cNvPr id="4" name="Slide Number Placeholder 3">
            <a:extLst>
              <a:ext uri="{FF2B5EF4-FFF2-40B4-BE49-F238E27FC236}">
                <a16:creationId xmlns:a16="http://schemas.microsoft.com/office/drawing/2014/main" id="{CF5FF7BA-7C01-3743-F6C5-F75895750147}"/>
              </a:ext>
            </a:extLst>
          </p:cNvPr>
          <p:cNvSpPr>
            <a:spLocks noGrp="1"/>
          </p:cNvSpPr>
          <p:nvPr>
            <p:ph type="sldNum" idx="12"/>
          </p:nvPr>
        </p:nvSpPr>
        <p:spPr/>
        <p:txBody>
          <a:bodyPr/>
          <a:lstStyle/>
          <a:p>
            <a:fld id="{00000000-1234-1234-1234-123412341234}" type="slidenum">
              <a:rPr lang="en-US" smtClean="0"/>
              <a:pPr/>
              <a:t>2</a:t>
            </a:fld>
            <a:endParaRPr lang="en-US"/>
          </a:p>
        </p:txBody>
      </p:sp>
      <p:sp>
        <p:nvSpPr>
          <p:cNvPr id="6" name="TextBox 5">
            <a:extLst>
              <a:ext uri="{FF2B5EF4-FFF2-40B4-BE49-F238E27FC236}">
                <a16:creationId xmlns:a16="http://schemas.microsoft.com/office/drawing/2014/main" id="{FAB6B0C6-F660-E59C-6C87-5A6540BC8E38}"/>
              </a:ext>
            </a:extLst>
          </p:cNvPr>
          <p:cNvSpPr txBox="1"/>
          <p:nvPr/>
        </p:nvSpPr>
        <p:spPr>
          <a:xfrm>
            <a:off x="583324" y="2287898"/>
            <a:ext cx="4572000" cy="415498"/>
          </a:xfrm>
          <a:prstGeom prst="rect">
            <a:avLst/>
          </a:prstGeom>
          <a:noFill/>
        </p:spPr>
        <p:txBody>
          <a:bodyPr wrap="square">
            <a:spAutoFit/>
          </a:bodyPr>
          <a:lstStyle/>
          <a:p>
            <a:pPr>
              <a:buClr>
                <a:schemeClr val="dk1"/>
              </a:buClr>
              <a:buSzPts val="3600"/>
            </a:pPr>
            <a:r>
              <a:rPr lang="en-US" sz="1050" b="1" u="sng" dirty="0"/>
              <a:t>Session 10: </a:t>
            </a:r>
          </a:p>
          <a:p>
            <a:pPr>
              <a:buClr>
                <a:schemeClr val="dk1"/>
              </a:buClr>
              <a:buSzPts val="3600"/>
            </a:pPr>
            <a:r>
              <a:rPr lang="en-US" sz="1050" b="1" dirty="0"/>
              <a:t>Image Segmentation</a:t>
            </a:r>
          </a:p>
        </p:txBody>
      </p:sp>
    </p:spTree>
    <p:extLst>
      <p:ext uri="{BB962C8B-B14F-4D97-AF65-F5344CB8AC3E}">
        <p14:creationId xmlns:p14="http://schemas.microsoft.com/office/powerpoint/2010/main" val="599536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
          <p:cNvSpPr txBox="1">
            <a:spLocks noGrp="1"/>
          </p:cNvSpPr>
          <p:nvPr>
            <p:ph type="title"/>
          </p:nvPr>
        </p:nvSpPr>
        <p:spPr>
          <a:xfrm>
            <a:off x="668350" y="931866"/>
            <a:ext cx="7772400" cy="29910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2000"/>
              <a:t>Image segmentation is a process in computer vision that involves dividing an image into multiple segments, or regions, to simplify or change the representation of an image into something more meaningful and easier to analyze. It's often used to locate objects and boundaries within images. </a:t>
            </a:r>
            <a:endParaRPr sz="2000"/>
          </a:p>
          <a:p>
            <a:pPr marL="0" lvl="0" indent="0" algn="ctr" rtl="0">
              <a:spcBef>
                <a:spcPts val="1200"/>
              </a:spcBef>
              <a:spcAft>
                <a:spcPts val="0"/>
              </a:spcAft>
              <a:buNone/>
            </a:pPr>
            <a:endParaRPr sz="2000"/>
          </a:p>
        </p:txBody>
      </p:sp>
      <p:sp>
        <p:nvSpPr>
          <p:cNvPr id="276" name="Google Shape;276;p1"/>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Image Segmentation</a:t>
            </a:r>
            <a:endParaRPr/>
          </a:p>
        </p:txBody>
      </p:sp>
      <p:pic>
        <p:nvPicPr>
          <p:cNvPr id="277" name="Google Shape;277;p1"/>
          <p:cNvPicPr preferRelativeResize="0"/>
          <p:nvPr/>
        </p:nvPicPr>
        <p:blipFill>
          <a:blip r:embed="rId3">
            <a:alphaModFix/>
          </a:blip>
          <a:stretch>
            <a:fillRect/>
          </a:stretch>
        </p:blipFill>
        <p:spPr>
          <a:xfrm>
            <a:off x="581452" y="3376427"/>
            <a:ext cx="7480300" cy="313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28fa4b45176_0_696"/>
          <p:cNvSpPr txBox="1">
            <a:spLocks noGrp="1"/>
          </p:cNvSpPr>
          <p:nvPr>
            <p:ph type="title"/>
          </p:nvPr>
        </p:nvSpPr>
        <p:spPr>
          <a:xfrm>
            <a:off x="685800" y="76200"/>
            <a:ext cx="7772400" cy="838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Types</a:t>
            </a:r>
            <a:endParaRPr/>
          </a:p>
        </p:txBody>
      </p:sp>
      <p:sp>
        <p:nvSpPr>
          <p:cNvPr id="284" name="Google Shape;284;g28fa4b45176_0_696"/>
          <p:cNvSpPr txBox="1">
            <a:spLocks noGrp="1"/>
          </p:cNvSpPr>
          <p:nvPr>
            <p:ph type="body" idx="1"/>
          </p:nvPr>
        </p:nvSpPr>
        <p:spPr>
          <a:xfrm>
            <a:off x="685800" y="914400"/>
            <a:ext cx="7772400" cy="5257800"/>
          </a:xfrm>
          <a:prstGeom prst="rect">
            <a:avLst/>
          </a:prstGeom>
        </p:spPr>
        <p:txBody>
          <a:bodyPr spcFirstLastPara="1" wrap="square" lIns="91425" tIns="45700" rIns="91425" bIns="45700" anchor="t" anchorCtr="0">
            <a:noAutofit/>
          </a:bodyPr>
          <a:lstStyle/>
          <a:p>
            <a:pPr marL="0" lvl="0" indent="0" algn="just" rtl="0">
              <a:spcBef>
                <a:spcPts val="360"/>
              </a:spcBef>
              <a:spcAft>
                <a:spcPts val="0"/>
              </a:spcAft>
              <a:buClr>
                <a:schemeClr val="dk1"/>
              </a:buClr>
              <a:buSzPts val="1100"/>
              <a:buFont typeface="Arial"/>
              <a:buNone/>
            </a:pPr>
            <a:r>
              <a:rPr lang="en-US" sz="2000" b="1"/>
              <a:t>Semantic Segmentation</a:t>
            </a:r>
            <a:r>
              <a:rPr lang="en-US" sz="2000"/>
              <a:t>: Assigns a label to every pixel in the image, meaning each pixel is classified as belonging to a specific object class (e.g., car, tree, road).</a:t>
            </a:r>
            <a:endParaRPr sz="2000"/>
          </a:p>
          <a:p>
            <a:pPr marL="0" lvl="0" indent="0" algn="just" rtl="0">
              <a:spcBef>
                <a:spcPts val="360"/>
              </a:spcBef>
              <a:spcAft>
                <a:spcPts val="0"/>
              </a:spcAft>
              <a:buClr>
                <a:schemeClr val="dk1"/>
              </a:buClr>
              <a:buSzPts val="1100"/>
              <a:buFont typeface="Arial"/>
              <a:buNone/>
            </a:pPr>
            <a:r>
              <a:rPr lang="en-US" sz="2000" b="1"/>
              <a:t>Instance Segmentation</a:t>
            </a:r>
            <a:r>
              <a:rPr lang="en-US" sz="2000"/>
              <a:t>: Similar to semantic segmentation but differentiates between different instances of the same object class (e.g., multiple cars in an image).</a:t>
            </a:r>
            <a:endParaRPr sz="2000"/>
          </a:p>
          <a:p>
            <a:pPr marL="0" lvl="0" indent="0" algn="just" rtl="0">
              <a:spcBef>
                <a:spcPts val="360"/>
              </a:spcBef>
              <a:spcAft>
                <a:spcPts val="0"/>
              </a:spcAft>
              <a:buClr>
                <a:schemeClr val="dk1"/>
              </a:buClr>
              <a:buSzPts val="1100"/>
              <a:buFont typeface="Arial"/>
              <a:buNone/>
            </a:pPr>
            <a:r>
              <a:rPr lang="en-US" sz="2000" b="1"/>
              <a:t>Panoptic Segmentation</a:t>
            </a:r>
            <a:r>
              <a:rPr lang="en-US" sz="2000"/>
              <a:t>: A combination of both semantic and instance segmentation, providing a comprehensive view by segmenting both object instances and the background.</a:t>
            </a:r>
            <a:endParaRPr sz="2000"/>
          </a:p>
          <a:p>
            <a:pPr marL="0" lvl="0" indent="0" algn="just" rtl="0">
              <a:spcBef>
                <a:spcPts val="360"/>
              </a:spcBef>
              <a:spcAft>
                <a:spcPts val="0"/>
              </a:spcAft>
              <a:buClr>
                <a:schemeClr val="dk1"/>
              </a:buClr>
              <a:buSzPts val="1100"/>
              <a:buFont typeface="Arial"/>
              <a:buNone/>
            </a:pPr>
            <a:r>
              <a:rPr lang="en-US" sz="2000" b="1"/>
              <a:t>Thresholding</a:t>
            </a:r>
            <a:r>
              <a:rPr lang="en-US" sz="2000"/>
              <a:t>: Simplest form where pixels are classified based on a threshold value.</a:t>
            </a:r>
            <a:endParaRPr sz="2000"/>
          </a:p>
          <a:p>
            <a:pPr marL="0" lvl="0" indent="0" algn="just" rtl="0">
              <a:spcBef>
                <a:spcPts val="360"/>
              </a:spcBef>
              <a:spcAft>
                <a:spcPts val="0"/>
              </a:spcAft>
              <a:buClr>
                <a:schemeClr val="dk1"/>
              </a:buClr>
              <a:buSzPts val="1100"/>
              <a:buFont typeface="Arial"/>
              <a:buNone/>
            </a:pPr>
            <a:r>
              <a:rPr lang="en-US" sz="2000" b="1"/>
              <a:t>Edge-based Segmentation</a:t>
            </a:r>
            <a:r>
              <a:rPr lang="en-US" sz="2000"/>
              <a:t>: Uses edges (sharp changes in intensity) to identify objects.</a:t>
            </a:r>
            <a:endParaRPr sz="2000"/>
          </a:p>
          <a:p>
            <a:pPr marL="0" lvl="0" indent="0" algn="just" rtl="0">
              <a:spcBef>
                <a:spcPts val="360"/>
              </a:spcBef>
              <a:spcAft>
                <a:spcPts val="0"/>
              </a:spcAft>
              <a:buClr>
                <a:schemeClr val="dk1"/>
              </a:buClr>
              <a:buSzPts val="1100"/>
              <a:buFont typeface="Arial"/>
              <a:buNone/>
            </a:pPr>
            <a:r>
              <a:rPr lang="en-US" sz="2000" b="1"/>
              <a:t>Region-based Segmentation</a:t>
            </a:r>
            <a:r>
              <a:rPr lang="en-US" sz="2000"/>
              <a:t>: Groups pixels into regions based on some predefined criteria like color, intensity, or texture.</a:t>
            </a:r>
            <a:endParaRPr sz="2000"/>
          </a:p>
          <a:p>
            <a:pPr marL="0" lvl="0" indent="0" algn="l" rtl="0">
              <a:spcBef>
                <a:spcPts val="36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Image Segmentation</a:t>
            </a:r>
            <a:endParaRPr/>
          </a:p>
        </p:txBody>
      </p:sp>
      <p:pic>
        <p:nvPicPr>
          <p:cNvPr id="290" name="Google Shape;290;p2"/>
          <p:cNvPicPr preferRelativeResize="0"/>
          <p:nvPr/>
        </p:nvPicPr>
        <p:blipFill rotWithShape="1">
          <a:blip r:embed="rId3">
            <a:alphaModFix/>
          </a:blip>
          <a:srcRect/>
          <a:stretch/>
        </p:blipFill>
        <p:spPr>
          <a:xfrm>
            <a:off x="2324100" y="1833288"/>
            <a:ext cx="4495800" cy="3617912"/>
          </a:xfrm>
          <a:prstGeom prst="rect">
            <a:avLst/>
          </a:prstGeom>
          <a:noFill/>
          <a:ln>
            <a:noFill/>
          </a:ln>
        </p:spPr>
      </p:pic>
      <p:sp>
        <p:nvSpPr>
          <p:cNvPr id="291" name="Google Shape;291;p2"/>
          <p:cNvSpPr txBox="1"/>
          <p:nvPr/>
        </p:nvSpPr>
        <p:spPr>
          <a:xfrm>
            <a:off x="3091200" y="1279200"/>
            <a:ext cx="53670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rPr>
              <a:t>Gestalt psychology</a:t>
            </a:r>
            <a:endParaRPr sz="2400">
              <a:solidFill>
                <a:schemeClr val="dk1"/>
              </a:solidFill>
            </a:endParaRPr>
          </a:p>
        </p:txBody>
      </p:sp>
      <p:sp>
        <p:nvSpPr>
          <p:cNvPr id="292" name="Google Shape;292;p2"/>
          <p:cNvSpPr txBox="1"/>
          <p:nvPr/>
        </p:nvSpPr>
        <p:spPr>
          <a:xfrm>
            <a:off x="319800" y="5544175"/>
            <a:ext cx="8824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solidFill>
                  <a:schemeClr val="dk1"/>
                </a:solidFill>
              </a:rPr>
              <a:t>We perceive objects in its entirety before their individual parts</a:t>
            </a:r>
            <a:endParaRPr sz="2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28fa4b45176_0_713"/>
          <p:cNvSpPr txBox="1">
            <a:spLocks noGrp="1"/>
          </p:cNvSpPr>
          <p:nvPr>
            <p:ph type="title"/>
          </p:nvPr>
        </p:nvSpPr>
        <p:spPr>
          <a:xfrm>
            <a:off x="685800" y="76200"/>
            <a:ext cx="7772400" cy="838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Gestalt: Seeing the unified whole</a:t>
            </a:r>
            <a:endParaRPr/>
          </a:p>
        </p:txBody>
      </p:sp>
      <p:pic>
        <p:nvPicPr>
          <p:cNvPr id="299" name="Google Shape;299;g28fa4b45176_0_713"/>
          <p:cNvPicPr preferRelativeResize="0"/>
          <p:nvPr/>
        </p:nvPicPr>
        <p:blipFill>
          <a:blip r:embed="rId3">
            <a:alphaModFix/>
          </a:blip>
          <a:stretch>
            <a:fillRect/>
          </a:stretch>
        </p:blipFill>
        <p:spPr>
          <a:xfrm>
            <a:off x="0" y="1313714"/>
            <a:ext cx="9144001" cy="4230572"/>
          </a:xfrm>
          <a:prstGeom prst="rect">
            <a:avLst/>
          </a:prstGeom>
          <a:noFill/>
          <a:ln>
            <a:noFill/>
          </a:ln>
        </p:spPr>
      </p:pic>
      <p:sp>
        <p:nvSpPr>
          <p:cNvPr id="300" name="Google Shape;300;g28fa4b45176_0_713"/>
          <p:cNvSpPr txBox="1"/>
          <p:nvPr/>
        </p:nvSpPr>
        <p:spPr>
          <a:xfrm>
            <a:off x="6144000" y="624240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https://ai.stanford.edu/~syyeung/cvweb/tutorial3.html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28fa4b45176_0_706"/>
          <p:cNvSpPr txBox="1">
            <a:spLocks noGrp="1"/>
          </p:cNvSpPr>
          <p:nvPr>
            <p:ph type="title"/>
          </p:nvPr>
        </p:nvSpPr>
        <p:spPr>
          <a:xfrm>
            <a:off x="685800" y="76200"/>
            <a:ext cx="7772400" cy="838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Human perception of shape recognition</a:t>
            </a:r>
            <a:endParaRPr/>
          </a:p>
        </p:txBody>
      </p:sp>
      <p:pic>
        <p:nvPicPr>
          <p:cNvPr id="307" name="Google Shape;307;g28fa4b45176_0_706"/>
          <p:cNvPicPr preferRelativeResize="0"/>
          <p:nvPr/>
        </p:nvPicPr>
        <p:blipFill>
          <a:blip r:embed="rId3">
            <a:alphaModFix/>
          </a:blip>
          <a:stretch>
            <a:fillRect/>
          </a:stretch>
        </p:blipFill>
        <p:spPr>
          <a:xfrm>
            <a:off x="152400" y="1066800"/>
            <a:ext cx="8839199" cy="4768006"/>
          </a:xfrm>
          <a:prstGeom prst="rect">
            <a:avLst/>
          </a:prstGeom>
          <a:noFill/>
          <a:ln>
            <a:noFill/>
          </a:ln>
        </p:spPr>
      </p:pic>
      <p:sp>
        <p:nvSpPr>
          <p:cNvPr id="308" name="Google Shape;308;g28fa4b45176_0_706"/>
          <p:cNvSpPr txBox="1"/>
          <p:nvPr/>
        </p:nvSpPr>
        <p:spPr>
          <a:xfrm>
            <a:off x="6144000" y="624240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https://ai.stanford.edu/~syyeung/cvweb/tutorial3.html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dk1"/>
                </a:solidFill>
              </a:rPr>
              <a:t>From images to objects</a:t>
            </a:r>
            <a:endParaRPr/>
          </a:p>
        </p:txBody>
      </p:sp>
      <p:pic>
        <p:nvPicPr>
          <p:cNvPr id="314" name="Google Shape;314;p3"/>
          <p:cNvPicPr preferRelativeResize="0"/>
          <p:nvPr/>
        </p:nvPicPr>
        <p:blipFill rotWithShape="1">
          <a:blip r:embed="rId3">
            <a:alphaModFix/>
          </a:blip>
          <a:srcRect/>
          <a:stretch/>
        </p:blipFill>
        <p:spPr>
          <a:xfrm>
            <a:off x="947738" y="1447800"/>
            <a:ext cx="3108325" cy="2343150"/>
          </a:xfrm>
          <a:prstGeom prst="rect">
            <a:avLst/>
          </a:prstGeom>
          <a:noFill/>
          <a:ln>
            <a:noFill/>
          </a:ln>
        </p:spPr>
      </p:pic>
      <p:pic>
        <p:nvPicPr>
          <p:cNvPr id="315" name="Google Shape;315;p3"/>
          <p:cNvPicPr preferRelativeResize="0"/>
          <p:nvPr/>
        </p:nvPicPr>
        <p:blipFill rotWithShape="1">
          <a:blip r:embed="rId4">
            <a:alphaModFix/>
          </a:blip>
          <a:srcRect/>
          <a:stretch/>
        </p:blipFill>
        <p:spPr>
          <a:xfrm>
            <a:off x="5080000" y="1447800"/>
            <a:ext cx="3106738" cy="2343150"/>
          </a:xfrm>
          <a:prstGeom prst="rect">
            <a:avLst/>
          </a:prstGeom>
          <a:noFill/>
          <a:ln>
            <a:noFill/>
          </a:ln>
        </p:spPr>
      </p:pic>
      <p:cxnSp>
        <p:nvCxnSpPr>
          <p:cNvPr id="316" name="Google Shape;316;p3"/>
          <p:cNvCxnSpPr/>
          <p:nvPr/>
        </p:nvCxnSpPr>
        <p:spPr>
          <a:xfrm>
            <a:off x="4200525" y="2590800"/>
            <a:ext cx="676275" cy="0"/>
          </a:xfrm>
          <a:prstGeom prst="straightConnector1">
            <a:avLst/>
          </a:prstGeom>
          <a:noFill/>
          <a:ln w="76200" cap="flat" cmpd="sng">
            <a:solidFill>
              <a:srgbClr val="FF0000"/>
            </a:solidFill>
            <a:prstDash val="solid"/>
            <a:round/>
            <a:headEnd type="none" w="med" len="med"/>
            <a:tailEnd type="triangle" w="med" len="med"/>
          </a:ln>
        </p:spPr>
      </p:cxnSp>
      <p:sp>
        <p:nvSpPr>
          <p:cNvPr id="317" name="Google Shape;317;p3"/>
          <p:cNvSpPr txBox="1">
            <a:spLocks noGrp="1"/>
          </p:cNvSpPr>
          <p:nvPr>
            <p:ph type="body" idx="1"/>
          </p:nvPr>
        </p:nvSpPr>
        <p:spPr>
          <a:xfrm>
            <a:off x="685800" y="4267200"/>
            <a:ext cx="7772400" cy="1905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What Defines an Object?</a:t>
            </a:r>
            <a:endParaRPr/>
          </a:p>
          <a:p>
            <a:pPr marL="742950" lvl="1" indent="-285750" algn="l" rtl="0">
              <a:spcBef>
                <a:spcPts val="400"/>
              </a:spcBef>
              <a:spcAft>
                <a:spcPts val="0"/>
              </a:spcAft>
              <a:buClr>
                <a:schemeClr val="dk1"/>
              </a:buClr>
              <a:buSzPts val="2000"/>
              <a:buFont typeface="Arial"/>
              <a:buChar char="•"/>
            </a:pPr>
            <a:r>
              <a:rPr lang="en-US"/>
              <a:t>Subjective problem, but has been well-studied</a:t>
            </a:r>
            <a:endParaRPr/>
          </a:p>
          <a:p>
            <a:pPr marL="742950" lvl="1" indent="-285750" algn="l" rtl="0">
              <a:spcBef>
                <a:spcPts val="400"/>
              </a:spcBef>
              <a:spcAft>
                <a:spcPts val="0"/>
              </a:spcAft>
              <a:buClr>
                <a:schemeClr val="dk1"/>
              </a:buClr>
              <a:buSzPts val="2000"/>
              <a:buFont typeface="Arial"/>
              <a:buChar char="•"/>
            </a:pPr>
            <a:r>
              <a:rPr lang="en-US"/>
              <a:t>Gestalt Laws seek to formalize this</a:t>
            </a:r>
            <a:endParaRPr/>
          </a:p>
          <a:p>
            <a:pPr marL="1143000" lvl="2" indent="-228600" algn="l" rtl="0">
              <a:spcBef>
                <a:spcPts val="360"/>
              </a:spcBef>
              <a:spcAft>
                <a:spcPts val="0"/>
              </a:spcAft>
              <a:buClr>
                <a:schemeClr val="dk1"/>
              </a:buClr>
              <a:buSzPts val="1800"/>
              <a:buFont typeface="Arial"/>
              <a:buChar char="–"/>
            </a:pPr>
            <a:r>
              <a:rPr lang="en-US"/>
              <a:t>proximity, similarity, continuation, closure, common fate</a:t>
            </a:r>
            <a:endParaRPr/>
          </a:p>
          <a:p>
            <a:pPr marL="1143000" lvl="2" indent="-228600" algn="l" rtl="0">
              <a:spcBef>
                <a:spcPts val="360"/>
              </a:spcBef>
              <a:spcAft>
                <a:spcPts val="0"/>
              </a:spcAft>
              <a:buClr>
                <a:schemeClr val="dk1"/>
              </a:buClr>
              <a:buSzPts val="1800"/>
              <a:buFont typeface="Arial"/>
              <a:buChar char="–"/>
            </a:pPr>
            <a:r>
              <a:rPr lang="en-US"/>
              <a:t>see </a:t>
            </a:r>
            <a:r>
              <a:rPr lang="en-US" u="sng">
                <a:solidFill>
                  <a:schemeClr val="hlink"/>
                </a:solidFill>
                <a:hlinkClick r:id="rId5"/>
              </a:rPr>
              <a:t>notes</a:t>
            </a:r>
            <a:r>
              <a:rPr lang="en-US"/>
              <a:t> by Steve Joordens, U. Toronto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Image Segmentation</a:t>
            </a:r>
            <a:endParaRPr/>
          </a:p>
        </p:txBody>
      </p:sp>
      <p:sp>
        <p:nvSpPr>
          <p:cNvPr id="323" name="Google Shape;323;p4"/>
          <p:cNvSpPr txBox="1">
            <a:spLocks noGrp="1"/>
          </p:cNvSpPr>
          <p:nvPr>
            <p:ph type="body" idx="1"/>
          </p:nvPr>
        </p:nvSpPr>
        <p:spPr>
          <a:xfrm>
            <a:off x="685800" y="1219200"/>
            <a:ext cx="6705600" cy="4724400"/>
          </a:xfrm>
          <a:prstGeom prst="rect">
            <a:avLst/>
          </a:prstGeom>
          <a:noFill/>
          <a:ln>
            <a:noFill/>
          </a:ln>
        </p:spPr>
        <p:txBody>
          <a:bodyPr spcFirstLastPara="1" wrap="square" lIns="91425" tIns="45700" rIns="91425" bIns="45700" anchor="t" anchorCtr="0">
            <a:noAutofit/>
          </a:bodyPr>
          <a:lstStyle/>
          <a:p>
            <a:pPr marL="0" lvl="0" indent="0" algn="l" rtl="0">
              <a:spcBef>
                <a:spcPts val="400"/>
              </a:spcBef>
              <a:spcAft>
                <a:spcPts val="0"/>
              </a:spcAft>
              <a:buNone/>
            </a:pPr>
            <a:r>
              <a:rPr lang="en-US"/>
              <a:t>Intuitive to us</a:t>
            </a:r>
            <a:endParaRPr/>
          </a:p>
          <a:p>
            <a:pPr marL="0" lvl="0" indent="0" algn="l" rtl="0">
              <a:spcBef>
                <a:spcPts val="400"/>
              </a:spcBef>
              <a:spcAft>
                <a:spcPts val="0"/>
              </a:spcAft>
              <a:buNone/>
            </a:pPr>
            <a:r>
              <a:rPr lang="en-US"/>
              <a:t>Hard to translate to algorithms</a:t>
            </a:r>
            <a:endParaRPr/>
          </a:p>
          <a:p>
            <a:pPr marL="0" lvl="0" indent="0" algn="l" rtl="0">
              <a:spcBef>
                <a:spcPts val="400"/>
              </a:spcBef>
              <a:spcAft>
                <a:spcPts val="0"/>
              </a:spcAft>
              <a:buNone/>
            </a:pPr>
            <a:endParaRPr/>
          </a:p>
          <a:p>
            <a:pPr marL="0" lvl="0" indent="0" algn="l" rtl="0">
              <a:spcBef>
                <a:spcPts val="400"/>
              </a:spcBef>
              <a:spcAft>
                <a:spcPts val="0"/>
              </a:spcAft>
              <a:buNone/>
            </a:pPr>
            <a:endParaRPr/>
          </a:p>
          <a:p>
            <a:pPr marL="0" lvl="0" indent="0" algn="l" rtl="0">
              <a:spcBef>
                <a:spcPts val="400"/>
              </a:spcBef>
              <a:spcAft>
                <a:spcPts val="0"/>
              </a:spcAft>
              <a:buNone/>
            </a:pPr>
            <a:r>
              <a:rPr lang="en-US"/>
              <a:t>Strategies:</a:t>
            </a:r>
            <a:endParaRPr/>
          </a:p>
          <a:p>
            <a:pPr marL="457200" lvl="0" indent="-317500" algn="l" rtl="0">
              <a:spcBef>
                <a:spcPts val="400"/>
              </a:spcBef>
              <a:spcAft>
                <a:spcPts val="0"/>
              </a:spcAft>
              <a:buSzPts val="1400"/>
              <a:buChar char="●"/>
            </a:pPr>
            <a:r>
              <a:rPr lang="en-US"/>
              <a:t>Top Down</a:t>
            </a:r>
            <a:endParaRPr/>
          </a:p>
          <a:p>
            <a:pPr marL="914400" lvl="0" indent="0" algn="l" rtl="0">
              <a:spcBef>
                <a:spcPts val="400"/>
              </a:spcBef>
              <a:spcAft>
                <a:spcPts val="0"/>
              </a:spcAft>
              <a:buNone/>
            </a:pPr>
            <a:r>
              <a:rPr lang="en-US"/>
              <a:t>Pixels belong together because they come from the same object</a:t>
            </a:r>
            <a:endParaRPr/>
          </a:p>
          <a:p>
            <a:pPr marL="914400" lvl="0" indent="0" algn="l" rtl="0">
              <a:spcBef>
                <a:spcPts val="400"/>
              </a:spcBef>
              <a:spcAft>
                <a:spcPts val="0"/>
              </a:spcAft>
              <a:buNone/>
            </a:pPr>
            <a:endParaRPr/>
          </a:p>
          <a:p>
            <a:pPr marL="457200" lvl="0" indent="-317500" algn="l" rtl="0">
              <a:spcBef>
                <a:spcPts val="400"/>
              </a:spcBef>
              <a:spcAft>
                <a:spcPts val="0"/>
              </a:spcAft>
              <a:buSzPts val="1400"/>
              <a:buChar char="●"/>
            </a:pPr>
            <a:r>
              <a:rPr lang="en-US"/>
              <a:t>Bottom Up</a:t>
            </a:r>
            <a:endParaRPr/>
          </a:p>
          <a:p>
            <a:pPr marL="914400" lvl="0" indent="0" algn="l" rtl="0">
              <a:spcBef>
                <a:spcPts val="400"/>
              </a:spcBef>
              <a:spcAft>
                <a:spcPts val="0"/>
              </a:spcAft>
              <a:buNone/>
            </a:pPr>
            <a:r>
              <a:rPr lang="en-US"/>
              <a:t>Pixels belong together because they look similar</a:t>
            </a:r>
            <a:endParaRPr/>
          </a:p>
          <a:p>
            <a:pPr marL="457200" lvl="0" indent="0" algn="l" rtl="0">
              <a:spcBef>
                <a:spcPts val="4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Image histograms</a:t>
            </a:r>
            <a:endParaRPr/>
          </a:p>
        </p:txBody>
      </p:sp>
      <p:sp>
        <p:nvSpPr>
          <p:cNvPr id="329" name="Google Shape;329;p5"/>
          <p:cNvSpPr txBox="1">
            <a:spLocks noGrp="1"/>
          </p:cNvSpPr>
          <p:nvPr>
            <p:ph type="body" idx="1"/>
          </p:nvPr>
        </p:nvSpPr>
        <p:spPr>
          <a:xfrm>
            <a:off x="685800" y="3581400"/>
            <a:ext cx="7772400" cy="26925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How many “orange” pixels are in this image?</a:t>
            </a:r>
            <a:endParaRPr/>
          </a:p>
          <a:p>
            <a:pPr marL="742950" lvl="1" indent="-285750" algn="l" rtl="0">
              <a:spcBef>
                <a:spcPts val="400"/>
              </a:spcBef>
              <a:spcAft>
                <a:spcPts val="0"/>
              </a:spcAft>
              <a:buClr>
                <a:schemeClr val="dk1"/>
              </a:buClr>
              <a:buSzPts val="2000"/>
              <a:buFont typeface="Arial"/>
              <a:buChar char="•"/>
            </a:pPr>
            <a:r>
              <a:rPr lang="en-US"/>
              <a:t>This type of question answered by looking at the </a:t>
            </a:r>
            <a:r>
              <a:rPr lang="en-US" i="1"/>
              <a:t>histogram</a:t>
            </a:r>
            <a:endParaRPr/>
          </a:p>
          <a:p>
            <a:pPr marL="742950" lvl="1" indent="-285750" algn="l" rtl="0">
              <a:spcBef>
                <a:spcPts val="400"/>
              </a:spcBef>
              <a:spcAft>
                <a:spcPts val="0"/>
              </a:spcAft>
              <a:buClr>
                <a:schemeClr val="dk1"/>
              </a:buClr>
              <a:buSzPts val="2000"/>
              <a:buFont typeface="Arial"/>
              <a:buChar char="•"/>
            </a:pPr>
            <a:r>
              <a:rPr lang="en-US"/>
              <a:t>A histogram counts the number of occurrences of each color</a:t>
            </a:r>
            <a:endParaRPr/>
          </a:p>
          <a:p>
            <a:pPr marL="1143000" lvl="2" indent="-228600" algn="l" rtl="0">
              <a:spcBef>
                <a:spcPts val="360"/>
              </a:spcBef>
              <a:spcAft>
                <a:spcPts val="0"/>
              </a:spcAft>
              <a:buClr>
                <a:schemeClr val="dk1"/>
              </a:buClr>
              <a:buSzPts val="1800"/>
              <a:buFont typeface="Arial"/>
              <a:buChar char="–"/>
            </a:pPr>
            <a:r>
              <a:rPr lang="en-US"/>
              <a:t>Given an image</a:t>
            </a:r>
            <a:endParaRPr/>
          </a:p>
          <a:p>
            <a:pPr marL="1143000" lvl="2" indent="-114300" algn="l" rtl="0">
              <a:spcBef>
                <a:spcPts val="360"/>
              </a:spcBef>
              <a:spcAft>
                <a:spcPts val="0"/>
              </a:spcAft>
              <a:buClr>
                <a:schemeClr val="dk1"/>
              </a:buClr>
              <a:buSzPts val="1800"/>
              <a:buFont typeface="Arial"/>
              <a:buNone/>
            </a:pPr>
            <a:endParaRPr/>
          </a:p>
          <a:p>
            <a:pPr marL="1143000" lvl="2" indent="-228600" algn="l" rtl="0">
              <a:spcBef>
                <a:spcPts val="360"/>
              </a:spcBef>
              <a:spcAft>
                <a:spcPts val="0"/>
              </a:spcAft>
              <a:buClr>
                <a:schemeClr val="dk1"/>
              </a:buClr>
              <a:buSzPts val="1800"/>
              <a:buFont typeface="Arial"/>
              <a:buChar char="–"/>
            </a:pPr>
            <a:r>
              <a:rPr lang="en-US"/>
              <a:t>The histogram is defined to be</a:t>
            </a:r>
            <a:endParaRPr/>
          </a:p>
          <a:p>
            <a:pPr marL="1143000" lvl="2" indent="-114300" algn="l" rtl="0">
              <a:spcBef>
                <a:spcPts val="360"/>
              </a:spcBef>
              <a:spcAft>
                <a:spcPts val="0"/>
              </a:spcAft>
              <a:buClr>
                <a:schemeClr val="dk1"/>
              </a:buClr>
              <a:buSzPts val="1800"/>
              <a:buFont typeface="Arial"/>
              <a:buNone/>
            </a:pPr>
            <a:endParaRPr/>
          </a:p>
          <a:p>
            <a:pPr marL="1143000" lvl="2" indent="-114300" algn="l" rtl="0">
              <a:spcBef>
                <a:spcPts val="360"/>
              </a:spcBef>
              <a:spcAft>
                <a:spcPts val="0"/>
              </a:spcAft>
              <a:buClr>
                <a:schemeClr val="dk1"/>
              </a:buClr>
              <a:buSzPts val="1800"/>
              <a:buFont typeface="Arial"/>
              <a:buNone/>
            </a:pPr>
            <a:endParaRPr/>
          </a:p>
        </p:txBody>
      </p:sp>
      <p:pic>
        <p:nvPicPr>
          <p:cNvPr id="330" name="Google Shape;330;p5"/>
          <p:cNvPicPr preferRelativeResize="0"/>
          <p:nvPr/>
        </p:nvPicPr>
        <p:blipFill rotWithShape="1">
          <a:blip r:embed="rId3">
            <a:alphaModFix/>
          </a:blip>
          <a:srcRect/>
          <a:stretch/>
        </p:blipFill>
        <p:spPr>
          <a:xfrm>
            <a:off x="3200400" y="1066800"/>
            <a:ext cx="3108325" cy="2343150"/>
          </a:xfrm>
          <a:prstGeom prst="rect">
            <a:avLst/>
          </a:prstGeom>
          <a:noFill/>
          <a:ln>
            <a:noFill/>
          </a:ln>
        </p:spPr>
      </p:pic>
      <p:pic>
        <p:nvPicPr>
          <p:cNvPr id="331" name="Google Shape;331;p5"/>
          <p:cNvPicPr preferRelativeResize="0"/>
          <p:nvPr/>
        </p:nvPicPr>
        <p:blipFill rotWithShape="1">
          <a:blip r:embed="rId4">
            <a:alphaModFix/>
          </a:blip>
          <a:srcRect/>
          <a:stretch/>
        </p:blipFill>
        <p:spPr>
          <a:xfrm>
            <a:off x="3757613" y="5022850"/>
            <a:ext cx="2227262" cy="317500"/>
          </a:xfrm>
          <a:prstGeom prst="rect">
            <a:avLst/>
          </a:prstGeom>
          <a:noFill/>
          <a:ln>
            <a:noFill/>
          </a:ln>
        </p:spPr>
      </p:pic>
      <p:pic>
        <p:nvPicPr>
          <p:cNvPr id="332" name="Google Shape;332;p5"/>
          <p:cNvPicPr preferRelativeResize="0"/>
          <p:nvPr/>
        </p:nvPicPr>
        <p:blipFill rotWithShape="1">
          <a:blip r:embed="rId5">
            <a:alphaModFix/>
          </a:blip>
          <a:srcRect/>
          <a:stretch/>
        </p:blipFill>
        <p:spPr>
          <a:xfrm>
            <a:off x="2724150" y="5891213"/>
            <a:ext cx="4535488" cy="3825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What do histograms look like?</a:t>
            </a:r>
            <a:endParaRPr/>
          </a:p>
        </p:txBody>
      </p:sp>
      <p:sp>
        <p:nvSpPr>
          <p:cNvPr id="338" name="Google Shape;338;p6"/>
          <p:cNvSpPr/>
          <p:nvPr/>
        </p:nvSpPr>
        <p:spPr>
          <a:xfrm>
            <a:off x="1893888" y="1966913"/>
            <a:ext cx="9144000" cy="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nvGrpSpPr>
          <p:cNvPr id="339" name="Google Shape;339;p6"/>
          <p:cNvGrpSpPr/>
          <p:nvPr/>
        </p:nvGrpSpPr>
        <p:grpSpPr>
          <a:xfrm>
            <a:off x="1893888" y="1966913"/>
            <a:ext cx="5357812" cy="2925762"/>
            <a:chOff x="0" y="563"/>
            <a:chExt cx="3375" cy="1843"/>
          </a:xfrm>
        </p:grpSpPr>
        <p:sp>
          <p:nvSpPr>
            <p:cNvPr id="340" name="Google Shape;340;p6"/>
            <p:cNvSpPr/>
            <p:nvPr/>
          </p:nvSpPr>
          <p:spPr>
            <a:xfrm>
              <a:off x="0" y="563"/>
              <a:ext cx="3375" cy="5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nvGrpSpPr>
            <p:cNvPr id="341" name="Google Shape;341;p6"/>
            <p:cNvGrpSpPr/>
            <p:nvPr/>
          </p:nvGrpSpPr>
          <p:grpSpPr>
            <a:xfrm>
              <a:off x="0" y="563"/>
              <a:ext cx="1688" cy="1843"/>
              <a:chOff x="0" y="1829"/>
              <a:chExt cx="1688" cy="1843"/>
            </a:xfrm>
          </p:grpSpPr>
          <p:sp>
            <p:nvSpPr>
              <p:cNvPr id="342" name="Google Shape;342;p6"/>
              <p:cNvSpPr/>
              <p:nvPr/>
            </p:nvSpPr>
            <p:spPr>
              <a:xfrm>
                <a:off x="0" y="1829"/>
                <a:ext cx="1688" cy="12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43" name="Google Shape;343;p6"/>
              <p:cNvSpPr/>
              <p:nvPr/>
            </p:nvSpPr>
            <p:spPr>
              <a:xfrm>
                <a:off x="0" y="1829"/>
                <a:ext cx="1688" cy="184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r>
                  <a:rPr lang="en-US" sz="162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Times New Roman"/>
                    <a:ea typeface="Times New Roman"/>
                    <a:cs typeface="Times New Roman"/>
                    <a:sym typeface="Times New Roman"/>
                  </a:rPr>
                  <a:t>                                            </a:t>
                </a:r>
                <a:endParaRPr/>
              </a:p>
            </p:txBody>
          </p:sp>
        </p:grpSp>
      </p:grpSp>
      <p:pic>
        <p:nvPicPr>
          <p:cNvPr id="344" name="Google Shape;344;p6"/>
          <p:cNvPicPr preferRelativeResize="0"/>
          <p:nvPr/>
        </p:nvPicPr>
        <p:blipFill rotWithShape="1">
          <a:blip r:embed="rId3">
            <a:alphaModFix/>
          </a:blip>
          <a:srcRect/>
          <a:stretch/>
        </p:blipFill>
        <p:spPr>
          <a:xfrm>
            <a:off x="609600" y="2012950"/>
            <a:ext cx="3429000" cy="2571750"/>
          </a:xfrm>
          <a:prstGeom prst="rect">
            <a:avLst/>
          </a:prstGeom>
          <a:noFill/>
          <a:ln>
            <a:noFill/>
          </a:ln>
        </p:spPr>
      </p:pic>
      <p:sp>
        <p:nvSpPr>
          <p:cNvPr id="345" name="Google Shape;345;p6"/>
          <p:cNvSpPr/>
          <p:nvPr/>
        </p:nvSpPr>
        <p:spPr>
          <a:xfrm>
            <a:off x="1893888" y="2424113"/>
            <a:ext cx="9144000" cy="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pic>
        <p:nvPicPr>
          <p:cNvPr id="346" name="Google Shape;346;p6"/>
          <p:cNvPicPr preferRelativeResize="0"/>
          <p:nvPr/>
        </p:nvPicPr>
        <p:blipFill rotWithShape="1">
          <a:blip r:embed="rId4">
            <a:alphaModFix/>
          </a:blip>
          <a:srcRect/>
          <a:stretch/>
        </p:blipFill>
        <p:spPr>
          <a:xfrm>
            <a:off x="4572000" y="2362200"/>
            <a:ext cx="4103688" cy="1822450"/>
          </a:xfrm>
          <a:prstGeom prst="rect">
            <a:avLst/>
          </a:prstGeom>
          <a:noFill/>
          <a:ln>
            <a:noFill/>
          </a:ln>
        </p:spPr>
      </p:pic>
      <p:sp>
        <p:nvSpPr>
          <p:cNvPr id="347" name="Google Shape;347;p6"/>
          <p:cNvSpPr/>
          <p:nvPr/>
        </p:nvSpPr>
        <p:spPr>
          <a:xfrm>
            <a:off x="685800" y="5334000"/>
            <a:ext cx="7772400" cy="12954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en-US" sz="2400" b="0" i="0" u="none" strike="noStrike" cap="none">
                <a:solidFill>
                  <a:schemeClr val="dk1"/>
                </a:solidFill>
                <a:latin typeface="Arial"/>
                <a:ea typeface="Arial"/>
                <a:cs typeface="Arial"/>
                <a:sym typeface="Arial"/>
              </a:rPr>
              <a:t>How Many Modes Are There?</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Easy to see, hard to compute</a:t>
            </a:r>
            <a:endParaRPr/>
          </a:p>
          <a:p>
            <a:pPr marL="742950" marR="0" lvl="1" indent="-158750" algn="l" rtl="0">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Histogram-based segmentation</a:t>
            </a:r>
            <a:endParaRPr/>
          </a:p>
        </p:txBody>
      </p:sp>
      <p:sp>
        <p:nvSpPr>
          <p:cNvPr id="353" name="Google Shape;353;p7"/>
          <p:cNvSpPr txBox="1">
            <a:spLocks noGrp="1"/>
          </p:cNvSpPr>
          <p:nvPr>
            <p:ph type="body" idx="1"/>
          </p:nvPr>
        </p:nvSpPr>
        <p:spPr>
          <a:xfrm>
            <a:off x="685800" y="914400"/>
            <a:ext cx="7772400" cy="1905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Goal</a:t>
            </a:r>
            <a:endParaRPr/>
          </a:p>
          <a:p>
            <a:pPr marL="742950" lvl="1" indent="-285750" algn="l" rtl="0">
              <a:spcBef>
                <a:spcPts val="400"/>
              </a:spcBef>
              <a:spcAft>
                <a:spcPts val="0"/>
              </a:spcAft>
              <a:buClr>
                <a:schemeClr val="dk1"/>
              </a:buClr>
              <a:buSzPts val="2000"/>
              <a:buFont typeface="Arial"/>
              <a:buChar char="•"/>
            </a:pPr>
            <a:r>
              <a:rPr lang="en-US"/>
              <a:t>Break the image into K regions (segments)</a:t>
            </a:r>
            <a:endParaRPr/>
          </a:p>
          <a:p>
            <a:pPr marL="742950" lvl="1" indent="-285750" algn="l" rtl="0">
              <a:spcBef>
                <a:spcPts val="400"/>
              </a:spcBef>
              <a:spcAft>
                <a:spcPts val="0"/>
              </a:spcAft>
              <a:buClr>
                <a:schemeClr val="dk1"/>
              </a:buClr>
              <a:buSzPts val="2000"/>
              <a:buFont typeface="Arial"/>
              <a:buChar char="•"/>
            </a:pPr>
            <a:r>
              <a:rPr lang="en-US"/>
              <a:t>Solve this by reducing the number of colors to K and mapping each pixel to the closest color </a:t>
            </a:r>
            <a:endParaRPr/>
          </a:p>
          <a:p>
            <a:pPr marL="1143000" lvl="2" indent="-228600" algn="l" rtl="0">
              <a:spcBef>
                <a:spcPts val="360"/>
              </a:spcBef>
              <a:spcAft>
                <a:spcPts val="0"/>
              </a:spcAft>
              <a:buClr>
                <a:schemeClr val="dk1"/>
              </a:buClr>
              <a:buSzPts val="1800"/>
              <a:buFont typeface="Arial"/>
              <a:buChar char="–"/>
            </a:pPr>
            <a:r>
              <a:rPr lang="en-US"/>
              <a:t>photoshop demo</a:t>
            </a:r>
            <a:endParaRPr/>
          </a:p>
        </p:txBody>
      </p:sp>
      <p:pic>
        <p:nvPicPr>
          <p:cNvPr id="354" name="Google Shape;354;p7"/>
          <p:cNvPicPr preferRelativeResize="0"/>
          <p:nvPr/>
        </p:nvPicPr>
        <p:blipFill rotWithShape="1">
          <a:blip r:embed="rId3">
            <a:alphaModFix/>
          </a:blip>
          <a:srcRect/>
          <a:stretch/>
        </p:blipFill>
        <p:spPr>
          <a:xfrm>
            <a:off x="990600" y="3298825"/>
            <a:ext cx="3429000" cy="2571750"/>
          </a:xfrm>
          <a:prstGeom prst="rect">
            <a:avLst/>
          </a:prstGeom>
          <a:noFill/>
          <a:ln>
            <a:noFill/>
          </a:ln>
        </p:spPr>
      </p:pic>
      <p:pic>
        <p:nvPicPr>
          <p:cNvPr id="355" name="Google Shape;355;p7"/>
          <p:cNvPicPr preferRelativeResize="0"/>
          <p:nvPr/>
        </p:nvPicPr>
        <p:blipFill rotWithShape="1">
          <a:blip r:embed="rId4">
            <a:alphaModFix/>
          </a:blip>
          <a:srcRect/>
          <a:stretch/>
        </p:blipFill>
        <p:spPr>
          <a:xfrm>
            <a:off x="4572000" y="3810000"/>
            <a:ext cx="4103688" cy="1822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8"/>
          <p:cNvPicPr preferRelativeResize="0"/>
          <p:nvPr/>
        </p:nvPicPr>
        <p:blipFill rotWithShape="1">
          <a:blip r:embed="rId3">
            <a:alphaModFix/>
          </a:blip>
          <a:srcRect/>
          <a:stretch/>
        </p:blipFill>
        <p:spPr>
          <a:xfrm>
            <a:off x="990600" y="3298825"/>
            <a:ext cx="3429000" cy="2571750"/>
          </a:xfrm>
          <a:prstGeom prst="rect">
            <a:avLst/>
          </a:prstGeom>
          <a:noFill/>
          <a:ln>
            <a:noFill/>
          </a:ln>
        </p:spPr>
      </p:pic>
      <p:sp>
        <p:nvSpPr>
          <p:cNvPr id="361" name="Google Shape;361;p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Histogram-based segmentation</a:t>
            </a:r>
            <a:endParaRPr/>
          </a:p>
        </p:txBody>
      </p:sp>
      <p:sp>
        <p:nvSpPr>
          <p:cNvPr id="362" name="Google Shape;362;p8"/>
          <p:cNvSpPr txBox="1">
            <a:spLocks noGrp="1"/>
          </p:cNvSpPr>
          <p:nvPr>
            <p:ph type="body" idx="1"/>
          </p:nvPr>
        </p:nvSpPr>
        <p:spPr>
          <a:xfrm>
            <a:off x="685800" y="914400"/>
            <a:ext cx="7772400" cy="1905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Goal</a:t>
            </a:r>
            <a:endParaRPr/>
          </a:p>
          <a:p>
            <a:pPr marL="742950" lvl="1" indent="-285750" algn="l" rtl="0">
              <a:spcBef>
                <a:spcPts val="400"/>
              </a:spcBef>
              <a:spcAft>
                <a:spcPts val="0"/>
              </a:spcAft>
              <a:buClr>
                <a:schemeClr val="dk1"/>
              </a:buClr>
              <a:buSzPts val="2000"/>
              <a:buFont typeface="Arial"/>
              <a:buChar char="•"/>
            </a:pPr>
            <a:r>
              <a:rPr lang="en-US"/>
              <a:t>Break the image into K regions (segments)</a:t>
            </a:r>
            <a:endParaRPr/>
          </a:p>
          <a:p>
            <a:pPr marL="742950" lvl="1" indent="-285750" algn="l" rtl="0">
              <a:spcBef>
                <a:spcPts val="400"/>
              </a:spcBef>
              <a:spcAft>
                <a:spcPts val="0"/>
              </a:spcAft>
              <a:buClr>
                <a:schemeClr val="dk1"/>
              </a:buClr>
              <a:buSzPts val="2000"/>
              <a:buFont typeface="Arial"/>
              <a:buChar char="•"/>
            </a:pPr>
            <a:r>
              <a:rPr lang="en-US"/>
              <a:t>Solve this by reducing the number of colors to K and mapping each pixel to the closest color </a:t>
            </a:r>
            <a:endParaRPr/>
          </a:p>
          <a:p>
            <a:pPr marL="1143000" lvl="2" indent="-228600" algn="l" rtl="0">
              <a:spcBef>
                <a:spcPts val="360"/>
              </a:spcBef>
              <a:spcAft>
                <a:spcPts val="0"/>
              </a:spcAft>
              <a:buClr>
                <a:schemeClr val="dk1"/>
              </a:buClr>
              <a:buSzPts val="1800"/>
              <a:buFont typeface="Arial"/>
              <a:buChar char="–"/>
            </a:pPr>
            <a:r>
              <a:rPr lang="en-US"/>
              <a:t>photoshop demo</a:t>
            </a:r>
            <a:endParaRPr/>
          </a:p>
        </p:txBody>
      </p:sp>
      <p:pic>
        <p:nvPicPr>
          <p:cNvPr id="363" name="Google Shape;363;p8"/>
          <p:cNvPicPr preferRelativeResize="0"/>
          <p:nvPr/>
        </p:nvPicPr>
        <p:blipFill rotWithShape="1">
          <a:blip r:embed="rId4">
            <a:alphaModFix/>
          </a:blip>
          <a:srcRect/>
          <a:stretch/>
        </p:blipFill>
        <p:spPr>
          <a:xfrm>
            <a:off x="4572000" y="3810000"/>
            <a:ext cx="4103688" cy="1822450"/>
          </a:xfrm>
          <a:prstGeom prst="rect">
            <a:avLst/>
          </a:prstGeom>
          <a:noFill/>
          <a:ln>
            <a:noFill/>
          </a:ln>
        </p:spPr>
      </p:pic>
      <p:cxnSp>
        <p:nvCxnSpPr>
          <p:cNvPr id="364" name="Google Shape;364;p8"/>
          <p:cNvCxnSpPr/>
          <p:nvPr/>
        </p:nvCxnSpPr>
        <p:spPr>
          <a:xfrm rot="10800000">
            <a:off x="5138738" y="3810000"/>
            <a:ext cx="0" cy="1600200"/>
          </a:xfrm>
          <a:prstGeom prst="straightConnector1">
            <a:avLst/>
          </a:prstGeom>
          <a:noFill/>
          <a:ln w="38100" cap="flat" cmpd="sng">
            <a:solidFill>
              <a:schemeClr val="folHlink"/>
            </a:solidFill>
            <a:prstDash val="solid"/>
            <a:round/>
            <a:headEnd type="none" w="med" len="med"/>
            <a:tailEnd type="none" w="med" len="med"/>
          </a:ln>
        </p:spPr>
      </p:cxnSp>
      <p:cxnSp>
        <p:nvCxnSpPr>
          <p:cNvPr id="365" name="Google Shape;365;p8"/>
          <p:cNvCxnSpPr/>
          <p:nvPr/>
        </p:nvCxnSpPr>
        <p:spPr>
          <a:xfrm rot="10800000">
            <a:off x="6781800" y="3810000"/>
            <a:ext cx="0" cy="1600200"/>
          </a:xfrm>
          <a:prstGeom prst="straightConnector1">
            <a:avLst/>
          </a:prstGeom>
          <a:noFill/>
          <a:ln w="38100" cap="flat" cmpd="sng">
            <a:solidFill>
              <a:srgbClr val="FF0000"/>
            </a:solidFill>
            <a:prstDash val="solid"/>
            <a:round/>
            <a:headEnd type="none" w="med" len="med"/>
            <a:tailEnd type="none" w="med" len="med"/>
          </a:ln>
        </p:spPr>
      </p:cxnSp>
      <p:sp>
        <p:nvSpPr>
          <p:cNvPr id="366" name="Google Shape;366;p8"/>
          <p:cNvSpPr/>
          <p:nvPr/>
        </p:nvSpPr>
        <p:spPr>
          <a:xfrm>
            <a:off x="685800" y="6099175"/>
            <a:ext cx="7772400" cy="454025"/>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en-US" sz="2400" b="0" i="0" u="none" strike="noStrike" cap="none">
                <a:solidFill>
                  <a:schemeClr val="dk1"/>
                </a:solidFill>
                <a:latin typeface="Arial"/>
                <a:ea typeface="Arial"/>
                <a:cs typeface="Arial"/>
                <a:sym typeface="Arial"/>
              </a:rPr>
              <a:t>Here’s what it looks like if we use two colors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Clustering</a:t>
            </a:r>
            <a:endParaRPr/>
          </a:p>
        </p:txBody>
      </p:sp>
      <p:sp>
        <p:nvSpPr>
          <p:cNvPr id="372" name="Google Shape;372;p9"/>
          <p:cNvSpPr txBox="1">
            <a:spLocks noGrp="1"/>
          </p:cNvSpPr>
          <p:nvPr>
            <p:ph type="body" idx="1"/>
          </p:nvPr>
        </p:nvSpPr>
        <p:spPr>
          <a:xfrm>
            <a:off x="685800" y="914400"/>
            <a:ext cx="7772400" cy="1066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How to choose the representative colors?</a:t>
            </a:r>
            <a:endParaRPr/>
          </a:p>
          <a:p>
            <a:pPr marL="742950" lvl="1" indent="-285750" algn="l" rtl="0">
              <a:spcBef>
                <a:spcPts val="400"/>
              </a:spcBef>
              <a:spcAft>
                <a:spcPts val="0"/>
              </a:spcAft>
              <a:buClr>
                <a:schemeClr val="dk1"/>
              </a:buClr>
              <a:buSzPts val="2000"/>
              <a:buFont typeface="Arial"/>
              <a:buChar char="•"/>
            </a:pPr>
            <a:r>
              <a:rPr lang="en-US"/>
              <a:t>This is a clustering problem!</a:t>
            </a:r>
            <a:endParaRPr/>
          </a:p>
        </p:txBody>
      </p:sp>
      <p:sp>
        <p:nvSpPr>
          <p:cNvPr id="373" name="Google Shape;373;p9"/>
          <p:cNvSpPr/>
          <p:nvPr/>
        </p:nvSpPr>
        <p:spPr>
          <a:xfrm>
            <a:off x="1219200" y="1981200"/>
            <a:ext cx="2362200" cy="1981200"/>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74" name="Google Shape;374;p9"/>
          <p:cNvSpPr/>
          <p:nvPr/>
        </p:nvSpPr>
        <p:spPr>
          <a:xfrm>
            <a:off x="1676400" y="2209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75" name="Google Shape;375;p9"/>
          <p:cNvSpPr/>
          <p:nvPr/>
        </p:nvSpPr>
        <p:spPr>
          <a:xfrm>
            <a:off x="1828800" y="2362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76" name="Google Shape;376;p9"/>
          <p:cNvSpPr/>
          <p:nvPr/>
        </p:nvSpPr>
        <p:spPr>
          <a:xfrm>
            <a:off x="1752600" y="2590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77" name="Google Shape;377;p9"/>
          <p:cNvSpPr/>
          <p:nvPr/>
        </p:nvSpPr>
        <p:spPr>
          <a:xfrm>
            <a:off x="1447800" y="2438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78" name="Google Shape;378;p9"/>
          <p:cNvSpPr/>
          <p:nvPr/>
        </p:nvSpPr>
        <p:spPr>
          <a:xfrm>
            <a:off x="2819400" y="26670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79" name="Google Shape;379;p9"/>
          <p:cNvSpPr/>
          <p:nvPr/>
        </p:nvSpPr>
        <p:spPr>
          <a:xfrm>
            <a:off x="2743200" y="2438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0" name="Google Shape;380;p9"/>
          <p:cNvSpPr/>
          <p:nvPr/>
        </p:nvSpPr>
        <p:spPr>
          <a:xfrm>
            <a:off x="3200400" y="26670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1" name="Google Shape;381;p9"/>
          <p:cNvSpPr/>
          <p:nvPr/>
        </p:nvSpPr>
        <p:spPr>
          <a:xfrm>
            <a:off x="2971800" y="2819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2" name="Google Shape;382;p9"/>
          <p:cNvSpPr/>
          <p:nvPr/>
        </p:nvSpPr>
        <p:spPr>
          <a:xfrm>
            <a:off x="2971800" y="2514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3" name="Google Shape;383;p9"/>
          <p:cNvSpPr/>
          <p:nvPr/>
        </p:nvSpPr>
        <p:spPr>
          <a:xfrm>
            <a:off x="1981200" y="34290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4" name="Google Shape;384;p9"/>
          <p:cNvSpPr/>
          <p:nvPr/>
        </p:nvSpPr>
        <p:spPr>
          <a:xfrm>
            <a:off x="2286000" y="3200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5" name="Google Shape;385;p9"/>
          <p:cNvSpPr/>
          <p:nvPr/>
        </p:nvSpPr>
        <p:spPr>
          <a:xfrm>
            <a:off x="1828800" y="3200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6" name="Google Shape;386;p9"/>
          <p:cNvSpPr/>
          <p:nvPr/>
        </p:nvSpPr>
        <p:spPr>
          <a:xfrm>
            <a:off x="1752600" y="3581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7" name="Google Shape;387;p9"/>
          <p:cNvSpPr/>
          <p:nvPr/>
        </p:nvSpPr>
        <p:spPr>
          <a:xfrm>
            <a:off x="2209800" y="3505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8" name="Google Shape;388;p9"/>
          <p:cNvSpPr/>
          <p:nvPr/>
        </p:nvSpPr>
        <p:spPr>
          <a:xfrm>
            <a:off x="1600200" y="2438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89" name="Google Shape;389;p9"/>
          <p:cNvSpPr/>
          <p:nvPr/>
        </p:nvSpPr>
        <p:spPr>
          <a:xfrm>
            <a:off x="2057400" y="2209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0" name="Google Shape;390;p9"/>
          <p:cNvSpPr/>
          <p:nvPr/>
        </p:nvSpPr>
        <p:spPr>
          <a:xfrm>
            <a:off x="2057400" y="2514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1" name="Google Shape;391;p9"/>
          <p:cNvSpPr/>
          <p:nvPr/>
        </p:nvSpPr>
        <p:spPr>
          <a:xfrm>
            <a:off x="2057400" y="3200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2" name="Google Shape;392;p9"/>
          <p:cNvSpPr/>
          <p:nvPr/>
        </p:nvSpPr>
        <p:spPr>
          <a:xfrm>
            <a:off x="5410200" y="1981200"/>
            <a:ext cx="2362200" cy="1981200"/>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3" name="Google Shape;393;p9"/>
          <p:cNvSpPr/>
          <p:nvPr/>
        </p:nvSpPr>
        <p:spPr>
          <a:xfrm>
            <a:off x="5867400" y="2209800"/>
            <a:ext cx="76200" cy="762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4" name="Google Shape;394;p9"/>
          <p:cNvSpPr/>
          <p:nvPr/>
        </p:nvSpPr>
        <p:spPr>
          <a:xfrm>
            <a:off x="6019800" y="2362200"/>
            <a:ext cx="76200" cy="762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5" name="Google Shape;395;p9"/>
          <p:cNvSpPr/>
          <p:nvPr/>
        </p:nvSpPr>
        <p:spPr>
          <a:xfrm>
            <a:off x="5943600" y="2590800"/>
            <a:ext cx="76200" cy="762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6" name="Google Shape;396;p9"/>
          <p:cNvSpPr/>
          <p:nvPr/>
        </p:nvSpPr>
        <p:spPr>
          <a:xfrm>
            <a:off x="5638800" y="2438400"/>
            <a:ext cx="76200" cy="762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7" name="Google Shape;397;p9"/>
          <p:cNvSpPr/>
          <p:nvPr/>
        </p:nvSpPr>
        <p:spPr>
          <a:xfrm>
            <a:off x="6934200" y="2438400"/>
            <a:ext cx="76200" cy="76200"/>
          </a:xfrm>
          <a:prstGeom prst="ellipse">
            <a:avLst/>
          </a:prstGeom>
          <a:solidFill>
            <a:srgbClr val="C600C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8" name="Google Shape;398;p9"/>
          <p:cNvSpPr/>
          <p:nvPr/>
        </p:nvSpPr>
        <p:spPr>
          <a:xfrm>
            <a:off x="7391400" y="2667000"/>
            <a:ext cx="76200" cy="76200"/>
          </a:xfrm>
          <a:prstGeom prst="ellipse">
            <a:avLst/>
          </a:prstGeom>
          <a:solidFill>
            <a:srgbClr val="C600C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399" name="Google Shape;399;p9"/>
          <p:cNvSpPr/>
          <p:nvPr/>
        </p:nvSpPr>
        <p:spPr>
          <a:xfrm>
            <a:off x="7162800" y="2819400"/>
            <a:ext cx="76200" cy="76200"/>
          </a:xfrm>
          <a:prstGeom prst="ellipse">
            <a:avLst/>
          </a:prstGeom>
          <a:solidFill>
            <a:srgbClr val="C600C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0" name="Google Shape;400;p9"/>
          <p:cNvSpPr/>
          <p:nvPr/>
        </p:nvSpPr>
        <p:spPr>
          <a:xfrm>
            <a:off x="7162800" y="2514600"/>
            <a:ext cx="76200" cy="76200"/>
          </a:xfrm>
          <a:prstGeom prst="ellipse">
            <a:avLst/>
          </a:prstGeom>
          <a:solidFill>
            <a:srgbClr val="C600C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1" name="Google Shape;401;p9"/>
          <p:cNvSpPr/>
          <p:nvPr/>
        </p:nvSpPr>
        <p:spPr>
          <a:xfrm>
            <a:off x="6172200" y="3429000"/>
            <a:ext cx="76200" cy="76200"/>
          </a:xfrm>
          <a:prstGeom prst="ellipse">
            <a:avLst/>
          </a:prstGeom>
          <a:solidFill>
            <a:srgbClr val="FF99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2" name="Google Shape;402;p9"/>
          <p:cNvSpPr/>
          <p:nvPr/>
        </p:nvSpPr>
        <p:spPr>
          <a:xfrm>
            <a:off x="6477000" y="3200400"/>
            <a:ext cx="76200" cy="76200"/>
          </a:xfrm>
          <a:prstGeom prst="ellipse">
            <a:avLst/>
          </a:prstGeom>
          <a:solidFill>
            <a:srgbClr val="FF99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3" name="Google Shape;403;p9"/>
          <p:cNvSpPr/>
          <p:nvPr/>
        </p:nvSpPr>
        <p:spPr>
          <a:xfrm>
            <a:off x="6019800" y="3200400"/>
            <a:ext cx="76200" cy="76200"/>
          </a:xfrm>
          <a:prstGeom prst="ellipse">
            <a:avLst/>
          </a:prstGeom>
          <a:solidFill>
            <a:srgbClr val="FF99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4" name="Google Shape;404;p9"/>
          <p:cNvSpPr/>
          <p:nvPr/>
        </p:nvSpPr>
        <p:spPr>
          <a:xfrm>
            <a:off x="5943600" y="3581400"/>
            <a:ext cx="76200" cy="76200"/>
          </a:xfrm>
          <a:prstGeom prst="ellipse">
            <a:avLst/>
          </a:prstGeom>
          <a:solidFill>
            <a:srgbClr val="FF99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5" name="Google Shape;405;p9"/>
          <p:cNvSpPr/>
          <p:nvPr/>
        </p:nvSpPr>
        <p:spPr>
          <a:xfrm>
            <a:off x="6400800" y="3505200"/>
            <a:ext cx="76200" cy="76200"/>
          </a:xfrm>
          <a:prstGeom prst="ellipse">
            <a:avLst/>
          </a:prstGeom>
          <a:solidFill>
            <a:srgbClr val="FF99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6" name="Google Shape;406;p9"/>
          <p:cNvSpPr/>
          <p:nvPr/>
        </p:nvSpPr>
        <p:spPr>
          <a:xfrm>
            <a:off x="5791200" y="2438400"/>
            <a:ext cx="76200" cy="762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7" name="Google Shape;407;p9"/>
          <p:cNvSpPr/>
          <p:nvPr/>
        </p:nvSpPr>
        <p:spPr>
          <a:xfrm>
            <a:off x="6248400" y="2209800"/>
            <a:ext cx="76200" cy="762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8" name="Google Shape;408;p9"/>
          <p:cNvSpPr/>
          <p:nvPr/>
        </p:nvSpPr>
        <p:spPr>
          <a:xfrm>
            <a:off x="6248400" y="2514600"/>
            <a:ext cx="76200" cy="762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09" name="Google Shape;409;p9"/>
          <p:cNvSpPr/>
          <p:nvPr/>
        </p:nvSpPr>
        <p:spPr>
          <a:xfrm>
            <a:off x="6248400" y="3200400"/>
            <a:ext cx="76200" cy="76200"/>
          </a:xfrm>
          <a:prstGeom prst="ellipse">
            <a:avLst/>
          </a:prstGeom>
          <a:solidFill>
            <a:srgbClr val="FF99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10" name="Google Shape;410;p9"/>
          <p:cNvSpPr/>
          <p:nvPr/>
        </p:nvSpPr>
        <p:spPr>
          <a:xfrm>
            <a:off x="3962400" y="2667000"/>
            <a:ext cx="1143000" cy="533400"/>
          </a:xfrm>
          <a:prstGeom prst="rightArrow">
            <a:avLst>
              <a:gd name="adj1" fmla="val 50000"/>
              <a:gd name="adj2" fmla="val 53571"/>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11" name="Google Shape;411;p9"/>
          <p:cNvSpPr/>
          <p:nvPr/>
        </p:nvSpPr>
        <p:spPr>
          <a:xfrm>
            <a:off x="685800" y="4267200"/>
            <a:ext cx="8229600" cy="10668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en-US" sz="2400" b="0" i="0" u="none" strike="noStrike" cap="none">
                <a:solidFill>
                  <a:schemeClr val="dk1"/>
                </a:solidFill>
                <a:latin typeface="Arial"/>
                <a:ea typeface="Arial"/>
                <a:cs typeface="Arial"/>
                <a:sym typeface="Arial"/>
              </a:rPr>
              <a:t>Objective</a:t>
            </a:r>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Each point should be as close as possible to a cluster center</a:t>
            </a:r>
            <a:endParaRPr/>
          </a:p>
          <a:p>
            <a:pPr marL="1143000" marR="0" lvl="2" indent="-228600" algn="l" rtl="0">
              <a:spcBef>
                <a:spcPts val="36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Minimize sum squared distance of each point to closest center</a:t>
            </a:r>
            <a:endParaRPr/>
          </a:p>
        </p:txBody>
      </p:sp>
      <p:pic>
        <p:nvPicPr>
          <p:cNvPr id="412" name="Google Shape;412;p9"/>
          <p:cNvPicPr preferRelativeResize="0"/>
          <p:nvPr/>
        </p:nvPicPr>
        <p:blipFill rotWithShape="1">
          <a:blip r:embed="rId3">
            <a:alphaModFix/>
          </a:blip>
          <a:srcRect/>
          <a:stretch/>
        </p:blipFill>
        <p:spPr>
          <a:xfrm>
            <a:off x="5962650" y="2141538"/>
            <a:ext cx="285750" cy="220662"/>
          </a:xfrm>
          <a:prstGeom prst="rect">
            <a:avLst/>
          </a:prstGeom>
          <a:noFill/>
          <a:ln>
            <a:noFill/>
          </a:ln>
        </p:spPr>
      </p:pic>
      <p:pic>
        <p:nvPicPr>
          <p:cNvPr id="413" name="Google Shape;413;p9"/>
          <p:cNvPicPr preferRelativeResize="0"/>
          <p:nvPr/>
        </p:nvPicPr>
        <p:blipFill rotWithShape="1">
          <a:blip r:embed="rId4">
            <a:alphaModFix/>
          </a:blip>
          <a:srcRect/>
          <a:stretch/>
        </p:blipFill>
        <p:spPr>
          <a:xfrm>
            <a:off x="6858000" y="2743200"/>
            <a:ext cx="301625" cy="222250"/>
          </a:xfrm>
          <a:prstGeom prst="rect">
            <a:avLst/>
          </a:prstGeom>
          <a:noFill/>
          <a:ln>
            <a:noFill/>
          </a:ln>
        </p:spPr>
      </p:pic>
      <p:pic>
        <p:nvPicPr>
          <p:cNvPr id="414" name="Google Shape;414;p9"/>
          <p:cNvPicPr preferRelativeResize="0"/>
          <p:nvPr/>
        </p:nvPicPr>
        <p:blipFill rotWithShape="1">
          <a:blip r:embed="rId5">
            <a:alphaModFix/>
          </a:blip>
          <a:srcRect/>
          <a:stretch/>
        </p:blipFill>
        <p:spPr>
          <a:xfrm>
            <a:off x="6103938" y="3505200"/>
            <a:ext cx="301625" cy="236538"/>
          </a:xfrm>
          <a:prstGeom prst="rect">
            <a:avLst/>
          </a:prstGeom>
          <a:noFill/>
          <a:ln>
            <a:noFill/>
          </a:ln>
        </p:spPr>
      </p:pic>
      <p:pic>
        <p:nvPicPr>
          <p:cNvPr id="415" name="Google Shape;415;p9"/>
          <p:cNvPicPr preferRelativeResize="0"/>
          <p:nvPr/>
        </p:nvPicPr>
        <p:blipFill rotWithShape="1">
          <a:blip r:embed="rId6">
            <a:alphaModFix/>
          </a:blip>
          <a:srcRect/>
          <a:stretch/>
        </p:blipFill>
        <p:spPr>
          <a:xfrm>
            <a:off x="2286000" y="5562600"/>
            <a:ext cx="5105400" cy="698500"/>
          </a:xfrm>
          <a:prstGeom prst="rect">
            <a:avLst/>
          </a:prstGeom>
          <a:noFill/>
          <a:ln>
            <a:noFill/>
          </a:ln>
        </p:spPr>
      </p:pic>
      <p:sp>
        <p:nvSpPr>
          <p:cNvPr id="416" name="Google Shape;416;p9"/>
          <p:cNvSpPr/>
          <p:nvPr/>
        </p:nvSpPr>
        <p:spPr>
          <a:xfrm>
            <a:off x="6172200" y="3352800"/>
            <a:ext cx="152400" cy="152400"/>
          </a:xfrm>
          <a:prstGeom prst="rect">
            <a:avLst/>
          </a:prstGeom>
          <a:noFill/>
          <a:ln w="2857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17" name="Google Shape;417;p9"/>
          <p:cNvSpPr/>
          <p:nvPr/>
        </p:nvSpPr>
        <p:spPr>
          <a:xfrm>
            <a:off x="7086600" y="2590800"/>
            <a:ext cx="152400" cy="152400"/>
          </a:xfrm>
          <a:prstGeom prst="rect">
            <a:avLst/>
          </a:prstGeom>
          <a:noFill/>
          <a:ln w="28575" cap="flat" cmpd="sng">
            <a:solidFill>
              <a:srgbClr val="C600C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18" name="Google Shape;418;p9"/>
          <p:cNvSpPr/>
          <p:nvPr/>
        </p:nvSpPr>
        <p:spPr>
          <a:xfrm>
            <a:off x="5943600" y="2362200"/>
            <a:ext cx="152400" cy="152400"/>
          </a:xfrm>
          <a:prstGeom prst="rect">
            <a:avLst/>
          </a:prstGeom>
          <a:noFill/>
          <a:ln w="2857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19" name="Google Shape;419;p9"/>
          <p:cNvSpPr/>
          <p:nvPr/>
        </p:nvSpPr>
        <p:spPr>
          <a:xfrm>
            <a:off x="7010400" y="2667000"/>
            <a:ext cx="76200" cy="76200"/>
          </a:xfrm>
          <a:prstGeom prst="ellipse">
            <a:avLst/>
          </a:prstGeom>
          <a:solidFill>
            <a:srgbClr val="C600C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20" name="Google Shape;420;p9"/>
          <p:cNvSpPr txBox="1"/>
          <p:nvPr/>
        </p:nvSpPr>
        <p:spPr>
          <a:xfrm>
            <a:off x="3176588" y="3925888"/>
            <a:ext cx="404812"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R</a:t>
            </a:r>
            <a:endParaRPr/>
          </a:p>
        </p:txBody>
      </p:sp>
      <p:sp>
        <p:nvSpPr>
          <p:cNvPr id="421" name="Google Shape;421;p9"/>
          <p:cNvSpPr txBox="1"/>
          <p:nvPr/>
        </p:nvSpPr>
        <p:spPr>
          <a:xfrm>
            <a:off x="762000" y="1979613"/>
            <a:ext cx="420688"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G</a:t>
            </a:r>
            <a:endParaRPr/>
          </a:p>
        </p:txBody>
      </p:sp>
      <p:sp>
        <p:nvSpPr>
          <p:cNvPr id="422" name="Google Shape;422;p9"/>
          <p:cNvSpPr txBox="1"/>
          <p:nvPr/>
        </p:nvSpPr>
        <p:spPr>
          <a:xfrm>
            <a:off x="7367588" y="3937000"/>
            <a:ext cx="404812"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R</a:t>
            </a:r>
            <a:endParaRPr/>
          </a:p>
        </p:txBody>
      </p:sp>
      <p:sp>
        <p:nvSpPr>
          <p:cNvPr id="423" name="Google Shape;423;p9"/>
          <p:cNvSpPr txBox="1"/>
          <p:nvPr/>
        </p:nvSpPr>
        <p:spPr>
          <a:xfrm>
            <a:off x="4989513" y="1981200"/>
            <a:ext cx="42068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10"/>
          <p:cNvSpPr/>
          <p:nvPr/>
        </p:nvSpPr>
        <p:spPr>
          <a:xfrm>
            <a:off x="5410200" y="2286000"/>
            <a:ext cx="2362200" cy="1981200"/>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pic>
        <p:nvPicPr>
          <p:cNvPr id="429" name="Google Shape;429;p10"/>
          <p:cNvPicPr preferRelativeResize="0"/>
          <p:nvPr/>
        </p:nvPicPr>
        <p:blipFill rotWithShape="1">
          <a:blip r:embed="rId3">
            <a:alphaModFix/>
          </a:blip>
          <a:srcRect/>
          <a:stretch/>
        </p:blipFill>
        <p:spPr>
          <a:xfrm>
            <a:off x="5962650" y="2446338"/>
            <a:ext cx="285750" cy="220662"/>
          </a:xfrm>
          <a:prstGeom prst="rect">
            <a:avLst/>
          </a:prstGeom>
          <a:noFill/>
          <a:ln>
            <a:noFill/>
          </a:ln>
        </p:spPr>
      </p:pic>
      <p:pic>
        <p:nvPicPr>
          <p:cNvPr id="430" name="Google Shape;430;p10"/>
          <p:cNvPicPr preferRelativeResize="0"/>
          <p:nvPr/>
        </p:nvPicPr>
        <p:blipFill rotWithShape="1">
          <a:blip r:embed="rId4">
            <a:alphaModFix/>
          </a:blip>
          <a:srcRect/>
          <a:stretch/>
        </p:blipFill>
        <p:spPr>
          <a:xfrm>
            <a:off x="6103938" y="3810000"/>
            <a:ext cx="301625" cy="236538"/>
          </a:xfrm>
          <a:prstGeom prst="rect">
            <a:avLst/>
          </a:prstGeom>
          <a:noFill/>
          <a:ln>
            <a:noFill/>
          </a:ln>
        </p:spPr>
      </p:pic>
      <p:pic>
        <p:nvPicPr>
          <p:cNvPr id="431" name="Google Shape;431;p10"/>
          <p:cNvPicPr preferRelativeResize="0"/>
          <p:nvPr/>
        </p:nvPicPr>
        <p:blipFill rotWithShape="1">
          <a:blip r:embed="rId5">
            <a:alphaModFix/>
          </a:blip>
          <a:srcRect/>
          <a:stretch/>
        </p:blipFill>
        <p:spPr>
          <a:xfrm>
            <a:off x="6858000" y="3048000"/>
            <a:ext cx="301625" cy="222250"/>
          </a:xfrm>
          <a:prstGeom prst="rect">
            <a:avLst/>
          </a:prstGeom>
          <a:noFill/>
          <a:ln>
            <a:noFill/>
          </a:ln>
        </p:spPr>
      </p:pic>
      <p:sp>
        <p:nvSpPr>
          <p:cNvPr id="432" name="Google Shape;432;p10"/>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Break it down into subproblems</a:t>
            </a:r>
            <a:endParaRPr/>
          </a:p>
        </p:txBody>
      </p:sp>
      <p:sp>
        <p:nvSpPr>
          <p:cNvPr id="433" name="Google Shape;433;p10"/>
          <p:cNvSpPr txBox="1">
            <a:spLocks noGrp="1"/>
          </p:cNvSpPr>
          <p:nvPr>
            <p:ph type="body" idx="1"/>
          </p:nvPr>
        </p:nvSpPr>
        <p:spPr>
          <a:xfrm>
            <a:off x="685800" y="914400"/>
            <a:ext cx="7772400" cy="838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Suppose I tell you the cluster centers c</a:t>
            </a:r>
            <a:r>
              <a:rPr lang="en-US" baseline="-25000"/>
              <a:t>i</a:t>
            </a:r>
            <a:endParaRPr/>
          </a:p>
          <a:p>
            <a:pPr marL="742950" lvl="1" indent="-285750" algn="l" rtl="0">
              <a:spcBef>
                <a:spcPts val="400"/>
              </a:spcBef>
              <a:spcAft>
                <a:spcPts val="0"/>
              </a:spcAft>
              <a:buClr>
                <a:schemeClr val="dk1"/>
              </a:buClr>
              <a:buSzPts val="2000"/>
              <a:buFont typeface="Arial"/>
              <a:buChar char="•"/>
            </a:pPr>
            <a:r>
              <a:rPr lang="en-US"/>
              <a:t>Q:  how to determine which points to associate with each c</a:t>
            </a:r>
            <a:r>
              <a:rPr lang="en-US" baseline="-25000"/>
              <a:t>i</a:t>
            </a:r>
            <a:r>
              <a:rPr lang="en-US"/>
              <a:t>?</a:t>
            </a:r>
            <a:endParaRPr/>
          </a:p>
        </p:txBody>
      </p:sp>
      <p:sp>
        <p:nvSpPr>
          <p:cNvPr id="434" name="Google Shape;434;p10"/>
          <p:cNvSpPr/>
          <p:nvPr/>
        </p:nvSpPr>
        <p:spPr>
          <a:xfrm>
            <a:off x="685800" y="1676400"/>
            <a:ext cx="7772400" cy="533400"/>
          </a:xfrm>
          <a:prstGeom prst="rect">
            <a:avLst/>
          </a:prstGeom>
          <a:noFill/>
          <a:ln>
            <a:noFill/>
          </a:ln>
        </p:spPr>
        <p:txBody>
          <a:bodyPr spcFirstLastPara="1" wrap="square" lIns="91425" tIns="45700" rIns="91425" bIns="45700" anchor="t" anchorCtr="0">
            <a:noAutofit/>
          </a:bodyPr>
          <a:lstStyle/>
          <a:p>
            <a:pPr marL="742950" marR="0" lvl="1" indent="-285750" algn="l" rtl="0">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A:  for each point p, choose closest c</a:t>
            </a:r>
            <a:r>
              <a:rPr lang="en-US" sz="2000" b="0" i="0" u="none" strike="noStrike" cap="none" baseline="-25000">
                <a:solidFill>
                  <a:schemeClr val="dk1"/>
                </a:solidFill>
                <a:latin typeface="Arial"/>
                <a:ea typeface="Arial"/>
                <a:cs typeface="Arial"/>
                <a:sym typeface="Arial"/>
              </a:rPr>
              <a:t>i</a:t>
            </a:r>
            <a:endParaRPr/>
          </a:p>
        </p:txBody>
      </p:sp>
      <p:sp>
        <p:nvSpPr>
          <p:cNvPr id="435" name="Google Shape;435;p10"/>
          <p:cNvSpPr/>
          <p:nvPr/>
        </p:nvSpPr>
        <p:spPr>
          <a:xfrm>
            <a:off x="1219200" y="2286000"/>
            <a:ext cx="2362200" cy="1981200"/>
          </a:xfrm>
          <a:prstGeom prst="rect">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36" name="Google Shape;436;p10"/>
          <p:cNvSpPr/>
          <p:nvPr/>
        </p:nvSpPr>
        <p:spPr>
          <a:xfrm>
            <a:off x="1676400" y="2514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37" name="Google Shape;437;p10"/>
          <p:cNvSpPr/>
          <p:nvPr/>
        </p:nvSpPr>
        <p:spPr>
          <a:xfrm>
            <a:off x="1828800" y="26670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38" name="Google Shape;438;p10"/>
          <p:cNvSpPr/>
          <p:nvPr/>
        </p:nvSpPr>
        <p:spPr>
          <a:xfrm>
            <a:off x="1752600" y="2895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39" name="Google Shape;439;p10"/>
          <p:cNvSpPr/>
          <p:nvPr/>
        </p:nvSpPr>
        <p:spPr>
          <a:xfrm>
            <a:off x="1447800" y="2743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0" name="Google Shape;440;p10"/>
          <p:cNvSpPr/>
          <p:nvPr/>
        </p:nvSpPr>
        <p:spPr>
          <a:xfrm>
            <a:off x="2819400" y="2971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1" name="Google Shape;441;p10"/>
          <p:cNvSpPr/>
          <p:nvPr/>
        </p:nvSpPr>
        <p:spPr>
          <a:xfrm>
            <a:off x="2743200" y="2743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2" name="Google Shape;442;p10"/>
          <p:cNvSpPr/>
          <p:nvPr/>
        </p:nvSpPr>
        <p:spPr>
          <a:xfrm>
            <a:off x="3200400" y="2971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3" name="Google Shape;443;p10"/>
          <p:cNvSpPr/>
          <p:nvPr/>
        </p:nvSpPr>
        <p:spPr>
          <a:xfrm>
            <a:off x="2971800" y="3124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4" name="Google Shape;444;p10"/>
          <p:cNvSpPr/>
          <p:nvPr/>
        </p:nvSpPr>
        <p:spPr>
          <a:xfrm>
            <a:off x="2971800" y="2819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5" name="Google Shape;445;p10"/>
          <p:cNvSpPr/>
          <p:nvPr/>
        </p:nvSpPr>
        <p:spPr>
          <a:xfrm>
            <a:off x="1981200" y="3733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6" name="Google Shape;446;p10"/>
          <p:cNvSpPr/>
          <p:nvPr/>
        </p:nvSpPr>
        <p:spPr>
          <a:xfrm>
            <a:off x="2286000" y="3505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7" name="Google Shape;447;p10"/>
          <p:cNvSpPr/>
          <p:nvPr/>
        </p:nvSpPr>
        <p:spPr>
          <a:xfrm>
            <a:off x="1828800" y="3505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8" name="Google Shape;448;p10"/>
          <p:cNvSpPr/>
          <p:nvPr/>
        </p:nvSpPr>
        <p:spPr>
          <a:xfrm>
            <a:off x="1752600" y="3886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49" name="Google Shape;449;p10"/>
          <p:cNvSpPr/>
          <p:nvPr/>
        </p:nvSpPr>
        <p:spPr>
          <a:xfrm>
            <a:off x="2209800" y="38100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0" name="Google Shape;450;p10"/>
          <p:cNvSpPr/>
          <p:nvPr/>
        </p:nvSpPr>
        <p:spPr>
          <a:xfrm>
            <a:off x="1600200" y="2743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1" name="Google Shape;451;p10"/>
          <p:cNvSpPr/>
          <p:nvPr/>
        </p:nvSpPr>
        <p:spPr>
          <a:xfrm>
            <a:off x="2057400" y="2514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2" name="Google Shape;452;p10"/>
          <p:cNvSpPr/>
          <p:nvPr/>
        </p:nvSpPr>
        <p:spPr>
          <a:xfrm>
            <a:off x="2057400" y="2819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3" name="Google Shape;453;p10"/>
          <p:cNvSpPr/>
          <p:nvPr/>
        </p:nvSpPr>
        <p:spPr>
          <a:xfrm>
            <a:off x="2057400" y="3505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4" name="Google Shape;454;p10"/>
          <p:cNvSpPr/>
          <p:nvPr/>
        </p:nvSpPr>
        <p:spPr>
          <a:xfrm>
            <a:off x="5867400" y="2514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5" name="Google Shape;455;p10"/>
          <p:cNvSpPr/>
          <p:nvPr/>
        </p:nvSpPr>
        <p:spPr>
          <a:xfrm>
            <a:off x="6019800" y="26670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6" name="Google Shape;456;p10"/>
          <p:cNvSpPr/>
          <p:nvPr/>
        </p:nvSpPr>
        <p:spPr>
          <a:xfrm>
            <a:off x="5943600" y="2895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7" name="Google Shape;457;p10"/>
          <p:cNvSpPr/>
          <p:nvPr/>
        </p:nvSpPr>
        <p:spPr>
          <a:xfrm>
            <a:off x="5638800" y="2743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8" name="Google Shape;458;p10"/>
          <p:cNvSpPr/>
          <p:nvPr/>
        </p:nvSpPr>
        <p:spPr>
          <a:xfrm>
            <a:off x="7010400" y="2971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59" name="Google Shape;459;p10"/>
          <p:cNvSpPr/>
          <p:nvPr/>
        </p:nvSpPr>
        <p:spPr>
          <a:xfrm>
            <a:off x="6934200" y="2743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0" name="Google Shape;460;p10"/>
          <p:cNvSpPr/>
          <p:nvPr/>
        </p:nvSpPr>
        <p:spPr>
          <a:xfrm>
            <a:off x="7391400" y="2971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1" name="Google Shape;461;p10"/>
          <p:cNvSpPr/>
          <p:nvPr/>
        </p:nvSpPr>
        <p:spPr>
          <a:xfrm>
            <a:off x="7162800" y="3124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2" name="Google Shape;462;p10"/>
          <p:cNvSpPr/>
          <p:nvPr/>
        </p:nvSpPr>
        <p:spPr>
          <a:xfrm>
            <a:off x="7162800" y="2819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3" name="Google Shape;463;p10"/>
          <p:cNvSpPr/>
          <p:nvPr/>
        </p:nvSpPr>
        <p:spPr>
          <a:xfrm>
            <a:off x="6172200" y="37338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4" name="Google Shape;464;p10"/>
          <p:cNvSpPr/>
          <p:nvPr/>
        </p:nvSpPr>
        <p:spPr>
          <a:xfrm>
            <a:off x="6477000" y="3505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5" name="Google Shape;465;p10"/>
          <p:cNvSpPr/>
          <p:nvPr/>
        </p:nvSpPr>
        <p:spPr>
          <a:xfrm>
            <a:off x="6019800" y="3505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6" name="Google Shape;466;p10"/>
          <p:cNvSpPr/>
          <p:nvPr/>
        </p:nvSpPr>
        <p:spPr>
          <a:xfrm>
            <a:off x="5943600" y="3886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7" name="Google Shape;467;p10"/>
          <p:cNvSpPr/>
          <p:nvPr/>
        </p:nvSpPr>
        <p:spPr>
          <a:xfrm>
            <a:off x="6400800" y="38100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8" name="Google Shape;468;p10"/>
          <p:cNvSpPr/>
          <p:nvPr/>
        </p:nvSpPr>
        <p:spPr>
          <a:xfrm>
            <a:off x="5791200" y="2743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69" name="Google Shape;469;p10"/>
          <p:cNvSpPr/>
          <p:nvPr/>
        </p:nvSpPr>
        <p:spPr>
          <a:xfrm>
            <a:off x="6248400" y="25146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70" name="Google Shape;470;p10"/>
          <p:cNvSpPr/>
          <p:nvPr/>
        </p:nvSpPr>
        <p:spPr>
          <a:xfrm>
            <a:off x="6248400" y="28194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71" name="Google Shape;471;p10"/>
          <p:cNvSpPr/>
          <p:nvPr/>
        </p:nvSpPr>
        <p:spPr>
          <a:xfrm>
            <a:off x="6248400" y="3505200"/>
            <a:ext cx="76200" cy="76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72" name="Google Shape;472;p10"/>
          <p:cNvSpPr/>
          <p:nvPr/>
        </p:nvSpPr>
        <p:spPr>
          <a:xfrm>
            <a:off x="3962400" y="2971800"/>
            <a:ext cx="1143000" cy="533400"/>
          </a:xfrm>
          <a:prstGeom prst="rightArrow">
            <a:avLst>
              <a:gd name="adj1" fmla="val 50000"/>
              <a:gd name="adj2" fmla="val 53571"/>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73" name="Google Shape;473;p10"/>
          <p:cNvSpPr/>
          <p:nvPr/>
        </p:nvSpPr>
        <p:spPr>
          <a:xfrm>
            <a:off x="5943600" y="2667000"/>
            <a:ext cx="152400" cy="152400"/>
          </a:xfrm>
          <a:prstGeom prst="rect">
            <a:avLst/>
          </a:prstGeom>
          <a:noFill/>
          <a:ln w="28575" cap="flat" cmpd="sng">
            <a:solidFill>
              <a:schemeClr val="fo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74" name="Google Shape;474;p10"/>
          <p:cNvSpPr/>
          <p:nvPr/>
        </p:nvSpPr>
        <p:spPr>
          <a:xfrm>
            <a:off x="7086600" y="2895600"/>
            <a:ext cx="152400" cy="152400"/>
          </a:xfrm>
          <a:prstGeom prst="rect">
            <a:avLst/>
          </a:prstGeom>
          <a:noFill/>
          <a:ln w="28575" cap="flat" cmpd="sng">
            <a:solidFill>
              <a:srgbClr val="C600C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75" name="Google Shape;475;p10"/>
          <p:cNvSpPr/>
          <p:nvPr/>
        </p:nvSpPr>
        <p:spPr>
          <a:xfrm>
            <a:off x="6172200" y="3657600"/>
            <a:ext cx="152400" cy="152400"/>
          </a:xfrm>
          <a:prstGeom prst="rect">
            <a:avLst/>
          </a:prstGeom>
          <a:noFill/>
          <a:ln w="2857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476" name="Google Shape;476;p10"/>
          <p:cNvSpPr/>
          <p:nvPr/>
        </p:nvSpPr>
        <p:spPr>
          <a:xfrm>
            <a:off x="685800" y="4495800"/>
            <a:ext cx="7772400" cy="8382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en-US" sz="2400" b="0" i="0" u="none" strike="noStrike" cap="none">
                <a:solidFill>
                  <a:schemeClr val="dk1"/>
                </a:solidFill>
                <a:latin typeface="Arial"/>
                <a:ea typeface="Arial"/>
                <a:cs typeface="Arial"/>
                <a:sym typeface="Arial"/>
              </a:rPr>
              <a:t>Suppose I tell you the points in each cluster</a:t>
            </a:r>
            <a:endParaRPr sz="2400" b="0" i="0" u="none" strike="noStrike" cap="none" baseline="-25000">
              <a:solidFill>
                <a:schemeClr val="dk1"/>
              </a:solidFill>
              <a:latin typeface="Arial"/>
              <a:ea typeface="Arial"/>
              <a:cs typeface="Arial"/>
              <a:sym typeface="Arial"/>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Q:  how to determine the cluster centers?</a:t>
            </a:r>
            <a:endParaRPr/>
          </a:p>
        </p:txBody>
      </p:sp>
      <p:sp>
        <p:nvSpPr>
          <p:cNvPr id="477" name="Google Shape;477;p10"/>
          <p:cNvSpPr/>
          <p:nvPr/>
        </p:nvSpPr>
        <p:spPr>
          <a:xfrm>
            <a:off x="685800" y="5257800"/>
            <a:ext cx="7772400" cy="533400"/>
          </a:xfrm>
          <a:prstGeom prst="rect">
            <a:avLst/>
          </a:prstGeom>
          <a:noFill/>
          <a:ln>
            <a:noFill/>
          </a:ln>
        </p:spPr>
        <p:txBody>
          <a:bodyPr spcFirstLastPara="1" wrap="square" lIns="91425" tIns="45700" rIns="91425" bIns="45700" anchor="t" anchorCtr="0">
            <a:noAutofit/>
          </a:bodyPr>
          <a:lstStyle/>
          <a:p>
            <a:pPr marL="742950" marR="0" lvl="1" indent="-285750" algn="l" rtl="0">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A:  choose c</a:t>
            </a:r>
            <a:r>
              <a:rPr lang="en-US" sz="2000" b="0" i="0" u="none" strike="noStrike" cap="none" baseline="-25000">
                <a:solidFill>
                  <a:schemeClr val="dk1"/>
                </a:solidFill>
                <a:latin typeface="Arial"/>
                <a:ea typeface="Arial"/>
                <a:cs typeface="Arial"/>
                <a:sym typeface="Arial"/>
              </a:rPr>
              <a:t>i</a:t>
            </a:r>
            <a:r>
              <a:rPr lang="en-US" sz="2000" b="0" i="0" u="none" strike="noStrike" cap="none">
                <a:solidFill>
                  <a:schemeClr val="dk1"/>
                </a:solidFill>
                <a:latin typeface="Arial"/>
                <a:ea typeface="Arial"/>
                <a:cs typeface="Arial"/>
                <a:sym typeface="Arial"/>
              </a:rPr>
              <a:t> to be the mean of all points in the cluster</a:t>
            </a:r>
            <a:endParaRPr sz="2000" b="0" i="0" u="none" strike="noStrike" cap="none" baseline="-250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1"/>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K-means clustering</a:t>
            </a:r>
            <a:endParaRPr/>
          </a:p>
        </p:txBody>
      </p:sp>
      <p:sp>
        <p:nvSpPr>
          <p:cNvPr id="483" name="Google Shape;483;p11"/>
          <p:cNvSpPr txBox="1">
            <a:spLocks noGrp="1"/>
          </p:cNvSpPr>
          <p:nvPr>
            <p:ph type="body" idx="1"/>
          </p:nvPr>
        </p:nvSpPr>
        <p:spPr>
          <a:xfrm>
            <a:off x="620425" y="914400"/>
            <a:ext cx="7772400" cy="5016600"/>
          </a:xfrm>
          <a:prstGeom prst="rect">
            <a:avLst/>
          </a:prstGeom>
          <a:noFill/>
          <a:ln>
            <a:noFill/>
          </a:ln>
        </p:spPr>
        <p:txBody>
          <a:bodyPr spcFirstLastPara="1" wrap="square" lIns="91425" tIns="45700" rIns="91425" bIns="45700" anchor="t" anchorCtr="0">
            <a:noAutofit/>
          </a:bodyPr>
          <a:lstStyle/>
          <a:p>
            <a:pPr marL="457200" lvl="0" indent="-457200" algn="l" rtl="0">
              <a:lnSpc>
                <a:spcPct val="90000"/>
              </a:lnSpc>
              <a:spcBef>
                <a:spcPts val="0"/>
              </a:spcBef>
              <a:spcAft>
                <a:spcPts val="0"/>
              </a:spcAft>
              <a:buNone/>
            </a:pPr>
            <a:r>
              <a:rPr lang="en-US"/>
              <a:t>K-means clustering algorithm</a:t>
            </a:r>
            <a:endParaRPr/>
          </a:p>
          <a:p>
            <a:pPr marL="838200" lvl="1" indent="-381000" algn="l" rtl="0">
              <a:lnSpc>
                <a:spcPct val="90000"/>
              </a:lnSpc>
              <a:spcBef>
                <a:spcPts val="400"/>
              </a:spcBef>
              <a:spcAft>
                <a:spcPts val="0"/>
              </a:spcAft>
              <a:buClr>
                <a:schemeClr val="dk1"/>
              </a:buClr>
              <a:buSzPts val="2000"/>
              <a:buFont typeface="Arial"/>
              <a:buAutoNum type="arabicPeriod"/>
            </a:pPr>
            <a:r>
              <a:rPr lang="en-US"/>
              <a:t>Randomly initialize the cluster centers, c</a:t>
            </a:r>
            <a:r>
              <a:rPr lang="en-US" baseline="-25000"/>
              <a:t>1</a:t>
            </a:r>
            <a:r>
              <a:rPr lang="en-US"/>
              <a:t>, ..., c</a:t>
            </a:r>
            <a:r>
              <a:rPr lang="en-US" baseline="-25000"/>
              <a:t>K</a:t>
            </a:r>
            <a:endParaRPr/>
          </a:p>
          <a:p>
            <a:pPr marL="838200" lvl="1" indent="-381000" algn="l" rtl="0">
              <a:lnSpc>
                <a:spcPct val="90000"/>
              </a:lnSpc>
              <a:spcBef>
                <a:spcPts val="400"/>
              </a:spcBef>
              <a:spcAft>
                <a:spcPts val="0"/>
              </a:spcAft>
              <a:buClr>
                <a:schemeClr val="dk1"/>
              </a:buClr>
              <a:buSzPts val="2000"/>
              <a:buFont typeface="Arial"/>
              <a:buAutoNum type="arabicPeriod"/>
            </a:pPr>
            <a:r>
              <a:rPr lang="en-US"/>
              <a:t>Given cluster centers, determine points in each cluster</a:t>
            </a:r>
            <a:endParaRPr/>
          </a:p>
          <a:p>
            <a:pPr marL="1257300" lvl="2" indent="-342900" algn="l" rtl="0">
              <a:lnSpc>
                <a:spcPct val="90000"/>
              </a:lnSpc>
              <a:spcBef>
                <a:spcPts val="360"/>
              </a:spcBef>
              <a:spcAft>
                <a:spcPts val="0"/>
              </a:spcAft>
              <a:buClr>
                <a:schemeClr val="dk1"/>
              </a:buClr>
              <a:buSzPts val="1800"/>
              <a:buFont typeface="Arial"/>
              <a:buChar char="•"/>
            </a:pPr>
            <a:r>
              <a:rPr lang="en-US"/>
              <a:t>For each point p, find the closest c</a:t>
            </a:r>
            <a:r>
              <a:rPr lang="en-US" baseline="-25000"/>
              <a:t>i</a:t>
            </a:r>
            <a:r>
              <a:rPr lang="en-US"/>
              <a:t>.  Put p into cluster i</a:t>
            </a:r>
            <a:endParaRPr/>
          </a:p>
          <a:p>
            <a:pPr marL="838200" lvl="1" indent="-381000" algn="l" rtl="0">
              <a:lnSpc>
                <a:spcPct val="90000"/>
              </a:lnSpc>
              <a:spcBef>
                <a:spcPts val="400"/>
              </a:spcBef>
              <a:spcAft>
                <a:spcPts val="0"/>
              </a:spcAft>
              <a:buClr>
                <a:schemeClr val="dk1"/>
              </a:buClr>
              <a:buSzPts val="2000"/>
              <a:buFont typeface="Arial"/>
              <a:buAutoNum type="arabicPeriod"/>
            </a:pPr>
            <a:r>
              <a:rPr lang="en-US"/>
              <a:t>Given points in each cluster, solve for c</a:t>
            </a:r>
            <a:r>
              <a:rPr lang="en-US" baseline="-25000"/>
              <a:t>i</a:t>
            </a:r>
            <a:endParaRPr/>
          </a:p>
          <a:p>
            <a:pPr marL="1257300" lvl="2" indent="-342900" algn="l" rtl="0">
              <a:lnSpc>
                <a:spcPct val="90000"/>
              </a:lnSpc>
              <a:spcBef>
                <a:spcPts val="360"/>
              </a:spcBef>
              <a:spcAft>
                <a:spcPts val="0"/>
              </a:spcAft>
              <a:buClr>
                <a:schemeClr val="dk1"/>
              </a:buClr>
              <a:buSzPts val="1800"/>
              <a:buFont typeface="Arial"/>
              <a:buChar char="•"/>
            </a:pPr>
            <a:r>
              <a:rPr lang="en-US"/>
              <a:t>Set c</a:t>
            </a:r>
            <a:r>
              <a:rPr lang="en-US" baseline="-25000"/>
              <a:t>i</a:t>
            </a:r>
            <a:r>
              <a:rPr lang="en-US"/>
              <a:t> to be the mean of points in cluster i</a:t>
            </a:r>
            <a:endParaRPr/>
          </a:p>
          <a:p>
            <a:pPr marL="838200" lvl="1" indent="-381000" algn="l" rtl="0">
              <a:lnSpc>
                <a:spcPct val="90000"/>
              </a:lnSpc>
              <a:spcBef>
                <a:spcPts val="400"/>
              </a:spcBef>
              <a:spcAft>
                <a:spcPts val="0"/>
              </a:spcAft>
              <a:buClr>
                <a:schemeClr val="dk1"/>
              </a:buClr>
              <a:buSzPts val="2000"/>
              <a:buFont typeface="Arial"/>
              <a:buAutoNum type="arabicPeriod"/>
            </a:pPr>
            <a:r>
              <a:rPr lang="en-US"/>
              <a:t>If c</a:t>
            </a:r>
            <a:r>
              <a:rPr lang="en-US" baseline="-25000"/>
              <a:t>i</a:t>
            </a:r>
            <a:r>
              <a:rPr lang="en-US"/>
              <a:t> have changed, repeat Step 2</a:t>
            </a:r>
            <a:endParaRPr/>
          </a:p>
          <a:p>
            <a:pPr marL="1257300" lvl="2" indent="-228600" algn="l" rtl="0">
              <a:lnSpc>
                <a:spcPct val="90000"/>
              </a:lnSpc>
              <a:spcBef>
                <a:spcPts val="360"/>
              </a:spcBef>
              <a:spcAft>
                <a:spcPts val="0"/>
              </a:spcAft>
              <a:buClr>
                <a:schemeClr val="dk1"/>
              </a:buClr>
              <a:buSzPts val="1800"/>
              <a:buFont typeface="Arial"/>
              <a:buNone/>
            </a:pPr>
            <a:endParaRPr/>
          </a:p>
          <a:p>
            <a:pPr marL="457200" lvl="0" indent="-457200" algn="l" rtl="0">
              <a:lnSpc>
                <a:spcPct val="90000"/>
              </a:lnSpc>
              <a:spcBef>
                <a:spcPts val="480"/>
              </a:spcBef>
              <a:spcAft>
                <a:spcPts val="0"/>
              </a:spcAft>
              <a:buNone/>
            </a:pPr>
            <a:r>
              <a:rPr lang="en-US"/>
              <a:t>Demo: </a:t>
            </a:r>
            <a:r>
              <a:rPr lang="en-US" u="sng">
                <a:solidFill>
                  <a:schemeClr val="hlink"/>
                </a:solidFill>
                <a:hlinkClick r:id="rId3"/>
              </a:rPr>
              <a:t>https://ai.stanford.edu/~syyeung/cvweb/tutorial3.html</a:t>
            </a:r>
            <a:r>
              <a:rPr lang="en-US"/>
              <a:t> </a:t>
            </a:r>
            <a:endParaRPr sz="1600"/>
          </a:p>
          <a:p>
            <a:pPr marL="457200" lvl="0" indent="-457200" algn="l" rtl="0">
              <a:lnSpc>
                <a:spcPct val="90000"/>
              </a:lnSpc>
              <a:spcBef>
                <a:spcPts val="480"/>
              </a:spcBef>
              <a:spcAft>
                <a:spcPts val="0"/>
              </a:spcAft>
              <a:buNone/>
            </a:pPr>
            <a:endParaRPr/>
          </a:p>
          <a:p>
            <a:pPr marL="457200" lvl="0" indent="-457200" algn="l" rtl="0">
              <a:lnSpc>
                <a:spcPct val="90000"/>
              </a:lnSpc>
              <a:spcBef>
                <a:spcPts val="480"/>
              </a:spcBef>
              <a:spcAft>
                <a:spcPts val="0"/>
              </a:spcAft>
              <a:buNone/>
            </a:pPr>
            <a:r>
              <a:rPr lang="en-US"/>
              <a:t>Properties</a:t>
            </a:r>
            <a:endParaRPr/>
          </a:p>
          <a:p>
            <a:pPr marL="838200" lvl="1" indent="-381000" algn="l" rtl="0">
              <a:lnSpc>
                <a:spcPct val="90000"/>
              </a:lnSpc>
              <a:spcBef>
                <a:spcPts val="400"/>
              </a:spcBef>
              <a:spcAft>
                <a:spcPts val="0"/>
              </a:spcAft>
              <a:buClr>
                <a:schemeClr val="dk1"/>
              </a:buClr>
              <a:buSzPts val="2000"/>
              <a:buFont typeface="Arial"/>
              <a:buChar char="•"/>
            </a:pPr>
            <a:r>
              <a:rPr lang="en-US"/>
              <a:t>Will always converge to </a:t>
            </a:r>
            <a:r>
              <a:rPr lang="en-US" i="1"/>
              <a:t>some</a:t>
            </a:r>
            <a:r>
              <a:rPr lang="en-US"/>
              <a:t> solution</a:t>
            </a:r>
            <a:endParaRPr/>
          </a:p>
          <a:p>
            <a:pPr marL="838200" lvl="1" indent="-381000" algn="l" rtl="0">
              <a:lnSpc>
                <a:spcPct val="90000"/>
              </a:lnSpc>
              <a:spcBef>
                <a:spcPts val="400"/>
              </a:spcBef>
              <a:spcAft>
                <a:spcPts val="0"/>
              </a:spcAft>
              <a:buClr>
                <a:schemeClr val="dk1"/>
              </a:buClr>
              <a:buSzPts val="2000"/>
              <a:buFont typeface="Arial"/>
              <a:buChar char="•"/>
            </a:pPr>
            <a:r>
              <a:rPr lang="en-US"/>
              <a:t>Can be a “local minimum”</a:t>
            </a:r>
            <a:endParaRPr/>
          </a:p>
          <a:p>
            <a:pPr marL="1257300" lvl="2" indent="-342900" algn="l" rtl="0">
              <a:lnSpc>
                <a:spcPct val="90000"/>
              </a:lnSpc>
              <a:spcBef>
                <a:spcPts val="360"/>
              </a:spcBef>
              <a:spcAft>
                <a:spcPts val="0"/>
              </a:spcAft>
              <a:buClr>
                <a:schemeClr val="dk1"/>
              </a:buClr>
              <a:buSzPts val="1800"/>
              <a:buFont typeface="Arial"/>
              <a:buChar char="•"/>
            </a:pPr>
            <a:r>
              <a:rPr lang="en-US"/>
              <a:t>does not always find the global minimum of objective function:</a:t>
            </a:r>
            <a:endParaRPr/>
          </a:p>
          <a:p>
            <a:pPr marL="838200" lvl="1" indent="-279400" algn="l" rtl="0">
              <a:lnSpc>
                <a:spcPct val="90000"/>
              </a:lnSpc>
              <a:spcBef>
                <a:spcPts val="320"/>
              </a:spcBef>
              <a:spcAft>
                <a:spcPts val="0"/>
              </a:spcAft>
              <a:buClr>
                <a:schemeClr val="dk1"/>
              </a:buClr>
              <a:buSzPts val="1600"/>
              <a:buFont typeface="Arial"/>
              <a:buNone/>
            </a:pPr>
            <a:endParaRPr sz="1600"/>
          </a:p>
        </p:txBody>
      </p:sp>
      <p:pic>
        <p:nvPicPr>
          <p:cNvPr id="484" name="Google Shape;484;p11"/>
          <p:cNvPicPr preferRelativeResize="0"/>
          <p:nvPr/>
        </p:nvPicPr>
        <p:blipFill rotWithShape="1">
          <a:blip r:embed="rId4">
            <a:alphaModFix/>
          </a:blip>
          <a:srcRect/>
          <a:stretch/>
        </p:blipFill>
        <p:spPr>
          <a:xfrm>
            <a:off x="2649538" y="5930900"/>
            <a:ext cx="3903662" cy="533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g28fa4b45176_0_726"/>
          <p:cNvSpPr txBox="1">
            <a:spLocks noGrp="1"/>
          </p:cNvSpPr>
          <p:nvPr>
            <p:ph type="title"/>
          </p:nvPr>
        </p:nvSpPr>
        <p:spPr>
          <a:xfrm>
            <a:off x="685800" y="76200"/>
            <a:ext cx="7772400" cy="838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K means clustering</a:t>
            </a:r>
            <a:endParaRPr/>
          </a:p>
        </p:txBody>
      </p:sp>
      <p:pic>
        <p:nvPicPr>
          <p:cNvPr id="491" name="Google Shape;491;g28fa4b45176_0_726"/>
          <p:cNvPicPr preferRelativeResize="0"/>
          <p:nvPr/>
        </p:nvPicPr>
        <p:blipFill>
          <a:blip r:embed="rId3">
            <a:alphaModFix/>
          </a:blip>
          <a:stretch>
            <a:fillRect/>
          </a:stretch>
        </p:blipFill>
        <p:spPr>
          <a:xfrm>
            <a:off x="0" y="2172573"/>
            <a:ext cx="9144000" cy="251285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Probabilistic clustering</a:t>
            </a:r>
            <a:endParaRPr/>
          </a:p>
        </p:txBody>
      </p:sp>
      <p:sp>
        <p:nvSpPr>
          <p:cNvPr id="497" name="Google Shape;497;p12"/>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Basic questions</a:t>
            </a:r>
            <a:endParaRPr/>
          </a:p>
          <a:p>
            <a:pPr marL="742950" lvl="1" indent="-285750" algn="l" rtl="0">
              <a:spcBef>
                <a:spcPts val="400"/>
              </a:spcBef>
              <a:spcAft>
                <a:spcPts val="0"/>
              </a:spcAft>
              <a:buClr>
                <a:schemeClr val="dk1"/>
              </a:buClr>
              <a:buSzPts val="2000"/>
              <a:buFont typeface="Arial"/>
              <a:buChar char="•"/>
            </a:pPr>
            <a:r>
              <a:rPr lang="en-US"/>
              <a:t>what’s the probability that a point </a:t>
            </a:r>
            <a:r>
              <a:rPr lang="en-US" b="1"/>
              <a:t>x</a:t>
            </a:r>
            <a:r>
              <a:rPr lang="en-US"/>
              <a:t> is in cluster m?</a:t>
            </a:r>
            <a:endParaRPr/>
          </a:p>
          <a:p>
            <a:pPr marL="742950" lvl="1" indent="-285750" algn="l" rtl="0">
              <a:spcBef>
                <a:spcPts val="400"/>
              </a:spcBef>
              <a:spcAft>
                <a:spcPts val="0"/>
              </a:spcAft>
              <a:buClr>
                <a:schemeClr val="dk1"/>
              </a:buClr>
              <a:buSzPts val="2000"/>
              <a:buFont typeface="Arial"/>
              <a:buChar char="•"/>
            </a:pPr>
            <a:r>
              <a:rPr lang="en-US"/>
              <a:t>what’s the shape of each cluster?</a:t>
            </a:r>
            <a:endParaRPr/>
          </a:p>
          <a:p>
            <a:pPr marL="342900" lvl="0" indent="-342900" algn="l" rtl="0">
              <a:spcBef>
                <a:spcPts val="480"/>
              </a:spcBef>
              <a:spcAft>
                <a:spcPts val="0"/>
              </a:spcAft>
              <a:buNone/>
            </a:pPr>
            <a:r>
              <a:rPr lang="en-US"/>
              <a:t>K-means doesn’t answer these questions</a:t>
            </a:r>
            <a:endParaRPr/>
          </a:p>
          <a:p>
            <a:pPr marL="342900" lvl="0" indent="-342900" algn="l" rtl="0">
              <a:spcBef>
                <a:spcPts val="480"/>
              </a:spcBef>
              <a:spcAft>
                <a:spcPts val="0"/>
              </a:spcAft>
              <a:buNone/>
            </a:pPr>
            <a:endParaRPr/>
          </a:p>
          <a:p>
            <a:pPr marL="342900" lvl="0" indent="-342900" algn="l" rtl="0">
              <a:spcBef>
                <a:spcPts val="480"/>
              </a:spcBef>
              <a:spcAft>
                <a:spcPts val="0"/>
              </a:spcAft>
              <a:buNone/>
            </a:pPr>
            <a:r>
              <a:rPr lang="en-US"/>
              <a:t>Basic idea</a:t>
            </a:r>
            <a:endParaRPr/>
          </a:p>
          <a:p>
            <a:pPr marL="742950" lvl="1" indent="-285750" algn="l" rtl="0">
              <a:spcBef>
                <a:spcPts val="400"/>
              </a:spcBef>
              <a:spcAft>
                <a:spcPts val="0"/>
              </a:spcAft>
              <a:buClr>
                <a:schemeClr val="dk1"/>
              </a:buClr>
              <a:buSzPts val="2000"/>
              <a:buFont typeface="Arial"/>
              <a:buChar char="•"/>
            </a:pPr>
            <a:r>
              <a:rPr lang="en-US"/>
              <a:t>instead of treating the data as a bunch of points, assume that they are all generated by sampling a continuous function</a:t>
            </a:r>
            <a:endParaRPr/>
          </a:p>
          <a:p>
            <a:pPr marL="742950" lvl="1" indent="-285750" algn="l" rtl="0">
              <a:spcBef>
                <a:spcPts val="400"/>
              </a:spcBef>
              <a:spcAft>
                <a:spcPts val="0"/>
              </a:spcAft>
              <a:buClr>
                <a:schemeClr val="dk1"/>
              </a:buClr>
              <a:buSzPts val="2000"/>
              <a:buFont typeface="Arial"/>
              <a:buChar char="•"/>
            </a:pPr>
            <a:r>
              <a:rPr lang="en-US"/>
              <a:t>This function is called a </a:t>
            </a:r>
            <a:r>
              <a:rPr lang="en-US" b="1"/>
              <a:t>generative model </a:t>
            </a:r>
            <a:endParaRPr/>
          </a:p>
          <a:p>
            <a:pPr marL="1143000" lvl="2" indent="-228600" algn="l" rtl="0">
              <a:spcBef>
                <a:spcPts val="360"/>
              </a:spcBef>
              <a:spcAft>
                <a:spcPts val="0"/>
              </a:spcAft>
              <a:buClr>
                <a:schemeClr val="dk1"/>
              </a:buClr>
              <a:buSzPts val="1800"/>
              <a:buFont typeface="Arial"/>
              <a:buChar char="–"/>
            </a:pPr>
            <a:r>
              <a:rPr lang="en-US"/>
              <a:t>defined by a vector of parameters </a:t>
            </a:r>
            <a:r>
              <a:rPr lang="en-US" b="1"/>
              <a:t>θ</a:t>
            </a:r>
            <a:endParaRPr b="1"/>
          </a:p>
          <a:p>
            <a:pPr marL="742950" lvl="1" indent="-158750" algn="l" rtl="0">
              <a:spcBef>
                <a:spcPts val="400"/>
              </a:spcBef>
              <a:spcAft>
                <a:spcPts val="0"/>
              </a:spcAft>
              <a:buClr>
                <a:schemeClr val="dk1"/>
              </a:buClr>
              <a:buSzPts val="2000"/>
              <a:buFont typeface="Arial"/>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1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Mixture of Gaussians</a:t>
            </a:r>
            <a:endParaRPr/>
          </a:p>
        </p:txBody>
      </p:sp>
      <p:sp>
        <p:nvSpPr>
          <p:cNvPr id="503" name="Google Shape;503;p13"/>
          <p:cNvSpPr txBox="1">
            <a:spLocks noGrp="1"/>
          </p:cNvSpPr>
          <p:nvPr>
            <p:ph type="body" idx="1"/>
          </p:nvPr>
        </p:nvSpPr>
        <p:spPr>
          <a:xfrm>
            <a:off x="685800" y="3581400"/>
            <a:ext cx="8458200" cy="2590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sz="2000"/>
              <a:t>One generative model is a mixture of Gaussians (MOG)</a:t>
            </a:r>
            <a:endParaRPr/>
          </a:p>
          <a:p>
            <a:pPr marL="742950" lvl="1" indent="-285750" algn="l" rtl="0">
              <a:spcBef>
                <a:spcPts val="400"/>
              </a:spcBef>
              <a:spcAft>
                <a:spcPts val="0"/>
              </a:spcAft>
              <a:buClr>
                <a:schemeClr val="dk1"/>
              </a:buClr>
              <a:buSzPts val="1800"/>
              <a:buFont typeface="Arial"/>
              <a:buChar char="•"/>
            </a:pPr>
            <a:r>
              <a:rPr lang="en-US" sz="1800"/>
              <a:t>K Gaussian blobs with means </a:t>
            </a:r>
            <a:r>
              <a:rPr lang="en-US" sz="1800" b="1"/>
              <a:t>μ</a:t>
            </a:r>
            <a:r>
              <a:rPr lang="en-US" sz="1800" b="1" baseline="-25000"/>
              <a:t>b</a:t>
            </a:r>
            <a:r>
              <a:rPr lang="en-US" sz="1800"/>
              <a:t> covariance matrices </a:t>
            </a:r>
            <a:r>
              <a:rPr lang="en-US" sz="1800" b="1"/>
              <a:t>V</a:t>
            </a:r>
            <a:r>
              <a:rPr lang="en-US" sz="1800" b="1" baseline="-25000"/>
              <a:t>b</a:t>
            </a:r>
            <a:r>
              <a:rPr lang="en-US"/>
              <a:t>, </a:t>
            </a:r>
            <a:r>
              <a:rPr lang="en-US" sz="1800"/>
              <a:t>dimension d</a:t>
            </a:r>
            <a:endParaRPr/>
          </a:p>
          <a:p>
            <a:pPr marL="1143000" lvl="2" indent="-228600" algn="l" rtl="0">
              <a:spcBef>
                <a:spcPts val="360"/>
              </a:spcBef>
              <a:spcAft>
                <a:spcPts val="0"/>
              </a:spcAft>
              <a:buClr>
                <a:schemeClr val="dk1"/>
              </a:buClr>
              <a:buSzPts val="1800"/>
              <a:buFont typeface="Arial"/>
              <a:buChar char="–"/>
            </a:pPr>
            <a:r>
              <a:rPr lang="en-US"/>
              <a:t>blob </a:t>
            </a:r>
            <a:r>
              <a:rPr lang="en-US" i="1"/>
              <a:t>b</a:t>
            </a:r>
            <a:r>
              <a:rPr lang="en-US"/>
              <a:t> defined by:</a:t>
            </a:r>
            <a:endParaRPr/>
          </a:p>
          <a:p>
            <a:pPr marL="1143000" lvl="2" indent="-228600" algn="l" rtl="0">
              <a:spcBef>
                <a:spcPts val="360"/>
              </a:spcBef>
              <a:spcAft>
                <a:spcPts val="0"/>
              </a:spcAft>
              <a:buClr>
                <a:schemeClr val="dk1"/>
              </a:buClr>
              <a:buSzPts val="1800"/>
              <a:buFont typeface="Arial"/>
              <a:buNone/>
            </a:pPr>
            <a:endParaRPr/>
          </a:p>
          <a:p>
            <a:pPr marL="742950" lvl="1" indent="-285750" algn="l" rtl="0">
              <a:spcBef>
                <a:spcPts val="400"/>
              </a:spcBef>
              <a:spcAft>
                <a:spcPts val="0"/>
              </a:spcAft>
              <a:buClr>
                <a:schemeClr val="dk1"/>
              </a:buClr>
              <a:buSzPts val="2000"/>
              <a:buFont typeface="Arial"/>
              <a:buChar char="•"/>
            </a:pPr>
            <a:r>
              <a:rPr lang="en-US"/>
              <a:t>blob </a:t>
            </a:r>
            <a:r>
              <a:rPr lang="en-US" i="1"/>
              <a:t>b</a:t>
            </a:r>
            <a:r>
              <a:rPr lang="en-US"/>
              <a:t> is selected with probability </a:t>
            </a:r>
            <a:endParaRPr/>
          </a:p>
          <a:p>
            <a:pPr marL="742950" lvl="1" indent="-285750" algn="l" rtl="0">
              <a:spcBef>
                <a:spcPts val="400"/>
              </a:spcBef>
              <a:spcAft>
                <a:spcPts val="0"/>
              </a:spcAft>
              <a:buClr>
                <a:schemeClr val="dk1"/>
              </a:buClr>
              <a:buSzPts val="2000"/>
              <a:buFont typeface="Arial"/>
              <a:buChar char="•"/>
            </a:pPr>
            <a:r>
              <a:rPr lang="en-US"/>
              <a:t>the likelihood of observing </a:t>
            </a:r>
            <a:r>
              <a:rPr lang="en-US" b="1"/>
              <a:t>x</a:t>
            </a:r>
            <a:r>
              <a:rPr lang="en-US"/>
              <a:t> is a weighted mixture of Gaussians</a:t>
            </a:r>
            <a:endParaRPr/>
          </a:p>
          <a:p>
            <a:pPr marL="742950" lvl="1" indent="-158750" algn="l" rtl="0">
              <a:spcBef>
                <a:spcPts val="400"/>
              </a:spcBef>
              <a:spcAft>
                <a:spcPts val="0"/>
              </a:spcAft>
              <a:buClr>
                <a:schemeClr val="dk1"/>
              </a:buClr>
              <a:buSzPts val="2000"/>
              <a:buFont typeface="Arial"/>
              <a:buNone/>
            </a:pPr>
            <a:endParaRPr/>
          </a:p>
          <a:p>
            <a:pPr marL="742950" lvl="1" indent="-158750" algn="l" rtl="0">
              <a:spcBef>
                <a:spcPts val="400"/>
              </a:spcBef>
              <a:spcAft>
                <a:spcPts val="0"/>
              </a:spcAft>
              <a:buClr>
                <a:schemeClr val="dk1"/>
              </a:buClr>
              <a:buSzPts val="2000"/>
              <a:buFont typeface="Arial"/>
              <a:buNone/>
            </a:pPr>
            <a:endParaRPr/>
          </a:p>
          <a:p>
            <a:pPr marL="742950" lvl="1" indent="-285750" algn="l" rtl="0">
              <a:spcBef>
                <a:spcPts val="400"/>
              </a:spcBef>
              <a:spcAft>
                <a:spcPts val="0"/>
              </a:spcAft>
              <a:buClr>
                <a:schemeClr val="dk1"/>
              </a:buClr>
              <a:buSzPts val="2000"/>
              <a:buFont typeface="Arial"/>
              <a:buChar char="•"/>
            </a:pPr>
            <a:r>
              <a:rPr lang="en-US"/>
              <a:t>where </a:t>
            </a:r>
            <a:endParaRPr/>
          </a:p>
        </p:txBody>
      </p:sp>
      <p:sp>
        <p:nvSpPr>
          <p:cNvPr id="504" name="Google Shape;504;p13"/>
          <p:cNvSpPr/>
          <p:nvPr/>
        </p:nvSpPr>
        <p:spPr>
          <a:xfrm>
            <a:off x="3124200" y="2438400"/>
            <a:ext cx="1981200" cy="457200"/>
          </a:xfrm>
          <a:prstGeom prst="ellipse">
            <a:avLst/>
          </a:prstGeom>
          <a:gradFill>
            <a:gsLst>
              <a:gs pos="0">
                <a:srgbClr val="FF0000"/>
              </a:gs>
              <a:gs pos="100000">
                <a:srgbClr val="FFFFFF"/>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05" name="Google Shape;505;p13"/>
          <p:cNvSpPr/>
          <p:nvPr/>
        </p:nvSpPr>
        <p:spPr>
          <a:xfrm rot="-2693049">
            <a:off x="3778250" y="2057400"/>
            <a:ext cx="1981200" cy="381000"/>
          </a:xfrm>
          <a:prstGeom prst="ellipse">
            <a:avLst/>
          </a:prstGeom>
          <a:gradFill>
            <a:gsLst>
              <a:gs pos="0">
                <a:srgbClr val="000000"/>
              </a:gs>
              <a:gs pos="100000">
                <a:srgbClr val="FFFFFF">
                  <a:alpha val="0"/>
                </a:srgbClr>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06" name="Google Shape;506;p13"/>
          <p:cNvSpPr/>
          <p:nvPr/>
        </p:nvSpPr>
        <p:spPr>
          <a:xfrm rot="-8093049">
            <a:off x="3228181" y="1572419"/>
            <a:ext cx="782638" cy="685800"/>
          </a:xfrm>
          <a:prstGeom prst="ellipse">
            <a:avLst/>
          </a:prstGeom>
          <a:gradFill>
            <a:gsLst>
              <a:gs pos="0">
                <a:schemeClr val="accent2"/>
              </a:gs>
              <a:gs pos="100000">
                <a:srgbClr val="FFFFFF"/>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07" name="Google Shape;507;p13"/>
          <p:cNvSpPr/>
          <p:nvPr/>
        </p:nvSpPr>
        <p:spPr>
          <a:xfrm>
            <a:off x="2667000" y="1143000"/>
            <a:ext cx="3092450" cy="2286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nvGrpSpPr>
          <p:cNvPr id="508" name="Google Shape;508;p13"/>
          <p:cNvGrpSpPr/>
          <p:nvPr/>
        </p:nvGrpSpPr>
        <p:grpSpPr>
          <a:xfrm>
            <a:off x="3352800" y="1447800"/>
            <a:ext cx="2209800" cy="1600200"/>
            <a:chOff x="2112" y="912"/>
            <a:chExt cx="1392" cy="1008"/>
          </a:xfrm>
        </p:grpSpPr>
        <p:grpSp>
          <p:nvGrpSpPr>
            <p:cNvPr id="509" name="Google Shape;509;p13"/>
            <p:cNvGrpSpPr/>
            <p:nvPr/>
          </p:nvGrpSpPr>
          <p:grpSpPr>
            <a:xfrm>
              <a:off x="2208" y="1536"/>
              <a:ext cx="864" cy="384"/>
              <a:chOff x="2208" y="1536"/>
              <a:chExt cx="864" cy="384"/>
            </a:xfrm>
          </p:grpSpPr>
          <p:sp>
            <p:nvSpPr>
              <p:cNvPr id="510" name="Google Shape;510;p13"/>
              <p:cNvSpPr/>
              <p:nvPr/>
            </p:nvSpPr>
            <p:spPr>
              <a:xfrm>
                <a:off x="2208" y="168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11" name="Google Shape;511;p13"/>
              <p:cNvSpPr/>
              <p:nvPr/>
            </p:nvSpPr>
            <p:spPr>
              <a:xfrm>
                <a:off x="2352" y="158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12" name="Google Shape;512;p13"/>
              <p:cNvSpPr/>
              <p:nvPr/>
            </p:nvSpPr>
            <p:spPr>
              <a:xfrm>
                <a:off x="2352" y="187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13" name="Google Shape;513;p13"/>
              <p:cNvSpPr/>
              <p:nvPr/>
            </p:nvSpPr>
            <p:spPr>
              <a:xfrm>
                <a:off x="2544" y="1536"/>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14" name="Google Shape;514;p13"/>
              <p:cNvSpPr/>
              <p:nvPr/>
            </p:nvSpPr>
            <p:spPr>
              <a:xfrm>
                <a:off x="2544" y="1728"/>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15" name="Google Shape;515;p13"/>
              <p:cNvSpPr/>
              <p:nvPr/>
            </p:nvSpPr>
            <p:spPr>
              <a:xfrm>
                <a:off x="2688" y="168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16" name="Google Shape;516;p13"/>
              <p:cNvSpPr/>
              <p:nvPr/>
            </p:nvSpPr>
            <p:spPr>
              <a:xfrm>
                <a:off x="2880" y="163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17" name="Google Shape;517;p13"/>
              <p:cNvSpPr/>
              <p:nvPr/>
            </p:nvSpPr>
            <p:spPr>
              <a:xfrm>
                <a:off x="3024" y="168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grpSp>
          <p:nvGrpSpPr>
            <p:cNvPr id="518" name="Google Shape;518;p13"/>
            <p:cNvGrpSpPr/>
            <p:nvPr/>
          </p:nvGrpSpPr>
          <p:grpSpPr>
            <a:xfrm>
              <a:off x="2784" y="912"/>
              <a:ext cx="720" cy="624"/>
              <a:chOff x="2784" y="912"/>
              <a:chExt cx="720" cy="624"/>
            </a:xfrm>
          </p:grpSpPr>
          <p:sp>
            <p:nvSpPr>
              <p:cNvPr id="519" name="Google Shape;519;p13"/>
              <p:cNvSpPr/>
              <p:nvPr/>
            </p:nvSpPr>
            <p:spPr>
              <a:xfrm>
                <a:off x="2784" y="139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0" name="Google Shape;520;p13"/>
              <p:cNvSpPr/>
              <p:nvPr/>
            </p:nvSpPr>
            <p:spPr>
              <a:xfrm>
                <a:off x="3024" y="1488"/>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1" name="Google Shape;521;p13"/>
              <p:cNvSpPr/>
              <p:nvPr/>
            </p:nvSpPr>
            <p:spPr>
              <a:xfrm>
                <a:off x="2976" y="134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2" name="Google Shape;522;p13"/>
              <p:cNvSpPr/>
              <p:nvPr/>
            </p:nvSpPr>
            <p:spPr>
              <a:xfrm>
                <a:off x="3120" y="115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3" name="Google Shape;523;p13"/>
              <p:cNvSpPr/>
              <p:nvPr/>
            </p:nvSpPr>
            <p:spPr>
              <a:xfrm>
                <a:off x="3456" y="91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grpSp>
          <p:nvGrpSpPr>
            <p:cNvPr id="524" name="Google Shape;524;p13"/>
            <p:cNvGrpSpPr/>
            <p:nvPr/>
          </p:nvGrpSpPr>
          <p:grpSpPr>
            <a:xfrm>
              <a:off x="2112" y="912"/>
              <a:ext cx="384" cy="480"/>
              <a:chOff x="2112" y="912"/>
              <a:chExt cx="384" cy="480"/>
            </a:xfrm>
          </p:grpSpPr>
          <p:sp>
            <p:nvSpPr>
              <p:cNvPr id="525" name="Google Shape;525;p13"/>
              <p:cNvSpPr/>
              <p:nvPr/>
            </p:nvSpPr>
            <p:spPr>
              <a:xfrm>
                <a:off x="2160" y="115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6" name="Google Shape;526;p13"/>
              <p:cNvSpPr/>
              <p:nvPr/>
            </p:nvSpPr>
            <p:spPr>
              <a:xfrm>
                <a:off x="2112" y="132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7" name="Google Shape;527;p13"/>
              <p:cNvSpPr/>
              <p:nvPr/>
            </p:nvSpPr>
            <p:spPr>
              <a:xfrm>
                <a:off x="2304" y="120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8" name="Google Shape;528;p13"/>
              <p:cNvSpPr/>
              <p:nvPr/>
            </p:nvSpPr>
            <p:spPr>
              <a:xfrm>
                <a:off x="2352" y="91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29" name="Google Shape;529;p13"/>
              <p:cNvSpPr/>
              <p:nvPr/>
            </p:nvSpPr>
            <p:spPr>
              <a:xfrm>
                <a:off x="2304" y="134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30" name="Google Shape;530;p13"/>
              <p:cNvSpPr/>
              <p:nvPr/>
            </p:nvSpPr>
            <p:spPr>
              <a:xfrm>
                <a:off x="2448" y="110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grpSp>
      <p:pic>
        <p:nvPicPr>
          <p:cNvPr id="531" name="Google Shape;531;p13"/>
          <p:cNvPicPr preferRelativeResize="0"/>
          <p:nvPr/>
        </p:nvPicPr>
        <p:blipFill rotWithShape="1">
          <a:blip r:embed="rId3">
            <a:alphaModFix/>
          </a:blip>
          <a:srcRect/>
          <a:stretch/>
        </p:blipFill>
        <p:spPr>
          <a:xfrm>
            <a:off x="3048000" y="5737225"/>
            <a:ext cx="2552700" cy="663575"/>
          </a:xfrm>
          <a:prstGeom prst="rect">
            <a:avLst/>
          </a:prstGeom>
          <a:noFill/>
          <a:ln>
            <a:noFill/>
          </a:ln>
        </p:spPr>
      </p:pic>
      <p:pic>
        <p:nvPicPr>
          <p:cNvPr id="532" name="Google Shape;532;p13"/>
          <p:cNvPicPr preferRelativeResize="0"/>
          <p:nvPr/>
        </p:nvPicPr>
        <p:blipFill rotWithShape="1">
          <a:blip r:embed="rId4">
            <a:alphaModFix/>
          </a:blip>
          <a:srcRect/>
          <a:stretch/>
        </p:blipFill>
        <p:spPr>
          <a:xfrm>
            <a:off x="5334000" y="5105400"/>
            <a:ext cx="319088" cy="238125"/>
          </a:xfrm>
          <a:prstGeom prst="rect">
            <a:avLst/>
          </a:prstGeom>
          <a:noFill/>
          <a:ln>
            <a:noFill/>
          </a:ln>
        </p:spPr>
      </p:pic>
      <p:pic>
        <p:nvPicPr>
          <p:cNvPr id="533" name="Google Shape;533;p13"/>
          <p:cNvPicPr preferRelativeResize="0"/>
          <p:nvPr/>
        </p:nvPicPr>
        <p:blipFill rotWithShape="1">
          <a:blip r:embed="rId5">
            <a:alphaModFix/>
          </a:blip>
          <a:srcRect/>
          <a:stretch/>
        </p:blipFill>
        <p:spPr>
          <a:xfrm>
            <a:off x="2354263" y="6543675"/>
            <a:ext cx="2979737" cy="238125"/>
          </a:xfrm>
          <a:prstGeom prst="rect">
            <a:avLst/>
          </a:prstGeom>
          <a:noFill/>
          <a:ln>
            <a:noFill/>
          </a:ln>
        </p:spPr>
      </p:pic>
      <p:pic>
        <p:nvPicPr>
          <p:cNvPr id="534" name="Google Shape;534;p13"/>
          <p:cNvPicPr preferRelativeResize="0"/>
          <p:nvPr/>
        </p:nvPicPr>
        <p:blipFill rotWithShape="1">
          <a:blip r:embed="rId6">
            <a:alphaModFix/>
          </a:blip>
          <a:srcRect/>
          <a:stretch/>
        </p:blipFill>
        <p:spPr>
          <a:xfrm>
            <a:off x="3962400" y="4381500"/>
            <a:ext cx="4165600" cy="5476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14"/>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Expectation maximization (EM)</a:t>
            </a:r>
            <a:endParaRPr/>
          </a:p>
        </p:txBody>
      </p:sp>
      <p:sp>
        <p:nvSpPr>
          <p:cNvPr id="540" name="Google Shape;540;p14"/>
          <p:cNvSpPr txBox="1">
            <a:spLocks noGrp="1"/>
          </p:cNvSpPr>
          <p:nvPr>
            <p:ph type="body" idx="1"/>
          </p:nvPr>
        </p:nvSpPr>
        <p:spPr>
          <a:xfrm>
            <a:off x="685800" y="3581400"/>
            <a:ext cx="8229600" cy="2590800"/>
          </a:xfrm>
          <a:prstGeom prst="rect">
            <a:avLst/>
          </a:prstGeom>
          <a:noFill/>
          <a:ln>
            <a:noFill/>
          </a:ln>
        </p:spPr>
        <p:txBody>
          <a:bodyPr spcFirstLastPara="1" wrap="square" lIns="91425" tIns="45700" rIns="91425" bIns="45700" anchor="t" anchorCtr="0">
            <a:noAutofit/>
          </a:bodyPr>
          <a:lstStyle/>
          <a:p>
            <a:pPr marL="457200" lvl="0" indent="-457200" algn="l" rtl="0">
              <a:spcBef>
                <a:spcPts val="0"/>
              </a:spcBef>
              <a:spcAft>
                <a:spcPts val="0"/>
              </a:spcAft>
              <a:buNone/>
            </a:pPr>
            <a:r>
              <a:rPr lang="en-US" sz="2000"/>
              <a:t>Goal</a:t>
            </a:r>
            <a:endParaRPr/>
          </a:p>
          <a:p>
            <a:pPr marL="838200" lvl="1" indent="-381000" algn="l" rtl="0">
              <a:spcBef>
                <a:spcPts val="360"/>
              </a:spcBef>
              <a:spcAft>
                <a:spcPts val="0"/>
              </a:spcAft>
              <a:buClr>
                <a:schemeClr val="dk1"/>
              </a:buClr>
              <a:buSzPts val="1800"/>
              <a:buFont typeface="Arial"/>
              <a:buChar char="•"/>
            </a:pPr>
            <a:r>
              <a:rPr lang="en-US" sz="1800"/>
              <a:t>find blob parameters θ that maximize the likelihood function:</a:t>
            </a:r>
            <a:endParaRPr/>
          </a:p>
          <a:p>
            <a:pPr marL="457200" lvl="0" indent="-457200" algn="l" rtl="0">
              <a:spcBef>
                <a:spcPts val="400"/>
              </a:spcBef>
              <a:spcAft>
                <a:spcPts val="0"/>
              </a:spcAft>
              <a:buNone/>
            </a:pPr>
            <a:endParaRPr sz="2000"/>
          </a:p>
          <a:p>
            <a:pPr marL="457200" lvl="0" indent="-457200" algn="l" rtl="0">
              <a:spcBef>
                <a:spcPts val="400"/>
              </a:spcBef>
              <a:spcAft>
                <a:spcPts val="0"/>
              </a:spcAft>
              <a:buNone/>
            </a:pPr>
            <a:r>
              <a:rPr lang="en-US" sz="2000"/>
              <a:t>Approach:</a:t>
            </a:r>
            <a:endParaRPr/>
          </a:p>
          <a:p>
            <a:pPr marL="838200" lvl="1" indent="-381000" algn="l" rtl="0">
              <a:spcBef>
                <a:spcPts val="360"/>
              </a:spcBef>
              <a:spcAft>
                <a:spcPts val="0"/>
              </a:spcAft>
              <a:buClr>
                <a:schemeClr val="dk1"/>
              </a:buClr>
              <a:buSzPts val="1800"/>
              <a:buFont typeface="Arial"/>
              <a:buAutoNum type="arabicPeriod"/>
            </a:pPr>
            <a:r>
              <a:rPr lang="en-US" sz="1800"/>
              <a:t>E step:  given current guess of blobs, compute ownership of each point</a:t>
            </a:r>
            <a:endParaRPr/>
          </a:p>
          <a:p>
            <a:pPr marL="838200" lvl="1" indent="-381000" algn="l" rtl="0">
              <a:spcBef>
                <a:spcPts val="360"/>
              </a:spcBef>
              <a:spcAft>
                <a:spcPts val="0"/>
              </a:spcAft>
              <a:buClr>
                <a:schemeClr val="dk1"/>
              </a:buClr>
              <a:buSzPts val="1800"/>
              <a:buFont typeface="Arial"/>
              <a:buAutoNum type="arabicPeriod"/>
            </a:pPr>
            <a:r>
              <a:rPr lang="en-US" sz="1800"/>
              <a:t>M step:  given ownership probabilities, update blobs to maximize likelihood function</a:t>
            </a:r>
            <a:endParaRPr/>
          </a:p>
          <a:p>
            <a:pPr marL="838200" lvl="1" indent="-381000" algn="l" rtl="0">
              <a:spcBef>
                <a:spcPts val="360"/>
              </a:spcBef>
              <a:spcAft>
                <a:spcPts val="0"/>
              </a:spcAft>
              <a:buClr>
                <a:schemeClr val="dk1"/>
              </a:buClr>
              <a:buSzPts val="1800"/>
              <a:buFont typeface="Arial"/>
              <a:buAutoNum type="arabicPeriod"/>
            </a:pPr>
            <a:r>
              <a:rPr lang="en-US" sz="1800"/>
              <a:t>repeat until convergence</a:t>
            </a:r>
            <a:endParaRPr/>
          </a:p>
          <a:p>
            <a:pPr marL="838200" lvl="1" indent="-381000" algn="l" rtl="0">
              <a:spcBef>
                <a:spcPts val="360"/>
              </a:spcBef>
              <a:spcAft>
                <a:spcPts val="0"/>
              </a:spcAft>
              <a:buClr>
                <a:schemeClr val="dk1"/>
              </a:buClr>
              <a:buSzPts val="1800"/>
              <a:buFont typeface="Arial"/>
              <a:buNone/>
            </a:pPr>
            <a:endParaRPr sz="1800"/>
          </a:p>
        </p:txBody>
      </p:sp>
      <p:sp>
        <p:nvSpPr>
          <p:cNvPr id="541" name="Google Shape;541;p14"/>
          <p:cNvSpPr/>
          <p:nvPr/>
        </p:nvSpPr>
        <p:spPr>
          <a:xfrm>
            <a:off x="3124200" y="2438400"/>
            <a:ext cx="1981200" cy="457200"/>
          </a:xfrm>
          <a:prstGeom prst="ellipse">
            <a:avLst/>
          </a:prstGeom>
          <a:gradFill>
            <a:gsLst>
              <a:gs pos="0">
                <a:srgbClr val="FF0000"/>
              </a:gs>
              <a:gs pos="100000">
                <a:srgbClr val="FFFFFF"/>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42" name="Google Shape;542;p14"/>
          <p:cNvSpPr/>
          <p:nvPr/>
        </p:nvSpPr>
        <p:spPr>
          <a:xfrm rot="-2693049">
            <a:off x="3778250" y="2057400"/>
            <a:ext cx="1981200" cy="381000"/>
          </a:xfrm>
          <a:prstGeom prst="ellipse">
            <a:avLst/>
          </a:prstGeom>
          <a:gradFill>
            <a:gsLst>
              <a:gs pos="0">
                <a:srgbClr val="000000"/>
              </a:gs>
              <a:gs pos="100000">
                <a:srgbClr val="FFFFFF">
                  <a:alpha val="0"/>
                </a:srgbClr>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43" name="Google Shape;543;p14"/>
          <p:cNvSpPr/>
          <p:nvPr/>
        </p:nvSpPr>
        <p:spPr>
          <a:xfrm rot="-8093049">
            <a:off x="3228181" y="1572419"/>
            <a:ext cx="782638" cy="685800"/>
          </a:xfrm>
          <a:prstGeom prst="ellipse">
            <a:avLst/>
          </a:prstGeom>
          <a:gradFill>
            <a:gsLst>
              <a:gs pos="0">
                <a:schemeClr val="accent2"/>
              </a:gs>
              <a:gs pos="100000">
                <a:srgbClr val="FFFFFF"/>
              </a:gs>
            </a:gsLst>
            <a:path path="circle">
              <a:fillToRect l="50000" t="50000" r="50000" b="50000"/>
            </a:path>
            <a:tileRect/>
          </a:gra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44" name="Google Shape;544;p14"/>
          <p:cNvSpPr/>
          <p:nvPr/>
        </p:nvSpPr>
        <p:spPr>
          <a:xfrm>
            <a:off x="2667000" y="1143000"/>
            <a:ext cx="3092450" cy="2286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nvGrpSpPr>
          <p:cNvPr id="545" name="Google Shape;545;p14"/>
          <p:cNvGrpSpPr/>
          <p:nvPr/>
        </p:nvGrpSpPr>
        <p:grpSpPr>
          <a:xfrm>
            <a:off x="3352800" y="1447800"/>
            <a:ext cx="2209800" cy="1600200"/>
            <a:chOff x="2112" y="912"/>
            <a:chExt cx="1392" cy="1008"/>
          </a:xfrm>
        </p:grpSpPr>
        <p:grpSp>
          <p:nvGrpSpPr>
            <p:cNvPr id="546" name="Google Shape;546;p14"/>
            <p:cNvGrpSpPr/>
            <p:nvPr/>
          </p:nvGrpSpPr>
          <p:grpSpPr>
            <a:xfrm>
              <a:off x="2208" y="1536"/>
              <a:ext cx="864" cy="384"/>
              <a:chOff x="2208" y="1536"/>
              <a:chExt cx="864" cy="384"/>
            </a:xfrm>
          </p:grpSpPr>
          <p:sp>
            <p:nvSpPr>
              <p:cNvPr id="547" name="Google Shape;547;p14"/>
              <p:cNvSpPr/>
              <p:nvPr/>
            </p:nvSpPr>
            <p:spPr>
              <a:xfrm>
                <a:off x="2208" y="168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48" name="Google Shape;548;p14"/>
              <p:cNvSpPr/>
              <p:nvPr/>
            </p:nvSpPr>
            <p:spPr>
              <a:xfrm>
                <a:off x="2352" y="158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49" name="Google Shape;549;p14"/>
              <p:cNvSpPr/>
              <p:nvPr/>
            </p:nvSpPr>
            <p:spPr>
              <a:xfrm>
                <a:off x="2352" y="187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0" name="Google Shape;550;p14"/>
              <p:cNvSpPr/>
              <p:nvPr/>
            </p:nvSpPr>
            <p:spPr>
              <a:xfrm>
                <a:off x="2544" y="1536"/>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1" name="Google Shape;551;p14"/>
              <p:cNvSpPr/>
              <p:nvPr/>
            </p:nvSpPr>
            <p:spPr>
              <a:xfrm>
                <a:off x="2544" y="1728"/>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2" name="Google Shape;552;p14"/>
              <p:cNvSpPr/>
              <p:nvPr/>
            </p:nvSpPr>
            <p:spPr>
              <a:xfrm>
                <a:off x="2688" y="168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3" name="Google Shape;553;p14"/>
              <p:cNvSpPr/>
              <p:nvPr/>
            </p:nvSpPr>
            <p:spPr>
              <a:xfrm>
                <a:off x="2880" y="163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4" name="Google Shape;554;p14"/>
              <p:cNvSpPr/>
              <p:nvPr/>
            </p:nvSpPr>
            <p:spPr>
              <a:xfrm>
                <a:off x="3024" y="168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grpSp>
          <p:nvGrpSpPr>
            <p:cNvPr id="555" name="Google Shape;555;p14"/>
            <p:cNvGrpSpPr/>
            <p:nvPr/>
          </p:nvGrpSpPr>
          <p:grpSpPr>
            <a:xfrm>
              <a:off x="2784" y="912"/>
              <a:ext cx="720" cy="624"/>
              <a:chOff x="2784" y="912"/>
              <a:chExt cx="720" cy="624"/>
            </a:xfrm>
          </p:grpSpPr>
          <p:sp>
            <p:nvSpPr>
              <p:cNvPr id="556" name="Google Shape;556;p14"/>
              <p:cNvSpPr/>
              <p:nvPr/>
            </p:nvSpPr>
            <p:spPr>
              <a:xfrm>
                <a:off x="2784" y="139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7" name="Google Shape;557;p14"/>
              <p:cNvSpPr/>
              <p:nvPr/>
            </p:nvSpPr>
            <p:spPr>
              <a:xfrm>
                <a:off x="3024" y="1488"/>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8" name="Google Shape;558;p14"/>
              <p:cNvSpPr/>
              <p:nvPr/>
            </p:nvSpPr>
            <p:spPr>
              <a:xfrm>
                <a:off x="2976" y="134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59" name="Google Shape;559;p14"/>
              <p:cNvSpPr/>
              <p:nvPr/>
            </p:nvSpPr>
            <p:spPr>
              <a:xfrm>
                <a:off x="3120" y="115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60" name="Google Shape;560;p14"/>
              <p:cNvSpPr/>
              <p:nvPr/>
            </p:nvSpPr>
            <p:spPr>
              <a:xfrm>
                <a:off x="3456" y="91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grpSp>
          <p:nvGrpSpPr>
            <p:cNvPr id="561" name="Google Shape;561;p14"/>
            <p:cNvGrpSpPr/>
            <p:nvPr/>
          </p:nvGrpSpPr>
          <p:grpSpPr>
            <a:xfrm>
              <a:off x="2112" y="912"/>
              <a:ext cx="384" cy="480"/>
              <a:chOff x="2112" y="912"/>
              <a:chExt cx="384" cy="480"/>
            </a:xfrm>
          </p:grpSpPr>
          <p:sp>
            <p:nvSpPr>
              <p:cNvPr id="562" name="Google Shape;562;p14"/>
              <p:cNvSpPr/>
              <p:nvPr/>
            </p:nvSpPr>
            <p:spPr>
              <a:xfrm>
                <a:off x="2160" y="115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63" name="Google Shape;563;p14"/>
              <p:cNvSpPr/>
              <p:nvPr/>
            </p:nvSpPr>
            <p:spPr>
              <a:xfrm>
                <a:off x="2112" y="132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64" name="Google Shape;564;p14"/>
              <p:cNvSpPr/>
              <p:nvPr/>
            </p:nvSpPr>
            <p:spPr>
              <a:xfrm>
                <a:off x="2304" y="1200"/>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65" name="Google Shape;565;p14"/>
              <p:cNvSpPr/>
              <p:nvPr/>
            </p:nvSpPr>
            <p:spPr>
              <a:xfrm>
                <a:off x="2352" y="912"/>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66" name="Google Shape;566;p14"/>
              <p:cNvSpPr/>
              <p:nvPr/>
            </p:nvSpPr>
            <p:spPr>
              <a:xfrm>
                <a:off x="2304" y="134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567" name="Google Shape;567;p14"/>
              <p:cNvSpPr/>
              <p:nvPr/>
            </p:nvSpPr>
            <p:spPr>
              <a:xfrm>
                <a:off x="2448" y="1104"/>
                <a:ext cx="48" cy="4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grpSp>
      </p:grpSp>
      <p:pic>
        <p:nvPicPr>
          <p:cNvPr id="568" name="Google Shape;568;p14"/>
          <p:cNvPicPr preferRelativeResize="0"/>
          <p:nvPr/>
        </p:nvPicPr>
        <p:blipFill rotWithShape="1">
          <a:blip r:embed="rId3">
            <a:alphaModFix/>
          </a:blip>
          <a:srcRect/>
          <a:stretch/>
        </p:blipFill>
        <p:spPr>
          <a:xfrm>
            <a:off x="2932113" y="4343400"/>
            <a:ext cx="2963862" cy="53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15"/>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E-step</a:t>
            </a:r>
            <a:endParaRPr/>
          </a:p>
          <a:p>
            <a:pPr marL="742950" lvl="1" indent="-285750" algn="l" rtl="0">
              <a:spcBef>
                <a:spcPts val="400"/>
              </a:spcBef>
              <a:spcAft>
                <a:spcPts val="0"/>
              </a:spcAft>
              <a:buClr>
                <a:schemeClr val="dk1"/>
              </a:buClr>
              <a:buSzPts val="1800"/>
              <a:buFont typeface="Arial"/>
              <a:buChar char="•"/>
            </a:pPr>
            <a:r>
              <a:rPr lang="en-US" sz="1800"/>
              <a:t>compute probability that point </a:t>
            </a:r>
            <a:r>
              <a:rPr lang="en-US" sz="1800" b="1"/>
              <a:t>x</a:t>
            </a:r>
            <a:r>
              <a:rPr lang="en-US" sz="1800"/>
              <a:t> is in blob i, given current guess of</a:t>
            </a:r>
            <a:r>
              <a:rPr lang="en-US"/>
              <a:t> </a:t>
            </a:r>
            <a:r>
              <a:rPr lang="en-US" b="1"/>
              <a:t>θ</a:t>
            </a:r>
            <a:r>
              <a:rPr lang="en-US" sz="1800"/>
              <a:t> </a:t>
            </a:r>
            <a:endParaRPr/>
          </a:p>
          <a:p>
            <a:pPr marL="1143000" lvl="2" indent="-114300" algn="l" rtl="0">
              <a:spcBef>
                <a:spcPts val="360"/>
              </a:spcBef>
              <a:spcAft>
                <a:spcPts val="0"/>
              </a:spcAft>
              <a:buClr>
                <a:schemeClr val="dk1"/>
              </a:buClr>
              <a:buSzPts val="1800"/>
              <a:buFont typeface="Arial"/>
              <a:buNone/>
            </a:pPr>
            <a:endParaRPr/>
          </a:p>
          <a:p>
            <a:pPr marL="342900" lvl="0" indent="-342900" algn="l" rtl="0">
              <a:spcBef>
                <a:spcPts val="480"/>
              </a:spcBef>
              <a:spcAft>
                <a:spcPts val="0"/>
              </a:spcAft>
              <a:buNone/>
            </a:pPr>
            <a:endParaRPr/>
          </a:p>
          <a:p>
            <a:pPr marL="342900" lvl="0" indent="-342900" algn="l" rtl="0">
              <a:spcBef>
                <a:spcPts val="480"/>
              </a:spcBef>
              <a:spcAft>
                <a:spcPts val="0"/>
              </a:spcAft>
              <a:buNone/>
            </a:pPr>
            <a:endParaRPr/>
          </a:p>
          <a:p>
            <a:pPr marL="342900" lvl="0" indent="-342900" algn="l" rtl="0">
              <a:spcBef>
                <a:spcPts val="480"/>
              </a:spcBef>
              <a:spcAft>
                <a:spcPts val="0"/>
              </a:spcAft>
              <a:buNone/>
            </a:pPr>
            <a:r>
              <a:rPr lang="en-US"/>
              <a:t>M-step</a:t>
            </a:r>
            <a:endParaRPr/>
          </a:p>
          <a:p>
            <a:pPr marL="742950" lvl="1" indent="-285750" algn="l" rtl="0">
              <a:spcBef>
                <a:spcPts val="400"/>
              </a:spcBef>
              <a:spcAft>
                <a:spcPts val="0"/>
              </a:spcAft>
              <a:buClr>
                <a:schemeClr val="dk1"/>
              </a:buClr>
              <a:buSzPts val="2000"/>
              <a:buFont typeface="Arial"/>
              <a:buChar char="•"/>
            </a:pPr>
            <a:r>
              <a:rPr lang="en-US"/>
              <a:t>compute probability that blob b is selected</a:t>
            </a:r>
            <a:endParaRPr/>
          </a:p>
          <a:p>
            <a:pPr marL="742950" lvl="1" indent="-158750" algn="l" rtl="0">
              <a:spcBef>
                <a:spcPts val="400"/>
              </a:spcBef>
              <a:spcAft>
                <a:spcPts val="0"/>
              </a:spcAft>
              <a:buClr>
                <a:schemeClr val="dk1"/>
              </a:buClr>
              <a:buSzPts val="2000"/>
              <a:buFont typeface="Arial"/>
              <a:buNone/>
            </a:pPr>
            <a:endParaRPr/>
          </a:p>
          <a:p>
            <a:pPr marL="742950" lvl="1" indent="-158750" algn="l" rtl="0">
              <a:spcBef>
                <a:spcPts val="400"/>
              </a:spcBef>
              <a:spcAft>
                <a:spcPts val="0"/>
              </a:spcAft>
              <a:buClr>
                <a:schemeClr val="dk1"/>
              </a:buClr>
              <a:buSzPts val="2000"/>
              <a:buFont typeface="Arial"/>
              <a:buNone/>
            </a:pPr>
            <a:endParaRPr/>
          </a:p>
          <a:p>
            <a:pPr marL="742950" lvl="1" indent="-285750" algn="l" rtl="0">
              <a:spcBef>
                <a:spcPts val="400"/>
              </a:spcBef>
              <a:spcAft>
                <a:spcPts val="0"/>
              </a:spcAft>
              <a:buClr>
                <a:schemeClr val="dk1"/>
              </a:buClr>
              <a:buSzPts val="2000"/>
              <a:buFont typeface="Arial"/>
              <a:buChar char="•"/>
            </a:pPr>
            <a:r>
              <a:rPr lang="en-US"/>
              <a:t>mean of blob b</a:t>
            </a:r>
            <a:endParaRPr/>
          </a:p>
          <a:p>
            <a:pPr marL="742950" lvl="1" indent="-158750" algn="l" rtl="0">
              <a:spcBef>
                <a:spcPts val="400"/>
              </a:spcBef>
              <a:spcAft>
                <a:spcPts val="0"/>
              </a:spcAft>
              <a:buClr>
                <a:schemeClr val="dk1"/>
              </a:buClr>
              <a:buSzPts val="2000"/>
              <a:buFont typeface="Arial"/>
              <a:buNone/>
            </a:pPr>
            <a:endParaRPr/>
          </a:p>
          <a:p>
            <a:pPr marL="742950" lvl="1" indent="-158750" algn="l" rtl="0">
              <a:spcBef>
                <a:spcPts val="400"/>
              </a:spcBef>
              <a:spcAft>
                <a:spcPts val="0"/>
              </a:spcAft>
              <a:buClr>
                <a:schemeClr val="dk1"/>
              </a:buClr>
              <a:buSzPts val="2000"/>
              <a:buFont typeface="Arial"/>
              <a:buNone/>
            </a:pPr>
            <a:endParaRPr/>
          </a:p>
          <a:p>
            <a:pPr marL="742950" lvl="1" indent="-285750" algn="l" rtl="0">
              <a:spcBef>
                <a:spcPts val="400"/>
              </a:spcBef>
              <a:spcAft>
                <a:spcPts val="0"/>
              </a:spcAft>
              <a:buClr>
                <a:schemeClr val="dk1"/>
              </a:buClr>
              <a:buSzPts val="2000"/>
              <a:buFont typeface="Arial"/>
              <a:buChar char="•"/>
            </a:pPr>
            <a:r>
              <a:rPr lang="en-US"/>
              <a:t>covariance of blob b</a:t>
            </a:r>
            <a:endParaRPr/>
          </a:p>
        </p:txBody>
      </p:sp>
      <p:sp>
        <p:nvSpPr>
          <p:cNvPr id="574" name="Google Shape;574;p1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EM details</a:t>
            </a:r>
            <a:endParaRPr/>
          </a:p>
        </p:txBody>
      </p:sp>
      <p:pic>
        <p:nvPicPr>
          <p:cNvPr id="575" name="Google Shape;575;p15"/>
          <p:cNvPicPr preferRelativeResize="0"/>
          <p:nvPr/>
        </p:nvPicPr>
        <p:blipFill rotWithShape="1">
          <a:blip r:embed="rId3">
            <a:alphaModFix/>
          </a:blip>
          <a:srcRect/>
          <a:stretch/>
        </p:blipFill>
        <p:spPr>
          <a:xfrm>
            <a:off x="2424113" y="1935163"/>
            <a:ext cx="3941762" cy="630237"/>
          </a:xfrm>
          <a:prstGeom prst="rect">
            <a:avLst/>
          </a:prstGeom>
          <a:noFill/>
          <a:ln>
            <a:noFill/>
          </a:ln>
        </p:spPr>
      </p:pic>
      <p:pic>
        <p:nvPicPr>
          <p:cNvPr id="576" name="Google Shape;576;p15"/>
          <p:cNvPicPr preferRelativeResize="0"/>
          <p:nvPr/>
        </p:nvPicPr>
        <p:blipFill rotWithShape="1">
          <a:blip r:embed="rId4">
            <a:alphaModFix/>
          </a:blip>
          <a:srcRect/>
          <a:stretch/>
        </p:blipFill>
        <p:spPr>
          <a:xfrm>
            <a:off x="2312988" y="3741738"/>
            <a:ext cx="3144837" cy="677862"/>
          </a:xfrm>
          <a:prstGeom prst="rect">
            <a:avLst/>
          </a:prstGeom>
          <a:noFill/>
          <a:ln>
            <a:noFill/>
          </a:ln>
        </p:spPr>
      </p:pic>
      <p:pic>
        <p:nvPicPr>
          <p:cNvPr id="577" name="Google Shape;577;p15"/>
          <p:cNvPicPr preferRelativeResize="0"/>
          <p:nvPr/>
        </p:nvPicPr>
        <p:blipFill rotWithShape="1">
          <a:blip r:embed="rId5">
            <a:alphaModFix/>
          </a:blip>
          <a:srcRect/>
          <a:stretch/>
        </p:blipFill>
        <p:spPr>
          <a:xfrm>
            <a:off x="2316163" y="4800600"/>
            <a:ext cx="3322637" cy="666750"/>
          </a:xfrm>
          <a:prstGeom prst="rect">
            <a:avLst/>
          </a:prstGeom>
          <a:noFill/>
          <a:ln>
            <a:noFill/>
          </a:ln>
        </p:spPr>
      </p:pic>
      <p:pic>
        <p:nvPicPr>
          <p:cNvPr id="578" name="Google Shape;578;p15"/>
          <p:cNvPicPr preferRelativeResize="0"/>
          <p:nvPr/>
        </p:nvPicPr>
        <p:blipFill rotWithShape="1">
          <a:blip r:embed="rId6">
            <a:alphaModFix/>
          </a:blip>
          <a:srcRect/>
          <a:stretch/>
        </p:blipFill>
        <p:spPr>
          <a:xfrm>
            <a:off x="2222500" y="5948363"/>
            <a:ext cx="5897563" cy="671512"/>
          </a:xfrm>
          <a:prstGeom prst="rect">
            <a:avLst/>
          </a:prstGeom>
          <a:noFill/>
          <a:ln>
            <a:noFill/>
          </a:ln>
        </p:spPr>
      </p:pic>
      <p:sp>
        <p:nvSpPr>
          <p:cNvPr id="579" name="Google Shape;579;p15"/>
          <p:cNvSpPr txBox="1"/>
          <p:nvPr/>
        </p:nvSpPr>
        <p:spPr>
          <a:xfrm>
            <a:off x="6016625" y="3897313"/>
            <a:ext cx="1679575"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chemeClr val="dk1"/>
                </a:solidFill>
                <a:latin typeface="Arial"/>
                <a:ea typeface="Arial"/>
                <a:cs typeface="Arial"/>
                <a:sym typeface="Arial"/>
              </a:rPr>
              <a:t>N data points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1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EM demos</a:t>
            </a:r>
            <a:endParaRPr/>
          </a:p>
        </p:txBody>
      </p:sp>
      <p:sp>
        <p:nvSpPr>
          <p:cNvPr id="585" name="Google Shape;585;p16"/>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endParaRPr sz="2000"/>
          </a:p>
          <a:p>
            <a:pPr marL="342900" lvl="0" indent="-342900" algn="l" rtl="0">
              <a:spcBef>
                <a:spcPts val="400"/>
              </a:spcBef>
              <a:spcAft>
                <a:spcPts val="0"/>
              </a:spcAft>
              <a:buNone/>
            </a:pPr>
            <a:endParaRPr sz="2000"/>
          </a:p>
          <a:p>
            <a:pPr marL="342900" lvl="0" indent="-342900" algn="l" rtl="0">
              <a:spcBef>
                <a:spcPts val="400"/>
              </a:spcBef>
              <a:spcAft>
                <a:spcPts val="0"/>
              </a:spcAft>
              <a:buNone/>
            </a:pPr>
            <a:endParaRPr sz="2000"/>
          </a:p>
          <a:p>
            <a:pPr marL="342900" lvl="0" indent="-342900" algn="l" rtl="0">
              <a:spcBef>
                <a:spcPts val="400"/>
              </a:spcBef>
              <a:spcAft>
                <a:spcPts val="0"/>
              </a:spcAft>
              <a:buNone/>
            </a:pPr>
            <a:endParaRPr sz="2000"/>
          </a:p>
          <a:p>
            <a:pPr marL="342900" lvl="0" indent="-342900" algn="l" rtl="0">
              <a:spcBef>
                <a:spcPts val="400"/>
              </a:spcBef>
              <a:spcAft>
                <a:spcPts val="0"/>
              </a:spcAft>
              <a:buNone/>
            </a:pPr>
            <a:r>
              <a:rPr lang="en-US" sz="2000"/>
              <a:t>https://github.com/annoviko/pyclustering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1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Applications of EM</a:t>
            </a:r>
            <a:endParaRPr/>
          </a:p>
        </p:txBody>
      </p:sp>
      <p:sp>
        <p:nvSpPr>
          <p:cNvPr id="591" name="Google Shape;591;p17"/>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Turns out this is useful for all sorts of problems</a:t>
            </a:r>
            <a:endParaRPr/>
          </a:p>
          <a:p>
            <a:pPr marL="742950" lvl="1" indent="-285750" algn="l" rtl="0">
              <a:spcBef>
                <a:spcPts val="400"/>
              </a:spcBef>
              <a:spcAft>
                <a:spcPts val="0"/>
              </a:spcAft>
              <a:buClr>
                <a:schemeClr val="dk1"/>
              </a:buClr>
              <a:buSzPts val="2000"/>
              <a:buFont typeface="Arial"/>
              <a:buChar char="•"/>
            </a:pPr>
            <a:r>
              <a:rPr lang="en-US"/>
              <a:t>any clustering problem</a:t>
            </a:r>
            <a:endParaRPr/>
          </a:p>
          <a:p>
            <a:pPr marL="742950" lvl="1" indent="-285750" algn="l" rtl="0">
              <a:spcBef>
                <a:spcPts val="400"/>
              </a:spcBef>
              <a:spcAft>
                <a:spcPts val="0"/>
              </a:spcAft>
              <a:buClr>
                <a:schemeClr val="dk1"/>
              </a:buClr>
              <a:buSzPts val="2000"/>
              <a:buFont typeface="Arial"/>
              <a:buChar char="•"/>
            </a:pPr>
            <a:r>
              <a:rPr lang="en-US"/>
              <a:t>any model estimation problem</a:t>
            </a:r>
            <a:endParaRPr/>
          </a:p>
          <a:p>
            <a:pPr marL="742950" lvl="1" indent="-285750" algn="l" rtl="0">
              <a:spcBef>
                <a:spcPts val="400"/>
              </a:spcBef>
              <a:spcAft>
                <a:spcPts val="0"/>
              </a:spcAft>
              <a:buClr>
                <a:schemeClr val="dk1"/>
              </a:buClr>
              <a:buSzPts val="2000"/>
              <a:buFont typeface="Arial"/>
              <a:buChar char="•"/>
            </a:pPr>
            <a:r>
              <a:rPr lang="en-US"/>
              <a:t>missing data problems</a:t>
            </a:r>
            <a:endParaRPr/>
          </a:p>
          <a:p>
            <a:pPr marL="742950" lvl="1" indent="-285750" algn="l" rtl="0">
              <a:spcBef>
                <a:spcPts val="400"/>
              </a:spcBef>
              <a:spcAft>
                <a:spcPts val="0"/>
              </a:spcAft>
              <a:buClr>
                <a:schemeClr val="dk1"/>
              </a:buClr>
              <a:buSzPts val="2000"/>
              <a:buFont typeface="Arial"/>
              <a:buChar char="•"/>
            </a:pPr>
            <a:r>
              <a:rPr lang="en-US"/>
              <a:t>finding outliers</a:t>
            </a:r>
            <a:endParaRPr/>
          </a:p>
          <a:p>
            <a:pPr marL="742950" lvl="1" indent="-285750" algn="l" rtl="0">
              <a:spcBef>
                <a:spcPts val="400"/>
              </a:spcBef>
              <a:spcAft>
                <a:spcPts val="0"/>
              </a:spcAft>
              <a:buClr>
                <a:schemeClr val="dk1"/>
              </a:buClr>
              <a:buSzPts val="2000"/>
              <a:buFont typeface="Arial"/>
              <a:buChar char="•"/>
            </a:pPr>
            <a:r>
              <a:rPr lang="en-US"/>
              <a:t>segmentation problems</a:t>
            </a:r>
            <a:endParaRPr/>
          </a:p>
          <a:p>
            <a:pPr marL="1143000" lvl="2" indent="-228600" algn="l" rtl="0">
              <a:spcBef>
                <a:spcPts val="360"/>
              </a:spcBef>
              <a:spcAft>
                <a:spcPts val="0"/>
              </a:spcAft>
              <a:buClr>
                <a:schemeClr val="dk1"/>
              </a:buClr>
              <a:buSzPts val="1800"/>
              <a:buFont typeface="Arial"/>
              <a:buChar char="–"/>
            </a:pPr>
            <a:r>
              <a:rPr lang="en-US"/>
              <a:t>segmentation based on color</a:t>
            </a:r>
            <a:endParaRPr/>
          </a:p>
          <a:p>
            <a:pPr marL="1143000" lvl="2" indent="-228600" algn="l" rtl="0">
              <a:spcBef>
                <a:spcPts val="360"/>
              </a:spcBef>
              <a:spcAft>
                <a:spcPts val="0"/>
              </a:spcAft>
              <a:buClr>
                <a:schemeClr val="dk1"/>
              </a:buClr>
              <a:buSzPts val="1800"/>
              <a:buFont typeface="Arial"/>
              <a:buChar char="–"/>
            </a:pPr>
            <a:r>
              <a:rPr lang="en-US"/>
              <a:t>segmentation based on motion</a:t>
            </a:r>
            <a:endParaRPr/>
          </a:p>
          <a:p>
            <a:pPr marL="1143000" lvl="2" indent="-228600" algn="l" rtl="0">
              <a:spcBef>
                <a:spcPts val="360"/>
              </a:spcBef>
              <a:spcAft>
                <a:spcPts val="0"/>
              </a:spcAft>
              <a:buClr>
                <a:schemeClr val="dk1"/>
              </a:buClr>
              <a:buSzPts val="1800"/>
              <a:buFont typeface="Arial"/>
              <a:buChar char="–"/>
            </a:pPr>
            <a:r>
              <a:rPr lang="en-US"/>
              <a:t>foreground/background separation</a:t>
            </a:r>
            <a:endParaRPr/>
          </a:p>
          <a:p>
            <a:pPr marL="742950" lvl="1" indent="-285750" algn="l" rtl="0">
              <a:spcBef>
                <a:spcPts val="400"/>
              </a:spcBef>
              <a:spcAft>
                <a:spcPts val="0"/>
              </a:spcAft>
              <a:buClr>
                <a:schemeClr val="dk1"/>
              </a:buClr>
              <a:buSzPts val="2000"/>
              <a:buFont typeface="Arial"/>
              <a:buChar char="•"/>
            </a:pPr>
            <a:r>
              <a:rPr lang="en-US"/>
              <a:t>...</a:t>
            </a:r>
            <a:endParaRPr/>
          </a:p>
          <a:p>
            <a:pPr marL="1143000" lvl="2" indent="-114300" algn="l" rtl="0">
              <a:spcBef>
                <a:spcPts val="360"/>
              </a:spcBef>
              <a:spcAft>
                <a:spcPts val="0"/>
              </a:spcAft>
              <a:buClr>
                <a:schemeClr val="dk1"/>
              </a:buClr>
              <a:buSzPts val="1800"/>
              <a:buFont typeface="Arial"/>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1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Problems with EM</a:t>
            </a:r>
            <a:endParaRPr/>
          </a:p>
        </p:txBody>
      </p:sp>
      <p:sp>
        <p:nvSpPr>
          <p:cNvPr id="597" name="Google Shape;597;p18"/>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Local minima</a:t>
            </a:r>
            <a:endParaRPr/>
          </a:p>
          <a:p>
            <a:pPr marL="342900" lvl="0" indent="-342900" algn="l" rtl="0">
              <a:spcBef>
                <a:spcPts val="480"/>
              </a:spcBef>
              <a:spcAft>
                <a:spcPts val="0"/>
              </a:spcAft>
              <a:buNone/>
            </a:pPr>
            <a:endParaRPr/>
          </a:p>
          <a:p>
            <a:pPr marL="342900" lvl="0" indent="-342900" algn="l" rtl="0">
              <a:spcBef>
                <a:spcPts val="480"/>
              </a:spcBef>
              <a:spcAft>
                <a:spcPts val="0"/>
              </a:spcAft>
              <a:buNone/>
            </a:pPr>
            <a:endParaRPr/>
          </a:p>
          <a:p>
            <a:pPr marL="342900" lvl="0" indent="-342900" algn="l" rtl="0">
              <a:spcBef>
                <a:spcPts val="480"/>
              </a:spcBef>
              <a:spcAft>
                <a:spcPts val="0"/>
              </a:spcAft>
              <a:buNone/>
            </a:pPr>
            <a:r>
              <a:rPr lang="en-US"/>
              <a:t>Need to know number of segments</a:t>
            </a:r>
            <a:endParaRPr/>
          </a:p>
          <a:p>
            <a:pPr marL="342900" lvl="0" indent="-342900" algn="l" rtl="0">
              <a:spcBef>
                <a:spcPts val="480"/>
              </a:spcBef>
              <a:spcAft>
                <a:spcPts val="0"/>
              </a:spcAft>
              <a:buNone/>
            </a:pPr>
            <a:endParaRPr/>
          </a:p>
          <a:p>
            <a:pPr marL="342900" lvl="0" indent="-342900" algn="l" rtl="0">
              <a:spcBef>
                <a:spcPts val="480"/>
              </a:spcBef>
              <a:spcAft>
                <a:spcPts val="0"/>
              </a:spcAft>
              <a:buNone/>
            </a:pPr>
            <a:endParaRPr/>
          </a:p>
          <a:p>
            <a:pPr marL="342900" lvl="0" indent="-342900" algn="l" rtl="0">
              <a:spcBef>
                <a:spcPts val="480"/>
              </a:spcBef>
              <a:spcAft>
                <a:spcPts val="0"/>
              </a:spcAft>
              <a:buNone/>
            </a:pPr>
            <a:r>
              <a:rPr lang="en-US"/>
              <a:t>Need to choose generative model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1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Mean-shift for image segmentation</a:t>
            </a:r>
            <a:endParaRPr/>
          </a:p>
        </p:txBody>
      </p:sp>
      <p:sp>
        <p:nvSpPr>
          <p:cNvPr id="603" name="Google Shape;603;p19"/>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Useful to take into account spatial information</a:t>
            </a:r>
            <a:endParaRPr/>
          </a:p>
          <a:p>
            <a:pPr marL="742950" lvl="1" indent="-285750" algn="l" rtl="0">
              <a:spcBef>
                <a:spcPts val="400"/>
              </a:spcBef>
              <a:spcAft>
                <a:spcPts val="0"/>
              </a:spcAft>
              <a:buClr>
                <a:schemeClr val="dk1"/>
              </a:buClr>
              <a:buSzPts val="2000"/>
              <a:buFont typeface="Arial"/>
              <a:buChar char="•"/>
            </a:pPr>
            <a:r>
              <a:rPr lang="en-US"/>
              <a:t>instead of (R, G, B), run in (R, G, B, x, y) space</a:t>
            </a:r>
            <a:endParaRPr/>
          </a:p>
          <a:p>
            <a:pPr marL="742950" lvl="1" indent="-285750" algn="l" rtl="0">
              <a:spcBef>
                <a:spcPts val="320"/>
              </a:spcBef>
              <a:spcAft>
                <a:spcPts val="0"/>
              </a:spcAft>
              <a:buClr>
                <a:schemeClr val="dk1"/>
              </a:buClr>
              <a:buSzPts val="1600"/>
              <a:buFont typeface="Arial"/>
              <a:buChar char="•"/>
            </a:pPr>
            <a:r>
              <a:rPr lang="en-US" sz="1600"/>
              <a:t>D. Comaniciu, P. Meer, Mean shift analysis and applications, </a:t>
            </a:r>
            <a:r>
              <a:rPr lang="en-US" sz="1600" i="1"/>
              <a:t>7th International Conference on Computer Vision</a:t>
            </a:r>
            <a:r>
              <a:rPr lang="en-US" sz="1600"/>
              <a:t>, Kerkyra, Greece, September 1999, 1197-1203.</a:t>
            </a:r>
            <a:endParaRPr/>
          </a:p>
          <a:p>
            <a:pPr marL="1143000" lvl="2" indent="-228600" algn="l" rtl="0">
              <a:spcBef>
                <a:spcPts val="280"/>
              </a:spcBef>
              <a:spcAft>
                <a:spcPts val="0"/>
              </a:spcAft>
              <a:buClr>
                <a:schemeClr val="dk1"/>
              </a:buClr>
              <a:buSzPts val="1400"/>
              <a:buFont typeface="Arial"/>
              <a:buChar char="–"/>
            </a:pPr>
            <a:r>
              <a:rPr lang="en-US" sz="1400" u="sng">
                <a:solidFill>
                  <a:schemeClr val="hlink"/>
                </a:solidFill>
                <a:hlinkClick r:id="rId3"/>
              </a:rPr>
              <a:t>http://www.caip.rutgers.edu/riul/research/papers/pdf/spatmsft.pdf</a:t>
            </a:r>
            <a:r>
              <a:rPr lang="en-US" sz="1400"/>
              <a:t> </a:t>
            </a:r>
            <a:endParaRPr/>
          </a:p>
        </p:txBody>
      </p:sp>
      <p:graphicFrame>
        <p:nvGraphicFramePr>
          <p:cNvPr id="604" name="Google Shape;604;p19"/>
          <p:cNvGraphicFramePr/>
          <p:nvPr/>
        </p:nvGraphicFramePr>
        <p:xfrm>
          <a:off x="0" y="3144838"/>
          <a:ext cx="3200400" cy="2798762"/>
        </p:xfrm>
        <a:graphic>
          <a:graphicData uri="http://schemas.openxmlformats.org/presentationml/2006/ole">
            <mc:AlternateContent xmlns:mc="http://schemas.openxmlformats.org/markup-compatibility/2006">
              <mc:Choice xmlns:v="urn:schemas-microsoft-com:vml" Requires="v">
                <p:oleObj r:id="rId4" imgW="3200400" imgH="2798762" progId="MSPhotoEd.3">
                  <p:embed/>
                </p:oleObj>
              </mc:Choice>
              <mc:Fallback>
                <p:oleObj r:id="rId4" imgW="3200400" imgH="2798762" progId="MSPhotoEd.3">
                  <p:embed/>
                  <p:pic>
                    <p:nvPicPr>
                      <p:cNvPr id="604" name="Google Shape;604;p19"/>
                      <p:cNvPicPr preferRelativeResize="0"/>
                      <p:nvPr/>
                    </p:nvPicPr>
                    <p:blipFill rotWithShape="1">
                      <a:blip r:embed="rId5">
                        <a:alphaModFix/>
                      </a:blip>
                      <a:srcRect/>
                      <a:stretch/>
                    </p:blipFill>
                    <p:spPr>
                      <a:xfrm>
                        <a:off x="0" y="3144838"/>
                        <a:ext cx="3200400" cy="2798762"/>
                      </a:xfrm>
                      <a:prstGeom prst="rect">
                        <a:avLst/>
                      </a:prstGeom>
                      <a:noFill/>
                      <a:ln>
                        <a:noFill/>
                      </a:ln>
                    </p:spPr>
                  </p:pic>
                </p:oleObj>
              </mc:Fallback>
            </mc:AlternateContent>
          </a:graphicData>
        </a:graphic>
      </p:graphicFrame>
      <p:graphicFrame>
        <p:nvGraphicFramePr>
          <p:cNvPr id="605" name="Google Shape;605;p19"/>
          <p:cNvGraphicFramePr/>
          <p:nvPr/>
        </p:nvGraphicFramePr>
        <p:xfrm>
          <a:off x="3097213" y="3276600"/>
          <a:ext cx="6046787" cy="2224088"/>
        </p:xfrm>
        <a:graphic>
          <a:graphicData uri="http://schemas.openxmlformats.org/presentationml/2006/ole">
            <mc:AlternateContent xmlns:mc="http://schemas.openxmlformats.org/markup-compatibility/2006">
              <mc:Choice xmlns:v="urn:schemas-microsoft-com:vml" Requires="v">
                <p:oleObj r:id="rId6" imgW="6046787" imgH="2224088" progId="MSPhotoEd.3">
                  <p:embed/>
                </p:oleObj>
              </mc:Choice>
              <mc:Fallback>
                <p:oleObj r:id="rId6" imgW="6046787" imgH="2224088" progId="MSPhotoEd.3">
                  <p:embed/>
                  <p:pic>
                    <p:nvPicPr>
                      <p:cNvPr id="605" name="Google Shape;605;p19"/>
                      <p:cNvPicPr preferRelativeResize="0"/>
                      <p:nvPr/>
                    </p:nvPicPr>
                    <p:blipFill rotWithShape="1">
                      <a:blip r:embed="rId7">
                        <a:alphaModFix/>
                      </a:blip>
                      <a:srcRect/>
                      <a:stretch/>
                    </p:blipFill>
                    <p:spPr>
                      <a:xfrm>
                        <a:off x="3097213" y="3276600"/>
                        <a:ext cx="6046787" cy="2224088"/>
                      </a:xfrm>
                      <a:prstGeom prst="rect">
                        <a:avLst/>
                      </a:prstGeom>
                      <a:noFill/>
                      <a:ln>
                        <a:noFill/>
                      </a:ln>
                    </p:spPr>
                  </p:pic>
                </p:oleObj>
              </mc:Fallback>
            </mc:AlternateContent>
          </a:graphicData>
        </a:graphic>
      </p:graphicFrame>
      <p:sp>
        <p:nvSpPr>
          <p:cNvPr id="606" name="Google Shape;606;p19"/>
          <p:cNvSpPr/>
          <p:nvPr/>
        </p:nvSpPr>
        <p:spPr>
          <a:xfrm>
            <a:off x="0" y="5500688"/>
            <a:ext cx="3302000" cy="533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p:txBody>
      </p:sp>
      <p:sp>
        <p:nvSpPr>
          <p:cNvPr id="607" name="Google Shape;607;p19"/>
          <p:cNvSpPr txBox="1"/>
          <p:nvPr/>
        </p:nvSpPr>
        <p:spPr>
          <a:xfrm>
            <a:off x="990600" y="5789613"/>
            <a:ext cx="714216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Arial"/>
                <a:ea typeface="Arial"/>
                <a:cs typeface="Arial"/>
                <a:sym typeface="Arial"/>
              </a:rPr>
              <a:t>More Examples:  </a:t>
            </a:r>
            <a:r>
              <a:rPr lang="en-US" sz="1400" b="0" i="0" u="sng" strike="noStrike" cap="none">
                <a:solidFill>
                  <a:schemeClr val="dk1"/>
                </a:solidFill>
                <a:latin typeface="Arial"/>
                <a:ea typeface="Arial"/>
                <a:cs typeface="Arial"/>
                <a:sym typeface="Arial"/>
                <a:hlinkClick r:id="rId8">
                  <a:extLst>
                    <a:ext uri="{A12FA001-AC4F-418D-AE19-62706E023703}">
                      <ahyp:hlinkClr xmlns:ahyp="http://schemas.microsoft.com/office/drawing/2018/hyperlinkcolor" val="tx"/>
                    </a:ext>
                  </a:extLst>
                </a:hlinkClick>
              </a:rPr>
              <a:t>http://www.caip.rutgers.edu/~comanici/segm_images.html</a:t>
            </a:r>
            <a:r>
              <a:rPr lang="en-US" sz="1400" b="0" i="0" u="none" strike="noStrike" cap="none">
                <a:solidFill>
                  <a:schemeClr val="dk1"/>
                </a:solidFill>
                <a:latin typeface="Arial"/>
                <a:ea typeface="Arial"/>
                <a:cs typeface="Arial"/>
                <a:sym typeface="Arial"/>
              </a:rP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pic>
        <p:nvPicPr>
          <p:cNvPr id="613" name="Google Shape;613;p20" descr="SegmentationExample3"/>
          <p:cNvPicPr preferRelativeResize="0"/>
          <p:nvPr/>
        </p:nvPicPr>
        <p:blipFill rotWithShape="1">
          <a:blip r:embed="rId3">
            <a:alphaModFix/>
          </a:blip>
          <a:srcRect/>
          <a:stretch/>
        </p:blipFill>
        <p:spPr>
          <a:xfrm>
            <a:off x="752475" y="3290888"/>
            <a:ext cx="7705725" cy="3033712"/>
          </a:xfrm>
          <a:prstGeom prst="rect">
            <a:avLst/>
          </a:prstGeom>
          <a:noFill/>
          <a:ln>
            <a:noFill/>
          </a:ln>
        </p:spPr>
      </p:pic>
      <p:sp>
        <p:nvSpPr>
          <p:cNvPr id="614" name="Google Shape;614;p20"/>
          <p:cNvSpPr txBox="1">
            <a:spLocks noGrp="1"/>
          </p:cNvSpPr>
          <p:nvPr>
            <p:ph type="body" idx="1"/>
          </p:nvPr>
        </p:nvSpPr>
        <p:spPr>
          <a:xfrm>
            <a:off x="685800" y="14478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Versatile technique for clustering-based segmentation</a:t>
            </a:r>
            <a:endParaRPr/>
          </a:p>
        </p:txBody>
      </p:sp>
      <p:sp>
        <p:nvSpPr>
          <p:cNvPr id="615" name="Google Shape;615;p20"/>
          <p:cNvSpPr/>
          <p:nvPr/>
        </p:nvSpPr>
        <p:spPr>
          <a:xfrm>
            <a:off x="838200" y="990600"/>
            <a:ext cx="8763000" cy="274638"/>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200" b="0" i="0" u="none" strike="noStrike" cap="none">
                <a:solidFill>
                  <a:srgbClr val="000000"/>
                </a:solidFill>
                <a:latin typeface="Arial"/>
                <a:ea typeface="Arial"/>
                <a:cs typeface="Arial"/>
                <a:sym typeface="Arial"/>
              </a:rPr>
              <a:t>D. Comaniciu and P. Meer, Mean Shift: A Robust Approach toward Feature Space Analysis, PAMI 2002. </a:t>
            </a:r>
            <a:endParaRPr/>
          </a:p>
        </p:txBody>
      </p:sp>
      <p:sp>
        <p:nvSpPr>
          <p:cNvPr id="616" name="Google Shape;616;p20"/>
          <p:cNvSpPr txBox="1">
            <a:spLocks noGrp="1"/>
          </p:cNvSpPr>
          <p:nvPr>
            <p:ph type="title"/>
          </p:nvPr>
        </p:nvSpPr>
        <p:spPr>
          <a:xfrm>
            <a:off x="685800" y="-762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 segmentation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pic>
        <p:nvPicPr>
          <p:cNvPr id="622" name="Google Shape;622;p21"/>
          <p:cNvPicPr preferRelativeResize="0"/>
          <p:nvPr/>
        </p:nvPicPr>
        <p:blipFill rotWithShape="1">
          <a:blip r:embed="rId3">
            <a:alphaModFix/>
          </a:blip>
          <a:srcRect l="49138"/>
          <a:stretch/>
        </p:blipFill>
        <p:spPr>
          <a:xfrm>
            <a:off x="0" y="4076700"/>
            <a:ext cx="3943350" cy="2781300"/>
          </a:xfrm>
          <a:prstGeom prst="rect">
            <a:avLst/>
          </a:prstGeom>
          <a:noFill/>
          <a:ln>
            <a:noFill/>
          </a:ln>
        </p:spPr>
      </p:pic>
      <p:sp>
        <p:nvSpPr>
          <p:cNvPr id="623" name="Google Shape;623;p21"/>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 algorithm</a:t>
            </a:r>
            <a:endParaRPr/>
          </a:p>
        </p:txBody>
      </p:sp>
      <p:sp>
        <p:nvSpPr>
          <p:cNvPr id="624" name="Google Shape;624;p21"/>
          <p:cNvSpPr txBox="1">
            <a:spLocks noGrp="1"/>
          </p:cNvSpPr>
          <p:nvPr>
            <p:ph type="body" idx="1"/>
          </p:nvPr>
        </p:nvSpPr>
        <p:spPr>
          <a:xfrm>
            <a:off x="760500" y="914400"/>
            <a:ext cx="7772400" cy="5257800"/>
          </a:xfrm>
          <a:prstGeom prst="rect">
            <a:avLst/>
          </a:prstGeom>
          <a:noFill/>
          <a:ln>
            <a:noFill/>
          </a:ln>
        </p:spPr>
        <p:txBody>
          <a:bodyPr spcFirstLastPara="1" wrap="square" lIns="91425" tIns="45700" rIns="91425" bIns="45700" anchor="t" anchorCtr="0">
            <a:noAutofit/>
          </a:bodyPr>
          <a:lstStyle/>
          <a:p>
            <a:pPr marL="533400" lvl="0" indent="-533400" algn="l" rtl="0">
              <a:spcBef>
                <a:spcPts val="0"/>
              </a:spcBef>
              <a:spcAft>
                <a:spcPts val="0"/>
              </a:spcAft>
              <a:buNone/>
            </a:pPr>
            <a:r>
              <a:rPr lang="en-US"/>
              <a:t>Try to find </a:t>
            </a:r>
            <a:r>
              <a:rPr lang="en-US" i="1"/>
              <a:t>modes</a:t>
            </a:r>
            <a:r>
              <a:rPr lang="en-US"/>
              <a:t> of this non-parametric density</a:t>
            </a:r>
            <a:endParaRPr/>
          </a:p>
        </p:txBody>
      </p:sp>
      <p:pic>
        <p:nvPicPr>
          <p:cNvPr id="625" name="Google Shape;625;p21"/>
          <p:cNvPicPr preferRelativeResize="0"/>
          <p:nvPr/>
        </p:nvPicPr>
        <p:blipFill rotWithShape="1">
          <a:blip r:embed="rId3">
            <a:alphaModFix/>
          </a:blip>
          <a:srcRect l="2948" t="5479" r="51843" b="6849"/>
          <a:stretch/>
        </p:blipFill>
        <p:spPr>
          <a:xfrm>
            <a:off x="331325" y="1506425"/>
            <a:ext cx="3505200" cy="2438400"/>
          </a:xfrm>
          <a:prstGeom prst="rect">
            <a:avLst/>
          </a:prstGeom>
          <a:noFill/>
          <a:ln>
            <a:noFill/>
          </a:ln>
        </p:spPr>
      </p:pic>
      <p:sp>
        <p:nvSpPr>
          <p:cNvPr id="626" name="Google Shape;626;p21"/>
          <p:cNvSpPr/>
          <p:nvPr/>
        </p:nvSpPr>
        <p:spPr>
          <a:xfrm>
            <a:off x="3962400" y="4191000"/>
            <a:ext cx="685800" cy="381000"/>
          </a:xfrm>
          <a:prstGeom prst="rightArrow">
            <a:avLst>
              <a:gd name="adj1" fmla="val 50000"/>
              <a:gd name="adj2" fmla="val 50000"/>
            </a:avLst>
          </a:prstGeom>
          <a:solidFill>
            <a:schemeClr val="accent1"/>
          </a:solidFill>
          <a:ln w="12700" cap="flat" cmpd="sng">
            <a:solidFill>
              <a:srgbClr val="00946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FFFFFF"/>
              </a:solidFill>
              <a:latin typeface="Times New Roman"/>
              <a:ea typeface="Times New Roman"/>
              <a:cs typeface="Times New Roman"/>
              <a:sym typeface="Times New Roman"/>
            </a:endParaRPr>
          </a:p>
        </p:txBody>
      </p:sp>
      <p:pic>
        <p:nvPicPr>
          <p:cNvPr id="627" name="Google Shape;627;p21"/>
          <p:cNvPicPr preferRelativeResize="0"/>
          <p:nvPr/>
        </p:nvPicPr>
        <p:blipFill rotWithShape="1">
          <a:blip r:embed="rId4">
            <a:alphaModFix/>
          </a:blip>
          <a:srcRect/>
          <a:stretch/>
        </p:blipFill>
        <p:spPr>
          <a:xfrm>
            <a:off x="5191125" y="4097225"/>
            <a:ext cx="3200400" cy="2409825"/>
          </a:xfrm>
          <a:prstGeom prst="rect">
            <a:avLst/>
          </a:prstGeom>
          <a:noFill/>
          <a:ln>
            <a:noFill/>
          </a:ln>
        </p:spPr>
      </p:pic>
      <p:pic>
        <p:nvPicPr>
          <p:cNvPr id="628" name="Google Shape;628;p21"/>
          <p:cNvPicPr preferRelativeResize="0"/>
          <p:nvPr/>
        </p:nvPicPr>
        <p:blipFill rotWithShape="1">
          <a:blip r:embed="rId5">
            <a:alphaModFix/>
          </a:blip>
          <a:srcRect/>
          <a:stretch/>
        </p:blipFill>
        <p:spPr>
          <a:xfrm>
            <a:off x="4648200" y="1506425"/>
            <a:ext cx="4286250" cy="2590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2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Kernel density estimation</a:t>
            </a:r>
            <a:endParaRPr/>
          </a:p>
        </p:txBody>
      </p:sp>
      <p:pic>
        <p:nvPicPr>
          <p:cNvPr id="634" name="Google Shape;634;p22" descr="\widehat{f}_h(x)=\frac{1}{nh}\sum_{i=1}^n K\left(\frac{x-x_i}{h}\right)"/>
          <p:cNvPicPr preferRelativeResize="0"/>
          <p:nvPr/>
        </p:nvPicPr>
        <p:blipFill rotWithShape="1">
          <a:blip r:embed="rId3">
            <a:alphaModFix/>
          </a:blip>
          <a:srcRect/>
          <a:stretch/>
        </p:blipFill>
        <p:spPr>
          <a:xfrm>
            <a:off x="2133600" y="1978025"/>
            <a:ext cx="3505200" cy="741363"/>
          </a:xfrm>
          <a:prstGeom prst="rect">
            <a:avLst/>
          </a:prstGeom>
          <a:noFill/>
          <a:ln>
            <a:noFill/>
          </a:ln>
        </p:spPr>
      </p:pic>
      <p:pic>
        <p:nvPicPr>
          <p:cNvPr id="635" name="Google Shape;635;p22" descr="K\left(\frac{x-x_i}{h}\right) = {1 \over \sqrt{2\pi} }\,e^{-\frac{(x-x_i)^2}{2 h^2}}."/>
          <p:cNvPicPr preferRelativeResize="0"/>
          <p:nvPr/>
        </p:nvPicPr>
        <p:blipFill rotWithShape="1">
          <a:blip r:embed="rId4">
            <a:alphaModFix/>
          </a:blip>
          <a:srcRect/>
          <a:stretch/>
        </p:blipFill>
        <p:spPr>
          <a:xfrm>
            <a:off x="2057400" y="4495800"/>
            <a:ext cx="4824413" cy="914400"/>
          </a:xfrm>
          <a:prstGeom prst="rect">
            <a:avLst/>
          </a:prstGeom>
          <a:noFill/>
          <a:ln>
            <a:noFill/>
          </a:ln>
        </p:spPr>
      </p:pic>
      <p:sp>
        <p:nvSpPr>
          <p:cNvPr id="636" name="Google Shape;636;p22"/>
          <p:cNvSpPr txBox="1"/>
          <p:nvPr/>
        </p:nvSpPr>
        <p:spPr>
          <a:xfrm>
            <a:off x="1981200" y="1519238"/>
            <a:ext cx="4789488"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000000"/>
                </a:solidFill>
                <a:latin typeface="Arial"/>
                <a:ea typeface="Arial"/>
                <a:cs typeface="Arial"/>
                <a:sym typeface="Arial"/>
              </a:rPr>
              <a:t>Kernel density estimation function</a:t>
            </a:r>
            <a:endParaRPr/>
          </a:p>
        </p:txBody>
      </p:sp>
      <p:sp>
        <p:nvSpPr>
          <p:cNvPr id="637" name="Google Shape;637;p22"/>
          <p:cNvSpPr txBox="1"/>
          <p:nvPr/>
        </p:nvSpPr>
        <p:spPr>
          <a:xfrm>
            <a:off x="2057400" y="4033838"/>
            <a:ext cx="2411413"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000000"/>
                </a:solidFill>
                <a:latin typeface="Arial"/>
                <a:ea typeface="Arial"/>
                <a:cs typeface="Arial"/>
                <a:sym typeface="Arial"/>
              </a:rPr>
              <a:t>Gaussian kernel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23"/>
          <p:cNvSpPr/>
          <p:nvPr/>
        </p:nvSpPr>
        <p:spPr>
          <a:xfrm>
            <a:off x="55626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44" name="Google Shape;644;p23"/>
          <p:cNvSpPr/>
          <p:nvPr/>
        </p:nvSpPr>
        <p:spPr>
          <a:xfrm>
            <a:off x="5768975"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45" name="Google Shape;645;p23"/>
          <p:cNvSpPr/>
          <p:nvPr/>
        </p:nvSpPr>
        <p:spPr>
          <a:xfrm>
            <a:off x="5692775" y="3276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46" name="Google Shape;646;p23"/>
          <p:cNvSpPr/>
          <p:nvPr/>
        </p:nvSpPr>
        <p:spPr>
          <a:xfrm>
            <a:off x="5440363" y="32210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47" name="Google Shape;647;p23"/>
          <p:cNvSpPr/>
          <p:nvPr/>
        </p:nvSpPr>
        <p:spPr>
          <a:xfrm>
            <a:off x="5681663"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48" name="Google Shape;648;p23"/>
          <p:cNvSpPr/>
          <p:nvPr/>
        </p:nvSpPr>
        <p:spPr>
          <a:xfrm>
            <a:off x="5454650"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49" name="Google Shape;649;p23"/>
          <p:cNvSpPr/>
          <p:nvPr/>
        </p:nvSpPr>
        <p:spPr>
          <a:xfrm>
            <a:off x="5932488" y="36147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0" name="Google Shape;650;p23"/>
          <p:cNvSpPr/>
          <p:nvPr/>
        </p:nvSpPr>
        <p:spPr>
          <a:xfrm>
            <a:off x="5322888"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1" name="Google Shape;651;p23"/>
          <p:cNvSpPr/>
          <p:nvPr/>
        </p:nvSpPr>
        <p:spPr>
          <a:xfrm>
            <a:off x="6062663"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2" name="Google Shape;652;p23"/>
          <p:cNvSpPr/>
          <p:nvPr/>
        </p:nvSpPr>
        <p:spPr>
          <a:xfrm>
            <a:off x="5921375" y="314325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3" name="Google Shape;653;p23"/>
          <p:cNvSpPr/>
          <p:nvPr/>
        </p:nvSpPr>
        <p:spPr>
          <a:xfrm>
            <a:off x="563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4" name="Google Shape;654;p23"/>
          <p:cNvSpPr/>
          <p:nvPr/>
        </p:nvSpPr>
        <p:spPr>
          <a:xfrm>
            <a:off x="57912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5" name="Google Shape;655;p23"/>
          <p:cNvSpPr/>
          <p:nvPr/>
        </p:nvSpPr>
        <p:spPr>
          <a:xfrm>
            <a:off x="5486400" y="38306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6" name="Google Shape;656;p23"/>
          <p:cNvSpPr/>
          <p:nvPr/>
        </p:nvSpPr>
        <p:spPr>
          <a:xfrm>
            <a:off x="5181600" y="3679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7" name="Google Shape;657;p23"/>
          <p:cNvSpPr/>
          <p:nvPr/>
        </p:nvSpPr>
        <p:spPr>
          <a:xfrm>
            <a:off x="49530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8" name="Google Shape;658;p23"/>
          <p:cNvSpPr/>
          <p:nvPr/>
        </p:nvSpPr>
        <p:spPr>
          <a:xfrm>
            <a:off x="5181600" y="3200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59" name="Google Shape;659;p23"/>
          <p:cNvSpPr/>
          <p:nvPr/>
        </p:nvSpPr>
        <p:spPr>
          <a:xfrm>
            <a:off x="62484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0" name="Google Shape;660;p23"/>
          <p:cNvSpPr/>
          <p:nvPr/>
        </p:nvSpPr>
        <p:spPr>
          <a:xfrm>
            <a:off x="6172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1" name="Google Shape;661;p23"/>
          <p:cNvSpPr/>
          <p:nvPr/>
        </p:nvSpPr>
        <p:spPr>
          <a:xfrm>
            <a:off x="5888038" y="409416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2" name="Google Shape;662;p23"/>
          <p:cNvSpPr/>
          <p:nvPr/>
        </p:nvSpPr>
        <p:spPr>
          <a:xfrm>
            <a:off x="54864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3" name="Google Shape;663;p23"/>
          <p:cNvSpPr/>
          <p:nvPr/>
        </p:nvSpPr>
        <p:spPr>
          <a:xfrm>
            <a:off x="5029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4" name="Google Shape;664;p23"/>
          <p:cNvSpPr/>
          <p:nvPr/>
        </p:nvSpPr>
        <p:spPr>
          <a:xfrm>
            <a:off x="46482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5" name="Google Shape;665;p23"/>
          <p:cNvSpPr/>
          <p:nvPr/>
        </p:nvSpPr>
        <p:spPr>
          <a:xfrm>
            <a:off x="45720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6" name="Google Shape;666;p23"/>
          <p:cNvSpPr/>
          <p:nvPr/>
        </p:nvSpPr>
        <p:spPr>
          <a:xfrm>
            <a:off x="49530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7" name="Google Shape;667;p23"/>
          <p:cNvSpPr/>
          <p:nvPr/>
        </p:nvSpPr>
        <p:spPr>
          <a:xfrm>
            <a:off x="53340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8" name="Google Shape;668;p23"/>
          <p:cNvSpPr/>
          <p:nvPr/>
        </p:nvSpPr>
        <p:spPr>
          <a:xfrm>
            <a:off x="5921375"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69" name="Google Shape;669;p23"/>
          <p:cNvSpPr/>
          <p:nvPr/>
        </p:nvSpPr>
        <p:spPr>
          <a:xfrm>
            <a:off x="56388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0" name="Google Shape;670;p23"/>
          <p:cNvSpPr/>
          <p:nvPr/>
        </p:nvSpPr>
        <p:spPr>
          <a:xfrm>
            <a:off x="47244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1" name="Google Shape;671;p23"/>
          <p:cNvSpPr/>
          <p:nvPr/>
        </p:nvSpPr>
        <p:spPr>
          <a:xfrm>
            <a:off x="51054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2" name="Google Shape;672;p23"/>
          <p:cNvSpPr/>
          <p:nvPr/>
        </p:nvSpPr>
        <p:spPr>
          <a:xfrm>
            <a:off x="5638800" y="198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3" name="Google Shape;673;p23"/>
          <p:cNvSpPr/>
          <p:nvPr/>
        </p:nvSpPr>
        <p:spPr>
          <a:xfrm>
            <a:off x="5181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4" name="Google Shape;674;p23"/>
          <p:cNvSpPr/>
          <p:nvPr/>
        </p:nvSpPr>
        <p:spPr>
          <a:xfrm>
            <a:off x="5921375"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5" name="Google Shape;675;p23"/>
          <p:cNvSpPr/>
          <p:nvPr/>
        </p:nvSpPr>
        <p:spPr>
          <a:xfrm>
            <a:off x="5921375" y="1371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6" name="Google Shape;676;p23"/>
          <p:cNvSpPr/>
          <p:nvPr/>
        </p:nvSpPr>
        <p:spPr>
          <a:xfrm>
            <a:off x="6172200" y="2133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7" name="Google Shape;677;p23"/>
          <p:cNvSpPr/>
          <p:nvPr/>
        </p:nvSpPr>
        <p:spPr>
          <a:xfrm>
            <a:off x="6259513" y="26765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8" name="Google Shape;678;p23"/>
          <p:cNvSpPr/>
          <p:nvPr/>
        </p:nvSpPr>
        <p:spPr>
          <a:xfrm>
            <a:off x="62484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79" name="Google Shape;679;p23"/>
          <p:cNvSpPr/>
          <p:nvPr/>
        </p:nvSpPr>
        <p:spPr>
          <a:xfrm>
            <a:off x="66294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0" name="Google Shape;680;p23"/>
          <p:cNvSpPr/>
          <p:nvPr/>
        </p:nvSpPr>
        <p:spPr>
          <a:xfrm>
            <a:off x="66294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1" name="Google Shape;681;p23"/>
          <p:cNvSpPr/>
          <p:nvPr/>
        </p:nvSpPr>
        <p:spPr>
          <a:xfrm>
            <a:off x="6553200" y="205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2" name="Google Shape;682;p23"/>
          <p:cNvSpPr/>
          <p:nvPr/>
        </p:nvSpPr>
        <p:spPr>
          <a:xfrm>
            <a:off x="63246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3" name="Google Shape;683;p23"/>
          <p:cNvSpPr/>
          <p:nvPr/>
        </p:nvSpPr>
        <p:spPr>
          <a:xfrm>
            <a:off x="6934200" y="129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4" name="Google Shape;684;p23"/>
          <p:cNvSpPr/>
          <p:nvPr/>
        </p:nvSpPr>
        <p:spPr>
          <a:xfrm>
            <a:off x="7010400" y="175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5" name="Google Shape;685;p23"/>
          <p:cNvSpPr/>
          <p:nvPr/>
        </p:nvSpPr>
        <p:spPr>
          <a:xfrm>
            <a:off x="7315200" y="2362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6" name="Google Shape;686;p23"/>
          <p:cNvSpPr/>
          <p:nvPr/>
        </p:nvSpPr>
        <p:spPr>
          <a:xfrm>
            <a:off x="6705600" y="3352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7" name="Google Shape;687;p23"/>
          <p:cNvSpPr/>
          <p:nvPr/>
        </p:nvSpPr>
        <p:spPr>
          <a:xfrm>
            <a:off x="71628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8" name="Google Shape;688;p23"/>
          <p:cNvSpPr/>
          <p:nvPr/>
        </p:nvSpPr>
        <p:spPr>
          <a:xfrm>
            <a:off x="7924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89" name="Google Shape;689;p23"/>
          <p:cNvSpPr/>
          <p:nvPr/>
        </p:nvSpPr>
        <p:spPr>
          <a:xfrm>
            <a:off x="6934200" y="3886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0" name="Google Shape;690;p23"/>
          <p:cNvSpPr/>
          <p:nvPr/>
        </p:nvSpPr>
        <p:spPr>
          <a:xfrm>
            <a:off x="7478713" y="343058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1" name="Google Shape;691;p23"/>
          <p:cNvSpPr/>
          <p:nvPr/>
        </p:nvSpPr>
        <p:spPr>
          <a:xfrm>
            <a:off x="64770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2" name="Google Shape;692;p23"/>
          <p:cNvSpPr/>
          <p:nvPr/>
        </p:nvSpPr>
        <p:spPr>
          <a:xfrm>
            <a:off x="7543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3" name="Google Shape;693;p23"/>
          <p:cNvSpPr/>
          <p:nvPr/>
        </p:nvSpPr>
        <p:spPr>
          <a:xfrm>
            <a:off x="69342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4" name="Google Shape;694;p23"/>
          <p:cNvSpPr/>
          <p:nvPr/>
        </p:nvSpPr>
        <p:spPr>
          <a:xfrm>
            <a:off x="6096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5" name="Google Shape;695;p23"/>
          <p:cNvSpPr/>
          <p:nvPr/>
        </p:nvSpPr>
        <p:spPr>
          <a:xfrm>
            <a:off x="5638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6" name="Google Shape;696;p23"/>
          <p:cNvSpPr/>
          <p:nvPr/>
        </p:nvSpPr>
        <p:spPr>
          <a:xfrm>
            <a:off x="60198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7" name="Google Shape;697;p23"/>
          <p:cNvSpPr/>
          <p:nvPr/>
        </p:nvSpPr>
        <p:spPr>
          <a:xfrm>
            <a:off x="6477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8" name="Google Shape;698;p23"/>
          <p:cNvSpPr/>
          <p:nvPr/>
        </p:nvSpPr>
        <p:spPr>
          <a:xfrm>
            <a:off x="58674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699" name="Google Shape;699;p23"/>
          <p:cNvSpPr/>
          <p:nvPr/>
        </p:nvSpPr>
        <p:spPr>
          <a:xfrm>
            <a:off x="54102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0" name="Google Shape;700;p23"/>
          <p:cNvSpPr/>
          <p:nvPr/>
        </p:nvSpPr>
        <p:spPr>
          <a:xfrm>
            <a:off x="51054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1" name="Google Shape;701;p23"/>
          <p:cNvSpPr/>
          <p:nvPr/>
        </p:nvSpPr>
        <p:spPr>
          <a:xfrm>
            <a:off x="44958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2" name="Google Shape;702;p23"/>
          <p:cNvSpPr/>
          <p:nvPr/>
        </p:nvSpPr>
        <p:spPr>
          <a:xfrm>
            <a:off x="4724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3" name="Google Shape;703;p23"/>
          <p:cNvSpPr/>
          <p:nvPr/>
        </p:nvSpPr>
        <p:spPr>
          <a:xfrm>
            <a:off x="4953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4" name="Google Shape;704;p23"/>
          <p:cNvSpPr/>
          <p:nvPr/>
        </p:nvSpPr>
        <p:spPr>
          <a:xfrm>
            <a:off x="41148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5" name="Google Shape;705;p23"/>
          <p:cNvSpPr/>
          <p:nvPr/>
        </p:nvSpPr>
        <p:spPr>
          <a:xfrm>
            <a:off x="40386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6" name="Google Shape;706;p23"/>
          <p:cNvSpPr/>
          <p:nvPr/>
        </p:nvSpPr>
        <p:spPr>
          <a:xfrm>
            <a:off x="35052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7" name="Google Shape;707;p23"/>
          <p:cNvSpPr/>
          <p:nvPr/>
        </p:nvSpPr>
        <p:spPr>
          <a:xfrm>
            <a:off x="40386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8" name="Google Shape;708;p23"/>
          <p:cNvSpPr/>
          <p:nvPr/>
        </p:nvSpPr>
        <p:spPr>
          <a:xfrm>
            <a:off x="42672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09" name="Google Shape;709;p23"/>
          <p:cNvSpPr/>
          <p:nvPr/>
        </p:nvSpPr>
        <p:spPr>
          <a:xfrm>
            <a:off x="3733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0" name="Google Shape;710;p23"/>
          <p:cNvSpPr/>
          <p:nvPr/>
        </p:nvSpPr>
        <p:spPr>
          <a:xfrm>
            <a:off x="42672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1" name="Google Shape;711;p23"/>
          <p:cNvSpPr/>
          <p:nvPr/>
        </p:nvSpPr>
        <p:spPr>
          <a:xfrm>
            <a:off x="4724400"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2" name="Google Shape;712;p23"/>
          <p:cNvSpPr/>
          <p:nvPr/>
        </p:nvSpPr>
        <p:spPr>
          <a:xfrm>
            <a:off x="4343400" y="182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3" name="Google Shape;713;p23"/>
          <p:cNvSpPr/>
          <p:nvPr/>
        </p:nvSpPr>
        <p:spPr>
          <a:xfrm>
            <a:off x="50292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4" name="Google Shape;714;p23"/>
          <p:cNvSpPr/>
          <p:nvPr/>
        </p:nvSpPr>
        <p:spPr>
          <a:xfrm>
            <a:off x="4191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5" name="Google Shape;715;p23"/>
          <p:cNvSpPr/>
          <p:nvPr/>
        </p:nvSpPr>
        <p:spPr>
          <a:xfrm>
            <a:off x="37338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6" name="Google Shape;716;p23"/>
          <p:cNvSpPr/>
          <p:nvPr/>
        </p:nvSpPr>
        <p:spPr>
          <a:xfrm>
            <a:off x="3657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7" name="Google Shape;717;p23"/>
          <p:cNvSpPr/>
          <p:nvPr/>
        </p:nvSpPr>
        <p:spPr>
          <a:xfrm>
            <a:off x="3276600" y="2667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8" name="Google Shape;718;p23"/>
          <p:cNvSpPr/>
          <p:nvPr/>
        </p:nvSpPr>
        <p:spPr>
          <a:xfrm>
            <a:off x="36576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19" name="Google Shape;719;p23"/>
          <p:cNvSpPr/>
          <p:nvPr/>
        </p:nvSpPr>
        <p:spPr>
          <a:xfrm>
            <a:off x="2895600" y="3581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0" name="Google Shape;720;p23"/>
          <p:cNvSpPr/>
          <p:nvPr/>
        </p:nvSpPr>
        <p:spPr>
          <a:xfrm>
            <a:off x="2819400" y="4419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1" name="Google Shape;721;p23"/>
          <p:cNvSpPr/>
          <p:nvPr/>
        </p:nvSpPr>
        <p:spPr>
          <a:xfrm>
            <a:off x="3048000" y="5257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2" name="Google Shape;722;p23"/>
          <p:cNvSpPr/>
          <p:nvPr/>
        </p:nvSpPr>
        <p:spPr>
          <a:xfrm>
            <a:off x="23622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3" name="Google Shape;723;p23"/>
          <p:cNvSpPr/>
          <p:nvPr/>
        </p:nvSpPr>
        <p:spPr>
          <a:xfrm>
            <a:off x="19050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4" name="Google Shape;724;p23"/>
          <p:cNvSpPr/>
          <p:nvPr/>
        </p:nvSpPr>
        <p:spPr>
          <a:xfrm>
            <a:off x="19050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5" name="Google Shape;725;p23"/>
          <p:cNvSpPr/>
          <p:nvPr/>
        </p:nvSpPr>
        <p:spPr>
          <a:xfrm>
            <a:off x="2514600" y="2743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6" name="Google Shape;726;p23"/>
          <p:cNvSpPr/>
          <p:nvPr/>
        </p:nvSpPr>
        <p:spPr>
          <a:xfrm>
            <a:off x="28956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7" name="Google Shape;727;p23"/>
          <p:cNvSpPr/>
          <p:nvPr/>
        </p:nvSpPr>
        <p:spPr>
          <a:xfrm>
            <a:off x="19812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8" name="Google Shape;728;p23"/>
          <p:cNvSpPr/>
          <p:nvPr/>
        </p:nvSpPr>
        <p:spPr>
          <a:xfrm>
            <a:off x="182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29" name="Google Shape;729;p23"/>
          <p:cNvSpPr/>
          <p:nvPr/>
        </p:nvSpPr>
        <p:spPr>
          <a:xfrm>
            <a:off x="7620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30" name="Google Shape;730;p23"/>
          <p:cNvSpPr/>
          <p:nvPr/>
        </p:nvSpPr>
        <p:spPr>
          <a:xfrm>
            <a:off x="838200" y="579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31" name="Google Shape;731;p23"/>
          <p:cNvSpPr/>
          <p:nvPr/>
        </p:nvSpPr>
        <p:spPr>
          <a:xfrm>
            <a:off x="8382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32" name="Google Shape;732;p23"/>
          <p:cNvSpPr/>
          <p:nvPr/>
        </p:nvSpPr>
        <p:spPr>
          <a:xfrm>
            <a:off x="990600" y="2286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33" name="Google Shape;733;p23"/>
          <p:cNvSpPr/>
          <p:nvPr/>
        </p:nvSpPr>
        <p:spPr>
          <a:xfrm>
            <a:off x="1143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sp>
        <p:nvSpPr>
          <p:cNvPr id="734" name="Google Shape;734;p23"/>
          <p:cNvSpPr/>
          <p:nvPr/>
        </p:nvSpPr>
        <p:spPr>
          <a:xfrm>
            <a:off x="2590800" y="106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grpSp>
        <p:nvGrpSpPr>
          <p:cNvPr id="735" name="Google Shape;735;p23"/>
          <p:cNvGrpSpPr/>
          <p:nvPr/>
        </p:nvGrpSpPr>
        <p:grpSpPr>
          <a:xfrm>
            <a:off x="2590800" y="1524000"/>
            <a:ext cx="2819400" cy="2895600"/>
            <a:chOff x="3744" y="4464"/>
            <a:chExt cx="1776" cy="1824"/>
          </a:xfrm>
        </p:grpSpPr>
        <p:sp>
          <p:nvSpPr>
            <p:cNvPr id="736" name="Google Shape;736;p23"/>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grpSp>
          <p:nvGrpSpPr>
            <p:cNvPr id="737" name="Google Shape;737;p23"/>
            <p:cNvGrpSpPr/>
            <p:nvPr/>
          </p:nvGrpSpPr>
          <p:grpSpPr>
            <a:xfrm>
              <a:off x="4491" y="5231"/>
              <a:ext cx="288" cy="288"/>
              <a:chOff x="4486" y="3484"/>
              <a:chExt cx="288" cy="288"/>
            </a:xfrm>
          </p:grpSpPr>
          <p:sp>
            <p:nvSpPr>
              <p:cNvPr id="738" name="Google Shape;738;p23"/>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cxnSp>
            <p:nvCxnSpPr>
              <p:cNvPr id="739" name="Google Shape;739;p23"/>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740" name="Google Shape;740;p23"/>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grpSp>
        <p:nvGrpSpPr>
          <p:cNvPr id="741" name="Google Shape;741;p23"/>
          <p:cNvGrpSpPr/>
          <p:nvPr/>
        </p:nvGrpSpPr>
        <p:grpSpPr>
          <a:xfrm>
            <a:off x="4343400" y="2895600"/>
            <a:ext cx="457200" cy="457200"/>
            <a:chOff x="4486" y="3484"/>
            <a:chExt cx="288" cy="288"/>
          </a:xfrm>
        </p:grpSpPr>
        <p:sp>
          <p:nvSpPr>
            <p:cNvPr id="742" name="Google Shape;742;p23"/>
            <p:cNvSpPr/>
            <p:nvPr/>
          </p:nvSpPr>
          <p:spPr>
            <a:xfrm>
              <a:off x="4560" y="3552"/>
              <a:ext cx="144" cy="144"/>
            </a:xfrm>
            <a:prstGeom prst="ellipse">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i="0" u="none" strike="noStrike" cap="none">
                <a:solidFill>
                  <a:srgbClr val="000000"/>
                </a:solidFill>
                <a:latin typeface="Arial"/>
                <a:ea typeface="Arial"/>
                <a:cs typeface="Arial"/>
                <a:sym typeface="Arial"/>
              </a:endParaRPr>
            </a:p>
          </p:txBody>
        </p:sp>
        <p:cxnSp>
          <p:nvCxnSpPr>
            <p:cNvPr id="743" name="Google Shape;743;p23"/>
            <p:cNvCxnSpPr/>
            <p:nvPr/>
          </p:nvCxnSpPr>
          <p:spPr>
            <a:xfrm>
              <a:off x="4632" y="3484"/>
              <a:ext cx="0" cy="288"/>
            </a:xfrm>
            <a:prstGeom prst="straightConnector1">
              <a:avLst/>
            </a:prstGeom>
            <a:noFill/>
            <a:ln w="9525" cap="flat" cmpd="sng">
              <a:solidFill>
                <a:srgbClr val="FF9900"/>
              </a:solidFill>
              <a:prstDash val="solid"/>
              <a:round/>
              <a:headEnd type="none" w="med" len="med"/>
              <a:tailEnd type="none" w="med" len="med"/>
            </a:ln>
          </p:spPr>
        </p:cxnSp>
        <p:cxnSp>
          <p:nvCxnSpPr>
            <p:cNvPr id="744" name="Google Shape;744;p23"/>
            <p:cNvCxnSpPr/>
            <p:nvPr/>
          </p:nvCxnSpPr>
          <p:spPr>
            <a:xfrm rot="10800000">
              <a:off x="4630" y="3482"/>
              <a:ext cx="0" cy="288"/>
            </a:xfrm>
            <a:prstGeom prst="straightConnector1">
              <a:avLst/>
            </a:prstGeom>
            <a:noFill/>
            <a:ln w="9525" cap="flat" cmpd="sng">
              <a:solidFill>
                <a:srgbClr val="FF9900"/>
              </a:solidFill>
              <a:prstDash val="solid"/>
              <a:round/>
              <a:headEnd type="none" w="med" len="med"/>
              <a:tailEnd type="none" w="med" len="med"/>
            </a:ln>
          </p:spPr>
        </p:cxnSp>
      </p:grpSp>
      <p:sp>
        <p:nvSpPr>
          <p:cNvPr id="745" name="Google Shape;745;p23"/>
          <p:cNvSpPr/>
          <p:nvPr/>
        </p:nvSpPr>
        <p:spPr>
          <a:xfrm>
            <a:off x="7467600" y="914400"/>
            <a:ext cx="1447800" cy="609600"/>
          </a:xfrm>
          <a:prstGeom prst="roundRect">
            <a:avLst>
              <a:gd name="adj" fmla="val 16667"/>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i="0" u="none" strike="noStrike" cap="none">
                <a:solidFill>
                  <a:srgbClr val="000000"/>
                </a:solidFill>
                <a:latin typeface="Arial"/>
                <a:ea typeface="Arial"/>
                <a:cs typeface="Arial"/>
                <a:sym typeface="Arial"/>
              </a:rPr>
              <a:t>Region of</a:t>
            </a:r>
            <a:endParaRPr/>
          </a:p>
          <a:p>
            <a:pPr marL="0" marR="0" lvl="0" indent="0" algn="ctr" rtl="0">
              <a:spcBef>
                <a:spcPts val="0"/>
              </a:spcBef>
              <a:spcAft>
                <a:spcPts val="0"/>
              </a:spcAft>
              <a:buNone/>
            </a:pPr>
            <a:r>
              <a:rPr lang="en-US" sz="1600" b="0" i="0" u="none" strike="noStrike" cap="none">
                <a:solidFill>
                  <a:srgbClr val="000000"/>
                </a:solidFill>
                <a:latin typeface="Arial"/>
                <a:ea typeface="Arial"/>
                <a:cs typeface="Arial"/>
                <a:sym typeface="Arial"/>
              </a:rPr>
              <a:t>interest</a:t>
            </a:r>
            <a:endParaRPr/>
          </a:p>
        </p:txBody>
      </p:sp>
      <p:sp>
        <p:nvSpPr>
          <p:cNvPr id="746" name="Google Shape;746;p23"/>
          <p:cNvSpPr/>
          <p:nvPr/>
        </p:nvSpPr>
        <p:spPr>
          <a:xfrm>
            <a:off x="5310188" y="1443038"/>
            <a:ext cx="2170112" cy="1014412"/>
          </a:xfrm>
          <a:custGeom>
            <a:avLst/>
            <a:gdLst/>
            <a:ahLst/>
            <a:cxnLst/>
            <a:rect l="l" t="t" r="r" b="b"/>
            <a:pathLst>
              <a:path w="1367" h="639" extrusionOk="0">
                <a:moveTo>
                  <a:pt x="1367" y="21"/>
                </a:moveTo>
                <a:cubicBezTo>
                  <a:pt x="1305" y="0"/>
                  <a:pt x="1340" y="5"/>
                  <a:pt x="1263" y="14"/>
                </a:cubicBezTo>
                <a:cubicBezTo>
                  <a:pt x="1213" y="31"/>
                  <a:pt x="1233" y="20"/>
                  <a:pt x="1201" y="42"/>
                </a:cubicBezTo>
                <a:cubicBezTo>
                  <a:pt x="1119" y="162"/>
                  <a:pt x="1014" y="134"/>
                  <a:pt x="874" y="139"/>
                </a:cubicBezTo>
                <a:cubicBezTo>
                  <a:pt x="826" y="149"/>
                  <a:pt x="851" y="142"/>
                  <a:pt x="798" y="160"/>
                </a:cubicBezTo>
                <a:cubicBezTo>
                  <a:pt x="784" y="165"/>
                  <a:pt x="756" y="174"/>
                  <a:pt x="756" y="174"/>
                </a:cubicBezTo>
                <a:cubicBezTo>
                  <a:pt x="752" y="181"/>
                  <a:pt x="749" y="189"/>
                  <a:pt x="743" y="194"/>
                </a:cubicBezTo>
                <a:cubicBezTo>
                  <a:pt x="737" y="199"/>
                  <a:pt x="727" y="196"/>
                  <a:pt x="722" y="201"/>
                </a:cubicBezTo>
                <a:cubicBezTo>
                  <a:pt x="717" y="206"/>
                  <a:pt x="719" y="216"/>
                  <a:pt x="715" y="222"/>
                </a:cubicBezTo>
                <a:cubicBezTo>
                  <a:pt x="707" y="237"/>
                  <a:pt x="696" y="250"/>
                  <a:pt x="687" y="264"/>
                </a:cubicBezTo>
                <a:cubicBezTo>
                  <a:pt x="667" y="293"/>
                  <a:pt x="667" y="321"/>
                  <a:pt x="631" y="333"/>
                </a:cubicBezTo>
                <a:cubicBezTo>
                  <a:pt x="570" y="375"/>
                  <a:pt x="510" y="370"/>
                  <a:pt x="437" y="375"/>
                </a:cubicBezTo>
                <a:cubicBezTo>
                  <a:pt x="425" y="377"/>
                  <a:pt x="413" y="379"/>
                  <a:pt x="402" y="382"/>
                </a:cubicBezTo>
                <a:cubicBezTo>
                  <a:pt x="388" y="386"/>
                  <a:pt x="361" y="396"/>
                  <a:pt x="361" y="396"/>
                </a:cubicBezTo>
                <a:cubicBezTo>
                  <a:pt x="356" y="403"/>
                  <a:pt x="353" y="410"/>
                  <a:pt x="347" y="416"/>
                </a:cubicBezTo>
                <a:cubicBezTo>
                  <a:pt x="341" y="422"/>
                  <a:pt x="332" y="424"/>
                  <a:pt x="326" y="430"/>
                </a:cubicBezTo>
                <a:cubicBezTo>
                  <a:pt x="297" y="464"/>
                  <a:pt x="287" y="503"/>
                  <a:pt x="250" y="528"/>
                </a:cubicBezTo>
                <a:cubicBezTo>
                  <a:pt x="231" y="555"/>
                  <a:pt x="210" y="587"/>
                  <a:pt x="180" y="597"/>
                </a:cubicBezTo>
                <a:cubicBezTo>
                  <a:pt x="166" y="606"/>
                  <a:pt x="153" y="616"/>
                  <a:pt x="139" y="625"/>
                </a:cubicBezTo>
                <a:cubicBezTo>
                  <a:pt x="132" y="630"/>
                  <a:pt x="118" y="639"/>
                  <a:pt x="118" y="639"/>
                </a:cubicBezTo>
                <a:cubicBezTo>
                  <a:pt x="106" y="638"/>
                  <a:pt x="30" y="625"/>
                  <a:pt x="0" y="625"/>
                </a:cubicBezTo>
              </a:path>
            </a:pathLst>
          </a:custGeom>
          <a:noFill/>
          <a:ln w="9525" cap="flat" cmpd="sng">
            <a:solidFill>
              <a:srgbClr val="00CCFF"/>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747" name="Google Shape;747;p23"/>
          <p:cNvSpPr/>
          <p:nvPr/>
        </p:nvSpPr>
        <p:spPr>
          <a:xfrm>
            <a:off x="7467600" y="1600200"/>
            <a:ext cx="1447800" cy="609600"/>
          </a:xfrm>
          <a:prstGeom prst="roundRect">
            <a:avLst>
              <a:gd name="adj" fmla="val 16667"/>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u="none">
                <a:solidFill>
                  <a:srgbClr val="000000"/>
                </a:solidFill>
                <a:latin typeface="Arial"/>
                <a:ea typeface="Arial"/>
                <a:cs typeface="Arial"/>
                <a:sym typeface="Arial"/>
              </a:rPr>
              <a:t>Center of</a:t>
            </a:r>
            <a:endParaRPr/>
          </a:p>
          <a:p>
            <a:pPr marL="0" marR="0" lvl="0" indent="0" algn="ctr" rtl="0">
              <a:spcBef>
                <a:spcPts val="0"/>
              </a:spcBef>
              <a:spcAft>
                <a:spcPts val="0"/>
              </a:spcAft>
              <a:buNone/>
            </a:pPr>
            <a:r>
              <a:rPr lang="en-US" sz="1600" b="0" u="none">
                <a:solidFill>
                  <a:srgbClr val="000000"/>
                </a:solidFill>
                <a:latin typeface="Arial"/>
                <a:ea typeface="Arial"/>
                <a:cs typeface="Arial"/>
                <a:sym typeface="Arial"/>
              </a:rPr>
              <a:t>mass</a:t>
            </a:r>
            <a:endParaRPr/>
          </a:p>
        </p:txBody>
      </p:sp>
      <p:sp>
        <p:nvSpPr>
          <p:cNvPr id="748" name="Google Shape;748;p23"/>
          <p:cNvSpPr/>
          <p:nvPr/>
        </p:nvSpPr>
        <p:spPr>
          <a:xfrm>
            <a:off x="4645025" y="2103438"/>
            <a:ext cx="2824163" cy="930275"/>
          </a:xfrm>
          <a:custGeom>
            <a:avLst/>
            <a:gdLst/>
            <a:ahLst/>
            <a:cxnLst/>
            <a:rect l="l" t="t" r="r" b="b"/>
            <a:pathLst>
              <a:path w="1779" h="586" extrusionOk="0">
                <a:moveTo>
                  <a:pt x="1779" y="42"/>
                </a:moveTo>
                <a:cubicBezTo>
                  <a:pt x="1748" y="11"/>
                  <a:pt x="1767" y="24"/>
                  <a:pt x="1717" y="7"/>
                </a:cubicBezTo>
                <a:cubicBezTo>
                  <a:pt x="1710" y="5"/>
                  <a:pt x="1696" y="0"/>
                  <a:pt x="1696" y="0"/>
                </a:cubicBezTo>
                <a:cubicBezTo>
                  <a:pt x="1633" y="3"/>
                  <a:pt x="1487" y="3"/>
                  <a:pt x="1418" y="42"/>
                </a:cubicBezTo>
                <a:cubicBezTo>
                  <a:pt x="1390" y="58"/>
                  <a:pt x="1362" y="80"/>
                  <a:pt x="1335" y="98"/>
                </a:cubicBezTo>
                <a:cubicBezTo>
                  <a:pt x="1318" y="109"/>
                  <a:pt x="1286" y="132"/>
                  <a:pt x="1286" y="132"/>
                </a:cubicBezTo>
                <a:cubicBezTo>
                  <a:pt x="1222" y="235"/>
                  <a:pt x="1110" y="243"/>
                  <a:pt x="1002" y="250"/>
                </a:cubicBezTo>
                <a:cubicBezTo>
                  <a:pt x="931" y="260"/>
                  <a:pt x="864" y="281"/>
                  <a:pt x="801" y="313"/>
                </a:cubicBezTo>
                <a:cubicBezTo>
                  <a:pt x="777" y="325"/>
                  <a:pt x="762" y="348"/>
                  <a:pt x="738" y="361"/>
                </a:cubicBezTo>
                <a:cubicBezTo>
                  <a:pt x="708" y="378"/>
                  <a:pt x="672" y="393"/>
                  <a:pt x="648" y="417"/>
                </a:cubicBezTo>
                <a:cubicBezTo>
                  <a:pt x="600" y="465"/>
                  <a:pt x="623" y="448"/>
                  <a:pt x="586" y="472"/>
                </a:cubicBezTo>
                <a:cubicBezTo>
                  <a:pt x="569" y="522"/>
                  <a:pt x="593" y="462"/>
                  <a:pt x="558" y="514"/>
                </a:cubicBezTo>
                <a:cubicBezTo>
                  <a:pt x="554" y="520"/>
                  <a:pt x="556" y="530"/>
                  <a:pt x="551" y="535"/>
                </a:cubicBezTo>
                <a:cubicBezTo>
                  <a:pt x="539" y="547"/>
                  <a:pt x="523" y="554"/>
                  <a:pt x="509" y="563"/>
                </a:cubicBezTo>
                <a:cubicBezTo>
                  <a:pt x="502" y="567"/>
                  <a:pt x="488" y="576"/>
                  <a:pt x="488" y="576"/>
                </a:cubicBezTo>
                <a:cubicBezTo>
                  <a:pt x="379" y="572"/>
                  <a:pt x="283" y="560"/>
                  <a:pt x="176" y="549"/>
                </a:cubicBezTo>
                <a:cubicBezTo>
                  <a:pt x="168" y="550"/>
                  <a:pt x="26" y="560"/>
                  <a:pt x="3" y="583"/>
                </a:cubicBezTo>
                <a:cubicBezTo>
                  <a:pt x="0" y="586"/>
                  <a:pt x="12" y="583"/>
                  <a:pt x="16" y="583"/>
                </a:cubicBezTo>
              </a:path>
            </a:pathLst>
          </a:custGeom>
          <a:noFill/>
          <a:ln w="9525" cap="flat" cmpd="sng">
            <a:solidFill>
              <a:srgbClr val="FF9900"/>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749" name="Google Shape;749;p23"/>
          <p:cNvSpPr/>
          <p:nvPr/>
        </p:nvSpPr>
        <p:spPr>
          <a:xfrm rot="880212">
            <a:off x="3997325" y="2968625"/>
            <a:ext cx="609600" cy="152400"/>
          </a:xfrm>
          <a:prstGeom prst="rightArrow">
            <a:avLst>
              <a:gd name="adj1" fmla="val 50000"/>
              <a:gd name="adj2" fmla="val 100000"/>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b="0" u="none">
              <a:solidFill>
                <a:srgbClr val="000000"/>
              </a:solidFill>
              <a:latin typeface="Arial"/>
              <a:ea typeface="Arial"/>
              <a:cs typeface="Arial"/>
              <a:sym typeface="Arial"/>
            </a:endParaRPr>
          </a:p>
        </p:txBody>
      </p:sp>
      <p:sp>
        <p:nvSpPr>
          <p:cNvPr id="750" name="Google Shape;750;p23"/>
          <p:cNvSpPr/>
          <p:nvPr/>
        </p:nvSpPr>
        <p:spPr>
          <a:xfrm>
            <a:off x="7467600" y="5410200"/>
            <a:ext cx="1447800" cy="609600"/>
          </a:xfrm>
          <a:prstGeom prst="roundRect">
            <a:avLst>
              <a:gd name="adj" fmla="val 16667"/>
            </a:avLst>
          </a:prstGeom>
          <a:solidFill>
            <a:srgbClr val="FFFF00"/>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0" u="none">
                <a:solidFill>
                  <a:srgbClr val="000000"/>
                </a:solidFill>
                <a:latin typeface="Arial"/>
                <a:ea typeface="Arial"/>
                <a:cs typeface="Arial"/>
                <a:sym typeface="Arial"/>
              </a:rPr>
              <a:t>Mean Shift</a:t>
            </a:r>
            <a:endParaRPr/>
          </a:p>
          <a:p>
            <a:pPr marL="0" marR="0" lvl="0" indent="0" algn="ctr" rtl="0">
              <a:spcBef>
                <a:spcPts val="0"/>
              </a:spcBef>
              <a:spcAft>
                <a:spcPts val="0"/>
              </a:spcAft>
              <a:buNone/>
            </a:pPr>
            <a:r>
              <a:rPr lang="en-US" sz="1600" b="0" u="none">
                <a:solidFill>
                  <a:srgbClr val="000000"/>
                </a:solidFill>
                <a:latin typeface="Arial"/>
                <a:ea typeface="Arial"/>
                <a:cs typeface="Arial"/>
                <a:sym typeface="Arial"/>
              </a:rPr>
              <a:t>vector</a:t>
            </a:r>
            <a:endParaRPr/>
          </a:p>
        </p:txBody>
      </p:sp>
      <p:sp>
        <p:nvSpPr>
          <p:cNvPr id="751" name="Google Shape;751;p23"/>
          <p:cNvSpPr/>
          <p:nvPr/>
        </p:nvSpPr>
        <p:spPr>
          <a:xfrm>
            <a:off x="4043363" y="3140075"/>
            <a:ext cx="3403600" cy="2632075"/>
          </a:xfrm>
          <a:custGeom>
            <a:avLst/>
            <a:gdLst/>
            <a:ahLst/>
            <a:cxnLst/>
            <a:rect l="l" t="t" r="r" b="b"/>
            <a:pathLst>
              <a:path w="2144" h="1658" extrusionOk="0">
                <a:moveTo>
                  <a:pt x="2144" y="1658"/>
                </a:moveTo>
                <a:cubicBezTo>
                  <a:pt x="2101" y="1644"/>
                  <a:pt x="2079" y="1621"/>
                  <a:pt x="2033" y="1610"/>
                </a:cubicBezTo>
                <a:cubicBezTo>
                  <a:pt x="1970" y="1563"/>
                  <a:pt x="2038" y="1608"/>
                  <a:pt x="1978" y="1582"/>
                </a:cubicBezTo>
                <a:cubicBezTo>
                  <a:pt x="1954" y="1571"/>
                  <a:pt x="1937" y="1548"/>
                  <a:pt x="1915" y="1534"/>
                </a:cubicBezTo>
                <a:cubicBezTo>
                  <a:pt x="1905" y="1519"/>
                  <a:pt x="1891" y="1507"/>
                  <a:pt x="1881" y="1492"/>
                </a:cubicBezTo>
                <a:cubicBezTo>
                  <a:pt x="1845" y="1435"/>
                  <a:pt x="1915" y="1512"/>
                  <a:pt x="1853" y="1450"/>
                </a:cubicBezTo>
                <a:cubicBezTo>
                  <a:pt x="1844" y="1422"/>
                  <a:pt x="1835" y="1411"/>
                  <a:pt x="1811" y="1395"/>
                </a:cubicBezTo>
                <a:cubicBezTo>
                  <a:pt x="1769" y="1269"/>
                  <a:pt x="1577" y="1294"/>
                  <a:pt x="1485" y="1291"/>
                </a:cubicBezTo>
                <a:cubicBezTo>
                  <a:pt x="1455" y="1281"/>
                  <a:pt x="1432" y="1266"/>
                  <a:pt x="1402" y="1256"/>
                </a:cubicBezTo>
                <a:cubicBezTo>
                  <a:pt x="1395" y="1254"/>
                  <a:pt x="1381" y="1249"/>
                  <a:pt x="1381" y="1249"/>
                </a:cubicBezTo>
                <a:cubicBezTo>
                  <a:pt x="1333" y="1201"/>
                  <a:pt x="1355" y="1218"/>
                  <a:pt x="1318" y="1193"/>
                </a:cubicBezTo>
                <a:cubicBezTo>
                  <a:pt x="1284" y="1141"/>
                  <a:pt x="1329" y="1204"/>
                  <a:pt x="1284" y="1159"/>
                </a:cubicBezTo>
                <a:cubicBezTo>
                  <a:pt x="1266" y="1141"/>
                  <a:pt x="1265" y="1116"/>
                  <a:pt x="1249" y="1096"/>
                </a:cubicBezTo>
                <a:cubicBezTo>
                  <a:pt x="1227" y="1070"/>
                  <a:pt x="1193" y="1053"/>
                  <a:pt x="1166" y="1034"/>
                </a:cubicBezTo>
                <a:cubicBezTo>
                  <a:pt x="1156" y="1027"/>
                  <a:pt x="1143" y="1028"/>
                  <a:pt x="1131" y="1027"/>
                </a:cubicBezTo>
                <a:cubicBezTo>
                  <a:pt x="1080" y="1023"/>
                  <a:pt x="1029" y="1022"/>
                  <a:pt x="978" y="1020"/>
                </a:cubicBezTo>
                <a:cubicBezTo>
                  <a:pt x="881" y="1003"/>
                  <a:pt x="810" y="950"/>
                  <a:pt x="749" y="874"/>
                </a:cubicBezTo>
                <a:cubicBezTo>
                  <a:pt x="731" y="852"/>
                  <a:pt x="711" y="842"/>
                  <a:pt x="701" y="812"/>
                </a:cubicBezTo>
                <a:cubicBezTo>
                  <a:pt x="690" y="779"/>
                  <a:pt x="679" y="753"/>
                  <a:pt x="666" y="722"/>
                </a:cubicBezTo>
                <a:cubicBezTo>
                  <a:pt x="651" y="685"/>
                  <a:pt x="646" y="650"/>
                  <a:pt x="624" y="617"/>
                </a:cubicBezTo>
                <a:cubicBezTo>
                  <a:pt x="612" y="578"/>
                  <a:pt x="598" y="572"/>
                  <a:pt x="562" y="548"/>
                </a:cubicBezTo>
                <a:cubicBezTo>
                  <a:pt x="554" y="543"/>
                  <a:pt x="550" y="532"/>
                  <a:pt x="541" y="527"/>
                </a:cubicBezTo>
                <a:cubicBezTo>
                  <a:pt x="478" y="491"/>
                  <a:pt x="381" y="480"/>
                  <a:pt x="312" y="472"/>
                </a:cubicBezTo>
                <a:cubicBezTo>
                  <a:pt x="227" y="444"/>
                  <a:pt x="125" y="430"/>
                  <a:pt x="48" y="382"/>
                </a:cubicBezTo>
                <a:cubicBezTo>
                  <a:pt x="30" y="353"/>
                  <a:pt x="18" y="325"/>
                  <a:pt x="0" y="298"/>
                </a:cubicBezTo>
                <a:cubicBezTo>
                  <a:pt x="7" y="224"/>
                  <a:pt x="6" y="167"/>
                  <a:pt x="69" y="125"/>
                </a:cubicBezTo>
                <a:cubicBezTo>
                  <a:pt x="83" y="103"/>
                  <a:pt x="121" y="77"/>
                  <a:pt x="146" y="69"/>
                </a:cubicBezTo>
                <a:cubicBezTo>
                  <a:pt x="164" y="42"/>
                  <a:pt x="187" y="36"/>
                  <a:pt x="187" y="0"/>
                </a:cubicBezTo>
              </a:path>
            </a:pathLst>
          </a:custGeom>
          <a:noFill/>
          <a:ln w="9525" cap="flat" cmpd="sng">
            <a:solidFill>
              <a:schemeClr val="dk1"/>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752" name="Google Shape;752;p23"/>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u="none">
                <a:solidFill>
                  <a:srgbClr val="000000"/>
                </a:solidFill>
                <a:latin typeface="Arial"/>
                <a:ea typeface="Arial"/>
                <a:cs typeface="Arial"/>
                <a:sym typeface="Arial"/>
              </a:rPr>
              <a:t>Slide by Y. Ukrainitz &amp; B. Sarel</a:t>
            </a:r>
            <a:endParaRPr/>
          </a:p>
        </p:txBody>
      </p:sp>
      <p:sp>
        <p:nvSpPr>
          <p:cNvPr id="753" name="Google Shape;753;p2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a:t>
            </a:r>
            <a:endParaRPr/>
          </a:p>
        </p:txBody>
      </p:sp>
      <p:sp>
        <p:nvSpPr>
          <p:cNvPr id="754" name="Google Shape;754;p23"/>
          <p:cNvSpPr txBox="1"/>
          <p:nvPr/>
        </p:nvSpPr>
        <p:spPr>
          <a:xfrm>
            <a:off x="6537800" y="788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CV 11: Image Segmentation</a:t>
            </a:r>
            <a:endParaRPr sz="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35"/>
                                        </p:tgtEl>
                                        <p:attrNameLst>
                                          <p:attrName>style.visibility</p:attrName>
                                        </p:attrNameLst>
                                      </p:cBhvr>
                                      <p:to>
                                        <p:strVal val="visible"/>
                                      </p:to>
                                    </p:set>
                                    <p:anim calcmode="lin" valueType="num">
                                      <p:cBhvr additive="base">
                                        <p:cTn id="7" dur="500"/>
                                        <p:tgtEl>
                                          <p:spTgt spid="735"/>
                                        </p:tgtEl>
                                        <p:attrNameLst>
                                          <p:attrName>ppt_w</p:attrName>
                                        </p:attrNameLst>
                                      </p:cBhvr>
                                      <p:tavLst>
                                        <p:tav tm="0">
                                          <p:val>
                                            <p:strVal val="0"/>
                                          </p:val>
                                        </p:tav>
                                        <p:tav tm="100000">
                                          <p:val>
                                            <p:strVal val="#ppt_w"/>
                                          </p:val>
                                        </p:tav>
                                      </p:tavLst>
                                    </p:anim>
                                    <p:anim calcmode="lin" valueType="num">
                                      <p:cBhvr additive="base">
                                        <p:cTn id="8" dur="500"/>
                                        <p:tgtEl>
                                          <p:spTgt spid="735"/>
                                        </p:tgtEl>
                                        <p:attrNameLst>
                                          <p:attrName>ppt_h</p:attrName>
                                        </p:attrNameLst>
                                      </p:cBhvr>
                                      <p:tavLst>
                                        <p:tav tm="0">
                                          <p:val>
                                            <p:strVal val="0"/>
                                          </p:val>
                                        </p:tav>
                                        <p:tav tm="100000">
                                          <p:val>
                                            <p:strVal val="#ppt_h"/>
                                          </p:val>
                                        </p:tav>
                                      </p:tavLst>
                                    </p:anim>
                                  </p:childTnLst>
                                </p:cTn>
                              </p:par>
                              <p:par>
                                <p:cTn id="9" presetID="1" presetClass="entr" presetSubtype="0" fill="hold" nodeType="withEffect">
                                  <p:stCondLst>
                                    <p:cond delay="0"/>
                                  </p:stCondLst>
                                  <p:childTnLst>
                                    <p:set>
                                      <p:cBhvr>
                                        <p:cTn id="10" dur="1" fill="hold">
                                          <p:stCondLst>
                                            <p:cond delay="0"/>
                                          </p:stCondLst>
                                        </p:cTn>
                                        <p:tgtEl>
                                          <p:spTgt spid="745"/>
                                        </p:tgtEl>
                                        <p:attrNameLst>
                                          <p:attrName>style.visibility</p:attrName>
                                        </p:attrNameLst>
                                      </p:cBhvr>
                                      <p:to>
                                        <p:strVal val="visible"/>
                                      </p:to>
                                    </p:se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746"/>
                                        </p:tgtEl>
                                        <p:attrNameLst>
                                          <p:attrName>style.visibility</p:attrName>
                                        </p:attrNameLst>
                                      </p:cBhvr>
                                      <p:to>
                                        <p:strVal val="visible"/>
                                      </p:to>
                                    </p:set>
                                    <p:animEffect transition="in" filter="fade">
                                      <p:cBhvr>
                                        <p:cTn id="14" dur="500"/>
                                        <p:tgtEl>
                                          <p:spTgt spid="746"/>
                                        </p:tgtEl>
                                      </p:cBhvr>
                                    </p:animEffect>
                                  </p:childTnLst>
                                </p:cTn>
                              </p:par>
                            </p:childTnLst>
                          </p:cTn>
                        </p:par>
                        <p:par>
                          <p:cTn id="15" fill="hold">
                            <p:stCondLst>
                              <p:cond delay="1000"/>
                            </p:stCondLst>
                            <p:childTnLst>
                              <p:par>
                                <p:cTn id="16" presetID="1" presetClass="exit" presetSubtype="0" fill="hold" nodeType="afterEffect">
                                  <p:stCondLst>
                                    <p:cond delay="5000"/>
                                  </p:stCondLst>
                                  <p:childTnLst>
                                    <p:set>
                                      <p:cBhvr>
                                        <p:cTn id="17" dur="1" fill="hold">
                                          <p:stCondLst>
                                            <p:cond delay="1"/>
                                          </p:stCondLst>
                                        </p:cTn>
                                        <p:tgtEl>
                                          <p:spTgt spid="74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741"/>
                                        </p:tgtEl>
                                        <p:attrNameLst>
                                          <p:attrName>style.visibility</p:attrName>
                                        </p:attrNameLst>
                                      </p:cBhvr>
                                      <p:to>
                                        <p:strVal val="visible"/>
                                      </p:to>
                                    </p:set>
                                    <p:anim calcmode="lin" valueType="num">
                                      <p:cBhvr additive="base">
                                        <p:cTn id="22" dur="500"/>
                                        <p:tgtEl>
                                          <p:spTgt spid="741"/>
                                        </p:tgtEl>
                                        <p:attrNameLst>
                                          <p:attrName>ppt_w</p:attrName>
                                        </p:attrNameLst>
                                      </p:cBhvr>
                                      <p:tavLst>
                                        <p:tav tm="0">
                                          <p:val>
                                            <p:strVal val="0"/>
                                          </p:val>
                                        </p:tav>
                                        <p:tav tm="100000">
                                          <p:val>
                                            <p:strVal val="#ppt_w"/>
                                          </p:val>
                                        </p:tav>
                                      </p:tavLst>
                                    </p:anim>
                                    <p:anim calcmode="lin" valueType="num">
                                      <p:cBhvr additive="base">
                                        <p:cTn id="23" dur="500"/>
                                        <p:tgtEl>
                                          <p:spTgt spid="741"/>
                                        </p:tgtEl>
                                        <p:attrNameLst>
                                          <p:attrName>ppt_h</p:attrName>
                                        </p:attrNameLst>
                                      </p:cBhvr>
                                      <p:tavLst>
                                        <p:tav tm="0">
                                          <p:val>
                                            <p:strVal val="0"/>
                                          </p:val>
                                        </p:tav>
                                        <p:tav tm="100000">
                                          <p:val>
                                            <p:strVal val="#ppt_h"/>
                                          </p:val>
                                        </p:tav>
                                      </p:tavLst>
                                    </p:anim>
                                  </p:childTnLst>
                                </p:cTn>
                              </p:par>
                              <p:par>
                                <p:cTn id="24" presetID="1" presetClass="entr" presetSubtype="0" fill="hold" nodeType="withEffect">
                                  <p:stCondLst>
                                    <p:cond delay="0"/>
                                  </p:stCondLst>
                                  <p:childTnLst>
                                    <p:set>
                                      <p:cBhvr>
                                        <p:cTn id="25" dur="1" fill="hold">
                                          <p:stCondLst>
                                            <p:cond delay="0"/>
                                          </p:stCondLst>
                                        </p:cTn>
                                        <p:tgtEl>
                                          <p:spTgt spid="747"/>
                                        </p:tgtEl>
                                        <p:attrNameLst>
                                          <p:attrName>style.visibility</p:attrName>
                                        </p:attrNameLst>
                                      </p:cBhvr>
                                      <p:to>
                                        <p:strVal val="visible"/>
                                      </p:to>
                                    </p:se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748"/>
                                        </p:tgtEl>
                                        <p:attrNameLst>
                                          <p:attrName>style.visibility</p:attrName>
                                        </p:attrNameLst>
                                      </p:cBhvr>
                                      <p:to>
                                        <p:strVal val="visible"/>
                                      </p:to>
                                    </p:set>
                                    <p:animEffect transition="in" filter="fade">
                                      <p:cBhvr>
                                        <p:cTn id="29" dur="500"/>
                                        <p:tgtEl>
                                          <p:spTgt spid="748"/>
                                        </p:tgtEl>
                                      </p:cBhvr>
                                    </p:animEffect>
                                  </p:childTnLst>
                                </p:cTn>
                              </p:par>
                            </p:childTnLst>
                          </p:cTn>
                        </p:par>
                        <p:par>
                          <p:cTn id="30" fill="hold">
                            <p:stCondLst>
                              <p:cond delay="1000"/>
                            </p:stCondLst>
                            <p:childTnLst>
                              <p:par>
                                <p:cTn id="31" presetID="1" presetClass="exit" presetSubtype="0" fill="hold" nodeType="afterEffect">
                                  <p:stCondLst>
                                    <p:cond delay="5000"/>
                                  </p:stCondLst>
                                  <p:childTnLst>
                                    <p:set>
                                      <p:cBhvr>
                                        <p:cTn id="32" dur="1" fill="hold">
                                          <p:stCondLst>
                                            <p:cond delay="1"/>
                                          </p:stCondLst>
                                        </p:cTn>
                                        <p:tgtEl>
                                          <p:spTgt spid="74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49"/>
                                        </p:tgtEl>
                                        <p:attrNameLst>
                                          <p:attrName>style.visibility</p:attrName>
                                        </p:attrNameLst>
                                      </p:cBhvr>
                                      <p:to>
                                        <p:strVal val="visible"/>
                                      </p:to>
                                    </p:set>
                                    <p:animEffect transition="in" filter="fade">
                                      <p:cBhvr>
                                        <p:cTn id="37" dur="500"/>
                                        <p:tgtEl>
                                          <p:spTgt spid="749"/>
                                        </p:tgtEl>
                                      </p:cBhvr>
                                    </p:animEffect>
                                  </p:childTnLst>
                                </p:cTn>
                              </p:par>
                              <p:par>
                                <p:cTn id="38" presetID="1" presetClass="entr" presetSubtype="0" fill="hold" nodeType="withEffect">
                                  <p:stCondLst>
                                    <p:cond delay="0"/>
                                  </p:stCondLst>
                                  <p:childTnLst>
                                    <p:set>
                                      <p:cBhvr>
                                        <p:cTn id="39" dur="1" fill="hold">
                                          <p:stCondLst>
                                            <p:cond delay="0"/>
                                          </p:stCondLst>
                                        </p:cTn>
                                        <p:tgtEl>
                                          <p:spTgt spid="750"/>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750"/>
                                        </p:tgtEl>
                                        <p:attrNameLst>
                                          <p:attrName>style.visibility</p:attrName>
                                        </p:attrNameLst>
                                      </p:cBhvr>
                                      <p:to>
                                        <p:strVal val="visible"/>
                                      </p:to>
                                    </p:set>
                                  </p:childTnLst>
                                </p:cTn>
                              </p:par>
                            </p:childTnLst>
                          </p:cTn>
                        </p:par>
                        <p:par>
                          <p:cTn id="43" fill="hold">
                            <p:stCondLst>
                              <p:cond delay="501"/>
                            </p:stCondLst>
                            <p:childTnLst>
                              <p:par>
                                <p:cTn id="44" presetID="10" presetClass="entr" presetSubtype="0" fill="hold" nodeType="afterEffect">
                                  <p:stCondLst>
                                    <p:cond delay="0"/>
                                  </p:stCondLst>
                                  <p:childTnLst>
                                    <p:set>
                                      <p:cBhvr>
                                        <p:cTn id="45" dur="1" fill="hold">
                                          <p:stCondLst>
                                            <p:cond delay="0"/>
                                          </p:stCondLst>
                                        </p:cTn>
                                        <p:tgtEl>
                                          <p:spTgt spid="751"/>
                                        </p:tgtEl>
                                        <p:attrNameLst>
                                          <p:attrName>style.visibility</p:attrName>
                                        </p:attrNameLst>
                                      </p:cBhvr>
                                      <p:to>
                                        <p:strVal val="visible"/>
                                      </p:to>
                                    </p:set>
                                    <p:animEffect transition="in" filter="fade">
                                      <p:cBhvr>
                                        <p:cTn id="46" dur="500"/>
                                        <p:tgtEl>
                                          <p:spTgt spid="751"/>
                                        </p:tgtEl>
                                      </p:cBhvr>
                                    </p:animEffect>
                                  </p:childTnLst>
                                </p:cTn>
                              </p:par>
                            </p:childTnLst>
                          </p:cTn>
                        </p:par>
                        <p:par>
                          <p:cTn id="47" fill="hold">
                            <p:stCondLst>
                              <p:cond delay="1001"/>
                            </p:stCondLst>
                            <p:childTnLst>
                              <p:par>
                                <p:cTn id="48" presetID="1" presetClass="exit" presetSubtype="0" fill="hold" nodeType="afterEffect">
                                  <p:stCondLst>
                                    <p:cond delay="3000"/>
                                  </p:stCondLst>
                                  <p:childTnLst>
                                    <p:set>
                                      <p:cBhvr>
                                        <p:cTn id="49" dur="1" fill="hold">
                                          <p:stCondLst>
                                            <p:cond delay="1"/>
                                          </p:stCondLst>
                                        </p:cTn>
                                        <p:tgtEl>
                                          <p:spTgt spid="7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24"/>
          <p:cNvSpPr/>
          <p:nvPr/>
        </p:nvSpPr>
        <p:spPr>
          <a:xfrm>
            <a:off x="55626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1" name="Google Shape;761;p24"/>
          <p:cNvSpPr/>
          <p:nvPr/>
        </p:nvSpPr>
        <p:spPr>
          <a:xfrm>
            <a:off x="5768975"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2" name="Google Shape;762;p24"/>
          <p:cNvSpPr/>
          <p:nvPr/>
        </p:nvSpPr>
        <p:spPr>
          <a:xfrm>
            <a:off x="5692775" y="3276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3" name="Google Shape;763;p24"/>
          <p:cNvSpPr/>
          <p:nvPr/>
        </p:nvSpPr>
        <p:spPr>
          <a:xfrm>
            <a:off x="5440363" y="32210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4" name="Google Shape;764;p24"/>
          <p:cNvSpPr/>
          <p:nvPr/>
        </p:nvSpPr>
        <p:spPr>
          <a:xfrm>
            <a:off x="5681663"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5" name="Google Shape;765;p24"/>
          <p:cNvSpPr/>
          <p:nvPr/>
        </p:nvSpPr>
        <p:spPr>
          <a:xfrm>
            <a:off x="5454650"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6" name="Google Shape;766;p24"/>
          <p:cNvSpPr/>
          <p:nvPr/>
        </p:nvSpPr>
        <p:spPr>
          <a:xfrm>
            <a:off x="5932488" y="36147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7" name="Google Shape;767;p24"/>
          <p:cNvSpPr/>
          <p:nvPr/>
        </p:nvSpPr>
        <p:spPr>
          <a:xfrm>
            <a:off x="5322888"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8" name="Google Shape;768;p24"/>
          <p:cNvSpPr/>
          <p:nvPr/>
        </p:nvSpPr>
        <p:spPr>
          <a:xfrm>
            <a:off x="6062663"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69" name="Google Shape;769;p24"/>
          <p:cNvSpPr/>
          <p:nvPr/>
        </p:nvSpPr>
        <p:spPr>
          <a:xfrm>
            <a:off x="5921375" y="314325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0" name="Google Shape;770;p24"/>
          <p:cNvSpPr/>
          <p:nvPr/>
        </p:nvSpPr>
        <p:spPr>
          <a:xfrm>
            <a:off x="563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1" name="Google Shape;771;p24"/>
          <p:cNvSpPr/>
          <p:nvPr/>
        </p:nvSpPr>
        <p:spPr>
          <a:xfrm>
            <a:off x="57912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2" name="Google Shape;772;p24"/>
          <p:cNvSpPr/>
          <p:nvPr/>
        </p:nvSpPr>
        <p:spPr>
          <a:xfrm>
            <a:off x="5486400" y="38306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3" name="Google Shape;773;p24"/>
          <p:cNvSpPr/>
          <p:nvPr/>
        </p:nvSpPr>
        <p:spPr>
          <a:xfrm>
            <a:off x="5181600" y="3679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4" name="Google Shape;774;p24"/>
          <p:cNvSpPr/>
          <p:nvPr/>
        </p:nvSpPr>
        <p:spPr>
          <a:xfrm>
            <a:off x="49530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5" name="Google Shape;775;p24"/>
          <p:cNvSpPr/>
          <p:nvPr/>
        </p:nvSpPr>
        <p:spPr>
          <a:xfrm>
            <a:off x="5181600" y="3200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6" name="Google Shape;776;p24"/>
          <p:cNvSpPr/>
          <p:nvPr/>
        </p:nvSpPr>
        <p:spPr>
          <a:xfrm>
            <a:off x="62484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7" name="Google Shape;777;p24"/>
          <p:cNvSpPr/>
          <p:nvPr/>
        </p:nvSpPr>
        <p:spPr>
          <a:xfrm>
            <a:off x="6172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8" name="Google Shape;778;p24"/>
          <p:cNvSpPr/>
          <p:nvPr/>
        </p:nvSpPr>
        <p:spPr>
          <a:xfrm>
            <a:off x="5888038" y="409416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79" name="Google Shape;779;p24"/>
          <p:cNvSpPr/>
          <p:nvPr/>
        </p:nvSpPr>
        <p:spPr>
          <a:xfrm>
            <a:off x="54864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0" name="Google Shape;780;p24"/>
          <p:cNvSpPr/>
          <p:nvPr/>
        </p:nvSpPr>
        <p:spPr>
          <a:xfrm>
            <a:off x="5029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1" name="Google Shape;781;p24"/>
          <p:cNvSpPr/>
          <p:nvPr/>
        </p:nvSpPr>
        <p:spPr>
          <a:xfrm>
            <a:off x="46482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2" name="Google Shape;782;p24"/>
          <p:cNvSpPr/>
          <p:nvPr/>
        </p:nvSpPr>
        <p:spPr>
          <a:xfrm>
            <a:off x="45720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3" name="Google Shape;783;p24"/>
          <p:cNvSpPr/>
          <p:nvPr/>
        </p:nvSpPr>
        <p:spPr>
          <a:xfrm>
            <a:off x="49530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4" name="Google Shape;784;p24"/>
          <p:cNvSpPr/>
          <p:nvPr/>
        </p:nvSpPr>
        <p:spPr>
          <a:xfrm>
            <a:off x="53340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5" name="Google Shape;785;p24"/>
          <p:cNvSpPr/>
          <p:nvPr/>
        </p:nvSpPr>
        <p:spPr>
          <a:xfrm>
            <a:off x="5921375"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6" name="Google Shape;786;p24"/>
          <p:cNvSpPr/>
          <p:nvPr/>
        </p:nvSpPr>
        <p:spPr>
          <a:xfrm>
            <a:off x="56388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7" name="Google Shape;787;p24"/>
          <p:cNvSpPr/>
          <p:nvPr/>
        </p:nvSpPr>
        <p:spPr>
          <a:xfrm>
            <a:off x="47244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8" name="Google Shape;788;p24"/>
          <p:cNvSpPr/>
          <p:nvPr/>
        </p:nvSpPr>
        <p:spPr>
          <a:xfrm>
            <a:off x="51054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89" name="Google Shape;789;p24"/>
          <p:cNvSpPr/>
          <p:nvPr/>
        </p:nvSpPr>
        <p:spPr>
          <a:xfrm>
            <a:off x="5638800" y="198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0" name="Google Shape;790;p24"/>
          <p:cNvSpPr/>
          <p:nvPr/>
        </p:nvSpPr>
        <p:spPr>
          <a:xfrm>
            <a:off x="5181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1" name="Google Shape;791;p24"/>
          <p:cNvSpPr/>
          <p:nvPr/>
        </p:nvSpPr>
        <p:spPr>
          <a:xfrm>
            <a:off x="5921375"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2" name="Google Shape;792;p24"/>
          <p:cNvSpPr/>
          <p:nvPr/>
        </p:nvSpPr>
        <p:spPr>
          <a:xfrm>
            <a:off x="5921375" y="1371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3" name="Google Shape;793;p24"/>
          <p:cNvSpPr/>
          <p:nvPr/>
        </p:nvSpPr>
        <p:spPr>
          <a:xfrm>
            <a:off x="6172200" y="2133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4" name="Google Shape;794;p24"/>
          <p:cNvSpPr/>
          <p:nvPr/>
        </p:nvSpPr>
        <p:spPr>
          <a:xfrm>
            <a:off x="6259513" y="26765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5" name="Google Shape;795;p24"/>
          <p:cNvSpPr/>
          <p:nvPr/>
        </p:nvSpPr>
        <p:spPr>
          <a:xfrm>
            <a:off x="62484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6" name="Google Shape;796;p24"/>
          <p:cNvSpPr/>
          <p:nvPr/>
        </p:nvSpPr>
        <p:spPr>
          <a:xfrm>
            <a:off x="66294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7" name="Google Shape;797;p24"/>
          <p:cNvSpPr/>
          <p:nvPr/>
        </p:nvSpPr>
        <p:spPr>
          <a:xfrm>
            <a:off x="66294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8" name="Google Shape;798;p24"/>
          <p:cNvSpPr/>
          <p:nvPr/>
        </p:nvSpPr>
        <p:spPr>
          <a:xfrm>
            <a:off x="6553200" y="205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799" name="Google Shape;799;p24"/>
          <p:cNvSpPr/>
          <p:nvPr/>
        </p:nvSpPr>
        <p:spPr>
          <a:xfrm>
            <a:off x="63246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0" name="Google Shape;800;p24"/>
          <p:cNvSpPr/>
          <p:nvPr/>
        </p:nvSpPr>
        <p:spPr>
          <a:xfrm>
            <a:off x="6934200" y="129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1" name="Google Shape;801;p24"/>
          <p:cNvSpPr/>
          <p:nvPr/>
        </p:nvSpPr>
        <p:spPr>
          <a:xfrm>
            <a:off x="7010400" y="175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2" name="Google Shape;802;p24"/>
          <p:cNvSpPr/>
          <p:nvPr/>
        </p:nvSpPr>
        <p:spPr>
          <a:xfrm>
            <a:off x="7315200" y="2362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3" name="Google Shape;803;p24"/>
          <p:cNvSpPr/>
          <p:nvPr/>
        </p:nvSpPr>
        <p:spPr>
          <a:xfrm>
            <a:off x="6705600" y="3352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4" name="Google Shape;804;p24"/>
          <p:cNvSpPr/>
          <p:nvPr/>
        </p:nvSpPr>
        <p:spPr>
          <a:xfrm>
            <a:off x="71628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5" name="Google Shape;805;p24"/>
          <p:cNvSpPr/>
          <p:nvPr/>
        </p:nvSpPr>
        <p:spPr>
          <a:xfrm>
            <a:off x="7924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6" name="Google Shape;806;p24"/>
          <p:cNvSpPr/>
          <p:nvPr/>
        </p:nvSpPr>
        <p:spPr>
          <a:xfrm>
            <a:off x="6934200" y="3886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7" name="Google Shape;807;p24"/>
          <p:cNvSpPr/>
          <p:nvPr/>
        </p:nvSpPr>
        <p:spPr>
          <a:xfrm>
            <a:off x="7478713" y="343058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8" name="Google Shape;808;p24"/>
          <p:cNvSpPr/>
          <p:nvPr/>
        </p:nvSpPr>
        <p:spPr>
          <a:xfrm>
            <a:off x="64770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09" name="Google Shape;809;p24"/>
          <p:cNvSpPr/>
          <p:nvPr/>
        </p:nvSpPr>
        <p:spPr>
          <a:xfrm>
            <a:off x="7543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0" name="Google Shape;810;p24"/>
          <p:cNvSpPr/>
          <p:nvPr/>
        </p:nvSpPr>
        <p:spPr>
          <a:xfrm>
            <a:off x="69342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1" name="Google Shape;811;p24"/>
          <p:cNvSpPr/>
          <p:nvPr/>
        </p:nvSpPr>
        <p:spPr>
          <a:xfrm>
            <a:off x="6096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2" name="Google Shape;812;p24"/>
          <p:cNvSpPr/>
          <p:nvPr/>
        </p:nvSpPr>
        <p:spPr>
          <a:xfrm>
            <a:off x="5638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3" name="Google Shape;813;p24"/>
          <p:cNvSpPr/>
          <p:nvPr/>
        </p:nvSpPr>
        <p:spPr>
          <a:xfrm>
            <a:off x="60198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4" name="Google Shape;814;p24"/>
          <p:cNvSpPr/>
          <p:nvPr/>
        </p:nvSpPr>
        <p:spPr>
          <a:xfrm>
            <a:off x="6477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5" name="Google Shape;815;p24"/>
          <p:cNvSpPr/>
          <p:nvPr/>
        </p:nvSpPr>
        <p:spPr>
          <a:xfrm>
            <a:off x="58674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6" name="Google Shape;816;p24"/>
          <p:cNvSpPr/>
          <p:nvPr/>
        </p:nvSpPr>
        <p:spPr>
          <a:xfrm>
            <a:off x="54102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7" name="Google Shape;817;p24"/>
          <p:cNvSpPr/>
          <p:nvPr/>
        </p:nvSpPr>
        <p:spPr>
          <a:xfrm>
            <a:off x="51054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8" name="Google Shape;818;p24"/>
          <p:cNvSpPr/>
          <p:nvPr/>
        </p:nvSpPr>
        <p:spPr>
          <a:xfrm>
            <a:off x="44958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19" name="Google Shape;819;p24"/>
          <p:cNvSpPr/>
          <p:nvPr/>
        </p:nvSpPr>
        <p:spPr>
          <a:xfrm>
            <a:off x="4724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0" name="Google Shape;820;p24"/>
          <p:cNvSpPr/>
          <p:nvPr/>
        </p:nvSpPr>
        <p:spPr>
          <a:xfrm>
            <a:off x="4953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1" name="Google Shape;821;p24"/>
          <p:cNvSpPr/>
          <p:nvPr/>
        </p:nvSpPr>
        <p:spPr>
          <a:xfrm>
            <a:off x="41148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2" name="Google Shape;822;p24"/>
          <p:cNvSpPr/>
          <p:nvPr/>
        </p:nvSpPr>
        <p:spPr>
          <a:xfrm>
            <a:off x="40386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3" name="Google Shape;823;p24"/>
          <p:cNvSpPr/>
          <p:nvPr/>
        </p:nvSpPr>
        <p:spPr>
          <a:xfrm>
            <a:off x="35052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4" name="Google Shape;824;p24"/>
          <p:cNvSpPr/>
          <p:nvPr/>
        </p:nvSpPr>
        <p:spPr>
          <a:xfrm>
            <a:off x="40386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5" name="Google Shape;825;p24"/>
          <p:cNvSpPr/>
          <p:nvPr/>
        </p:nvSpPr>
        <p:spPr>
          <a:xfrm>
            <a:off x="42672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6" name="Google Shape;826;p24"/>
          <p:cNvSpPr/>
          <p:nvPr/>
        </p:nvSpPr>
        <p:spPr>
          <a:xfrm>
            <a:off x="3733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7" name="Google Shape;827;p24"/>
          <p:cNvSpPr/>
          <p:nvPr/>
        </p:nvSpPr>
        <p:spPr>
          <a:xfrm>
            <a:off x="42672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8" name="Google Shape;828;p24"/>
          <p:cNvSpPr/>
          <p:nvPr/>
        </p:nvSpPr>
        <p:spPr>
          <a:xfrm>
            <a:off x="4724400"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29" name="Google Shape;829;p24"/>
          <p:cNvSpPr/>
          <p:nvPr/>
        </p:nvSpPr>
        <p:spPr>
          <a:xfrm>
            <a:off x="4343400" y="182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0" name="Google Shape;830;p24"/>
          <p:cNvSpPr/>
          <p:nvPr/>
        </p:nvSpPr>
        <p:spPr>
          <a:xfrm>
            <a:off x="50292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1" name="Google Shape;831;p24"/>
          <p:cNvSpPr/>
          <p:nvPr/>
        </p:nvSpPr>
        <p:spPr>
          <a:xfrm>
            <a:off x="4191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2" name="Google Shape;832;p24"/>
          <p:cNvSpPr/>
          <p:nvPr/>
        </p:nvSpPr>
        <p:spPr>
          <a:xfrm>
            <a:off x="37338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3" name="Google Shape;833;p24"/>
          <p:cNvSpPr/>
          <p:nvPr/>
        </p:nvSpPr>
        <p:spPr>
          <a:xfrm>
            <a:off x="3657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4" name="Google Shape;834;p24"/>
          <p:cNvSpPr/>
          <p:nvPr/>
        </p:nvSpPr>
        <p:spPr>
          <a:xfrm>
            <a:off x="3276600" y="2667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5" name="Google Shape;835;p24"/>
          <p:cNvSpPr/>
          <p:nvPr/>
        </p:nvSpPr>
        <p:spPr>
          <a:xfrm>
            <a:off x="36576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6" name="Google Shape;836;p24"/>
          <p:cNvSpPr/>
          <p:nvPr/>
        </p:nvSpPr>
        <p:spPr>
          <a:xfrm>
            <a:off x="2895600" y="3581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7" name="Google Shape;837;p24"/>
          <p:cNvSpPr/>
          <p:nvPr/>
        </p:nvSpPr>
        <p:spPr>
          <a:xfrm>
            <a:off x="2819400" y="4419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8" name="Google Shape;838;p24"/>
          <p:cNvSpPr/>
          <p:nvPr/>
        </p:nvSpPr>
        <p:spPr>
          <a:xfrm>
            <a:off x="3048000" y="5257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39" name="Google Shape;839;p24"/>
          <p:cNvSpPr/>
          <p:nvPr/>
        </p:nvSpPr>
        <p:spPr>
          <a:xfrm>
            <a:off x="23622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0" name="Google Shape;840;p24"/>
          <p:cNvSpPr/>
          <p:nvPr/>
        </p:nvSpPr>
        <p:spPr>
          <a:xfrm>
            <a:off x="19050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1" name="Google Shape;841;p24"/>
          <p:cNvSpPr/>
          <p:nvPr/>
        </p:nvSpPr>
        <p:spPr>
          <a:xfrm>
            <a:off x="19050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2" name="Google Shape;842;p24"/>
          <p:cNvSpPr/>
          <p:nvPr/>
        </p:nvSpPr>
        <p:spPr>
          <a:xfrm>
            <a:off x="2514600" y="2743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3" name="Google Shape;843;p24"/>
          <p:cNvSpPr/>
          <p:nvPr/>
        </p:nvSpPr>
        <p:spPr>
          <a:xfrm>
            <a:off x="28956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4" name="Google Shape;844;p24"/>
          <p:cNvSpPr/>
          <p:nvPr/>
        </p:nvSpPr>
        <p:spPr>
          <a:xfrm>
            <a:off x="19812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5" name="Google Shape;845;p24"/>
          <p:cNvSpPr/>
          <p:nvPr/>
        </p:nvSpPr>
        <p:spPr>
          <a:xfrm>
            <a:off x="182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6" name="Google Shape;846;p24"/>
          <p:cNvSpPr/>
          <p:nvPr/>
        </p:nvSpPr>
        <p:spPr>
          <a:xfrm>
            <a:off x="7620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7" name="Google Shape;847;p24"/>
          <p:cNvSpPr/>
          <p:nvPr/>
        </p:nvSpPr>
        <p:spPr>
          <a:xfrm>
            <a:off x="838200" y="579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8" name="Google Shape;848;p24"/>
          <p:cNvSpPr/>
          <p:nvPr/>
        </p:nvSpPr>
        <p:spPr>
          <a:xfrm>
            <a:off x="8382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49" name="Google Shape;849;p24"/>
          <p:cNvSpPr/>
          <p:nvPr/>
        </p:nvSpPr>
        <p:spPr>
          <a:xfrm>
            <a:off x="990600" y="2286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50" name="Google Shape;850;p24"/>
          <p:cNvSpPr/>
          <p:nvPr/>
        </p:nvSpPr>
        <p:spPr>
          <a:xfrm>
            <a:off x="1143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51" name="Google Shape;851;p24"/>
          <p:cNvSpPr/>
          <p:nvPr/>
        </p:nvSpPr>
        <p:spPr>
          <a:xfrm>
            <a:off x="2590800" y="106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852" name="Google Shape;852;p24"/>
          <p:cNvGrpSpPr/>
          <p:nvPr/>
        </p:nvGrpSpPr>
        <p:grpSpPr>
          <a:xfrm>
            <a:off x="2590800" y="1524000"/>
            <a:ext cx="2819400" cy="2895600"/>
            <a:chOff x="3744" y="4464"/>
            <a:chExt cx="1776" cy="1824"/>
          </a:xfrm>
        </p:grpSpPr>
        <p:sp>
          <p:nvSpPr>
            <p:cNvPr id="853" name="Google Shape;853;p24"/>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854" name="Google Shape;854;p24"/>
            <p:cNvGrpSpPr/>
            <p:nvPr/>
          </p:nvGrpSpPr>
          <p:grpSpPr>
            <a:xfrm>
              <a:off x="4491" y="5231"/>
              <a:ext cx="288" cy="288"/>
              <a:chOff x="4486" y="3484"/>
              <a:chExt cx="288" cy="288"/>
            </a:xfrm>
          </p:grpSpPr>
          <p:sp>
            <p:nvSpPr>
              <p:cNvPr id="855" name="Google Shape;855;p24"/>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856" name="Google Shape;856;p24"/>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857" name="Google Shape;857;p24"/>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grpSp>
        <p:nvGrpSpPr>
          <p:cNvPr id="858" name="Google Shape;858;p24"/>
          <p:cNvGrpSpPr/>
          <p:nvPr/>
        </p:nvGrpSpPr>
        <p:grpSpPr>
          <a:xfrm>
            <a:off x="4343400" y="2895600"/>
            <a:ext cx="457200" cy="457200"/>
            <a:chOff x="4486" y="3484"/>
            <a:chExt cx="288" cy="288"/>
          </a:xfrm>
        </p:grpSpPr>
        <p:sp>
          <p:nvSpPr>
            <p:cNvPr id="859" name="Google Shape;859;p24"/>
            <p:cNvSpPr/>
            <p:nvPr/>
          </p:nvSpPr>
          <p:spPr>
            <a:xfrm>
              <a:off x="4560" y="3552"/>
              <a:ext cx="144" cy="144"/>
            </a:xfrm>
            <a:prstGeom prst="ellipse">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860" name="Google Shape;860;p24"/>
            <p:cNvCxnSpPr/>
            <p:nvPr/>
          </p:nvCxnSpPr>
          <p:spPr>
            <a:xfrm>
              <a:off x="4632" y="3484"/>
              <a:ext cx="0" cy="288"/>
            </a:xfrm>
            <a:prstGeom prst="straightConnector1">
              <a:avLst/>
            </a:prstGeom>
            <a:noFill/>
            <a:ln w="9525" cap="flat" cmpd="sng">
              <a:solidFill>
                <a:srgbClr val="FF9900"/>
              </a:solidFill>
              <a:prstDash val="solid"/>
              <a:round/>
              <a:headEnd type="none" w="med" len="med"/>
              <a:tailEnd type="none" w="med" len="med"/>
            </a:ln>
          </p:spPr>
        </p:cxnSp>
        <p:cxnSp>
          <p:nvCxnSpPr>
            <p:cNvPr id="861" name="Google Shape;861;p24"/>
            <p:cNvCxnSpPr/>
            <p:nvPr/>
          </p:nvCxnSpPr>
          <p:spPr>
            <a:xfrm rot="10800000">
              <a:off x="4630" y="3482"/>
              <a:ext cx="0" cy="288"/>
            </a:xfrm>
            <a:prstGeom prst="straightConnector1">
              <a:avLst/>
            </a:prstGeom>
            <a:noFill/>
            <a:ln w="9525" cap="flat" cmpd="sng">
              <a:solidFill>
                <a:srgbClr val="FF9900"/>
              </a:solidFill>
              <a:prstDash val="solid"/>
              <a:round/>
              <a:headEnd type="none" w="med" len="med"/>
              <a:tailEnd type="none" w="med" len="med"/>
            </a:ln>
          </p:spPr>
        </p:cxnSp>
      </p:grpSp>
      <p:sp>
        <p:nvSpPr>
          <p:cNvPr id="862" name="Google Shape;862;p24"/>
          <p:cNvSpPr/>
          <p:nvPr/>
        </p:nvSpPr>
        <p:spPr>
          <a:xfrm>
            <a:off x="7467600" y="914400"/>
            <a:ext cx="1447800" cy="609600"/>
          </a:xfrm>
          <a:prstGeom prst="roundRect">
            <a:avLst>
              <a:gd name="adj" fmla="val 16667"/>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Region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interest</a:t>
            </a:r>
            <a:endParaRPr/>
          </a:p>
        </p:txBody>
      </p:sp>
      <p:sp>
        <p:nvSpPr>
          <p:cNvPr id="863" name="Google Shape;863;p24"/>
          <p:cNvSpPr/>
          <p:nvPr/>
        </p:nvSpPr>
        <p:spPr>
          <a:xfrm>
            <a:off x="7467600" y="1600200"/>
            <a:ext cx="1447800" cy="609600"/>
          </a:xfrm>
          <a:prstGeom prst="roundRect">
            <a:avLst>
              <a:gd name="adj" fmla="val 16667"/>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Center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mass</a:t>
            </a:r>
            <a:endParaRPr/>
          </a:p>
        </p:txBody>
      </p:sp>
      <p:sp>
        <p:nvSpPr>
          <p:cNvPr id="864" name="Google Shape;864;p24"/>
          <p:cNvSpPr/>
          <p:nvPr/>
        </p:nvSpPr>
        <p:spPr>
          <a:xfrm>
            <a:off x="7467600" y="5410200"/>
            <a:ext cx="1447800" cy="609600"/>
          </a:xfrm>
          <a:prstGeom prst="roundRect">
            <a:avLst>
              <a:gd name="adj" fmla="val 16667"/>
            </a:avLst>
          </a:prstGeom>
          <a:solidFill>
            <a:srgbClr val="FFFF00"/>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Mean Shift</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vector</a:t>
            </a:r>
            <a:endParaRPr/>
          </a:p>
        </p:txBody>
      </p:sp>
      <p:sp>
        <p:nvSpPr>
          <p:cNvPr id="865" name="Google Shape;865;p24"/>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
        <p:nvSpPr>
          <p:cNvPr id="866" name="Google Shape;866;p24"/>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a:t>
            </a:r>
            <a:endParaRPr/>
          </a:p>
        </p:txBody>
      </p:sp>
      <p:sp>
        <p:nvSpPr>
          <p:cNvPr id="867" name="Google Shape;867;p24"/>
          <p:cNvSpPr txBox="1"/>
          <p:nvPr/>
        </p:nvSpPr>
        <p:spPr>
          <a:xfrm>
            <a:off x="6537800" y="788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CV 11: Image Segmentation</a:t>
            </a:r>
            <a:endParaRPr sz="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afterEffect">
                                  <p:stCondLst>
                                    <p:cond delay="0"/>
                                  </p:stCondLst>
                                  <p:childTnLst>
                                    <p:set>
                                      <p:cBhvr>
                                        <p:cTn id="6" dur="1" fill="hold">
                                          <p:stCondLst>
                                            <p:cond delay="1"/>
                                          </p:stCondLst>
                                        </p:cTn>
                                        <p:tgtEl>
                                          <p:spTgt spid="8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25"/>
          <p:cNvSpPr/>
          <p:nvPr/>
        </p:nvSpPr>
        <p:spPr>
          <a:xfrm>
            <a:off x="55626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74" name="Google Shape;874;p25"/>
          <p:cNvSpPr/>
          <p:nvPr/>
        </p:nvSpPr>
        <p:spPr>
          <a:xfrm>
            <a:off x="5768975"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75" name="Google Shape;875;p25"/>
          <p:cNvSpPr/>
          <p:nvPr/>
        </p:nvSpPr>
        <p:spPr>
          <a:xfrm>
            <a:off x="5692775" y="3276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76" name="Google Shape;876;p25"/>
          <p:cNvSpPr/>
          <p:nvPr/>
        </p:nvSpPr>
        <p:spPr>
          <a:xfrm>
            <a:off x="5440363" y="32210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77" name="Google Shape;877;p25"/>
          <p:cNvSpPr/>
          <p:nvPr/>
        </p:nvSpPr>
        <p:spPr>
          <a:xfrm>
            <a:off x="5681663"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78" name="Google Shape;878;p25"/>
          <p:cNvSpPr/>
          <p:nvPr/>
        </p:nvSpPr>
        <p:spPr>
          <a:xfrm>
            <a:off x="5454650"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79" name="Google Shape;879;p25"/>
          <p:cNvSpPr/>
          <p:nvPr/>
        </p:nvSpPr>
        <p:spPr>
          <a:xfrm>
            <a:off x="5932488" y="36147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0" name="Google Shape;880;p25"/>
          <p:cNvSpPr/>
          <p:nvPr/>
        </p:nvSpPr>
        <p:spPr>
          <a:xfrm>
            <a:off x="5322888"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1" name="Google Shape;881;p25"/>
          <p:cNvSpPr/>
          <p:nvPr/>
        </p:nvSpPr>
        <p:spPr>
          <a:xfrm>
            <a:off x="6062663"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2" name="Google Shape;882;p25"/>
          <p:cNvSpPr/>
          <p:nvPr/>
        </p:nvSpPr>
        <p:spPr>
          <a:xfrm>
            <a:off x="5921375" y="314325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3" name="Google Shape;883;p25"/>
          <p:cNvSpPr/>
          <p:nvPr/>
        </p:nvSpPr>
        <p:spPr>
          <a:xfrm>
            <a:off x="563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4" name="Google Shape;884;p25"/>
          <p:cNvSpPr/>
          <p:nvPr/>
        </p:nvSpPr>
        <p:spPr>
          <a:xfrm>
            <a:off x="57912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5" name="Google Shape;885;p25"/>
          <p:cNvSpPr/>
          <p:nvPr/>
        </p:nvSpPr>
        <p:spPr>
          <a:xfrm>
            <a:off x="5486400" y="38306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6" name="Google Shape;886;p25"/>
          <p:cNvSpPr/>
          <p:nvPr/>
        </p:nvSpPr>
        <p:spPr>
          <a:xfrm>
            <a:off x="5181600" y="3679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7" name="Google Shape;887;p25"/>
          <p:cNvSpPr/>
          <p:nvPr/>
        </p:nvSpPr>
        <p:spPr>
          <a:xfrm>
            <a:off x="49530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8" name="Google Shape;888;p25"/>
          <p:cNvSpPr/>
          <p:nvPr/>
        </p:nvSpPr>
        <p:spPr>
          <a:xfrm>
            <a:off x="5181600" y="3200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89" name="Google Shape;889;p25"/>
          <p:cNvSpPr/>
          <p:nvPr/>
        </p:nvSpPr>
        <p:spPr>
          <a:xfrm>
            <a:off x="62484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0" name="Google Shape;890;p25"/>
          <p:cNvSpPr/>
          <p:nvPr/>
        </p:nvSpPr>
        <p:spPr>
          <a:xfrm>
            <a:off x="6172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1" name="Google Shape;891;p25"/>
          <p:cNvSpPr/>
          <p:nvPr/>
        </p:nvSpPr>
        <p:spPr>
          <a:xfrm>
            <a:off x="5888038" y="409416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2" name="Google Shape;892;p25"/>
          <p:cNvSpPr/>
          <p:nvPr/>
        </p:nvSpPr>
        <p:spPr>
          <a:xfrm>
            <a:off x="54864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3" name="Google Shape;893;p25"/>
          <p:cNvSpPr/>
          <p:nvPr/>
        </p:nvSpPr>
        <p:spPr>
          <a:xfrm>
            <a:off x="5029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4" name="Google Shape;894;p25"/>
          <p:cNvSpPr/>
          <p:nvPr/>
        </p:nvSpPr>
        <p:spPr>
          <a:xfrm>
            <a:off x="46482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5" name="Google Shape;895;p25"/>
          <p:cNvSpPr/>
          <p:nvPr/>
        </p:nvSpPr>
        <p:spPr>
          <a:xfrm>
            <a:off x="45720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6" name="Google Shape;896;p25"/>
          <p:cNvSpPr/>
          <p:nvPr/>
        </p:nvSpPr>
        <p:spPr>
          <a:xfrm>
            <a:off x="49530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7" name="Google Shape;897;p25"/>
          <p:cNvSpPr/>
          <p:nvPr/>
        </p:nvSpPr>
        <p:spPr>
          <a:xfrm>
            <a:off x="53340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8" name="Google Shape;898;p25"/>
          <p:cNvSpPr/>
          <p:nvPr/>
        </p:nvSpPr>
        <p:spPr>
          <a:xfrm>
            <a:off x="5921375"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899" name="Google Shape;899;p25"/>
          <p:cNvSpPr/>
          <p:nvPr/>
        </p:nvSpPr>
        <p:spPr>
          <a:xfrm>
            <a:off x="56388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0" name="Google Shape;900;p25"/>
          <p:cNvSpPr/>
          <p:nvPr/>
        </p:nvSpPr>
        <p:spPr>
          <a:xfrm>
            <a:off x="47244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1" name="Google Shape;901;p25"/>
          <p:cNvSpPr/>
          <p:nvPr/>
        </p:nvSpPr>
        <p:spPr>
          <a:xfrm>
            <a:off x="51054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2" name="Google Shape;902;p25"/>
          <p:cNvSpPr/>
          <p:nvPr/>
        </p:nvSpPr>
        <p:spPr>
          <a:xfrm>
            <a:off x="5638800" y="198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3" name="Google Shape;903;p25"/>
          <p:cNvSpPr/>
          <p:nvPr/>
        </p:nvSpPr>
        <p:spPr>
          <a:xfrm>
            <a:off x="5181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4" name="Google Shape;904;p25"/>
          <p:cNvSpPr/>
          <p:nvPr/>
        </p:nvSpPr>
        <p:spPr>
          <a:xfrm>
            <a:off x="5921375"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5" name="Google Shape;905;p25"/>
          <p:cNvSpPr/>
          <p:nvPr/>
        </p:nvSpPr>
        <p:spPr>
          <a:xfrm>
            <a:off x="5921375" y="1371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6" name="Google Shape;906;p25"/>
          <p:cNvSpPr/>
          <p:nvPr/>
        </p:nvSpPr>
        <p:spPr>
          <a:xfrm>
            <a:off x="6172200" y="2133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7" name="Google Shape;907;p25"/>
          <p:cNvSpPr/>
          <p:nvPr/>
        </p:nvSpPr>
        <p:spPr>
          <a:xfrm>
            <a:off x="6259513" y="26765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8" name="Google Shape;908;p25"/>
          <p:cNvSpPr/>
          <p:nvPr/>
        </p:nvSpPr>
        <p:spPr>
          <a:xfrm>
            <a:off x="62484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09" name="Google Shape;909;p25"/>
          <p:cNvSpPr/>
          <p:nvPr/>
        </p:nvSpPr>
        <p:spPr>
          <a:xfrm>
            <a:off x="66294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0" name="Google Shape;910;p25"/>
          <p:cNvSpPr/>
          <p:nvPr/>
        </p:nvSpPr>
        <p:spPr>
          <a:xfrm>
            <a:off x="66294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1" name="Google Shape;911;p25"/>
          <p:cNvSpPr/>
          <p:nvPr/>
        </p:nvSpPr>
        <p:spPr>
          <a:xfrm>
            <a:off x="6553200" y="205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2" name="Google Shape;912;p25"/>
          <p:cNvSpPr/>
          <p:nvPr/>
        </p:nvSpPr>
        <p:spPr>
          <a:xfrm>
            <a:off x="63246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3" name="Google Shape;913;p25"/>
          <p:cNvSpPr/>
          <p:nvPr/>
        </p:nvSpPr>
        <p:spPr>
          <a:xfrm>
            <a:off x="6934200" y="129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4" name="Google Shape;914;p25"/>
          <p:cNvSpPr/>
          <p:nvPr/>
        </p:nvSpPr>
        <p:spPr>
          <a:xfrm>
            <a:off x="7010400" y="175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5" name="Google Shape;915;p25"/>
          <p:cNvSpPr/>
          <p:nvPr/>
        </p:nvSpPr>
        <p:spPr>
          <a:xfrm>
            <a:off x="7315200" y="2362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6" name="Google Shape;916;p25"/>
          <p:cNvSpPr/>
          <p:nvPr/>
        </p:nvSpPr>
        <p:spPr>
          <a:xfrm>
            <a:off x="6705600" y="3352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7" name="Google Shape;917;p25"/>
          <p:cNvSpPr/>
          <p:nvPr/>
        </p:nvSpPr>
        <p:spPr>
          <a:xfrm>
            <a:off x="71628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8" name="Google Shape;918;p25"/>
          <p:cNvSpPr/>
          <p:nvPr/>
        </p:nvSpPr>
        <p:spPr>
          <a:xfrm>
            <a:off x="7924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19" name="Google Shape;919;p25"/>
          <p:cNvSpPr/>
          <p:nvPr/>
        </p:nvSpPr>
        <p:spPr>
          <a:xfrm>
            <a:off x="6934200" y="3886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0" name="Google Shape;920;p25"/>
          <p:cNvSpPr/>
          <p:nvPr/>
        </p:nvSpPr>
        <p:spPr>
          <a:xfrm>
            <a:off x="7478713" y="343058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1" name="Google Shape;921;p25"/>
          <p:cNvSpPr/>
          <p:nvPr/>
        </p:nvSpPr>
        <p:spPr>
          <a:xfrm>
            <a:off x="64770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2" name="Google Shape;922;p25"/>
          <p:cNvSpPr/>
          <p:nvPr/>
        </p:nvSpPr>
        <p:spPr>
          <a:xfrm>
            <a:off x="7543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3" name="Google Shape;923;p25"/>
          <p:cNvSpPr/>
          <p:nvPr/>
        </p:nvSpPr>
        <p:spPr>
          <a:xfrm>
            <a:off x="69342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4" name="Google Shape;924;p25"/>
          <p:cNvSpPr/>
          <p:nvPr/>
        </p:nvSpPr>
        <p:spPr>
          <a:xfrm>
            <a:off x="6096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5" name="Google Shape;925;p25"/>
          <p:cNvSpPr/>
          <p:nvPr/>
        </p:nvSpPr>
        <p:spPr>
          <a:xfrm>
            <a:off x="5638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6" name="Google Shape;926;p25"/>
          <p:cNvSpPr/>
          <p:nvPr/>
        </p:nvSpPr>
        <p:spPr>
          <a:xfrm>
            <a:off x="60198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7" name="Google Shape;927;p25"/>
          <p:cNvSpPr/>
          <p:nvPr/>
        </p:nvSpPr>
        <p:spPr>
          <a:xfrm>
            <a:off x="6477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8" name="Google Shape;928;p25"/>
          <p:cNvSpPr/>
          <p:nvPr/>
        </p:nvSpPr>
        <p:spPr>
          <a:xfrm>
            <a:off x="58674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29" name="Google Shape;929;p25"/>
          <p:cNvSpPr/>
          <p:nvPr/>
        </p:nvSpPr>
        <p:spPr>
          <a:xfrm>
            <a:off x="54102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0" name="Google Shape;930;p25"/>
          <p:cNvSpPr/>
          <p:nvPr/>
        </p:nvSpPr>
        <p:spPr>
          <a:xfrm>
            <a:off x="51054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1" name="Google Shape;931;p25"/>
          <p:cNvSpPr/>
          <p:nvPr/>
        </p:nvSpPr>
        <p:spPr>
          <a:xfrm>
            <a:off x="44958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2" name="Google Shape;932;p25"/>
          <p:cNvSpPr/>
          <p:nvPr/>
        </p:nvSpPr>
        <p:spPr>
          <a:xfrm>
            <a:off x="4724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3" name="Google Shape;933;p25"/>
          <p:cNvSpPr/>
          <p:nvPr/>
        </p:nvSpPr>
        <p:spPr>
          <a:xfrm>
            <a:off x="4953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4" name="Google Shape;934;p25"/>
          <p:cNvSpPr/>
          <p:nvPr/>
        </p:nvSpPr>
        <p:spPr>
          <a:xfrm>
            <a:off x="41148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5" name="Google Shape;935;p25"/>
          <p:cNvSpPr/>
          <p:nvPr/>
        </p:nvSpPr>
        <p:spPr>
          <a:xfrm>
            <a:off x="40386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6" name="Google Shape;936;p25"/>
          <p:cNvSpPr/>
          <p:nvPr/>
        </p:nvSpPr>
        <p:spPr>
          <a:xfrm>
            <a:off x="35052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7" name="Google Shape;937;p25"/>
          <p:cNvSpPr/>
          <p:nvPr/>
        </p:nvSpPr>
        <p:spPr>
          <a:xfrm>
            <a:off x="40386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8" name="Google Shape;938;p25"/>
          <p:cNvSpPr/>
          <p:nvPr/>
        </p:nvSpPr>
        <p:spPr>
          <a:xfrm>
            <a:off x="42672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39" name="Google Shape;939;p25"/>
          <p:cNvSpPr/>
          <p:nvPr/>
        </p:nvSpPr>
        <p:spPr>
          <a:xfrm>
            <a:off x="3733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0" name="Google Shape;940;p25"/>
          <p:cNvSpPr/>
          <p:nvPr/>
        </p:nvSpPr>
        <p:spPr>
          <a:xfrm>
            <a:off x="42672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1" name="Google Shape;941;p25"/>
          <p:cNvSpPr/>
          <p:nvPr/>
        </p:nvSpPr>
        <p:spPr>
          <a:xfrm>
            <a:off x="4724400"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2" name="Google Shape;942;p25"/>
          <p:cNvSpPr/>
          <p:nvPr/>
        </p:nvSpPr>
        <p:spPr>
          <a:xfrm>
            <a:off x="4343400" y="182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3" name="Google Shape;943;p25"/>
          <p:cNvSpPr/>
          <p:nvPr/>
        </p:nvSpPr>
        <p:spPr>
          <a:xfrm>
            <a:off x="50292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4" name="Google Shape;944;p25"/>
          <p:cNvSpPr/>
          <p:nvPr/>
        </p:nvSpPr>
        <p:spPr>
          <a:xfrm>
            <a:off x="4191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5" name="Google Shape;945;p25"/>
          <p:cNvSpPr/>
          <p:nvPr/>
        </p:nvSpPr>
        <p:spPr>
          <a:xfrm>
            <a:off x="37338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6" name="Google Shape;946;p25"/>
          <p:cNvSpPr/>
          <p:nvPr/>
        </p:nvSpPr>
        <p:spPr>
          <a:xfrm>
            <a:off x="3657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7" name="Google Shape;947;p25"/>
          <p:cNvSpPr/>
          <p:nvPr/>
        </p:nvSpPr>
        <p:spPr>
          <a:xfrm>
            <a:off x="3276600" y="2667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8" name="Google Shape;948;p25"/>
          <p:cNvSpPr/>
          <p:nvPr/>
        </p:nvSpPr>
        <p:spPr>
          <a:xfrm>
            <a:off x="36576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49" name="Google Shape;949;p25"/>
          <p:cNvSpPr/>
          <p:nvPr/>
        </p:nvSpPr>
        <p:spPr>
          <a:xfrm>
            <a:off x="2895600" y="3581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0" name="Google Shape;950;p25"/>
          <p:cNvSpPr/>
          <p:nvPr/>
        </p:nvSpPr>
        <p:spPr>
          <a:xfrm>
            <a:off x="2819400" y="4419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1" name="Google Shape;951;p25"/>
          <p:cNvSpPr/>
          <p:nvPr/>
        </p:nvSpPr>
        <p:spPr>
          <a:xfrm>
            <a:off x="3048000" y="5257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2" name="Google Shape;952;p25"/>
          <p:cNvSpPr/>
          <p:nvPr/>
        </p:nvSpPr>
        <p:spPr>
          <a:xfrm>
            <a:off x="23622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3" name="Google Shape;953;p25"/>
          <p:cNvSpPr/>
          <p:nvPr/>
        </p:nvSpPr>
        <p:spPr>
          <a:xfrm>
            <a:off x="19050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4" name="Google Shape;954;p25"/>
          <p:cNvSpPr/>
          <p:nvPr/>
        </p:nvSpPr>
        <p:spPr>
          <a:xfrm>
            <a:off x="19050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5" name="Google Shape;955;p25"/>
          <p:cNvSpPr/>
          <p:nvPr/>
        </p:nvSpPr>
        <p:spPr>
          <a:xfrm>
            <a:off x="2514600" y="2743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6" name="Google Shape;956;p25"/>
          <p:cNvSpPr/>
          <p:nvPr/>
        </p:nvSpPr>
        <p:spPr>
          <a:xfrm>
            <a:off x="28956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7" name="Google Shape;957;p25"/>
          <p:cNvSpPr/>
          <p:nvPr/>
        </p:nvSpPr>
        <p:spPr>
          <a:xfrm>
            <a:off x="19812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8" name="Google Shape;958;p25"/>
          <p:cNvSpPr/>
          <p:nvPr/>
        </p:nvSpPr>
        <p:spPr>
          <a:xfrm>
            <a:off x="182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59" name="Google Shape;959;p25"/>
          <p:cNvSpPr/>
          <p:nvPr/>
        </p:nvSpPr>
        <p:spPr>
          <a:xfrm>
            <a:off x="7620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60" name="Google Shape;960;p25"/>
          <p:cNvSpPr/>
          <p:nvPr/>
        </p:nvSpPr>
        <p:spPr>
          <a:xfrm>
            <a:off x="838200" y="579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61" name="Google Shape;961;p25"/>
          <p:cNvSpPr/>
          <p:nvPr/>
        </p:nvSpPr>
        <p:spPr>
          <a:xfrm>
            <a:off x="8382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62" name="Google Shape;962;p25"/>
          <p:cNvSpPr/>
          <p:nvPr/>
        </p:nvSpPr>
        <p:spPr>
          <a:xfrm>
            <a:off x="990600" y="2286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63" name="Google Shape;963;p25"/>
          <p:cNvSpPr/>
          <p:nvPr/>
        </p:nvSpPr>
        <p:spPr>
          <a:xfrm>
            <a:off x="1143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64" name="Google Shape;964;p25"/>
          <p:cNvSpPr/>
          <p:nvPr/>
        </p:nvSpPr>
        <p:spPr>
          <a:xfrm>
            <a:off x="2590800" y="106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965" name="Google Shape;965;p25"/>
          <p:cNvGrpSpPr/>
          <p:nvPr/>
        </p:nvGrpSpPr>
        <p:grpSpPr>
          <a:xfrm>
            <a:off x="3167063" y="1676400"/>
            <a:ext cx="2819400" cy="2895600"/>
            <a:chOff x="3744" y="4464"/>
            <a:chExt cx="1776" cy="1824"/>
          </a:xfrm>
        </p:grpSpPr>
        <p:sp>
          <p:nvSpPr>
            <p:cNvPr id="966" name="Google Shape;966;p25"/>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967" name="Google Shape;967;p25"/>
            <p:cNvGrpSpPr/>
            <p:nvPr/>
          </p:nvGrpSpPr>
          <p:grpSpPr>
            <a:xfrm>
              <a:off x="4491" y="5231"/>
              <a:ext cx="288" cy="288"/>
              <a:chOff x="4486" y="3484"/>
              <a:chExt cx="288" cy="288"/>
            </a:xfrm>
          </p:grpSpPr>
          <p:sp>
            <p:nvSpPr>
              <p:cNvPr id="968" name="Google Shape;968;p25"/>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969" name="Google Shape;969;p25"/>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970" name="Google Shape;970;p25"/>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sp>
        <p:nvSpPr>
          <p:cNvPr id="971" name="Google Shape;971;p25"/>
          <p:cNvSpPr/>
          <p:nvPr/>
        </p:nvSpPr>
        <p:spPr>
          <a:xfrm>
            <a:off x="7467600" y="914400"/>
            <a:ext cx="1447800" cy="609600"/>
          </a:xfrm>
          <a:prstGeom prst="roundRect">
            <a:avLst>
              <a:gd name="adj" fmla="val 16667"/>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Region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interest</a:t>
            </a:r>
            <a:endParaRPr/>
          </a:p>
        </p:txBody>
      </p:sp>
      <p:sp>
        <p:nvSpPr>
          <p:cNvPr id="972" name="Google Shape;972;p25"/>
          <p:cNvSpPr/>
          <p:nvPr/>
        </p:nvSpPr>
        <p:spPr>
          <a:xfrm>
            <a:off x="7467600" y="1600200"/>
            <a:ext cx="1447800" cy="609600"/>
          </a:xfrm>
          <a:prstGeom prst="roundRect">
            <a:avLst>
              <a:gd name="adj" fmla="val 16667"/>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Center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mass</a:t>
            </a:r>
            <a:endParaRPr/>
          </a:p>
        </p:txBody>
      </p:sp>
      <p:sp>
        <p:nvSpPr>
          <p:cNvPr id="973" name="Google Shape;973;p25"/>
          <p:cNvSpPr/>
          <p:nvPr/>
        </p:nvSpPr>
        <p:spPr>
          <a:xfrm>
            <a:off x="7467600" y="5410200"/>
            <a:ext cx="1447800" cy="609600"/>
          </a:xfrm>
          <a:prstGeom prst="roundRect">
            <a:avLst>
              <a:gd name="adj" fmla="val 16667"/>
            </a:avLst>
          </a:prstGeom>
          <a:solidFill>
            <a:srgbClr val="FFFF00"/>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Mean Shift</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vector</a:t>
            </a:r>
            <a:endParaRPr/>
          </a:p>
        </p:txBody>
      </p:sp>
      <p:grpSp>
        <p:nvGrpSpPr>
          <p:cNvPr id="974" name="Google Shape;974;p25"/>
          <p:cNvGrpSpPr/>
          <p:nvPr/>
        </p:nvGrpSpPr>
        <p:grpSpPr>
          <a:xfrm>
            <a:off x="5029200" y="3200400"/>
            <a:ext cx="457200" cy="457200"/>
            <a:chOff x="4486" y="3484"/>
            <a:chExt cx="288" cy="288"/>
          </a:xfrm>
        </p:grpSpPr>
        <p:sp>
          <p:nvSpPr>
            <p:cNvPr id="975" name="Google Shape;975;p25"/>
            <p:cNvSpPr/>
            <p:nvPr/>
          </p:nvSpPr>
          <p:spPr>
            <a:xfrm>
              <a:off x="4560" y="3552"/>
              <a:ext cx="144" cy="144"/>
            </a:xfrm>
            <a:prstGeom prst="ellipse">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976" name="Google Shape;976;p25"/>
            <p:cNvCxnSpPr/>
            <p:nvPr/>
          </p:nvCxnSpPr>
          <p:spPr>
            <a:xfrm>
              <a:off x="4632" y="3484"/>
              <a:ext cx="0" cy="288"/>
            </a:xfrm>
            <a:prstGeom prst="straightConnector1">
              <a:avLst/>
            </a:prstGeom>
            <a:noFill/>
            <a:ln w="9525" cap="flat" cmpd="sng">
              <a:solidFill>
                <a:srgbClr val="FF9900"/>
              </a:solidFill>
              <a:prstDash val="solid"/>
              <a:round/>
              <a:headEnd type="none" w="med" len="med"/>
              <a:tailEnd type="none" w="med" len="med"/>
            </a:ln>
          </p:spPr>
        </p:cxnSp>
        <p:cxnSp>
          <p:nvCxnSpPr>
            <p:cNvPr id="977" name="Google Shape;977;p25"/>
            <p:cNvCxnSpPr/>
            <p:nvPr/>
          </p:nvCxnSpPr>
          <p:spPr>
            <a:xfrm rot="10800000">
              <a:off x="4630" y="3482"/>
              <a:ext cx="0" cy="288"/>
            </a:xfrm>
            <a:prstGeom prst="straightConnector1">
              <a:avLst/>
            </a:prstGeom>
            <a:noFill/>
            <a:ln w="9525" cap="flat" cmpd="sng">
              <a:solidFill>
                <a:srgbClr val="FF9900"/>
              </a:solidFill>
              <a:prstDash val="solid"/>
              <a:round/>
              <a:headEnd type="none" w="med" len="med"/>
              <a:tailEnd type="none" w="med" len="med"/>
            </a:ln>
          </p:spPr>
        </p:cxnSp>
      </p:grpSp>
      <p:sp>
        <p:nvSpPr>
          <p:cNvPr id="978" name="Google Shape;978;p25"/>
          <p:cNvSpPr/>
          <p:nvPr/>
        </p:nvSpPr>
        <p:spPr>
          <a:xfrm rot="1324470">
            <a:off x="4565650" y="3200400"/>
            <a:ext cx="685800" cy="152400"/>
          </a:xfrm>
          <a:prstGeom prst="rightArrow">
            <a:avLst>
              <a:gd name="adj1" fmla="val 50000"/>
              <a:gd name="adj2" fmla="val 112500"/>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b" anchorCtr="1">
            <a:noAutofit/>
          </a:bodyPr>
          <a:lstStyle/>
          <a:p>
            <a:pPr marL="0" marR="0" lvl="0" indent="0" algn="ctr" rtl="0">
              <a:spcBef>
                <a:spcPts val="0"/>
              </a:spcBef>
              <a:spcAft>
                <a:spcPts val="0"/>
              </a:spcAft>
              <a:buNone/>
            </a:pPr>
            <a:endParaRPr sz="2400">
              <a:solidFill>
                <a:srgbClr val="000000"/>
              </a:solidFill>
              <a:latin typeface="Arial"/>
              <a:ea typeface="Arial"/>
              <a:cs typeface="Arial"/>
              <a:sym typeface="Arial"/>
            </a:endParaRPr>
          </a:p>
        </p:txBody>
      </p:sp>
      <p:sp>
        <p:nvSpPr>
          <p:cNvPr id="979" name="Google Shape;979;p25"/>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
        <p:nvSpPr>
          <p:cNvPr id="980" name="Google Shape;980;p2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74"/>
                                        </p:tgtEl>
                                        <p:attrNameLst>
                                          <p:attrName>style.visibility</p:attrName>
                                        </p:attrNameLst>
                                      </p:cBhvr>
                                      <p:to>
                                        <p:strVal val="visible"/>
                                      </p:to>
                                    </p:set>
                                    <p:anim calcmode="lin" valueType="num">
                                      <p:cBhvr additive="base">
                                        <p:cTn id="7" dur="500"/>
                                        <p:tgtEl>
                                          <p:spTgt spid="974"/>
                                        </p:tgtEl>
                                        <p:attrNameLst>
                                          <p:attrName>ppt_w</p:attrName>
                                        </p:attrNameLst>
                                      </p:cBhvr>
                                      <p:tavLst>
                                        <p:tav tm="0">
                                          <p:val>
                                            <p:strVal val="0"/>
                                          </p:val>
                                        </p:tav>
                                        <p:tav tm="100000">
                                          <p:val>
                                            <p:strVal val="#ppt_w"/>
                                          </p:val>
                                        </p:tav>
                                      </p:tavLst>
                                    </p:anim>
                                    <p:anim calcmode="lin" valueType="num">
                                      <p:cBhvr additive="base">
                                        <p:cTn id="8" dur="500"/>
                                        <p:tgtEl>
                                          <p:spTgt spid="974"/>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5000"/>
                                  </p:stCondLst>
                                  <p:childTnLst>
                                    <p:set>
                                      <p:cBhvr>
                                        <p:cTn id="11" dur="1" fill="hold">
                                          <p:stCondLst>
                                            <p:cond delay="0"/>
                                          </p:stCondLst>
                                        </p:cTn>
                                        <p:tgtEl>
                                          <p:spTgt spid="978"/>
                                        </p:tgtEl>
                                        <p:attrNameLst>
                                          <p:attrName>style.visibility</p:attrName>
                                        </p:attrNameLst>
                                      </p:cBhvr>
                                      <p:to>
                                        <p:strVal val="visible"/>
                                      </p:to>
                                    </p:set>
                                    <p:animEffect transition="in" filter="fade">
                                      <p:cBhvr>
                                        <p:cTn id="12" dur="500"/>
                                        <p:tgtEl>
                                          <p:spTgt spid="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26"/>
          <p:cNvSpPr/>
          <p:nvPr/>
        </p:nvSpPr>
        <p:spPr>
          <a:xfrm>
            <a:off x="55626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87" name="Google Shape;987;p26"/>
          <p:cNvSpPr/>
          <p:nvPr/>
        </p:nvSpPr>
        <p:spPr>
          <a:xfrm>
            <a:off x="5768975"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88" name="Google Shape;988;p26"/>
          <p:cNvSpPr/>
          <p:nvPr/>
        </p:nvSpPr>
        <p:spPr>
          <a:xfrm>
            <a:off x="5692775" y="3276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89" name="Google Shape;989;p26"/>
          <p:cNvSpPr/>
          <p:nvPr/>
        </p:nvSpPr>
        <p:spPr>
          <a:xfrm>
            <a:off x="5440363" y="32210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0" name="Google Shape;990;p26"/>
          <p:cNvSpPr/>
          <p:nvPr/>
        </p:nvSpPr>
        <p:spPr>
          <a:xfrm>
            <a:off x="5681663"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1" name="Google Shape;991;p26"/>
          <p:cNvSpPr/>
          <p:nvPr/>
        </p:nvSpPr>
        <p:spPr>
          <a:xfrm>
            <a:off x="5454650"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2" name="Google Shape;992;p26"/>
          <p:cNvSpPr/>
          <p:nvPr/>
        </p:nvSpPr>
        <p:spPr>
          <a:xfrm>
            <a:off x="5932488" y="36147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3" name="Google Shape;993;p26"/>
          <p:cNvSpPr/>
          <p:nvPr/>
        </p:nvSpPr>
        <p:spPr>
          <a:xfrm>
            <a:off x="5322888"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4" name="Google Shape;994;p26"/>
          <p:cNvSpPr/>
          <p:nvPr/>
        </p:nvSpPr>
        <p:spPr>
          <a:xfrm>
            <a:off x="6062663"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5" name="Google Shape;995;p26"/>
          <p:cNvSpPr/>
          <p:nvPr/>
        </p:nvSpPr>
        <p:spPr>
          <a:xfrm>
            <a:off x="5921375" y="314325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6" name="Google Shape;996;p26"/>
          <p:cNvSpPr/>
          <p:nvPr/>
        </p:nvSpPr>
        <p:spPr>
          <a:xfrm>
            <a:off x="563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7" name="Google Shape;997;p26"/>
          <p:cNvSpPr/>
          <p:nvPr/>
        </p:nvSpPr>
        <p:spPr>
          <a:xfrm>
            <a:off x="57912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8" name="Google Shape;998;p26"/>
          <p:cNvSpPr/>
          <p:nvPr/>
        </p:nvSpPr>
        <p:spPr>
          <a:xfrm>
            <a:off x="5486400" y="38306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999" name="Google Shape;999;p26"/>
          <p:cNvSpPr/>
          <p:nvPr/>
        </p:nvSpPr>
        <p:spPr>
          <a:xfrm>
            <a:off x="5181600" y="3679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0" name="Google Shape;1000;p26"/>
          <p:cNvSpPr/>
          <p:nvPr/>
        </p:nvSpPr>
        <p:spPr>
          <a:xfrm>
            <a:off x="49530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1" name="Google Shape;1001;p26"/>
          <p:cNvSpPr/>
          <p:nvPr/>
        </p:nvSpPr>
        <p:spPr>
          <a:xfrm>
            <a:off x="5181600" y="3200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2" name="Google Shape;1002;p26"/>
          <p:cNvSpPr/>
          <p:nvPr/>
        </p:nvSpPr>
        <p:spPr>
          <a:xfrm>
            <a:off x="62484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3" name="Google Shape;1003;p26"/>
          <p:cNvSpPr/>
          <p:nvPr/>
        </p:nvSpPr>
        <p:spPr>
          <a:xfrm>
            <a:off x="6172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4" name="Google Shape;1004;p26"/>
          <p:cNvSpPr/>
          <p:nvPr/>
        </p:nvSpPr>
        <p:spPr>
          <a:xfrm>
            <a:off x="5888038" y="409416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5" name="Google Shape;1005;p26"/>
          <p:cNvSpPr/>
          <p:nvPr/>
        </p:nvSpPr>
        <p:spPr>
          <a:xfrm>
            <a:off x="54864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6" name="Google Shape;1006;p26"/>
          <p:cNvSpPr/>
          <p:nvPr/>
        </p:nvSpPr>
        <p:spPr>
          <a:xfrm>
            <a:off x="5029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7" name="Google Shape;1007;p26"/>
          <p:cNvSpPr/>
          <p:nvPr/>
        </p:nvSpPr>
        <p:spPr>
          <a:xfrm>
            <a:off x="46482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8" name="Google Shape;1008;p26"/>
          <p:cNvSpPr/>
          <p:nvPr/>
        </p:nvSpPr>
        <p:spPr>
          <a:xfrm>
            <a:off x="45720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09" name="Google Shape;1009;p26"/>
          <p:cNvSpPr/>
          <p:nvPr/>
        </p:nvSpPr>
        <p:spPr>
          <a:xfrm>
            <a:off x="49530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0" name="Google Shape;1010;p26"/>
          <p:cNvSpPr/>
          <p:nvPr/>
        </p:nvSpPr>
        <p:spPr>
          <a:xfrm>
            <a:off x="53340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1" name="Google Shape;1011;p26"/>
          <p:cNvSpPr/>
          <p:nvPr/>
        </p:nvSpPr>
        <p:spPr>
          <a:xfrm>
            <a:off x="5921375"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2" name="Google Shape;1012;p26"/>
          <p:cNvSpPr/>
          <p:nvPr/>
        </p:nvSpPr>
        <p:spPr>
          <a:xfrm>
            <a:off x="56388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3" name="Google Shape;1013;p26"/>
          <p:cNvSpPr/>
          <p:nvPr/>
        </p:nvSpPr>
        <p:spPr>
          <a:xfrm>
            <a:off x="47244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4" name="Google Shape;1014;p26"/>
          <p:cNvSpPr/>
          <p:nvPr/>
        </p:nvSpPr>
        <p:spPr>
          <a:xfrm>
            <a:off x="51054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5" name="Google Shape;1015;p26"/>
          <p:cNvSpPr/>
          <p:nvPr/>
        </p:nvSpPr>
        <p:spPr>
          <a:xfrm>
            <a:off x="5638800" y="198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6" name="Google Shape;1016;p26"/>
          <p:cNvSpPr/>
          <p:nvPr/>
        </p:nvSpPr>
        <p:spPr>
          <a:xfrm>
            <a:off x="5181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7" name="Google Shape;1017;p26"/>
          <p:cNvSpPr/>
          <p:nvPr/>
        </p:nvSpPr>
        <p:spPr>
          <a:xfrm>
            <a:off x="5921375"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8" name="Google Shape;1018;p26"/>
          <p:cNvSpPr/>
          <p:nvPr/>
        </p:nvSpPr>
        <p:spPr>
          <a:xfrm>
            <a:off x="5921375" y="1371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19" name="Google Shape;1019;p26"/>
          <p:cNvSpPr/>
          <p:nvPr/>
        </p:nvSpPr>
        <p:spPr>
          <a:xfrm>
            <a:off x="6172200" y="2133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0" name="Google Shape;1020;p26"/>
          <p:cNvSpPr/>
          <p:nvPr/>
        </p:nvSpPr>
        <p:spPr>
          <a:xfrm>
            <a:off x="6259513" y="26765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1" name="Google Shape;1021;p26"/>
          <p:cNvSpPr/>
          <p:nvPr/>
        </p:nvSpPr>
        <p:spPr>
          <a:xfrm>
            <a:off x="62484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2" name="Google Shape;1022;p26"/>
          <p:cNvSpPr/>
          <p:nvPr/>
        </p:nvSpPr>
        <p:spPr>
          <a:xfrm>
            <a:off x="66294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3" name="Google Shape;1023;p26"/>
          <p:cNvSpPr/>
          <p:nvPr/>
        </p:nvSpPr>
        <p:spPr>
          <a:xfrm>
            <a:off x="66294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4" name="Google Shape;1024;p26"/>
          <p:cNvSpPr/>
          <p:nvPr/>
        </p:nvSpPr>
        <p:spPr>
          <a:xfrm>
            <a:off x="6553200" y="205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5" name="Google Shape;1025;p26"/>
          <p:cNvSpPr/>
          <p:nvPr/>
        </p:nvSpPr>
        <p:spPr>
          <a:xfrm>
            <a:off x="63246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6" name="Google Shape;1026;p26"/>
          <p:cNvSpPr/>
          <p:nvPr/>
        </p:nvSpPr>
        <p:spPr>
          <a:xfrm>
            <a:off x="6934200" y="129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7" name="Google Shape;1027;p26"/>
          <p:cNvSpPr/>
          <p:nvPr/>
        </p:nvSpPr>
        <p:spPr>
          <a:xfrm>
            <a:off x="7010400" y="175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8" name="Google Shape;1028;p26"/>
          <p:cNvSpPr/>
          <p:nvPr/>
        </p:nvSpPr>
        <p:spPr>
          <a:xfrm>
            <a:off x="7315200" y="2362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29" name="Google Shape;1029;p26"/>
          <p:cNvSpPr/>
          <p:nvPr/>
        </p:nvSpPr>
        <p:spPr>
          <a:xfrm>
            <a:off x="6705600" y="3352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0" name="Google Shape;1030;p26"/>
          <p:cNvSpPr/>
          <p:nvPr/>
        </p:nvSpPr>
        <p:spPr>
          <a:xfrm>
            <a:off x="71628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1" name="Google Shape;1031;p26"/>
          <p:cNvSpPr/>
          <p:nvPr/>
        </p:nvSpPr>
        <p:spPr>
          <a:xfrm>
            <a:off x="7924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2" name="Google Shape;1032;p26"/>
          <p:cNvSpPr/>
          <p:nvPr/>
        </p:nvSpPr>
        <p:spPr>
          <a:xfrm>
            <a:off x="6934200" y="3886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3" name="Google Shape;1033;p26"/>
          <p:cNvSpPr/>
          <p:nvPr/>
        </p:nvSpPr>
        <p:spPr>
          <a:xfrm>
            <a:off x="7478713" y="343058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4" name="Google Shape;1034;p26"/>
          <p:cNvSpPr/>
          <p:nvPr/>
        </p:nvSpPr>
        <p:spPr>
          <a:xfrm>
            <a:off x="64770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5" name="Google Shape;1035;p26"/>
          <p:cNvSpPr/>
          <p:nvPr/>
        </p:nvSpPr>
        <p:spPr>
          <a:xfrm>
            <a:off x="7543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6" name="Google Shape;1036;p26"/>
          <p:cNvSpPr/>
          <p:nvPr/>
        </p:nvSpPr>
        <p:spPr>
          <a:xfrm>
            <a:off x="69342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7" name="Google Shape;1037;p26"/>
          <p:cNvSpPr/>
          <p:nvPr/>
        </p:nvSpPr>
        <p:spPr>
          <a:xfrm>
            <a:off x="6096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8" name="Google Shape;1038;p26"/>
          <p:cNvSpPr/>
          <p:nvPr/>
        </p:nvSpPr>
        <p:spPr>
          <a:xfrm>
            <a:off x="5638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39" name="Google Shape;1039;p26"/>
          <p:cNvSpPr/>
          <p:nvPr/>
        </p:nvSpPr>
        <p:spPr>
          <a:xfrm>
            <a:off x="60198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0" name="Google Shape;1040;p26"/>
          <p:cNvSpPr/>
          <p:nvPr/>
        </p:nvSpPr>
        <p:spPr>
          <a:xfrm>
            <a:off x="6477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1" name="Google Shape;1041;p26"/>
          <p:cNvSpPr/>
          <p:nvPr/>
        </p:nvSpPr>
        <p:spPr>
          <a:xfrm>
            <a:off x="58674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2" name="Google Shape;1042;p26"/>
          <p:cNvSpPr/>
          <p:nvPr/>
        </p:nvSpPr>
        <p:spPr>
          <a:xfrm>
            <a:off x="54102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3" name="Google Shape;1043;p26"/>
          <p:cNvSpPr/>
          <p:nvPr/>
        </p:nvSpPr>
        <p:spPr>
          <a:xfrm>
            <a:off x="51054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4" name="Google Shape;1044;p26"/>
          <p:cNvSpPr/>
          <p:nvPr/>
        </p:nvSpPr>
        <p:spPr>
          <a:xfrm>
            <a:off x="44958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5" name="Google Shape;1045;p26"/>
          <p:cNvSpPr/>
          <p:nvPr/>
        </p:nvSpPr>
        <p:spPr>
          <a:xfrm>
            <a:off x="4724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6" name="Google Shape;1046;p26"/>
          <p:cNvSpPr/>
          <p:nvPr/>
        </p:nvSpPr>
        <p:spPr>
          <a:xfrm>
            <a:off x="4953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7" name="Google Shape;1047;p26"/>
          <p:cNvSpPr/>
          <p:nvPr/>
        </p:nvSpPr>
        <p:spPr>
          <a:xfrm>
            <a:off x="41148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8" name="Google Shape;1048;p26"/>
          <p:cNvSpPr/>
          <p:nvPr/>
        </p:nvSpPr>
        <p:spPr>
          <a:xfrm>
            <a:off x="40386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49" name="Google Shape;1049;p26"/>
          <p:cNvSpPr/>
          <p:nvPr/>
        </p:nvSpPr>
        <p:spPr>
          <a:xfrm>
            <a:off x="35052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0" name="Google Shape;1050;p26"/>
          <p:cNvSpPr/>
          <p:nvPr/>
        </p:nvSpPr>
        <p:spPr>
          <a:xfrm>
            <a:off x="40386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1" name="Google Shape;1051;p26"/>
          <p:cNvSpPr/>
          <p:nvPr/>
        </p:nvSpPr>
        <p:spPr>
          <a:xfrm>
            <a:off x="42672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2" name="Google Shape;1052;p26"/>
          <p:cNvSpPr/>
          <p:nvPr/>
        </p:nvSpPr>
        <p:spPr>
          <a:xfrm>
            <a:off x="3733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3" name="Google Shape;1053;p26"/>
          <p:cNvSpPr/>
          <p:nvPr/>
        </p:nvSpPr>
        <p:spPr>
          <a:xfrm>
            <a:off x="42672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4" name="Google Shape;1054;p26"/>
          <p:cNvSpPr/>
          <p:nvPr/>
        </p:nvSpPr>
        <p:spPr>
          <a:xfrm>
            <a:off x="4724400"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5" name="Google Shape;1055;p26"/>
          <p:cNvSpPr/>
          <p:nvPr/>
        </p:nvSpPr>
        <p:spPr>
          <a:xfrm>
            <a:off x="4343400" y="182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6" name="Google Shape;1056;p26"/>
          <p:cNvSpPr/>
          <p:nvPr/>
        </p:nvSpPr>
        <p:spPr>
          <a:xfrm>
            <a:off x="50292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7" name="Google Shape;1057;p26"/>
          <p:cNvSpPr/>
          <p:nvPr/>
        </p:nvSpPr>
        <p:spPr>
          <a:xfrm>
            <a:off x="4191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8" name="Google Shape;1058;p26"/>
          <p:cNvSpPr/>
          <p:nvPr/>
        </p:nvSpPr>
        <p:spPr>
          <a:xfrm>
            <a:off x="37338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59" name="Google Shape;1059;p26"/>
          <p:cNvSpPr/>
          <p:nvPr/>
        </p:nvSpPr>
        <p:spPr>
          <a:xfrm>
            <a:off x="3657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0" name="Google Shape;1060;p26"/>
          <p:cNvSpPr/>
          <p:nvPr/>
        </p:nvSpPr>
        <p:spPr>
          <a:xfrm>
            <a:off x="3276600" y="2667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1" name="Google Shape;1061;p26"/>
          <p:cNvSpPr/>
          <p:nvPr/>
        </p:nvSpPr>
        <p:spPr>
          <a:xfrm>
            <a:off x="36576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2" name="Google Shape;1062;p26"/>
          <p:cNvSpPr/>
          <p:nvPr/>
        </p:nvSpPr>
        <p:spPr>
          <a:xfrm>
            <a:off x="2895600" y="3581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3" name="Google Shape;1063;p26"/>
          <p:cNvSpPr/>
          <p:nvPr/>
        </p:nvSpPr>
        <p:spPr>
          <a:xfrm>
            <a:off x="2819400" y="4419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4" name="Google Shape;1064;p26"/>
          <p:cNvSpPr/>
          <p:nvPr/>
        </p:nvSpPr>
        <p:spPr>
          <a:xfrm>
            <a:off x="3048000" y="5257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5" name="Google Shape;1065;p26"/>
          <p:cNvSpPr/>
          <p:nvPr/>
        </p:nvSpPr>
        <p:spPr>
          <a:xfrm>
            <a:off x="23622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6" name="Google Shape;1066;p26"/>
          <p:cNvSpPr/>
          <p:nvPr/>
        </p:nvSpPr>
        <p:spPr>
          <a:xfrm>
            <a:off x="19050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7" name="Google Shape;1067;p26"/>
          <p:cNvSpPr/>
          <p:nvPr/>
        </p:nvSpPr>
        <p:spPr>
          <a:xfrm>
            <a:off x="19050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8" name="Google Shape;1068;p26"/>
          <p:cNvSpPr/>
          <p:nvPr/>
        </p:nvSpPr>
        <p:spPr>
          <a:xfrm>
            <a:off x="2514600" y="2743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69" name="Google Shape;1069;p26"/>
          <p:cNvSpPr/>
          <p:nvPr/>
        </p:nvSpPr>
        <p:spPr>
          <a:xfrm>
            <a:off x="28956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0" name="Google Shape;1070;p26"/>
          <p:cNvSpPr/>
          <p:nvPr/>
        </p:nvSpPr>
        <p:spPr>
          <a:xfrm>
            <a:off x="19812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1" name="Google Shape;1071;p26"/>
          <p:cNvSpPr/>
          <p:nvPr/>
        </p:nvSpPr>
        <p:spPr>
          <a:xfrm>
            <a:off x="182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2" name="Google Shape;1072;p26"/>
          <p:cNvSpPr/>
          <p:nvPr/>
        </p:nvSpPr>
        <p:spPr>
          <a:xfrm>
            <a:off x="7620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3" name="Google Shape;1073;p26"/>
          <p:cNvSpPr/>
          <p:nvPr/>
        </p:nvSpPr>
        <p:spPr>
          <a:xfrm>
            <a:off x="838200" y="579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4" name="Google Shape;1074;p26"/>
          <p:cNvSpPr/>
          <p:nvPr/>
        </p:nvSpPr>
        <p:spPr>
          <a:xfrm>
            <a:off x="8382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5" name="Google Shape;1075;p26"/>
          <p:cNvSpPr/>
          <p:nvPr/>
        </p:nvSpPr>
        <p:spPr>
          <a:xfrm>
            <a:off x="990600" y="2286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6" name="Google Shape;1076;p26"/>
          <p:cNvSpPr/>
          <p:nvPr/>
        </p:nvSpPr>
        <p:spPr>
          <a:xfrm>
            <a:off x="1143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77" name="Google Shape;1077;p26"/>
          <p:cNvSpPr/>
          <p:nvPr/>
        </p:nvSpPr>
        <p:spPr>
          <a:xfrm>
            <a:off x="2590800" y="106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078" name="Google Shape;1078;p26"/>
          <p:cNvGrpSpPr/>
          <p:nvPr/>
        </p:nvGrpSpPr>
        <p:grpSpPr>
          <a:xfrm>
            <a:off x="3167063" y="1676400"/>
            <a:ext cx="2819400" cy="2895600"/>
            <a:chOff x="3744" y="4464"/>
            <a:chExt cx="1776" cy="1824"/>
          </a:xfrm>
        </p:grpSpPr>
        <p:sp>
          <p:nvSpPr>
            <p:cNvPr id="1079" name="Google Shape;1079;p26"/>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080" name="Google Shape;1080;p26"/>
            <p:cNvGrpSpPr/>
            <p:nvPr/>
          </p:nvGrpSpPr>
          <p:grpSpPr>
            <a:xfrm>
              <a:off x="4491" y="5231"/>
              <a:ext cx="288" cy="288"/>
              <a:chOff x="4486" y="3484"/>
              <a:chExt cx="288" cy="288"/>
            </a:xfrm>
          </p:grpSpPr>
          <p:sp>
            <p:nvSpPr>
              <p:cNvPr id="1081" name="Google Shape;1081;p26"/>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082" name="Google Shape;1082;p26"/>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1083" name="Google Shape;1083;p26"/>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sp>
        <p:nvSpPr>
          <p:cNvPr id="1084" name="Google Shape;1084;p26"/>
          <p:cNvSpPr/>
          <p:nvPr/>
        </p:nvSpPr>
        <p:spPr>
          <a:xfrm>
            <a:off x="7467600" y="914400"/>
            <a:ext cx="1447800" cy="609600"/>
          </a:xfrm>
          <a:prstGeom prst="roundRect">
            <a:avLst>
              <a:gd name="adj" fmla="val 16667"/>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Region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interest</a:t>
            </a:r>
            <a:endParaRPr/>
          </a:p>
        </p:txBody>
      </p:sp>
      <p:sp>
        <p:nvSpPr>
          <p:cNvPr id="1085" name="Google Shape;1085;p26"/>
          <p:cNvSpPr/>
          <p:nvPr/>
        </p:nvSpPr>
        <p:spPr>
          <a:xfrm>
            <a:off x="7467600" y="1600200"/>
            <a:ext cx="1447800" cy="609600"/>
          </a:xfrm>
          <a:prstGeom prst="roundRect">
            <a:avLst>
              <a:gd name="adj" fmla="val 16667"/>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Center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mass</a:t>
            </a:r>
            <a:endParaRPr/>
          </a:p>
        </p:txBody>
      </p:sp>
      <p:sp>
        <p:nvSpPr>
          <p:cNvPr id="1086" name="Google Shape;1086;p26"/>
          <p:cNvSpPr/>
          <p:nvPr/>
        </p:nvSpPr>
        <p:spPr>
          <a:xfrm>
            <a:off x="7467600" y="5410200"/>
            <a:ext cx="1447800" cy="609600"/>
          </a:xfrm>
          <a:prstGeom prst="roundRect">
            <a:avLst>
              <a:gd name="adj" fmla="val 16667"/>
            </a:avLst>
          </a:prstGeom>
          <a:solidFill>
            <a:srgbClr val="FFFF00"/>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Mean Shift</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vector</a:t>
            </a:r>
            <a:endParaRPr/>
          </a:p>
        </p:txBody>
      </p:sp>
      <p:grpSp>
        <p:nvGrpSpPr>
          <p:cNvPr id="1087" name="Google Shape;1087;p26"/>
          <p:cNvGrpSpPr/>
          <p:nvPr/>
        </p:nvGrpSpPr>
        <p:grpSpPr>
          <a:xfrm>
            <a:off x="5029200" y="3200400"/>
            <a:ext cx="457200" cy="457200"/>
            <a:chOff x="4486" y="3484"/>
            <a:chExt cx="288" cy="288"/>
          </a:xfrm>
        </p:grpSpPr>
        <p:sp>
          <p:nvSpPr>
            <p:cNvPr id="1088" name="Google Shape;1088;p26"/>
            <p:cNvSpPr/>
            <p:nvPr/>
          </p:nvSpPr>
          <p:spPr>
            <a:xfrm>
              <a:off x="4560" y="3552"/>
              <a:ext cx="144" cy="144"/>
            </a:xfrm>
            <a:prstGeom prst="ellipse">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089" name="Google Shape;1089;p26"/>
            <p:cNvCxnSpPr/>
            <p:nvPr/>
          </p:nvCxnSpPr>
          <p:spPr>
            <a:xfrm>
              <a:off x="4632" y="3484"/>
              <a:ext cx="0" cy="288"/>
            </a:xfrm>
            <a:prstGeom prst="straightConnector1">
              <a:avLst/>
            </a:prstGeom>
            <a:noFill/>
            <a:ln w="9525" cap="flat" cmpd="sng">
              <a:solidFill>
                <a:srgbClr val="FF9900"/>
              </a:solidFill>
              <a:prstDash val="solid"/>
              <a:round/>
              <a:headEnd type="none" w="med" len="med"/>
              <a:tailEnd type="none" w="med" len="med"/>
            </a:ln>
          </p:spPr>
        </p:cxnSp>
        <p:cxnSp>
          <p:nvCxnSpPr>
            <p:cNvPr id="1090" name="Google Shape;1090;p26"/>
            <p:cNvCxnSpPr/>
            <p:nvPr/>
          </p:nvCxnSpPr>
          <p:spPr>
            <a:xfrm rot="10800000">
              <a:off x="4630" y="3482"/>
              <a:ext cx="0" cy="288"/>
            </a:xfrm>
            <a:prstGeom prst="straightConnector1">
              <a:avLst/>
            </a:prstGeom>
            <a:noFill/>
            <a:ln w="9525" cap="flat" cmpd="sng">
              <a:solidFill>
                <a:srgbClr val="FF9900"/>
              </a:solidFill>
              <a:prstDash val="solid"/>
              <a:round/>
              <a:headEnd type="none" w="med" len="med"/>
              <a:tailEnd type="none" w="med" len="med"/>
            </a:ln>
          </p:spPr>
        </p:cxnSp>
      </p:grpSp>
      <p:sp>
        <p:nvSpPr>
          <p:cNvPr id="1091" name="Google Shape;1091;p2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a:t>
            </a:r>
            <a:endParaRPr/>
          </a:p>
        </p:txBody>
      </p:sp>
      <p:sp>
        <p:nvSpPr>
          <p:cNvPr id="1092" name="Google Shape;1092;p26"/>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afterEffect">
                                  <p:stCondLst>
                                    <p:cond delay="0"/>
                                  </p:stCondLst>
                                  <p:childTnLst>
                                    <p:set>
                                      <p:cBhvr>
                                        <p:cTn id="6" dur="1" fill="hold">
                                          <p:stCondLst>
                                            <p:cond delay="1"/>
                                          </p:stCondLst>
                                        </p:cTn>
                                        <p:tgtEl>
                                          <p:spTgt spid="10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27"/>
          <p:cNvSpPr/>
          <p:nvPr/>
        </p:nvSpPr>
        <p:spPr>
          <a:xfrm>
            <a:off x="55626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099" name="Google Shape;1099;p27"/>
          <p:cNvSpPr/>
          <p:nvPr/>
        </p:nvSpPr>
        <p:spPr>
          <a:xfrm>
            <a:off x="5768975"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0" name="Google Shape;1100;p27"/>
          <p:cNvSpPr/>
          <p:nvPr/>
        </p:nvSpPr>
        <p:spPr>
          <a:xfrm>
            <a:off x="5692775" y="3276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1" name="Google Shape;1101;p27"/>
          <p:cNvSpPr/>
          <p:nvPr/>
        </p:nvSpPr>
        <p:spPr>
          <a:xfrm>
            <a:off x="5440363" y="32210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2" name="Google Shape;1102;p27"/>
          <p:cNvSpPr/>
          <p:nvPr/>
        </p:nvSpPr>
        <p:spPr>
          <a:xfrm>
            <a:off x="5681663"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3" name="Google Shape;1103;p27"/>
          <p:cNvSpPr/>
          <p:nvPr/>
        </p:nvSpPr>
        <p:spPr>
          <a:xfrm>
            <a:off x="5454650"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4" name="Google Shape;1104;p27"/>
          <p:cNvSpPr/>
          <p:nvPr/>
        </p:nvSpPr>
        <p:spPr>
          <a:xfrm>
            <a:off x="5932488" y="36147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5" name="Google Shape;1105;p27"/>
          <p:cNvSpPr/>
          <p:nvPr/>
        </p:nvSpPr>
        <p:spPr>
          <a:xfrm>
            <a:off x="5322888"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6" name="Google Shape;1106;p27"/>
          <p:cNvSpPr/>
          <p:nvPr/>
        </p:nvSpPr>
        <p:spPr>
          <a:xfrm>
            <a:off x="6062663"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7" name="Google Shape;1107;p27"/>
          <p:cNvSpPr/>
          <p:nvPr/>
        </p:nvSpPr>
        <p:spPr>
          <a:xfrm>
            <a:off x="5921375" y="314325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8" name="Google Shape;1108;p27"/>
          <p:cNvSpPr/>
          <p:nvPr/>
        </p:nvSpPr>
        <p:spPr>
          <a:xfrm>
            <a:off x="563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09" name="Google Shape;1109;p27"/>
          <p:cNvSpPr/>
          <p:nvPr/>
        </p:nvSpPr>
        <p:spPr>
          <a:xfrm>
            <a:off x="57912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0" name="Google Shape;1110;p27"/>
          <p:cNvSpPr/>
          <p:nvPr/>
        </p:nvSpPr>
        <p:spPr>
          <a:xfrm>
            <a:off x="5486400" y="38306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1" name="Google Shape;1111;p27"/>
          <p:cNvSpPr/>
          <p:nvPr/>
        </p:nvSpPr>
        <p:spPr>
          <a:xfrm>
            <a:off x="5181600" y="3679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2" name="Google Shape;1112;p27"/>
          <p:cNvSpPr/>
          <p:nvPr/>
        </p:nvSpPr>
        <p:spPr>
          <a:xfrm>
            <a:off x="49530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3" name="Google Shape;1113;p27"/>
          <p:cNvSpPr/>
          <p:nvPr/>
        </p:nvSpPr>
        <p:spPr>
          <a:xfrm>
            <a:off x="5181600" y="3200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4" name="Google Shape;1114;p27"/>
          <p:cNvSpPr/>
          <p:nvPr/>
        </p:nvSpPr>
        <p:spPr>
          <a:xfrm>
            <a:off x="62484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5" name="Google Shape;1115;p27"/>
          <p:cNvSpPr/>
          <p:nvPr/>
        </p:nvSpPr>
        <p:spPr>
          <a:xfrm>
            <a:off x="6172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6" name="Google Shape;1116;p27"/>
          <p:cNvSpPr/>
          <p:nvPr/>
        </p:nvSpPr>
        <p:spPr>
          <a:xfrm>
            <a:off x="5888038" y="409416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7" name="Google Shape;1117;p27"/>
          <p:cNvSpPr/>
          <p:nvPr/>
        </p:nvSpPr>
        <p:spPr>
          <a:xfrm>
            <a:off x="54864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8" name="Google Shape;1118;p27"/>
          <p:cNvSpPr/>
          <p:nvPr/>
        </p:nvSpPr>
        <p:spPr>
          <a:xfrm>
            <a:off x="5029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19" name="Google Shape;1119;p27"/>
          <p:cNvSpPr/>
          <p:nvPr/>
        </p:nvSpPr>
        <p:spPr>
          <a:xfrm>
            <a:off x="46482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0" name="Google Shape;1120;p27"/>
          <p:cNvSpPr/>
          <p:nvPr/>
        </p:nvSpPr>
        <p:spPr>
          <a:xfrm>
            <a:off x="45720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1" name="Google Shape;1121;p27"/>
          <p:cNvSpPr/>
          <p:nvPr/>
        </p:nvSpPr>
        <p:spPr>
          <a:xfrm>
            <a:off x="49530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2" name="Google Shape;1122;p27"/>
          <p:cNvSpPr/>
          <p:nvPr/>
        </p:nvSpPr>
        <p:spPr>
          <a:xfrm>
            <a:off x="53340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3" name="Google Shape;1123;p27"/>
          <p:cNvSpPr/>
          <p:nvPr/>
        </p:nvSpPr>
        <p:spPr>
          <a:xfrm>
            <a:off x="5921375"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4" name="Google Shape;1124;p27"/>
          <p:cNvSpPr/>
          <p:nvPr/>
        </p:nvSpPr>
        <p:spPr>
          <a:xfrm>
            <a:off x="56388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5" name="Google Shape;1125;p27"/>
          <p:cNvSpPr/>
          <p:nvPr/>
        </p:nvSpPr>
        <p:spPr>
          <a:xfrm>
            <a:off x="47244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6" name="Google Shape;1126;p27"/>
          <p:cNvSpPr/>
          <p:nvPr/>
        </p:nvSpPr>
        <p:spPr>
          <a:xfrm>
            <a:off x="51054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7" name="Google Shape;1127;p27"/>
          <p:cNvSpPr/>
          <p:nvPr/>
        </p:nvSpPr>
        <p:spPr>
          <a:xfrm>
            <a:off x="5638800" y="198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8" name="Google Shape;1128;p27"/>
          <p:cNvSpPr/>
          <p:nvPr/>
        </p:nvSpPr>
        <p:spPr>
          <a:xfrm>
            <a:off x="5181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29" name="Google Shape;1129;p27"/>
          <p:cNvSpPr/>
          <p:nvPr/>
        </p:nvSpPr>
        <p:spPr>
          <a:xfrm>
            <a:off x="5921375"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0" name="Google Shape;1130;p27"/>
          <p:cNvSpPr/>
          <p:nvPr/>
        </p:nvSpPr>
        <p:spPr>
          <a:xfrm>
            <a:off x="5921375" y="1371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1" name="Google Shape;1131;p27"/>
          <p:cNvSpPr/>
          <p:nvPr/>
        </p:nvSpPr>
        <p:spPr>
          <a:xfrm>
            <a:off x="6172200" y="2133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2" name="Google Shape;1132;p27"/>
          <p:cNvSpPr/>
          <p:nvPr/>
        </p:nvSpPr>
        <p:spPr>
          <a:xfrm>
            <a:off x="6259513" y="26765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3" name="Google Shape;1133;p27"/>
          <p:cNvSpPr/>
          <p:nvPr/>
        </p:nvSpPr>
        <p:spPr>
          <a:xfrm>
            <a:off x="62484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4" name="Google Shape;1134;p27"/>
          <p:cNvSpPr/>
          <p:nvPr/>
        </p:nvSpPr>
        <p:spPr>
          <a:xfrm>
            <a:off x="66294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5" name="Google Shape;1135;p27"/>
          <p:cNvSpPr/>
          <p:nvPr/>
        </p:nvSpPr>
        <p:spPr>
          <a:xfrm>
            <a:off x="66294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6" name="Google Shape;1136;p27"/>
          <p:cNvSpPr/>
          <p:nvPr/>
        </p:nvSpPr>
        <p:spPr>
          <a:xfrm>
            <a:off x="6553200" y="205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7" name="Google Shape;1137;p27"/>
          <p:cNvSpPr/>
          <p:nvPr/>
        </p:nvSpPr>
        <p:spPr>
          <a:xfrm>
            <a:off x="63246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8" name="Google Shape;1138;p27"/>
          <p:cNvSpPr/>
          <p:nvPr/>
        </p:nvSpPr>
        <p:spPr>
          <a:xfrm>
            <a:off x="6934200" y="129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39" name="Google Shape;1139;p27"/>
          <p:cNvSpPr/>
          <p:nvPr/>
        </p:nvSpPr>
        <p:spPr>
          <a:xfrm>
            <a:off x="7010400" y="175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0" name="Google Shape;1140;p27"/>
          <p:cNvSpPr/>
          <p:nvPr/>
        </p:nvSpPr>
        <p:spPr>
          <a:xfrm>
            <a:off x="7315200" y="2362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1" name="Google Shape;1141;p27"/>
          <p:cNvSpPr/>
          <p:nvPr/>
        </p:nvSpPr>
        <p:spPr>
          <a:xfrm>
            <a:off x="6705600" y="3352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2" name="Google Shape;1142;p27"/>
          <p:cNvSpPr/>
          <p:nvPr/>
        </p:nvSpPr>
        <p:spPr>
          <a:xfrm>
            <a:off x="71628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3" name="Google Shape;1143;p27"/>
          <p:cNvSpPr/>
          <p:nvPr/>
        </p:nvSpPr>
        <p:spPr>
          <a:xfrm>
            <a:off x="7924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4" name="Google Shape;1144;p27"/>
          <p:cNvSpPr/>
          <p:nvPr/>
        </p:nvSpPr>
        <p:spPr>
          <a:xfrm>
            <a:off x="6934200" y="3886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5" name="Google Shape;1145;p27"/>
          <p:cNvSpPr/>
          <p:nvPr/>
        </p:nvSpPr>
        <p:spPr>
          <a:xfrm>
            <a:off x="7478713" y="343058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6" name="Google Shape;1146;p27"/>
          <p:cNvSpPr/>
          <p:nvPr/>
        </p:nvSpPr>
        <p:spPr>
          <a:xfrm>
            <a:off x="64770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7" name="Google Shape;1147;p27"/>
          <p:cNvSpPr/>
          <p:nvPr/>
        </p:nvSpPr>
        <p:spPr>
          <a:xfrm>
            <a:off x="7543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8" name="Google Shape;1148;p27"/>
          <p:cNvSpPr/>
          <p:nvPr/>
        </p:nvSpPr>
        <p:spPr>
          <a:xfrm>
            <a:off x="69342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49" name="Google Shape;1149;p27"/>
          <p:cNvSpPr/>
          <p:nvPr/>
        </p:nvSpPr>
        <p:spPr>
          <a:xfrm>
            <a:off x="6096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0" name="Google Shape;1150;p27"/>
          <p:cNvSpPr/>
          <p:nvPr/>
        </p:nvSpPr>
        <p:spPr>
          <a:xfrm>
            <a:off x="5638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1" name="Google Shape;1151;p27"/>
          <p:cNvSpPr/>
          <p:nvPr/>
        </p:nvSpPr>
        <p:spPr>
          <a:xfrm>
            <a:off x="60198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2" name="Google Shape;1152;p27"/>
          <p:cNvSpPr/>
          <p:nvPr/>
        </p:nvSpPr>
        <p:spPr>
          <a:xfrm>
            <a:off x="6477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3" name="Google Shape;1153;p27"/>
          <p:cNvSpPr/>
          <p:nvPr/>
        </p:nvSpPr>
        <p:spPr>
          <a:xfrm>
            <a:off x="58674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4" name="Google Shape;1154;p27"/>
          <p:cNvSpPr/>
          <p:nvPr/>
        </p:nvSpPr>
        <p:spPr>
          <a:xfrm>
            <a:off x="54102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5" name="Google Shape;1155;p27"/>
          <p:cNvSpPr/>
          <p:nvPr/>
        </p:nvSpPr>
        <p:spPr>
          <a:xfrm>
            <a:off x="51054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6" name="Google Shape;1156;p27"/>
          <p:cNvSpPr/>
          <p:nvPr/>
        </p:nvSpPr>
        <p:spPr>
          <a:xfrm>
            <a:off x="44958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7" name="Google Shape;1157;p27"/>
          <p:cNvSpPr/>
          <p:nvPr/>
        </p:nvSpPr>
        <p:spPr>
          <a:xfrm>
            <a:off x="4724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8" name="Google Shape;1158;p27"/>
          <p:cNvSpPr/>
          <p:nvPr/>
        </p:nvSpPr>
        <p:spPr>
          <a:xfrm>
            <a:off x="4953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59" name="Google Shape;1159;p27"/>
          <p:cNvSpPr/>
          <p:nvPr/>
        </p:nvSpPr>
        <p:spPr>
          <a:xfrm>
            <a:off x="41148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0" name="Google Shape;1160;p27"/>
          <p:cNvSpPr/>
          <p:nvPr/>
        </p:nvSpPr>
        <p:spPr>
          <a:xfrm>
            <a:off x="40386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1" name="Google Shape;1161;p27"/>
          <p:cNvSpPr/>
          <p:nvPr/>
        </p:nvSpPr>
        <p:spPr>
          <a:xfrm>
            <a:off x="35052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2" name="Google Shape;1162;p27"/>
          <p:cNvSpPr/>
          <p:nvPr/>
        </p:nvSpPr>
        <p:spPr>
          <a:xfrm>
            <a:off x="40386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3" name="Google Shape;1163;p27"/>
          <p:cNvSpPr/>
          <p:nvPr/>
        </p:nvSpPr>
        <p:spPr>
          <a:xfrm>
            <a:off x="42672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4" name="Google Shape;1164;p27"/>
          <p:cNvSpPr/>
          <p:nvPr/>
        </p:nvSpPr>
        <p:spPr>
          <a:xfrm>
            <a:off x="3733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5" name="Google Shape;1165;p27"/>
          <p:cNvSpPr/>
          <p:nvPr/>
        </p:nvSpPr>
        <p:spPr>
          <a:xfrm>
            <a:off x="42672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6" name="Google Shape;1166;p27"/>
          <p:cNvSpPr/>
          <p:nvPr/>
        </p:nvSpPr>
        <p:spPr>
          <a:xfrm>
            <a:off x="4724400"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7" name="Google Shape;1167;p27"/>
          <p:cNvSpPr/>
          <p:nvPr/>
        </p:nvSpPr>
        <p:spPr>
          <a:xfrm>
            <a:off x="4343400" y="182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8" name="Google Shape;1168;p27"/>
          <p:cNvSpPr/>
          <p:nvPr/>
        </p:nvSpPr>
        <p:spPr>
          <a:xfrm>
            <a:off x="50292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69" name="Google Shape;1169;p27"/>
          <p:cNvSpPr/>
          <p:nvPr/>
        </p:nvSpPr>
        <p:spPr>
          <a:xfrm>
            <a:off x="4191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0" name="Google Shape;1170;p27"/>
          <p:cNvSpPr/>
          <p:nvPr/>
        </p:nvSpPr>
        <p:spPr>
          <a:xfrm>
            <a:off x="37338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1" name="Google Shape;1171;p27"/>
          <p:cNvSpPr/>
          <p:nvPr/>
        </p:nvSpPr>
        <p:spPr>
          <a:xfrm>
            <a:off x="3657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2" name="Google Shape;1172;p27"/>
          <p:cNvSpPr/>
          <p:nvPr/>
        </p:nvSpPr>
        <p:spPr>
          <a:xfrm>
            <a:off x="3276600" y="2667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3" name="Google Shape;1173;p27"/>
          <p:cNvSpPr/>
          <p:nvPr/>
        </p:nvSpPr>
        <p:spPr>
          <a:xfrm>
            <a:off x="36576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4" name="Google Shape;1174;p27"/>
          <p:cNvSpPr/>
          <p:nvPr/>
        </p:nvSpPr>
        <p:spPr>
          <a:xfrm>
            <a:off x="2895600" y="3581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5" name="Google Shape;1175;p27"/>
          <p:cNvSpPr/>
          <p:nvPr/>
        </p:nvSpPr>
        <p:spPr>
          <a:xfrm>
            <a:off x="2819400" y="4419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6" name="Google Shape;1176;p27"/>
          <p:cNvSpPr/>
          <p:nvPr/>
        </p:nvSpPr>
        <p:spPr>
          <a:xfrm>
            <a:off x="3048000" y="5257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7" name="Google Shape;1177;p27"/>
          <p:cNvSpPr/>
          <p:nvPr/>
        </p:nvSpPr>
        <p:spPr>
          <a:xfrm>
            <a:off x="23622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8" name="Google Shape;1178;p27"/>
          <p:cNvSpPr/>
          <p:nvPr/>
        </p:nvSpPr>
        <p:spPr>
          <a:xfrm>
            <a:off x="19050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79" name="Google Shape;1179;p27"/>
          <p:cNvSpPr/>
          <p:nvPr/>
        </p:nvSpPr>
        <p:spPr>
          <a:xfrm>
            <a:off x="19050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0" name="Google Shape;1180;p27"/>
          <p:cNvSpPr/>
          <p:nvPr/>
        </p:nvSpPr>
        <p:spPr>
          <a:xfrm>
            <a:off x="2514600" y="2743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1" name="Google Shape;1181;p27"/>
          <p:cNvSpPr/>
          <p:nvPr/>
        </p:nvSpPr>
        <p:spPr>
          <a:xfrm>
            <a:off x="28956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2" name="Google Shape;1182;p27"/>
          <p:cNvSpPr/>
          <p:nvPr/>
        </p:nvSpPr>
        <p:spPr>
          <a:xfrm>
            <a:off x="19812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3" name="Google Shape;1183;p27"/>
          <p:cNvSpPr/>
          <p:nvPr/>
        </p:nvSpPr>
        <p:spPr>
          <a:xfrm>
            <a:off x="182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4" name="Google Shape;1184;p27"/>
          <p:cNvSpPr/>
          <p:nvPr/>
        </p:nvSpPr>
        <p:spPr>
          <a:xfrm>
            <a:off x="7620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5" name="Google Shape;1185;p27"/>
          <p:cNvSpPr/>
          <p:nvPr/>
        </p:nvSpPr>
        <p:spPr>
          <a:xfrm>
            <a:off x="838200" y="579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6" name="Google Shape;1186;p27"/>
          <p:cNvSpPr/>
          <p:nvPr/>
        </p:nvSpPr>
        <p:spPr>
          <a:xfrm>
            <a:off x="8382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7" name="Google Shape;1187;p27"/>
          <p:cNvSpPr/>
          <p:nvPr/>
        </p:nvSpPr>
        <p:spPr>
          <a:xfrm>
            <a:off x="990600" y="2286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8" name="Google Shape;1188;p27"/>
          <p:cNvSpPr/>
          <p:nvPr/>
        </p:nvSpPr>
        <p:spPr>
          <a:xfrm>
            <a:off x="1143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189" name="Google Shape;1189;p27"/>
          <p:cNvSpPr/>
          <p:nvPr/>
        </p:nvSpPr>
        <p:spPr>
          <a:xfrm>
            <a:off x="2590800" y="106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190" name="Google Shape;1190;p27"/>
          <p:cNvGrpSpPr/>
          <p:nvPr/>
        </p:nvGrpSpPr>
        <p:grpSpPr>
          <a:xfrm>
            <a:off x="3841750" y="1981200"/>
            <a:ext cx="2819400" cy="2895600"/>
            <a:chOff x="3744" y="4464"/>
            <a:chExt cx="1776" cy="1824"/>
          </a:xfrm>
        </p:grpSpPr>
        <p:sp>
          <p:nvSpPr>
            <p:cNvPr id="1191" name="Google Shape;1191;p27"/>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192" name="Google Shape;1192;p27"/>
            <p:cNvGrpSpPr/>
            <p:nvPr/>
          </p:nvGrpSpPr>
          <p:grpSpPr>
            <a:xfrm>
              <a:off x="4491" y="5231"/>
              <a:ext cx="288" cy="288"/>
              <a:chOff x="4486" y="3484"/>
              <a:chExt cx="288" cy="288"/>
            </a:xfrm>
          </p:grpSpPr>
          <p:sp>
            <p:nvSpPr>
              <p:cNvPr id="1193" name="Google Shape;1193;p27"/>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194" name="Google Shape;1194;p27"/>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1195" name="Google Shape;1195;p27"/>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sp>
        <p:nvSpPr>
          <p:cNvPr id="1196" name="Google Shape;1196;p27"/>
          <p:cNvSpPr/>
          <p:nvPr/>
        </p:nvSpPr>
        <p:spPr>
          <a:xfrm>
            <a:off x="7467600" y="914400"/>
            <a:ext cx="1447800" cy="609600"/>
          </a:xfrm>
          <a:prstGeom prst="roundRect">
            <a:avLst>
              <a:gd name="adj" fmla="val 16667"/>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Region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interest</a:t>
            </a:r>
            <a:endParaRPr/>
          </a:p>
        </p:txBody>
      </p:sp>
      <p:sp>
        <p:nvSpPr>
          <p:cNvPr id="1197" name="Google Shape;1197;p27"/>
          <p:cNvSpPr/>
          <p:nvPr/>
        </p:nvSpPr>
        <p:spPr>
          <a:xfrm>
            <a:off x="7467600" y="1600200"/>
            <a:ext cx="1447800" cy="609600"/>
          </a:xfrm>
          <a:prstGeom prst="roundRect">
            <a:avLst>
              <a:gd name="adj" fmla="val 16667"/>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Center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mass</a:t>
            </a:r>
            <a:endParaRPr/>
          </a:p>
        </p:txBody>
      </p:sp>
      <p:sp>
        <p:nvSpPr>
          <p:cNvPr id="1198" name="Google Shape;1198;p27"/>
          <p:cNvSpPr/>
          <p:nvPr/>
        </p:nvSpPr>
        <p:spPr>
          <a:xfrm>
            <a:off x="7467600" y="5410200"/>
            <a:ext cx="1447800" cy="609600"/>
          </a:xfrm>
          <a:prstGeom prst="roundRect">
            <a:avLst>
              <a:gd name="adj" fmla="val 16667"/>
            </a:avLst>
          </a:prstGeom>
          <a:solidFill>
            <a:srgbClr val="FFFF00"/>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Mean Shift</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vector</a:t>
            </a:r>
            <a:endParaRPr/>
          </a:p>
        </p:txBody>
      </p:sp>
      <p:grpSp>
        <p:nvGrpSpPr>
          <p:cNvPr id="1199" name="Google Shape;1199;p27"/>
          <p:cNvGrpSpPr/>
          <p:nvPr/>
        </p:nvGrpSpPr>
        <p:grpSpPr>
          <a:xfrm>
            <a:off x="5389563" y="3265488"/>
            <a:ext cx="457200" cy="457200"/>
            <a:chOff x="4486" y="3484"/>
            <a:chExt cx="288" cy="288"/>
          </a:xfrm>
        </p:grpSpPr>
        <p:sp>
          <p:nvSpPr>
            <p:cNvPr id="1200" name="Google Shape;1200;p27"/>
            <p:cNvSpPr/>
            <p:nvPr/>
          </p:nvSpPr>
          <p:spPr>
            <a:xfrm>
              <a:off x="4560" y="3552"/>
              <a:ext cx="144" cy="144"/>
            </a:xfrm>
            <a:prstGeom prst="ellipse">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201" name="Google Shape;1201;p27"/>
            <p:cNvCxnSpPr/>
            <p:nvPr/>
          </p:nvCxnSpPr>
          <p:spPr>
            <a:xfrm>
              <a:off x="4632" y="3484"/>
              <a:ext cx="0" cy="288"/>
            </a:xfrm>
            <a:prstGeom prst="straightConnector1">
              <a:avLst/>
            </a:prstGeom>
            <a:noFill/>
            <a:ln w="9525" cap="flat" cmpd="sng">
              <a:solidFill>
                <a:srgbClr val="FF9900"/>
              </a:solidFill>
              <a:prstDash val="solid"/>
              <a:round/>
              <a:headEnd type="none" w="med" len="med"/>
              <a:tailEnd type="none" w="med" len="med"/>
            </a:ln>
          </p:spPr>
        </p:cxnSp>
        <p:cxnSp>
          <p:nvCxnSpPr>
            <p:cNvPr id="1202" name="Google Shape;1202;p27"/>
            <p:cNvCxnSpPr/>
            <p:nvPr/>
          </p:nvCxnSpPr>
          <p:spPr>
            <a:xfrm rot="10800000">
              <a:off x="4630" y="3482"/>
              <a:ext cx="0" cy="288"/>
            </a:xfrm>
            <a:prstGeom prst="straightConnector1">
              <a:avLst/>
            </a:prstGeom>
            <a:noFill/>
            <a:ln w="9525" cap="flat" cmpd="sng">
              <a:solidFill>
                <a:srgbClr val="FF9900"/>
              </a:solidFill>
              <a:prstDash val="solid"/>
              <a:round/>
              <a:headEnd type="none" w="med" len="med"/>
              <a:tailEnd type="none" w="med" len="med"/>
            </a:ln>
          </p:spPr>
        </p:cxnSp>
      </p:grpSp>
      <p:sp>
        <p:nvSpPr>
          <p:cNvPr id="1203" name="Google Shape;1203;p27"/>
          <p:cNvSpPr/>
          <p:nvPr/>
        </p:nvSpPr>
        <p:spPr>
          <a:xfrm rot="618372">
            <a:off x="5280025" y="3375025"/>
            <a:ext cx="381000" cy="152400"/>
          </a:xfrm>
          <a:prstGeom prst="rightArrow">
            <a:avLst>
              <a:gd name="adj1" fmla="val 50000"/>
              <a:gd name="adj2" fmla="val 62500"/>
            </a:avLst>
          </a:prstGeom>
          <a:solidFill>
            <a:srgbClr val="FFFF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04" name="Google Shape;1204;p27"/>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
        <p:nvSpPr>
          <p:cNvPr id="1205" name="Google Shape;1205;p2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a:t>
            </a:r>
            <a:endParaRPr/>
          </a:p>
        </p:txBody>
      </p:sp>
      <p:sp>
        <p:nvSpPr>
          <p:cNvPr id="1206" name="Google Shape;1206;p27"/>
          <p:cNvSpPr txBox="1"/>
          <p:nvPr/>
        </p:nvSpPr>
        <p:spPr>
          <a:xfrm>
            <a:off x="6537800" y="788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CV 11: Image Segmentation</a:t>
            </a:r>
            <a:endParaRPr sz="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99"/>
                                        </p:tgtEl>
                                        <p:attrNameLst>
                                          <p:attrName>style.visibility</p:attrName>
                                        </p:attrNameLst>
                                      </p:cBhvr>
                                      <p:to>
                                        <p:strVal val="visible"/>
                                      </p:to>
                                    </p:set>
                                    <p:anim calcmode="lin" valueType="num">
                                      <p:cBhvr additive="base">
                                        <p:cTn id="7" dur="500"/>
                                        <p:tgtEl>
                                          <p:spTgt spid="1199"/>
                                        </p:tgtEl>
                                        <p:attrNameLst>
                                          <p:attrName>ppt_w</p:attrName>
                                        </p:attrNameLst>
                                      </p:cBhvr>
                                      <p:tavLst>
                                        <p:tav tm="0">
                                          <p:val>
                                            <p:strVal val="0"/>
                                          </p:val>
                                        </p:tav>
                                        <p:tav tm="100000">
                                          <p:val>
                                            <p:strVal val="#ppt_w"/>
                                          </p:val>
                                        </p:tav>
                                      </p:tavLst>
                                    </p:anim>
                                    <p:anim calcmode="lin" valueType="num">
                                      <p:cBhvr additive="base">
                                        <p:cTn id="8" dur="500"/>
                                        <p:tgtEl>
                                          <p:spTgt spid="1199"/>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3000"/>
                                  </p:stCondLst>
                                  <p:childTnLst>
                                    <p:set>
                                      <p:cBhvr>
                                        <p:cTn id="11" dur="1" fill="hold">
                                          <p:stCondLst>
                                            <p:cond delay="0"/>
                                          </p:stCondLst>
                                        </p:cTn>
                                        <p:tgtEl>
                                          <p:spTgt spid="1203"/>
                                        </p:tgtEl>
                                        <p:attrNameLst>
                                          <p:attrName>style.visibility</p:attrName>
                                        </p:attrNameLst>
                                      </p:cBhvr>
                                      <p:to>
                                        <p:strVal val="visible"/>
                                      </p:to>
                                    </p:set>
                                    <p:animEffect transition="in" filter="fade">
                                      <p:cBhvr>
                                        <p:cTn id="12" dur="500"/>
                                        <p:tgtEl>
                                          <p:spTgt spid="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28"/>
          <p:cNvSpPr/>
          <p:nvPr/>
        </p:nvSpPr>
        <p:spPr>
          <a:xfrm>
            <a:off x="55626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13" name="Google Shape;1213;p28"/>
          <p:cNvSpPr/>
          <p:nvPr/>
        </p:nvSpPr>
        <p:spPr>
          <a:xfrm>
            <a:off x="5768975"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14" name="Google Shape;1214;p28"/>
          <p:cNvSpPr/>
          <p:nvPr/>
        </p:nvSpPr>
        <p:spPr>
          <a:xfrm>
            <a:off x="5692775" y="3276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15" name="Google Shape;1215;p28"/>
          <p:cNvSpPr/>
          <p:nvPr/>
        </p:nvSpPr>
        <p:spPr>
          <a:xfrm>
            <a:off x="5440363" y="32210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16" name="Google Shape;1216;p28"/>
          <p:cNvSpPr/>
          <p:nvPr/>
        </p:nvSpPr>
        <p:spPr>
          <a:xfrm>
            <a:off x="5681663"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17" name="Google Shape;1217;p28"/>
          <p:cNvSpPr/>
          <p:nvPr/>
        </p:nvSpPr>
        <p:spPr>
          <a:xfrm>
            <a:off x="5454650"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18" name="Google Shape;1218;p28"/>
          <p:cNvSpPr/>
          <p:nvPr/>
        </p:nvSpPr>
        <p:spPr>
          <a:xfrm>
            <a:off x="5932488" y="36147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19" name="Google Shape;1219;p28"/>
          <p:cNvSpPr/>
          <p:nvPr/>
        </p:nvSpPr>
        <p:spPr>
          <a:xfrm>
            <a:off x="5322888"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0" name="Google Shape;1220;p28"/>
          <p:cNvSpPr/>
          <p:nvPr/>
        </p:nvSpPr>
        <p:spPr>
          <a:xfrm>
            <a:off x="6062663"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1" name="Google Shape;1221;p28"/>
          <p:cNvSpPr/>
          <p:nvPr/>
        </p:nvSpPr>
        <p:spPr>
          <a:xfrm>
            <a:off x="5921375" y="314325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2" name="Google Shape;1222;p28"/>
          <p:cNvSpPr/>
          <p:nvPr/>
        </p:nvSpPr>
        <p:spPr>
          <a:xfrm>
            <a:off x="563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3" name="Google Shape;1223;p28"/>
          <p:cNvSpPr/>
          <p:nvPr/>
        </p:nvSpPr>
        <p:spPr>
          <a:xfrm>
            <a:off x="57912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4" name="Google Shape;1224;p28"/>
          <p:cNvSpPr/>
          <p:nvPr/>
        </p:nvSpPr>
        <p:spPr>
          <a:xfrm>
            <a:off x="5486400" y="38306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5" name="Google Shape;1225;p28"/>
          <p:cNvSpPr/>
          <p:nvPr/>
        </p:nvSpPr>
        <p:spPr>
          <a:xfrm>
            <a:off x="5181600" y="3679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6" name="Google Shape;1226;p28"/>
          <p:cNvSpPr/>
          <p:nvPr/>
        </p:nvSpPr>
        <p:spPr>
          <a:xfrm>
            <a:off x="49530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7" name="Google Shape;1227;p28"/>
          <p:cNvSpPr/>
          <p:nvPr/>
        </p:nvSpPr>
        <p:spPr>
          <a:xfrm>
            <a:off x="5181600" y="3200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8" name="Google Shape;1228;p28"/>
          <p:cNvSpPr/>
          <p:nvPr/>
        </p:nvSpPr>
        <p:spPr>
          <a:xfrm>
            <a:off x="62484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29" name="Google Shape;1229;p28"/>
          <p:cNvSpPr/>
          <p:nvPr/>
        </p:nvSpPr>
        <p:spPr>
          <a:xfrm>
            <a:off x="6172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0" name="Google Shape;1230;p28"/>
          <p:cNvSpPr/>
          <p:nvPr/>
        </p:nvSpPr>
        <p:spPr>
          <a:xfrm>
            <a:off x="5888038" y="409416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1" name="Google Shape;1231;p28"/>
          <p:cNvSpPr/>
          <p:nvPr/>
        </p:nvSpPr>
        <p:spPr>
          <a:xfrm>
            <a:off x="54864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2" name="Google Shape;1232;p28"/>
          <p:cNvSpPr/>
          <p:nvPr/>
        </p:nvSpPr>
        <p:spPr>
          <a:xfrm>
            <a:off x="5029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3" name="Google Shape;1233;p28"/>
          <p:cNvSpPr/>
          <p:nvPr/>
        </p:nvSpPr>
        <p:spPr>
          <a:xfrm>
            <a:off x="46482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4" name="Google Shape;1234;p28"/>
          <p:cNvSpPr/>
          <p:nvPr/>
        </p:nvSpPr>
        <p:spPr>
          <a:xfrm>
            <a:off x="45720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5" name="Google Shape;1235;p28"/>
          <p:cNvSpPr/>
          <p:nvPr/>
        </p:nvSpPr>
        <p:spPr>
          <a:xfrm>
            <a:off x="49530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6" name="Google Shape;1236;p28"/>
          <p:cNvSpPr/>
          <p:nvPr/>
        </p:nvSpPr>
        <p:spPr>
          <a:xfrm>
            <a:off x="53340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7" name="Google Shape;1237;p28"/>
          <p:cNvSpPr/>
          <p:nvPr/>
        </p:nvSpPr>
        <p:spPr>
          <a:xfrm>
            <a:off x="5921375"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8" name="Google Shape;1238;p28"/>
          <p:cNvSpPr/>
          <p:nvPr/>
        </p:nvSpPr>
        <p:spPr>
          <a:xfrm>
            <a:off x="56388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39" name="Google Shape;1239;p28"/>
          <p:cNvSpPr/>
          <p:nvPr/>
        </p:nvSpPr>
        <p:spPr>
          <a:xfrm>
            <a:off x="47244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0" name="Google Shape;1240;p28"/>
          <p:cNvSpPr/>
          <p:nvPr/>
        </p:nvSpPr>
        <p:spPr>
          <a:xfrm>
            <a:off x="51054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1" name="Google Shape;1241;p28"/>
          <p:cNvSpPr/>
          <p:nvPr/>
        </p:nvSpPr>
        <p:spPr>
          <a:xfrm>
            <a:off x="5638800" y="198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2" name="Google Shape;1242;p28"/>
          <p:cNvSpPr/>
          <p:nvPr/>
        </p:nvSpPr>
        <p:spPr>
          <a:xfrm>
            <a:off x="5181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3" name="Google Shape;1243;p28"/>
          <p:cNvSpPr/>
          <p:nvPr/>
        </p:nvSpPr>
        <p:spPr>
          <a:xfrm>
            <a:off x="5921375"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4" name="Google Shape;1244;p28"/>
          <p:cNvSpPr/>
          <p:nvPr/>
        </p:nvSpPr>
        <p:spPr>
          <a:xfrm>
            <a:off x="5921375" y="1371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5" name="Google Shape;1245;p28"/>
          <p:cNvSpPr/>
          <p:nvPr/>
        </p:nvSpPr>
        <p:spPr>
          <a:xfrm>
            <a:off x="6172200" y="2133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6" name="Google Shape;1246;p28"/>
          <p:cNvSpPr/>
          <p:nvPr/>
        </p:nvSpPr>
        <p:spPr>
          <a:xfrm>
            <a:off x="6259513" y="26765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7" name="Google Shape;1247;p28"/>
          <p:cNvSpPr/>
          <p:nvPr/>
        </p:nvSpPr>
        <p:spPr>
          <a:xfrm>
            <a:off x="62484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8" name="Google Shape;1248;p28"/>
          <p:cNvSpPr/>
          <p:nvPr/>
        </p:nvSpPr>
        <p:spPr>
          <a:xfrm>
            <a:off x="66294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49" name="Google Shape;1249;p28"/>
          <p:cNvSpPr/>
          <p:nvPr/>
        </p:nvSpPr>
        <p:spPr>
          <a:xfrm>
            <a:off x="66294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0" name="Google Shape;1250;p28"/>
          <p:cNvSpPr/>
          <p:nvPr/>
        </p:nvSpPr>
        <p:spPr>
          <a:xfrm>
            <a:off x="6553200" y="205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1" name="Google Shape;1251;p28"/>
          <p:cNvSpPr/>
          <p:nvPr/>
        </p:nvSpPr>
        <p:spPr>
          <a:xfrm>
            <a:off x="63246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2" name="Google Shape;1252;p28"/>
          <p:cNvSpPr/>
          <p:nvPr/>
        </p:nvSpPr>
        <p:spPr>
          <a:xfrm>
            <a:off x="6934200" y="129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3" name="Google Shape;1253;p28"/>
          <p:cNvSpPr/>
          <p:nvPr/>
        </p:nvSpPr>
        <p:spPr>
          <a:xfrm>
            <a:off x="7010400" y="175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4" name="Google Shape;1254;p28"/>
          <p:cNvSpPr/>
          <p:nvPr/>
        </p:nvSpPr>
        <p:spPr>
          <a:xfrm>
            <a:off x="7315200" y="2362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5" name="Google Shape;1255;p28"/>
          <p:cNvSpPr/>
          <p:nvPr/>
        </p:nvSpPr>
        <p:spPr>
          <a:xfrm>
            <a:off x="6705600" y="3352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6" name="Google Shape;1256;p28"/>
          <p:cNvSpPr/>
          <p:nvPr/>
        </p:nvSpPr>
        <p:spPr>
          <a:xfrm>
            <a:off x="71628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7" name="Google Shape;1257;p28"/>
          <p:cNvSpPr/>
          <p:nvPr/>
        </p:nvSpPr>
        <p:spPr>
          <a:xfrm>
            <a:off x="7924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8" name="Google Shape;1258;p28"/>
          <p:cNvSpPr/>
          <p:nvPr/>
        </p:nvSpPr>
        <p:spPr>
          <a:xfrm>
            <a:off x="6934200" y="3886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59" name="Google Shape;1259;p28"/>
          <p:cNvSpPr/>
          <p:nvPr/>
        </p:nvSpPr>
        <p:spPr>
          <a:xfrm>
            <a:off x="7478713" y="343058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0" name="Google Shape;1260;p28"/>
          <p:cNvSpPr/>
          <p:nvPr/>
        </p:nvSpPr>
        <p:spPr>
          <a:xfrm>
            <a:off x="64770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1" name="Google Shape;1261;p28"/>
          <p:cNvSpPr/>
          <p:nvPr/>
        </p:nvSpPr>
        <p:spPr>
          <a:xfrm>
            <a:off x="7543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2" name="Google Shape;1262;p28"/>
          <p:cNvSpPr/>
          <p:nvPr/>
        </p:nvSpPr>
        <p:spPr>
          <a:xfrm>
            <a:off x="69342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3" name="Google Shape;1263;p28"/>
          <p:cNvSpPr/>
          <p:nvPr/>
        </p:nvSpPr>
        <p:spPr>
          <a:xfrm>
            <a:off x="6096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4" name="Google Shape;1264;p28"/>
          <p:cNvSpPr/>
          <p:nvPr/>
        </p:nvSpPr>
        <p:spPr>
          <a:xfrm>
            <a:off x="5638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5" name="Google Shape;1265;p28"/>
          <p:cNvSpPr/>
          <p:nvPr/>
        </p:nvSpPr>
        <p:spPr>
          <a:xfrm>
            <a:off x="60198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6" name="Google Shape;1266;p28"/>
          <p:cNvSpPr/>
          <p:nvPr/>
        </p:nvSpPr>
        <p:spPr>
          <a:xfrm>
            <a:off x="6477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7" name="Google Shape;1267;p28"/>
          <p:cNvSpPr/>
          <p:nvPr/>
        </p:nvSpPr>
        <p:spPr>
          <a:xfrm>
            <a:off x="58674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8" name="Google Shape;1268;p28"/>
          <p:cNvSpPr/>
          <p:nvPr/>
        </p:nvSpPr>
        <p:spPr>
          <a:xfrm>
            <a:off x="54102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69" name="Google Shape;1269;p28"/>
          <p:cNvSpPr/>
          <p:nvPr/>
        </p:nvSpPr>
        <p:spPr>
          <a:xfrm>
            <a:off x="51054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0" name="Google Shape;1270;p28"/>
          <p:cNvSpPr/>
          <p:nvPr/>
        </p:nvSpPr>
        <p:spPr>
          <a:xfrm>
            <a:off x="44958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1" name="Google Shape;1271;p28"/>
          <p:cNvSpPr/>
          <p:nvPr/>
        </p:nvSpPr>
        <p:spPr>
          <a:xfrm>
            <a:off x="4724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2" name="Google Shape;1272;p28"/>
          <p:cNvSpPr/>
          <p:nvPr/>
        </p:nvSpPr>
        <p:spPr>
          <a:xfrm>
            <a:off x="4953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3" name="Google Shape;1273;p28"/>
          <p:cNvSpPr/>
          <p:nvPr/>
        </p:nvSpPr>
        <p:spPr>
          <a:xfrm>
            <a:off x="41148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4" name="Google Shape;1274;p28"/>
          <p:cNvSpPr/>
          <p:nvPr/>
        </p:nvSpPr>
        <p:spPr>
          <a:xfrm>
            <a:off x="40386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5" name="Google Shape;1275;p28"/>
          <p:cNvSpPr/>
          <p:nvPr/>
        </p:nvSpPr>
        <p:spPr>
          <a:xfrm>
            <a:off x="35052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6" name="Google Shape;1276;p28"/>
          <p:cNvSpPr/>
          <p:nvPr/>
        </p:nvSpPr>
        <p:spPr>
          <a:xfrm>
            <a:off x="40386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7" name="Google Shape;1277;p28"/>
          <p:cNvSpPr/>
          <p:nvPr/>
        </p:nvSpPr>
        <p:spPr>
          <a:xfrm>
            <a:off x="42672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8" name="Google Shape;1278;p28"/>
          <p:cNvSpPr/>
          <p:nvPr/>
        </p:nvSpPr>
        <p:spPr>
          <a:xfrm>
            <a:off x="3733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79" name="Google Shape;1279;p28"/>
          <p:cNvSpPr/>
          <p:nvPr/>
        </p:nvSpPr>
        <p:spPr>
          <a:xfrm>
            <a:off x="42672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0" name="Google Shape;1280;p28"/>
          <p:cNvSpPr/>
          <p:nvPr/>
        </p:nvSpPr>
        <p:spPr>
          <a:xfrm>
            <a:off x="4724400"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1" name="Google Shape;1281;p28"/>
          <p:cNvSpPr/>
          <p:nvPr/>
        </p:nvSpPr>
        <p:spPr>
          <a:xfrm>
            <a:off x="4343400" y="182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2" name="Google Shape;1282;p28"/>
          <p:cNvSpPr/>
          <p:nvPr/>
        </p:nvSpPr>
        <p:spPr>
          <a:xfrm>
            <a:off x="50292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3" name="Google Shape;1283;p28"/>
          <p:cNvSpPr/>
          <p:nvPr/>
        </p:nvSpPr>
        <p:spPr>
          <a:xfrm>
            <a:off x="4191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4" name="Google Shape;1284;p28"/>
          <p:cNvSpPr/>
          <p:nvPr/>
        </p:nvSpPr>
        <p:spPr>
          <a:xfrm>
            <a:off x="37338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5" name="Google Shape;1285;p28"/>
          <p:cNvSpPr/>
          <p:nvPr/>
        </p:nvSpPr>
        <p:spPr>
          <a:xfrm>
            <a:off x="3657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6" name="Google Shape;1286;p28"/>
          <p:cNvSpPr/>
          <p:nvPr/>
        </p:nvSpPr>
        <p:spPr>
          <a:xfrm>
            <a:off x="3276600" y="2667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7" name="Google Shape;1287;p28"/>
          <p:cNvSpPr/>
          <p:nvPr/>
        </p:nvSpPr>
        <p:spPr>
          <a:xfrm>
            <a:off x="36576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8" name="Google Shape;1288;p28"/>
          <p:cNvSpPr/>
          <p:nvPr/>
        </p:nvSpPr>
        <p:spPr>
          <a:xfrm>
            <a:off x="2895600" y="3581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89" name="Google Shape;1289;p28"/>
          <p:cNvSpPr/>
          <p:nvPr/>
        </p:nvSpPr>
        <p:spPr>
          <a:xfrm>
            <a:off x="2819400" y="4419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0" name="Google Shape;1290;p28"/>
          <p:cNvSpPr/>
          <p:nvPr/>
        </p:nvSpPr>
        <p:spPr>
          <a:xfrm>
            <a:off x="3048000" y="5257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1" name="Google Shape;1291;p28"/>
          <p:cNvSpPr/>
          <p:nvPr/>
        </p:nvSpPr>
        <p:spPr>
          <a:xfrm>
            <a:off x="23622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2" name="Google Shape;1292;p28"/>
          <p:cNvSpPr/>
          <p:nvPr/>
        </p:nvSpPr>
        <p:spPr>
          <a:xfrm>
            <a:off x="19050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3" name="Google Shape;1293;p28"/>
          <p:cNvSpPr/>
          <p:nvPr/>
        </p:nvSpPr>
        <p:spPr>
          <a:xfrm>
            <a:off x="19050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4" name="Google Shape;1294;p28"/>
          <p:cNvSpPr/>
          <p:nvPr/>
        </p:nvSpPr>
        <p:spPr>
          <a:xfrm>
            <a:off x="2514600" y="2743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5" name="Google Shape;1295;p28"/>
          <p:cNvSpPr/>
          <p:nvPr/>
        </p:nvSpPr>
        <p:spPr>
          <a:xfrm>
            <a:off x="28956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6" name="Google Shape;1296;p28"/>
          <p:cNvSpPr/>
          <p:nvPr/>
        </p:nvSpPr>
        <p:spPr>
          <a:xfrm>
            <a:off x="19812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7" name="Google Shape;1297;p28"/>
          <p:cNvSpPr/>
          <p:nvPr/>
        </p:nvSpPr>
        <p:spPr>
          <a:xfrm>
            <a:off x="182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8" name="Google Shape;1298;p28"/>
          <p:cNvSpPr/>
          <p:nvPr/>
        </p:nvSpPr>
        <p:spPr>
          <a:xfrm>
            <a:off x="7620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299" name="Google Shape;1299;p28"/>
          <p:cNvSpPr/>
          <p:nvPr/>
        </p:nvSpPr>
        <p:spPr>
          <a:xfrm>
            <a:off x="838200" y="579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00" name="Google Shape;1300;p28"/>
          <p:cNvSpPr/>
          <p:nvPr/>
        </p:nvSpPr>
        <p:spPr>
          <a:xfrm>
            <a:off x="8382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01" name="Google Shape;1301;p28"/>
          <p:cNvSpPr/>
          <p:nvPr/>
        </p:nvSpPr>
        <p:spPr>
          <a:xfrm>
            <a:off x="990600" y="2286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02" name="Google Shape;1302;p28"/>
          <p:cNvSpPr/>
          <p:nvPr/>
        </p:nvSpPr>
        <p:spPr>
          <a:xfrm>
            <a:off x="1143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03" name="Google Shape;1303;p28"/>
          <p:cNvSpPr/>
          <p:nvPr/>
        </p:nvSpPr>
        <p:spPr>
          <a:xfrm>
            <a:off x="2590800" y="106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304" name="Google Shape;1304;p28"/>
          <p:cNvGrpSpPr/>
          <p:nvPr/>
        </p:nvGrpSpPr>
        <p:grpSpPr>
          <a:xfrm>
            <a:off x="3841750" y="1981200"/>
            <a:ext cx="2819400" cy="2895600"/>
            <a:chOff x="3744" y="4464"/>
            <a:chExt cx="1776" cy="1824"/>
          </a:xfrm>
        </p:grpSpPr>
        <p:sp>
          <p:nvSpPr>
            <p:cNvPr id="1305" name="Google Shape;1305;p28"/>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306" name="Google Shape;1306;p28"/>
            <p:cNvGrpSpPr/>
            <p:nvPr/>
          </p:nvGrpSpPr>
          <p:grpSpPr>
            <a:xfrm>
              <a:off x="4491" y="5231"/>
              <a:ext cx="288" cy="288"/>
              <a:chOff x="4486" y="3484"/>
              <a:chExt cx="288" cy="288"/>
            </a:xfrm>
          </p:grpSpPr>
          <p:sp>
            <p:nvSpPr>
              <p:cNvPr id="1307" name="Google Shape;1307;p28"/>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308" name="Google Shape;1308;p28"/>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1309" name="Google Shape;1309;p28"/>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sp>
        <p:nvSpPr>
          <p:cNvPr id="1310" name="Google Shape;1310;p28"/>
          <p:cNvSpPr/>
          <p:nvPr/>
        </p:nvSpPr>
        <p:spPr>
          <a:xfrm>
            <a:off x="7467600" y="914400"/>
            <a:ext cx="1447800" cy="609600"/>
          </a:xfrm>
          <a:prstGeom prst="roundRect">
            <a:avLst>
              <a:gd name="adj" fmla="val 16667"/>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Region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interest</a:t>
            </a:r>
            <a:endParaRPr/>
          </a:p>
        </p:txBody>
      </p:sp>
      <p:sp>
        <p:nvSpPr>
          <p:cNvPr id="1311" name="Google Shape;1311;p28"/>
          <p:cNvSpPr/>
          <p:nvPr/>
        </p:nvSpPr>
        <p:spPr>
          <a:xfrm>
            <a:off x="7467600" y="1600200"/>
            <a:ext cx="1447800" cy="609600"/>
          </a:xfrm>
          <a:prstGeom prst="roundRect">
            <a:avLst>
              <a:gd name="adj" fmla="val 16667"/>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Center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mass</a:t>
            </a:r>
            <a:endParaRPr/>
          </a:p>
        </p:txBody>
      </p:sp>
      <p:sp>
        <p:nvSpPr>
          <p:cNvPr id="1312" name="Google Shape;1312;p28"/>
          <p:cNvSpPr/>
          <p:nvPr/>
        </p:nvSpPr>
        <p:spPr>
          <a:xfrm>
            <a:off x="7467600" y="5410200"/>
            <a:ext cx="1447800" cy="609600"/>
          </a:xfrm>
          <a:prstGeom prst="roundRect">
            <a:avLst>
              <a:gd name="adj" fmla="val 16667"/>
            </a:avLst>
          </a:prstGeom>
          <a:solidFill>
            <a:srgbClr val="FFFF00"/>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Mean Shift</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vector</a:t>
            </a:r>
            <a:endParaRPr/>
          </a:p>
        </p:txBody>
      </p:sp>
      <p:grpSp>
        <p:nvGrpSpPr>
          <p:cNvPr id="1313" name="Google Shape;1313;p28"/>
          <p:cNvGrpSpPr/>
          <p:nvPr/>
        </p:nvGrpSpPr>
        <p:grpSpPr>
          <a:xfrm>
            <a:off x="5389563" y="3265488"/>
            <a:ext cx="457200" cy="457200"/>
            <a:chOff x="4486" y="3484"/>
            <a:chExt cx="288" cy="288"/>
          </a:xfrm>
        </p:grpSpPr>
        <p:sp>
          <p:nvSpPr>
            <p:cNvPr id="1314" name="Google Shape;1314;p28"/>
            <p:cNvSpPr/>
            <p:nvPr/>
          </p:nvSpPr>
          <p:spPr>
            <a:xfrm>
              <a:off x="4560" y="3552"/>
              <a:ext cx="144" cy="144"/>
            </a:xfrm>
            <a:prstGeom prst="ellipse">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315" name="Google Shape;1315;p28"/>
            <p:cNvCxnSpPr/>
            <p:nvPr/>
          </p:nvCxnSpPr>
          <p:spPr>
            <a:xfrm>
              <a:off x="4632" y="3484"/>
              <a:ext cx="0" cy="288"/>
            </a:xfrm>
            <a:prstGeom prst="straightConnector1">
              <a:avLst/>
            </a:prstGeom>
            <a:noFill/>
            <a:ln w="9525" cap="flat" cmpd="sng">
              <a:solidFill>
                <a:srgbClr val="FF9900"/>
              </a:solidFill>
              <a:prstDash val="solid"/>
              <a:round/>
              <a:headEnd type="none" w="med" len="med"/>
              <a:tailEnd type="none" w="med" len="med"/>
            </a:ln>
          </p:spPr>
        </p:cxnSp>
        <p:cxnSp>
          <p:nvCxnSpPr>
            <p:cNvPr id="1316" name="Google Shape;1316;p28"/>
            <p:cNvCxnSpPr/>
            <p:nvPr/>
          </p:nvCxnSpPr>
          <p:spPr>
            <a:xfrm rot="10800000">
              <a:off x="4630" y="3482"/>
              <a:ext cx="0" cy="288"/>
            </a:xfrm>
            <a:prstGeom prst="straightConnector1">
              <a:avLst/>
            </a:prstGeom>
            <a:noFill/>
            <a:ln w="9525" cap="flat" cmpd="sng">
              <a:solidFill>
                <a:srgbClr val="FF9900"/>
              </a:solidFill>
              <a:prstDash val="solid"/>
              <a:round/>
              <a:headEnd type="none" w="med" len="med"/>
              <a:tailEnd type="none" w="med" len="med"/>
            </a:ln>
          </p:spPr>
        </p:cxnSp>
      </p:grpSp>
      <p:sp>
        <p:nvSpPr>
          <p:cNvPr id="1317" name="Google Shape;1317;p28"/>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
        <p:nvSpPr>
          <p:cNvPr id="1318" name="Google Shape;1318;p2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a:t>
            </a:r>
            <a:endParaRPr/>
          </a:p>
        </p:txBody>
      </p:sp>
      <p:sp>
        <p:nvSpPr>
          <p:cNvPr id="1319" name="Google Shape;1319;p28"/>
          <p:cNvSpPr txBox="1"/>
          <p:nvPr/>
        </p:nvSpPr>
        <p:spPr>
          <a:xfrm>
            <a:off x="6537800" y="788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CV 11: Image Segmentation</a:t>
            </a:r>
            <a:endParaRPr sz="8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afterEffect">
                                  <p:stCondLst>
                                    <p:cond delay="0"/>
                                  </p:stCondLst>
                                  <p:childTnLst>
                                    <p:set>
                                      <p:cBhvr>
                                        <p:cTn id="6" dur="1" fill="hold">
                                          <p:stCondLst>
                                            <p:cond delay="1"/>
                                          </p:stCondLst>
                                        </p:cTn>
                                        <p:tgtEl>
                                          <p:spTgt spid="13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29"/>
          <p:cNvSpPr/>
          <p:nvPr/>
        </p:nvSpPr>
        <p:spPr>
          <a:xfrm>
            <a:off x="55626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26" name="Google Shape;1326;p29"/>
          <p:cNvSpPr/>
          <p:nvPr/>
        </p:nvSpPr>
        <p:spPr>
          <a:xfrm>
            <a:off x="5768975"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27" name="Google Shape;1327;p29"/>
          <p:cNvSpPr/>
          <p:nvPr/>
        </p:nvSpPr>
        <p:spPr>
          <a:xfrm>
            <a:off x="5692775" y="3276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28" name="Google Shape;1328;p29"/>
          <p:cNvSpPr/>
          <p:nvPr/>
        </p:nvSpPr>
        <p:spPr>
          <a:xfrm>
            <a:off x="5440363" y="32210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29" name="Google Shape;1329;p29"/>
          <p:cNvSpPr/>
          <p:nvPr/>
        </p:nvSpPr>
        <p:spPr>
          <a:xfrm>
            <a:off x="5681663"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0" name="Google Shape;1330;p29"/>
          <p:cNvSpPr/>
          <p:nvPr/>
        </p:nvSpPr>
        <p:spPr>
          <a:xfrm>
            <a:off x="5454650" y="359251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1" name="Google Shape;1331;p29"/>
          <p:cNvSpPr/>
          <p:nvPr/>
        </p:nvSpPr>
        <p:spPr>
          <a:xfrm>
            <a:off x="5932488" y="36147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2" name="Google Shape;1332;p29"/>
          <p:cNvSpPr/>
          <p:nvPr/>
        </p:nvSpPr>
        <p:spPr>
          <a:xfrm>
            <a:off x="5322888"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3" name="Google Shape;1333;p29"/>
          <p:cNvSpPr/>
          <p:nvPr/>
        </p:nvSpPr>
        <p:spPr>
          <a:xfrm>
            <a:off x="6062663"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4" name="Google Shape;1334;p29"/>
          <p:cNvSpPr/>
          <p:nvPr/>
        </p:nvSpPr>
        <p:spPr>
          <a:xfrm>
            <a:off x="5921375" y="314325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5" name="Google Shape;1335;p29"/>
          <p:cNvSpPr/>
          <p:nvPr/>
        </p:nvSpPr>
        <p:spPr>
          <a:xfrm>
            <a:off x="563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6" name="Google Shape;1336;p29"/>
          <p:cNvSpPr/>
          <p:nvPr/>
        </p:nvSpPr>
        <p:spPr>
          <a:xfrm>
            <a:off x="57912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7" name="Google Shape;1337;p29"/>
          <p:cNvSpPr/>
          <p:nvPr/>
        </p:nvSpPr>
        <p:spPr>
          <a:xfrm>
            <a:off x="5486400" y="383063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8" name="Google Shape;1338;p29"/>
          <p:cNvSpPr/>
          <p:nvPr/>
        </p:nvSpPr>
        <p:spPr>
          <a:xfrm>
            <a:off x="5181600" y="3679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39" name="Google Shape;1339;p29"/>
          <p:cNvSpPr/>
          <p:nvPr/>
        </p:nvSpPr>
        <p:spPr>
          <a:xfrm>
            <a:off x="49530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0" name="Google Shape;1340;p29"/>
          <p:cNvSpPr/>
          <p:nvPr/>
        </p:nvSpPr>
        <p:spPr>
          <a:xfrm>
            <a:off x="5181600" y="3200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1" name="Google Shape;1341;p29"/>
          <p:cNvSpPr/>
          <p:nvPr/>
        </p:nvSpPr>
        <p:spPr>
          <a:xfrm>
            <a:off x="62484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2" name="Google Shape;1342;p29"/>
          <p:cNvSpPr/>
          <p:nvPr/>
        </p:nvSpPr>
        <p:spPr>
          <a:xfrm>
            <a:off x="6172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3" name="Google Shape;1343;p29"/>
          <p:cNvSpPr/>
          <p:nvPr/>
        </p:nvSpPr>
        <p:spPr>
          <a:xfrm>
            <a:off x="5888038" y="4094163"/>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4" name="Google Shape;1344;p29"/>
          <p:cNvSpPr/>
          <p:nvPr/>
        </p:nvSpPr>
        <p:spPr>
          <a:xfrm>
            <a:off x="54864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5" name="Google Shape;1345;p29"/>
          <p:cNvSpPr/>
          <p:nvPr/>
        </p:nvSpPr>
        <p:spPr>
          <a:xfrm>
            <a:off x="50292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6" name="Google Shape;1346;p29"/>
          <p:cNvSpPr/>
          <p:nvPr/>
        </p:nvSpPr>
        <p:spPr>
          <a:xfrm>
            <a:off x="4648200" y="3657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7" name="Google Shape;1347;p29"/>
          <p:cNvSpPr/>
          <p:nvPr/>
        </p:nvSpPr>
        <p:spPr>
          <a:xfrm>
            <a:off x="45720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8" name="Google Shape;1348;p29"/>
          <p:cNvSpPr/>
          <p:nvPr/>
        </p:nvSpPr>
        <p:spPr>
          <a:xfrm>
            <a:off x="49530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49" name="Google Shape;1349;p29"/>
          <p:cNvSpPr/>
          <p:nvPr/>
        </p:nvSpPr>
        <p:spPr>
          <a:xfrm>
            <a:off x="53340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0" name="Google Shape;1350;p29"/>
          <p:cNvSpPr/>
          <p:nvPr/>
        </p:nvSpPr>
        <p:spPr>
          <a:xfrm>
            <a:off x="5921375"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1" name="Google Shape;1351;p29"/>
          <p:cNvSpPr/>
          <p:nvPr/>
        </p:nvSpPr>
        <p:spPr>
          <a:xfrm>
            <a:off x="56388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2" name="Google Shape;1352;p29"/>
          <p:cNvSpPr/>
          <p:nvPr/>
        </p:nvSpPr>
        <p:spPr>
          <a:xfrm>
            <a:off x="4724400" y="2819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3" name="Google Shape;1353;p29"/>
          <p:cNvSpPr/>
          <p:nvPr/>
        </p:nvSpPr>
        <p:spPr>
          <a:xfrm>
            <a:off x="51054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4" name="Google Shape;1354;p29"/>
          <p:cNvSpPr/>
          <p:nvPr/>
        </p:nvSpPr>
        <p:spPr>
          <a:xfrm>
            <a:off x="5638800" y="198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5" name="Google Shape;1355;p29"/>
          <p:cNvSpPr/>
          <p:nvPr/>
        </p:nvSpPr>
        <p:spPr>
          <a:xfrm>
            <a:off x="5181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6" name="Google Shape;1356;p29"/>
          <p:cNvSpPr/>
          <p:nvPr/>
        </p:nvSpPr>
        <p:spPr>
          <a:xfrm>
            <a:off x="5921375"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7" name="Google Shape;1357;p29"/>
          <p:cNvSpPr/>
          <p:nvPr/>
        </p:nvSpPr>
        <p:spPr>
          <a:xfrm>
            <a:off x="5921375" y="1371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8" name="Google Shape;1358;p29"/>
          <p:cNvSpPr/>
          <p:nvPr/>
        </p:nvSpPr>
        <p:spPr>
          <a:xfrm>
            <a:off x="6172200" y="2133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59" name="Google Shape;1359;p29"/>
          <p:cNvSpPr/>
          <p:nvPr/>
        </p:nvSpPr>
        <p:spPr>
          <a:xfrm>
            <a:off x="6259513" y="26765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0" name="Google Shape;1360;p29"/>
          <p:cNvSpPr/>
          <p:nvPr/>
        </p:nvSpPr>
        <p:spPr>
          <a:xfrm>
            <a:off x="6248400" y="3124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1" name="Google Shape;1361;p29"/>
          <p:cNvSpPr/>
          <p:nvPr/>
        </p:nvSpPr>
        <p:spPr>
          <a:xfrm>
            <a:off x="66294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2" name="Google Shape;1362;p29"/>
          <p:cNvSpPr/>
          <p:nvPr/>
        </p:nvSpPr>
        <p:spPr>
          <a:xfrm>
            <a:off x="6629400" y="2514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3" name="Google Shape;1363;p29"/>
          <p:cNvSpPr/>
          <p:nvPr/>
        </p:nvSpPr>
        <p:spPr>
          <a:xfrm>
            <a:off x="6553200" y="205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4" name="Google Shape;1364;p29"/>
          <p:cNvSpPr/>
          <p:nvPr/>
        </p:nvSpPr>
        <p:spPr>
          <a:xfrm>
            <a:off x="63246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5" name="Google Shape;1365;p29"/>
          <p:cNvSpPr/>
          <p:nvPr/>
        </p:nvSpPr>
        <p:spPr>
          <a:xfrm>
            <a:off x="6934200" y="129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6" name="Google Shape;1366;p29"/>
          <p:cNvSpPr/>
          <p:nvPr/>
        </p:nvSpPr>
        <p:spPr>
          <a:xfrm>
            <a:off x="7010400" y="175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7" name="Google Shape;1367;p29"/>
          <p:cNvSpPr/>
          <p:nvPr/>
        </p:nvSpPr>
        <p:spPr>
          <a:xfrm>
            <a:off x="7315200" y="2362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8" name="Google Shape;1368;p29"/>
          <p:cNvSpPr/>
          <p:nvPr/>
        </p:nvSpPr>
        <p:spPr>
          <a:xfrm>
            <a:off x="6705600" y="3352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69" name="Google Shape;1369;p29"/>
          <p:cNvSpPr/>
          <p:nvPr/>
        </p:nvSpPr>
        <p:spPr>
          <a:xfrm>
            <a:off x="7162800" y="2895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0" name="Google Shape;1370;p29"/>
          <p:cNvSpPr/>
          <p:nvPr/>
        </p:nvSpPr>
        <p:spPr>
          <a:xfrm>
            <a:off x="7924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1" name="Google Shape;1371;p29"/>
          <p:cNvSpPr/>
          <p:nvPr/>
        </p:nvSpPr>
        <p:spPr>
          <a:xfrm>
            <a:off x="6934200" y="3886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2" name="Google Shape;1372;p29"/>
          <p:cNvSpPr/>
          <p:nvPr/>
        </p:nvSpPr>
        <p:spPr>
          <a:xfrm>
            <a:off x="7478713" y="3430588"/>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3" name="Google Shape;1373;p29"/>
          <p:cNvSpPr/>
          <p:nvPr/>
        </p:nvSpPr>
        <p:spPr>
          <a:xfrm>
            <a:off x="64770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4" name="Google Shape;1374;p29"/>
          <p:cNvSpPr/>
          <p:nvPr/>
        </p:nvSpPr>
        <p:spPr>
          <a:xfrm>
            <a:off x="7543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5" name="Google Shape;1375;p29"/>
          <p:cNvSpPr/>
          <p:nvPr/>
        </p:nvSpPr>
        <p:spPr>
          <a:xfrm>
            <a:off x="69342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6" name="Google Shape;1376;p29"/>
          <p:cNvSpPr/>
          <p:nvPr/>
        </p:nvSpPr>
        <p:spPr>
          <a:xfrm>
            <a:off x="6096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7" name="Google Shape;1377;p29"/>
          <p:cNvSpPr/>
          <p:nvPr/>
        </p:nvSpPr>
        <p:spPr>
          <a:xfrm>
            <a:off x="5638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8" name="Google Shape;1378;p29"/>
          <p:cNvSpPr/>
          <p:nvPr/>
        </p:nvSpPr>
        <p:spPr>
          <a:xfrm>
            <a:off x="60198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79" name="Google Shape;1379;p29"/>
          <p:cNvSpPr/>
          <p:nvPr/>
        </p:nvSpPr>
        <p:spPr>
          <a:xfrm>
            <a:off x="6477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0" name="Google Shape;1380;p29"/>
          <p:cNvSpPr/>
          <p:nvPr/>
        </p:nvSpPr>
        <p:spPr>
          <a:xfrm>
            <a:off x="58674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1" name="Google Shape;1381;p29"/>
          <p:cNvSpPr/>
          <p:nvPr/>
        </p:nvSpPr>
        <p:spPr>
          <a:xfrm>
            <a:off x="54102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2" name="Google Shape;1382;p29"/>
          <p:cNvSpPr/>
          <p:nvPr/>
        </p:nvSpPr>
        <p:spPr>
          <a:xfrm>
            <a:off x="51054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3" name="Google Shape;1383;p29"/>
          <p:cNvSpPr/>
          <p:nvPr/>
        </p:nvSpPr>
        <p:spPr>
          <a:xfrm>
            <a:off x="44958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4" name="Google Shape;1384;p29"/>
          <p:cNvSpPr/>
          <p:nvPr/>
        </p:nvSpPr>
        <p:spPr>
          <a:xfrm>
            <a:off x="4724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5" name="Google Shape;1385;p29"/>
          <p:cNvSpPr/>
          <p:nvPr/>
        </p:nvSpPr>
        <p:spPr>
          <a:xfrm>
            <a:off x="4953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6" name="Google Shape;1386;p29"/>
          <p:cNvSpPr/>
          <p:nvPr/>
        </p:nvSpPr>
        <p:spPr>
          <a:xfrm>
            <a:off x="41148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7" name="Google Shape;1387;p29"/>
          <p:cNvSpPr/>
          <p:nvPr/>
        </p:nvSpPr>
        <p:spPr>
          <a:xfrm>
            <a:off x="40386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8" name="Google Shape;1388;p29"/>
          <p:cNvSpPr/>
          <p:nvPr/>
        </p:nvSpPr>
        <p:spPr>
          <a:xfrm>
            <a:off x="3505200" y="4267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89" name="Google Shape;1389;p29"/>
          <p:cNvSpPr/>
          <p:nvPr/>
        </p:nvSpPr>
        <p:spPr>
          <a:xfrm>
            <a:off x="40386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0" name="Google Shape;1390;p29"/>
          <p:cNvSpPr/>
          <p:nvPr/>
        </p:nvSpPr>
        <p:spPr>
          <a:xfrm>
            <a:off x="4267200" y="3429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1" name="Google Shape;1391;p29"/>
          <p:cNvSpPr/>
          <p:nvPr/>
        </p:nvSpPr>
        <p:spPr>
          <a:xfrm>
            <a:off x="3733800" y="2971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2" name="Google Shape;1392;p29"/>
          <p:cNvSpPr/>
          <p:nvPr/>
        </p:nvSpPr>
        <p:spPr>
          <a:xfrm>
            <a:off x="4267200" y="2590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3" name="Google Shape;1393;p29"/>
          <p:cNvSpPr/>
          <p:nvPr/>
        </p:nvSpPr>
        <p:spPr>
          <a:xfrm>
            <a:off x="4724400" y="2438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4" name="Google Shape;1394;p29"/>
          <p:cNvSpPr/>
          <p:nvPr/>
        </p:nvSpPr>
        <p:spPr>
          <a:xfrm>
            <a:off x="4343400" y="182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5" name="Google Shape;1395;p29"/>
          <p:cNvSpPr/>
          <p:nvPr/>
        </p:nvSpPr>
        <p:spPr>
          <a:xfrm>
            <a:off x="50292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6" name="Google Shape;1396;p29"/>
          <p:cNvSpPr/>
          <p:nvPr/>
        </p:nvSpPr>
        <p:spPr>
          <a:xfrm>
            <a:off x="4191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7" name="Google Shape;1397;p29"/>
          <p:cNvSpPr/>
          <p:nvPr/>
        </p:nvSpPr>
        <p:spPr>
          <a:xfrm>
            <a:off x="3733800" y="160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8" name="Google Shape;1398;p29"/>
          <p:cNvSpPr/>
          <p:nvPr/>
        </p:nvSpPr>
        <p:spPr>
          <a:xfrm>
            <a:off x="3657600" y="2209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399" name="Google Shape;1399;p29"/>
          <p:cNvSpPr/>
          <p:nvPr/>
        </p:nvSpPr>
        <p:spPr>
          <a:xfrm>
            <a:off x="3276600" y="2667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0" name="Google Shape;1400;p29"/>
          <p:cNvSpPr/>
          <p:nvPr/>
        </p:nvSpPr>
        <p:spPr>
          <a:xfrm>
            <a:off x="36576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1" name="Google Shape;1401;p29"/>
          <p:cNvSpPr/>
          <p:nvPr/>
        </p:nvSpPr>
        <p:spPr>
          <a:xfrm>
            <a:off x="2895600" y="3581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2" name="Google Shape;1402;p29"/>
          <p:cNvSpPr/>
          <p:nvPr/>
        </p:nvSpPr>
        <p:spPr>
          <a:xfrm>
            <a:off x="2819400" y="4419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3" name="Google Shape;1403;p29"/>
          <p:cNvSpPr/>
          <p:nvPr/>
        </p:nvSpPr>
        <p:spPr>
          <a:xfrm>
            <a:off x="3048000" y="5257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4" name="Google Shape;1404;p29"/>
          <p:cNvSpPr/>
          <p:nvPr/>
        </p:nvSpPr>
        <p:spPr>
          <a:xfrm>
            <a:off x="2362200" y="5638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5" name="Google Shape;1405;p29"/>
          <p:cNvSpPr/>
          <p:nvPr/>
        </p:nvSpPr>
        <p:spPr>
          <a:xfrm>
            <a:off x="19050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6" name="Google Shape;1406;p29"/>
          <p:cNvSpPr/>
          <p:nvPr/>
        </p:nvSpPr>
        <p:spPr>
          <a:xfrm>
            <a:off x="1905000" y="3962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7" name="Google Shape;1407;p29"/>
          <p:cNvSpPr/>
          <p:nvPr/>
        </p:nvSpPr>
        <p:spPr>
          <a:xfrm>
            <a:off x="2514600" y="2743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8" name="Google Shape;1408;p29"/>
          <p:cNvSpPr/>
          <p:nvPr/>
        </p:nvSpPr>
        <p:spPr>
          <a:xfrm>
            <a:off x="28956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09" name="Google Shape;1409;p29"/>
          <p:cNvSpPr/>
          <p:nvPr/>
        </p:nvSpPr>
        <p:spPr>
          <a:xfrm>
            <a:off x="1981200" y="1905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10" name="Google Shape;1410;p29"/>
          <p:cNvSpPr/>
          <p:nvPr/>
        </p:nvSpPr>
        <p:spPr>
          <a:xfrm>
            <a:off x="1828800" y="3048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11" name="Google Shape;1411;p29"/>
          <p:cNvSpPr/>
          <p:nvPr/>
        </p:nvSpPr>
        <p:spPr>
          <a:xfrm>
            <a:off x="7620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12" name="Google Shape;1412;p29"/>
          <p:cNvSpPr/>
          <p:nvPr/>
        </p:nvSpPr>
        <p:spPr>
          <a:xfrm>
            <a:off x="838200" y="5791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13" name="Google Shape;1413;p29"/>
          <p:cNvSpPr/>
          <p:nvPr/>
        </p:nvSpPr>
        <p:spPr>
          <a:xfrm>
            <a:off x="838200" y="3505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14" name="Google Shape;1414;p29"/>
          <p:cNvSpPr/>
          <p:nvPr/>
        </p:nvSpPr>
        <p:spPr>
          <a:xfrm>
            <a:off x="990600" y="2286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15" name="Google Shape;1415;p29"/>
          <p:cNvSpPr/>
          <p:nvPr/>
        </p:nvSpPr>
        <p:spPr>
          <a:xfrm>
            <a:off x="1143000" y="121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16" name="Google Shape;1416;p29"/>
          <p:cNvSpPr/>
          <p:nvPr/>
        </p:nvSpPr>
        <p:spPr>
          <a:xfrm>
            <a:off x="2590800" y="106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417" name="Google Shape;1417;p29"/>
          <p:cNvGrpSpPr/>
          <p:nvPr/>
        </p:nvGrpSpPr>
        <p:grpSpPr>
          <a:xfrm>
            <a:off x="4211638" y="2047875"/>
            <a:ext cx="2819400" cy="2895600"/>
            <a:chOff x="3744" y="4464"/>
            <a:chExt cx="1776" cy="1824"/>
          </a:xfrm>
        </p:grpSpPr>
        <p:sp>
          <p:nvSpPr>
            <p:cNvPr id="1418" name="Google Shape;1418;p29"/>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419" name="Google Shape;1419;p29"/>
            <p:cNvGrpSpPr/>
            <p:nvPr/>
          </p:nvGrpSpPr>
          <p:grpSpPr>
            <a:xfrm>
              <a:off x="4491" y="5231"/>
              <a:ext cx="288" cy="288"/>
              <a:chOff x="4486" y="3484"/>
              <a:chExt cx="288" cy="288"/>
            </a:xfrm>
          </p:grpSpPr>
          <p:sp>
            <p:nvSpPr>
              <p:cNvPr id="1420" name="Google Shape;1420;p29"/>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421" name="Google Shape;1421;p29"/>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1422" name="Google Shape;1422;p29"/>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sp>
        <p:nvSpPr>
          <p:cNvPr id="1423" name="Google Shape;1423;p29"/>
          <p:cNvSpPr/>
          <p:nvPr/>
        </p:nvSpPr>
        <p:spPr>
          <a:xfrm>
            <a:off x="7467600" y="914400"/>
            <a:ext cx="1447800" cy="609600"/>
          </a:xfrm>
          <a:prstGeom prst="roundRect">
            <a:avLst>
              <a:gd name="adj" fmla="val 16667"/>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Region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interest</a:t>
            </a:r>
            <a:endParaRPr/>
          </a:p>
        </p:txBody>
      </p:sp>
      <p:sp>
        <p:nvSpPr>
          <p:cNvPr id="1424" name="Google Shape;1424;p29"/>
          <p:cNvSpPr/>
          <p:nvPr/>
        </p:nvSpPr>
        <p:spPr>
          <a:xfrm>
            <a:off x="7467600" y="1600200"/>
            <a:ext cx="1447800" cy="609600"/>
          </a:xfrm>
          <a:prstGeom prst="roundRect">
            <a:avLst>
              <a:gd name="adj" fmla="val 16667"/>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Center of</a:t>
            </a:r>
            <a:endParaRPr/>
          </a:p>
          <a:p>
            <a:pPr marL="0" marR="0" lvl="0" indent="0" algn="ctr" rtl="0">
              <a:spcBef>
                <a:spcPts val="0"/>
              </a:spcBef>
              <a:spcAft>
                <a:spcPts val="0"/>
              </a:spcAft>
              <a:buNone/>
            </a:pPr>
            <a:r>
              <a:rPr lang="en-US" sz="1600">
                <a:solidFill>
                  <a:srgbClr val="000000"/>
                </a:solidFill>
                <a:latin typeface="Arial"/>
                <a:ea typeface="Arial"/>
                <a:cs typeface="Arial"/>
                <a:sym typeface="Arial"/>
              </a:rPr>
              <a:t>mass</a:t>
            </a:r>
            <a:endParaRPr/>
          </a:p>
        </p:txBody>
      </p:sp>
      <p:grpSp>
        <p:nvGrpSpPr>
          <p:cNvPr id="1425" name="Google Shape;1425;p29"/>
          <p:cNvGrpSpPr/>
          <p:nvPr/>
        </p:nvGrpSpPr>
        <p:grpSpPr>
          <a:xfrm>
            <a:off x="5389563" y="3265488"/>
            <a:ext cx="457200" cy="457200"/>
            <a:chOff x="4486" y="3484"/>
            <a:chExt cx="288" cy="288"/>
          </a:xfrm>
        </p:grpSpPr>
        <p:sp>
          <p:nvSpPr>
            <p:cNvPr id="1426" name="Google Shape;1426;p29"/>
            <p:cNvSpPr/>
            <p:nvPr/>
          </p:nvSpPr>
          <p:spPr>
            <a:xfrm>
              <a:off x="4560" y="3552"/>
              <a:ext cx="144" cy="144"/>
            </a:xfrm>
            <a:prstGeom prst="ellipse">
              <a:avLst/>
            </a:prstGeom>
            <a:noFill/>
            <a:ln w="3810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427" name="Google Shape;1427;p29"/>
            <p:cNvCxnSpPr/>
            <p:nvPr/>
          </p:nvCxnSpPr>
          <p:spPr>
            <a:xfrm>
              <a:off x="4632" y="3484"/>
              <a:ext cx="0" cy="288"/>
            </a:xfrm>
            <a:prstGeom prst="straightConnector1">
              <a:avLst/>
            </a:prstGeom>
            <a:noFill/>
            <a:ln w="38100" cap="flat" cmpd="sng">
              <a:solidFill>
                <a:srgbClr val="FF9900"/>
              </a:solidFill>
              <a:prstDash val="solid"/>
              <a:round/>
              <a:headEnd type="none" w="med" len="med"/>
              <a:tailEnd type="none" w="med" len="med"/>
            </a:ln>
          </p:spPr>
        </p:cxnSp>
        <p:cxnSp>
          <p:nvCxnSpPr>
            <p:cNvPr id="1428" name="Google Shape;1428;p29"/>
            <p:cNvCxnSpPr/>
            <p:nvPr/>
          </p:nvCxnSpPr>
          <p:spPr>
            <a:xfrm rot="10800000">
              <a:off x="4630" y="3482"/>
              <a:ext cx="0" cy="288"/>
            </a:xfrm>
            <a:prstGeom prst="straightConnector1">
              <a:avLst/>
            </a:prstGeom>
            <a:noFill/>
            <a:ln w="38100" cap="flat" cmpd="sng">
              <a:solidFill>
                <a:srgbClr val="FF9900"/>
              </a:solidFill>
              <a:prstDash val="solid"/>
              <a:round/>
              <a:headEnd type="none" w="med" len="med"/>
              <a:tailEnd type="none" w="med" len="med"/>
            </a:ln>
          </p:spPr>
        </p:cxnSp>
      </p:grpSp>
      <p:sp>
        <p:nvSpPr>
          <p:cNvPr id="1429" name="Google Shape;1429;p29"/>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
        <p:nvSpPr>
          <p:cNvPr id="1430" name="Google Shape;1430;p29"/>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endParaRPr/>
          </a:p>
        </p:txBody>
      </p:sp>
      <p:sp>
        <p:nvSpPr>
          <p:cNvPr id="1431" name="Google Shape;1431;p2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2000"/>
                                  </p:stCondLst>
                                  <p:childTnLst>
                                    <p:set>
                                      <p:cBhvr>
                                        <p:cTn id="6" dur="1" fill="hold">
                                          <p:stCondLst>
                                            <p:cond delay="0"/>
                                          </p:stCondLst>
                                        </p:cTn>
                                        <p:tgtEl>
                                          <p:spTgt spid="1425"/>
                                        </p:tgtEl>
                                        <p:attrNameLst>
                                          <p:attrName>style.visibility</p:attrName>
                                        </p:attrNameLst>
                                      </p:cBhvr>
                                      <p:to>
                                        <p:strVal val="visible"/>
                                      </p:to>
                                    </p:set>
                                    <p:anim calcmode="lin" valueType="num">
                                      <p:cBhvr additive="base">
                                        <p:cTn id="7" dur="500"/>
                                        <p:tgtEl>
                                          <p:spTgt spid="1425"/>
                                        </p:tgtEl>
                                        <p:attrNameLst>
                                          <p:attrName>ppt_w</p:attrName>
                                        </p:attrNameLst>
                                      </p:cBhvr>
                                      <p:tavLst>
                                        <p:tav tm="0">
                                          <p:val>
                                            <p:strVal val="0"/>
                                          </p:val>
                                        </p:tav>
                                        <p:tav tm="100000">
                                          <p:val>
                                            <p:strVal val="#ppt_w"/>
                                          </p:val>
                                        </p:tav>
                                      </p:tavLst>
                                    </p:anim>
                                    <p:anim calcmode="lin" valueType="num">
                                      <p:cBhvr additive="base">
                                        <p:cTn id="8" dur="500"/>
                                        <p:tgtEl>
                                          <p:spTgt spid="142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sp>
        <p:nvSpPr>
          <p:cNvPr id="1437" name="Google Shape;1437;p30"/>
          <p:cNvSpPr/>
          <p:nvPr/>
        </p:nvSpPr>
        <p:spPr>
          <a:xfrm>
            <a:off x="7620000" y="5584825"/>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38" name="Google Shape;1438;p30"/>
          <p:cNvSpPr/>
          <p:nvPr/>
        </p:nvSpPr>
        <p:spPr>
          <a:xfrm>
            <a:off x="7391400" y="5334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39" name="Google Shape;1439;p30"/>
          <p:cNvSpPr/>
          <p:nvPr/>
        </p:nvSpPr>
        <p:spPr>
          <a:xfrm>
            <a:off x="7620000" y="5105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0" name="Google Shape;1440;p30"/>
          <p:cNvSpPr/>
          <p:nvPr/>
        </p:nvSpPr>
        <p:spPr>
          <a:xfrm>
            <a:off x="7467600" y="586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1" name="Google Shape;1441;p30"/>
          <p:cNvSpPr/>
          <p:nvPr/>
        </p:nvSpPr>
        <p:spPr>
          <a:xfrm>
            <a:off x="7086600" y="55626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2" name="Google Shape;1442;p30"/>
          <p:cNvSpPr/>
          <p:nvPr/>
        </p:nvSpPr>
        <p:spPr>
          <a:xfrm>
            <a:off x="7010400" y="5029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3" name="Google Shape;1443;p30"/>
          <p:cNvSpPr/>
          <p:nvPr/>
        </p:nvSpPr>
        <p:spPr>
          <a:xfrm>
            <a:off x="7391400" y="4953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4" name="Google Shape;1444;p30"/>
          <p:cNvSpPr/>
          <p:nvPr/>
        </p:nvSpPr>
        <p:spPr>
          <a:xfrm>
            <a:off x="7162800" y="4724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5" name="Google Shape;1445;p30"/>
          <p:cNvSpPr/>
          <p:nvPr/>
        </p:nvSpPr>
        <p:spPr>
          <a:xfrm>
            <a:off x="75438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6" name="Google Shape;1446;p30"/>
          <p:cNvSpPr/>
          <p:nvPr/>
        </p:nvSpPr>
        <p:spPr>
          <a:xfrm>
            <a:off x="76200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7" name="Google Shape;1447;p30"/>
          <p:cNvSpPr/>
          <p:nvPr/>
        </p:nvSpPr>
        <p:spPr>
          <a:xfrm>
            <a:off x="6477000" y="5867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8" name="Google Shape;1448;p30"/>
          <p:cNvSpPr/>
          <p:nvPr/>
        </p:nvSpPr>
        <p:spPr>
          <a:xfrm>
            <a:off x="6705600" y="5334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49" name="Google Shape;1449;p30"/>
          <p:cNvSpPr/>
          <p:nvPr/>
        </p:nvSpPr>
        <p:spPr>
          <a:xfrm>
            <a:off x="6172200" y="4876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0" name="Google Shape;1450;p30"/>
          <p:cNvSpPr/>
          <p:nvPr/>
        </p:nvSpPr>
        <p:spPr>
          <a:xfrm>
            <a:off x="6705600" y="4495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1" name="Google Shape;1451;p30"/>
          <p:cNvSpPr/>
          <p:nvPr/>
        </p:nvSpPr>
        <p:spPr>
          <a:xfrm>
            <a:off x="7162800" y="4343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2" name="Google Shape;1452;p30"/>
          <p:cNvSpPr/>
          <p:nvPr/>
        </p:nvSpPr>
        <p:spPr>
          <a:xfrm>
            <a:off x="6781800" y="3733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3" name="Google Shape;1453;p30"/>
          <p:cNvSpPr/>
          <p:nvPr/>
        </p:nvSpPr>
        <p:spPr>
          <a:xfrm>
            <a:off x="6096000" y="41148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4" name="Google Shape;1454;p30"/>
          <p:cNvSpPr/>
          <p:nvPr/>
        </p:nvSpPr>
        <p:spPr>
          <a:xfrm>
            <a:off x="5715000" y="4572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5" name="Google Shape;1455;p30"/>
          <p:cNvSpPr/>
          <p:nvPr/>
        </p:nvSpPr>
        <p:spPr>
          <a:xfrm>
            <a:off x="6096000" y="5410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6" name="Google Shape;1456;p30"/>
          <p:cNvSpPr/>
          <p:nvPr/>
        </p:nvSpPr>
        <p:spPr>
          <a:xfrm>
            <a:off x="5334000" y="54864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7" name="Google Shape;1457;p30"/>
          <p:cNvSpPr/>
          <p:nvPr/>
        </p:nvSpPr>
        <p:spPr>
          <a:xfrm>
            <a:off x="4953000" y="46482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58" name="Google Shape;1458;p30"/>
          <p:cNvSpPr/>
          <p:nvPr/>
        </p:nvSpPr>
        <p:spPr>
          <a:xfrm>
            <a:off x="5334000" y="3810000"/>
            <a:ext cx="152400" cy="152400"/>
          </a:xfrm>
          <a:prstGeom prst="ellipse">
            <a:avLst/>
          </a:prstGeom>
          <a:gradFill>
            <a:gsLst>
              <a:gs pos="0">
                <a:srgbClr val="CC3300"/>
              </a:gs>
              <a:gs pos="100000">
                <a:srgbClr val="5E18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459" name="Google Shape;1459;p30"/>
          <p:cNvGrpSpPr/>
          <p:nvPr/>
        </p:nvGrpSpPr>
        <p:grpSpPr>
          <a:xfrm>
            <a:off x="5029200" y="3429000"/>
            <a:ext cx="2819400" cy="2895600"/>
            <a:chOff x="3744" y="4464"/>
            <a:chExt cx="1776" cy="1824"/>
          </a:xfrm>
        </p:grpSpPr>
        <p:sp>
          <p:nvSpPr>
            <p:cNvPr id="1460" name="Google Shape;1460;p30"/>
            <p:cNvSpPr/>
            <p:nvPr/>
          </p:nvSpPr>
          <p:spPr>
            <a:xfrm>
              <a:off x="3744" y="4464"/>
              <a:ext cx="1776" cy="1824"/>
            </a:xfrm>
            <a:prstGeom prst="ellipse">
              <a:avLst/>
            </a:prstGeom>
            <a:noFill/>
            <a:ln w="28575"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grpSp>
          <p:nvGrpSpPr>
            <p:cNvPr id="1461" name="Google Shape;1461;p30"/>
            <p:cNvGrpSpPr/>
            <p:nvPr/>
          </p:nvGrpSpPr>
          <p:grpSpPr>
            <a:xfrm>
              <a:off x="4491" y="5231"/>
              <a:ext cx="288" cy="288"/>
              <a:chOff x="4486" y="3484"/>
              <a:chExt cx="288" cy="288"/>
            </a:xfrm>
          </p:grpSpPr>
          <p:sp>
            <p:nvSpPr>
              <p:cNvPr id="1462" name="Google Shape;1462;p30"/>
              <p:cNvSpPr/>
              <p:nvPr/>
            </p:nvSpPr>
            <p:spPr>
              <a:xfrm>
                <a:off x="4560" y="3552"/>
                <a:ext cx="144" cy="144"/>
              </a:xfrm>
              <a:prstGeom prst="ellipse">
                <a:avLst/>
              </a:prstGeom>
              <a:noFill/>
              <a:ln w="19050" cap="flat" cmpd="sng">
                <a:solidFill>
                  <a:srgbClr val="00CC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463" name="Google Shape;1463;p30"/>
              <p:cNvCxnSpPr/>
              <p:nvPr/>
            </p:nvCxnSpPr>
            <p:spPr>
              <a:xfrm>
                <a:off x="4632" y="3484"/>
                <a:ext cx="0" cy="288"/>
              </a:xfrm>
              <a:prstGeom prst="straightConnector1">
                <a:avLst/>
              </a:prstGeom>
              <a:noFill/>
              <a:ln w="9525" cap="flat" cmpd="sng">
                <a:solidFill>
                  <a:srgbClr val="00CCFF"/>
                </a:solidFill>
                <a:prstDash val="solid"/>
                <a:round/>
                <a:headEnd type="none" w="med" len="med"/>
                <a:tailEnd type="none" w="med" len="med"/>
              </a:ln>
            </p:spPr>
          </p:cxnSp>
          <p:cxnSp>
            <p:nvCxnSpPr>
              <p:cNvPr id="1464" name="Google Shape;1464;p30"/>
              <p:cNvCxnSpPr/>
              <p:nvPr/>
            </p:nvCxnSpPr>
            <p:spPr>
              <a:xfrm rot="10800000">
                <a:off x="4630" y="3482"/>
                <a:ext cx="0" cy="288"/>
              </a:xfrm>
              <a:prstGeom prst="straightConnector1">
                <a:avLst/>
              </a:prstGeom>
              <a:noFill/>
              <a:ln w="9525" cap="flat" cmpd="sng">
                <a:solidFill>
                  <a:srgbClr val="00CCFF"/>
                </a:solidFill>
                <a:prstDash val="solid"/>
                <a:round/>
                <a:headEnd type="none" w="med" len="med"/>
                <a:tailEnd type="none" w="med" len="med"/>
              </a:ln>
            </p:spPr>
          </p:cxnSp>
        </p:grpSp>
      </p:grpSp>
      <p:grpSp>
        <p:nvGrpSpPr>
          <p:cNvPr id="1465" name="Google Shape;1465;p30"/>
          <p:cNvGrpSpPr/>
          <p:nvPr/>
        </p:nvGrpSpPr>
        <p:grpSpPr>
          <a:xfrm>
            <a:off x="6781800" y="4800600"/>
            <a:ext cx="457200" cy="457200"/>
            <a:chOff x="4486" y="3484"/>
            <a:chExt cx="288" cy="288"/>
          </a:xfrm>
        </p:grpSpPr>
        <p:sp>
          <p:nvSpPr>
            <p:cNvPr id="1466" name="Google Shape;1466;p30"/>
            <p:cNvSpPr/>
            <p:nvPr/>
          </p:nvSpPr>
          <p:spPr>
            <a:xfrm>
              <a:off x="4560" y="3552"/>
              <a:ext cx="144" cy="144"/>
            </a:xfrm>
            <a:prstGeom prst="ellipse">
              <a:avLst/>
            </a:prstGeom>
            <a:noFill/>
            <a:ln w="19050" cap="flat" cmpd="sng">
              <a:solidFill>
                <a:srgbClr val="FF99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467" name="Google Shape;1467;p30"/>
            <p:cNvCxnSpPr/>
            <p:nvPr/>
          </p:nvCxnSpPr>
          <p:spPr>
            <a:xfrm>
              <a:off x="4632" y="3484"/>
              <a:ext cx="0" cy="288"/>
            </a:xfrm>
            <a:prstGeom prst="straightConnector1">
              <a:avLst/>
            </a:prstGeom>
            <a:noFill/>
            <a:ln w="9525" cap="flat" cmpd="sng">
              <a:solidFill>
                <a:srgbClr val="FF9900"/>
              </a:solidFill>
              <a:prstDash val="solid"/>
              <a:round/>
              <a:headEnd type="none" w="med" len="med"/>
              <a:tailEnd type="none" w="med" len="med"/>
            </a:ln>
          </p:spPr>
        </p:cxnSp>
        <p:cxnSp>
          <p:nvCxnSpPr>
            <p:cNvPr id="1468" name="Google Shape;1468;p30"/>
            <p:cNvCxnSpPr/>
            <p:nvPr/>
          </p:nvCxnSpPr>
          <p:spPr>
            <a:xfrm rot="10800000">
              <a:off x="4630" y="3482"/>
              <a:ext cx="0" cy="288"/>
            </a:xfrm>
            <a:prstGeom prst="straightConnector1">
              <a:avLst/>
            </a:prstGeom>
            <a:noFill/>
            <a:ln w="9525" cap="flat" cmpd="sng">
              <a:solidFill>
                <a:srgbClr val="FF9900"/>
              </a:solidFill>
              <a:prstDash val="solid"/>
              <a:round/>
              <a:headEnd type="none" w="med" len="med"/>
              <a:tailEnd type="none" w="med" len="med"/>
            </a:ln>
          </p:spPr>
        </p:cxnSp>
      </p:grpSp>
      <p:cxnSp>
        <p:nvCxnSpPr>
          <p:cNvPr id="1469" name="Google Shape;1469;p30"/>
          <p:cNvCxnSpPr/>
          <p:nvPr/>
        </p:nvCxnSpPr>
        <p:spPr>
          <a:xfrm rot="10800000" flipH="1">
            <a:off x="4648200" y="4800600"/>
            <a:ext cx="1828800" cy="152400"/>
          </a:xfrm>
          <a:prstGeom prst="straightConnector1">
            <a:avLst/>
          </a:prstGeom>
          <a:noFill/>
          <a:ln w="38100" cap="flat" cmpd="sng">
            <a:solidFill>
              <a:srgbClr val="FF0000"/>
            </a:solidFill>
            <a:prstDash val="solid"/>
            <a:round/>
            <a:headEnd type="none" w="med" len="med"/>
            <a:tailEnd type="triangle" w="med" len="med"/>
          </a:ln>
        </p:spPr>
      </p:cxnSp>
      <p:sp>
        <p:nvSpPr>
          <p:cNvPr id="1470" name="Google Shape;1470;p30"/>
          <p:cNvSpPr/>
          <p:nvPr/>
        </p:nvSpPr>
        <p:spPr>
          <a:xfrm rot="1015650">
            <a:off x="6448425" y="4876800"/>
            <a:ext cx="533400" cy="152400"/>
          </a:xfrm>
          <a:prstGeom prst="rightArrow">
            <a:avLst>
              <a:gd name="adj1" fmla="val 50000"/>
              <a:gd name="adj2" fmla="val 87500"/>
            </a:avLst>
          </a:prstGeom>
          <a:solidFill>
            <a:srgbClr val="33CCFF"/>
          </a:solidFill>
          <a:ln w="2857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71" name="Google Shape;1471;p30"/>
          <p:cNvSpPr txBox="1"/>
          <p:nvPr/>
        </p:nvSpPr>
        <p:spPr>
          <a:xfrm>
            <a:off x="381000" y="1676400"/>
            <a:ext cx="5562600" cy="15525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a:solidFill>
                  <a:srgbClr val="000000"/>
                </a:solidFill>
                <a:latin typeface="Arial"/>
                <a:ea typeface="Arial"/>
                <a:cs typeface="Arial"/>
                <a:sym typeface="Arial"/>
              </a:rPr>
              <a:t>Simple Mean Shift procedure</a:t>
            </a:r>
            <a:r>
              <a:rPr lang="en-US" sz="2400">
                <a:solidFill>
                  <a:srgbClr val="000000"/>
                </a:solidFill>
                <a:latin typeface="Arial"/>
                <a:ea typeface="Arial"/>
                <a:cs typeface="Arial"/>
                <a:sym typeface="Arial"/>
              </a:rPr>
              <a:t>:</a:t>
            </a:r>
            <a:endParaRPr/>
          </a:p>
          <a:p>
            <a:pPr marL="0" marR="0" lvl="0" indent="-152400" algn="l" rtl="0">
              <a:spcBef>
                <a:spcPts val="0"/>
              </a:spcBef>
              <a:spcAft>
                <a:spcPts val="0"/>
              </a:spcAft>
              <a:buClr>
                <a:srgbClr val="000000"/>
              </a:buClr>
              <a:buSzPts val="2400"/>
              <a:buFont typeface="Arial"/>
              <a:buChar char="•"/>
            </a:pPr>
            <a:r>
              <a:rPr lang="en-US" sz="2400">
                <a:solidFill>
                  <a:srgbClr val="000000"/>
                </a:solidFill>
                <a:latin typeface="Arial"/>
                <a:ea typeface="Arial"/>
                <a:cs typeface="Arial"/>
                <a:sym typeface="Arial"/>
              </a:rPr>
              <a:t> Compute mean shift vector</a:t>
            </a:r>
            <a:endParaRPr/>
          </a:p>
          <a:p>
            <a:pPr marL="0" marR="0" lvl="0" indent="0" algn="l" rtl="0">
              <a:spcBef>
                <a:spcPts val="0"/>
              </a:spcBef>
              <a:spcAft>
                <a:spcPts val="0"/>
              </a:spcAft>
              <a:buClr>
                <a:schemeClr val="dk1"/>
              </a:buClr>
              <a:buSzPts val="2400"/>
              <a:buFont typeface="Arial"/>
              <a:buNone/>
            </a:pPr>
            <a:endParaRPr sz="2400">
              <a:solidFill>
                <a:srgbClr val="000000"/>
              </a:solidFill>
              <a:latin typeface="Arial"/>
              <a:ea typeface="Arial"/>
              <a:cs typeface="Arial"/>
              <a:sym typeface="Arial"/>
            </a:endParaRPr>
          </a:p>
          <a:p>
            <a:pPr marL="0" marR="0" lvl="0" indent="-152400" algn="l" rtl="0">
              <a:spcBef>
                <a:spcPts val="0"/>
              </a:spcBef>
              <a:spcAft>
                <a:spcPts val="0"/>
              </a:spcAft>
              <a:buClr>
                <a:srgbClr val="000000"/>
              </a:buClr>
              <a:buSzPts val="2400"/>
              <a:buFont typeface="Arial"/>
              <a:buChar char="•"/>
            </a:pPr>
            <a:r>
              <a:rPr lang="en-US" sz="2400">
                <a:solidFill>
                  <a:srgbClr val="000000"/>
                </a:solidFill>
                <a:latin typeface="Arial"/>
                <a:ea typeface="Arial"/>
                <a:cs typeface="Arial"/>
                <a:sym typeface="Arial"/>
              </a:rPr>
              <a:t>Translate the Kernel window by </a:t>
            </a:r>
            <a:r>
              <a:rPr lang="en-US" sz="2400" b="1">
                <a:solidFill>
                  <a:srgbClr val="000000"/>
                </a:solidFill>
                <a:latin typeface="Arial"/>
                <a:ea typeface="Arial"/>
                <a:cs typeface="Arial"/>
                <a:sym typeface="Arial"/>
              </a:rPr>
              <a:t>m(x)</a:t>
            </a:r>
            <a:endParaRPr sz="2400">
              <a:solidFill>
                <a:srgbClr val="000000"/>
              </a:solidFill>
              <a:latin typeface="Arial"/>
              <a:ea typeface="Arial"/>
              <a:cs typeface="Arial"/>
              <a:sym typeface="Arial"/>
            </a:endParaRPr>
          </a:p>
        </p:txBody>
      </p:sp>
      <p:pic>
        <p:nvPicPr>
          <p:cNvPr id="1472" name="Google Shape;1472;p30"/>
          <p:cNvPicPr preferRelativeResize="0"/>
          <p:nvPr/>
        </p:nvPicPr>
        <p:blipFill rotWithShape="1">
          <a:blip r:embed="rId3">
            <a:alphaModFix/>
          </a:blip>
          <a:srcRect/>
          <a:stretch/>
        </p:blipFill>
        <p:spPr>
          <a:xfrm>
            <a:off x="457200" y="3657600"/>
            <a:ext cx="4343400" cy="2471738"/>
          </a:xfrm>
          <a:prstGeom prst="rect">
            <a:avLst/>
          </a:prstGeom>
          <a:solidFill>
            <a:srgbClr val="FFFF00"/>
          </a:solidFill>
          <a:ln>
            <a:noFill/>
          </a:ln>
        </p:spPr>
      </p:pic>
      <p:pic>
        <p:nvPicPr>
          <p:cNvPr id="1473" name="Google Shape;1473;p30"/>
          <p:cNvPicPr preferRelativeResize="0"/>
          <p:nvPr/>
        </p:nvPicPr>
        <p:blipFill rotWithShape="1">
          <a:blip r:embed="rId4">
            <a:alphaModFix/>
          </a:blip>
          <a:srcRect/>
          <a:stretch/>
        </p:blipFill>
        <p:spPr>
          <a:xfrm>
            <a:off x="7345363" y="6400800"/>
            <a:ext cx="1531937" cy="322263"/>
          </a:xfrm>
          <a:prstGeom prst="rect">
            <a:avLst/>
          </a:prstGeom>
          <a:solidFill>
            <a:srgbClr val="FFFF00"/>
          </a:solidFill>
          <a:ln>
            <a:noFill/>
          </a:ln>
        </p:spPr>
      </p:pic>
      <p:sp>
        <p:nvSpPr>
          <p:cNvPr id="1474" name="Google Shape;1474;p30"/>
          <p:cNvSpPr/>
          <p:nvPr/>
        </p:nvSpPr>
        <p:spPr>
          <a:xfrm>
            <a:off x="7162800" y="6324600"/>
            <a:ext cx="1981200" cy="533400"/>
          </a:xfrm>
          <a:prstGeom prst="rect">
            <a:avLst/>
          </a:prstGeom>
          <a:solidFill>
            <a:schemeClr val="lt1">
              <a:alpha val="79607"/>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cxnSp>
        <p:nvCxnSpPr>
          <p:cNvPr id="1475" name="Google Shape;1475;p30"/>
          <p:cNvCxnSpPr/>
          <p:nvPr/>
        </p:nvCxnSpPr>
        <p:spPr>
          <a:xfrm rot="10800000" flipH="1">
            <a:off x="4114800" y="5029200"/>
            <a:ext cx="2895600" cy="533400"/>
          </a:xfrm>
          <a:prstGeom prst="straightConnector1">
            <a:avLst/>
          </a:prstGeom>
          <a:noFill/>
          <a:ln w="38100" cap="flat" cmpd="sng">
            <a:solidFill>
              <a:srgbClr val="FF0000"/>
            </a:solidFill>
            <a:prstDash val="solid"/>
            <a:round/>
            <a:headEnd type="none" w="med" len="med"/>
            <a:tailEnd type="triangle" w="med" len="med"/>
          </a:ln>
        </p:spPr>
      </p:cxnSp>
      <p:sp>
        <p:nvSpPr>
          <p:cNvPr id="1476" name="Google Shape;1476;p30"/>
          <p:cNvSpPr/>
          <p:nvPr/>
        </p:nvSpPr>
        <p:spPr>
          <a:xfrm>
            <a:off x="1676400" y="3429000"/>
            <a:ext cx="2438400" cy="281940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77" name="Google Shape;1477;p30"/>
          <p:cNvSpPr/>
          <p:nvPr/>
        </p:nvSpPr>
        <p:spPr>
          <a:xfrm>
            <a:off x="4343400" y="4572000"/>
            <a:ext cx="381000" cy="60960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78" name="Google Shape;1478;p30"/>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Computing the Mean Shift</a:t>
            </a:r>
            <a:endParaRPr/>
          </a:p>
        </p:txBody>
      </p:sp>
      <p:sp>
        <p:nvSpPr>
          <p:cNvPr id="1479" name="Google Shape;1479;p30"/>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7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1484"/>
        <p:cNvGrpSpPr/>
        <p:nvPr/>
      </p:nvGrpSpPr>
      <p:grpSpPr>
        <a:xfrm>
          <a:off x="0" y="0"/>
          <a:ext cx="0" cy="0"/>
          <a:chOff x="0" y="0"/>
          <a:chExt cx="0" cy="0"/>
        </a:xfrm>
      </p:grpSpPr>
      <p:sp>
        <p:nvSpPr>
          <p:cNvPr id="1485" name="Google Shape;1485;p31"/>
          <p:cNvSpPr/>
          <p:nvPr/>
        </p:nvSpPr>
        <p:spPr>
          <a:xfrm>
            <a:off x="5562600" y="3429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86" name="Google Shape;1486;p31"/>
          <p:cNvSpPr/>
          <p:nvPr/>
        </p:nvSpPr>
        <p:spPr>
          <a:xfrm>
            <a:off x="5768975" y="3429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87" name="Google Shape;1487;p31"/>
          <p:cNvSpPr/>
          <p:nvPr/>
        </p:nvSpPr>
        <p:spPr>
          <a:xfrm>
            <a:off x="5692775" y="3276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88" name="Google Shape;1488;p31"/>
          <p:cNvSpPr/>
          <p:nvPr/>
        </p:nvSpPr>
        <p:spPr>
          <a:xfrm>
            <a:off x="5440363" y="3221038"/>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89" name="Google Shape;1489;p31"/>
          <p:cNvSpPr/>
          <p:nvPr/>
        </p:nvSpPr>
        <p:spPr>
          <a:xfrm>
            <a:off x="5681663" y="3592513"/>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0" name="Google Shape;1490;p31"/>
          <p:cNvSpPr/>
          <p:nvPr/>
        </p:nvSpPr>
        <p:spPr>
          <a:xfrm>
            <a:off x="5454650" y="3592513"/>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1" name="Google Shape;1491;p31"/>
          <p:cNvSpPr/>
          <p:nvPr/>
        </p:nvSpPr>
        <p:spPr>
          <a:xfrm>
            <a:off x="5932488" y="3614738"/>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2" name="Google Shape;1492;p31"/>
          <p:cNvSpPr/>
          <p:nvPr/>
        </p:nvSpPr>
        <p:spPr>
          <a:xfrm>
            <a:off x="5322888" y="3429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3" name="Google Shape;1493;p31"/>
          <p:cNvSpPr/>
          <p:nvPr/>
        </p:nvSpPr>
        <p:spPr>
          <a:xfrm>
            <a:off x="6062663" y="3429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4" name="Google Shape;1494;p31"/>
          <p:cNvSpPr/>
          <p:nvPr/>
        </p:nvSpPr>
        <p:spPr>
          <a:xfrm>
            <a:off x="5921375" y="314325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5" name="Google Shape;1495;p31"/>
          <p:cNvSpPr/>
          <p:nvPr/>
        </p:nvSpPr>
        <p:spPr>
          <a:xfrm>
            <a:off x="5638800" y="3048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6" name="Google Shape;1496;p31"/>
          <p:cNvSpPr/>
          <p:nvPr/>
        </p:nvSpPr>
        <p:spPr>
          <a:xfrm>
            <a:off x="5791200" y="3810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7" name="Google Shape;1497;p31"/>
          <p:cNvSpPr/>
          <p:nvPr/>
        </p:nvSpPr>
        <p:spPr>
          <a:xfrm>
            <a:off x="5486400" y="3830638"/>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8" name="Google Shape;1498;p31"/>
          <p:cNvSpPr/>
          <p:nvPr/>
        </p:nvSpPr>
        <p:spPr>
          <a:xfrm>
            <a:off x="5181600" y="3679825"/>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499" name="Google Shape;1499;p31"/>
          <p:cNvSpPr/>
          <p:nvPr/>
        </p:nvSpPr>
        <p:spPr>
          <a:xfrm>
            <a:off x="4953000" y="3429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0" name="Google Shape;1500;p31"/>
          <p:cNvSpPr/>
          <p:nvPr/>
        </p:nvSpPr>
        <p:spPr>
          <a:xfrm>
            <a:off x="5181600" y="3200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1" name="Google Shape;1501;p31"/>
          <p:cNvSpPr/>
          <p:nvPr/>
        </p:nvSpPr>
        <p:spPr>
          <a:xfrm>
            <a:off x="6248400" y="3657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2" name="Google Shape;1502;p31"/>
          <p:cNvSpPr/>
          <p:nvPr/>
        </p:nvSpPr>
        <p:spPr>
          <a:xfrm>
            <a:off x="6172200" y="3962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3" name="Google Shape;1503;p31"/>
          <p:cNvSpPr/>
          <p:nvPr/>
        </p:nvSpPr>
        <p:spPr>
          <a:xfrm>
            <a:off x="5888038" y="4094163"/>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4" name="Google Shape;1504;p31"/>
          <p:cNvSpPr/>
          <p:nvPr/>
        </p:nvSpPr>
        <p:spPr>
          <a:xfrm>
            <a:off x="5486400" y="4114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5" name="Google Shape;1505;p31"/>
          <p:cNvSpPr/>
          <p:nvPr/>
        </p:nvSpPr>
        <p:spPr>
          <a:xfrm>
            <a:off x="5029200" y="3962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6" name="Google Shape;1506;p31"/>
          <p:cNvSpPr/>
          <p:nvPr/>
        </p:nvSpPr>
        <p:spPr>
          <a:xfrm>
            <a:off x="4648200" y="3657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7" name="Google Shape;1507;p31"/>
          <p:cNvSpPr/>
          <p:nvPr/>
        </p:nvSpPr>
        <p:spPr>
          <a:xfrm>
            <a:off x="4572000" y="3124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8" name="Google Shape;1508;p31"/>
          <p:cNvSpPr/>
          <p:nvPr/>
        </p:nvSpPr>
        <p:spPr>
          <a:xfrm>
            <a:off x="4953000" y="3048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09" name="Google Shape;1509;p31"/>
          <p:cNvSpPr/>
          <p:nvPr/>
        </p:nvSpPr>
        <p:spPr>
          <a:xfrm>
            <a:off x="5334000" y="2819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0" name="Google Shape;1510;p31"/>
          <p:cNvSpPr/>
          <p:nvPr/>
        </p:nvSpPr>
        <p:spPr>
          <a:xfrm>
            <a:off x="5921375" y="2819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1" name="Google Shape;1511;p31"/>
          <p:cNvSpPr/>
          <p:nvPr/>
        </p:nvSpPr>
        <p:spPr>
          <a:xfrm>
            <a:off x="5638800" y="2514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2" name="Google Shape;1512;p31"/>
          <p:cNvSpPr/>
          <p:nvPr/>
        </p:nvSpPr>
        <p:spPr>
          <a:xfrm>
            <a:off x="4724400" y="2819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3" name="Google Shape;1513;p31"/>
          <p:cNvSpPr/>
          <p:nvPr/>
        </p:nvSpPr>
        <p:spPr>
          <a:xfrm>
            <a:off x="5105400" y="2590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4" name="Google Shape;1514;p31"/>
          <p:cNvSpPr/>
          <p:nvPr/>
        </p:nvSpPr>
        <p:spPr>
          <a:xfrm>
            <a:off x="5638800" y="1981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5" name="Google Shape;1515;p31"/>
          <p:cNvSpPr/>
          <p:nvPr/>
        </p:nvSpPr>
        <p:spPr>
          <a:xfrm>
            <a:off x="5181600" y="2209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6" name="Google Shape;1516;p31"/>
          <p:cNvSpPr/>
          <p:nvPr/>
        </p:nvSpPr>
        <p:spPr>
          <a:xfrm>
            <a:off x="5921375" y="2438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7" name="Google Shape;1517;p31"/>
          <p:cNvSpPr/>
          <p:nvPr/>
        </p:nvSpPr>
        <p:spPr>
          <a:xfrm>
            <a:off x="5921375" y="1371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8" name="Google Shape;1518;p31"/>
          <p:cNvSpPr/>
          <p:nvPr/>
        </p:nvSpPr>
        <p:spPr>
          <a:xfrm>
            <a:off x="6172200" y="2133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19" name="Google Shape;1519;p31"/>
          <p:cNvSpPr/>
          <p:nvPr/>
        </p:nvSpPr>
        <p:spPr>
          <a:xfrm>
            <a:off x="6259513" y="2676525"/>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0" name="Google Shape;1520;p31"/>
          <p:cNvSpPr/>
          <p:nvPr/>
        </p:nvSpPr>
        <p:spPr>
          <a:xfrm>
            <a:off x="6248400" y="3124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1" name="Google Shape;1521;p31"/>
          <p:cNvSpPr/>
          <p:nvPr/>
        </p:nvSpPr>
        <p:spPr>
          <a:xfrm>
            <a:off x="6629400" y="2895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2" name="Google Shape;1522;p31"/>
          <p:cNvSpPr/>
          <p:nvPr/>
        </p:nvSpPr>
        <p:spPr>
          <a:xfrm>
            <a:off x="6629400" y="2514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3" name="Google Shape;1523;p31"/>
          <p:cNvSpPr/>
          <p:nvPr/>
        </p:nvSpPr>
        <p:spPr>
          <a:xfrm>
            <a:off x="6553200" y="2057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4" name="Google Shape;1524;p31"/>
          <p:cNvSpPr/>
          <p:nvPr/>
        </p:nvSpPr>
        <p:spPr>
          <a:xfrm>
            <a:off x="6324600" y="1600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5" name="Google Shape;1525;p31"/>
          <p:cNvSpPr/>
          <p:nvPr/>
        </p:nvSpPr>
        <p:spPr>
          <a:xfrm>
            <a:off x="6934200" y="1295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6" name="Google Shape;1526;p31"/>
          <p:cNvSpPr/>
          <p:nvPr/>
        </p:nvSpPr>
        <p:spPr>
          <a:xfrm>
            <a:off x="7010400" y="1752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7" name="Google Shape;1527;p31"/>
          <p:cNvSpPr/>
          <p:nvPr/>
        </p:nvSpPr>
        <p:spPr>
          <a:xfrm>
            <a:off x="7315200" y="2362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8" name="Google Shape;1528;p31"/>
          <p:cNvSpPr/>
          <p:nvPr/>
        </p:nvSpPr>
        <p:spPr>
          <a:xfrm>
            <a:off x="6705600" y="3352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29" name="Google Shape;1529;p31"/>
          <p:cNvSpPr/>
          <p:nvPr/>
        </p:nvSpPr>
        <p:spPr>
          <a:xfrm>
            <a:off x="7162800" y="2895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0" name="Google Shape;1530;p31"/>
          <p:cNvSpPr/>
          <p:nvPr/>
        </p:nvSpPr>
        <p:spPr>
          <a:xfrm>
            <a:off x="7924800" y="2971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1" name="Google Shape;1531;p31"/>
          <p:cNvSpPr/>
          <p:nvPr/>
        </p:nvSpPr>
        <p:spPr>
          <a:xfrm>
            <a:off x="6934200" y="3886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2" name="Google Shape;1532;p31"/>
          <p:cNvSpPr/>
          <p:nvPr/>
        </p:nvSpPr>
        <p:spPr>
          <a:xfrm>
            <a:off x="7478713" y="3430588"/>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3" name="Google Shape;1533;p31"/>
          <p:cNvSpPr/>
          <p:nvPr/>
        </p:nvSpPr>
        <p:spPr>
          <a:xfrm>
            <a:off x="6477000" y="4267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4" name="Google Shape;1534;p31"/>
          <p:cNvSpPr/>
          <p:nvPr/>
        </p:nvSpPr>
        <p:spPr>
          <a:xfrm>
            <a:off x="7543800" y="4343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5" name="Google Shape;1535;p31"/>
          <p:cNvSpPr/>
          <p:nvPr/>
        </p:nvSpPr>
        <p:spPr>
          <a:xfrm>
            <a:off x="6934200" y="4724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6" name="Google Shape;1536;p31"/>
          <p:cNvSpPr/>
          <p:nvPr/>
        </p:nvSpPr>
        <p:spPr>
          <a:xfrm>
            <a:off x="6096000" y="4572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7" name="Google Shape;1537;p31"/>
          <p:cNvSpPr/>
          <p:nvPr/>
        </p:nvSpPr>
        <p:spPr>
          <a:xfrm>
            <a:off x="5638800" y="4495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8" name="Google Shape;1538;p31"/>
          <p:cNvSpPr/>
          <p:nvPr/>
        </p:nvSpPr>
        <p:spPr>
          <a:xfrm>
            <a:off x="6019800" y="5029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39" name="Google Shape;1539;p31"/>
          <p:cNvSpPr/>
          <p:nvPr/>
        </p:nvSpPr>
        <p:spPr>
          <a:xfrm>
            <a:off x="6477000" y="5486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0" name="Google Shape;1540;p31"/>
          <p:cNvSpPr/>
          <p:nvPr/>
        </p:nvSpPr>
        <p:spPr>
          <a:xfrm>
            <a:off x="5867400" y="5486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1" name="Google Shape;1541;p31"/>
          <p:cNvSpPr/>
          <p:nvPr/>
        </p:nvSpPr>
        <p:spPr>
          <a:xfrm>
            <a:off x="5410200" y="5029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2" name="Google Shape;1542;p31"/>
          <p:cNvSpPr/>
          <p:nvPr/>
        </p:nvSpPr>
        <p:spPr>
          <a:xfrm>
            <a:off x="5105400" y="4572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3" name="Google Shape;1543;p31"/>
          <p:cNvSpPr/>
          <p:nvPr/>
        </p:nvSpPr>
        <p:spPr>
          <a:xfrm>
            <a:off x="4495800" y="4267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4" name="Google Shape;1544;p31"/>
          <p:cNvSpPr/>
          <p:nvPr/>
        </p:nvSpPr>
        <p:spPr>
          <a:xfrm>
            <a:off x="4724400" y="4953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5" name="Google Shape;1545;p31"/>
          <p:cNvSpPr/>
          <p:nvPr/>
        </p:nvSpPr>
        <p:spPr>
          <a:xfrm>
            <a:off x="4953000" y="5486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6" name="Google Shape;1546;p31"/>
          <p:cNvSpPr/>
          <p:nvPr/>
        </p:nvSpPr>
        <p:spPr>
          <a:xfrm>
            <a:off x="4114800" y="5638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7" name="Google Shape;1547;p31"/>
          <p:cNvSpPr/>
          <p:nvPr/>
        </p:nvSpPr>
        <p:spPr>
          <a:xfrm>
            <a:off x="4038600" y="5029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8" name="Google Shape;1548;p31"/>
          <p:cNvSpPr/>
          <p:nvPr/>
        </p:nvSpPr>
        <p:spPr>
          <a:xfrm>
            <a:off x="3505200" y="4267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49" name="Google Shape;1549;p31"/>
          <p:cNvSpPr/>
          <p:nvPr/>
        </p:nvSpPr>
        <p:spPr>
          <a:xfrm>
            <a:off x="4038600" y="3962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0" name="Google Shape;1550;p31"/>
          <p:cNvSpPr/>
          <p:nvPr/>
        </p:nvSpPr>
        <p:spPr>
          <a:xfrm>
            <a:off x="4267200" y="3429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1" name="Google Shape;1551;p31"/>
          <p:cNvSpPr/>
          <p:nvPr/>
        </p:nvSpPr>
        <p:spPr>
          <a:xfrm>
            <a:off x="3733800" y="2971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2" name="Google Shape;1552;p31"/>
          <p:cNvSpPr/>
          <p:nvPr/>
        </p:nvSpPr>
        <p:spPr>
          <a:xfrm>
            <a:off x="4267200" y="2590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3" name="Google Shape;1553;p31"/>
          <p:cNvSpPr/>
          <p:nvPr/>
        </p:nvSpPr>
        <p:spPr>
          <a:xfrm>
            <a:off x="4724400" y="2438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4" name="Google Shape;1554;p31"/>
          <p:cNvSpPr/>
          <p:nvPr/>
        </p:nvSpPr>
        <p:spPr>
          <a:xfrm>
            <a:off x="4343400" y="1828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5" name="Google Shape;1555;p31"/>
          <p:cNvSpPr/>
          <p:nvPr/>
        </p:nvSpPr>
        <p:spPr>
          <a:xfrm>
            <a:off x="5029200" y="1600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6" name="Google Shape;1556;p31"/>
          <p:cNvSpPr/>
          <p:nvPr/>
        </p:nvSpPr>
        <p:spPr>
          <a:xfrm>
            <a:off x="4191000" y="1219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7" name="Google Shape;1557;p31"/>
          <p:cNvSpPr/>
          <p:nvPr/>
        </p:nvSpPr>
        <p:spPr>
          <a:xfrm>
            <a:off x="3733800" y="1600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8" name="Google Shape;1558;p31"/>
          <p:cNvSpPr/>
          <p:nvPr/>
        </p:nvSpPr>
        <p:spPr>
          <a:xfrm>
            <a:off x="3657600" y="2209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59" name="Google Shape;1559;p31"/>
          <p:cNvSpPr/>
          <p:nvPr/>
        </p:nvSpPr>
        <p:spPr>
          <a:xfrm>
            <a:off x="3276600" y="2667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0" name="Google Shape;1560;p31"/>
          <p:cNvSpPr/>
          <p:nvPr/>
        </p:nvSpPr>
        <p:spPr>
          <a:xfrm>
            <a:off x="3657600" y="3505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1" name="Google Shape;1561;p31"/>
          <p:cNvSpPr/>
          <p:nvPr/>
        </p:nvSpPr>
        <p:spPr>
          <a:xfrm>
            <a:off x="2895600" y="3581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2" name="Google Shape;1562;p31"/>
          <p:cNvSpPr/>
          <p:nvPr/>
        </p:nvSpPr>
        <p:spPr>
          <a:xfrm>
            <a:off x="2819400" y="44196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3" name="Google Shape;1563;p31"/>
          <p:cNvSpPr/>
          <p:nvPr/>
        </p:nvSpPr>
        <p:spPr>
          <a:xfrm>
            <a:off x="3048000" y="5257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4" name="Google Shape;1564;p31"/>
          <p:cNvSpPr/>
          <p:nvPr/>
        </p:nvSpPr>
        <p:spPr>
          <a:xfrm>
            <a:off x="2362200" y="5638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5" name="Google Shape;1565;p31"/>
          <p:cNvSpPr/>
          <p:nvPr/>
        </p:nvSpPr>
        <p:spPr>
          <a:xfrm>
            <a:off x="1905000" y="4876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6" name="Google Shape;1566;p31"/>
          <p:cNvSpPr/>
          <p:nvPr/>
        </p:nvSpPr>
        <p:spPr>
          <a:xfrm>
            <a:off x="1905000" y="3962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7" name="Google Shape;1567;p31"/>
          <p:cNvSpPr/>
          <p:nvPr/>
        </p:nvSpPr>
        <p:spPr>
          <a:xfrm>
            <a:off x="2514600" y="2743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8" name="Google Shape;1568;p31"/>
          <p:cNvSpPr/>
          <p:nvPr/>
        </p:nvSpPr>
        <p:spPr>
          <a:xfrm>
            <a:off x="2895600" y="1905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69" name="Google Shape;1569;p31"/>
          <p:cNvSpPr/>
          <p:nvPr/>
        </p:nvSpPr>
        <p:spPr>
          <a:xfrm>
            <a:off x="1981200" y="1905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0" name="Google Shape;1570;p31"/>
          <p:cNvSpPr/>
          <p:nvPr/>
        </p:nvSpPr>
        <p:spPr>
          <a:xfrm>
            <a:off x="1828800" y="3048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1" name="Google Shape;1571;p31"/>
          <p:cNvSpPr/>
          <p:nvPr/>
        </p:nvSpPr>
        <p:spPr>
          <a:xfrm>
            <a:off x="762000" y="47244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2" name="Google Shape;1572;p31"/>
          <p:cNvSpPr/>
          <p:nvPr/>
        </p:nvSpPr>
        <p:spPr>
          <a:xfrm>
            <a:off x="838200" y="5791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3" name="Google Shape;1573;p31"/>
          <p:cNvSpPr/>
          <p:nvPr/>
        </p:nvSpPr>
        <p:spPr>
          <a:xfrm>
            <a:off x="838200" y="3505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4" name="Google Shape;1574;p31"/>
          <p:cNvSpPr/>
          <p:nvPr/>
        </p:nvSpPr>
        <p:spPr>
          <a:xfrm>
            <a:off x="990600" y="22860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5" name="Google Shape;1575;p31"/>
          <p:cNvSpPr/>
          <p:nvPr/>
        </p:nvSpPr>
        <p:spPr>
          <a:xfrm>
            <a:off x="1143000" y="12192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6" name="Google Shape;1576;p31"/>
          <p:cNvSpPr/>
          <p:nvPr/>
        </p:nvSpPr>
        <p:spPr>
          <a:xfrm>
            <a:off x="2590800" y="1066800"/>
            <a:ext cx="152400" cy="152400"/>
          </a:xfrm>
          <a:prstGeom prst="ellipse">
            <a:avLst/>
          </a:prstGeom>
          <a:solidFill>
            <a:srgbClr val="FFCC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7" name="Google Shape;1577;p31"/>
          <p:cNvSpPr/>
          <p:nvPr/>
        </p:nvSpPr>
        <p:spPr>
          <a:xfrm>
            <a:off x="2057400" y="51054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8" name="Google Shape;1578;p31"/>
          <p:cNvSpPr/>
          <p:nvPr/>
        </p:nvSpPr>
        <p:spPr>
          <a:xfrm>
            <a:off x="1600200" y="41910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79" name="Google Shape;1579;p31"/>
          <p:cNvSpPr/>
          <p:nvPr/>
        </p:nvSpPr>
        <p:spPr>
          <a:xfrm>
            <a:off x="1752600" y="28956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0" name="Google Shape;1580;p31"/>
          <p:cNvSpPr/>
          <p:nvPr/>
        </p:nvSpPr>
        <p:spPr>
          <a:xfrm>
            <a:off x="1676400" y="12954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1" name="Google Shape;1581;p31"/>
          <p:cNvSpPr/>
          <p:nvPr/>
        </p:nvSpPr>
        <p:spPr>
          <a:xfrm>
            <a:off x="3352800" y="11430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2" name="Google Shape;1582;p31"/>
          <p:cNvSpPr/>
          <p:nvPr/>
        </p:nvSpPr>
        <p:spPr>
          <a:xfrm>
            <a:off x="3429000" y="50292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3" name="Google Shape;1583;p31"/>
          <p:cNvSpPr/>
          <p:nvPr/>
        </p:nvSpPr>
        <p:spPr>
          <a:xfrm>
            <a:off x="4495800" y="48768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4" name="Google Shape;1584;p31"/>
          <p:cNvSpPr/>
          <p:nvPr/>
        </p:nvSpPr>
        <p:spPr>
          <a:xfrm>
            <a:off x="5562600" y="50292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5" name="Google Shape;1585;p31"/>
          <p:cNvSpPr/>
          <p:nvPr/>
        </p:nvSpPr>
        <p:spPr>
          <a:xfrm>
            <a:off x="6781800" y="39624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6" name="Google Shape;1586;p31"/>
          <p:cNvSpPr/>
          <p:nvPr/>
        </p:nvSpPr>
        <p:spPr>
          <a:xfrm>
            <a:off x="7315200" y="28194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7" name="Google Shape;1587;p31"/>
          <p:cNvSpPr/>
          <p:nvPr/>
        </p:nvSpPr>
        <p:spPr>
          <a:xfrm>
            <a:off x="6934200" y="15240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8" name="Google Shape;1588;p31"/>
          <p:cNvSpPr/>
          <p:nvPr/>
        </p:nvSpPr>
        <p:spPr>
          <a:xfrm>
            <a:off x="5715000" y="9906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89" name="Google Shape;1589;p31"/>
          <p:cNvSpPr/>
          <p:nvPr/>
        </p:nvSpPr>
        <p:spPr>
          <a:xfrm>
            <a:off x="4572000" y="9906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90" name="Google Shape;1590;p31"/>
          <p:cNvSpPr/>
          <p:nvPr/>
        </p:nvSpPr>
        <p:spPr>
          <a:xfrm>
            <a:off x="3276600" y="35814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91" name="Google Shape;1591;p31"/>
          <p:cNvSpPr/>
          <p:nvPr/>
        </p:nvSpPr>
        <p:spPr>
          <a:xfrm>
            <a:off x="3505200" y="22860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92" name="Google Shape;1592;p31"/>
          <p:cNvSpPr/>
          <p:nvPr/>
        </p:nvSpPr>
        <p:spPr>
          <a:xfrm>
            <a:off x="5715000" y="20574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93" name="Google Shape;1593;p31"/>
          <p:cNvSpPr/>
          <p:nvPr/>
        </p:nvSpPr>
        <p:spPr>
          <a:xfrm>
            <a:off x="5715000" y="32766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94" name="Google Shape;1594;p31"/>
          <p:cNvSpPr/>
          <p:nvPr/>
        </p:nvSpPr>
        <p:spPr>
          <a:xfrm>
            <a:off x="4572000" y="3886200"/>
            <a:ext cx="914400" cy="914400"/>
          </a:xfrm>
          <a:prstGeom prst="ellipse">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sp>
        <p:nvSpPr>
          <p:cNvPr id="1595" name="Google Shape;1595;p31"/>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Real Modality Analysis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01" name="Google Shape;1601;p32"/>
          <p:cNvSpPr txBox="1">
            <a:spLocks noGrp="1"/>
          </p:cNvSpPr>
          <p:nvPr>
            <p:ph type="body" idx="1"/>
          </p:nvPr>
        </p:nvSpPr>
        <p:spPr>
          <a:xfrm>
            <a:off x="685800" y="129540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solidFill>
                  <a:srgbClr val="FF3300"/>
                </a:solidFill>
              </a:rPr>
              <a:t>Attraction basin:</a:t>
            </a:r>
            <a:r>
              <a:rPr lang="en-US"/>
              <a:t> the region for which all trajectories lead to the same mode</a:t>
            </a:r>
            <a:endParaRPr/>
          </a:p>
          <a:p>
            <a:pPr marL="342900" lvl="0" indent="-342900" algn="l" rtl="0">
              <a:spcBef>
                <a:spcPts val="480"/>
              </a:spcBef>
              <a:spcAft>
                <a:spcPts val="0"/>
              </a:spcAft>
              <a:buNone/>
            </a:pPr>
            <a:r>
              <a:rPr lang="en-US">
                <a:solidFill>
                  <a:srgbClr val="FF3300"/>
                </a:solidFill>
              </a:rPr>
              <a:t>Cluster:</a:t>
            </a:r>
            <a:r>
              <a:rPr lang="en-US"/>
              <a:t> all data points in the attraction basin of a mode</a:t>
            </a:r>
            <a:endParaRPr/>
          </a:p>
          <a:p>
            <a:pPr marL="342900" lvl="0" indent="-342900" algn="l" rtl="0">
              <a:spcBef>
                <a:spcPts val="480"/>
              </a:spcBef>
              <a:spcAft>
                <a:spcPts val="0"/>
              </a:spcAft>
              <a:buNone/>
            </a:pPr>
            <a:endParaRPr/>
          </a:p>
        </p:txBody>
      </p:sp>
      <p:grpSp>
        <p:nvGrpSpPr>
          <p:cNvPr id="1602" name="Google Shape;1602;p32"/>
          <p:cNvGrpSpPr/>
          <p:nvPr/>
        </p:nvGrpSpPr>
        <p:grpSpPr>
          <a:xfrm>
            <a:off x="1981200" y="3343275"/>
            <a:ext cx="5257800" cy="3057525"/>
            <a:chOff x="1776" y="1965"/>
            <a:chExt cx="2064" cy="1200"/>
          </a:xfrm>
        </p:grpSpPr>
        <p:grpSp>
          <p:nvGrpSpPr>
            <p:cNvPr id="1603" name="Google Shape;1603;p32"/>
            <p:cNvGrpSpPr/>
            <p:nvPr/>
          </p:nvGrpSpPr>
          <p:grpSpPr>
            <a:xfrm>
              <a:off x="1776" y="1965"/>
              <a:ext cx="1152" cy="1200"/>
              <a:chOff x="432" y="2256"/>
              <a:chExt cx="672" cy="672"/>
            </a:xfrm>
          </p:grpSpPr>
          <p:sp>
            <p:nvSpPr>
              <p:cNvPr id="1604" name="Google Shape;1604;p32"/>
              <p:cNvSpPr/>
              <p:nvPr/>
            </p:nvSpPr>
            <p:spPr>
              <a:xfrm>
                <a:off x="432" y="2256"/>
                <a:ext cx="672" cy="6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pic>
            <p:nvPicPr>
              <p:cNvPr id="1605" name="Google Shape;1605;p32" descr="Random Distribution"/>
              <p:cNvPicPr preferRelativeResize="0"/>
              <p:nvPr/>
            </p:nvPicPr>
            <p:blipFill rotWithShape="1">
              <a:blip r:embed="rId3">
                <a:alphaModFix/>
              </a:blip>
              <a:srcRect/>
              <a:stretch/>
            </p:blipFill>
            <p:spPr>
              <a:xfrm>
                <a:off x="480" y="2312"/>
                <a:ext cx="576" cy="567"/>
              </a:xfrm>
              <a:prstGeom prst="rect">
                <a:avLst/>
              </a:prstGeom>
              <a:noFill/>
              <a:ln>
                <a:noFill/>
              </a:ln>
            </p:spPr>
          </p:pic>
        </p:grpSp>
        <p:grpSp>
          <p:nvGrpSpPr>
            <p:cNvPr id="1606" name="Google Shape;1606;p32"/>
            <p:cNvGrpSpPr/>
            <p:nvPr/>
          </p:nvGrpSpPr>
          <p:grpSpPr>
            <a:xfrm>
              <a:off x="2688" y="1965"/>
              <a:ext cx="1152" cy="1200"/>
              <a:chOff x="432" y="2256"/>
              <a:chExt cx="672" cy="672"/>
            </a:xfrm>
          </p:grpSpPr>
          <p:sp>
            <p:nvSpPr>
              <p:cNvPr id="1607" name="Google Shape;1607;p32"/>
              <p:cNvSpPr/>
              <p:nvPr/>
            </p:nvSpPr>
            <p:spPr>
              <a:xfrm>
                <a:off x="432" y="2256"/>
                <a:ext cx="672" cy="6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Arial"/>
                  <a:ea typeface="Arial"/>
                  <a:cs typeface="Arial"/>
                  <a:sym typeface="Arial"/>
                </a:endParaRPr>
              </a:p>
            </p:txBody>
          </p:sp>
          <p:pic>
            <p:nvPicPr>
              <p:cNvPr id="1608" name="Google Shape;1608;p32" descr="Random Distribution"/>
              <p:cNvPicPr preferRelativeResize="0"/>
              <p:nvPr/>
            </p:nvPicPr>
            <p:blipFill rotWithShape="1">
              <a:blip r:embed="rId3">
                <a:alphaModFix/>
              </a:blip>
              <a:srcRect/>
              <a:stretch/>
            </p:blipFill>
            <p:spPr>
              <a:xfrm>
                <a:off x="480" y="2312"/>
                <a:ext cx="576" cy="567"/>
              </a:xfrm>
              <a:prstGeom prst="rect">
                <a:avLst/>
              </a:prstGeom>
              <a:noFill/>
              <a:ln>
                <a:noFill/>
              </a:ln>
            </p:spPr>
          </p:pic>
        </p:grpSp>
        <p:sp>
          <p:nvSpPr>
            <p:cNvPr id="1609" name="Google Shape;1609;p32"/>
            <p:cNvSpPr/>
            <p:nvPr/>
          </p:nvSpPr>
          <p:spPr>
            <a:xfrm>
              <a:off x="1796" y="2043"/>
              <a:ext cx="1036" cy="1091"/>
            </a:xfrm>
            <a:custGeom>
              <a:avLst/>
              <a:gdLst/>
              <a:ahLst/>
              <a:cxnLst/>
              <a:rect l="l" t="t" r="r" b="b"/>
              <a:pathLst>
                <a:path w="1036" h="1091" extrusionOk="0">
                  <a:moveTo>
                    <a:pt x="564" y="66"/>
                  </a:moveTo>
                  <a:cubicBezTo>
                    <a:pt x="470" y="4"/>
                    <a:pt x="330" y="18"/>
                    <a:pt x="220" y="2"/>
                  </a:cubicBezTo>
                  <a:cubicBezTo>
                    <a:pt x="155" y="7"/>
                    <a:pt x="111" y="0"/>
                    <a:pt x="60" y="34"/>
                  </a:cubicBezTo>
                  <a:cubicBezTo>
                    <a:pt x="0" y="124"/>
                    <a:pt x="40" y="253"/>
                    <a:pt x="60" y="354"/>
                  </a:cubicBezTo>
                  <a:cubicBezTo>
                    <a:pt x="55" y="446"/>
                    <a:pt x="47" y="535"/>
                    <a:pt x="36" y="626"/>
                  </a:cubicBezTo>
                  <a:cubicBezTo>
                    <a:pt x="44" y="783"/>
                    <a:pt x="39" y="745"/>
                    <a:pt x="52" y="858"/>
                  </a:cubicBezTo>
                  <a:cubicBezTo>
                    <a:pt x="55" y="885"/>
                    <a:pt x="59" y="944"/>
                    <a:pt x="76" y="970"/>
                  </a:cubicBezTo>
                  <a:cubicBezTo>
                    <a:pt x="105" y="1013"/>
                    <a:pt x="85" y="987"/>
                    <a:pt x="140" y="1042"/>
                  </a:cubicBezTo>
                  <a:cubicBezTo>
                    <a:pt x="157" y="1059"/>
                    <a:pt x="206" y="1071"/>
                    <a:pt x="228" y="1082"/>
                  </a:cubicBezTo>
                  <a:cubicBezTo>
                    <a:pt x="268" y="1079"/>
                    <a:pt x="308" y="1080"/>
                    <a:pt x="348" y="1074"/>
                  </a:cubicBezTo>
                  <a:cubicBezTo>
                    <a:pt x="365" y="1072"/>
                    <a:pt x="380" y="1063"/>
                    <a:pt x="396" y="1058"/>
                  </a:cubicBezTo>
                  <a:cubicBezTo>
                    <a:pt x="404" y="1055"/>
                    <a:pt x="420" y="1050"/>
                    <a:pt x="420" y="1050"/>
                  </a:cubicBezTo>
                  <a:cubicBezTo>
                    <a:pt x="446" y="1024"/>
                    <a:pt x="480" y="1006"/>
                    <a:pt x="516" y="994"/>
                  </a:cubicBezTo>
                  <a:cubicBezTo>
                    <a:pt x="575" y="1001"/>
                    <a:pt x="638" y="1007"/>
                    <a:pt x="692" y="1034"/>
                  </a:cubicBezTo>
                  <a:cubicBezTo>
                    <a:pt x="751" y="1063"/>
                    <a:pt x="795" y="1079"/>
                    <a:pt x="860" y="1090"/>
                  </a:cubicBezTo>
                  <a:cubicBezTo>
                    <a:pt x="897" y="1087"/>
                    <a:pt x="936" y="1091"/>
                    <a:pt x="972" y="1082"/>
                  </a:cubicBezTo>
                  <a:cubicBezTo>
                    <a:pt x="1008" y="1074"/>
                    <a:pt x="1028" y="986"/>
                    <a:pt x="1036" y="954"/>
                  </a:cubicBezTo>
                  <a:cubicBezTo>
                    <a:pt x="1033" y="922"/>
                    <a:pt x="1031" y="890"/>
                    <a:pt x="1028" y="858"/>
                  </a:cubicBezTo>
                  <a:cubicBezTo>
                    <a:pt x="1023" y="810"/>
                    <a:pt x="1012" y="714"/>
                    <a:pt x="1012" y="714"/>
                  </a:cubicBezTo>
                  <a:cubicBezTo>
                    <a:pt x="1003" y="515"/>
                    <a:pt x="999" y="286"/>
                    <a:pt x="884" y="114"/>
                  </a:cubicBezTo>
                  <a:cubicBezTo>
                    <a:pt x="851" y="65"/>
                    <a:pt x="750" y="49"/>
                    <a:pt x="700" y="42"/>
                  </a:cubicBezTo>
                  <a:cubicBezTo>
                    <a:pt x="640" y="47"/>
                    <a:pt x="611" y="43"/>
                    <a:pt x="564" y="66"/>
                  </a:cubicBezTo>
                  <a:close/>
                </a:path>
              </a:pathLst>
            </a:custGeom>
            <a:noFill/>
            <a:ln w="28575" cap="flat" cmpd="sng">
              <a:solidFill>
                <a:schemeClr val="folHlink"/>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0" name="Google Shape;1610;p32"/>
            <p:cNvSpPr/>
            <p:nvPr/>
          </p:nvSpPr>
          <p:spPr>
            <a:xfrm>
              <a:off x="2752" y="2060"/>
              <a:ext cx="1040" cy="1065"/>
            </a:xfrm>
            <a:custGeom>
              <a:avLst/>
              <a:gdLst/>
              <a:ahLst/>
              <a:cxnLst/>
              <a:rect l="l" t="t" r="r" b="b"/>
              <a:pathLst>
                <a:path w="1040" h="1065" extrusionOk="0">
                  <a:moveTo>
                    <a:pt x="80" y="33"/>
                  </a:moveTo>
                  <a:cubicBezTo>
                    <a:pt x="72" y="36"/>
                    <a:pt x="61" y="34"/>
                    <a:pt x="56" y="41"/>
                  </a:cubicBezTo>
                  <a:cubicBezTo>
                    <a:pt x="46" y="55"/>
                    <a:pt x="45" y="73"/>
                    <a:pt x="40" y="89"/>
                  </a:cubicBezTo>
                  <a:cubicBezTo>
                    <a:pt x="37" y="98"/>
                    <a:pt x="28" y="104"/>
                    <a:pt x="24" y="113"/>
                  </a:cubicBezTo>
                  <a:cubicBezTo>
                    <a:pt x="9" y="146"/>
                    <a:pt x="7" y="167"/>
                    <a:pt x="0" y="201"/>
                  </a:cubicBezTo>
                  <a:cubicBezTo>
                    <a:pt x="7" y="247"/>
                    <a:pt x="7" y="268"/>
                    <a:pt x="32" y="305"/>
                  </a:cubicBezTo>
                  <a:cubicBezTo>
                    <a:pt x="56" y="402"/>
                    <a:pt x="54" y="516"/>
                    <a:pt x="64" y="617"/>
                  </a:cubicBezTo>
                  <a:cubicBezTo>
                    <a:pt x="59" y="713"/>
                    <a:pt x="49" y="774"/>
                    <a:pt x="64" y="865"/>
                  </a:cubicBezTo>
                  <a:cubicBezTo>
                    <a:pt x="67" y="882"/>
                    <a:pt x="75" y="897"/>
                    <a:pt x="80" y="913"/>
                  </a:cubicBezTo>
                  <a:cubicBezTo>
                    <a:pt x="83" y="921"/>
                    <a:pt x="88" y="937"/>
                    <a:pt x="88" y="937"/>
                  </a:cubicBezTo>
                  <a:cubicBezTo>
                    <a:pt x="86" y="952"/>
                    <a:pt x="70" y="1029"/>
                    <a:pt x="88" y="1049"/>
                  </a:cubicBezTo>
                  <a:cubicBezTo>
                    <a:pt x="99" y="1062"/>
                    <a:pt x="136" y="1065"/>
                    <a:pt x="136" y="1065"/>
                  </a:cubicBezTo>
                  <a:cubicBezTo>
                    <a:pt x="184" y="1053"/>
                    <a:pt x="158" y="1060"/>
                    <a:pt x="216" y="1041"/>
                  </a:cubicBezTo>
                  <a:cubicBezTo>
                    <a:pt x="224" y="1038"/>
                    <a:pt x="240" y="1033"/>
                    <a:pt x="240" y="1033"/>
                  </a:cubicBezTo>
                  <a:cubicBezTo>
                    <a:pt x="313" y="1040"/>
                    <a:pt x="373" y="1050"/>
                    <a:pt x="448" y="1033"/>
                  </a:cubicBezTo>
                  <a:cubicBezTo>
                    <a:pt x="471" y="1028"/>
                    <a:pt x="478" y="988"/>
                    <a:pt x="512" y="977"/>
                  </a:cubicBezTo>
                  <a:cubicBezTo>
                    <a:pt x="544" y="980"/>
                    <a:pt x="576" y="980"/>
                    <a:pt x="608" y="985"/>
                  </a:cubicBezTo>
                  <a:cubicBezTo>
                    <a:pt x="668" y="994"/>
                    <a:pt x="724" y="1021"/>
                    <a:pt x="784" y="1033"/>
                  </a:cubicBezTo>
                  <a:cubicBezTo>
                    <a:pt x="824" y="1030"/>
                    <a:pt x="864" y="1032"/>
                    <a:pt x="904" y="1025"/>
                  </a:cubicBezTo>
                  <a:cubicBezTo>
                    <a:pt x="921" y="1022"/>
                    <a:pt x="938" y="998"/>
                    <a:pt x="944" y="985"/>
                  </a:cubicBezTo>
                  <a:cubicBezTo>
                    <a:pt x="966" y="934"/>
                    <a:pt x="983" y="883"/>
                    <a:pt x="1008" y="833"/>
                  </a:cubicBezTo>
                  <a:cubicBezTo>
                    <a:pt x="1022" y="750"/>
                    <a:pt x="1032" y="669"/>
                    <a:pt x="1040" y="585"/>
                  </a:cubicBezTo>
                  <a:cubicBezTo>
                    <a:pt x="1036" y="540"/>
                    <a:pt x="1040" y="510"/>
                    <a:pt x="1024" y="473"/>
                  </a:cubicBezTo>
                  <a:cubicBezTo>
                    <a:pt x="1019" y="462"/>
                    <a:pt x="1012" y="452"/>
                    <a:pt x="1008" y="441"/>
                  </a:cubicBezTo>
                  <a:cubicBezTo>
                    <a:pt x="1002" y="425"/>
                    <a:pt x="992" y="393"/>
                    <a:pt x="992" y="393"/>
                  </a:cubicBezTo>
                  <a:cubicBezTo>
                    <a:pt x="1001" y="296"/>
                    <a:pt x="1012" y="197"/>
                    <a:pt x="904" y="161"/>
                  </a:cubicBezTo>
                  <a:cubicBezTo>
                    <a:pt x="896" y="153"/>
                    <a:pt x="889" y="144"/>
                    <a:pt x="880" y="137"/>
                  </a:cubicBezTo>
                  <a:cubicBezTo>
                    <a:pt x="865" y="125"/>
                    <a:pt x="832" y="105"/>
                    <a:pt x="832" y="105"/>
                  </a:cubicBezTo>
                  <a:cubicBezTo>
                    <a:pt x="806" y="66"/>
                    <a:pt x="778" y="71"/>
                    <a:pt x="736" y="57"/>
                  </a:cubicBezTo>
                  <a:cubicBezTo>
                    <a:pt x="630" y="78"/>
                    <a:pt x="654" y="72"/>
                    <a:pt x="488" y="65"/>
                  </a:cubicBezTo>
                  <a:cubicBezTo>
                    <a:pt x="412" y="57"/>
                    <a:pt x="391" y="46"/>
                    <a:pt x="328" y="25"/>
                  </a:cubicBezTo>
                  <a:cubicBezTo>
                    <a:pt x="277" y="8"/>
                    <a:pt x="213" y="6"/>
                    <a:pt x="160" y="1"/>
                  </a:cubicBezTo>
                  <a:cubicBezTo>
                    <a:pt x="131" y="4"/>
                    <a:pt x="100" y="0"/>
                    <a:pt x="72" y="9"/>
                  </a:cubicBezTo>
                  <a:cubicBezTo>
                    <a:pt x="64" y="12"/>
                    <a:pt x="61" y="25"/>
                    <a:pt x="64" y="33"/>
                  </a:cubicBezTo>
                  <a:cubicBezTo>
                    <a:pt x="66" y="38"/>
                    <a:pt x="75" y="33"/>
                    <a:pt x="80" y="33"/>
                  </a:cubicBezTo>
                  <a:close/>
                </a:path>
              </a:pathLst>
            </a:custGeom>
            <a:noFill/>
            <a:ln w="28575" cap="flat" cmpd="sng">
              <a:solidFill>
                <a:srgbClr val="3399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1" name="Google Shape;1611;p32"/>
            <p:cNvSpPr/>
            <p:nvPr/>
          </p:nvSpPr>
          <p:spPr>
            <a:xfrm>
              <a:off x="2000" y="2605"/>
              <a:ext cx="264" cy="416"/>
            </a:xfrm>
            <a:custGeom>
              <a:avLst/>
              <a:gdLst/>
              <a:ahLst/>
              <a:cxnLst/>
              <a:rect l="l" t="t" r="r" b="b"/>
              <a:pathLst>
                <a:path w="264" h="416" extrusionOk="0">
                  <a:moveTo>
                    <a:pt x="0" y="416"/>
                  </a:moveTo>
                  <a:cubicBezTo>
                    <a:pt x="46" y="401"/>
                    <a:pt x="86" y="370"/>
                    <a:pt x="120" y="336"/>
                  </a:cubicBezTo>
                  <a:cubicBezTo>
                    <a:pt x="134" y="294"/>
                    <a:pt x="147" y="282"/>
                    <a:pt x="152" y="232"/>
                  </a:cubicBezTo>
                  <a:cubicBezTo>
                    <a:pt x="159" y="157"/>
                    <a:pt x="146" y="69"/>
                    <a:pt x="232" y="40"/>
                  </a:cubicBezTo>
                  <a:cubicBezTo>
                    <a:pt x="260" y="12"/>
                    <a:pt x="251" y="26"/>
                    <a:pt x="264" y="0"/>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2" name="Google Shape;1612;p32"/>
            <p:cNvSpPr/>
            <p:nvPr/>
          </p:nvSpPr>
          <p:spPr>
            <a:xfrm>
              <a:off x="1920" y="2581"/>
              <a:ext cx="336" cy="96"/>
            </a:xfrm>
            <a:custGeom>
              <a:avLst/>
              <a:gdLst/>
              <a:ahLst/>
              <a:cxnLst/>
              <a:rect l="l" t="t" r="r" b="b"/>
              <a:pathLst>
                <a:path w="336" h="96" extrusionOk="0">
                  <a:moveTo>
                    <a:pt x="0" y="96"/>
                  </a:moveTo>
                  <a:cubicBezTo>
                    <a:pt x="48" y="84"/>
                    <a:pt x="97" y="85"/>
                    <a:pt x="144" y="72"/>
                  </a:cubicBezTo>
                  <a:cubicBezTo>
                    <a:pt x="201" y="56"/>
                    <a:pt x="253" y="36"/>
                    <a:pt x="312" y="24"/>
                  </a:cubicBezTo>
                  <a:cubicBezTo>
                    <a:pt x="320" y="16"/>
                    <a:pt x="336" y="0"/>
                    <a:pt x="336" y="0"/>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3" name="Google Shape;1613;p32"/>
            <p:cNvSpPr/>
            <p:nvPr/>
          </p:nvSpPr>
          <p:spPr>
            <a:xfrm>
              <a:off x="1912" y="2177"/>
              <a:ext cx="344" cy="388"/>
            </a:xfrm>
            <a:custGeom>
              <a:avLst/>
              <a:gdLst/>
              <a:ahLst/>
              <a:cxnLst/>
              <a:rect l="l" t="t" r="r" b="b"/>
              <a:pathLst>
                <a:path w="344" h="388" extrusionOk="0">
                  <a:moveTo>
                    <a:pt x="32" y="44"/>
                  </a:moveTo>
                  <a:cubicBezTo>
                    <a:pt x="5" y="125"/>
                    <a:pt x="46" y="0"/>
                    <a:pt x="16" y="100"/>
                  </a:cubicBezTo>
                  <a:cubicBezTo>
                    <a:pt x="11" y="116"/>
                    <a:pt x="0" y="148"/>
                    <a:pt x="0" y="148"/>
                  </a:cubicBezTo>
                  <a:cubicBezTo>
                    <a:pt x="3" y="180"/>
                    <a:pt x="2" y="213"/>
                    <a:pt x="8" y="244"/>
                  </a:cubicBezTo>
                  <a:cubicBezTo>
                    <a:pt x="25" y="331"/>
                    <a:pt x="203" y="307"/>
                    <a:pt x="232" y="308"/>
                  </a:cubicBezTo>
                  <a:cubicBezTo>
                    <a:pt x="280" y="324"/>
                    <a:pt x="310" y="354"/>
                    <a:pt x="344" y="388"/>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4" name="Google Shape;1614;p32"/>
            <p:cNvSpPr/>
            <p:nvPr/>
          </p:nvSpPr>
          <p:spPr>
            <a:xfrm>
              <a:off x="2146" y="2181"/>
              <a:ext cx="158" cy="376"/>
            </a:xfrm>
            <a:custGeom>
              <a:avLst/>
              <a:gdLst/>
              <a:ahLst/>
              <a:cxnLst/>
              <a:rect l="l" t="t" r="r" b="b"/>
              <a:pathLst>
                <a:path w="158" h="376" extrusionOk="0">
                  <a:moveTo>
                    <a:pt x="22" y="0"/>
                  </a:moveTo>
                  <a:cubicBezTo>
                    <a:pt x="16" y="49"/>
                    <a:pt x="0" y="123"/>
                    <a:pt x="30" y="168"/>
                  </a:cubicBezTo>
                  <a:cubicBezTo>
                    <a:pt x="45" y="191"/>
                    <a:pt x="83" y="211"/>
                    <a:pt x="102" y="224"/>
                  </a:cubicBezTo>
                  <a:cubicBezTo>
                    <a:pt x="110" y="229"/>
                    <a:pt x="126" y="240"/>
                    <a:pt x="126" y="240"/>
                  </a:cubicBezTo>
                  <a:cubicBezTo>
                    <a:pt x="131" y="248"/>
                    <a:pt x="138" y="255"/>
                    <a:pt x="142" y="264"/>
                  </a:cubicBezTo>
                  <a:cubicBezTo>
                    <a:pt x="149" y="279"/>
                    <a:pt x="158" y="312"/>
                    <a:pt x="158" y="312"/>
                  </a:cubicBezTo>
                  <a:cubicBezTo>
                    <a:pt x="155" y="333"/>
                    <a:pt x="150" y="376"/>
                    <a:pt x="150" y="376"/>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5" name="Google Shape;1615;p32"/>
            <p:cNvSpPr/>
            <p:nvPr/>
          </p:nvSpPr>
          <p:spPr>
            <a:xfrm>
              <a:off x="2336" y="2197"/>
              <a:ext cx="296" cy="352"/>
            </a:xfrm>
            <a:custGeom>
              <a:avLst/>
              <a:gdLst/>
              <a:ahLst/>
              <a:cxnLst/>
              <a:rect l="l" t="t" r="r" b="b"/>
              <a:pathLst>
                <a:path w="296" h="352" extrusionOk="0">
                  <a:moveTo>
                    <a:pt x="296" y="0"/>
                  </a:moveTo>
                  <a:cubicBezTo>
                    <a:pt x="237" y="59"/>
                    <a:pt x="270" y="44"/>
                    <a:pt x="200" y="56"/>
                  </a:cubicBezTo>
                  <a:cubicBezTo>
                    <a:pt x="121" y="50"/>
                    <a:pt x="38" y="15"/>
                    <a:pt x="8" y="104"/>
                  </a:cubicBezTo>
                  <a:cubicBezTo>
                    <a:pt x="19" y="169"/>
                    <a:pt x="11" y="137"/>
                    <a:pt x="32" y="200"/>
                  </a:cubicBezTo>
                  <a:cubicBezTo>
                    <a:pt x="35" y="208"/>
                    <a:pt x="40" y="224"/>
                    <a:pt x="40" y="224"/>
                  </a:cubicBezTo>
                  <a:cubicBezTo>
                    <a:pt x="32" y="323"/>
                    <a:pt x="49" y="303"/>
                    <a:pt x="0" y="352"/>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6" name="Google Shape;1616;p32"/>
            <p:cNvSpPr/>
            <p:nvPr/>
          </p:nvSpPr>
          <p:spPr>
            <a:xfrm>
              <a:off x="2328" y="2349"/>
              <a:ext cx="392" cy="242"/>
            </a:xfrm>
            <a:custGeom>
              <a:avLst/>
              <a:gdLst/>
              <a:ahLst/>
              <a:cxnLst/>
              <a:rect l="l" t="t" r="r" b="b"/>
              <a:pathLst>
                <a:path w="392" h="242" extrusionOk="0">
                  <a:moveTo>
                    <a:pt x="392" y="0"/>
                  </a:moveTo>
                  <a:cubicBezTo>
                    <a:pt x="353" y="13"/>
                    <a:pt x="313" y="18"/>
                    <a:pt x="272" y="24"/>
                  </a:cubicBezTo>
                  <a:cubicBezTo>
                    <a:pt x="247" y="41"/>
                    <a:pt x="221" y="59"/>
                    <a:pt x="208" y="88"/>
                  </a:cubicBezTo>
                  <a:cubicBezTo>
                    <a:pt x="188" y="134"/>
                    <a:pt x="171" y="236"/>
                    <a:pt x="104" y="240"/>
                  </a:cubicBezTo>
                  <a:cubicBezTo>
                    <a:pt x="69" y="242"/>
                    <a:pt x="35" y="240"/>
                    <a:pt x="0" y="240"/>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7" name="Google Shape;1617;p32"/>
            <p:cNvSpPr/>
            <p:nvPr/>
          </p:nvSpPr>
          <p:spPr>
            <a:xfrm>
              <a:off x="2328" y="2629"/>
              <a:ext cx="416" cy="248"/>
            </a:xfrm>
            <a:custGeom>
              <a:avLst/>
              <a:gdLst/>
              <a:ahLst/>
              <a:cxnLst/>
              <a:rect l="l" t="t" r="r" b="b"/>
              <a:pathLst>
                <a:path w="416" h="248" extrusionOk="0">
                  <a:moveTo>
                    <a:pt x="416" y="248"/>
                  </a:moveTo>
                  <a:cubicBezTo>
                    <a:pt x="407" y="205"/>
                    <a:pt x="393" y="174"/>
                    <a:pt x="376" y="136"/>
                  </a:cubicBezTo>
                  <a:cubicBezTo>
                    <a:pt x="361" y="102"/>
                    <a:pt x="360" y="69"/>
                    <a:pt x="336" y="40"/>
                  </a:cubicBezTo>
                  <a:cubicBezTo>
                    <a:pt x="329" y="31"/>
                    <a:pt x="322" y="21"/>
                    <a:pt x="312" y="16"/>
                  </a:cubicBezTo>
                  <a:cubicBezTo>
                    <a:pt x="297" y="8"/>
                    <a:pt x="264" y="0"/>
                    <a:pt x="264" y="0"/>
                  </a:cubicBezTo>
                  <a:cubicBezTo>
                    <a:pt x="232" y="5"/>
                    <a:pt x="214" y="7"/>
                    <a:pt x="184" y="16"/>
                  </a:cubicBezTo>
                  <a:cubicBezTo>
                    <a:pt x="168" y="21"/>
                    <a:pt x="152" y="27"/>
                    <a:pt x="136" y="32"/>
                  </a:cubicBezTo>
                  <a:cubicBezTo>
                    <a:pt x="128" y="35"/>
                    <a:pt x="112" y="40"/>
                    <a:pt x="112" y="40"/>
                  </a:cubicBezTo>
                  <a:cubicBezTo>
                    <a:pt x="96" y="39"/>
                    <a:pt x="0" y="50"/>
                    <a:pt x="0" y="0"/>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8" name="Google Shape;1618;p32"/>
            <p:cNvSpPr/>
            <p:nvPr/>
          </p:nvSpPr>
          <p:spPr>
            <a:xfrm>
              <a:off x="2296" y="2637"/>
              <a:ext cx="368" cy="328"/>
            </a:xfrm>
            <a:custGeom>
              <a:avLst/>
              <a:gdLst/>
              <a:ahLst/>
              <a:cxnLst/>
              <a:rect l="l" t="t" r="r" b="b"/>
              <a:pathLst>
                <a:path w="368" h="328" extrusionOk="0">
                  <a:moveTo>
                    <a:pt x="368" y="328"/>
                  </a:moveTo>
                  <a:cubicBezTo>
                    <a:pt x="198" y="300"/>
                    <a:pt x="0" y="194"/>
                    <a:pt x="0" y="0"/>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19" name="Google Shape;1619;p32"/>
            <p:cNvSpPr/>
            <p:nvPr/>
          </p:nvSpPr>
          <p:spPr>
            <a:xfrm>
              <a:off x="2880" y="2216"/>
              <a:ext cx="344" cy="333"/>
            </a:xfrm>
            <a:custGeom>
              <a:avLst/>
              <a:gdLst/>
              <a:ahLst/>
              <a:cxnLst/>
              <a:rect l="l" t="t" r="r" b="b"/>
              <a:pathLst>
                <a:path w="344" h="333" extrusionOk="0">
                  <a:moveTo>
                    <a:pt x="0" y="13"/>
                  </a:moveTo>
                  <a:cubicBezTo>
                    <a:pt x="39" y="0"/>
                    <a:pt x="65" y="16"/>
                    <a:pt x="104" y="29"/>
                  </a:cubicBezTo>
                  <a:cubicBezTo>
                    <a:pt x="184" y="56"/>
                    <a:pt x="238" y="131"/>
                    <a:pt x="296" y="189"/>
                  </a:cubicBezTo>
                  <a:cubicBezTo>
                    <a:pt x="321" y="214"/>
                    <a:pt x="325" y="253"/>
                    <a:pt x="336" y="285"/>
                  </a:cubicBezTo>
                  <a:cubicBezTo>
                    <a:pt x="341" y="300"/>
                    <a:pt x="344" y="333"/>
                    <a:pt x="344" y="333"/>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20" name="Google Shape;1620;p32"/>
            <p:cNvSpPr/>
            <p:nvPr/>
          </p:nvSpPr>
          <p:spPr>
            <a:xfrm>
              <a:off x="2992" y="2157"/>
              <a:ext cx="358" cy="400"/>
            </a:xfrm>
            <a:custGeom>
              <a:avLst/>
              <a:gdLst/>
              <a:ahLst/>
              <a:cxnLst/>
              <a:rect l="l" t="t" r="r" b="b"/>
              <a:pathLst>
                <a:path w="358" h="400" extrusionOk="0">
                  <a:moveTo>
                    <a:pt x="0" y="0"/>
                  </a:moveTo>
                  <a:cubicBezTo>
                    <a:pt x="54" y="40"/>
                    <a:pt x="109" y="58"/>
                    <a:pt x="168" y="88"/>
                  </a:cubicBezTo>
                  <a:cubicBezTo>
                    <a:pt x="230" y="119"/>
                    <a:pt x="156" y="92"/>
                    <a:pt x="216" y="112"/>
                  </a:cubicBezTo>
                  <a:cubicBezTo>
                    <a:pt x="231" y="127"/>
                    <a:pt x="250" y="136"/>
                    <a:pt x="264" y="152"/>
                  </a:cubicBezTo>
                  <a:cubicBezTo>
                    <a:pt x="297" y="190"/>
                    <a:pt x="309" y="232"/>
                    <a:pt x="336" y="272"/>
                  </a:cubicBezTo>
                  <a:cubicBezTo>
                    <a:pt x="358" y="358"/>
                    <a:pt x="337" y="367"/>
                    <a:pt x="272" y="400"/>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21" name="Google Shape;1621;p32"/>
            <p:cNvSpPr/>
            <p:nvPr/>
          </p:nvSpPr>
          <p:spPr>
            <a:xfrm>
              <a:off x="3232" y="2205"/>
              <a:ext cx="312" cy="368"/>
            </a:xfrm>
            <a:custGeom>
              <a:avLst/>
              <a:gdLst/>
              <a:ahLst/>
              <a:cxnLst/>
              <a:rect l="l" t="t" r="r" b="b"/>
              <a:pathLst>
                <a:path w="312" h="368" extrusionOk="0">
                  <a:moveTo>
                    <a:pt x="312" y="0"/>
                  </a:moveTo>
                  <a:cubicBezTo>
                    <a:pt x="298" y="82"/>
                    <a:pt x="269" y="145"/>
                    <a:pt x="216" y="208"/>
                  </a:cubicBezTo>
                  <a:cubicBezTo>
                    <a:pt x="192" y="236"/>
                    <a:pt x="196" y="279"/>
                    <a:pt x="168" y="304"/>
                  </a:cubicBezTo>
                  <a:cubicBezTo>
                    <a:pt x="130" y="337"/>
                    <a:pt x="49" y="368"/>
                    <a:pt x="0" y="368"/>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22" name="Google Shape;1622;p32"/>
            <p:cNvSpPr/>
            <p:nvPr/>
          </p:nvSpPr>
          <p:spPr>
            <a:xfrm>
              <a:off x="3224" y="2592"/>
              <a:ext cx="512" cy="181"/>
            </a:xfrm>
            <a:custGeom>
              <a:avLst/>
              <a:gdLst/>
              <a:ahLst/>
              <a:cxnLst/>
              <a:rect l="l" t="t" r="r" b="b"/>
              <a:pathLst>
                <a:path w="512" h="181" extrusionOk="0">
                  <a:moveTo>
                    <a:pt x="512" y="181"/>
                  </a:moveTo>
                  <a:cubicBezTo>
                    <a:pt x="475" y="156"/>
                    <a:pt x="452" y="84"/>
                    <a:pt x="408" y="69"/>
                  </a:cubicBezTo>
                  <a:cubicBezTo>
                    <a:pt x="374" y="58"/>
                    <a:pt x="347" y="41"/>
                    <a:pt x="312" y="29"/>
                  </a:cubicBezTo>
                  <a:cubicBezTo>
                    <a:pt x="224" y="0"/>
                    <a:pt x="92" y="5"/>
                    <a:pt x="0" y="5"/>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23" name="Google Shape;1623;p32"/>
            <p:cNvSpPr/>
            <p:nvPr/>
          </p:nvSpPr>
          <p:spPr>
            <a:xfrm>
              <a:off x="3184" y="2612"/>
              <a:ext cx="480" cy="449"/>
            </a:xfrm>
            <a:custGeom>
              <a:avLst/>
              <a:gdLst/>
              <a:ahLst/>
              <a:cxnLst/>
              <a:rect l="l" t="t" r="r" b="b"/>
              <a:pathLst>
                <a:path w="480" h="449" extrusionOk="0">
                  <a:moveTo>
                    <a:pt x="464" y="449"/>
                  </a:moveTo>
                  <a:cubicBezTo>
                    <a:pt x="480" y="402"/>
                    <a:pt x="436" y="378"/>
                    <a:pt x="400" y="353"/>
                  </a:cubicBezTo>
                  <a:cubicBezTo>
                    <a:pt x="316" y="294"/>
                    <a:pt x="220" y="259"/>
                    <a:pt x="160" y="169"/>
                  </a:cubicBezTo>
                  <a:cubicBezTo>
                    <a:pt x="159" y="163"/>
                    <a:pt x="151" y="116"/>
                    <a:pt x="144" y="105"/>
                  </a:cubicBezTo>
                  <a:cubicBezTo>
                    <a:pt x="113" y="58"/>
                    <a:pt x="44" y="47"/>
                    <a:pt x="0" y="17"/>
                  </a:cubicBezTo>
                  <a:cubicBezTo>
                    <a:pt x="26" y="0"/>
                    <a:pt x="14" y="1"/>
                    <a:pt x="32" y="1"/>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24" name="Google Shape;1624;p32"/>
            <p:cNvSpPr/>
            <p:nvPr/>
          </p:nvSpPr>
          <p:spPr>
            <a:xfrm>
              <a:off x="2896" y="2597"/>
              <a:ext cx="280" cy="488"/>
            </a:xfrm>
            <a:custGeom>
              <a:avLst/>
              <a:gdLst/>
              <a:ahLst/>
              <a:cxnLst/>
              <a:rect l="l" t="t" r="r" b="b"/>
              <a:pathLst>
                <a:path w="280" h="488" extrusionOk="0">
                  <a:moveTo>
                    <a:pt x="0" y="488"/>
                  </a:moveTo>
                  <a:cubicBezTo>
                    <a:pt x="74" y="414"/>
                    <a:pt x="99" y="362"/>
                    <a:pt x="112" y="256"/>
                  </a:cubicBezTo>
                  <a:cubicBezTo>
                    <a:pt x="105" y="216"/>
                    <a:pt x="98" y="206"/>
                    <a:pt x="112" y="168"/>
                  </a:cubicBezTo>
                  <a:cubicBezTo>
                    <a:pt x="127" y="127"/>
                    <a:pt x="219" y="65"/>
                    <a:pt x="256" y="40"/>
                  </a:cubicBezTo>
                  <a:cubicBezTo>
                    <a:pt x="275" y="11"/>
                    <a:pt x="268" y="25"/>
                    <a:pt x="280" y="0"/>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25" name="Google Shape;1625;p32"/>
            <p:cNvSpPr/>
            <p:nvPr/>
          </p:nvSpPr>
          <p:spPr>
            <a:xfrm>
              <a:off x="2835" y="2581"/>
              <a:ext cx="341" cy="19"/>
            </a:xfrm>
            <a:custGeom>
              <a:avLst/>
              <a:gdLst/>
              <a:ahLst/>
              <a:cxnLst/>
              <a:rect l="l" t="t" r="r" b="b"/>
              <a:pathLst>
                <a:path w="341" h="19" extrusionOk="0">
                  <a:moveTo>
                    <a:pt x="37" y="0"/>
                  </a:moveTo>
                  <a:cubicBezTo>
                    <a:pt x="188" y="19"/>
                    <a:pt x="0" y="0"/>
                    <a:pt x="189" y="0"/>
                  </a:cubicBezTo>
                  <a:cubicBezTo>
                    <a:pt x="240" y="0"/>
                    <a:pt x="290" y="8"/>
                    <a:pt x="341" y="8"/>
                  </a:cubicBezTo>
                </a:path>
              </a:pathLst>
            </a:custGeom>
            <a:noFill/>
            <a:ln w="2857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pSp>
      <p:sp>
        <p:nvSpPr>
          <p:cNvPr id="1626" name="Google Shape;1626;p32"/>
          <p:cNvSpPr/>
          <p:nvPr/>
        </p:nvSpPr>
        <p:spPr>
          <a:xfrm>
            <a:off x="120650" y="6524625"/>
            <a:ext cx="262255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Slide by Y. Ukrainitz &amp; B. Sarel</a:t>
            </a:r>
            <a:endParaRPr/>
          </a:p>
        </p:txBody>
      </p:sp>
      <p:sp>
        <p:nvSpPr>
          <p:cNvPr id="1627" name="Google Shape;1627;p32"/>
          <p:cNvSpPr txBox="1">
            <a:spLocks noGrp="1"/>
          </p:cNvSpPr>
          <p:nvPr>
            <p:ph type="title"/>
          </p:nvPr>
        </p:nvSpPr>
        <p:spPr>
          <a:xfrm>
            <a:off x="685800" y="-762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Attraction basin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32"/>
        <p:cNvGrpSpPr/>
        <p:nvPr/>
      </p:nvGrpSpPr>
      <p:grpSpPr>
        <a:xfrm>
          <a:off x="0" y="0"/>
          <a:ext cx="0" cy="0"/>
          <a:chOff x="0" y="0"/>
          <a:chExt cx="0" cy="0"/>
        </a:xfrm>
      </p:grpSpPr>
      <p:sp>
        <p:nvSpPr>
          <p:cNvPr id="1633" name="Google Shape;1633;p33"/>
          <p:cNvSpPr txBox="1">
            <a:spLocks noGrp="1"/>
          </p:cNvSpPr>
          <p:nvPr>
            <p:ph type="title"/>
          </p:nvPr>
        </p:nvSpPr>
        <p:spPr>
          <a:xfrm>
            <a:off x="685800" y="-762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Attraction basin</a:t>
            </a:r>
            <a:endParaRPr/>
          </a:p>
        </p:txBody>
      </p:sp>
      <p:pic>
        <p:nvPicPr>
          <p:cNvPr id="1634" name="Google Shape;1634;p33"/>
          <p:cNvPicPr preferRelativeResize="0"/>
          <p:nvPr/>
        </p:nvPicPr>
        <p:blipFill rotWithShape="1">
          <a:blip r:embed="rId3">
            <a:alphaModFix/>
          </a:blip>
          <a:srcRect b="5256"/>
          <a:stretch/>
        </p:blipFill>
        <p:spPr>
          <a:xfrm>
            <a:off x="1447800" y="1136650"/>
            <a:ext cx="6324600" cy="54927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38"/>
        <p:cNvGrpSpPr/>
        <p:nvPr/>
      </p:nvGrpSpPr>
      <p:grpSpPr>
        <a:xfrm>
          <a:off x="0" y="0"/>
          <a:ext cx="0" cy="0"/>
          <a:chOff x="0" y="0"/>
          <a:chExt cx="0" cy="0"/>
        </a:xfrm>
      </p:grpSpPr>
      <p:sp>
        <p:nvSpPr>
          <p:cNvPr id="1639" name="Google Shape;1639;p34"/>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Finding Modes in a Histogram</a:t>
            </a:r>
            <a:endParaRPr/>
          </a:p>
        </p:txBody>
      </p:sp>
      <p:sp>
        <p:nvSpPr>
          <p:cNvPr id="1640" name="Google Shape;1640;p34"/>
          <p:cNvSpPr txBox="1">
            <a:spLocks noGrp="1"/>
          </p:cNvSpPr>
          <p:nvPr>
            <p:ph type="body" idx="1"/>
          </p:nvPr>
        </p:nvSpPr>
        <p:spPr>
          <a:xfrm>
            <a:off x="685800" y="5334000"/>
            <a:ext cx="7772400" cy="1295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How Many Modes Are There?</a:t>
            </a:r>
            <a:endParaRPr/>
          </a:p>
          <a:p>
            <a:pPr marL="742950" lvl="1" indent="-285750" algn="l" rtl="0">
              <a:spcBef>
                <a:spcPts val="400"/>
              </a:spcBef>
              <a:spcAft>
                <a:spcPts val="0"/>
              </a:spcAft>
              <a:buClr>
                <a:schemeClr val="dk1"/>
              </a:buClr>
              <a:buSzPts val="2000"/>
              <a:buFont typeface="Arial"/>
              <a:buChar char="•"/>
            </a:pPr>
            <a:r>
              <a:rPr lang="en-US"/>
              <a:t>Easy to see, hard to compute</a:t>
            </a:r>
            <a:endParaRPr/>
          </a:p>
          <a:p>
            <a:pPr marL="742950" lvl="1" indent="-158750" algn="l" rtl="0">
              <a:spcBef>
                <a:spcPts val="400"/>
              </a:spcBef>
              <a:spcAft>
                <a:spcPts val="0"/>
              </a:spcAft>
              <a:buClr>
                <a:schemeClr val="dk1"/>
              </a:buClr>
              <a:buSzPts val="2000"/>
              <a:buFont typeface="Arial"/>
              <a:buNone/>
            </a:pPr>
            <a:endParaRPr/>
          </a:p>
        </p:txBody>
      </p:sp>
      <p:graphicFrame>
        <p:nvGraphicFramePr>
          <p:cNvPr id="1641" name="Google Shape;1641;p34"/>
          <p:cNvGraphicFramePr/>
          <p:nvPr/>
        </p:nvGraphicFramePr>
        <p:xfrm>
          <a:off x="1289050" y="914400"/>
          <a:ext cx="6407150" cy="3911600"/>
        </p:xfrm>
        <a:graphic>
          <a:graphicData uri="http://schemas.openxmlformats.org/presentationml/2006/ole">
            <mc:AlternateContent xmlns:mc="http://schemas.openxmlformats.org/markup-compatibility/2006">
              <mc:Choice xmlns:v="urn:schemas-microsoft-com:vml" Requires="v">
                <p:oleObj r:id="rId3" imgW="6407150" imgH="3911600" progId="Photoshop.Image.5">
                  <p:embed/>
                </p:oleObj>
              </mc:Choice>
              <mc:Fallback>
                <p:oleObj r:id="rId3" imgW="6407150" imgH="3911600" progId="Photoshop.Image.5">
                  <p:embed/>
                  <p:pic>
                    <p:nvPicPr>
                      <p:cNvPr id="1641" name="Google Shape;1641;p34"/>
                      <p:cNvPicPr preferRelativeResize="0"/>
                      <p:nvPr/>
                    </p:nvPicPr>
                    <p:blipFill rotWithShape="1">
                      <a:blip r:embed="rId4">
                        <a:alphaModFix/>
                      </a:blip>
                      <a:srcRect/>
                      <a:stretch/>
                    </p:blipFill>
                    <p:spPr>
                      <a:xfrm>
                        <a:off x="1289050" y="914400"/>
                        <a:ext cx="6407150" cy="3911600"/>
                      </a:xfrm>
                      <a:prstGeom prst="rect">
                        <a:avLst/>
                      </a:prstGeom>
                      <a:noFill/>
                      <a:ln>
                        <a:noFill/>
                      </a:ln>
                    </p:spPr>
                  </p:pic>
                </p:oleObj>
              </mc:Fallback>
            </mc:AlternateContent>
          </a:graphicData>
        </a:graphic>
      </p:graphicFrame>
      <p:grpSp>
        <p:nvGrpSpPr>
          <p:cNvPr id="1642" name="Google Shape;1642;p34"/>
          <p:cNvGrpSpPr/>
          <p:nvPr/>
        </p:nvGrpSpPr>
        <p:grpSpPr>
          <a:xfrm>
            <a:off x="2101850" y="1154113"/>
            <a:ext cx="4679950" cy="3390900"/>
            <a:chOff x="1152" y="727"/>
            <a:chExt cx="3188" cy="2310"/>
          </a:xfrm>
        </p:grpSpPr>
        <p:sp>
          <p:nvSpPr>
            <p:cNvPr id="1643" name="Google Shape;1643;p34"/>
            <p:cNvSpPr/>
            <p:nvPr/>
          </p:nvSpPr>
          <p:spPr>
            <a:xfrm>
              <a:off x="1152" y="733"/>
              <a:ext cx="1632" cy="2304"/>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44" name="Google Shape;1644;p34"/>
            <p:cNvSpPr/>
            <p:nvPr/>
          </p:nvSpPr>
          <p:spPr>
            <a:xfrm>
              <a:off x="2804" y="727"/>
              <a:ext cx="1536" cy="2304"/>
            </a:xfrm>
            <a:prstGeom prst="rect">
              <a:avLst/>
            </a:prstGeom>
            <a:noFill/>
            <a:ln w="38100" cap="flat" cmpd="sng">
              <a:solidFill>
                <a:schemeClr va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48"/>
        <p:cNvGrpSpPr/>
        <p:nvPr/>
      </p:nvGrpSpPr>
      <p:grpSpPr>
        <a:xfrm>
          <a:off x="0" y="0"/>
          <a:ext cx="0" cy="0"/>
          <a:chOff x="0" y="0"/>
          <a:chExt cx="0" cy="0"/>
        </a:xfrm>
      </p:grpSpPr>
      <p:sp>
        <p:nvSpPr>
          <p:cNvPr id="1649" name="Google Shape;1649;p3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 [</a:t>
            </a:r>
            <a:r>
              <a:rPr lang="en-US" sz="2600"/>
              <a:t>Comaniciu &amp; Meer]</a:t>
            </a:r>
            <a:endParaRPr/>
          </a:p>
        </p:txBody>
      </p:sp>
      <p:sp>
        <p:nvSpPr>
          <p:cNvPr id="1650" name="Google Shape;1650;p35"/>
          <p:cNvSpPr txBox="1">
            <a:spLocks noGrp="1"/>
          </p:cNvSpPr>
          <p:nvPr>
            <p:ph type="body" idx="1"/>
          </p:nvPr>
        </p:nvSpPr>
        <p:spPr>
          <a:xfrm>
            <a:off x="685800" y="4800600"/>
            <a:ext cx="7696200" cy="1905000"/>
          </a:xfrm>
          <a:prstGeom prst="rect">
            <a:avLst/>
          </a:prstGeom>
          <a:noFill/>
          <a:ln>
            <a:noFill/>
          </a:ln>
        </p:spPr>
        <p:txBody>
          <a:bodyPr spcFirstLastPara="1" wrap="square" lIns="91425" tIns="45700" rIns="91425" bIns="45700" anchor="t" anchorCtr="0">
            <a:noAutofit/>
          </a:bodyPr>
          <a:lstStyle/>
          <a:p>
            <a:pPr marL="533400" lvl="0" indent="-533400" algn="l" rtl="0">
              <a:spcBef>
                <a:spcPts val="0"/>
              </a:spcBef>
              <a:spcAft>
                <a:spcPts val="0"/>
              </a:spcAft>
              <a:buNone/>
            </a:pPr>
            <a:r>
              <a:rPr lang="en-US"/>
              <a:t>Iterative Mode Search</a:t>
            </a:r>
            <a:endParaRPr/>
          </a:p>
          <a:p>
            <a:pPr marL="838200" lvl="1" indent="-381000" algn="l" rtl="0">
              <a:spcBef>
                <a:spcPts val="360"/>
              </a:spcBef>
              <a:spcAft>
                <a:spcPts val="0"/>
              </a:spcAft>
              <a:buClr>
                <a:schemeClr val="dk1"/>
              </a:buClr>
              <a:buSzPts val="1800"/>
              <a:buFont typeface="Arial"/>
              <a:buAutoNum type="arabicPeriod"/>
            </a:pPr>
            <a:r>
              <a:rPr lang="en-US" sz="1800"/>
              <a:t>Initialize random seed, and window W</a:t>
            </a:r>
            <a:endParaRPr/>
          </a:p>
          <a:p>
            <a:pPr marL="838200" lvl="1" indent="-381000" algn="l" rtl="0">
              <a:spcBef>
                <a:spcPts val="360"/>
              </a:spcBef>
              <a:spcAft>
                <a:spcPts val="0"/>
              </a:spcAft>
              <a:buClr>
                <a:schemeClr val="dk1"/>
              </a:buClr>
              <a:buSzPts val="1800"/>
              <a:buFont typeface="Arial"/>
              <a:buAutoNum type="arabicPeriod"/>
            </a:pPr>
            <a:r>
              <a:rPr lang="en-US" sz="1800"/>
              <a:t>Calculate center of gravity (the “mean”) of W:</a:t>
            </a:r>
            <a:endParaRPr/>
          </a:p>
          <a:p>
            <a:pPr marL="838200" lvl="1" indent="-381000" algn="l" rtl="0">
              <a:spcBef>
                <a:spcPts val="360"/>
              </a:spcBef>
              <a:spcAft>
                <a:spcPts val="0"/>
              </a:spcAft>
              <a:buClr>
                <a:schemeClr val="dk1"/>
              </a:buClr>
              <a:buSzPts val="1800"/>
              <a:buFont typeface="Arial"/>
              <a:buAutoNum type="arabicPeriod"/>
            </a:pPr>
            <a:r>
              <a:rPr lang="en-US" sz="1800"/>
              <a:t>Translate the search window to the mean</a:t>
            </a:r>
            <a:endParaRPr/>
          </a:p>
          <a:p>
            <a:pPr marL="838200" lvl="1" indent="-381000" algn="l" rtl="0">
              <a:spcBef>
                <a:spcPts val="360"/>
              </a:spcBef>
              <a:spcAft>
                <a:spcPts val="0"/>
              </a:spcAft>
              <a:buClr>
                <a:schemeClr val="dk1"/>
              </a:buClr>
              <a:buSzPts val="1800"/>
              <a:buFont typeface="Arial"/>
              <a:buAutoNum type="arabicPeriod"/>
            </a:pPr>
            <a:r>
              <a:rPr lang="en-US" sz="1800"/>
              <a:t>Repeat Step 2 until convergence</a:t>
            </a:r>
            <a:endParaRPr/>
          </a:p>
        </p:txBody>
      </p:sp>
      <p:graphicFrame>
        <p:nvGraphicFramePr>
          <p:cNvPr id="1651" name="Google Shape;1651;p35"/>
          <p:cNvGraphicFramePr/>
          <p:nvPr/>
        </p:nvGraphicFramePr>
        <p:xfrm>
          <a:off x="1289050" y="914400"/>
          <a:ext cx="6407150" cy="3911600"/>
        </p:xfrm>
        <a:graphic>
          <a:graphicData uri="http://schemas.openxmlformats.org/presentationml/2006/ole">
            <mc:AlternateContent xmlns:mc="http://schemas.openxmlformats.org/markup-compatibility/2006">
              <mc:Choice xmlns:v="urn:schemas-microsoft-com:vml" Requires="v">
                <p:oleObj r:id="rId3" imgW="6407150" imgH="3911600" progId="Photoshop.Image.5">
                  <p:embed/>
                </p:oleObj>
              </mc:Choice>
              <mc:Fallback>
                <p:oleObj r:id="rId3" imgW="6407150" imgH="3911600" progId="Photoshop.Image.5">
                  <p:embed/>
                  <p:pic>
                    <p:nvPicPr>
                      <p:cNvPr id="1651" name="Google Shape;1651;p35"/>
                      <p:cNvPicPr preferRelativeResize="0"/>
                      <p:nvPr/>
                    </p:nvPicPr>
                    <p:blipFill rotWithShape="1">
                      <a:blip r:embed="rId4">
                        <a:alphaModFix/>
                      </a:blip>
                      <a:srcRect/>
                      <a:stretch/>
                    </p:blipFill>
                    <p:spPr>
                      <a:xfrm>
                        <a:off x="1289050" y="914400"/>
                        <a:ext cx="6407150" cy="3911600"/>
                      </a:xfrm>
                      <a:prstGeom prst="rect">
                        <a:avLst/>
                      </a:prstGeom>
                      <a:noFill/>
                      <a:ln>
                        <a:noFill/>
                      </a:ln>
                    </p:spPr>
                  </p:pic>
                </p:oleObj>
              </mc:Fallback>
            </mc:AlternateContent>
          </a:graphicData>
        </a:graphic>
      </p:graphicFrame>
      <p:sp>
        <p:nvSpPr>
          <p:cNvPr id="1652" name="Google Shape;1652;p35"/>
          <p:cNvSpPr/>
          <p:nvPr/>
        </p:nvSpPr>
        <p:spPr>
          <a:xfrm>
            <a:off x="2819400" y="1154113"/>
            <a:ext cx="1600200" cy="3417887"/>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pic>
        <p:nvPicPr>
          <p:cNvPr id="1653" name="Google Shape;1653;p35"/>
          <p:cNvPicPr preferRelativeResize="0"/>
          <p:nvPr/>
        </p:nvPicPr>
        <p:blipFill rotWithShape="1">
          <a:blip r:embed="rId5">
            <a:alphaModFix/>
          </a:blip>
          <a:srcRect/>
          <a:stretch/>
        </p:blipFill>
        <p:spPr>
          <a:xfrm>
            <a:off x="6248400" y="5562600"/>
            <a:ext cx="1243013" cy="5032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57"/>
        <p:cNvGrpSpPr/>
        <p:nvPr/>
      </p:nvGrpSpPr>
      <p:grpSpPr>
        <a:xfrm>
          <a:off x="0" y="0"/>
          <a:ext cx="0" cy="0"/>
          <a:chOff x="0" y="0"/>
          <a:chExt cx="0" cy="0"/>
        </a:xfrm>
      </p:grpSpPr>
      <p:pic>
        <p:nvPicPr>
          <p:cNvPr id="1658" name="Google Shape;1658;p36">
            <a:hlinkClick r:id="rId3"/>
          </p:cNvPr>
          <p:cNvPicPr preferRelativeResize="0"/>
          <p:nvPr/>
        </p:nvPicPr>
        <p:blipFill rotWithShape="1">
          <a:blip r:embed="rId4">
            <a:alphaModFix/>
          </a:blip>
          <a:srcRect/>
          <a:stretch/>
        </p:blipFill>
        <p:spPr>
          <a:xfrm>
            <a:off x="990600" y="549275"/>
            <a:ext cx="7315200" cy="5851525"/>
          </a:xfrm>
          <a:prstGeom prst="rect">
            <a:avLst/>
          </a:prstGeom>
          <a:noFill/>
          <a:ln>
            <a:noFill/>
          </a:ln>
        </p:spPr>
      </p:pic>
      <p:sp>
        <p:nvSpPr>
          <p:cNvPr id="1659" name="Google Shape;1659;p36"/>
          <p:cNvSpPr/>
          <p:nvPr/>
        </p:nvSpPr>
        <p:spPr>
          <a:xfrm>
            <a:off x="990600" y="762000"/>
            <a:ext cx="6934200" cy="1981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660" name="Google Shape;1660;p3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Mean-Shift</a:t>
            </a:r>
            <a:endParaRPr/>
          </a:p>
        </p:txBody>
      </p:sp>
      <p:cxnSp>
        <p:nvCxnSpPr>
          <p:cNvPr id="1661" name="Google Shape;1661;p36"/>
          <p:cNvCxnSpPr/>
          <p:nvPr/>
        </p:nvCxnSpPr>
        <p:spPr>
          <a:xfrm>
            <a:off x="685800" y="838200"/>
            <a:ext cx="7772400" cy="0"/>
          </a:xfrm>
          <a:prstGeom prst="straightConnector1">
            <a:avLst/>
          </a:prstGeom>
          <a:noFill/>
          <a:ln w="38100" cap="flat" cmpd="sng">
            <a:solidFill>
              <a:schemeClr val="dk1"/>
            </a:solidFill>
            <a:prstDash val="solid"/>
            <a:round/>
            <a:headEnd type="none" w="med" len="med"/>
            <a:tailEnd type="none" w="med" len="med"/>
          </a:ln>
        </p:spPr>
      </p:cxnSp>
      <p:sp>
        <p:nvSpPr>
          <p:cNvPr id="1662" name="Google Shape;1662;p36"/>
          <p:cNvSpPr txBox="1">
            <a:spLocks noGrp="1"/>
          </p:cNvSpPr>
          <p:nvPr>
            <p:ph type="body" idx="1"/>
          </p:nvPr>
        </p:nvSpPr>
        <p:spPr>
          <a:xfrm>
            <a:off x="685800" y="990600"/>
            <a:ext cx="7696200" cy="1905000"/>
          </a:xfrm>
          <a:prstGeom prst="rect">
            <a:avLst/>
          </a:prstGeom>
          <a:noFill/>
          <a:ln>
            <a:noFill/>
          </a:ln>
        </p:spPr>
        <p:txBody>
          <a:bodyPr spcFirstLastPara="1" wrap="square" lIns="91425" tIns="45700" rIns="91425" bIns="45700" anchor="t" anchorCtr="0">
            <a:noAutofit/>
          </a:bodyPr>
          <a:lstStyle/>
          <a:p>
            <a:pPr marL="533400" lvl="0" indent="-533400" algn="l" rtl="0">
              <a:spcBef>
                <a:spcPts val="0"/>
              </a:spcBef>
              <a:spcAft>
                <a:spcPts val="0"/>
              </a:spcAft>
              <a:buNone/>
            </a:pPr>
            <a:r>
              <a:rPr lang="en-US"/>
              <a:t>Approach</a:t>
            </a:r>
            <a:endParaRPr/>
          </a:p>
          <a:p>
            <a:pPr marL="838200" lvl="1" indent="-381000" algn="l" rtl="0">
              <a:spcBef>
                <a:spcPts val="400"/>
              </a:spcBef>
              <a:spcAft>
                <a:spcPts val="0"/>
              </a:spcAft>
              <a:buClr>
                <a:schemeClr val="dk1"/>
              </a:buClr>
              <a:buSzPts val="2000"/>
              <a:buFont typeface="Arial"/>
              <a:buChar char="•"/>
            </a:pPr>
            <a:r>
              <a:rPr lang="en-US"/>
              <a:t>Initialize a window around each point</a:t>
            </a:r>
            <a:endParaRPr/>
          </a:p>
          <a:p>
            <a:pPr marL="838200" lvl="1" indent="-381000" algn="l" rtl="0">
              <a:spcBef>
                <a:spcPts val="400"/>
              </a:spcBef>
              <a:spcAft>
                <a:spcPts val="0"/>
              </a:spcAft>
              <a:buClr>
                <a:schemeClr val="dk1"/>
              </a:buClr>
              <a:buSzPts val="2000"/>
              <a:buFont typeface="Arial"/>
              <a:buChar char="•"/>
            </a:pPr>
            <a:r>
              <a:rPr lang="en-US"/>
              <a:t>See where it shifts—this determines which segment it’s in</a:t>
            </a:r>
            <a:endParaRPr/>
          </a:p>
          <a:p>
            <a:pPr marL="838200" lvl="1" indent="-381000" algn="l" rtl="0">
              <a:spcBef>
                <a:spcPts val="400"/>
              </a:spcBef>
              <a:spcAft>
                <a:spcPts val="0"/>
              </a:spcAft>
              <a:buClr>
                <a:schemeClr val="dk1"/>
              </a:buClr>
              <a:buSzPts val="2000"/>
              <a:buFont typeface="Arial"/>
              <a:buChar char="•"/>
            </a:pPr>
            <a:r>
              <a:rPr lang="en-US"/>
              <a:t>Multiple points will shift to the same segment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67"/>
        <p:cNvGrpSpPr/>
        <p:nvPr/>
      </p:nvGrpSpPr>
      <p:grpSpPr>
        <a:xfrm>
          <a:off x="0" y="0"/>
          <a:ext cx="0" cy="0"/>
          <a:chOff x="0" y="0"/>
          <a:chExt cx="0" cy="0"/>
        </a:xfrm>
      </p:grpSpPr>
      <p:sp>
        <p:nvSpPr>
          <p:cNvPr id="1668" name="Google Shape;1668;p3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 clustering</a:t>
            </a:r>
            <a:endParaRPr/>
          </a:p>
        </p:txBody>
      </p:sp>
      <p:sp>
        <p:nvSpPr>
          <p:cNvPr id="1669" name="Google Shape;1669;p37"/>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533400" lvl="0" indent="-533400" algn="l" rtl="0">
              <a:spcBef>
                <a:spcPts val="0"/>
              </a:spcBef>
              <a:spcAft>
                <a:spcPts val="0"/>
              </a:spcAft>
              <a:buNone/>
            </a:pPr>
            <a:r>
              <a:rPr lang="en-US"/>
              <a:t>The mean shift algorithm seeks </a:t>
            </a:r>
            <a:r>
              <a:rPr lang="en-US" i="1"/>
              <a:t>modes</a:t>
            </a:r>
            <a:r>
              <a:rPr lang="en-US"/>
              <a:t> of the given set of points</a:t>
            </a:r>
            <a:endParaRPr/>
          </a:p>
          <a:p>
            <a:pPr marL="971550" lvl="1" indent="-514350" algn="l" rtl="0">
              <a:spcBef>
                <a:spcPts val="400"/>
              </a:spcBef>
              <a:spcAft>
                <a:spcPts val="0"/>
              </a:spcAft>
              <a:buClr>
                <a:schemeClr val="dk1"/>
              </a:buClr>
              <a:buSzPts val="2000"/>
              <a:buFont typeface="Calibri"/>
              <a:buAutoNum type="arabicPeriod"/>
            </a:pPr>
            <a:r>
              <a:rPr lang="en-US"/>
              <a:t>Choose kernel and bandwidth</a:t>
            </a:r>
            <a:endParaRPr/>
          </a:p>
          <a:p>
            <a:pPr marL="971550" lvl="1" indent="-514350" algn="l" rtl="0">
              <a:spcBef>
                <a:spcPts val="400"/>
              </a:spcBef>
              <a:spcAft>
                <a:spcPts val="0"/>
              </a:spcAft>
              <a:buClr>
                <a:schemeClr val="dk1"/>
              </a:buClr>
              <a:buSzPts val="2000"/>
              <a:buFont typeface="Calibri"/>
              <a:buAutoNum type="arabicPeriod"/>
            </a:pPr>
            <a:r>
              <a:rPr lang="en-US"/>
              <a:t>For each point:</a:t>
            </a:r>
            <a:endParaRPr/>
          </a:p>
          <a:p>
            <a:pPr marL="1314450" lvl="2" indent="-457200" algn="l" rtl="0">
              <a:spcBef>
                <a:spcPts val="360"/>
              </a:spcBef>
              <a:spcAft>
                <a:spcPts val="0"/>
              </a:spcAft>
              <a:buClr>
                <a:schemeClr val="dk1"/>
              </a:buClr>
              <a:buSzPts val="1800"/>
              <a:buFont typeface="Calibri"/>
              <a:buAutoNum type="alphaLcParenR"/>
            </a:pPr>
            <a:r>
              <a:rPr lang="en-US"/>
              <a:t>Center a window on that point</a:t>
            </a:r>
            <a:endParaRPr/>
          </a:p>
          <a:p>
            <a:pPr marL="1314450" lvl="2" indent="-457200" algn="l" rtl="0">
              <a:spcBef>
                <a:spcPts val="360"/>
              </a:spcBef>
              <a:spcAft>
                <a:spcPts val="0"/>
              </a:spcAft>
              <a:buClr>
                <a:schemeClr val="dk1"/>
              </a:buClr>
              <a:buSzPts val="1800"/>
              <a:buFont typeface="Calibri"/>
              <a:buAutoNum type="alphaLcParenR"/>
            </a:pPr>
            <a:r>
              <a:rPr lang="en-US"/>
              <a:t>Compute the mean of the data in the search window</a:t>
            </a:r>
            <a:endParaRPr/>
          </a:p>
          <a:p>
            <a:pPr marL="1314450" lvl="2" indent="-457200" algn="l" rtl="0">
              <a:spcBef>
                <a:spcPts val="360"/>
              </a:spcBef>
              <a:spcAft>
                <a:spcPts val="0"/>
              </a:spcAft>
              <a:buClr>
                <a:schemeClr val="dk1"/>
              </a:buClr>
              <a:buSzPts val="1800"/>
              <a:buFont typeface="Calibri"/>
              <a:buAutoNum type="alphaLcParenR"/>
            </a:pPr>
            <a:r>
              <a:rPr lang="en-US"/>
              <a:t>Center the search window at the new mean location</a:t>
            </a:r>
            <a:endParaRPr/>
          </a:p>
          <a:p>
            <a:pPr marL="1314450" lvl="2" indent="-457200" algn="l" rtl="0">
              <a:spcBef>
                <a:spcPts val="360"/>
              </a:spcBef>
              <a:spcAft>
                <a:spcPts val="0"/>
              </a:spcAft>
              <a:buClr>
                <a:schemeClr val="dk1"/>
              </a:buClr>
              <a:buSzPts val="1800"/>
              <a:buFont typeface="Calibri"/>
              <a:buAutoNum type="alphaLcParenR"/>
            </a:pPr>
            <a:r>
              <a:rPr lang="en-US"/>
              <a:t>Repeat (b,c) until convergence</a:t>
            </a:r>
            <a:endParaRPr/>
          </a:p>
          <a:p>
            <a:pPr marL="971550" lvl="1" indent="-514350" algn="l" rtl="0">
              <a:spcBef>
                <a:spcPts val="400"/>
              </a:spcBef>
              <a:spcAft>
                <a:spcPts val="0"/>
              </a:spcAft>
              <a:buClr>
                <a:schemeClr val="dk1"/>
              </a:buClr>
              <a:buSzPts val="2000"/>
              <a:buFont typeface="Calibri"/>
              <a:buAutoNum type="arabicPeriod"/>
            </a:pPr>
            <a:r>
              <a:rPr lang="en-US"/>
              <a:t>Assign points that lead to nearby modes to the same cluster</a:t>
            </a:r>
            <a:endParaRPr/>
          </a:p>
          <a:p>
            <a:pPr marL="533400" lvl="0" indent="-533400" algn="l" rtl="0">
              <a:spcBef>
                <a:spcPts val="48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74"/>
        <p:cNvGrpSpPr/>
        <p:nvPr/>
      </p:nvGrpSpPr>
      <p:grpSpPr>
        <a:xfrm>
          <a:off x="0" y="0"/>
          <a:ext cx="0" cy="0"/>
          <a:chOff x="0" y="0"/>
          <a:chExt cx="0" cy="0"/>
        </a:xfrm>
      </p:grpSpPr>
      <p:pic>
        <p:nvPicPr>
          <p:cNvPr id="1675" name="Google Shape;1675;p38" descr="negoiu_s"/>
          <p:cNvPicPr preferRelativeResize="0"/>
          <p:nvPr/>
        </p:nvPicPr>
        <p:blipFill rotWithShape="1">
          <a:blip r:embed="rId3">
            <a:alphaModFix/>
          </a:blip>
          <a:srcRect/>
          <a:stretch/>
        </p:blipFill>
        <p:spPr>
          <a:xfrm>
            <a:off x="4806950" y="3752850"/>
            <a:ext cx="3727450" cy="2547938"/>
          </a:xfrm>
          <a:prstGeom prst="rect">
            <a:avLst/>
          </a:prstGeom>
          <a:noFill/>
          <a:ln>
            <a:noFill/>
          </a:ln>
        </p:spPr>
      </p:pic>
      <p:pic>
        <p:nvPicPr>
          <p:cNvPr id="1676" name="Google Shape;1676;p38" descr="campus"/>
          <p:cNvPicPr preferRelativeResize="0"/>
          <p:nvPr/>
        </p:nvPicPr>
        <p:blipFill rotWithShape="1">
          <a:blip r:embed="rId4">
            <a:alphaModFix/>
          </a:blip>
          <a:srcRect/>
          <a:stretch/>
        </p:blipFill>
        <p:spPr>
          <a:xfrm>
            <a:off x="608013" y="1177925"/>
            <a:ext cx="3733800" cy="2400300"/>
          </a:xfrm>
          <a:prstGeom prst="rect">
            <a:avLst/>
          </a:prstGeom>
          <a:noFill/>
          <a:ln>
            <a:noFill/>
          </a:ln>
        </p:spPr>
      </p:pic>
      <p:pic>
        <p:nvPicPr>
          <p:cNvPr id="1677" name="Google Shape;1677;p38" descr="campus_s"/>
          <p:cNvPicPr preferRelativeResize="0"/>
          <p:nvPr/>
        </p:nvPicPr>
        <p:blipFill rotWithShape="1">
          <a:blip r:embed="rId5">
            <a:alphaModFix/>
          </a:blip>
          <a:srcRect/>
          <a:stretch/>
        </p:blipFill>
        <p:spPr>
          <a:xfrm>
            <a:off x="4791075" y="1143000"/>
            <a:ext cx="3733800" cy="2400300"/>
          </a:xfrm>
          <a:prstGeom prst="rect">
            <a:avLst/>
          </a:prstGeom>
          <a:noFill/>
          <a:ln>
            <a:noFill/>
          </a:ln>
        </p:spPr>
      </p:pic>
      <p:pic>
        <p:nvPicPr>
          <p:cNvPr id="1678" name="Google Shape;1678;p38" descr="negoiu"/>
          <p:cNvPicPr preferRelativeResize="0"/>
          <p:nvPr/>
        </p:nvPicPr>
        <p:blipFill rotWithShape="1">
          <a:blip r:embed="rId6">
            <a:alphaModFix/>
          </a:blip>
          <a:srcRect/>
          <a:stretch/>
        </p:blipFill>
        <p:spPr>
          <a:xfrm>
            <a:off x="622300" y="3752850"/>
            <a:ext cx="3729038" cy="2547938"/>
          </a:xfrm>
          <a:prstGeom prst="rect">
            <a:avLst/>
          </a:prstGeom>
          <a:noFill/>
          <a:ln>
            <a:noFill/>
          </a:ln>
        </p:spPr>
      </p:pic>
      <p:sp>
        <p:nvSpPr>
          <p:cNvPr id="1679" name="Google Shape;1679;p38"/>
          <p:cNvSpPr/>
          <p:nvPr/>
        </p:nvSpPr>
        <p:spPr>
          <a:xfrm>
            <a:off x="228600" y="6324600"/>
            <a:ext cx="71628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00"/>
                </a:solidFill>
                <a:latin typeface="Arial"/>
                <a:ea typeface="Arial"/>
                <a:cs typeface="Arial"/>
                <a:sym typeface="Arial"/>
              </a:rPr>
              <a:t>http://www.caip.rutgers.edu/~comanici/MSPAMI/msPamiResults.html</a:t>
            </a:r>
            <a:endParaRPr/>
          </a:p>
        </p:txBody>
      </p:sp>
      <p:sp>
        <p:nvSpPr>
          <p:cNvPr id="1680" name="Google Shape;1680;p38"/>
          <p:cNvSpPr txBox="1">
            <a:spLocks noGrp="1"/>
          </p:cNvSpPr>
          <p:nvPr>
            <p:ph type="title"/>
          </p:nvPr>
        </p:nvSpPr>
        <p:spPr>
          <a:xfrm>
            <a:off x="838200" y="-7620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 segmentation results</a:t>
            </a:r>
            <a:endParaRPr/>
          </a:p>
        </p:txBody>
      </p:sp>
      <p:sp>
        <p:nvSpPr>
          <p:cNvPr id="1681" name="Google Shape;1681;p38"/>
          <p:cNvSpPr txBox="1"/>
          <p:nvPr/>
        </p:nvSpPr>
        <p:spPr>
          <a:xfrm>
            <a:off x="6537800" y="788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CV 11: Image Segmentation</a:t>
            </a:r>
            <a:endParaRPr sz="8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sp>
        <p:nvSpPr>
          <p:cNvPr id="1687" name="Google Shape;1687;p39"/>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endParaRPr/>
          </a:p>
        </p:txBody>
      </p:sp>
      <p:pic>
        <p:nvPicPr>
          <p:cNvPr id="1688" name="Google Shape;1688;p39"/>
          <p:cNvPicPr preferRelativeResize="0"/>
          <p:nvPr/>
        </p:nvPicPr>
        <p:blipFill rotWithShape="1">
          <a:blip r:embed="rId3">
            <a:alphaModFix/>
          </a:blip>
          <a:srcRect/>
          <a:stretch/>
        </p:blipFill>
        <p:spPr>
          <a:xfrm>
            <a:off x="533400" y="533400"/>
            <a:ext cx="7543800" cy="5080000"/>
          </a:xfrm>
          <a:prstGeom prst="rect">
            <a:avLst/>
          </a:prstGeom>
          <a:noFill/>
          <a:ln>
            <a:noFill/>
          </a:ln>
        </p:spPr>
      </p:pic>
      <p:sp>
        <p:nvSpPr>
          <p:cNvPr id="1689" name="Google Shape;1689;p39"/>
          <p:cNvSpPr/>
          <p:nvPr/>
        </p:nvSpPr>
        <p:spPr>
          <a:xfrm>
            <a:off x="304800" y="6248400"/>
            <a:ext cx="8534400" cy="4000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u="sng">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http://www.caip.rutgers.edu/~comanici/MSPAMI/msPamiResults.html</a:t>
            </a:r>
            <a:endParaRPr sz="2000">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93"/>
        <p:cNvGrpSpPr/>
        <p:nvPr/>
      </p:nvGrpSpPr>
      <p:grpSpPr>
        <a:xfrm>
          <a:off x="0" y="0"/>
          <a:ext cx="0" cy="0"/>
          <a:chOff x="0" y="0"/>
          <a:chExt cx="0" cy="0"/>
        </a:xfrm>
      </p:grpSpPr>
      <p:sp>
        <p:nvSpPr>
          <p:cNvPr id="1694" name="Google Shape;1694;p40"/>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Mean-shift: other issues</a:t>
            </a:r>
            <a:endParaRPr/>
          </a:p>
        </p:txBody>
      </p:sp>
      <p:sp>
        <p:nvSpPr>
          <p:cNvPr id="1695" name="Google Shape;1695;p40"/>
          <p:cNvSpPr txBox="1">
            <a:spLocks noGrp="1"/>
          </p:cNvSpPr>
          <p:nvPr>
            <p:ph type="body" idx="1"/>
          </p:nvPr>
        </p:nvSpPr>
        <p:spPr>
          <a:xfrm>
            <a:off x="685800" y="914400"/>
            <a:ext cx="7772400" cy="5257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Speedups</a:t>
            </a:r>
            <a:endParaRPr/>
          </a:p>
          <a:p>
            <a:pPr marL="742950" lvl="1" indent="-285750" algn="l" rtl="0">
              <a:spcBef>
                <a:spcPts val="400"/>
              </a:spcBef>
              <a:spcAft>
                <a:spcPts val="0"/>
              </a:spcAft>
              <a:buClr>
                <a:schemeClr val="dk1"/>
              </a:buClr>
              <a:buSzPts val="2000"/>
              <a:buFont typeface="Arial"/>
              <a:buChar char="•"/>
            </a:pPr>
            <a:r>
              <a:rPr lang="en-US"/>
              <a:t>Binned estimation</a:t>
            </a:r>
            <a:endParaRPr/>
          </a:p>
          <a:p>
            <a:pPr marL="742950" lvl="1" indent="-285750" algn="l" rtl="0">
              <a:spcBef>
                <a:spcPts val="400"/>
              </a:spcBef>
              <a:spcAft>
                <a:spcPts val="0"/>
              </a:spcAft>
              <a:buClr>
                <a:schemeClr val="dk1"/>
              </a:buClr>
              <a:buSzPts val="2000"/>
              <a:buFont typeface="Arial"/>
              <a:buChar char="•"/>
            </a:pPr>
            <a:r>
              <a:rPr lang="en-US"/>
              <a:t>Fast search of neighbors</a:t>
            </a:r>
            <a:endParaRPr/>
          </a:p>
          <a:p>
            <a:pPr marL="742950" lvl="1" indent="-285750" algn="l" rtl="0">
              <a:spcBef>
                <a:spcPts val="400"/>
              </a:spcBef>
              <a:spcAft>
                <a:spcPts val="0"/>
              </a:spcAft>
              <a:buClr>
                <a:schemeClr val="dk1"/>
              </a:buClr>
              <a:buSzPts val="2000"/>
              <a:buFont typeface="Arial"/>
              <a:buChar char="•"/>
            </a:pPr>
            <a:r>
              <a:rPr lang="en-US"/>
              <a:t>Update each window in each iteration (faster convergence)</a:t>
            </a:r>
            <a:endParaRPr/>
          </a:p>
          <a:p>
            <a:pPr marL="342900" lvl="0" indent="-342900" algn="l" rtl="0">
              <a:spcBef>
                <a:spcPts val="480"/>
              </a:spcBef>
              <a:spcAft>
                <a:spcPts val="0"/>
              </a:spcAft>
              <a:buNone/>
            </a:pPr>
            <a:endParaRPr/>
          </a:p>
          <a:p>
            <a:pPr marL="342900" lvl="0" indent="-342900" algn="l" rtl="0">
              <a:spcBef>
                <a:spcPts val="480"/>
              </a:spcBef>
              <a:spcAft>
                <a:spcPts val="0"/>
              </a:spcAft>
              <a:buNone/>
            </a:pPr>
            <a:r>
              <a:rPr lang="en-US"/>
              <a:t>Other tricks</a:t>
            </a:r>
            <a:endParaRPr/>
          </a:p>
          <a:p>
            <a:pPr marL="742950" lvl="1" indent="-285750" algn="l" rtl="0">
              <a:spcBef>
                <a:spcPts val="400"/>
              </a:spcBef>
              <a:spcAft>
                <a:spcPts val="0"/>
              </a:spcAft>
              <a:buClr>
                <a:schemeClr val="dk1"/>
              </a:buClr>
              <a:buSzPts val="2000"/>
              <a:buFont typeface="Arial"/>
              <a:buChar char="•"/>
            </a:pPr>
            <a:r>
              <a:rPr lang="en-US"/>
              <a:t>Use kNN to determine window sizes adaptively</a:t>
            </a:r>
            <a:endParaRPr/>
          </a:p>
          <a:p>
            <a:pPr marL="742950" lvl="1" indent="-285750" algn="l" rtl="0">
              <a:spcBef>
                <a:spcPts val="400"/>
              </a:spcBef>
              <a:spcAft>
                <a:spcPts val="0"/>
              </a:spcAft>
              <a:buClr>
                <a:schemeClr val="dk1"/>
              </a:buClr>
              <a:buSzPts val="2000"/>
              <a:buFont typeface="Arial"/>
              <a:buNone/>
            </a:pPr>
            <a:endParaRPr/>
          </a:p>
          <a:p>
            <a:pPr marL="342900" lvl="0" indent="-342900" algn="l" rtl="0">
              <a:spcBef>
                <a:spcPts val="480"/>
              </a:spcBef>
              <a:spcAft>
                <a:spcPts val="0"/>
              </a:spcAft>
              <a:buNone/>
            </a:pPr>
            <a:r>
              <a:rPr lang="en-US"/>
              <a:t>Lots of theoretical support</a:t>
            </a:r>
            <a:endParaRPr/>
          </a:p>
          <a:p>
            <a:pPr marL="742950" lvl="1" indent="-285750" algn="l" rtl="0">
              <a:spcBef>
                <a:spcPts val="480"/>
              </a:spcBef>
              <a:spcAft>
                <a:spcPts val="0"/>
              </a:spcAft>
              <a:buClr>
                <a:schemeClr val="dk1"/>
              </a:buClr>
              <a:buSzPts val="2000"/>
              <a:buFont typeface="Arial"/>
              <a:buNone/>
            </a:pPr>
            <a:r>
              <a:rPr lang="en-US"/>
              <a:t>	</a:t>
            </a:r>
            <a:r>
              <a:rPr lang="en-US" sz="2400"/>
              <a:t>D. Comaniciu and P. Meer, Mean Shift: A Robust Approach toward Feature Space Analysis, PAMI 2002. </a:t>
            </a:r>
            <a:endParaRPr/>
          </a:p>
          <a:p>
            <a:pPr marL="742950" lvl="1" indent="-285750" algn="l" rtl="0">
              <a:spcBef>
                <a:spcPts val="400"/>
              </a:spcBef>
              <a:spcAft>
                <a:spcPts val="0"/>
              </a:spcAft>
              <a:buClr>
                <a:schemeClr val="dk1"/>
              </a:buClr>
              <a:buSzPts val="2000"/>
              <a:buFont typeface="Arial"/>
              <a:buNone/>
            </a:pPr>
            <a:endParaRPr/>
          </a:p>
          <a:p>
            <a:pPr marL="742950" lvl="1" indent="-158750" algn="l" rtl="0">
              <a:spcBef>
                <a:spcPts val="400"/>
              </a:spcBef>
              <a:spcAft>
                <a:spcPts val="0"/>
              </a:spcAft>
              <a:buClr>
                <a:schemeClr val="dk1"/>
              </a:buClr>
              <a:buSzPts val="2000"/>
              <a:buFont typeface="Arial"/>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00"/>
        <p:cNvGrpSpPr/>
        <p:nvPr/>
      </p:nvGrpSpPr>
      <p:grpSpPr>
        <a:xfrm>
          <a:off x="0" y="0"/>
          <a:ext cx="0" cy="0"/>
          <a:chOff x="0" y="0"/>
          <a:chExt cx="0" cy="0"/>
        </a:xfrm>
      </p:grpSpPr>
      <p:sp>
        <p:nvSpPr>
          <p:cNvPr id="1701" name="Google Shape;1701;p41"/>
          <p:cNvSpPr txBox="1">
            <a:spLocks noGrp="1"/>
          </p:cNvSpPr>
          <p:nvPr>
            <p:ph type="title"/>
          </p:nvPr>
        </p:nvSpPr>
        <p:spPr>
          <a:xfrm>
            <a:off x="0" y="0"/>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Mean shift pros and cons</a:t>
            </a:r>
            <a:endParaRPr/>
          </a:p>
        </p:txBody>
      </p:sp>
      <p:sp>
        <p:nvSpPr>
          <p:cNvPr id="1702" name="Google Shape;1702;p41"/>
          <p:cNvSpPr txBox="1">
            <a:spLocks noGrp="1"/>
          </p:cNvSpPr>
          <p:nvPr>
            <p:ph type="body" idx="1"/>
          </p:nvPr>
        </p:nvSpPr>
        <p:spPr>
          <a:xfrm>
            <a:off x="609600" y="1295400"/>
            <a:ext cx="7772400" cy="5105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sz="2800"/>
              <a:t>Pros</a:t>
            </a:r>
            <a:endParaRPr/>
          </a:p>
          <a:p>
            <a:pPr marL="742950" lvl="1" indent="-285750" algn="l" rtl="0">
              <a:spcBef>
                <a:spcPts val="480"/>
              </a:spcBef>
              <a:spcAft>
                <a:spcPts val="0"/>
              </a:spcAft>
              <a:buClr>
                <a:schemeClr val="dk1"/>
              </a:buClr>
              <a:buSzPts val="2400"/>
              <a:buFont typeface="Arial"/>
              <a:buChar char="•"/>
            </a:pPr>
            <a:r>
              <a:rPr lang="en-US" sz="2400"/>
              <a:t>Good general-practice segmentation</a:t>
            </a:r>
            <a:endParaRPr/>
          </a:p>
          <a:p>
            <a:pPr marL="742950" lvl="1" indent="-285750" algn="l" rtl="0">
              <a:spcBef>
                <a:spcPts val="480"/>
              </a:spcBef>
              <a:spcAft>
                <a:spcPts val="0"/>
              </a:spcAft>
              <a:buClr>
                <a:schemeClr val="dk1"/>
              </a:buClr>
              <a:buSzPts val="2400"/>
              <a:buFont typeface="Arial"/>
              <a:buChar char="•"/>
            </a:pPr>
            <a:r>
              <a:rPr lang="en-US" sz="2400"/>
              <a:t>Flexible in number and shape of regions</a:t>
            </a:r>
            <a:endParaRPr/>
          </a:p>
          <a:p>
            <a:pPr marL="742950" lvl="1" indent="-285750" algn="l" rtl="0">
              <a:spcBef>
                <a:spcPts val="480"/>
              </a:spcBef>
              <a:spcAft>
                <a:spcPts val="0"/>
              </a:spcAft>
              <a:buClr>
                <a:schemeClr val="dk1"/>
              </a:buClr>
              <a:buSzPts val="2400"/>
              <a:buFont typeface="Arial"/>
              <a:buChar char="•"/>
            </a:pPr>
            <a:r>
              <a:rPr lang="en-US" sz="2400"/>
              <a:t>Robust to outliers</a:t>
            </a:r>
            <a:endParaRPr/>
          </a:p>
          <a:p>
            <a:pPr marL="342900" lvl="0" indent="-342900" algn="l" rtl="0">
              <a:spcBef>
                <a:spcPts val="560"/>
              </a:spcBef>
              <a:spcAft>
                <a:spcPts val="0"/>
              </a:spcAft>
              <a:buNone/>
            </a:pPr>
            <a:r>
              <a:rPr lang="en-US" sz="2800"/>
              <a:t>Cons</a:t>
            </a:r>
            <a:endParaRPr/>
          </a:p>
          <a:p>
            <a:pPr marL="742950" lvl="1" indent="-285750" algn="l" rtl="0">
              <a:spcBef>
                <a:spcPts val="480"/>
              </a:spcBef>
              <a:spcAft>
                <a:spcPts val="0"/>
              </a:spcAft>
              <a:buClr>
                <a:schemeClr val="dk1"/>
              </a:buClr>
              <a:buSzPts val="2400"/>
              <a:buFont typeface="Arial"/>
              <a:buChar char="•"/>
            </a:pPr>
            <a:r>
              <a:rPr lang="en-US" sz="2400"/>
              <a:t>Have to choose kernel size in advance</a:t>
            </a:r>
            <a:endParaRPr/>
          </a:p>
          <a:p>
            <a:pPr marL="742950" lvl="1" indent="-285750" algn="l" rtl="0">
              <a:spcBef>
                <a:spcPts val="480"/>
              </a:spcBef>
              <a:spcAft>
                <a:spcPts val="0"/>
              </a:spcAft>
              <a:buClr>
                <a:schemeClr val="dk1"/>
              </a:buClr>
              <a:buSzPts val="2400"/>
              <a:buFont typeface="Arial"/>
              <a:buChar char="•"/>
            </a:pPr>
            <a:r>
              <a:rPr lang="en-US" sz="2400"/>
              <a:t>Not suitable for high-dimensional features</a:t>
            </a:r>
            <a:endParaRPr/>
          </a:p>
          <a:p>
            <a:pPr marL="342900" lvl="0" indent="-342900" algn="l" rtl="0">
              <a:spcBef>
                <a:spcPts val="560"/>
              </a:spcBef>
              <a:spcAft>
                <a:spcPts val="0"/>
              </a:spcAft>
              <a:buNone/>
            </a:pPr>
            <a:r>
              <a:rPr lang="en-US" sz="2800"/>
              <a:t>When to use it</a:t>
            </a:r>
            <a:endParaRPr/>
          </a:p>
          <a:p>
            <a:pPr marL="742950" lvl="1" indent="-285750" algn="l" rtl="0">
              <a:spcBef>
                <a:spcPts val="480"/>
              </a:spcBef>
              <a:spcAft>
                <a:spcPts val="0"/>
              </a:spcAft>
              <a:buClr>
                <a:schemeClr val="dk1"/>
              </a:buClr>
              <a:buSzPts val="2400"/>
              <a:buFont typeface="Arial"/>
              <a:buChar char="•"/>
            </a:pPr>
            <a:r>
              <a:rPr lang="en-US" sz="2400"/>
              <a:t>Oversegmentatoin</a:t>
            </a:r>
            <a:endParaRPr/>
          </a:p>
          <a:p>
            <a:pPr marL="742950" lvl="1" indent="-285750" algn="l" rtl="0">
              <a:spcBef>
                <a:spcPts val="480"/>
              </a:spcBef>
              <a:spcAft>
                <a:spcPts val="0"/>
              </a:spcAft>
              <a:buClr>
                <a:schemeClr val="dk1"/>
              </a:buClr>
              <a:buSzPts val="2400"/>
              <a:buFont typeface="Arial"/>
              <a:buChar char="•"/>
            </a:pPr>
            <a:r>
              <a:rPr lang="en-US" sz="2400"/>
              <a:t>Multiple segmentations</a:t>
            </a:r>
            <a:endParaRPr/>
          </a:p>
          <a:p>
            <a:pPr marL="742950" lvl="1" indent="-285750" algn="l" rtl="0">
              <a:spcBef>
                <a:spcPts val="480"/>
              </a:spcBef>
              <a:spcAft>
                <a:spcPts val="0"/>
              </a:spcAft>
              <a:buClr>
                <a:schemeClr val="dk1"/>
              </a:buClr>
              <a:buSzPts val="2400"/>
              <a:buFont typeface="Arial"/>
              <a:buChar char="•"/>
            </a:pPr>
            <a:r>
              <a:rPr lang="en-US" sz="2400"/>
              <a:t>Tracking, clustering, filtering applications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06"/>
        <p:cNvGrpSpPr/>
        <p:nvPr/>
      </p:nvGrpSpPr>
      <p:grpSpPr>
        <a:xfrm>
          <a:off x="0" y="0"/>
          <a:ext cx="0" cy="0"/>
          <a:chOff x="0" y="0"/>
          <a:chExt cx="0" cy="0"/>
        </a:xfrm>
      </p:grpSpPr>
      <p:sp>
        <p:nvSpPr>
          <p:cNvPr id="1707" name="Google Shape;1707;p4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solidFill>
                  <a:schemeClr val="dk1"/>
                </a:solidFill>
              </a:rPr>
              <a:t>Region-based segmentation</a:t>
            </a:r>
            <a:endParaRPr/>
          </a:p>
        </p:txBody>
      </p:sp>
      <p:pic>
        <p:nvPicPr>
          <p:cNvPr id="1708" name="Google Shape;1708;p42"/>
          <p:cNvPicPr preferRelativeResize="0"/>
          <p:nvPr/>
        </p:nvPicPr>
        <p:blipFill rotWithShape="1">
          <a:blip r:embed="rId3">
            <a:alphaModFix/>
          </a:blip>
          <a:srcRect/>
          <a:stretch/>
        </p:blipFill>
        <p:spPr>
          <a:xfrm>
            <a:off x="947738" y="1447800"/>
            <a:ext cx="3108325" cy="2343150"/>
          </a:xfrm>
          <a:prstGeom prst="rect">
            <a:avLst/>
          </a:prstGeom>
          <a:noFill/>
          <a:ln>
            <a:noFill/>
          </a:ln>
        </p:spPr>
      </p:pic>
      <p:pic>
        <p:nvPicPr>
          <p:cNvPr id="1709" name="Google Shape;1709;p42"/>
          <p:cNvPicPr preferRelativeResize="0"/>
          <p:nvPr/>
        </p:nvPicPr>
        <p:blipFill rotWithShape="1">
          <a:blip r:embed="rId4">
            <a:alphaModFix/>
          </a:blip>
          <a:srcRect/>
          <a:stretch/>
        </p:blipFill>
        <p:spPr>
          <a:xfrm>
            <a:off x="5080000" y="1447800"/>
            <a:ext cx="3106738" cy="2343150"/>
          </a:xfrm>
          <a:prstGeom prst="rect">
            <a:avLst/>
          </a:prstGeom>
          <a:noFill/>
          <a:ln>
            <a:noFill/>
          </a:ln>
        </p:spPr>
      </p:pic>
      <p:cxnSp>
        <p:nvCxnSpPr>
          <p:cNvPr id="1710" name="Google Shape;1710;p42"/>
          <p:cNvCxnSpPr/>
          <p:nvPr/>
        </p:nvCxnSpPr>
        <p:spPr>
          <a:xfrm>
            <a:off x="4200525" y="2590800"/>
            <a:ext cx="676275" cy="0"/>
          </a:xfrm>
          <a:prstGeom prst="straightConnector1">
            <a:avLst/>
          </a:prstGeom>
          <a:noFill/>
          <a:ln w="76200" cap="flat" cmpd="sng">
            <a:solidFill>
              <a:srgbClr val="FF0000"/>
            </a:solidFill>
            <a:prstDash val="solid"/>
            <a:round/>
            <a:headEnd type="none" w="med" len="med"/>
            <a:tailEnd type="triangle" w="med" len="med"/>
          </a:ln>
        </p:spPr>
      </p:cxnSp>
      <p:sp>
        <p:nvSpPr>
          <p:cNvPr id="1711" name="Google Shape;1711;p42"/>
          <p:cNvSpPr txBox="1">
            <a:spLocks noGrp="1"/>
          </p:cNvSpPr>
          <p:nvPr>
            <p:ph type="body" idx="1"/>
          </p:nvPr>
        </p:nvSpPr>
        <p:spPr>
          <a:xfrm>
            <a:off x="685800" y="4267200"/>
            <a:ext cx="7772400" cy="1905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Color histograms don’t take into account spatial info</a:t>
            </a:r>
            <a:endParaRPr/>
          </a:p>
          <a:p>
            <a:pPr marL="742950" lvl="1" indent="-285750" algn="l" rtl="0">
              <a:spcBef>
                <a:spcPts val="400"/>
              </a:spcBef>
              <a:spcAft>
                <a:spcPts val="0"/>
              </a:spcAft>
              <a:buClr>
                <a:schemeClr val="dk1"/>
              </a:buClr>
              <a:buSzPts val="2000"/>
              <a:buFont typeface="Arial"/>
              <a:buChar char="•"/>
            </a:pPr>
            <a:r>
              <a:rPr lang="en-US"/>
              <a:t>Gestalt laws point out importance of spatial grouping</a:t>
            </a:r>
            <a:endParaRPr/>
          </a:p>
          <a:p>
            <a:pPr marL="1143000" lvl="2" indent="-228600" algn="l" rtl="0">
              <a:spcBef>
                <a:spcPts val="360"/>
              </a:spcBef>
              <a:spcAft>
                <a:spcPts val="0"/>
              </a:spcAft>
              <a:buClr>
                <a:schemeClr val="dk1"/>
              </a:buClr>
              <a:buSzPts val="1800"/>
              <a:buFont typeface="Arial"/>
              <a:buChar char="–"/>
            </a:pPr>
            <a:r>
              <a:rPr lang="en-US"/>
              <a:t>proximity, similarity, continuation, closure, common fate</a:t>
            </a:r>
            <a:endParaRPr/>
          </a:p>
          <a:p>
            <a:pPr marL="742950" lvl="1" indent="-285750" algn="l" rtl="0">
              <a:spcBef>
                <a:spcPts val="400"/>
              </a:spcBef>
              <a:spcAft>
                <a:spcPts val="0"/>
              </a:spcAft>
              <a:buClr>
                <a:schemeClr val="dk1"/>
              </a:buClr>
              <a:buSzPts val="2000"/>
              <a:buFont typeface="Arial"/>
              <a:buChar char="•"/>
            </a:pPr>
            <a:r>
              <a:rPr lang="en-US"/>
              <a:t>Suggests that </a:t>
            </a:r>
            <a:r>
              <a:rPr lang="en-US" i="1"/>
              <a:t>regions</a:t>
            </a:r>
            <a:r>
              <a:rPr lang="en-US"/>
              <a:t> are important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15"/>
        <p:cNvGrpSpPr/>
        <p:nvPr/>
      </p:nvGrpSpPr>
      <p:grpSpPr>
        <a:xfrm>
          <a:off x="0" y="0"/>
          <a:ext cx="0" cy="0"/>
          <a:chOff x="0" y="0"/>
          <a:chExt cx="0" cy="0"/>
        </a:xfrm>
      </p:grpSpPr>
      <p:sp>
        <p:nvSpPr>
          <p:cNvPr id="1716" name="Google Shape;1716;p43"/>
          <p:cNvSpPr/>
          <p:nvPr/>
        </p:nvSpPr>
        <p:spPr>
          <a:xfrm rot="-5400000">
            <a:off x="2476500" y="723900"/>
            <a:ext cx="228600" cy="1676400"/>
          </a:xfrm>
          <a:custGeom>
            <a:avLst/>
            <a:gdLst/>
            <a:ahLst/>
            <a:cxnLst/>
            <a:rect l="l" t="t" r="r" b="b"/>
            <a:pathLst>
              <a:path w="144" h="1056" extrusionOk="0">
                <a:moveTo>
                  <a:pt x="0" y="1056"/>
                </a:moveTo>
                <a:cubicBezTo>
                  <a:pt x="72" y="880"/>
                  <a:pt x="144" y="704"/>
                  <a:pt x="144" y="528"/>
                </a:cubicBezTo>
                <a:cubicBezTo>
                  <a:pt x="144" y="352"/>
                  <a:pt x="72" y="176"/>
                  <a:pt x="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17" name="Google Shape;1717;p43"/>
          <p:cNvSpPr/>
          <p:nvPr/>
        </p:nvSpPr>
        <p:spPr>
          <a:xfrm>
            <a:off x="3429000" y="1676400"/>
            <a:ext cx="228600" cy="1676400"/>
          </a:xfrm>
          <a:custGeom>
            <a:avLst/>
            <a:gdLst/>
            <a:ahLst/>
            <a:cxnLst/>
            <a:rect l="l" t="t" r="r" b="b"/>
            <a:pathLst>
              <a:path w="144" h="1056" extrusionOk="0">
                <a:moveTo>
                  <a:pt x="0" y="1056"/>
                </a:moveTo>
                <a:cubicBezTo>
                  <a:pt x="72" y="880"/>
                  <a:pt x="144" y="704"/>
                  <a:pt x="144" y="528"/>
                </a:cubicBezTo>
                <a:cubicBezTo>
                  <a:pt x="144" y="352"/>
                  <a:pt x="72" y="176"/>
                  <a:pt x="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cxnSp>
        <p:nvCxnSpPr>
          <p:cNvPr id="1718" name="Google Shape;1718;p43"/>
          <p:cNvCxnSpPr/>
          <p:nvPr/>
        </p:nvCxnSpPr>
        <p:spPr>
          <a:xfrm rot="10800000" flipH="1">
            <a:off x="2590800" y="1676400"/>
            <a:ext cx="838200" cy="1752600"/>
          </a:xfrm>
          <a:prstGeom prst="straightConnector1">
            <a:avLst/>
          </a:prstGeom>
          <a:noFill/>
          <a:ln w="9525" cap="flat" cmpd="sng">
            <a:solidFill>
              <a:schemeClr val="dk1"/>
            </a:solidFill>
            <a:prstDash val="solid"/>
            <a:round/>
            <a:headEnd type="none" w="med" len="med"/>
            <a:tailEnd type="none" w="med" len="med"/>
          </a:ln>
        </p:spPr>
      </p:cxnSp>
      <p:cxnSp>
        <p:nvCxnSpPr>
          <p:cNvPr id="1719" name="Google Shape;1719;p43"/>
          <p:cNvCxnSpPr/>
          <p:nvPr/>
        </p:nvCxnSpPr>
        <p:spPr>
          <a:xfrm>
            <a:off x="2590800" y="16764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20" name="Google Shape;1720;p43"/>
          <p:cNvCxnSpPr/>
          <p:nvPr/>
        </p:nvCxnSpPr>
        <p:spPr>
          <a:xfrm>
            <a:off x="3429000" y="1676400"/>
            <a:ext cx="0" cy="762000"/>
          </a:xfrm>
          <a:prstGeom prst="straightConnector1">
            <a:avLst/>
          </a:prstGeom>
          <a:noFill/>
          <a:ln w="9525" cap="flat" cmpd="sng">
            <a:solidFill>
              <a:schemeClr val="dk1"/>
            </a:solidFill>
            <a:prstDash val="solid"/>
            <a:round/>
            <a:headEnd type="none" w="med" len="med"/>
            <a:tailEnd type="none" w="med" len="med"/>
          </a:ln>
        </p:spPr>
      </p:cxnSp>
      <p:sp>
        <p:nvSpPr>
          <p:cNvPr id="1721" name="Google Shape;1721;p43"/>
          <p:cNvSpPr txBox="1"/>
          <p:nvPr/>
        </p:nvSpPr>
        <p:spPr>
          <a:xfrm>
            <a:off x="3332163" y="1660525"/>
            <a:ext cx="325437"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folHlink"/>
                </a:solidFill>
                <a:latin typeface="Arial"/>
                <a:ea typeface="Arial"/>
                <a:cs typeface="Arial"/>
                <a:sym typeface="Arial"/>
              </a:rPr>
              <a:t>q</a:t>
            </a:r>
            <a:endParaRPr/>
          </a:p>
        </p:txBody>
      </p:sp>
      <p:cxnSp>
        <p:nvCxnSpPr>
          <p:cNvPr id="1722" name="Google Shape;1722;p43"/>
          <p:cNvCxnSpPr/>
          <p:nvPr/>
        </p:nvCxnSpPr>
        <p:spPr>
          <a:xfrm rot="10800000">
            <a:off x="2590800" y="1676400"/>
            <a:ext cx="0" cy="838200"/>
          </a:xfrm>
          <a:prstGeom prst="straightConnector1">
            <a:avLst/>
          </a:prstGeom>
          <a:noFill/>
          <a:ln w="9525" cap="flat" cmpd="sng">
            <a:solidFill>
              <a:schemeClr val="dk1"/>
            </a:solidFill>
            <a:prstDash val="solid"/>
            <a:round/>
            <a:headEnd type="none" w="med" len="med"/>
            <a:tailEnd type="none" w="med" len="med"/>
          </a:ln>
        </p:spPr>
      </p:cxnSp>
      <p:cxnSp>
        <p:nvCxnSpPr>
          <p:cNvPr id="1723" name="Google Shape;1723;p43"/>
          <p:cNvCxnSpPr/>
          <p:nvPr/>
        </p:nvCxnSpPr>
        <p:spPr>
          <a:xfrm rot="10800000" flipH="1">
            <a:off x="2590800" y="1676400"/>
            <a:ext cx="838200" cy="838200"/>
          </a:xfrm>
          <a:prstGeom prst="straightConnector1">
            <a:avLst/>
          </a:prstGeom>
          <a:noFill/>
          <a:ln w="28575" cap="flat" cmpd="sng">
            <a:solidFill>
              <a:srgbClr val="FF0000"/>
            </a:solidFill>
            <a:prstDash val="solid"/>
            <a:round/>
            <a:headEnd type="none" w="med" len="med"/>
            <a:tailEnd type="none" w="med" len="med"/>
          </a:ln>
        </p:spPr>
      </p:cxnSp>
      <p:cxnSp>
        <p:nvCxnSpPr>
          <p:cNvPr id="1724" name="Google Shape;1724;p43"/>
          <p:cNvCxnSpPr/>
          <p:nvPr/>
        </p:nvCxnSpPr>
        <p:spPr>
          <a:xfrm rot="10800000">
            <a:off x="1752600" y="1676400"/>
            <a:ext cx="838200" cy="838200"/>
          </a:xfrm>
          <a:prstGeom prst="straightConnector1">
            <a:avLst/>
          </a:prstGeom>
          <a:noFill/>
          <a:ln w="9525" cap="flat" cmpd="sng">
            <a:solidFill>
              <a:schemeClr val="dk1"/>
            </a:solidFill>
            <a:prstDash val="solid"/>
            <a:round/>
            <a:headEnd type="none" w="med" len="med"/>
            <a:tailEnd type="none" w="med" len="med"/>
          </a:ln>
        </p:spPr>
      </p:cxnSp>
      <p:cxnSp>
        <p:nvCxnSpPr>
          <p:cNvPr id="1725" name="Google Shape;1725;p43"/>
          <p:cNvCxnSpPr/>
          <p:nvPr/>
        </p:nvCxnSpPr>
        <p:spPr>
          <a:xfrm rot="10800000">
            <a:off x="1752600" y="25146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26" name="Google Shape;1726;p43"/>
          <p:cNvCxnSpPr/>
          <p:nvPr/>
        </p:nvCxnSpPr>
        <p:spPr>
          <a:xfrm flipH="1">
            <a:off x="1752600" y="2514600"/>
            <a:ext cx="838200" cy="838200"/>
          </a:xfrm>
          <a:prstGeom prst="straightConnector1">
            <a:avLst/>
          </a:prstGeom>
          <a:noFill/>
          <a:ln w="9525" cap="flat" cmpd="sng">
            <a:solidFill>
              <a:schemeClr val="dk1"/>
            </a:solidFill>
            <a:prstDash val="solid"/>
            <a:round/>
            <a:headEnd type="none" w="med" len="med"/>
            <a:tailEnd type="none" w="med" len="med"/>
          </a:ln>
        </p:spPr>
      </p:cxnSp>
      <p:cxnSp>
        <p:nvCxnSpPr>
          <p:cNvPr id="1727" name="Google Shape;1727;p43"/>
          <p:cNvCxnSpPr/>
          <p:nvPr/>
        </p:nvCxnSpPr>
        <p:spPr>
          <a:xfrm>
            <a:off x="2590800" y="25146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28" name="Google Shape;1728;p43"/>
          <p:cNvCxnSpPr/>
          <p:nvPr/>
        </p:nvCxnSpPr>
        <p:spPr>
          <a:xfrm>
            <a:off x="2590800" y="2514600"/>
            <a:ext cx="0" cy="838200"/>
          </a:xfrm>
          <a:prstGeom prst="straightConnector1">
            <a:avLst/>
          </a:prstGeom>
          <a:noFill/>
          <a:ln w="9525" cap="flat" cmpd="sng">
            <a:solidFill>
              <a:schemeClr val="dk1"/>
            </a:solidFill>
            <a:prstDash val="solid"/>
            <a:round/>
            <a:headEnd type="none" w="med" len="med"/>
            <a:tailEnd type="none" w="med" len="med"/>
          </a:ln>
        </p:spPr>
      </p:cxnSp>
      <p:cxnSp>
        <p:nvCxnSpPr>
          <p:cNvPr id="1729" name="Google Shape;1729;p43"/>
          <p:cNvCxnSpPr/>
          <p:nvPr/>
        </p:nvCxnSpPr>
        <p:spPr>
          <a:xfrm>
            <a:off x="2590800" y="2514600"/>
            <a:ext cx="838200" cy="838200"/>
          </a:xfrm>
          <a:prstGeom prst="straightConnector1">
            <a:avLst/>
          </a:prstGeom>
          <a:noFill/>
          <a:ln w="9525" cap="flat" cmpd="sng">
            <a:solidFill>
              <a:schemeClr val="dk1"/>
            </a:solidFill>
            <a:prstDash val="solid"/>
            <a:round/>
            <a:headEnd type="none" w="med" len="med"/>
            <a:tailEnd type="none" w="med" len="med"/>
          </a:ln>
        </p:spPr>
      </p:cxnSp>
      <p:sp>
        <p:nvSpPr>
          <p:cNvPr id="1730" name="Google Shape;1730;p4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Images as graphs</a:t>
            </a:r>
            <a:endParaRPr/>
          </a:p>
        </p:txBody>
      </p:sp>
      <p:sp>
        <p:nvSpPr>
          <p:cNvPr id="1731" name="Google Shape;1731;p43"/>
          <p:cNvSpPr txBox="1">
            <a:spLocks noGrp="1"/>
          </p:cNvSpPr>
          <p:nvPr>
            <p:ph type="body" idx="1"/>
          </p:nvPr>
        </p:nvSpPr>
        <p:spPr>
          <a:xfrm>
            <a:off x="685800" y="4267200"/>
            <a:ext cx="8077200" cy="2590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i="1"/>
              <a:t>Fully-connected</a:t>
            </a:r>
            <a:r>
              <a:rPr lang="en-US"/>
              <a:t> graph</a:t>
            </a:r>
            <a:endParaRPr/>
          </a:p>
          <a:p>
            <a:pPr marL="742950" lvl="1" indent="-285750" algn="l" rtl="0">
              <a:spcBef>
                <a:spcPts val="400"/>
              </a:spcBef>
              <a:spcAft>
                <a:spcPts val="0"/>
              </a:spcAft>
              <a:buClr>
                <a:schemeClr val="dk1"/>
              </a:buClr>
              <a:buSzPts val="2000"/>
              <a:buFont typeface="Arial"/>
              <a:buChar char="•"/>
            </a:pPr>
            <a:r>
              <a:rPr lang="en-US"/>
              <a:t>node for every pixel</a:t>
            </a:r>
            <a:endParaRPr/>
          </a:p>
          <a:p>
            <a:pPr marL="742950" lvl="1" indent="-285750" algn="l" rtl="0">
              <a:spcBef>
                <a:spcPts val="400"/>
              </a:spcBef>
              <a:spcAft>
                <a:spcPts val="0"/>
              </a:spcAft>
              <a:buClr>
                <a:schemeClr val="dk1"/>
              </a:buClr>
              <a:buSzPts val="2000"/>
              <a:buFont typeface="Arial"/>
              <a:buChar char="•"/>
            </a:pPr>
            <a:r>
              <a:rPr lang="en-US"/>
              <a:t>link between </a:t>
            </a:r>
            <a:r>
              <a:rPr lang="en-US" i="1"/>
              <a:t>every</a:t>
            </a:r>
            <a:r>
              <a:rPr lang="en-US"/>
              <a:t> pair of pixels, </a:t>
            </a:r>
            <a:r>
              <a:rPr lang="en-US" b="1">
                <a:solidFill>
                  <a:schemeClr val="folHlink"/>
                </a:solidFill>
              </a:rPr>
              <a:t>p</a:t>
            </a:r>
            <a:r>
              <a:rPr lang="en-US"/>
              <a:t>,</a:t>
            </a:r>
            <a:r>
              <a:rPr lang="en-US" b="1">
                <a:solidFill>
                  <a:schemeClr val="folHlink"/>
                </a:solidFill>
              </a:rPr>
              <a:t>q</a:t>
            </a:r>
            <a:endParaRPr/>
          </a:p>
          <a:p>
            <a:pPr marL="742950" lvl="1" indent="-285750" algn="l" rtl="0">
              <a:spcBef>
                <a:spcPts val="400"/>
              </a:spcBef>
              <a:spcAft>
                <a:spcPts val="0"/>
              </a:spcAft>
              <a:buClr>
                <a:schemeClr val="dk1"/>
              </a:buClr>
              <a:buSzPts val="2000"/>
              <a:buFont typeface="Arial"/>
              <a:buChar char="•"/>
            </a:pPr>
            <a:r>
              <a:rPr lang="en-US"/>
              <a:t>cost </a:t>
            </a:r>
            <a:r>
              <a:rPr lang="en-US" b="1">
                <a:solidFill>
                  <a:srgbClr val="FF0000"/>
                </a:solidFill>
              </a:rPr>
              <a:t>c</a:t>
            </a:r>
            <a:r>
              <a:rPr lang="en-US" b="1" baseline="-25000">
                <a:solidFill>
                  <a:srgbClr val="FF0000"/>
                </a:solidFill>
              </a:rPr>
              <a:t>pq</a:t>
            </a:r>
            <a:r>
              <a:rPr lang="en-US"/>
              <a:t> for each link</a:t>
            </a:r>
            <a:endParaRPr/>
          </a:p>
          <a:p>
            <a:pPr marL="1143000" lvl="2" indent="-228600" algn="l" rtl="0">
              <a:spcBef>
                <a:spcPts val="360"/>
              </a:spcBef>
              <a:spcAft>
                <a:spcPts val="0"/>
              </a:spcAft>
              <a:buClr>
                <a:srgbClr val="FF0000"/>
              </a:buClr>
              <a:buSzPts val="1800"/>
              <a:buFont typeface="Arial"/>
              <a:buChar char="–"/>
            </a:pPr>
            <a:r>
              <a:rPr lang="en-US" b="1">
                <a:solidFill>
                  <a:srgbClr val="FF0000"/>
                </a:solidFill>
              </a:rPr>
              <a:t>c</a:t>
            </a:r>
            <a:r>
              <a:rPr lang="en-US" b="1" baseline="-25000">
                <a:solidFill>
                  <a:srgbClr val="FF0000"/>
                </a:solidFill>
              </a:rPr>
              <a:t>pq</a:t>
            </a:r>
            <a:r>
              <a:rPr lang="en-US"/>
              <a:t> measures </a:t>
            </a:r>
            <a:r>
              <a:rPr lang="en-US" i="1"/>
              <a:t>similarity</a:t>
            </a:r>
            <a:endParaRPr/>
          </a:p>
          <a:p>
            <a:pPr marL="1600200" lvl="3" indent="-228600" algn="l" rtl="0">
              <a:spcBef>
                <a:spcPts val="320"/>
              </a:spcBef>
              <a:spcAft>
                <a:spcPts val="0"/>
              </a:spcAft>
              <a:buClr>
                <a:schemeClr val="dk1"/>
              </a:buClr>
              <a:buSzPts val="1600"/>
              <a:buFont typeface="Arial"/>
              <a:buChar char="»"/>
            </a:pPr>
            <a:r>
              <a:rPr lang="en-US"/>
              <a:t>similarity is </a:t>
            </a:r>
            <a:r>
              <a:rPr lang="en-US" i="1"/>
              <a:t>inversely proportional</a:t>
            </a:r>
            <a:r>
              <a:rPr lang="en-US"/>
              <a:t> to difference in color and position</a:t>
            </a:r>
            <a:endParaRPr/>
          </a:p>
          <a:p>
            <a:pPr marL="1600200" lvl="3" indent="-228600" algn="l" rtl="0">
              <a:spcBef>
                <a:spcPts val="320"/>
              </a:spcBef>
              <a:spcAft>
                <a:spcPts val="0"/>
              </a:spcAft>
              <a:buClr>
                <a:schemeClr val="dk1"/>
              </a:buClr>
              <a:buSzPts val="1600"/>
              <a:buFont typeface="Arial"/>
              <a:buChar char="»"/>
            </a:pPr>
            <a:r>
              <a:rPr lang="en-US"/>
              <a:t>this is different than the costs for intelligent scissors</a:t>
            </a:r>
            <a:endParaRPr/>
          </a:p>
        </p:txBody>
      </p:sp>
      <p:sp>
        <p:nvSpPr>
          <p:cNvPr id="1732" name="Google Shape;1732;p43"/>
          <p:cNvSpPr/>
          <p:nvPr/>
        </p:nvSpPr>
        <p:spPr>
          <a:xfrm>
            <a:off x="2520950" y="2444750"/>
            <a:ext cx="139700" cy="139700"/>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33" name="Google Shape;1733;p43"/>
          <p:cNvSpPr/>
          <p:nvPr/>
        </p:nvSpPr>
        <p:spPr>
          <a:xfrm>
            <a:off x="2520950" y="1600200"/>
            <a:ext cx="139700" cy="141288"/>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34" name="Google Shape;1734;p43"/>
          <p:cNvSpPr/>
          <p:nvPr/>
        </p:nvSpPr>
        <p:spPr>
          <a:xfrm>
            <a:off x="3363913" y="2444750"/>
            <a:ext cx="141287" cy="1397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35" name="Google Shape;1735;p43"/>
          <p:cNvSpPr/>
          <p:nvPr/>
        </p:nvSpPr>
        <p:spPr>
          <a:xfrm>
            <a:off x="2520950" y="3287713"/>
            <a:ext cx="139700" cy="141287"/>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36" name="Google Shape;1736;p43"/>
          <p:cNvSpPr/>
          <p:nvPr/>
        </p:nvSpPr>
        <p:spPr>
          <a:xfrm>
            <a:off x="1676400" y="2444750"/>
            <a:ext cx="141288" cy="1397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37" name="Google Shape;1737;p43"/>
          <p:cNvSpPr/>
          <p:nvPr/>
        </p:nvSpPr>
        <p:spPr>
          <a:xfrm>
            <a:off x="3363913" y="1600200"/>
            <a:ext cx="141287" cy="141288"/>
          </a:xfrm>
          <a:prstGeom prst="ellipse">
            <a:avLst/>
          </a:prstGeom>
          <a:solidFill>
            <a:schemeClr val="folHlink"/>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38" name="Google Shape;1738;p43"/>
          <p:cNvSpPr/>
          <p:nvPr/>
        </p:nvSpPr>
        <p:spPr>
          <a:xfrm>
            <a:off x="3363913" y="3287713"/>
            <a:ext cx="141287" cy="141287"/>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39" name="Google Shape;1739;p43"/>
          <p:cNvSpPr/>
          <p:nvPr/>
        </p:nvSpPr>
        <p:spPr>
          <a:xfrm>
            <a:off x="1676400" y="3287713"/>
            <a:ext cx="141288" cy="141287"/>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40" name="Google Shape;1740;p43"/>
          <p:cNvSpPr/>
          <p:nvPr/>
        </p:nvSpPr>
        <p:spPr>
          <a:xfrm>
            <a:off x="1676400" y="1600200"/>
            <a:ext cx="141288" cy="141288"/>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41" name="Google Shape;1741;p43"/>
          <p:cNvSpPr txBox="1"/>
          <p:nvPr/>
        </p:nvSpPr>
        <p:spPr>
          <a:xfrm>
            <a:off x="2514600" y="2498725"/>
            <a:ext cx="325438"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folHlink"/>
                </a:solidFill>
                <a:latin typeface="Arial"/>
                <a:ea typeface="Arial"/>
                <a:cs typeface="Arial"/>
                <a:sym typeface="Arial"/>
              </a:rPr>
              <a:t>p</a:t>
            </a:r>
            <a:endParaRPr/>
          </a:p>
        </p:txBody>
      </p:sp>
      <p:sp>
        <p:nvSpPr>
          <p:cNvPr id="1742" name="Google Shape;1742;p43"/>
          <p:cNvSpPr txBox="1"/>
          <p:nvPr/>
        </p:nvSpPr>
        <p:spPr>
          <a:xfrm>
            <a:off x="2895600" y="1965325"/>
            <a:ext cx="685800" cy="396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rgbClr val="FF0000"/>
                </a:solidFill>
                <a:latin typeface="Arial"/>
                <a:ea typeface="Arial"/>
                <a:cs typeface="Arial"/>
                <a:sym typeface="Arial"/>
              </a:rPr>
              <a:t>C</a:t>
            </a:r>
            <a:r>
              <a:rPr lang="en-US" sz="2000" b="1" baseline="-25000">
                <a:solidFill>
                  <a:srgbClr val="FF0000"/>
                </a:solidFill>
                <a:latin typeface="Arial"/>
                <a:ea typeface="Arial"/>
                <a:cs typeface="Arial"/>
                <a:sym typeface="Arial"/>
              </a:rPr>
              <a:t>pq</a:t>
            </a:r>
            <a:endParaRPr/>
          </a:p>
        </p:txBody>
      </p:sp>
      <p:cxnSp>
        <p:nvCxnSpPr>
          <p:cNvPr id="1743" name="Google Shape;1743;p43"/>
          <p:cNvCxnSpPr/>
          <p:nvPr/>
        </p:nvCxnSpPr>
        <p:spPr>
          <a:xfrm>
            <a:off x="1752600" y="1676400"/>
            <a:ext cx="0" cy="838200"/>
          </a:xfrm>
          <a:prstGeom prst="straightConnector1">
            <a:avLst/>
          </a:prstGeom>
          <a:noFill/>
          <a:ln w="9525" cap="flat" cmpd="sng">
            <a:solidFill>
              <a:schemeClr val="dk1"/>
            </a:solidFill>
            <a:prstDash val="solid"/>
            <a:round/>
            <a:headEnd type="none" w="med" len="med"/>
            <a:tailEnd type="none" w="med" len="med"/>
          </a:ln>
        </p:spPr>
      </p:cxnSp>
      <p:cxnSp>
        <p:nvCxnSpPr>
          <p:cNvPr id="1744" name="Google Shape;1744;p43"/>
          <p:cNvCxnSpPr/>
          <p:nvPr/>
        </p:nvCxnSpPr>
        <p:spPr>
          <a:xfrm>
            <a:off x="1752600" y="2514600"/>
            <a:ext cx="0" cy="838200"/>
          </a:xfrm>
          <a:prstGeom prst="straightConnector1">
            <a:avLst/>
          </a:prstGeom>
          <a:noFill/>
          <a:ln w="9525" cap="flat" cmpd="sng">
            <a:solidFill>
              <a:schemeClr val="dk1"/>
            </a:solidFill>
            <a:prstDash val="solid"/>
            <a:round/>
            <a:headEnd type="none" w="med" len="med"/>
            <a:tailEnd type="none" w="med" len="med"/>
          </a:ln>
        </p:spPr>
      </p:cxnSp>
      <p:cxnSp>
        <p:nvCxnSpPr>
          <p:cNvPr id="1745" name="Google Shape;1745;p43"/>
          <p:cNvCxnSpPr/>
          <p:nvPr/>
        </p:nvCxnSpPr>
        <p:spPr>
          <a:xfrm>
            <a:off x="1752600" y="33528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46" name="Google Shape;1746;p43"/>
          <p:cNvCxnSpPr/>
          <p:nvPr/>
        </p:nvCxnSpPr>
        <p:spPr>
          <a:xfrm rot="10800000">
            <a:off x="2590800" y="33528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47" name="Google Shape;1747;p43"/>
          <p:cNvCxnSpPr/>
          <p:nvPr/>
        </p:nvCxnSpPr>
        <p:spPr>
          <a:xfrm>
            <a:off x="3429000" y="2514600"/>
            <a:ext cx="0" cy="838200"/>
          </a:xfrm>
          <a:prstGeom prst="straightConnector1">
            <a:avLst/>
          </a:prstGeom>
          <a:noFill/>
          <a:ln w="9525" cap="flat" cmpd="sng">
            <a:solidFill>
              <a:schemeClr val="dk1"/>
            </a:solidFill>
            <a:prstDash val="solid"/>
            <a:round/>
            <a:headEnd type="none" w="med" len="med"/>
            <a:tailEnd type="none" w="med" len="med"/>
          </a:ln>
        </p:spPr>
      </p:cxnSp>
      <p:cxnSp>
        <p:nvCxnSpPr>
          <p:cNvPr id="1748" name="Google Shape;1748;p43"/>
          <p:cNvCxnSpPr/>
          <p:nvPr/>
        </p:nvCxnSpPr>
        <p:spPr>
          <a:xfrm>
            <a:off x="1752600" y="16764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49" name="Google Shape;1749;p43"/>
          <p:cNvCxnSpPr/>
          <p:nvPr/>
        </p:nvCxnSpPr>
        <p:spPr>
          <a:xfrm>
            <a:off x="1752600" y="1676400"/>
            <a:ext cx="838200" cy="1676400"/>
          </a:xfrm>
          <a:prstGeom prst="straightConnector1">
            <a:avLst/>
          </a:prstGeom>
          <a:noFill/>
          <a:ln w="9525" cap="flat" cmpd="sng">
            <a:solidFill>
              <a:schemeClr val="dk1"/>
            </a:solidFill>
            <a:prstDash val="solid"/>
            <a:round/>
            <a:headEnd type="none" w="med" len="med"/>
            <a:tailEnd type="none" w="med" len="med"/>
          </a:ln>
        </p:spPr>
      </p:cxnSp>
      <p:cxnSp>
        <p:nvCxnSpPr>
          <p:cNvPr id="1750" name="Google Shape;1750;p43"/>
          <p:cNvCxnSpPr/>
          <p:nvPr/>
        </p:nvCxnSpPr>
        <p:spPr>
          <a:xfrm flipH="1">
            <a:off x="1752600" y="1676400"/>
            <a:ext cx="838200" cy="1676400"/>
          </a:xfrm>
          <a:prstGeom prst="straightConnector1">
            <a:avLst/>
          </a:prstGeom>
          <a:noFill/>
          <a:ln w="9525" cap="flat" cmpd="sng">
            <a:solidFill>
              <a:schemeClr val="dk1"/>
            </a:solidFill>
            <a:prstDash val="solid"/>
            <a:round/>
            <a:headEnd type="none" w="med" len="med"/>
            <a:tailEnd type="none" w="med" len="med"/>
          </a:ln>
        </p:spPr>
      </p:cxnSp>
      <p:cxnSp>
        <p:nvCxnSpPr>
          <p:cNvPr id="1751" name="Google Shape;1751;p43"/>
          <p:cNvCxnSpPr/>
          <p:nvPr/>
        </p:nvCxnSpPr>
        <p:spPr>
          <a:xfrm>
            <a:off x="2590800" y="1600200"/>
            <a:ext cx="838200" cy="1752600"/>
          </a:xfrm>
          <a:prstGeom prst="straightConnector1">
            <a:avLst/>
          </a:prstGeom>
          <a:noFill/>
          <a:ln w="9525" cap="flat" cmpd="sng">
            <a:solidFill>
              <a:schemeClr val="dk1"/>
            </a:solidFill>
            <a:prstDash val="solid"/>
            <a:round/>
            <a:headEnd type="none" w="med" len="med"/>
            <a:tailEnd type="none" w="med" len="med"/>
          </a:ln>
        </p:spPr>
      </p:cxnSp>
      <p:cxnSp>
        <p:nvCxnSpPr>
          <p:cNvPr id="1752" name="Google Shape;1752;p43"/>
          <p:cNvCxnSpPr/>
          <p:nvPr/>
        </p:nvCxnSpPr>
        <p:spPr>
          <a:xfrm>
            <a:off x="1752600" y="1676400"/>
            <a:ext cx="1676400" cy="838200"/>
          </a:xfrm>
          <a:prstGeom prst="straightConnector1">
            <a:avLst/>
          </a:prstGeom>
          <a:noFill/>
          <a:ln w="9525" cap="flat" cmpd="sng">
            <a:solidFill>
              <a:schemeClr val="dk1"/>
            </a:solidFill>
            <a:prstDash val="solid"/>
            <a:round/>
            <a:headEnd type="none" w="med" len="med"/>
            <a:tailEnd type="none" w="med" len="med"/>
          </a:ln>
        </p:spPr>
      </p:cxnSp>
      <p:cxnSp>
        <p:nvCxnSpPr>
          <p:cNvPr id="1753" name="Google Shape;1753;p43"/>
          <p:cNvCxnSpPr/>
          <p:nvPr/>
        </p:nvCxnSpPr>
        <p:spPr>
          <a:xfrm rot="10800000" flipH="1">
            <a:off x="1752600" y="2514600"/>
            <a:ext cx="1676400" cy="838200"/>
          </a:xfrm>
          <a:prstGeom prst="straightConnector1">
            <a:avLst/>
          </a:prstGeom>
          <a:noFill/>
          <a:ln w="9525" cap="flat" cmpd="sng">
            <a:solidFill>
              <a:schemeClr val="dk1"/>
            </a:solidFill>
            <a:prstDash val="solid"/>
            <a:round/>
            <a:headEnd type="none" w="med" len="med"/>
            <a:tailEnd type="none" w="med" len="med"/>
          </a:ln>
        </p:spPr>
      </p:cxnSp>
      <p:cxnSp>
        <p:nvCxnSpPr>
          <p:cNvPr id="1754" name="Google Shape;1754;p43"/>
          <p:cNvCxnSpPr/>
          <p:nvPr/>
        </p:nvCxnSpPr>
        <p:spPr>
          <a:xfrm rot="10800000">
            <a:off x="1752600" y="2514600"/>
            <a:ext cx="1676400" cy="838200"/>
          </a:xfrm>
          <a:prstGeom prst="straightConnector1">
            <a:avLst/>
          </a:prstGeom>
          <a:noFill/>
          <a:ln w="9525" cap="flat" cmpd="sng">
            <a:solidFill>
              <a:schemeClr val="dk1"/>
            </a:solidFill>
            <a:prstDash val="solid"/>
            <a:round/>
            <a:headEnd type="none" w="med" len="med"/>
            <a:tailEnd type="none" w="med" len="med"/>
          </a:ln>
        </p:spPr>
      </p:cxnSp>
      <p:cxnSp>
        <p:nvCxnSpPr>
          <p:cNvPr id="1755" name="Google Shape;1755;p43"/>
          <p:cNvCxnSpPr/>
          <p:nvPr/>
        </p:nvCxnSpPr>
        <p:spPr>
          <a:xfrm rot="10800000" flipH="1">
            <a:off x="1752600" y="1676400"/>
            <a:ext cx="1676400" cy="838200"/>
          </a:xfrm>
          <a:prstGeom prst="straightConnector1">
            <a:avLst/>
          </a:prstGeom>
          <a:noFill/>
          <a:ln w="9525" cap="flat" cmpd="sng">
            <a:solidFill>
              <a:schemeClr val="dk1"/>
            </a:solidFill>
            <a:prstDash val="solid"/>
            <a:round/>
            <a:headEnd type="none" w="med" len="med"/>
            <a:tailEnd type="none" w="med" len="med"/>
          </a:ln>
        </p:spPr>
      </p:cxnSp>
      <p:sp>
        <p:nvSpPr>
          <p:cNvPr id="1756" name="Google Shape;1756;p43"/>
          <p:cNvSpPr/>
          <p:nvPr/>
        </p:nvSpPr>
        <p:spPr>
          <a:xfrm flipH="1">
            <a:off x="1524000" y="1676400"/>
            <a:ext cx="228600" cy="1676400"/>
          </a:xfrm>
          <a:custGeom>
            <a:avLst/>
            <a:gdLst/>
            <a:ahLst/>
            <a:cxnLst/>
            <a:rect l="l" t="t" r="r" b="b"/>
            <a:pathLst>
              <a:path w="144" h="1056" extrusionOk="0">
                <a:moveTo>
                  <a:pt x="0" y="1056"/>
                </a:moveTo>
                <a:cubicBezTo>
                  <a:pt x="72" y="880"/>
                  <a:pt x="144" y="704"/>
                  <a:pt x="144" y="528"/>
                </a:cubicBezTo>
                <a:cubicBezTo>
                  <a:pt x="144" y="352"/>
                  <a:pt x="72" y="176"/>
                  <a:pt x="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57" name="Google Shape;1757;p43"/>
          <p:cNvSpPr/>
          <p:nvPr/>
        </p:nvSpPr>
        <p:spPr>
          <a:xfrm rot="-5400000" flipH="1">
            <a:off x="2476500" y="2628900"/>
            <a:ext cx="228600" cy="1676400"/>
          </a:xfrm>
          <a:custGeom>
            <a:avLst/>
            <a:gdLst/>
            <a:ahLst/>
            <a:cxnLst/>
            <a:rect l="l" t="t" r="r" b="b"/>
            <a:pathLst>
              <a:path w="144" h="1056" extrusionOk="0">
                <a:moveTo>
                  <a:pt x="0" y="1056"/>
                </a:moveTo>
                <a:cubicBezTo>
                  <a:pt x="72" y="880"/>
                  <a:pt x="144" y="704"/>
                  <a:pt x="144" y="528"/>
                </a:cubicBezTo>
                <a:cubicBezTo>
                  <a:pt x="144" y="352"/>
                  <a:pt x="72" y="176"/>
                  <a:pt x="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pic>
        <p:nvPicPr>
          <p:cNvPr id="1758" name="Google Shape;1758;p43"/>
          <p:cNvPicPr preferRelativeResize="0"/>
          <p:nvPr/>
        </p:nvPicPr>
        <p:blipFill rotWithShape="1">
          <a:blip r:embed="rId3">
            <a:alphaModFix/>
          </a:blip>
          <a:srcRect/>
          <a:stretch/>
        </p:blipFill>
        <p:spPr>
          <a:xfrm>
            <a:off x="5029200" y="1133475"/>
            <a:ext cx="2533650" cy="3362325"/>
          </a:xfrm>
          <a:prstGeom prst="rect">
            <a:avLst/>
          </a:prstGeom>
          <a:noFill/>
          <a:ln>
            <a:noFill/>
          </a:ln>
        </p:spPr>
      </p:pic>
      <p:grpSp>
        <p:nvGrpSpPr>
          <p:cNvPr id="1759" name="Google Shape;1759;p43"/>
          <p:cNvGrpSpPr/>
          <p:nvPr/>
        </p:nvGrpSpPr>
        <p:grpSpPr>
          <a:xfrm>
            <a:off x="5962650" y="2181225"/>
            <a:ext cx="514350" cy="552450"/>
            <a:chOff x="2592" y="1476"/>
            <a:chExt cx="324" cy="348"/>
          </a:xfrm>
        </p:grpSpPr>
        <p:sp>
          <p:nvSpPr>
            <p:cNvPr id="1760" name="Google Shape;1760;p43"/>
            <p:cNvSpPr/>
            <p:nvPr/>
          </p:nvSpPr>
          <p:spPr>
            <a:xfrm>
              <a:off x="2592" y="1776"/>
              <a:ext cx="48" cy="48"/>
            </a:xfrm>
            <a:prstGeom prst="rect">
              <a:avLst/>
            </a:prstGeom>
            <a:solidFill>
              <a:srgbClr val="FF0000"/>
            </a:solidFill>
            <a:ln w="12700" cap="sq"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61" name="Google Shape;1761;p43"/>
            <p:cNvSpPr/>
            <p:nvPr/>
          </p:nvSpPr>
          <p:spPr>
            <a:xfrm>
              <a:off x="2832" y="1488"/>
              <a:ext cx="48" cy="48"/>
            </a:xfrm>
            <a:prstGeom prst="rect">
              <a:avLst/>
            </a:prstGeom>
            <a:solidFill>
              <a:srgbClr val="FF0000"/>
            </a:solidFill>
            <a:ln w="12700" cap="sq"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cxnSp>
          <p:nvCxnSpPr>
            <p:cNvPr id="1762" name="Google Shape;1762;p43"/>
            <p:cNvCxnSpPr>
              <a:stCxn id="1760" idx="0"/>
              <a:endCxn id="1761" idx="1"/>
            </p:cNvCxnSpPr>
            <p:nvPr/>
          </p:nvCxnSpPr>
          <p:spPr>
            <a:xfrm rot="10800000" flipH="1">
              <a:off x="2616" y="1476"/>
              <a:ext cx="300" cy="300"/>
            </a:xfrm>
            <a:prstGeom prst="straightConnector1">
              <a:avLst/>
            </a:prstGeom>
            <a:noFill/>
            <a:ln w="28575" cap="sq" cmpd="sng">
              <a:solidFill>
                <a:srgbClr val="FFFF00"/>
              </a:solidFill>
              <a:prstDash val="solid"/>
              <a:round/>
              <a:headEnd type="none" w="sm" len="sm"/>
              <a:tailEnd type="none" w="sm" len="sm"/>
            </a:ln>
          </p:spPr>
        </p:cxnSp>
      </p:grpSp>
      <p:sp>
        <p:nvSpPr>
          <p:cNvPr id="1763" name="Google Shape;1763;p43"/>
          <p:cNvSpPr txBox="1"/>
          <p:nvPr/>
        </p:nvSpPr>
        <p:spPr>
          <a:xfrm>
            <a:off x="6115050" y="2286000"/>
            <a:ext cx="609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FF00"/>
                </a:solidFill>
                <a:latin typeface="Comic Sans MS"/>
                <a:ea typeface="Comic Sans MS"/>
                <a:cs typeface="Comic Sans MS"/>
                <a:sym typeface="Comic Sans MS"/>
              </a:rPr>
              <a:t>c</a:t>
            </a:r>
            <a:endParaRPr sz="1800">
              <a:solidFill>
                <a:srgbClr val="FFFF00"/>
              </a:solidFill>
              <a:latin typeface="Comic Sans MS"/>
              <a:ea typeface="Comic Sans MS"/>
              <a:cs typeface="Comic Sans MS"/>
              <a:sym typeface="Comic Sans M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Google Shape;1768;p44"/>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Images as graphs</a:t>
            </a:r>
            <a:endParaRPr/>
          </a:p>
        </p:txBody>
      </p:sp>
      <p:pic>
        <p:nvPicPr>
          <p:cNvPr id="1769" name="Google Shape;1769;p44"/>
          <p:cNvPicPr preferRelativeResize="0"/>
          <p:nvPr/>
        </p:nvPicPr>
        <p:blipFill rotWithShape="1">
          <a:blip r:embed="rId3">
            <a:alphaModFix/>
          </a:blip>
          <a:srcRect/>
          <a:stretch/>
        </p:blipFill>
        <p:spPr>
          <a:xfrm>
            <a:off x="466725" y="1319213"/>
            <a:ext cx="8210550" cy="42195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73"/>
        <p:cNvGrpSpPr/>
        <p:nvPr/>
      </p:nvGrpSpPr>
      <p:grpSpPr>
        <a:xfrm>
          <a:off x="0" y="0"/>
          <a:ext cx="0" cy="0"/>
          <a:chOff x="0" y="0"/>
          <a:chExt cx="0" cy="0"/>
        </a:xfrm>
      </p:grpSpPr>
      <p:sp>
        <p:nvSpPr>
          <p:cNvPr id="1774" name="Google Shape;1774;p45"/>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Images as graphs</a:t>
            </a:r>
            <a:endParaRPr/>
          </a:p>
        </p:txBody>
      </p:sp>
      <p:pic>
        <p:nvPicPr>
          <p:cNvPr id="1775" name="Google Shape;1775;p45"/>
          <p:cNvPicPr preferRelativeResize="0"/>
          <p:nvPr/>
        </p:nvPicPr>
        <p:blipFill rotWithShape="1">
          <a:blip r:embed="rId3">
            <a:alphaModFix/>
          </a:blip>
          <a:srcRect/>
          <a:stretch/>
        </p:blipFill>
        <p:spPr>
          <a:xfrm>
            <a:off x="1066800" y="1171575"/>
            <a:ext cx="6411913" cy="50768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779"/>
        <p:cNvGrpSpPr/>
        <p:nvPr/>
      </p:nvGrpSpPr>
      <p:grpSpPr>
        <a:xfrm>
          <a:off x="0" y="0"/>
          <a:ext cx="0" cy="0"/>
          <a:chOff x="0" y="0"/>
          <a:chExt cx="0" cy="0"/>
        </a:xfrm>
      </p:grpSpPr>
      <p:cxnSp>
        <p:nvCxnSpPr>
          <p:cNvPr id="1780" name="Google Shape;1780;p46"/>
          <p:cNvCxnSpPr/>
          <p:nvPr/>
        </p:nvCxnSpPr>
        <p:spPr>
          <a:xfrm rot="10800000" flipH="1">
            <a:off x="2590800" y="1676400"/>
            <a:ext cx="838200" cy="1752600"/>
          </a:xfrm>
          <a:prstGeom prst="straightConnector1">
            <a:avLst/>
          </a:prstGeom>
          <a:noFill/>
          <a:ln w="9525" cap="flat" cmpd="sng">
            <a:solidFill>
              <a:schemeClr val="dk1"/>
            </a:solidFill>
            <a:prstDash val="solid"/>
            <a:round/>
            <a:headEnd type="none" w="med" len="med"/>
            <a:tailEnd type="none" w="med" len="med"/>
          </a:ln>
        </p:spPr>
      </p:cxnSp>
      <p:cxnSp>
        <p:nvCxnSpPr>
          <p:cNvPr id="1781" name="Google Shape;1781;p46"/>
          <p:cNvCxnSpPr/>
          <p:nvPr/>
        </p:nvCxnSpPr>
        <p:spPr>
          <a:xfrm>
            <a:off x="3429000" y="1676400"/>
            <a:ext cx="0" cy="762000"/>
          </a:xfrm>
          <a:prstGeom prst="straightConnector1">
            <a:avLst/>
          </a:prstGeom>
          <a:noFill/>
          <a:ln w="9525" cap="flat" cmpd="sng">
            <a:solidFill>
              <a:schemeClr val="dk1"/>
            </a:solidFill>
            <a:prstDash val="solid"/>
            <a:round/>
            <a:headEnd type="none" w="med" len="med"/>
            <a:tailEnd type="none" w="med" len="med"/>
          </a:ln>
        </p:spPr>
      </p:cxnSp>
      <p:cxnSp>
        <p:nvCxnSpPr>
          <p:cNvPr id="1782" name="Google Shape;1782;p46"/>
          <p:cNvCxnSpPr/>
          <p:nvPr/>
        </p:nvCxnSpPr>
        <p:spPr>
          <a:xfrm rot="10800000" flipH="1">
            <a:off x="2590800" y="1676400"/>
            <a:ext cx="838200" cy="838200"/>
          </a:xfrm>
          <a:prstGeom prst="straightConnector1">
            <a:avLst/>
          </a:prstGeom>
          <a:noFill/>
          <a:ln w="12700" cap="flat" cmpd="sng">
            <a:solidFill>
              <a:schemeClr val="dk1"/>
            </a:solidFill>
            <a:prstDash val="solid"/>
            <a:round/>
            <a:headEnd type="none" w="med" len="med"/>
            <a:tailEnd type="none" w="med" len="med"/>
          </a:ln>
        </p:spPr>
      </p:cxnSp>
      <p:cxnSp>
        <p:nvCxnSpPr>
          <p:cNvPr id="1783" name="Google Shape;1783;p46"/>
          <p:cNvCxnSpPr/>
          <p:nvPr/>
        </p:nvCxnSpPr>
        <p:spPr>
          <a:xfrm>
            <a:off x="2590800" y="25146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84" name="Google Shape;1784;p46"/>
          <p:cNvCxnSpPr/>
          <p:nvPr/>
        </p:nvCxnSpPr>
        <p:spPr>
          <a:xfrm>
            <a:off x="2590800" y="2514600"/>
            <a:ext cx="0" cy="838200"/>
          </a:xfrm>
          <a:prstGeom prst="straightConnector1">
            <a:avLst/>
          </a:prstGeom>
          <a:noFill/>
          <a:ln w="9525" cap="flat" cmpd="sng">
            <a:solidFill>
              <a:schemeClr val="dk1"/>
            </a:solidFill>
            <a:prstDash val="solid"/>
            <a:round/>
            <a:headEnd type="none" w="med" len="med"/>
            <a:tailEnd type="none" w="med" len="med"/>
          </a:ln>
        </p:spPr>
      </p:cxnSp>
      <p:sp>
        <p:nvSpPr>
          <p:cNvPr id="1785" name="Google Shape;1785;p46"/>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Segmentation by Graph Cuts</a:t>
            </a:r>
            <a:endParaRPr/>
          </a:p>
        </p:txBody>
      </p:sp>
      <p:sp>
        <p:nvSpPr>
          <p:cNvPr id="1786" name="Google Shape;1786;p46"/>
          <p:cNvSpPr txBox="1">
            <a:spLocks noGrp="1"/>
          </p:cNvSpPr>
          <p:nvPr>
            <p:ph type="body" idx="1"/>
          </p:nvPr>
        </p:nvSpPr>
        <p:spPr>
          <a:xfrm>
            <a:off x="685800" y="4267200"/>
            <a:ext cx="7848600" cy="2057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Break Graph into Segments</a:t>
            </a:r>
            <a:endParaRPr/>
          </a:p>
          <a:p>
            <a:pPr marL="742950" lvl="1" indent="-285750" algn="l" rtl="0">
              <a:spcBef>
                <a:spcPts val="400"/>
              </a:spcBef>
              <a:spcAft>
                <a:spcPts val="0"/>
              </a:spcAft>
              <a:buClr>
                <a:schemeClr val="dk1"/>
              </a:buClr>
              <a:buSzPts val="2000"/>
              <a:buFont typeface="Arial"/>
              <a:buChar char="•"/>
            </a:pPr>
            <a:r>
              <a:rPr lang="en-US"/>
              <a:t>Delete links that cross between segments</a:t>
            </a:r>
            <a:endParaRPr/>
          </a:p>
          <a:p>
            <a:pPr marL="742950" lvl="1" indent="-285750" algn="l" rtl="0">
              <a:spcBef>
                <a:spcPts val="400"/>
              </a:spcBef>
              <a:spcAft>
                <a:spcPts val="0"/>
              </a:spcAft>
              <a:buClr>
                <a:schemeClr val="dk1"/>
              </a:buClr>
              <a:buSzPts val="2000"/>
              <a:buFont typeface="Arial"/>
              <a:buChar char="•"/>
            </a:pPr>
            <a:r>
              <a:rPr lang="en-US"/>
              <a:t>Easiest to break links that have high cost</a:t>
            </a:r>
            <a:endParaRPr/>
          </a:p>
          <a:p>
            <a:pPr marL="1143000" lvl="2" indent="-228600" algn="l" rtl="0">
              <a:spcBef>
                <a:spcPts val="360"/>
              </a:spcBef>
              <a:spcAft>
                <a:spcPts val="0"/>
              </a:spcAft>
              <a:buClr>
                <a:schemeClr val="dk1"/>
              </a:buClr>
              <a:buSzPts val="1800"/>
              <a:buFont typeface="Arial"/>
              <a:buChar char="–"/>
            </a:pPr>
            <a:r>
              <a:rPr lang="en-US"/>
              <a:t>similar pixels should be in the same segments</a:t>
            </a:r>
            <a:endParaRPr/>
          </a:p>
          <a:p>
            <a:pPr marL="1143000" lvl="2" indent="-228600" algn="l" rtl="0">
              <a:spcBef>
                <a:spcPts val="360"/>
              </a:spcBef>
              <a:spcAft>
                <a:spcPts val="0"/>
              </a:spcAft>
              <a:buClr>
                <a:schemeClr val="dk1"/>
              </a:buClr>
              <a:buSzPts val="1800"/>
              <a:buFont typeface="Arial"/>
              <a:buChar char="–"/>
            </a:pPr>
            <a:r>
              <a:rPr lang="en-US"/>
              <a:t>dissimilar pixels should be in different segments</a:t>
            </a:r>
            <a:endParaRPr/>
          </a:p>
          <a:p>
            <a:pPr marL="742950" lvl="1" indent="-158750" algn="l" rtl="0">
              <a:spcBef>
                <a:spcPts val="400"/>
              </a:spcBef>
              <a:spcAft>
                <a:spcPts val="0"/>
              </a:spcAft>
              <a:buClr>
                <a:schemeClr val="dk1"/>
              </a:buClr>
              <a:buSzPts val="2000"/>
              <a:buFont typeface="Arial"/>
              <a:buNone/>
            </a:pPr>
            <a:endParaRPr/>
          </a:p>
        </p:txBody>
      </p:sp>
      <p:sp>
        <p:nvSpPr>
          <p:cNvPr id="1787" name="Google Shape;1787;p46"/>
          <p:cNvSpPr/>
          <p:nvPr/>
        </p:nvSpPr>
        <p:spPr>
          <a:xfrm>
            <a:off x="2520950" y="2444750"/>
            <a:ext cx="139700" cy="1397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88" name="Google Shape;1788;p46"/>
          <p:cNvSpPr/>
          <p:nvPr/>
        </p:nvSpPr>
        <p:spPr>
          <a:xfrm>
            <a:off x="2520950" y="1600200"/>
            <a:ext cx="139700" cy="141288"/>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89" name="Google Shape;1789;p46"/>
          <p:cNvSpPr/>
          <p:nvPr/>
        </p:nvSpPr>
        <p:spPr>
          <a:xfrm>
            <a:off x="3363913" y="2444750"/>
            <a:ext cx="141287" cy="1397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90" name="Google Shape;1790;p46"/>
          <p:cNvSpPr/>
          <p:nvPr/>
        </p:nvSpPr>
        <p:spPr>
          <a:xfrm>
            <a:off x="2520950" y="3287713"/>
            <a:ext cx="139700" cy="141287"/>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91" name="Google Shape;1791;p46"/>
          <p:cNvSpPr/>
          <p:nvPr/>
        </p:nvSpPr>
        <p:spPr>
          <a:xfrm>
            <a:off x="1676400" y="2444750"/>
            <a:ext cx="141288" cy="139700"/>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92" name="Google Shape;1792;p46"/>
          <p:cNvSpPr/>
          <p:nvPr/>
        </p:nvSpPr>
        <p:spPr>
          <a:xfrm>
            <a:off x="3363913" y="1600200"/>
            <a:ext cx="141287" cy="141288"/>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93" name="Google Shape;1793;p46"/>
          <p:cNvSpPr/>
          <p:nvPr/>
        </p:nvSpPr>
        <p:spPr>
          <a:xfrm>
            <a:off x="3363913" y="3287713"/>
            <a:ext cx="141287" cy="141287"/>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94" name="Google Shape;1794;p46"/>
          <p:cNvSpPr/>
          <p:nvPr/>
        </p:nvSpPr>
        <p:spPr>
          <a:xfrm>
            <a:off x="1676400" y="3287713"/>
            <a:ext cx="141288" cy="141287"/>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795" name="Google Shape;1795;p46"/>
          <p:cNvSpPr/>
          <p:nvPr/>
        </p:nvSpPr>
        <p:spPr>
          <a:xfrm>
            <a:off x="1676400" y="1600200"/>
            <a:ext cx="141288" cy="141288"/>
          </a:xfrm>
          <a:prstGeom prst="ellipse">
            <a:avLst/>
          </a:pr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cxnSp>
        <p:nvCxnSpPr>
          <p:cNvPr id="1796" name="Google Shape;1796;p46"/>
          <p:cNvCxnSpPr/>
          <p:nvPr/>
        </p:nvCxnSpPr>
        <p:spPr>
          <a:xfrm>
            <a:off x="1752600" y="1676400"/>
            <a:ext cx="0" cy="838200"/>
          </a:xfrm>
          <a:prstGeom prst="straightConnector1">
            <a:avLst/>
          </a:prstGeom>
          <a:noFill/>
          <a:ln w="9525" cap="flat" cmpd="sng">
            <a:solidFill>
              <a:schemeClr val="dk1"/>
            </a:solidFill>
            <a:prstDash val="solid"/>
            <a:round/>
            <a:headEnd type="none" w="med" len="med"/>
            <a:tailEnd type="none" w="med" len="med"/>
          </a:ln>
        </p:spPr>
      </p:cxnSp>
      <p:cxnSp>
        <p:nvCxnSpPr>
          <p:cNvPr id="1797" name="Google Shape;1797;p46"/>
          <p:cNvCxnSpPr/>
          <p:nvPr/>
        </p:nvCxnSpPr>
        <p:spPr>
          <a:xfrm>
            <a:off x="1752600" y="2514600"/>
            <a:ext cx="0" cy="838200"/>
          </a:xfrm>
          <a:prstGeom prst="straightConnector1">
            <a:avLst/>
          </a:prstGeom>
          <a:noFill/>
          <a:ln w="9525" cap="flat" cmpd="sng">
            <a:solidFill>
              <a:schemeClr val="dk1"/>
            </a:solidFill>
            <a:prstDash val="solid"/>
            <a:round/>
            <a:headEnd type="none" w="med" len="med"/>
            <a:tailEnd type="none" w="med" len="med"/>
          </a:ln>
        </p:spPr>
      </p:cxnSp>
      <p:cxnSp>
        <p:nvCxnSpPr>
          <p:cNvPr id="1798" name="Google Shape;1798;p46"/>
          <p:cNvCxnSpPr/>
          <p:nvPr/>
        </p:nvCxnSpPr>
        <p:spPr>
          <a:xfrm>
            <a:off x="1752600" y="1676400"/>
            <a:ext cx="838200" cy="0"/>
          </a:xfrm>
          <a:prstGeom prst="straightConnector1">
            <a:avLst/>
          </a:prstGeom>
          <a:noFill/>
          <a:ln w="9525" cap="flat" cmpd="sng">
            <a:solidFill>
              <a:schemeClr val="dk1"/>
            </a:solidFill>
            <a:prstDash val="solid"/>
            <a:round/>
            <a:headEnd type="none" w="med" len="med"/>
            <a:tailEnd type="none" w="med" len="med"/>
          </a:ln>
        </p:spPr>
      </p:cxnSp>
      <p:cxnSp>
        <p:nvCxnSpPr>
          <p:cNvPr id="1799" name="Google Shape;1799;p46"/>
          <p:cNvCxnSpPr/>
          <p:nvPr/>
        </p:nvCxnSpPr>
        <p:spPr>
          <a:xfrm flipH="1">
            <a:off x="1752600" y="1676400"/>
            <a:ext cx="838200" cy="1676400"/>
          </a:xfrm>
          <a:prstGeom prst="straightConnector1">
            <a:avLst/>
          </a:prstGeom>
          <a:noFill/>
          <a:ln w="9525" cap="flat" cmpd="sng">
            <a:solidFill>
              <a:schemeClr val="dk1"/>
            </a:solidFill>
            <a:prstDash val="solid"/>
            <a:round/>
            <a:headEnd type="none" w="med" len="med"/>
            <a:tailEnd type="none" w="med" len="med"/>
          </a:ln>
        </p:spPr>
      </p:cxnSp>
      <p:sp>
        <p:nvSpPr>
          <p:cNvPr id="1800" name="Google Shape;1800;p46"/>
          <p:cNvSpPr/>
          <p:nvPr/>
        </p:nvSpPr>
        <p:spPr>
          <a:xfrm flipH="1">
            <a:off x="1524000" y="1676400"/>
            <a:ext cx="228600" cy="1676400"/>
          </a:xfrm>
          <a:custGeom>
            <a:avLst/>
            <a:gdLst/>
            <a:ahLst/>
            <a:cxnLst/>
            <a:rect l="l" t="t" r="r" b="b"/>
            <a:pathLst>
              <a:path w="144" h="1056" extrusionOk="0">
                <a:moveTo>
                  <a:pt x="0" y="1056"/>
                </a:moveTo>
                <a:cubicBezTo>
                  <a:pt x="72" y="880"/>
                  <a:pt x="144" y="704"/>
                  <a:pt x="144" y="528"/>
                </a:cubicBezTo>
                <a:cubicBezTo>
                  <a:pt x="144" y="352"/>
                  <a:pt x="72" y="176"/>
                  <a:pt x="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pSp>
        <p:nvGrpSpPr>
          <p:cNvPr id="1801" name="Google Shape;1801;p46"/>
          <p:cNvGrpSpPr/>
          <p:nvPr/>
        </p:nvGrpSpPr>
        <p:grpSpPr>
          <a:xfrm>
            <a:off x="5486400" y="1133475"/>
            <a:ext cx="2541588" cy="3362325"/>
            <a:chOff x="3595" y="714"/>
            <a:chExt cx="1601" cy="2118"/>
          </a:xfrm>
        </p:grpSpPr>
        <p:pic>
          <p:nvPicPr>
            <p:cNvPr id="1802" name="Google Shape;1802;p46"/>
            <p:cNvPicPr preferRelativeResize="0"/>
            <p:nvPr/>
          </p:nvPicPr>
          <p:blipFill rotWithShape="1">
            <a:blip r:embed="rId3">
              <a:alphaModFix/>
            </a:blip>
            <a:srcRect/>
            <a:stretch/>
          </p:blipFill>
          <p:spPr>
            <a:xfrm>
              <a:off x="3600" y="714"/>
              <a:ext cx="1596" cy="2118"/>
            </a:xfrm>
            <a:prstGeom prst="rect">
              <a:avLst/>
            </a:prstGeom>
            <a:noFill/>
            <a:ln>
              <a:noFill/>
            </a:ln>
          </p:spPr>
        </p:pic>
        <p:sp>
          <p:nvSpPr>
            <p:cNvPr id="1803" name="Google Shape;1803;p46"/>
            <p:cNvSpPr/>
            <p:nvPr/>
          </p:nvSpPr>
          <p:spPr>
            <a:xfrm>
              <a:off x="3595" y="714"/>
              <a:ext cx="1584" cy="211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04" name="Google Shape;1804;p46"/>
            <p:cNvSpPr/>
            <p:nvPr/>
          </p:nvSpPr>
          <p:spPr>
            <a:xfrm>
              <a:off x="3749" y="806"/>
              <a:ext cx="919" cy="1863"/>
            </a:xfrm>
            <a:custGeom>
              <a:avLst/>
              <a:gdLst/>
              <a:ahLst/>
              <a:cxnLst/>
              <a:rect l="l" t="t" r="r" b="b"/>
              <a:pathLst>
                <a:path w="919" h="1863" extrusionOk="0">
                  <a:moveTo>
                    <a:pt x="6" y="0"/>
                  </a:moveTo>
                  <a:cubicBezTo>
                    <a:pt x="34" y="74"/>
                    <a:pt x="0" y="52"/>
                    <a:pt x="128" y="58"/>
                  </a:cubicBezTo>
                  <a:cubicBezTo>
                    <a:pt x="167" y="63"/>
                    <a:pt x="199" y="74"/>
                    <a:pt x="235" y="85"/>
                  </a:cubicBezTo>
                  <a:cubicBezTo>
                    <a:pt x="268" y="107"/>
                    <a:pt x="292" y="142"/>
                    <a:pt x="314" y="175"/>
                  </a:cubicBezTo>
                  <a:cubicBezTo>
                    <a:pt x="318" y="180"/>
                    <a:pt x="321" y="186"/>
                    <a:pt x="325" y="191"/>
                  </a:cubicBezTo>
                  <a:cubicBezTo>
                    <a:pt x="328" y="196"/>
                    <a:pt x="332" y="202"/>
                    <a:pt x="335" y="207"/>
                  </a:cubicBezTo>
                  <a:cubicBezTo>
                    <a:pt x="339" y="212"/>
                    <a:pt x="346" y="223"/>
                    <a:pt x="346" y="223"/>
                  </a:cubicBezTo>
                  <a:cubicBezTo>
                    <a:pt x="380" y="331"/>
                    <a:pt x="371" y="445"/>
                    <a:pt x="309" y="536"/>
                  </a:cubicBezTo>
                  <a:cubicBezTo>
                    <a:pt x="304" y="552"/>
                    <a:pt x="296" y="570"/>
                    <a:pt x="288" y="584"/>
                  </a:cubicBezTo>
                  <a:cubicBezTo>
                    <a:pt x="282" y="595"/>
                    <a:pt x="266" y="616"/>
                    <a:pt x="266" y="616"/>
                  </a:cubicBezTo>
                  <a:cubicBezTo>
                    <a:pt x="256" y="649"/>
                    <a:pt x="235" y="677"/>
                    <a:pt x="224" y="711"/>
                  </a:cubicBezTo>
                  <a:cubicBezTo>
                    <a:pt x="218" y="787"/>
                    <a:pt x="212" y="839"/>
                    <a:pt x="219" y="918"/>
                  </a:cubicBezTo>
                  <a:cubicBezTo>
                    <a:pt x="221" y="943"/>
                    <a:pt x="236" y="937"/>
                    <a:pt x="245" y="966"/>
                  </a:cubicBezTo>
                  <a:cubicBezTo>
                    <a:pt x="255" y="998"/>
                    <a:pt x="269" y="1035"/>
                    <a:pt x="288" y="1062"/>
                  </a:cubicBezTo>
                  <a:cubicBezTo>
                    <a:pt x="299" y="1097"/>
                    <a:pt x="310" y="1167"/>
                    <a:pt x="282" y="1194"/>
                  </a:cubicBezTo>
                  <a:cubicBezTo>
                    <a:pt x="259" y="1217"/>
                    <a:pt x="232" y="1221"/>
                    <a:pt x="203" y="1232"/>
                  </a:cubicBezTo>
                  <a:cubicBezTo>
                    <a:pt x="203" y="1232"/>
                    <a:pt x="182" y="1259"/>
                    <a:pt x="187" y="1264"/>
                  </a:cubicBezTo>
                  <a:cubicBezTo>
                    <a:pt x="193" y="1270"/>
                    <a:pt x="235" y="1277"/>
                    <a:pt x="245" y="1279"/>
                  </a:cubicBezTo>
                  <a:cubicBezTo>
                    <a:pt x="298" y="1277"/>
                    <a:pt x="352" y="1285"/>
                    <a:pt x="404" y="1274"/>
                  </a:cubicBezTo>
                  <a:cubicBezTo>
                    <a:pt x="417" y="1271"/>
                    <a:pt x="426" y="1242"/>
                    <a:pt x="426" y="1242"/>
                  </a:cubicBezTo>
                  <a:cubicBezTo>
                    <a:pt x="434" y="1174"/>
                    <a:pt x="435" y="1117"/>
                    <a:pt x="415" y="1051"/>
                  </a:cubicBezTo>
                  <a:cubicBezTo>
                    <a:pt x="442" y="1042"/>
                    <a:pt x="434" y="1057"/>
                    <a:pt x="458" y="1072"/>
                  </a:cubicBezTo>
                  <a:cubicBezTo>
                    <a:pt x="473" y="1096"/>
                    <a:pt x="474" y="1130"/>
                    <a:pt x="489" y="1152"/>
                  </a:cubicBezTo>
                  <a:cubicBezTo>
                    <a:pt x="500" y="1168"/>
                    <a:pt x="532" y="1189"/>
                    <a:pt x="532" y="1189"/>
                  </a:cubicBezTo>
                  <a:lnTo>
                    <a:pt x="558" y="1237"/>
                  </a:lnTo>
                  <a:cubicBezTo>
                    <a:pt x="558" y="1237"/>
                    <a:pt x="558" y="1237"/>
                    <a:pt x="558" y="1237"/>
                  </a:cubicBezTo>
                  <a:cubicBezTo>
                    <a:pt x="566" y="1259"/>
                    <a:pt x="570" y="1277"/>
                    <a:pt x="574" y="1301"/>
                  </a:cubicBezTo>
                  <a:cubicBezTo>
                    <a:pt x="578" y="1352"/>
                    <a:pt x="577" y="1380"/>
                    <a:pt x="590" y="1423"/>
                  </a:cubicBezTo>
                  <a:cubicBezTo>
                    <a:pt x="593" y="1434"/>
                    <a:pt x="596" y="1445"/>
                    <a:pt x="601" y="1455"/>
                  </a:cubicBezTo>
                  <a:cubicBezTo>
                    <a:pt x="607" y="1466"/>
                    <a:pt x="622" y="1486"/>
                    <a:pt x="622" y="1486"/>
                  </a:cubicBezTo>
                  <a:cubicBezTo>
                    <a:pt x="629" y="1508"/>
                    <a:pt x="641" y="1531"/>
                    <a:pt x="654" y="1550"/>
                  </a:cubicBezTo>
                  <a:cubicBezTo>
                    <a:pt x="661" y="1572"/>
                    <a:pt x="673" y="1595"/>
                    <a:pt x="686" y="1614"/>
                  </a:cubicBezTo>
                  <a:cubicBezTo>
                    <a:pt x="695" y="1642"/>
                    <a:pt x="688" y="1626"/>
                    <a:pt x="712" y="1662"/>
                  </a:cubicBezTo>
                  <a:cubicBezTo>
                    <a:pt x="716" y="1667"/>
                    <a:pt x="723" y="1678"/>
                    <a:pt x="723" y="1678"/>
                  </a:cubicBezTo>
                  <a:cubicBezTo>
                    <a:pt x="730" y="1702"/>
                    <a:pt x="746" y="1720"/>
                    <a:pt x="760" y="1741"/>
                  </a:cubicBezTo>
                  <a:cubicBezTo>
                    <a:pt x="791" y="1788"/>
                    <a:pt x="825" y="1845"/>
                    <a:pt x="882" y="1863"/>
                  </a:cubicBezTo>
                  <a:cubicBezTo>
                    <a:pt x="919" y="1851"/>
                    <a:pt x="909" y="1779"/>
                    <a:pt x="909" y="1752"/>
                  </a:cubicBezTo>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05" name="Google Shape;1805;p46"/>
            <p:cNvSpPr/>
            <p:nvPr/>
          </p:nvSpPr>
          <p:spPr>
            <a:xfrm>
              <a:off x="4580" y="2218"/>
              <a:ext cx="508" cy="457"/>
            </a:xfrm>
            <a:custGeom>
              <a:avLst/>
              <a:gdLst/>
              <a:ahLst/>
              <a:cxnLst/>
              <a:rect l="l" t="t" r="r" b="b"/>
              <a:pathLst>
                <a:path w="508" h="457" extrusionOk="0">
                  <a:moveTo>
                    <a:pt x="73" y="324"/>
                  </a:moveTo>
                  <a:cubicBezTo>
                    <a:pt x="62" y="317"/>
                    <a:pt x="52" y="310"/>
                    <a:pt x="41" y="303"/>
                  </a:cubicBezTo>
                  <a:cubicBezTo>
                    <a:pt x="30" y="296"/>
                    <a:pt x="19" y="271"/>
                    <a:pt x="19" y="271"/>
                  </a:cubicBezTo>
                  <a:cubicBezTo>
                    <a:pt x="4" y="222"/>
                    <a:pt x="0" y="165"/>
                    <a:pt x="46" y="133"/>
                  </a:cubicBezTo>
                  <a:cubicBezTo>
                    <a:pt x="67" y="101"/>
                    <a:pt x="88" y="69"/>
                    <a:pt x="110" y="37"/>
                  </a:cubicBezTo>
                  <a:cubicBezTo>
                    <a:pt x="124" y="16"/>
                    <a:pt x="167" y="7"/>
                    <a:pt x="189" y="0"/>
                  </a:cubicBezTo>
                  <a:cubicBezTo>
                    <a:pt x="242" y="4"/>
                    <a:pt x="250" y="0"/>
                    <a:pt x="290" y="11"/>
                  </a:cubicBezTo>
                  <a:cubicBezTo>
                    <a:pt x="301" y="14"/>
                    <a:pt x="322" y="21"/>
                    <a:pt x="322" y="21"/>
                  </a:cubicBezTo>
                  <a:cubicBezTo>
                    <a:pt x="333" y="28"/>
                    <a:pt x="343" y="36"/>
                    <a:pt x="354" y="43"/>
                  </a:cubicBezTo>
                  <a:cubicBezTo>
                    <a:pt x="359" y="46"/>
                    <a:pt x="370" y="53"/>
                    <a:pt x="370" y="53"/>
                  </a:cubicBezTo>
                  <a:cubicBezTo>
                    <a:pt x="388" y="80"/>
                    <a:pt x="417" y="94"/>
                    <a:pt x="444" y="112"/>
                  </a:cubicBezTo>
                  <a:cubicBezTo>
                    <a:pt x="455" y="119"/>
                    <a:pt x="476" y="133"/>
                    <a:pt x="476" y="133"/>
                  </a:cubicBezTo>
                  <a:cubicBezTo>
                    <a:pt x="486" y="183"/>
                    <a:pt x="497" y="232"/>
                    <a:pt x="508" y="282"/>
                  </a:cubicBezTo>
                  <a:cubicBezTo>
                    <a:pt x="506" y="301"/>
                    <a:pt x="507" y="321"/>
                    <a:pt x="503" y="340"/>
                  </a:cubicBezTo>
                  <a:cubicBezTo>
                    <a:pt x="499" y="357"/>
                    <a:pt x="486" y="357"/>
                    <a:pt x="476" y="367"/>
                  </a:cubicBezTo>
                  <a:cubicBezTo>
                    <a:pt x="457" y="386"/>
                    <a:pt x="446" y="409"/>
                    <a:pt x="423" y="425"/>
                  </a:cubicBezTo>
                  <a:cubicBezTo>
                    <a:pt x="414" y="453"/>
                    <a:pt x="394" y="448"/>
                    <a:pt x="370" y="457"/>
                  </a:cubicBezTo>
                  <a:cubicBezTo>
                    <a:pt x="352" y="455"/>
                    <a:pt x="334" y="454"/>
                    <a:pt x="317" y="451"/>
                  </a:cubicBezTo>
                  <a:cubicBezTo>
                    <a:pt x="306" y="449"/>
                    <a:pt x="296" y="444"/>
                    <a:pt x="285" y="441"/>
                  </a:cubicBezTo>
                  <a:cubicBezTo>
                    <a:pt x="280" y="439"/>
                    <a:pt x="269" y="436"/>
                    <a:pt x="269" y="436"/>
                  </a:cubicBezTo>
                  <a:cubicBezTo>
                    <a:pt x="250" y="423"/>
                    <a:pt x="227" y="411"/>
                    <a:pt x="205" y="404"/>
                  </a:cubicBezTo>
                  <a:cubicBezTo>
                    <a:pt x="186" y="391"/>
                    <a:pt x="164" y="379"/>
                    <a:pt x="142" y="372"/>
                  </a:cubicBezTo>
                  <a:cubicBezTo>
                    <a:pt x="104" y="346"/>
                    <a:pt x="103" y="362"/>
                    <a:pt x="73" y="324"/>
                  </a:cubicBezTo>
                  <a:close/>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06" name="Google Shape;1806;p46"/>
            <p:cNvSpPr/>
            <p:nvPr/>
          </p:nvSpPr>
          <p:spPr>
            <a:xfrm>
              <a:off x="3761" y="779"/>
              <a:ext cx="1093" cy="1439"/>
            </a:xfrm>
            <a:custGeom>
              <a:avLst/>
              <a:gdLst/>
              <a:ahLst/>
              <a:cxnLst/>
              <a:rect l="l" t="t" r="r" b="b"/>
              <a:pathLst>
                <a:path w="1093" h="1439" extrusionOk="0">
                  <a:moveTo>
                    <a:pt x="0" y="0"/>
                  </a:moveTo>
                  <a:cubicBezTo>
                    <a:pt x="60" y="17"/>
                    <a:pt x="123" y="18"/>
                    <a:pt x="185" y="22"/>
                  </a:cubicBezTo>
                  <a:cubicBezTo>
                    <a:pt x="216" y="29"/>
                    <a:pt x="242" y="39"/>
                    <a:pt x="270" y="53"/>
                  </a:cubicBezTo>
                  <a:cubicBezTo>
                    <a:pt x="285" y="61"/>
                    <a:pt x="318" y="69"/>
                    <a:pt x="318" y="69"/>
                  </a:cubicBezTo>
                  <a:cubicBezTo>
                    <a:pt x="329" y="76"/>
                    <a:pt x="339" y="84"/>
                    <a:pt x="350" y="91"/>
                  </a:cubicBezTo>
                  <a:cubicBezTo>
                    <a:pt x="365" y="102"/>
                    <a:pt x="372" y="122"/>
                    <a:pt x="387" y="133"/>
                  </a:cubicBezTo>
                  <a:cubicBezTo>
                    <a:pt x="395" y="159"/>
                    <a:pt x="409" y="189"/>
                    <a:pt x="424" y="213"/>
                  </a:cubicBezTo>
                  <a:cubicBezTo>
                    <a:pt x="432" y="256"/>
                    <a:pt x="438" y="298"/>
                    <a:pt x="451" y="340"/>
                  </a:cubicBezTo>
                  <a:cubicBezTo>
                    <a:pt x="454" y="351"/>
                    <a:pt x="450" y="369"/>
                    <a:pt x="461" y="372"/>
                  </a:cubicBezTo>
                  <a:cubicBezTo>
                    <a:pt x="484" y="379"/>
                    <a:pt x="472" y="376"/>
                    <a:pt x="499" y="383"/>
                  </a:cubicBezTo>
                  <a:cubicBezTo>
                    <a:pt x="535" y="377"/>
                    <a:pt x="548" y="371"/>
                    <a:pt x="584" y="377"/>
                  </a:cubicBezTo>
                  <a:cubicBezTo>
                    <a:pt x="604" y="385"/>
                    <a:pt x="608" y="398"/>
                    <a:pt x="626" y="409"/>
                  </a:cubicBezTo>
                  <a:cubicBezTo>
                    <a:pt x="654" y="449"/>
                    <a:pt x="671" y="487"/>
                    <a:pt x="716" y="515"/>
                  </a:cubicBezTo>
                  <a:cubicBezTo>
                    <a:pt x="732" y="539"/>
                    <a:pt x="744" y="559"/>
                    <a:pt x="764" y="579"/>
                  </a:cubicBezTo>
                  <a:cubicBezTo>
                    <a:pt x="776" y="617"/>
                    <a:pt x="759" y="574"/>
                    <a:pt x="785" y="606"/>
                  </a:cubicBezTo>
                  <a:cubicBezTo>
                    <a:pt x="802" y="626"/>
                    <a:pt x="808" y="661"/>
                    <a:pt x="817" y="685"/>
                  </a:cubicBezTo>
                  <a:cubicBezTo>
                    <a:pt x="827" y="711"/>
                    <a:pt x="821" y="696"/>
                    <a:pt x="833" y="733"/>
                  </a:cubicBezTo>
                  <a:cubicBezTo>
                    <a:pt x="835" y="738"/>
                    <a:pt x="838" y="749"/>
                    <a:pt x="838" y="749"/>
                  </a:cubicBezTo>
                  <a:cubicBezTo>
                    <a:pt x="845" y="801"/>
                    <a:pt x="829" y="920"/>
                    <a:pt x="870" y="945"/>
                  </a:cubicBezTo>
                  <a:cubicBezTo>
                    <a:pt x="884" y="965"/>
                    <a:pt x="908" y="980"/>
                    <a:pt x="929" y="993"/>
                  </a:cubicBezTo>
                  <a:cubicBezTo>
                    <a:pt x="932" y="998"/>
                    <a:pt x="935" y="1004"/>
                    <a:pt x="939" y="1009"/>
                  </a:cubicBezTo>
                  <a:cubicBezTo>
                    <a:pt x="943" y="1014"/>
                    <a:pt x="951" y="1015"/>
                    <a:pt x="955" y="1020"/>
                  </a:cubicBezTo>
                  <a:cubicBezTo>
                    <a:pt x="975" y="1045"/>
                    <a:pt x="943" y="1030"/>
                    <a:pt x="977" y="1041"/>
                  </a:cubicBezTo>
                  <a:cubicBezTo>
                    <a:pt x="980" y="1046"/>
                    <a:pt x="981" y="1055"/>
                    <a:pt x="987" y="1057"/>
                  </a:cubicBezTo>
                  <a:cubicBezTo>
                    <a:pt x="1004" y="1063"/>
                    <a:pt x="1034" y="1045"/>
                    <a:pt x="1040" y="1062"/>
                  </a:cubicBezTo>
                  <a:cubicBezTo>
                    <a:pt x="1058" y="1114"/>
                    <a:pt x="1043" y="1172"/>
                    <a:pt x="1046" y="1227"/>
                  </a:cubicBezTo>
                  <a:cubicBezTo>
                    <a:pt x="1047" y="1245"/>
                    <a:pt x="1072" y="1275"/>
                    <a:pt x="1072" y="1275"/>
                  </a:cubicBezTo>
                  <a:cubicBezTo>
                    <a:pt x="1091" y="1337"/>
                    <a:pt x="1093" y="1370"/>
                    <a:pt x="1093" y="1439"/>
                  </a:cubicBezTo>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07" name="Google Shape;1807;p46"/>
            <p:cNvSpPr/>
            <p:nvPr/>
          </p:nvSpPr>
          <p:spPr>
            <a:xfrm>
              <a:off x="4854" y="1873"/>
              <a:ext cx="330" cy="303"/>
            </a:xfrm>
            <a:custGeom>
              <a:avLst/>
              <a:gdLst/>
              <a:ahLst/>
              <a:cxnLst/>
              <a:rect l="l" t="t" r="r" b="b"/>
              <a:pathLst>
                <a:path w="330" h="303" extrusionOk="0">
                  <a:moveTo>
                    <a:pt x="0" y="271"/>
                  </a:moveTo>
                  <a:cubicBezTo>
                    <a:pt x="31" y="264"/>
                    <a:pt x="63" y="267"/>
                    <a:pt x="91" y="250"/>
                  </a:cubicBezTo>
                  <a:cubicBezTo>
                    <a:pt x="101" y="234"/>
                    <a:pt x="106" y="220"/>
                    <a:pt x="112" y="202"/>
                  </a:cubicBezTo>
                  <a:cubicBezTo>
                    <a:pt x="106" y="131"/>
                    <a:pt x="77" y="26"/>
                    <a:pt x="160" y="0"/>
                  </a:cubicBezTo>
                  <a:cubicBezTo>
                    <a:pt x="182" y="15"/>
                    <a:pt x="182" y="34"/>
                    <a:pt x="191" y="58"/>
                  </a:cubicBezTo>
                  <a:cubicBezTo>
                    <a:pt x="212" y="113"/>
                    <a:pt x="219" y="176"/>
                    <a:pt x="245" y="228"/>
                  </a:cubicBezTo>
                  <a:cubicBezTo>
                    <a:pt x="257" y="251"/>
                    <a:pt x="260" y="248"/>
                    <a:pt x="287" y="266"/>
                  </a:cubicBezTo>
                  <a:cubicBezTo>
                    <a:pt x="292" y="270"/>
                    <a:pt x="293" y="277"/>
                    <a:pt x="298" y="281"/>
                  </a:cubicBezTo>
                  <a:cubicBezTo>
                    <a:pt x="308" y="289"/>
                    <a:pt x="330" y="303"/>
                    <a:pt x="330" y="303"/>
                  </a:cubicBezTo>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08" name="Google Shape;1808;p46"/>
            <p:cNvSpPr/>
            <p:nvPr/>
          </p:nvSpPr>
          <p:spPr>
            <a:xfrm>
              <a:off x="3617" y="2009"/>
              <a:ext cx="319" cy="751"/>
            </a:xfrm>
            <a:custGeom>
              <a:avLst/>
              <a:gdLst/>
              <a:ahLst/>
              <a:cxnLst/>
              <a:rect l="l" t="t" r="r" b="b"/>
              <a:pathLst>
                <a:path w="319" h="751" extrusionOk="0">
                  <a:moveTo>
                    <a:pt x="0" y="751"/>
                  </a:moveTo>
                  <a:cubicBezTo>
                    <a:pt x="26" y="741"/>
                    <a:pt x="39" y="736"/>
                    <a:pt x="64" y="719"/>
                  </a:cubicBezTo>
                  <a:cubicBezTo>
                    <a:pt x="69" y="715"/>
                    <a:pt x="80" y="708"/>
                    <a:pt x="80" y="708"/>
                  </a:cubicBezTo>
                  <a:cubicBezTo>
                    <a:pt x="91" y="690"/>
                    <a:pt x="89" y="695"/>
                    <a:pt x="96" y="676"/>
                  </a:cubicBezTo>
                  <a:cubicBezTo>
                    <a:pt x="99" y="666"/>
                    <a:pt x="106" y="645"/>
                    <a:pt x="106" y="645"/>
                  </a:cubicBezTo>
                  <a:cubicBezTo>
                    <a:pt x="120" y="459"/>
                    <a:pt x="106" y="682"/>
                    <a:pt x="106" y="347"/>
                  </a:cubicBezTo>
                  <a:cubicBezTo>
                    <a:pt x="106" y="287"/>
                    <a:pt x="99" y="252"/>
                    <a:pt x="128" y="209"/>
                  </a:cubicBezTo>
                  <a:cubicBezTo>
                    <a:pt x="138" y="177"/>
                    <a:pt x="149" y="147"/>
                    <a:pt x="154" y="114"/>
                  </a:cubicBezTo>
                  <a:cubicBezTo>
                    <a:pt x="152" y="82"/>
                    <a:pt x="152" y="50"/>
                    <a:pt x="149" y="18"/>
                  </a:cubicBezTo>
                  <a:cubicBezTo>
                    <a:pt x="149" y="12"/>
                    <a:pt x="139" y="4"/>
                    <a:pt x="144" y="2"/>
                  </a:cubicBezTo>
                  <a:cubicBezTo>
                    <a:pt x="148" y="0"/>
                    <a:pt x="181" y="36"/>
                    <a:pt x="186" y="39"/>
                  </a:cubicBezTo>
                  <a:cubicBezTo>
                    <a:pt x="201" y="87"/>
                    <a:pt x="281" y="82"/>
                    <a:pt x="319" y="82"/>
                  </a:cubicBezTo>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09" name="Google Shape;1809;p46"/>
            <p:cNvSpPr/>
            <p:nvPr/>
          </p:nvSpPr>
          <p:spPr>
            <a:xfrm>
              <a:off x="4599" y="1284"/>
              <a:ext cx="569" cy="223"/>
            </a:xfrm>
            <a:custGeom>
              <a:avLst/>
              <a:gdLst/>
              <a:ahLst/>
              <a:cxnLst/>
              <a:rect l="l" t="t" r="r" b="b"/>
              <a:pathLst>
                <a:path w="569" h="223" extrusionOk="0">
                  <a:moveTo>
                    <a:pt x="0" y="223"/>
                  </a:moveTo>
                  <a:cubicBezTo>
                    <a:pt x="55" y="221"/>
                    <a:pt x="110" y="221"/>
                    <a:pt x="165" y="217"/>
                  </a:cubicBezTo>
                  <a:cubicBezTo>
                    <a:pt x="197" y="214"/>
                    <a:pt x="259" y="181"/>
                    <a:pt x="292" y="170"/>
                  </a:cubicBezTo>
                  <a:cubicBezTo>
                    <a:pt x="321" y="161"/>
                    <a:pt x="346" y="151"/>
                    <a:pt x="372" y="138"/>
                  </a:cubicBezTo>
                  <a:cubicBezTo>
                    <a:pt x="387" y="130"/>
                    <a:pt x="420" y="122"/>
                    <a:pt x="420" y="122"/>
                  </a:cubicBezTo>
                  <a:cubicBezTo>
                    <a:pt x="425" y="117"/>
                    <a:pt x="430" y="110"/>
                    <a:pt x="436" y="106"/>
                  </a:cubicBezTo>
                  <a:cubicBezTo>
                    <a:pt x="441" y="103"/>
                    <a:pt x="448" y="105"/>
                    <a:pt x="452" y="101"/>
                  </a:cubicBezTo>
                  <a:cubicBezTo>
                    <a:pt x="457" y="97"/>
                    <a:pt x="457" y="89"/>
                    <a:pt x="462" y="85"/>
                  </a:cubicBezTo>
                  <a:cubicBezTo>
                    <a:pt x="483" y="66"/>
                    <a:pt x="514" y="46"/>
                    <a:pt x="542" y="37"/>
                  </a:cubicBezTo>
                  <a:cubicBezTo>
                    <a:pt x="564" y="3"/>
                    <a:pt x="553" y="13"/>
                    <a:pt x="569" y="0"/>
                  </a:cubicBezTo>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10" name="Google Shape;1810;p46"/>
            <p:cNvSpPr/>
            <p:nvPr/>
          </p:nvSpPr>
          <p:spPr>
            <a:xfrm>
              <a:off x="3654" y="1560"/>
              <a:ext cx="308" cy="440"/>
            </a:xfrm>
            <a:custGeom>
              <a:avLst/>
              <a:gdLst/>
              <a:ahLst/>
              <a:cxnLst/>
              <a:rect l="l" t="t" r="r" b="b"/>
              <a:pathLst>
                <a:path w="308" h="440" extrusionOk="0">
                  <a:moveTo>
                    <a:pt x="107" y="440"/>
                  </a:moveTo>
                  <a:cubicBezTo>
                    <a:pt x="90" y="397"/>
                    <a:pt x="75" y="359"/>
                    <a:pt x="64" y="313"/>
                  </a:cubicBezTo>
                  <a:cubicBezTo>
                    <a:pt x="62" y="318"/>
                    <a:pt x="60" y="324"/>
                    <a:pt x="59" y="329"/>
                  </a:cubicBezTo>
                  <a:cubicBezTo>
                    <a:pt x="57" y="338"/>
                    <a:pt x="62" y="359"/>
                    <a:pt x="53" y="356"/>
                  </a:cubicBezTo>
                  <a:cubicBezTo>
                    <a:pt x="42" y="353"/>
                    <a:pt x="49" y="333"/>
                    <a:pt x="43" y="324"/>
                  </a:cubicBezTo>
                  <a:cubicBezTo>
                    <a:pt x="19" y="287"/>
                    <a:pt x="26" y="304"/>
                    <a:pt x="16" y="276"/>
                  </a:cubicBezTo>
                  <a:cubicBezTo>
                    <a:pt x="14" y="264"/>
                    <a:pt x="13" y="251"/>
                    <a:pt x="11" y="239"/>
                  </a:cubicBezTo>
                  <a:cubicBezTo>
                    <a:pt x="8" y="219"/>
                    <a:pt x="0" y="180"/>
                    <a:pt x="0" y="180"/>
                  </a:cubicBezTo>
                  <a:cubicBezTo>
                    <a:pt x="7" y="145"/>
                    <a:pt x="6" y="143"/>
                    <a:pt x="38" y="133"/>
                  </a:cubicBezTo>
                  <a:cubicBezTo>
                    <a:pt x="48" y="126"/>
                    <a:pt x="59" y="118"/>
                    <a:pt x="69" y="111"/>
                  </a:cubicBezTo>
                  <a:cubicBezTo>
                    <a:pt x="78" y="105"/>
                    <a:pt x="101" y="101"/>
                    <a:pt x="101" y="101"/>
                  </a:cubicBezTo>
                  <a:cubicBezTo>
                    <a:pt x="138" y="76"/>
                    <a:pt x="168" y="69"/>
                    <a:pt x="213" y="64"/>
                  </a:cubicBezTo>
                  <a:cubicBezTo>
                    <a:pt x="238" y="55"/>
                    <a:pt x="252" y="35"/>
                    <a:pt x="276" y="26"/>
                  </a:cubicBezTo>
                  <a:cubicBezTo>
                    <a:pt x="291" y="4"/>
                    <a:pt x="293" y="15"/>
                    <a:pt x="308" y="0"/>
                  </a:cubicBezTo>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11" name="Google Shape;1811;p46"/>
            <p:cNvSpPr/>
            <p:nvPr/>
          </p:nvSpPr>
          <p:spPr>
            <a:xfrm>
              <a:off x="4106" y="742"/>
              <a:ext cx="1072" cy="128"/>
            </a:xfrm>
            <a:custGeom>
              <a:avLst/>
              <a:gdLst/>
              <a:ahLst/>
              <a:cxnLst/>
              <a:rect l="l" t="t" r="r" b="b"/>
              <a:pathLst>
                <a:path w="1072" h="128" extrusionOk="0">
                  <a:moveTo>
                    <a:pt x="0" y="128"/>
                  </a:moveTo>
                  <a:cubicBezTo>
                    <a:pt x="113" y="126"/>
                    <a:pt x="226" y="125"/>
                    <a:pt x="339" y="122"/>
                  </a:cubicBezTo>
                  <a:cubicBezTo>
                    <a:pt x="374" y="121"/>
                    <a:pt x="406" y="103"/>
                    <a:pt x="440" y="101"/>
                  </a:cubicBezTo>
                  <a:cubicBezTo>
                    <a:pt x="548" y="94"/>
                    <a:pt x="655" y="88"/>
                    <a:pt x="764" y="85"/>
                  </a:cubicBezTo>
                  <a:cubicBezTo>
                    <a:pt x="816" y="81"/>
                    <a:pt x="870" y="77"/>
                    <a:pt x="918" y="53"/>
                  </a:cubicBezTo>
                  <a:cubicBezTo>
                    <a:pt x="966" y="29"/>
                    <a:pt x="1016" y="0"/>
                    <a:pt x="1072" y="0"/>
                  </a:cubicBezTo>
                </a:path>
              </a:pathLst>
            </a:custGeom>
            <a:noFill/>
            <a:ln w="38100" cap="sq"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pSp>
          <p:nvGrpSpPr>
            <p:cNvPr id="1812" name="Google Shape;1812;p46"/>
            <p:cNvGrpSpPr/>
            <p:nvPr/>
          </p:nvGrpSpPr>
          <p:grpSpPr>
            <a:xfrm>
              <a:off x="4171" y="1374"/>
              <a:ext cx="324" cy="348"/>
              <a:chOff x="2592" y="1476"/>
              <a:chExt cx="324" cy="348"/>
            </a:xfrm>
          </p:grpSpPr>
          <p:sp>
            <p:nvSpPr>
              <p:cNvPr id="1813" name="Google Shape;1813;p46"/>
              <p:cNvSpPr/>
              <p:nvPr/>
            </p:nvSpPr>
            <p:spPr>
              <a:xfrm>
                <a:off x="2592" y="1776"/>
                <a:ext cx="48" cy="48"/>
              </a:xfrm>
              <a:prstGeom prst="rect">
                <a:avLst/>
              </a:prstGeom>
              <a:solidFill>
                <a:srgbClr val="FF0000"/>
              </a:solidFill>
              <a:ln w="12700" cap="sq"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14" name="Google Shape;1814;p46"/>
              <p:cNvSpPr/>
              <p:nvPr/>
            </p:nvSpPr>
            <p:spPr>
              <a:xfrm>
                <a:off x="2832" y="1488"/>
                <a:ext cx="48" cy="48"/>
              </a:xfrm>
              <a:prstGeom prst="rect">
                <a:avLst/>
              </a:prstGeom>
              <a:solidFill>
                <a:srgbClr val="FF0000"/>
              </a:solidFill>
              <a:ln w="12700" cap="sq" cmpd="sng">
                <a:solidFill>
                  <a:srgbClr val="FFFF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cxnSp>
            <p:nvCxnSpPr>
              <p:cNvPr id="1815" name="Google Shape;1815;p46"/>
              <p:cNvCxnSpPr>
                <a:stCxn id="1813" idx="0"/>
                <a:endCxn id="1814" idx="1"/>
              </p:cNvCxnSpPr>
              <p:nvPr/>
            </p:nvCxnSpPr>
            <p:spPr>
              <a:xfrm rot="10800000" flipH="1">
                <a:off x="2616" y="1476"/>
                <a:ext cx="300" cy="300"/>
              </a:xfrm>
              <a:prstGeom prst="straightConnector1">
                <a:avLst/>
              </a:prstGeom>
              <a:noFill/>
              <a:ln w="28575" cap="sq" cmpd="sng">
                <a:solidFill>
                  <a:srgbClr val="FFFF00"/>
                </a:solidFill>
                <a:prstDash val="solid"/>
                <a:round/>
                <a:headEnd type="none" w="sm" len="sm"/>
                <a:tailEnd type="none" w="sm" len="sm"/>
              </a:ln>
            </p:spPr>
          </p:cxnSp>
        </p:grpSp>
        <p:sp>
          <p:nvSpPr>
            <p:cNvPr id="1816" name="Google Shape;1816;p46"/>
            <p:cNvSpPr txBox="1"/>
            <p:nvPr/>
          </p:nvSpPr>
          <p:spPr>
            <a:xfrm>
              <a:off x="4267" y="1440"/>
              <a:ext cx="384"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FF00"/>
                  </a:solidFill>
                  <a:latin typeface="Comic Sans MS"/>
                  <a:ea typeface="Comic Sans MS"/>
                  <a:cs typeface="Comic Sans MS"/>
                  <a:sym typeface="Comic Sans MS"/>
                </a:rPr>
                <a:t>w</a:t>
              </a:r>
              <a:endParaRPr sz="1800">
                <a:solidFill>
                  <a:srgbClr val="FFFF00"/>
                </a:solidFill>
                <a:latin typeface="Comic Sans MS"/>
                <a:ea typeface="Comic Sans MS"/>
                <a:cs typeface="Comic Sans MS"/>
                <a:sym typeface="Comic Sans MS"/>
              </a:endParaRPr>
            </a:p>
          </p:txBody>
        </p:sp>
      </p:grpSp>
      <p:cxnSp>
        <p:nvCxnSpPr>
          <p:cNvPr id="1817" name="Google Shape;1817;p46"/>
          <p:cNvCxnSpPr/>
          <p:nvPr/>
        </p:nvCxnSpPr>
        <p:spPr>
          <a:xfrm rot="10800000" flipH="1">
            <a:off x="1752600" y="1676400"/>
            <a:ext cx="838200" cy="838200"/>
          </a:xfrm>
          <a:prstGeom prst="straightConnector1">
            <a:avLst/>
          </a:prstGeom>
          <a:noFill/>
          <a:ln w="9525" cap="flat" cmpd="sng">
            <a:solidFill>
              <a:schemeClr val="dk1"/>
            </a:solidFill>
            <a:prstDash val="solid"/>
            <a:round/>
            <a:headEnd type="none" w="med" len="med"/>
            <a:tailEnd type="none" w="med" len="med"/>
          </a:ln>
        </p:spPr>
      </p:cxnSp>
      <p:cxnSp>
        <p:nvCxnSpPr>
          <p:cNvPr id="1818" name="Google Shape;1818;p46"/>
          <p:cNvCxnSpPr/>
          <p:nvPr/>
        </p:nvCxnSpPr>
        <p:spPr>
          <a:xfrm rot="10800000" flipH="1">
            <a:off x="2590800" y="2514600"/>
            <a:ext cx="838200" cy="838200"/>
          </a:xfrm>
          <a:prstGeom prst="straightConnector1">
            <a:avLst/>
          </a:prstGeom>
          <a:noFill/>
          <a:ln w="9525" cap="flat" cmpd="sng">
            <a:solidFill>
              <a:schemeClr val="dk1"/>
            </a:solidFill>
            <a:prstDash val="solid"/>
            <a:round/>
            <a:headEnd type="none" w="med" len="med"/>
            <a:tailEnd type="none" w="med" len="med"/>
          </a:ln>
        </p:spPr>
      </p:cxnSp>
      <p:sp>
        <p:nvSpPr>
          <p:cNvPr id="1819" name="Google Shape;1819;p46"/>
          <p:cNvSpPr txBox="1"/>
          <p:nvPr/>
        </p:nvSpPr>
        <p:spPr>
          <a:xfrm>
            <a:off x="1524000" y="3429000"/>
            <a:ext cx="3873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A</a:t>
            </a:r>
            <a:endParaRPr/>
          </a:p>
        </p:txBody>
      </p:sp>
      <p:sp>
        <p:nvSpPr>
          <p:cNvPr id="1820" name="Google Shape;1820;p46"/>
          <p:cNvSpPr txBox="1"/>
          <p:nvPr/>
        </p:nvSpPr>
        <p:spPr>
          <a:xfrm>
            <a:off x="2584450" y="3429000"/>
            <a:ext cx="3873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B</a:t>
            </a:r>
            <a:endParaRPr/>
          </a:p>
        </p:txBody>
      </p:sp>
      <p:sp>
        <p:nvSpPr>
          <p:cNvPr id="1821" name="Google Shape;1821;p46"/>
          <p:cNvSpPr txBox="1"/>
          <p:nvPr/>
        </p:nvSpPr>
        <p:spPr>
          <a:xfrm>
            <a:off x="3346450" y="3429000"/>
            <a:ext cx="4048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C</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26"/>
        <p:cNvGrpSpPr/>
        <p:nvPr/>
      </p:nvGrpSpPr>
      <p:grpSpPr>
        <a:xfrm>
          <a:off x="0" y="0"/>
          <a:ext cx="0" cy="0"/>
          <a:chOff x="0" y="0"/>
          <a:chExt cx="0" cy="0"/>
        </a:xfrm>
      </p:grpSpPr>
      <p:sp>
        <p:nvSpPr>
          <p:cNvPr id="1827" name="Google Shape;1827;p47"/>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Cuts in a graph</a:t>
            </a:r>
            <a:endParaRPr/>
          </a:p>
        </p:txBody>
      </p:sp>
      <p:sp>
        <p:nvSpPr>
          <p:cNvPr id="1828" name="Google Shape;1828;p47"/>
          <p:cNvSpPr txBox="1">
            <a:spLocks noGrp="1"/>
          </p:cNvSpPr>
          <p:nvPr>
            <p:ph type="body" idx="1"/>
          </p:nvPr>
        </p:nvSpPr>
        <p:spPr>
          <a:xfrm>
            <a:off x="685800" y="2590800"/>
            <a:ext cx="7772400" cy="1219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Link Cut</a:t>
            </a:r>
            <a:endParaRPr/>
          </a:p>
          <a:p>
            <a:pPr marL="742950" lvl="1" indent="-285750" algn="l" rtl="0">
              <a:spcBef>
                <a:spcPts val="400"/>
              </a:spcBef>
              <a:spcAft>
                <a:spcPts val="0"/>
              </a:spcAft>
              <a:buClr>
                <a:schemeClr val="dk1"/>
              </a:buClr>
              <a:buSzPts val="2000"/>
              <a:buFont typeface="Arial"/>
              <a:buChar char="•"/>
            </a:pPr>
            <a:r>
              <a:rPr lang="en-US"/>
              <a:t>set of links whose removal makes a graph disconnected</a:t>
            </a:r>
            <a:endParaRPr/>
          </a:p>
          <a:p>
            <a:pPr marL="742950" lvl="1" indent="-285750" algn="l" rtl="0">
              <a:spcBef>
                <a:spcPts val="400"/>
              </a:spcBef>
              <a:spcAft>
                <a:spcPts val="0"/>
              </a:spcAft>
              <a:buClr>
                <a:schemeClr val="dk1"/>
              </a:buClr>
              <a:buSzPts val="2000"/>
              <a:buFont typeface="Arial"/>
              <a:buChar char="•"/>
            </a:pPr>
            <a:r>
              <a:rPr lang="en-US"/>
              <a:t>cost of a cut:</a:t>
            </a:r>
            <a:endParaRPr/>
          </a:p>
        </p:txBody>
      </p:sp>
      <p:sp>
        <p:nvSpPr>
          <p:cNvPr id="1829" name="Google Shape;1829;p47"/>
          <p:cNvSpPr/>
          <p:nvPr/>
        </p:nvSpPr>
        <p:spPr>
          <a:xfrm>
            <a:off x="2849563" y="14097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0" name="Google Shape;1830;p47"/>
          <p:cNvSpPr/>
          <p:nvPr/>
        </p:nvSpPr>
        <p:spPr>
          <a:xfrm>
            <a:off x="3279775" y="1295400"/>
            <a:ext cx="106363"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1" name="Google Shape;1831;p47"/>
          <p:cNvSpPr/>
          <p:nvPr/>
        </p:nvSpPr>
        <p:spPr>
          <a:xfrm>
            <a:off x="2743200" y="1866900"/>
            <a:ext cx="106363"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2" name="Google Shape;1832;p47"/>
          <p:cNvSpPr/>
          <p:nvPr/>
        </p:nvSpPr>
        <p:spPr>
          <a:xfrm>
            <a:off x="3386138" y="19812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3" name="Google Shape;1833;p47"/>
          <p:cNvSpPr/>
          <p:nvPr/>
        </p:nvSpPr>
        <p:spPr>
          <a:xfrm>
            <a:off x="3814763" y="16383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4" name="Google Shape;1834;p47"/>
          <p:cNvSpPr/>
          <p:nvPr/>
        </p:nvSpPr>
        <p:spPr>
          <a:xfrm>
            <a:off x="4779963" y="15240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5" name="Google Shape;1835;p47"/>
          <p:cNvSpPr/>
          <p:nvPr/>
        </p:nvSpPr>
        <p:spPr>
          <a:xfrm>
            <a:off x="5316538" y="19812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6" name="Google Shape;1836;p47"/>
          <p:cNvSpPr/>
          <p:nvPr/>
        </p:nvSpPr>
        <p:spPr>
          <a:xfrm>
            <a:off x="3065463" y="2095500"/>
            <a:ext cx="106362"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7" name="Google Shape;1837;p47"/>
          <p:cNvSpPr/>
          <p:nvPr/>
        </p:nvSpPr>
        <p:spPr>
          <a:xfrm>
            <a:off x="3171825" y="10668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8" name="Google Shape;1838;p47"/>
          <p:cNvSpPr/>
          <p:nvPr/>
        </p:nvSpPr>
        <p:spPr>
          <a:xfrm>
            <a:off x="5532438" y="1524000"/>
            <a:ext cx="106362"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39" name="Google Shape;1839;p47"/>
          <p:cNvSpPr/>
          <p:nvPr/>
        </p:nvSpPr>
        <p:spPr>
          <a:xfrm>
            <a:off x="3065463" y="1638300"/>
            <a:ext cx="106362"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40" name="Google Shape;1840;p47"/>
          <p:cNvSpPr/>
          <p:nvPr/>
        </p:nvSpPr>
        <p:spPr>
          <a:xfrm>
            <a:off x="5102225" y="12954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41" name="Google Shape;1841;p47"/>
          <p:cNvSpPr/>
          <p:nvPr/>
        </p:nvSpPr>
        <p:spPr>
          <a:xfrm>
            <a:off x="4673600" y="1981200"/>
            <a:ext cx="106363"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42" name="Google Shape;1842;p47"/>
          <p:cNvSpPr/>
          <p:nvPr/>
        </p:nvSpPr>
        <p:spPr>
          <a:xfrm>
            <a:off x="5424488" y="23241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cxnSp>
        <p:nvCxnSpPr>
          <p:cNvPr id="1843" name="Google Shape;1843;p47"/>
          <p:cNvCxnSpPr>
            <a:stCxn id="1829" idx="5"/>
            <a:endCxn id="1839" idx="1"/>
          </p:cNvCxnSpPr>
          <p:nvPr/>
        </p:nvCxnSpPr>
        <p:spPr>
          <a:xfrm>
            <a:off x="2941704" y="1507261"/>
            <a:ext cx="139200" cy="147900"/>
          </a:xfrm>
          <a:prstGeom prst="straightConnector1">
            <a:avLst/>
          </a:prstGeom>
          <a:noFill/>
          <a:ln w="12700" cap="sq" cmpd="sng">
            <a:solidFill>
              <a:schemeClr val="dk1"/>
            </a:solidFill>
            <a:prstDash val="solid"/>
            <a:round/>
            <a:headEnd type="none" w="sm" len="sm"/>
            <a:tailEnd type="none" w="sm" len="sm"/>
          </a:ln>
        </p:spPr>
      </p:cxnSp>
      <p:cxnSp>
        <p:nvCxnSpPr>
          <p:cNvPr id="1844" name="Google Shape;1844;p47"/>
          <p:cNvCxnSpPr>
            <a:stCxn id="1831" idx="6"/>
            <a:endCxn id="1839" idx="3"/>
          </p:cNvCxnSpPr>
          <p:nvPr/>
        </p:nvCxnSpPr>
        <p:spPr>
          <a:xfrm rot="10800000" flipH="1">
            <a:off x="2849563" y="1735950"/>
            <a:ext cx="231600" cy="188100"/>
          </a:xfrm>
          <a:prstGeom prst="straightConnector1">
            <a:avLst/>
          </a:prstGeom>
          <a:noFill/>
          <a:ln w="12700" cap="sq" cmpd="sng">
            <a:solidFill>
              <a:schemeClr val="dk1"/>
            </a:solidFill>
            <a:prstDash val="solid"/>
            <a:round/>
            <a:headEnd type="none" w="sm" len="sm"/>
            <a:tailEnd type="none" w="sm" len="sm"/>
          </a:ln>
        </p:spPr>
      </p:cxnSp>
      <p:cxnSp>
        <p:nvCxnSpPr>
          <p:cNvPr id="1845" name="Google Shape;1845;p47"/>
          <p:cNvCxnSpPr>
            <a:stCxn id="1831" idx="5"/>
            <a:endCxn id="1836" idx="1"/>
          </p:cNvCxnSpPr>
          <p:nvPr/>
        </p:nvCxnSpPr>
        <p:spPr>
          <a:xfrm>
            <a:off x="2833987" y="1964461"/>
            <a:ext cx="247200" cy="147900"/>
          </a:xfrm>
          <a:prstGeom prst="straightConnector1">
            <a:avLst/>
          </a:prstGeom>
          <a:noFill/>
          <a:ln w="12700" cap="sq" cmpd="sng">
            <a:solidFill>
              <a:schemeClr val="dk1"/>
            </a:solidFill>
            <a:prstDash val="solid"/>
            <a:round/>
            <a:headEnd type="none" w="sm" len="sm"/>
            <a:tailEnd type="none" w="sm" len="sm"/>
          </a:ln>
        </p:spPr>
      </p:cxnSp>
      <p:cxnSp>
        <p:nvCxnSpPr>
          <p:cNvPr id="1846" name="Google Shape;1846;p47"/>
          <p:cNvCxnSpPr>
            <a:stCxn id="1829" idx="3"/>
            <a:endCxn id="1831" idx="0"/>
          </p:cNvCxnSpPr>
          <p:nvPr/>
        </p:nvCxnSpPr>
        <p:spPr>
          <a:xfrm flipH="1">
            <a:off x="2796372" y="1507261"/>
            <a:ext cx="69000" cy="359700"/>
          </a:xfrm>
          <a:prstGeom prst="straightConnector1">
            <a:avLst/>
          </a:prstGeom>
          <a:noFill/>
          <a:ln w="12700" cap="sq" cmpd="sng">
            <a:solidFill>
              <a:schemeClr val="dk1"/>
            </a:solidFill>
            <a:prstDash val="solid"/>
            <a:round/>
            <a:headEnd type="none" w="sm" len="sm"/>
            <a:tailEnd type="none" w="sm" len="sm"/>
          </a:ln>
        </p:spPr>
      </p:cxnSp>
      <p:cxnSp>
        <p:nvCxnSpPr>
          <p:cNvPr id="1847" name="Google Shape;1847;p47"/>
          <p:cNvCxnSpPr>
            <a:stCxn id="1839" idx="4"/>
            <a:endCxn id="1836" idx="0"/>
          </p:cNvCxnSpPr>
          <p:nvPr/>
        </p:nvCxnSpPr>
        <p:spPr>
          <a:xfrm>
            <a:off x="3118644" y="1752600"/>
            <a:ext cx="0" cy="342900"/>
          </a:xfrm>
          <a:prstGeom prst="straightConnector1">
            <a:avLst/>
          </a:prstGeom>
          <a:noFill/>
          <a:ln w="12700" cap="sq" cmpd="sng">
            <a:solidFill>
              <a:schemeClr val="dk1"/>
            </a:solidFill>
            <a:prstDash val="solid"/>
            <a:round/>
            <a:headEnd type="none" w="sm" len="sm"/>
            <a:tailEnd type="none" w="sm" len="sm"/>
          </a:ln>
        </p:spPr>
      </p:cxnSp>
      <p:cxnSp>
        <p:nvCxnSpPr>
          <p:cNvPr id="1848" name="Google Shape;1848;p47"/>
          <p:cNvCxnSpPr>
            <a:stCxn id="1839" idx="7"/>
            <a:endCxn id="1830" idx="4"/>
          </p:cNvCxnSpPr>
          <p:nvPr/>
        </p:nvCxnSpPr>
        <p:spPr>
          <a:xfrm rot="10800000" flipH="1">
            <a:off x="3156249" y="1409639"/>
            <a:ext cx="176700" cy="245400"/>
          </a:xfrm>
          <a:prstGeom prst="straightConnector1">
            <a:avLst/>
          </a:prstGeom>
          <a:noFill/>
          <a:ln w="12700" cap="sq" cmpd="sng">
            <a:solidFill>
              <a:schemeClr val="dk1"/>
            </a:solidFill>
            <a:prstDash val="solid"/>
            <a:round/>
            <a:headEnd type="none" w="sm" len="sm"/>
            <a:tailEnd type="none" w="sm" len="sm"/>
          </a:ln>
        </p:spPr>
      </p:cxnSp>
      <p:cxnSp>
        <p:nvCxnSpPr>
          <p:cNvPr id="1849" name="Google Shape;1849;p47"/>
          <p:cNvCxnSpPr>
            <a:stCxn id="1839" idx="5"/>
            <a:endCxn id="1832" idx="1"/>
          </p:cNvCxnSpPr>
          <p:nvPr/>
        </p:nvCxnSpPr>
        <p:spPr>
          <a:xfrm>
            <a:off x="3156249" y="1735861"/>
            <a:ext cx="245700" cy="262200"/>
          </a:xfrm>
          <a:prstGeom prst="straightConnector1">
            <a:avLst/>
          </a:prstGeom>
          <a:noFill/>
          <a:ln w="12700" cap="sq" cmpd="sng">
            <a:solidFill>
              <a:schemeClr val="dk1"/>
            </a:solidFill>
            <a:prstDash val="solid"/>
            <a:round/>
            <a:headEnd type="none" w="sm" len="sm"/>
            <a:tailEnd type="none" w="sm" len="sm"/>
          </a:ln>
        </p:spPr>
      </p:cxnSp>
      <p:cxnSp>
        <p:nvCxnSpPr>
          <p:cNvPr id="1850" name="Google Shape;1850;p47"/>
          <p:cNvCxnSpPr>
            <a:stCxn id="1836" idx="6"/>
            <a:endCxn id="1832" idx="3"/>
          </p:cNvCxnSpPr>
          <p:nvPr/>
        </p:nvCxnSpPr>
        <p:spPr>
          <a:xfrm rot="10800000" flipH="1">
            <a:off x="3171825" y="2078850"/>
            <a:ext cx="230100" cy="73800"/>
          </a:xfrm>
          <a:prstGeom prst="straightConnector1">
            <a:avLst/>
          </a:prstGeom>
          <a:noFill/>
          <a:ln w="12700" cap="sq" cmpd="sng">
            <a:solidFill>
              <a:schemeClr val="dk1"/>
            </a:solidFill>
            <a:prstDash val="solid"/>
            <a:round/>
            <a:headEnd type="none" w="sm" len="sm"/>
            <a:tailEnd type="none" w="sm" len="sm"/>
          </a:ln>
        </p:spPr>
      </p:cxnSp>
      <p:cxnSp>
        <p:nvCxnSpPr>
          <p:cNvPr id="1851" name="Google Shape;1851;p47"/>
          <p:cNvCxnSpPr>
            <a:stCxn id="1829" idx="7"/>
            <a:endCxn id="1837" idx="3"/>
          </p:cNvCxnSpPr>
          <p:nvPr/>
        </p:nvCxnSpPr>
        <p:spPr>
          <a:xfrm rot="10800000" flipH="1">
            <a:off x="2941704" y="1164239"/>
            <a:ext cx="246000" cy="262200"/>
          </a:xfrm>
          <a:prstGeom prst="straightConnector1">
            <a:avLst/>
          </a:prstGeom>
          <a:noFill/>
          <a:ln w="12700" cap="sq" cmpd="sng">
            <a:solidFill>
              <a:schemeClr val="dk1"/>
            </a:solidFill>
            <a:prstDash val="solid"/>
            <a:round/>
            <a:headEnd type="none" w="sm" len="sm"/>
            <a:tailEnd type="none" w="sm" len="sm"/>
          </a:ln>
        </p:spPr>
      </p:cxnSp>
      <p:cxnSp>
        <p:nvCxnSpPr>
          <p:cNvPr id="1852" name="Google Shape;1852;p47"/>
          <p:cNvCxnSpPr>
            <a:stCxn id="1837" idx="5"/>
            <a:endCxn id="1830" idx="0"/>
          </p:cNvCxnSpPr>
          <p:nvPr/>
        </p:nvCxnSpPr>
        <p:spPr>
          <a:xfrm>
            <a:off x="3263966" y="1164361"/>
            <a:ext cx="69000" cy="131100"/>
          </a:xfrm>
          <a:prstGeom prst="straightConnector1">
            <a:avLst/>
          </a:prstGeom>
          <a:noFill/>
          <a:ln w="12700" cap="sq" cmpd="sng">
            <a:solidFill>
              <a:schemeClr val="dk1"/>
            </a:solidFill>
            <a:prstDash val="solid"/>
            <a:round/>
            <a:headEnd type="none" w="sm" len="sm"/>
            <a:tailEnd type="none" w="sm" len="sm"/>
          </a:ln>
        </p:spPr>
      </p:cxnSp>
      <p:cxnSp>
        <p:nvCxnSpPr>
          <p:cNvPr id="1853" name="Google Shape;1853;p47"/>
          <p:cNvCxnSpPr>
            <a:stCxn id="1832" idx="7"/>
            <a:endCxn id="1833" idx="3"/>
          </p:cNvCxnSpPr>
          <p:nvPr/>
        </p:nvCxnSpPr>
        <p:spPr>
          <a:xfrm rot="10800000" flipH="1">
            <a:off x="3478279" y="1735739"/>
            <a:ext cx="352200" cy="262200"/>
          </a:xfrm>
          <a:prstGeom prst="straightConnector1">
            <a:avLst/>
          </a:prstGeom>
          <a:noFill/>
          <a:ln w="12700" cap="sq" cmpd="sng">
            <a:solidFill>
              <a:schemeClr val="dk1"/>
            </a:solidFill>
            <a:prstDash val="solid"/>
            <a:round/>
            <a:headEnd type="none" w="sm" len="sm"/>
            <a:tailEnd type="none" w="sm" len="sm"/>
          </a:ln>
        </p:spPr>
      </p:cxnSp>
      <p:cxnSp>
        <p:nvCxnSpPr>
          <p:cNvPr id="1854" name="Google Shape;1854;p47"/>
          <p:cNvCxnSpPr>
            <a:stCxn id="1837" idx="6"/>
            <a:endCxn id="1833" idx="1"/>
          </p:cNvCxnSpPr>
          <p:nvPr/>
        </p:nvCxnSpPr>
        <p:spPr>
          <a:xfrm>
            <a:off x="3279775" y="1123950"/>
            <a:ext cx="550800" cy="531000"/>
          </a:xfrm>
          <a:prstGeom prst="straightConnector1">
            <a:avLst/>
          </a:prstGeom>
          <a:noFill/>
          <a:ln w="12700" cap="sq" cmpd="sng">
            <a:solidFill>
              <a:schemeClr val="dk1"/>
            </a:solidFill>
            <a:prstDash val="solid"/>
            <a:round/>
            <a:headEnd type="none" w="sm" len="sm"/>
            <a:tailEnd type="none" w="sm" len="sm"/>
          </a:ln>
        </p:spPr>
      </p:cxnSp>
      <p:cxnSp>
        <p:nvCxnSpPr>
          <p:cNvPr id="1855" name="Google Shape;1855;p47"/>
          <p:cNvCxnSpPr>
            <a:stCxn id="1839" idx="6"/>
            <a:endCxn id="1833" idx="2"/>
          </p:cNvCxnSpPr>
          <p:nvPr/>
        </p:nvCxnSpPr>
        <p:spPr>
          <a:xfrm>
            <a:off x="3171825" y="1695450"/>
            <a:ext cx="642900" cy="0"/>
          </a:xfrm>
          <a:prstGeom prst="straightConnector1">
            <a:avLst/>
          </a:prstGeom>
          <a:noFill/>
          <a:ln w="12700" cap="sq" cmpd="sng">
            <a:solidFill>
              <a:schemeClr val="dk1"/>
            </a:solidFill>
            <a:prstDash val="solid"/>
            <a:round/>
            <a:headEnd type="none" w="sm" len="sm"/>
            <a:tailEnd type="none" w="sm" len="sm"/>
          </a:ln>
        </p:spPr>
      </p:cxnSp>
      <p:cxnSp>
        <p:nvCxnSpPr>
          <p:cNvPr id="1856" name="Google Shape;1856;p47"/>
          <p:cNvCxnSpPr>
            <a:stCxn id="1834" idx="4"/>
            <a:endCxn id="1841" idx="0"/>
          </p:cNvCxnSpPr>
          <p:nvPr/>
        </p:nvCxnSpPr>
        <p:spPr>
          <a:xfrm flipH="1">
            <a:off x="4726838" y="1638300"/>
            <a:ext cx="107100" cy="342900"/>
          </a:xfrm>
          <a:prstGeom prst="straightConnector1">
            <a:avLst/>
          </a:prstGeom>
          <a:noFill/>
          <a:ln w="12700" cap="sq" cmpd="sng">
            <a:solidFill>
              <a:schemeClr val="dk1"/>
            </a:solidFill>
            <a:prstDash val="solid"/>
            <a:round/>
            <a:headEnd type="none" w="sm" len="sm"/>
            <a:tailEnd type="none" w="sm" len="sm"/>
          </a:ln>
        </p:spPr>
      </p:cxnSp>
      <p:cxnSp>
        <p:nvCxnSpPr>
          <p:cNvPr id="1857" name="Google Shape;1857;p47"/>
          <p:cNvCxnSpPr>
            <a:stCxn id="1834" idx="7"/>
            <a:endCxn id="1840" idx="3"/>
          </p:cNvCxnSpPr>
          <p:nvPr/>
        </p:nvCxnSpPr>
        <p:spPr>
          <a:xfrm rot="10800000" flipH="1">
            <a:off x="4872104" y="1392839"/>
            <a:ext cx="246000" cy="147900"/>
          </a:xfrm>
          <a:prstGeom prst="straightConnector1">
            <a:avLst/>
          </a:prstGeom>
          <a:noFill/>
          <a:ln w="12700" cap="sq" cmpd="sng">
            <a:solidFill>
              <a:schemeClr val="dk1"/>
            </a:solidFill>
            <a:prstDash val="solid"/>
            <a:round/>
            <a:headEnd type="none" w="sm" len="sm"/>
            <a:tailEnd type="none" w="sm" len="sm"/>
          </a:ln>
        </p:spPr>
      </p:cxnSp>
      <p:cxnSp>
        <p:nvCxnSpPr>
          <p:cNvPr id="1858" name="Google Shape;1858;p47"/>
          <p:cNvCxnSpPr>
            <a:stCxn id="1840" idx="4"/>
            <a:endCxn id="1835" idx="1"/>
          </p:cNvCxnSpPr>
          <p:nvPr/>
        </p:nvCxnSpPr>
        <p:spPr>
          <a:xfrm>
            <a:off x="5156200" y="1409700"/>
            <a:ext cx="176100" cy="588300"/>
          </a:xfrm>
          <a:prstGeom prst="straightConnector1">
            <a:avLst/>
          </a:prstGeom>
          <a:noFill/>
          <a:ln w="12700" cap="sq" cmpd="sng">
            <a:solidFill>
              <a:schemeClr val="dk1"/>
            </a:solidFill>
            <a:prstDash val="solid"/>
            <a:round/>
            <a:headEnd type="none" w="sm" len="sm"/>
            <a:tailEnd type="none" w="sm" len="sm"/>
          </a:ln>
        </p:spPr>
      </p:cxnSp>
      <p:cxnSp>
        <p:nvCxnSpPr>
          <p:cNvPr id="1859" name="Google Shape;1859;p47"/>
          <p:cNvCxnSpPr>
            <a:stCxn id="1841" idx="6"/>
            <a:endCxn id="1835" idx="2"/>
          </p:cNvCxnSpPr>
          <p:nvPr/>
        </p:nvCxnSpPr>
        <p:spPr>
          <a:xfrm>
            <a:off x="4779963" y="2038350"/>
            <a:ext cx="536700" cy="0"/>
          </a:xfrm>
          <a:prstGeom prst="straightConnector1">
            <a:avLst/>
          </a:prstGeom>
          <a:noFill/>
          <a:ln w="12700" cap="sq" cmpd="sng">
            <a:solidFill>
              <a:schemeClr val="dk1"/>
            </a:solidFill>
            <a:prstDash val="solid"/>
            <a:round/>
            <a:headEnd type="none" w="sm" len="sm"/>
            <a:tailEnd type="none" w="sm" len="sm"/>
          </a:ln>
        </p:spPr>
      </p:cxnSp>
      <p:cxnSp>
        <p:nvCxnSpPr>
          <p:cNvPr id="1860" name="Google Shape;1860;p47"/>
          <p:cNvCxnSpPr>
            <a:stCxn id="1840" idx="5"/>
            <a:endCxn id="1838" idx="2"/>
          </p:cNvCxnSpPr>
          <p:nvPr/>
        </p:nvCxnSpPr>
        <p:spPr>
          <a:xfrm>
            <a:off x="5194366" y="1392961"/>
            <a:ext cx="338100" cy="188100"/>
          </a:xfrm>
          <a:prstGeom prst="straightConnector1">
            <a:avLst/>
          </a:prstGeom>
          <a:noFill/>
          <a:ln w="12700" cap="sq" cmpd="sng">
            <a:solidFill>
              <a:schemeClr val="dk1"/>
            </a:solidFill>
            <a:prstDash val="solid"/>
            <a:round/>
            <a:headEnd type="none" w="sm" len="sm"/>
            <a:tailEnd type="none" w="sm" len="sm"/>
          </a:ln>
        </p:spPr>
      </p:cxnSp>
      <p:cxnSp>
        <p:nvCxnSpPr>
          <p:cNvPr id="1861" name="Google Shape;1861;p47"/>
          <p:cNvCxnSpPr>
            <a:stCxn id="1834" idx="5"/>
            <a:endCxn id="1835" idx="1"/>
          </p:cNvCxnSpPr>
          <p:nvPr/>
        </p:nvCxnSpPr>
        <p:spPr>
          <a:xfrm>
            <a:off x="4872104" y="1621561"/>
            <a:ext cx="460200" cy="376500"/>
          </a:xfrm>
          <a:prstGeom prst="straightConnector1">
            <a:avLst/>
          </a:prstGeom>
          <a:noFill/>
          <a:ln w="12700" cap="sq" cmpd="sng">
            <a:solidFill>
              <a:schemeClr val="dk1"/>
            </a:solidFill>
            <a:prstDash val="solid"/>
            <a:round/>
            <a:headEnd type="none" w="sm" len="sm"/>
            <a:tailEnd type="none" w="sm" len="sm"/>
          </a:ln>
        </p:spPr>
      </p:cxnSp>
      <p:cxnSp>
        <p:nvCxnSpPr>
          <p:cNvPr id="1862" name="Google Shape;1862;p47"/>
          <p:cNvCxnSpPr>
            <a:stCxn id="1838" idx="3"/>
            <a:endCxn id="1841" idx="7"/>
          </p:cNvCxnSpPr>
          <p:nvPr/>
        </p:nvCxnSpPr>
        <p:spPr>
          <a:xfrm flipH="1">
            <a:off x="4764414" y="1621561"/>
            <a:ext cx="783600" cy="376500"/>
          </a:xfrm>
          <a:prstGeom prst="straightConnector1">
            <a:avLst/>
          </a:prstGeom>
          <a:noFill/>
          <a:ln w="12700" cap="sq" cmpd="sng">
            <a:solidFill>
              <a:schemeClr val="dk1"/>
            </a:solidFill>
            <a:prstDash val="solid"/>
            <a:round/>
            <a:headEnd type="none" w="sm" len="sm"/>
            <a:tailEnd type="none" w="sm" len="sm"/>
          </a:ln>
        </p:spPr>
      </p:cxnSp>
      <p:cxnSp>
        <p:nvCxnSpPr>
          <p:cNvPr id="1863" name="Google Shape;1863;p47"/>
          <p:cNvCxnSpPr>
            <a:stCxn id="1838" idx="4"/>
            <a:endCxn id="1842" idx="0"/>
          </p:cNvCxnSpPr>
          <p:nvPr/>
        </p:nvCxnSpPr>
        <p:spPr>
          <a:xfrm flipH="1">
            <a:off x="5478519" y="1638300"/>
            <a:ext cx="107100" cy="685800"/>
          </a:xfrm>
          <a:prstGeom prst="straightConnector1">
            <a:avLst/>
          </a:prstGeom>
          <a:noFill/>
          <a:ln w="12700" cap="sq" cmpd="sng">
            <a:solidFill>
              <a:schemeClr val="dk1"/>
            </a:solidFill>
            <a:prstDash val="solid"/>
            <a:round/>
            <a:headEnd type="none" w="sm" len="sm"/>
            <a:tailEnd type="none" w="sm" len="sm"/>
          </a:ln>
        </p:spPr>
      </p:cxnSp>
      <p:cxnSp>
        <p:nvCxnSpPr>
          <p:cNvPr id="1864" name="Google Shape;1864;p47"/>
          <p:cNvCxnSpPr>
            <a:stCxn id="1841" idx="5"/>
            <a:endCxn id="1842" idx="2"/>
          </p:cNvCxnSpPr>
          <p:nvPr/>
        </p:nvCxnSpPr>
        <p:spPr>
          <a:xfrm>
            <a:off x="4764387" y="2078761"/>
            <a:ext cx="660000" cy="302400"/>
          </a:xfrm>
          <a:prstGeom prst="straightConnector1">
            <a:avLst/>
          </a:prstGeom>
          <a:noFill/>
          <a:ln w="12700" cap="sq" cmpd="sng">
            <a:solidFill>
              <a:schemeClr val="dk1"/>
            </a:solidFill>
            <a:prstDash val="solid"/>
            <a:round/>
            <a:headEnd type="none" w="sm" len="sm"/>
            <a:tailEnd type="none" w="sm" len="sm"/>
          </a:ln>
        </p:spPr>
      </p:cxnSp>
      <p:cxnSp>
        <p:nvCxnSpPr>
          <p:cNvPr id="1865" name="Google Shape;1865;p47"/>
          <p:cNvCxnSpPr>
            <a:stCxn id="1833" idx="6"/>
            <a:endCxn id="1834" idx="2"/>
          </p:cNvCxnSpPr>
          <p:nvPr/>
        </p:nvCxnSpPr>
        <p:spPr>
          <a:xfrm rot="10800000" flipH="1">
            <a:off x="3922713" y="1581150"/>
            <a:ext cx="857400" cy="114300"/>
          </a:xfrm>
          <a:prstGeom prst="straightConnector1">
            <a:avLst/>
          </a:prstGeom>
          <a:noFill/>
          <a:ln w="38100" cap="flat" cmpd="sng">
            <a:solidFill>
              <a:srgbClr val="FF3300"/>
            </a:solidFill>
            <a:prstDash val="dot"/>
            <a:round/>
            <a:headEnd type="none" w="sm" len="sm"/>
            <a:tailEnd type="none" w="sm" len="sm"/>
          </a:ln>
        </p:spPr>
      </p:cxnSp>
      <p:cxnSp>
        <p:nvCxnSpPr>
          <p:cNvPr id="1866" name="Google Shape;1866;p47"/>
          <p:cNvCxnSpPr>
            <a:stCxn id="1832" idx="5"/>
            <a:endCxn id="1842" idx="3"/>
          </p:cNvCxnSpPr>
          <p:nvPr/>
        </p:nvCxnSpPr>
        <p:spPr>
          <a:xfrm>
            <a:off x="3478279" y="2078761"/>
            <a:ext cx="1962000" cy="342900"/>
          </a:xfrm>
          <a:prstGeom prst="straightConnector1">
            <a:avLst/>
          </a:prstGeom>
          <a:noFill/>
          <a:ln w="38100" cap="flat" cmpd="sng">
            <a:solidFill>
              <a:srgbClr val="FF3300"/>
            </a:solidFill>
            <a:prstDash val="dot"/>
            <a:round/>
            <a:headEnd type="none" w="sm" len="sm"/>
            <a:tailEnd type="none" w="sm" len="sm"/>
          </a:ln>
        </p:spPr>
      </p:cxnSp>
      <p:cxnSp>
        <p:nvCxnSpPr>
          <p:cNvPr id="1867" name="Google Shape;1867;p47"/>
          <p:cNvCxnSpPr>
            <a:stCxn id="1837" idx="7"/>
            <a:endCxn id="1834" idx="1"/>
          </p:cNvCxnSpPr>
          <p:nvPr/>
        </p:nvCxnSpPr>
        <p:spPr>
          <a:xfrm>
            <a:off x="3263966" y="1083539"/>
            <a:ext cx="1531800" cy="457200"/>
          </a:xfrm>
          <a:prstGeom prst="straightConnector1">
            <a:avLst/>
          </a:prstGeom>
          <a:noFill/>
          <a:ln w="38100" cap="flat" cmpd="sng">
            <a:solidFill>
              <a:srgbClr val="FF3300"/>
            </a:solidFill>
            <a:prstDash val="dot"/>
            <a:round/>
            <a:headEnd type="none" w="sm" len="sm"/>
            <a:tailEnd type="none" w="sm" len="sm"/>
          </a:ln>
        </p:spPr>
      </p:cxnSp>
      <p:cxnSp>
        <p:nvCxnSpPr>
          <p:cNvPr id="1868" name="Google Shape;1868;p47"/>
          <p:cNvCxnSpPr>
            <a:stCxn id="1833" idx="5"/>
            <a:endCxn id="1841" idx="2"/>
          </p:cNvCxnSpPr>
          <p:nvPr/>
        </p:nvCxnSpPr>
        <p:spPr>
          <a:xfrm>
            <a:off x="3906904" y="1735861"/>
            <a:ext cx="766800" cy="302400"/>
          </a:xfrm>
          <a:prstGeom prst="straightConnector1">
            <a:avLst/>
          </a:prstGeom>
          <a:noFill/>
          <a:ln w="38100" cap="flat" cmpd="sng">
            <a:solidFill>
              <a:srgbClr val="FF3300"/>
            </a:solidFill>
            <a:prstDash val="dot"/>
            <a:round/>
            <a:headEnd type="none" w="sm" len="sm"/>
            <a:tailEnd type="none" w="sm" len="sm"/>
          </a:ln>
        </p:spPr>
      </p:cxnSp>
      <p:sp>
        <p:nvSpPr>
          <p:cNvPr id="1869" name="Google Shape;1869;p47"/>
          <p:cNvSpPr txBox="1"/>
          <p:nvPr/>
        </p:nvSpPr>
        <p:spPr>
          <a:xfrm>
            <a:off x="2667000" y="2057400"/>
            <a:ext cx="4048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2"/>
                </a:solidFill>
                <a:latin typeface="Arial"/>
                <a:ea typeface="Arial"/>
                <a:cs typeface="Arial"/>
                <a:sym typeface="Arial"/>
              </a:rPr>
              <a:t>A</a:t>
            </a:r>
            <a:endParaRPr/>
          </a:p>
        </p:txBody>
      </p:sp>
      <p:sp>
        <p:nvSpPr>
          <p:cNvPr id="1870" name="Google Shape;1870;p47"/>
          <p:cNvSpPr txBox="1"/>
          <p:nvPr/>
        </p:nvSpPr>
        <p:spPr>
          <a:xfrm>
            <a:off x="5562600" y="1905000"/>
            <a:ext cx="4048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2"/>
                </a:solidFill>
                <a:latin typeface="Arial"/>
                <a:ea typeface="Arial"/>
                <a:cs typeface="Arial"/>
                <a:sym typeface="Arial"/>
              </a:rPr>
              <a:t>B</a:t>
            </a:r>
            <a:endParaRPr/>
          </a:p>
        </p:txBody>
      </p:sp>
      <p:sp>
        <p:nvSpPr>
          <p:cNvPr id="1871" name="Google Shape;1871;p47"/>
          <p:cNvSpPr/>
          <p:nvPr/>
        </p:nvSpPr>
        <p:spPr>
          <a:xfrm>
            <a:off x="685800" y="5072063"/>
            <a:ext cx="7772400" cy="1219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None/>
            </a:pPr>
            <a:r>
              <a:rPr lang="en-US" sz="2400">
                <a:solidFill>
                  <a:schemeClr val="dk1"/>
                </a:solidFill>
                <a:latin typeface="Arial"/>
                <a:ea typeface="Arial"/>
                <a:cs typeface="Arial"/>
                <a:sym typeface="Arial"/>
              </a:rPr>
              <a:t>Find minimum cut</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gives you a segmentation</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fast algorithms exist for doing this</a:t>
            </a:r>
            <a:endParaRPr/>
          </a:p>
        </p:txBody>
      </p:sp>
      <p:pic>
        <p:nvPicPr>
          <p:cNvPr id="1872" name="Google Shape;1872;p47"/>
          <p:cNvPicPr preferRelativeResize="0"/>
          <p:nvPr/>
        </p:nvPicPr>
        <p:blipFill rotWithShape="1">
          <a:blip r:embed="rId3">
            <a:alphaModFix/>
          </a:blip>
          <a:srcRect/>
          <a:stretch/>
        </p:blipFill>
        <p:spPr>
          <a:xfrm>
            <a:off x="3155950" y="3771900"/>
            <a:ext cx="3019425" cy="10191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p48"/>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But min cut is not always the best cut...</a:t>
            </a:r>
            <a:endParaRPr/>
          </a:p>
        </p:txBody>
      </p:sp>
      <p:pic>
        <p:nvPicPr>
          <p:cNvPr id="1878" name="Google Shape;1878;p48"/>
          <p:cNvPicPr preferRelativeResize="0"/>
          <p:nvPr/>
        </p:nvPicPr>
        <p:blipFill rotWithShape="1">
          <a:blip r:embed="rId3">
            <a:alphaModFix/>
          </a:blip>
          <a:srcRect/>
          <a:stretch/>
        </p:blipFill>
        <p:spPr>
          <a:xfrm>
            <a:off x="304800" y="1616075"/>
            <a:ext cx="8610600" cy="386556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82"/>
        <p:cNvGrpSpPr/>
        <p:nvPr/>
      </p:nvGrpSpPr>
      <p:grpSpPr>
        <a:xfrm>
          <a:off x="0" y="0"/>
          <a:ext cx="0" cy="0"/>
          <a:chOff x="0" y="0"/>
          <a:chExt cx="0" cy="0"/>
        </a:xfrm>
      </p:grpSpPr>
      <p:sp>
        <p:nvSpPr>
          <p:cNvPr id="1883" name="Google Shape;1883;p49"/>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But min cut is not always the best cut...</a:t>
            </a:r>
            <a:endParaRPr/>
          </a:p>
        </p:txBody>
      </p:sp>
      <p:pic>
        <p:nvPicPr>
          <p:cNvPr id="1884" name="Google Shape;1884;p49"/>
          <p:cNvPicPr preferRelativeResize="0">
            <a:picLocks noGrp="1"/>
          </p:cNvPicPr>
          <p:nvPr>
            <p:ph type="body" idx="1"/>
          </p:nvPr>
        </p:nvPicPr>
        <p:blipFill rotWithShape="1">
          <a:blip r:embed="rId3">
            <a:alphaModFix/>
          </a:blip>
          <a:srcRect/>
          <a:stretch/>
        </p:blipFill>
        <p:spPr>
          <a:xfrm>
            <a:off x="1371600" y="1600200"/>
            <a:ext cx="6248400" cy="39672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50"/>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Cuts in a graph</a:t>
            </a:r>
            <a:endParaRPr/>
          </a:p>
        </p:txBody>
      </p:sp>
      <p:sp>
        <p:nvSpPr>
          <p:cNvPr id="1891" name="Google Shape;1891;p50"/>
          <p:cNvSpPr/>
          <p:nvPr/>
        </p:nvSpPr>
        <p:spPr>
          <a:xfrm>
            <a:off x="2849563" y="14097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2" name="Google Shape;1892;p50"/>
          <p:cNvSpPr/>
          <p:nvPr/>
        </p:nvSpPr>
        <p:spPr>
          <a:xfrm>
            <a:off x="3279775" y="1295400"/>
            <a:ext cx="106363"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3" name="Google Shape;1893;p50"/>
          <p:cNvSpPr/>
          <p:nvPr/>
        </p:nvSpPr>
        <p:spPr>
          <a:xfrm>
            <a:off x="2743200" y="1866900"/>
            <a:ext cx="106363"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4" name="Google Shape;1894;p50"/>
          <p:cNvSpPr/>
          <p:nvPr/>
        </p:nvSpPr>
        <p:spPr>
          <a:xfrm>
            <a:off x="3386138" y="19812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5" name="Google Shape;1895;p50"/>
          <p:cNvSpPr/>
          <p:nvPr/>
        </p:nvSpPr>
        <p:spPr>
          <a:xfrm>
            <a:off x="3814763" y="16383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6" name="Google Shape;1896;p50"/>
          <p:cNvSpPr/>
          <p:nvPr/>
        </p:nvSpPr>
        <p:spPr>
          <a:xfrm>
            <a:off x="4779963" y="15240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7" name="Google Shape;1897;p50"/>
          <p:cNvSpPr/>
          <p:nvPr/>
        </p:nvSpPr>
        <p:spPr>
          <a:xfrm>
            <a:off x="5316538" y="19812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8" name="Google Shape;1898;p50"/>
          <p:cNvSpPr/>
          <p:nvPr/>
        </p:nvSpPr>
        <p:spPr>
          <a:xfrm>
            <a:off x="3065463" y="2095500"/>
            <a:ext cx="106362"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899" name="Google Shape;1899;p50"/>
          <p:cNvSpPr/>
          <p:nvPr/>
        </p:nvSpPr>
        <p:spPr>
          <a:xfrm>
            <a:off x="3171825" y="1066800"/>
            <a:ext cx="107950"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00" name="Google Shape;1900;p50"/>
          <p:cNvSpPr/>
          <p:nvPr/>
        </p:nvSpPr>
        <p:spPr>
          <a:xfrm>
            <a:off x="5532438" y="1524000"/>
            <a:ext cx="106362"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01" name="Google Shape;1901;p50"/>
          <p:cNvSpPr/>
          <p:nvPr/>
        </p:nvSpPr>
        <p:spPr>
          <a:xfrm>
            <a:off x="3065463" y="1638300"/>
            <a:ext cx="106362" cy="114300"/>
          </a:xfrm>
          <a:prstGeom prst="ellipse">
            <a:avLst/>
          </a:prstGeom>
          <a:solidFill>
            <a:schemeClr val="accen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02" name="Google Shape;1902;p50"/>
          <p:cNvSpPr/>
          <p:nvPr/>
        </p:nvSpPr>
        <p:spPr>
          <a:xfrm>
            <a:off x="5102225" y="12954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03" name="Google Shape;1903;p50"/>
          <p:cNvSpPr/>
          <p:nvPr/>
        </p:nvSpPr>
        <p:spPr>
          <a:xfrm>
            <a:off x="4673600" y="1981200"/>
            <a:ext cx="106363"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04" name="Google Shape;1904;p50"/>
          <p:cNvSpPr/>
          <p:nvPr/>
        </p:nvSpPr>
        <p:spPr>
          <a:xfrm>
            <a:off x="5424488" y="2324100"/>
            <a:ext cx="107950" cy="114300"/>
          </a:xfrm>
          <a:prstGeom prst="ellipse">
            <a:avLst/>
          </a:prstGeom>
          <a:solidFill>
            <a:schemeClr val="lt2"/>
          </a:solidFill>
          <a:ln w="12700"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cxnSp>
        <p:nvCxnSpPr>
          <p:cNvPr id="1905" name="Google Shape;1905;p50"/>
          <p:cNvCxnSpPr>
            <a:stCxn id="1891" idx="5"/>
            <a:endCxn id="1901" idx="1"/>
          </p:cNvCxnSpPr>
          <p:nvPr/>
        </p:nvCxnSpPr>
        <p:spPr>
          <a:xfrm>
            <a:off x="2941704" y="1507261"/>
            <a:ext cx="139200" cy="147900"/>
          </a:xfrm>
          <a:prstGeom prst="straightConnector1">
            <a:avLst/>
          </a:prstGeom>
          <a:noFill/>
          <a:ln w="12700" cap="sq" cmpd="sng">
            <a:solidFill>
              <a:schemeClr val="dk1"/>
            </a:solidFill>
            <a:prstDash val="solid"/>
            <a:round/>
            <a:headEnd type="none" w="sm" len="sm"/>
            <a:tailEnd type="none" w="sm" len="sm"/>
          </a:ln>
        </p:spPr>
      </p:cxnSp>
      <p:cxnSp>
        <p:nvCxnSpPr>
          <p:cNvPr id="1906" name="Google Shape;1906;p50"/>
          <p:cNvCxnSpPr>
            <a:stCxn id="1893" idx="6"/>
            <a:endCxn id="1901" idx="3"/>
          </p:cNvCxnSpPr>
          <p:nvPr/>
        </p:nvCxnSpPr>
        <p:spPr>
          <a:xfrm rot="10800000" flipH="1">
            <a:off x="2849563" y="1735950"/>
            <a:ext cx="231600" cy="188100"/>
          </a:xfrm>
          <a:prstGeom prst="straightConnector1">
            <a:avLst/>
          </a:prstGeom>
          <a:noFill/>
          <a:ln w="12700" cap="sq" cmpd="sng">
            <a:solidFill>
              <a:schemeClr val="dk1"/>
            </a:solidFill>
            <a:prstDash val="solid"/>
            <a:round/>
            <a:headEnd type="none" w="sm" len="sm"/>
            <a:tailEnd type="none" w="sm" len="sm"/>
          </a:ln>
        </p:spPr>
      </p:cxnSp>
      <p:cxnSp>
        <p:nvCxnSpPr>
          <p:cNvPr id="1907" name="Google Shape;1907;p50"/>
          <p:cNvCxnSpPr>
            <a:stCxn id="1893" idx="5"/>
            <a:endCxn id="1898" idx="1"/>
          </p:cNvCxnSpPr>
          <p:nvPr/>
        </p:nvCxnSpPr>
        <p:spPr>
          <a:xfrm>
            <a:off x="2833987" y="1964461"/>
            <a:ext cx="247200" cy="147900"/>
          </a:xfrm>
          <a:prstGeom prst="straightConnector1">
            <a:avLst/>
          </a:prstGeom>
          <a:noFill/>
          <a:ln w="12700" cap="sq" cmpd="sng">
            <a:solidFill>
              <a:schemeClr val="dk1"/>
            </a:solidFill>
            <a:prstDash val="solid"/>
            <a:round/>
            <a:headEnd type="none" w="sm" len="sm"/>
            <a:tailEnd type="none" w="sm" len="sm"/>
          </a:ln>
        </p:spPr>
      </p:cxnSp>
      <p:cxnSp>
        <p:nvCxnSpPr>
          <p:cNvPr id="1908" name="Google Shape;1908;p50"/>
          <p:cNvCxnSpPr>
            <a:stCxn id="1891" idx="3"/>
            <a:endCxn id="1893" idx="0"/>
          </p:cNvCxnSpPr>
          <p:nvPr/>
        </p:nvCxnSpPr>
        <p:spPr>
          <a:xfrm flipH="1">
            <a:off x="2796372" y="1507261"/>
            <a:ext cx="69000" cy="359700"/>
          </a:xfrm>
          <a:prstGeom prst="straightConnector1">
            <a:avLst/>
          </a:prstGeom>
          <a:noFill/>
          <a:ln w="12700" cap="sq" cmpd="sng">
            <a:solidFill>
              <a:schemeClr val="dk1"/>
            </a:solidFill>
            <a:prstDash val="solid"/>
            <a:round/>
            <a:headEnd type="none" w="sm" len="sm"/>
            <a:tailEnd type="none" w="sm" len="sm"/>
          </a:ln>
        </p:spPr>
      </p:cxnSp>
      <p:cxnSp>
        <p:nvCxnSpPr>
          <p:cNvPr id="1909" name="Google Shape;1909;p50"/>
          <p:cNvCxnSpPr>
            <a:stCxn id="1901" idx="4"/>
            <a:endCxn id="1898" idx="0"/>
          </p:cNvCxnSpPr>
          <p:nvPr/>
        </p:nvCxnSpPr>
        <p:spPr>
          <a:xfrm>
            <a:off x="3118644" y="1752600"/>
            <a:ext cx="0" cy="342900"/>
          </a:xfrm>
          <a:prstGeom prst="straightConnector1">
            <a:avLst/>
          </a:prstGeom>
          <a:noFill/>
          <a:ln w="12700" cap="sq" cmpd="sng">
            <a:solidFill>
              <a:schemeClr val="dk1"/>
            </a:solidFill>
            <a:prstDash val="solid"/>
            <a:round/>
            <a:headEnd type="none" w="sm" len="sm"/>
            <a:tailEnd type="none" w="sm" len="sm"/>
          </a:ln>
        </p:spPr>
      </p:cxnSp>
      <p:cxnSp>
        <p:nvCxnSpPr>
          <p:cNvPr id="1910" name="Google Shape;1910;p50"/>
          <p:cNvCxnSpPr>
            <a:stCxn id="1901" idx="7"/>
            <a:endCxn id="1892" idx="4"/>
          </p:cNvCxnSpPr>
          <p:nvPr/>
        </p:nvCxnSpPr>
        <p:spPr>
          <a:xfrm rot="10800000" flipH="1">
            <a:off x="3156249" y="1409639"/>
            <a:ext cx="176700" cy="245400"/>
          </a:xfrm>
          <a:prstGeom prst="straightConnector1">
            <a:avLst/>
          </a:prstGeom>
          <a:noFill/>
          <a:ln w="12700" cap="sq" cmpd="sng">
            <a:solidFill>
              <a:schemeClr val="dk1"/>
            </a:solidFill>
            <a:prstDash val="solid"/>
            <a:round/>
            <a:headEnd type="none" w="sm" len="sm"/>
            <a:tailEnd type="none" w="sm" len="sm"/>
          </a:ln>
        </p:spPr>
      </p:cxnSp>
      <p:cxnSp>
        <p:nvCxnSpPr>
          <p:cNvPr id="1911" name="Google Shape;1911;p50"/>
          <p:cNvCxnSpPr>
            <a:stCxn id="1901" idx="5"/>
            <a:endCxn id="1894" idx="1"/>
          </p:cNvCxnSpPr>
          <p:nvPr/>
        </p:nvCxnSpPr>
        <p:spPr>
          <a:xfrm>
            <a:off x="3156249" y="1735861"/>
            <a:ext cx="245700" cy="262200"/>
          </a:xfrm>
          <a:prstGeom prst="straightConnector1">
            <a:avLst/>
          </a:prstGeom>
          <a:noFill/>
          <a:ln w="12700" cap="sq" cmpd="sng">
            <a:solidFill>
              <a:schemeClr val="dk1"/>
            </a:solidFill>
            <a:prstDash val="solid"/>
            <a:round/>
            <a:headEnd type="none" w="sm" len="sm"/>
            <a:tailEnd type="none" w="sm" len="sm"/>
          </a:ln>
        </p:spPr>
      </p:cxnSp>
      <p:cxnSp>
        <p:nvCxnSpPr>
          <p:cNvPr id="1912" name="Google Shape;1912;p50"/>
          <p:cNvCxnSpPr>
            <a:stCxn id="1898" idx="6"/>
            <a:endCxn id="1894" idx="3"/>
          </p:cNvCxnSpPr>
          <p:nvPr/>
        </p:nvCxnSpPr>
        <p:spPr>
          <a:xfrm rot="10800000" flipH="1">
            <a:off x="3171825" y="2078850"/>
            <a:ext cx="230100" cy="73800"/>
          </a:xfrm>
          <a:prstGeom prst="straightConnector1">
            <a:avLst/>
          </a:prstGeom>
          <a:noFill/>
          <a:ln w="12700" cap="sq" cmpd="sng">
            <a:solidFill>
              <a:schemeClr val="dk1"/>
            </a:solidFill>
            <a:prstDash val="solid"/>
            <a:round/>
            <a:headEnd type="none" w="sm" len="sm"/>
            <a:tailEnd type="none" w="sm" len="sm"/>
          </a:ln>
        </p:spPr>
      </p:cxnSp>
      <p:cxnSp>
        <p:nvCxnSpPr>
          <p:cNvPr id="1913" name="Google Shape;1913;p50"/>
          <p:cNvCxnSpPr>
            <a:stCxn id="1891" idx="7"/>
            <a:endCxn id="1899" idx="3"/>
          </p:cNvCxnSpPr>
          <p:nvPr/>
        </p:nvCxnSpPr>
        <p:spPr>
          <a:xfrm rot="10800000" flipH="1">
            <a:off x="2941704" y="1164239"/>
            <a:ext cx="246000" cy="262200"/>
          </a:xfrm>
          <a:prstGeom prst="straightConnector1">
            <a:avLst/>
          </a:prstGeom>
          <a:noFill/>
          <a:ln w="12700" cap="sq" cmpd="sng">
            <a:solidFill>
              <a:schemeClr val="dk1"/>
            </a:solidFill>
            <a:prstDash val="solid"/>
            <a:round/>
            <a:headEnd type="none" w="sm" len="sm"/>
            <a:tailEnd type="none" w="sm" len="sm"/>
          </a:ln>
        </p:spPr>
      </p:cxnSp>
      <p:cxnSp>
        <p:nvCxnSpPr>
          <p:cNvPr id="1914" name="Google Shape;1914;p50"/>
          <p:cNvCxnSpPr>
            <a:stCxn id="1899" idx="5"/>
            <a:endCxn id="1892" idx="0"/>
          </p:cNvCxnSpPr>
          <p:nvPr/>
        </p:nvCxnSpPr>
        <p:spPr>
          <a:xfrm>
            <a:off x="3263966" y="1164361"/>
            <a:ext cx="69000" cy="131100"/>
          </a:xfrm>
          <a:prstGeom prst="straightConnector1">
            <a:avLst/>
          </a:prstGeom>
          <a:noFill/>
          <a:ln w="12700" cap="sq" cmpd="sng">
            <a:solidFill>
              <a:schemeClr val="dk1"/>
            </a:solidFill>
            <a:prstDash val="solid"/>
            <a:round/>
            <a:headEnd type="none" w="sm" len="sm"/>
            <a:tailEnd type="none" w="sm" len="sm"/>
          </a:ln>
        </p:spPr>
      </p:cxnSp>
      <p:cxnSp>
        <p:nvCxnSpPr>
          <p:cNvPr id="1915" name="Google Shape;1915;p50"/>
          <p:cNvCxnSpPr>
            <a:stCxn id="1894" idx="7"/>
            <a:endCxn id="1895" idx="3"/>
          </p:cNvCxnSpPr>
          <p:nvPr/>
        </p:nvCxnSpPr>
        <p:spPr>
          <a:xfrm rot="10800000" flipH="1">
            <a:off x="3478279" y="1735739"/>
            <a:ext cx="352200" cy="262200"/>
          </a:xfrm>
          <a:prstGeom prst="straightConnector1">
            <a:avLst/>
          </a:prstGeom>
          <a:noFill/>
          <a:ln w="12700" cap="sq" cmpd="sng">
            <a:solidFill>
              <a:schemeClr val="dk1"/>
            </a:solidFill>
            <a:prstDash val="solid"/>
            <a:round/>
            <a:headEnd type="none" w="sm" len="sm"/>
            <a:tailEnd type="none" w="sm" len="sm"/>
          </a:ln>
        </p:spPr>
      </p:cxnSp>
      <p:cxnSp>
        <p:nvCxnSpPr>
          <p:cNvPr id="1916" name="Google Shape;1916;p50"/>
          <p:cNvCxnSpPr>
            <a:stCxn id="1899" idx="6"/>
            <a:endCxn id="1895" idx="1"/>
          </p:cNvCxnSpPr>
          <p:nvPr/>
        </p:nvCxnSpPr>
        <p:spPr>
          <a:xfrm>
            <a:off x="3279775" y="1123950"/>
            <a:ext cx="550800" cy="531000"/>
          </a:xfrm>
          <a:prstGeom prst="straightConnector1">
            <a:avLst/>
          </a:prstGeom>
          <a:noFill/>
          <a:ln w="12700" cap="sq" cmpd="sng">
            <a:solidFill>
              <a:schemeClr val="dk1"/>
            </a:solidFill>
            <a:prstDash val="solid"/>
            <a:round/>
            <a:headEnd type="none" w="sm" len="sm"/>
            <a:tailEnd type="none" w="sm" len="sm"/>
          </a:ln>
        </p:spPr>
      </p:cxnSp>
      <p:cxnSp>
        <p:nvCxnSpPr>
          <p:cNvPr id="1917" name="Google Shape;1917;p50"/>
          <p:cNvCxnSpPr>
            <a:stCxn id="1901" idx="6"/>
            <a:endCxn id="1895" idx="2"/>
          </p:cNvCxnSpPr>
          <p:nvPr/>
        </p:nvCxnSpPr>
        <p:spPr>
          <a:xfrm>
            <a:off x="3171825" y="1695450"/>
            <a:ext cx="642900" cy="0"/>
          </a:xfrm>
          <a:prstGeom prst="straightConnector1">
            <a:avLst/>
          </a:prstGeom>
          <a:noFill/>
          <a:ln w="12700" cap="sq" cmpd="sng">
            <a:solidFill>
              <a:schemeClr val="dk1"/>
            </a:solidFill>
            <a:prstDash val="solid"/>
            <a:round/>
            <a:headEnd type="none" w="sm" len="sm"/>
            <a:tailEnd type="none" w="sm" len="sm"/>
          </a:ln>
        </p:spPr>
      </p:cxnSp>
      <p:cxnSp>
        <p:nvCxnSpPr>
          <p:cNvPr id="1918" name="Google Shape;1918;p50"/>
          <p:cNvCxnSpPr>
            <a:stCxn id="1896" idx="4"/>
            <a:endCxn id="1903" idx="0"/>
          </p:cNvCxnSpPr>
          <p:nvPr/>
        </p:nvCxnSpPr>
        <p:spPr>
          <a:xfrm flipH="1">
            <a:off x="4726838" y="1638300"/>
            <a:ext cx="107100" cy="342900"/>
          </a:xfrm>
          <a:prstGeom prst="straightConnector1">
            <a:avLst/>
          </a:prstGeom>
          <a:noFill/>
          <a:ln w="12700" cap="sq" cmpd="sng">
            <a:solidFill>
              <a:schemeClr val="dk1"/>
            </a:solidFill>
            <a:prstDash val="solid"/>
            <a:round/>
            <a:headEnd type="none" w="sm" len="sm"/>
            <a:tailEnd type="none" w="sm" len="sm"/>
          </a:ln>
        </p:spPr>
      </p:cxnSp>
      <p:cxnSp>
        <p:nvCxnSpPr>
          <p:cNvPr id="1919" name="Google Shape;1919;p50"/>
          <p:cNvCxnSpPr>
            <a:stCxn id="1896" idx="7"/>
            <a:endCxn id="1902" idx="3"/>
          </p:cNvCxnSpPr>
          <p:nvPr/>
        </p:nvCxnSpPr>
        <p:spPr>
          <a:xfrm rot="10800000" flipH="1">
            <a:off x="4872104" y="1392839"/>
            <a:ext cx="246000" cy="147900"/>
          </a:xfrm>
          <a:prstGeom prst="straightConnector1">
            <a:avLst/>
          </a:prstGeom>
          <a:noFill/>
          <a:ln w="12700" cap="sq" cmpd="sng">
            <a:solidFill>
              <a:schemeClr val="dk1"/>
            </a:solidFill>
            <a:prstDash val="solid"/>
            <a:round/>
            <a:headEnd type="none" w="sm" len="sm"/>
            <a:tailEnd type="none" w="sm" len="sm"/>
          </a:ln>
        </p:spPr>
      </p:cxnSp>
      <p:cxnSp>
        <p:nvCxnSpPr>
          <p:cNvPr id="1920" name="Google Shape;1920;p50"/>
          <p:cNvCxnSpPr>
            <a:stCxn id="1902" idx="4"/>
            <a:endCxn id="1897" idx="1"/>
          </p:cNvCxnSpPr>
          <p:nvPr/>
        </p:nvCxnSpPr>
        <p:spPr>
          <a:xfrm>
            <a:off x="5156200" y="1409700"/>
            <a:ext cx="176100" cy="588300"/>
          </a:xfrm>
          <a:prstGeom prst="straightConnector1">
            <a:avLst/>
          </a:prstGeom>
          <a:noFill/>
          <a:ln w="12700" cap="sq" cmpd="sng">
            <a:solidFill>
              <a:schemeClr val="dk1"/>
            </a:solidFill>
            <a:prstDash val="solid"/>
            <a:round/>
            <a:headEnd type="none" w="sm" len="sm"/>
            <a:tailEnd type="none" w="sm" len="sm"/>
          </a:ln>
        </p:spPr>
      </p:cxnSp>
      <p:cxnSp>
        <p:nvCxnSpPr>
          <p:cNvPr id="1921" name="Google Shape;1921;p50"/>
          <p:cNvCxnSpPr>
            <a:stCxn id="1903" idx="6"/>
            <a:endCxn id="1897" idx="2"/>
          </p:cNvCxnSpPr>
          <p:nvPr/>
        </p:nvCxnSpPr>
        <p:spPr>
          <a:xfrm>
            <a:off x="4779963" y="2038350"/>
            <a:ext cx="536700" cy="0"/>
          </a:xfrm>
          <a:prstGeom prst="straightConnector1">
            <a:avLst/>
          </a:prstGeom>
          <a:noFill/>
          <a:ln w="12700" cap="sq" cmpd="sng">
            <a:solidFill>
              <a:schemeClr val="dk1"/>
            </a:solidFill>
            <a:prstDash val="solid"/>
            <a:round/>
            <a:headEnd type="none" w="sm" len="sm"/>
            <a:tailEnd type="none" w="sm" len="sm"/>
          </a:ln>
        </p:spPr>
      </p:cxnSp>
      <p:cxnSp>
        <p:nvCxnSpPr>
          <p:cNvPr id="1922" name="Google Shape;1922;p50"/>
          <p:cNvCxnSpPr>
            <a:stCxn id="1902" idx="5"/>
            <a:endCxn id="1900" idx="2"/>
          </p:cNvCxnSpPr>
          <p:nvPr/>
        </p:nvCxnSpPr>
        <p:spPr>
          <a:xfrm>
            <a:off x="5194366" y="1392961"/>
            <a:ext cx="338100" cy="188100"/>
          </a:xfrm>
          <a:prstGeom prst="straightConnector1">
            <a:avLst/>
          </a:prstGeom>
          <a:noFill/>
          <a:ln w="12700" cap="sq" cmpd="sng">
            <a:solidFill>
              <a:schemeClr val="dk1"/>
            </a:solidFill>
            <a:prstDash val="solid"/>
            <a:round/>
            <a:headEnd type="none" w="sm" len="sm"/>
            <a:tailEnd type="none" w="sm" len="sm"/>
          </a:ln>
        </p:spPr>
      </p:cxnSp>
      <p:cxnSp>
        <p:nvCxnSpPr>
          <p:cNvPr id="1923" name="Google Shape;1923;p50"/>
          <p:cNvCxnSpPr>
            <a:stCxn id="1896" idx="5"/>
            <a:endCxn id="1897" idx="1"/>
          </p:cNvCxnSpPr>
          <p:nvPr/>
        </p:nvCxnSpPr>
        <p:spPr>
          <a:xfrm>
            <a:off x="4872104" y="1621561"/>
            <a:ext cx="460200" cy="376500"/>
          </a:xfrm>
          <a:prstGeom prst="straightConnector1">
            <a:avLst/>
          </a:prstGeom>
          <a:noFill/>
          <a:ln w="12700" cap="sq" cmpd="sng">
            <a:solidFill>
              <a:schemeClr val="dk1"/>
            </a:solidFill>
            <a:prstDash val="solid"/>
            <a:round/>
            <a:headEnd type="none" w="sm" len="sm"/>
            <a:tailEnd type="none" w="sm" len="sm"/>
          </a:ln>
        </p:spPr>
      </p:cxnSp>
      <p:cxnSp>
        <p:nvCxnSpPr>
          <p:cNvPr id="1924" name="Google Shape;1924;p50"/>
          <p:cNvCxnSpPr>
            <a:stCxn id="1900" idx="3"/>
            <a:endCxn id="1903" idx="7"/>
          </p:cNvCxnSpPr>
          <p:nvPr/>
        </p:nvCxnSpPr>
        <p:spPr>
          <a:xfrm flipH="1">
            <a:off x="4764414" y="1621561"/>
            <a:ext cx="783600" cy="376500"/>
          </a:xfrm>
          <a:prstGeom prst="straightConnector1">
            <a:avLst/>
          </a:prstGeom>
          <a:noFill/>
          <a:ln w="12700" cap="sq" cmpd="sng">
            <a:solidFill>
              <a:schemeClr val="dk1"/>
            </a:solidFill>
            <a:prstDash val="solid"/>
            <a:round/>
            <a:headEnd type="none" w="sm" len="sm"/>
            <a:tailEnd type="none" w="sm" len="sm"/>
          </a:ln>
        </p:spPr>
      </p:cxnSp>
      <p:cxnSp>
        <p:nvCxnSpPr>
          <p:cNvPr id="1925" name="Google Shape;1925;p50"/>
          <p:cNvCxnSpPr>
            <a:stCxn id="1900" idx="4"/>
            <a:endCxn id="1904" idx="0"/>
          </p:cNvCxnSpPr>
          <p:nvPr/>
        </p:nvCxnSpPr>
        <p:spPr>
          <a:xfrm flipH="1">
            <a:off x="5478519" y="1638300"/>
            <a:ext cx="107100" cy="685800"/>
          </a:xfrm>
          <a:prstGeom prst="straightConnector1">
            <a:avLst/>
          </a:prstGeom>
          <a:noFill/>
          <a:ln w="12700" cap="sq" cmpd="sng">
            <a:solidFill>
              <a:schemeClr val="dk1"/>
            </a:solidFill>
            <a:prstDash val="solid"/>
            <a:round/>
            <a:headEnd type="none" w="sm" len="sm"/>
            <a:tailEnd type="none" w="sm" len="sm"/>
          </a:ln>
        </p:spPr>
      </p:cxnSp>
      <p:cxnSp>
        <p:nvCxnSpPr>
          <p:cNvPr id="1926" name="Google Shape;1926;p50"/>
          <p:cNvCxnSpPr>
            <a:stCxn id="1903" idx="5"/>
            <a:endCxn id="1904" idx="2"/>
          </p:cNvCxnSpPr>
          <p:nvPr/>
        </p:nvCxnSpPr>
        <p:spPr>
          <a:xfrm>
            <a:off x="4764387" y="2078761"/>
            <a:ext cx="660000" cy="302400"/>
          </a:xfrm>
          <a:prstGeom prst="straightConnector1">
            <a:avLst/>
          </a:prstGeom>
          <a:noFill/>
          <a:ln w="12700" cap="sq" cmpd="sng">
            <a:solidFill>
              <a:schemeClr val="dk1"/>
            </a:solidFill>
            <a:prstDash val="solid"/>
            <a:round/>
            <a:headEnd type="none" w="sm" len="sm"/>
            <a:tailEnd type="none" w="sm" len="sm"/>
          </a:ln>
        </p:spPr>
      </p:cxnSp>
      <p:cxnSp>
        <p:nvCxnSpPr>
          <p:cNvPr id="1927" name="Google Shape;1927;p50"/>
          <p:cNvCxnSpPr>
            <a:stCxn id="1895" idx="6"/>
            <a:endCxn id="1896" idx="2"/>
          </p:cNvCxnSpPr>
          <p:nvPr/>
        </p:nvCxnSpPr>
        <p:spPr>
          <a:xfrm rot="10800000" flipH="1">
            <a:off x="3922713" y="1581150"/>
            <a:ext cx="857400" cy="114300"/>
          </a:xfrm>
          <a:prstGeom prst="straightConnector1">
            <a:avLst/>
          </a:prstGeom>
          <a:noFill/>
          <a:ln w="38100" cap="flat" cmpd="sng">
            <a:solidFill>
              <a:srgbClr val="FF3300"/>
            </a:solidFill>
            <a:prstDash val="dot"/>
            <a:round/>
            <a:headEnd type="none" w="sm" len="sm"/>
            <a:tailEnd type="none" w="sm" len="sm"/>
          </a:ln>
        </p:spPr>
      </p:cxnSp>
      <p:cxnSp>
        <p:nvCxnSpPr>
          <p:cNvPr id="1928" name="Google Shape;1928;p50"/>
          <p:cNvCxnSpPr>
            <a:stCxn id="1894" idx="5"/>
            <a:endCxn id="1904" idx="3"/>
          </p:cNvCxnSpPr>
          <p:nvPr/>
        </p:nvCxnSpPr>
        <p:spPr>
          <a:xfrm>
            <a:off x="3478279" y="2078761"/>
            <a:ext cx="1962000" cy="342900"/>
          </a:xfrm>
          <a:prstGeom prst="straightConnector1">
            <a:avLst/>
          </a:prstGeom>
          <a:noFill/>
          <a:ln w="38100" cap="flat" cmpd="sng">
            <a:solidFill>
              <a:srgbClr val="FF3300"/>
            </a:solidFill>
            <a:prstDash val="dot"/>
            <a:round/>
            <a:headEnd type="none" w="sm" len="sm"/>
            <a:tailEnd type="none" w="sm" len="sm"/>
          </a:ln>
        </p:spPr>
      </p:cxnSp>
      <p:cxnSp>
        <p:nvCxnSpPr>
          <p:cNvPr id="1929" name="Google Shape;1929;p50"/>
          <p:cNvCxnSpPr>
            <a:stCxn id="1899" idx="7"/>
            <a:endCxn id="1896" idx="1"/>
          </p:cNvCxnSpPr>
          <p:nvPr/>
        </p:nvCxnSpPr>
        <p:spPr>
          <a:xfrm>
            <a:off x="3263966" y="1083539"/>
            <a:ext cx="1531800" cy="457200"/>
          </a:xfrm>
          <a:prstGeom prst="straightConnector1">
            <a:avLst/>
          </a:prstGeom>
          <a:noFill/>
          <a:ln w="38100" cap="flat" cmpd="sng">
            <a:solidFill>
              <a:srgbClr val="FF3300"/>
            </a:solidFill>
            <a:prstDash val="dot"/>
            <a:round/>
            <a:headEnd type="none" w="sm" len="sm"/>
            <a:tailEnd type="none" w="sm" len="sm"/>
          </a:ln>
        </p:spPr>
      </p:cxnSp>
      <p:cxnSp>
        <p:nvCxnSpPr>
          <p:cNvPr id="1930" name="Google Shape;1930;p50"/>
          <p:cNvCxnSpPr>
            <a:stCxn id="1895" idx="5"/>
            <a:endCxn id="1903" idx="2"/>
          </p:cNvCxnSpPr>
          <p:nvPr/>
        </p:nvCxnSpPr>
        <p:spPr>
          <a:xfrm>
            <a:off x="3906904" y="1735861"/>
            <a:ext cx="766800" cy="302400"/>
          </a:xfrm>
          <a:prstGeom prst="straightConnector1">
            <a:avLst/>
          </a:prstGeom>
          <a:noFill/>
          <a:ln w="38100" cap="flat" cmpd="sng">
            <a:solidFill>
              <a:srgbClr val="FF3300"/>
            </a:solidFill>
            <a:prstDash val="dot"/>
            <a:round/>
            <a:headEnd type="none" w="sm" len="sm"/>
            <a:tailEnd type="none" w="sm" len="sm"/>
          </a:ln>
        </p:spPr>
      </p:cxnSp>
      <p:sp>
        <p:nvSpPr>
          <p:cNvPr id="1931" name="Google Shape;1931;p50"/>
          <p:cNvSpPr txBox="1"/>
          <p:nvPr/>
        </p:nvSpPr>
        <p:spPr>
          <a:xfrm>
            <a:off x="2667000" y="2057400"/>
            <a:ext cx="4048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accent2"/>
                </a:solidFill>
                <a:latin typeface="Arial"/>
                <a:ea typeface="Arial"/>
                <a:cs typeface="Arial"/>
                <a:sym typeface="Arial"/>
              </a:rPr>
              <a:t>A</a:t>
            </a:r>
            <a:endParaRPr/>
          </a:p>
        </p:txBody>
      </p:sp>
      <p:sp>
        <p:nvSpPr>
          <p:cNvPr id="1932" name="Google Shape;1932;p50"/>
          <p:cNvSpPr txBox="1"/>
          <p:nvPr/>
        </p:nvSpPr>
        <p:spPr>
          <a:xfrm>
            <a:off x="5562600" y="1905000"/>
            <a:ext cx="4048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2"/>
                </a:solidFill>
                <a:latin typeface="Arial"/>
                <a:ea typeface="Arial"/>
                <a:cs typeface="Arial"/>
                <a:sym typeface="Arial"/>
              </a:rPr>
              <a:t>B</a:t>
            </a:r>
            <a:endParaRPr/>
          </a:p>
        </p:txBody>
      </p:sp>
      <p:sp>
        <p:nvSpPr>
          <p:cNvPr id="1933" name="Google Shape;1933;p50"/>
          <p:cNvSpPr/>
          <p:nvPr/>
        </p:nvSpPr>
        <p:spPr>
          <a:xfrm>
            <a:off x="685800" y="3200400"/>
            <a:ext cx="7772400" cy="1219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None/>
            </a:pPr>
            <a:r>
              <a:rPr lang="en-US" sz="2400">
                <a:solidFill>
                  <a:schemeClr val="dk1"/>
                </a:solidFill>
                <a:latin typeface="Arial"/>
                <a:ea typeface="Arial"/>
                <a:cs typeface="Arial"/>
                <a:sym typeface="Arial"/>
              </a:rPr>
              <a:t>Normalized Cut</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a cut penalizes large segments</a:t>
            </a:r>
            <a:endParaRPr/>
          </a:p>
          <a:p>
            <a:pPr marL="742950" marR="0" lvl="1" indent="-285750" algn="l" rtl="0">
              <a:lnSpc>
                <a:spcPct val="90000"/>
              </a:lnSpc>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fix by normalizing for size of segments</a:t>
            </a:r>
            <a:endParaRPr/>
          </a:p>
          <a:p>
            <a:pPr marL="742950" marR="0" lvl="1" indent="-158750" algn="l" rtl="0">
              <a:lnSpc>
                <a:spcPct val="90000"/>
              </a:lnSpc>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742950" marR="0" lvl="1" indent="-158750" algn="l" rtl="0">
              <a:lnSpc>
                <a:spcPct val="90000"/>
              </a:lnSpc>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742950" marR="0" lvl="1" indent="-158750" algn="l" rtl="0">
              <a:lnSpc>
                <a:spcPct val="90000"/>
              </a:lnSpc>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p:txBody>
      </p:sp>
      <p:pic>
        <p:nvPicPr>
          <p:cNvPr id="1934" name="Google Shape;1934;p50"/>
          <p:cNvPicPr preferRelativeResize="0"/>
          <p:nvPr/>
        </p:nvPicPr>
        <p:blipFill rotWithShape="1">
          <a:blip r:embed="rId3">
            <a:alphaModFix/>
          </a:blip>
          <a:srcRect/>
          <a:stretch/>
        </p:blipFill>
        <p:spPr>
          <a:xfrm>
            <a:off x="2052638" y="4306888"/>
            <a:ext cx="5262562" cy="950912"/>
          </a:xfrm>
          <a:prstGeom prst="rect">
            <a:avLst/>
          </a:prstGeom>
          <a:noFill/>
          <a:ln>
            <a:noFill/>
          </a:ln>
        </p:spPr>
      </p:pic>
      <p:pic>
        <p:nvPicPr>
          <p:cNvPr id="1935" name="Google Shape;1935;p50"/>
          <p:cNvPicPr preferRelativeResize="0"/>
          <p:nvPr/>
        </p:nvPicPr>
        <p:blipFill rotWithShape="1">
          <a:blip r:embed="rId4">
            <a:alphaModFix/>
          </a:blip>
          <a:srcRect/>
          <a:stretch/>
        </p:blipFill>
        <p:spPr>
          <a:xfrm>
            <a:off x="109538" y="5351463"/>
            <a:ext cx="3914775" cy="900112"/>
          </a:xfrm>
          <a:prstGeom prst="rect">
            <a:avLst/>
          </a:prstGeom>
          <a:noFill/>
          <a:ln>
            <a:noFill/>
          </a:ln>
        </p:spPr>
      </p:pic>
      <p:pic>
        <p:nvPicPr>
          <p:cNvPr id="1936" name="Google Shape;1936;p50"/>
          <p:cNvPicPr preferRelativeResize="0"/>
          <p:nvPr/>
        </p:nvPicPr>
        <p:blipFill rotWithShape="1">
          <a:blip r:embed="rId5">
            <a:alphaModFix/>
          </a:blip>
          <a:srcRect/>
          <a:stretch/>
        </p:blipFill>
        <p:spPr>
          <a:xfrm>
            <a:off x="4673600" y="5287963"/>
            <a:ext cx="3938588" cy="950912"/>
          </a:xfrm>
          <a:prstGeom prst="rect">
            <a:avLst/>
          </a:prstGeom>
          <a:noFill/>
          <a:ln>
            <a:noFill/>
          </a:ln>
        </p:spPr>
      </p:pic>
      <p:cxnSp>
        <p:nvCxnSpPr>
          <p:cNvPr id="1937" name="Google Shape;1937;p50"/>
          <p:cNvCxnSpPr/>
          <p:nvPr/>
        </p:nvCxnSpPr>
        <p:spPr>
          <a:xfrm>
            <a:off x="4459288" y="5351463"/>
            <a:ext cx="0" cy="1125537"/>
          </a:xfrm>
          <a:prstGeom prst="straightConnector1">
            <a:avLst/>
          </a:prstGeom>
          <a:noFill/>
          <a:ln w="57150" cap="flat" cmpd="sng">
            <a:solidFill>
              <a:schemeClr val="accent2"/>
            </a:solidFill>
            <a:prstDash val="solid"/>
            <a:miter lim="800000"/>
            <a:headEnd type="none" w="sm" len="sm"/>
            <a:tailEnd type="none" w="sm" len="sm"/>
          </a:ln>
        </p:spPr>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942"/>
        <p:cNvGrpSpPr/>
        <p:nvPr/>
      </p:nvGrpSpPr>
      <p:grpSpPr>
        <a:xfrm>
          <a:off x="0" y="0"/>
          <a:ext cx="0" cy="0"/>
          <a:chOff x="0" y="0"/>
          <a:chExt cx="0" cy="0"/>
        </a:xfrm>
      </p:grpSpPr>
      <p:sp>
        <p:nvSpPr>
          <p:cNvPr id="1943" name="Google Shape;1943;p51"/>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Cuts in a graph</a:t>
            </a:r>
            <a:endParaRPr/>
          </a:p>
        </p:txBody>
      </p:sp>
      <p:pic>
        <p:nvPicPr>
          <p:cNvPr id="1944" name="Google Shape;1944;p51"/>
          <p:cNvPicPr preferRelativeResize="0"/>
          <p:nvPr/>
        </p:nvPicPr>
        <p:blipFill rotWithShape="1">
          <a:blip r:embed="rId3">
            <a:alphaModFix/>
          </a:blip>
          <a:srcRect/>
          <a:stretch/>
        </p:blipFill>
        <p:spPr>
          <a:xfrm>
            <a:off x="223838" y="1533525"/>
            <a:ext cx="8696325" cy="37909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49" name="Google Shape;1949;p52"/>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Color Image Segmentation</a:t>
            </a:r>
            <a:endParaRPr/>
          </a:p>
        </p:txBody>
      </p:sp>
      <p:pic>
        <p:nvPicPr>
          <p:cNvPr id="1950" name="Google Shape;1950;p52"/>
          <p:cNvPicPr preferRelativeResize="0"/>
          <p:nvPr/>
        </p:nvPicPr>
        <p:blipFill rotWithShape="1">
          <a:blip r:embed="rId3">
            <a:alphaModFix/>
          </a:blip>
          <a:srcRect/>
          <a:stretch/>
        </p:blipFill>
        <p:spPr>
          <a:xfrm>
            <a:off x="533400" y="990600"/>
            <a:ext cx="8001000" cy="5391150"/>
          </a:xfrm>
          <a:prstGeom prst="rect">
            <a:avLst/>
          </a:prstGeom>
          <a:noFill/>
          <a:ln>
            <a:noFill/>
          </a:ln>
        </p:spPr>
      </p:pic>
      <p:sp>
        <p:nvSpPr>
          <p:cNvPr id="1951" name="Google Shape;1951;p52"/>
          <p:cNvSpPr txBox="1"/>
          <p:nvPr/>
        </p:nvSpPr>
        <p:spPr>
          <a:xfrm>
            <a:off x="6537800" y="78850"/>
            <a:ext cx="2449200" cy="2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chemeClr val="dk1"/>
                </a:solidFill>
              </a:rPr>
              <a:t>CV 11: Image Segmentation</a:t>
            </a:r>
            <a:endParaRPr sz="8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56"/>
        <p:cNvGrpSpPr/>
        <p:nvPr/>
      </p:nvGrpSpPr>
      <p:grpSpPr>
        <a:xfrm>
          <a:off x="0" y="0"/>
          <a:ext cx="0" cy="0"/>
          <a:chOff x="0" y="0"/>
          <a:chExt cx="0" cy="0"/>
        </a:xfrm>
      </p:grpSpPr>
      <p:sp>
        <p:nvSpPr>
          <p:cNvPr id="1957" name="Google Shape;1957;p53"/>
          <p:cNvSpPr txBox="1">
            <a:spLocks noGrp="1"/>
          </p:cNvSpPr>
          <p:nvPr>
            <p:ph type="title"/>
          </p:nvPr>
        </p:nvSpPr>
        <p:spPr>
          <a:xfrm>
            <a:off x="685800" y="76200"/>
            <a:ext cx="77724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Normalize Cut in Matrix Form</a:t>
            </a:r>
            <a:endParaRPr/>
          </a:p>
        </p:txBody>
      </p:sp>
      <p:sp>
        <p:nvSpPr>
          <p:cNvPr id="1958" name="Google Shape;1958;p53"/>
          <p:cNvSpPr/>
          <p:nvPr/>
        </p:nvSpPr>
        <p:spPr>
          <a:xfrm>
            <a:off x="7118350" y="1584325"/>
            <a:ext cx="136048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r>
              <a:rPr lang="en-US" sz="2000" b="1">
                <a:solidFill>
                  <a:srgbClr val="000000"/>
                </a:solidFill>
                <a:latin typeface="Times New Roman"/>
                <a:ea typeface="Times New Roman"/>
                <a:cs typeface="Times New Roman"/>
                <a:sym typeface="Times New Roman"/>
              </a:rPr>
              <a:t>D</a:t>
            </a:r>
            <a:r>
              <a:rPr lang="en-US" sz="2000" i="1">
                <a:solidFill>
                  <a:srgbClr val="000000"/>
                </a:solidFill>
                <a:latin typeface="Times New Roman"/>
                <a:ea typeface="Times New Roman"/>
                <a:cs typeface="Times New Roman"/>
                <a:sym typeface="Times New Roman"/>
              </a:rPr>
              <a:t>(i,j) </a:t>
            </a:r>
            <a:r>
              <a:rPr lang="en-US" sz="2000">
                <a:solidFill>
                  <a:srgbClr val="000000"/>
                </a:solidFill>
                <a:latin typeface="Times New Roman"/>
                <a:ea typeface="Times New Roman"/>
                <a:cs typeface="Times New Roman"/>
                <a:sym typeface="Times New Roman"/>
              </a:rPr>
              <a:t>= 0</a:t>
            </a:r>
            <a:endParaRPr sz="2400">
              <a:solidFill>
                <a:schemeClr val="dk1"/>
              </a:solidFill>
              <a:latin typeface="Times New Roman"/>
              <a:ea typeface="Times New Roman"/>
              <a:cs typeface="Times New Roman"/>
              <a:sym typeface="Times New Roman"/>
            </a:endParaRPr>
          </a:p>
        </p:txBody>
      </p:sp>
      <p:sp>
        <p:nvSpPr>
          <p:cNvPr id="1959" name="Google Shape;1959;p53"/>
          <p:cNvSpPr/>
          <p:nvPr/>
        </p:nvSpPr>
        <p:spPr>
          <a:xfrm>
            <a:off x="6864350" y="1584325"/>
            <a:ext cx="63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60" name="Google Shape;1960;p53"/>
          <p:cNvSpPr/>
          <p:nvPr/>
        </p:nvSpPr>
        <p:spPr>
          <a:xfrm>
            <a:off x="6686550" y="1584325"/>
            <a:ext cx="8413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61" name="Google Shape;1961;p53"/>
          <p:cNvSpPr/>
          <p:nvPr/>
        </p:nvSpPr>
        <p:spPr>
          <a:xfrm>
            <a:off x="5575300" y="1584325"/>
            <a:ext cx="8413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62" name="Google Shape;1962;p53"/>
          <p:cNvSpPr/>
          <p:nvPr/>
        </p:nvSpPr>
        <p:spPr>
          <a:xfrm>
            <a:off x="5387975" y="1584325"/>
            <a:ext cx="63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63" name="Google Shape;1963;p53"/>
          <p:cNvSpPr/>
          <p:nvPr/>
        </p:nvSpPr>
        <p:spPr>
          <a:xfrm>
            <a:off x="5210175" y="1584325"/>
            <a:ext cx="8413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64" name="Google Shape;1964;p53"/>
          <p:cNvSpPr/>
          <p:nvPr/>
        </p:nvSpPr>
        <p:spPr>
          <a:xfrm>
            <a:off x="4797425" y="1584325"/>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65" name="Google Shape;1965;p53"/>
          <p:cNvSpPr/>
          <p:nvPr/>
        </p:nvSpPr>
        <p:spPr>
          <a:xfrm>
            <a:off x="4748213" y="1584325"/>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66" name="Google Shape;1966;p53"/>
          <p:cNvSpPr/>
          <p:nvPr/>
        </p:nvSpPr>
        <p:spPr>
          <a:xfrm>
            <a:off x="4624388" y="1584325"/>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1967" name="Google Shape;1967;p53"/>
          <p:cNvSpPr/>
          <p:nvPr/>
        </p:nvSpPr>
        <p:spPr>
          <a:xfrm>
            <a:off x="4565650" y="1584325"/>
            <a:ext cx="63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68" name="Google Shape;1968;p53"/>
          <p:cNvSpPr/>
          <p:nvPr/>
        </p:nvSpPr>
        <p:spPr>
          <a:xfrm>
            <a:off x="4024313" y="1584325"/>
            <a:ext cx="49371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node</a:t>
            </a:r>
            <a:endParaRPr sz="2400">
              <a:solidFill>
                <a:schemeClr val="dk1"/>
              </a:solidFill>
              <a:latin typeface="Times New Roman"/>
              <a:ea typeface="Times New Roman"/>
              <a:cs typeface="Times New Roman"/>
              <a:sym typeface="Times New Roman"/>
            </a:endParaRPr>
          </a:p>
        </p:txBody>
      </p:sp>
      <p:sp>
        <p:nvSpPr>
          <p:cNvPr id="1969" name="Google Shape;1969;p53"/>
          <p:cNvSpPr/>
          <p:nvPr/>
        </p:nvSpPr>
        <p:spPr>
          <a:xfrm>
            <a:off x="3957638" y="1584325"/>
            <a:ext cx="63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70" name="Google Shape;1970;p53"/>
          <p:cNvSpPr/>
          <p:nvPr/>
        </p:nvSpPr>
        <p:spPr>
          <a:xfrm>
            <a:off x="3416300" y="1584325"/>
            <a:ext cx="49212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from</a:t>
            </a:r>
            <a:endParaRPr sz="2400">
              <a:solidFill>
                <a:schemeClr val="dk1"/>
              </a:solidFill>
              <a:latin typeface="Times New Roman"/>
              <a:ea typeface="Times New Roman"/>
              <a:cs typeface="Times New Roman"/>
              <a:sym typeface="Times New Roman"/>
            </a:endParaRPr>
          </a:p>
        </p:txBody>
      </p:sp>
      <p:sp>
        <p:nvSpPr>
          <p:cNvPr id="1971" name="Google Shape;1971;p53"/>
          <p:cNvSpPr/>
          <p:nvPr/>
        </p:nvSpPr>
        <p:spPr>
          <a:xfrm>
            <a:off x="3352800" y="1584325"/>
            <a:ext cx="63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72" name="Google Shape;1972;p53"/>
          <p:cNvSpPr/>
          <p:nvPr/>
        </p:nvSpPr>
        <p:spPr>
          <a:xfrm>
            <a:off x="2773363" y="1584325"/>
            <a:ext cx="56991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costs</a:t>
            </a:r>
            <a:endParaRPr sz="2400">
              <a:solidFill>
                <a:schemeClr val="dk1"/>
              </a:solidFill>
              <a:latin typeface="Times New Roman"/>
              <a:ea typeface="Times New Roman"/>
              <a:cs typeface="Times New Roman"/>
              <a:sym typeface="Times New Roman"/>
            </a:endParaRPr>
          </a:p>
        </p:txBody>
      </p:sp>
      <p:sp>
        <p:nvSpPr>
          <p:cNvPr id="1973" name="Google Shape;1973;p53"/>
          <p:cNvSpPr/>
          <p:nvPr/>
        </p:nvSpPr>
        <p:spPr>
          <a:xfrm>
            <a:off x="2506663" y="1584325"/>
            <a:ext cx="361950"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of</a:t>
            </a:r>
            <a:endParaRPr sz="2400">
              <a:solidFill>
                <a:schemeClr val="dk1"/>
              </a:solidFill>
              <a:latin typeface="Times New Roman"/>
              <a:ea typeface="Times New Roman"/>
              <a:cs typeface="Times New Roman"/>
              <a:sym typeface="Times New Roman"/>
            </a:endParaRPr>
          </a:p>
        </p:txBody>
      </p:sp>
      <p:sp>
        <p:nvSpPr>
          <p:cNvPr id="1974" name="Google Shape;1974;p53"/>
          <p:cNvSpPr/>
          <p:nvPr/>
        </p:nvSpPr>
        <p:spPr>
          <a:xfrm>
            <a:off x="2444750" y="1584325"/>
            <a:ext cx="190500"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75" name="Google Shape;1975;p53"/>
          <p:cNvSpPr/>
          <p:nvPr/>
        </p:nvSpPr>
        <p:spPr>
          <a:xfrm>
            <a:off x="1978025" y="1584325"/>
            <a:ext cx="606425"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sum</a:t>
            </a:r>
            <a:endParaRPr sz="2400">
              <a:solidFill>
                <a:schemeClr val="dk1"/>
              </a:solidFill>
              <a:latin typeface="Times New Roman"/>
              <a:ea typeface="Times New Roman"/>
              <a:cs typeface="Times New Roman"/>
              <a:sym typeface="Times New Roman"/>
            </a:endParaRPr>
          </a:p>
        </p:txBody>
      </p:sp>
      <p:sp>
        <p:nvSpPr>
          <p:cNvPr id="1976" name="Google Shape;1976;p53"/>
          <p:cNvSpPr/>
          <p:nvPr/>
        </p:nvSpPr>
        <p:spPr>
          <a:xfrm>
            <a:off x="1920875" y="1584325"/>
            <a:ext cx="190500"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77" name="Google Shape;1977;p53"/>
          <p:cNvSpPr/>
          <p:nvPr/>
        </p:nvSpPr>
        <p:spPr>
          <a:xfrm>
            <a:off x="1512888" y="1584325"/>
            <a:ext cx="549275"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the</a:t>
            </a:r>
            <a:endParaRPr sz="2400">
              <a:solidFill>
                <a:schemeClr val="dk1"/>
              </a:solidFill>
              <a:latin typeface="Times New Roman"/>
              <a:ea typeface="Times New Roman"/>
              <a:cs typeface="Times New Roman"/>
              <a:sym typeface="Times New Roman"/>
            </a:endParaRPr>
          </a:p>
        </p:txBody>
      </p:sp>
      <p:sp>
        <p:nvSpPr>
          <p:cNvPr id="1978" name="Google Shape;1978;p53"/>
          <p:cNvSpPr/>
          <p:nvPr/>
        </p:nvSpPr>
        <p:spPr>
          <a:xfrm>
            <a:off x="1330325" y="1584325"/>
            <a:ext cx="312738"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is</a:t>
            </a:r>
            <a:endParaRPr sz="2400">
              <a:solidFill>
                <a:schemeClr val="dk1"/>
              </a:solidFill>
              <a:latin typeface="Times New Roman"/>
              <a:ea typeface="Times New Roman"/>
              <a:cs typeface="Times New Roman"/>
              <a:sym typeface="Times New Roman"/>
            </a:endParaRPr>
          </a:p>
        </p:txBody>
      </p:sp>
      <p:sp>
        <p:nvSpPr>
          <p:cNvPr id="1979" name="Google Shape;1979;p53"/>
          <p:cNvSpPr/>
          <p:nvPr/>
        </p:nvSpPr>
        <p:spPr>
          <a:xfrm>
            <a:off x="1271588" y="1584325"/>
            <a:ext cx="190500"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80" name="Google Shape;1980;p53"/>
          <p:cNvSpPr/>
          <p:nvPr/>
        </p:nvSpPr>
        <p:spPr>
          <a:xfrm>
            <a:off x="5146675" y="1131888"/>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81" name="Google Shape;1981;p53"/>
          <p:cNvSpPr/>
          <p:nvPr/>
        </p:nvSpPr>
        <p:spPr>
          <a:xfrm>
            <a:off x="4368800" y="1131888"/>
            <a:ext cx="8413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82" name="Google Shape;1982;p53"/>
          <p:cNvSpPr/>
          <p:nvPr/>
        </p:nvSpPr>
        <p:spPr>
          <a:xfrm>
            <a:off x="4114800" y="1131888"/>
            <a:ext cx="63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83" name="Google Shape;1983;p53"/>
          <p:cNvSpPr/>
          <p:nvPr/>
        </p:nvSpPr>
        <p:spPr>
          <a:xfrm>
            <a:off x="3937000" y="1131888"/>
            <a:ext cx="8413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84" name="Google Shape;1984;p53"/>
          <p:cNvSpPr/>
          <p:nvPr/>
        </p:nvSpPr>
        <p:spPr>
          <a:xfrm>
            <a:off x="3430588" y="1131888"/>
            <a:ext cx="1905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85" name="Google Shape;1985;p53"/>
          <p:cNvSpPr/>
          <p:nvPr/>
        </p:nvSpPr>
        <p:spPr>
          <a:xfrm>
            <a:off x="3382963" y="1131888"/>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86" name="Google Shape;1986;p53"/>
          <p:cNvSpPr/>
          <p:nvPr/>
        </p:nvSpPr>
        <p:spPr>
          <a:xfrm>
            <a:off x="2590800" y="1131888"/>
            <a:ext cx="6604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matrix</a:t>
            </a:r>
            <a:endParaRPr sz="2400">
              <a:solidFill>
                <a:schemeClr val="dk1"/>
              </a:solidFill>
              <a:latin typeface="Times New Roman"/>
              <a:ea typeface="Times New Roman"/>
              <a:cs typeface="Times New Roman"/>
              <a:sym typeface="Times New Roman"/>
            </a:endParaRPr>
          </a:p>
        </p:txBody>
      </p:sp>
      <p:sp>
        <p:nvSpPr>
          <p:cNvPr id="1987" name="Google Shape;1987;p53"/>
          <p:cNvSpPr/>
          <p:nvPr/>
        </p:nvSpPr>
        <p:spPr>
          <a:xfrm>
            <a:off x="2014538" y="1131888"/>
            <a:ext cx="53498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cost </a:t>
            </a:r>
            <a:endParaRPr sz="2400">
              <a:solidFill>
                <a:schemeClr val="dk1"/>
              </a:solidFill>
              <a:latin typeface="Times New Roman"/>
              <a:ea typeface="Times New Roman"/>
              <a:cs typeface="Times New Roman"/>
              <a:sym typeface="Times New Roman"/>
            </a:endParaRPr>
          </a:p>
        </p:txBody>
      </p:sp>
      <p:sp>
        <p:nvSpPr>
          <p:cNvPr id="1988" name="Google Shape;1988;p53"/>
          <p:cNvSpPr/>
          <p:nvPr/>
        </p:nvSpPr>
        <p:spPr>
          <a:xfrm>
            <a:off x="1604963" y="1131888"/>
            <a:ext cx="549275" cy="35401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the</a:t>
            </a:r>
            <a:endParaRPr sz="2400">
              <a:solidFill>
                <a:schemeClr val="dk1"/>
              </a:solidFill>
              <a:latin typeface="Times New Roman"/>
              <a:ea typeface="Times New Roman"/>
              <a:cs typeface="Times New Roman"/>
              <a:sym typeface="Times New Roman"/>
            </a:endParaRPr>
          </a:p>
        </p:txBody>
      </p:sp>
      <p:sp>
        <p:nvSpPr>
          <p:cNvPr id="1989" name="Google Shape;1989;p53"/>
          <p:cNvSpPr/>
          <p:nvPr/>
        </p:nvSpPr>
        <p:spPr>
          <a:xfrm>
            <a:off x="1423988" y="1131888"/>
            <a:ext cx="312737" cy="35401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is</a:t>
            </a:r>
            <a:endParaRPr sz="2400">
              <a:solidFill>
                <a:schemeClr val="dk1"/>
              </a:solidFill>
              <a:latin typeface="Times New Roman"/>
              <a:ea typeface="Times New Roman"/>
              <a:cs typeface="Times New Roman"/>
              <a:sym typeface="Times New Roman"/>
            </a:endParaRPr>
          </a:p>
        </p:txBody>
      </p:sp>
      <p:sp>
        <p:nvSpPr>
          <p:cNvPr id="1990" name="Google Shape;1990;p53"/>
          <p:cNvSpPr/>
          <p:nvPr/>
        </p:nvSpPr>
        <p:spPr>
          <a:xfrm>
            <a:off x="1365250" y="1131888"/>
            <a:ext cx="190500" cy="35401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1991" name="Google Shape;1991;p53"/>
          <p:cNvSpPr/>
          <p:nvPr/>
        </p:nvSpPr>
        <p:spPr>
          <a:xfrm>
            <a:off x="4989513" y="1292225"/>
            <a:ext cx="38100" cy="1825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000000"/>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1992" name="Google Shape;1992;p53"/>
          <p:cNvSpPr/>
          <p:nvPr/>
        </p:nvSpPr>
        <p:spPr>
          <a:xfrm>
            <a:off x="7024688" y="1584325"/>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i="1">
                <a:solidFill>
                  <a:srgbClr val="000000"/>
                </a:solidFill>
                <a:latin typeface="Times New Roman"/>
                <a:ea typeface="Times New Roman"/>
                <a:cs typeface="Times New Roman"/>
                <a:sym typeface="Times New Roman"/>
              </a:rPr>
              <a:t>j</a:t>
            </a:r>
            <a:endParaRPr sz="2400">
              <a:solidFill>
                <a:schemeClr val="dk1"/>
              </a:solidFill>
              <a:latin typeface="Times New Roman"/>
              <a:ea typeface="Times New Roman"/>
              <a:cs typeface="Times New Roman"/>
              <a:sym typeface="Times New Roman"/>
            </a:endParaRPr>
          </a:p>
        </p:txBody>
      </p:sp>
      <p:sp>
        <p:nvSpPr>
          <p:cNvPr id="1993" name="Google Shape;1993;p53"/>
          <p:cNvSpPr/>
          <p:nvPr/>
        </p:nvSpPr>
        <p:spPr>
          <a:xfrm>
            <a:off x="6780213" y="1584325"/>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i="1">
                <a:solidFill>
                  <a:srgbClr val="000000"/>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1994" name="Google Shape;1994;p53"/>
          <p:cNvSpPr/>
          <p:nvPr/>
        </p:nvSpPr>
        <p:spPr>
          <a:xfrm>
            <a:off x="5486400" y="1584325"/>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i="1">
                <a:solidFill>
                  <a:srgbClr val="000000"/>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1995" name="Google Shape;1995;p53"/>
          <p:cNvSpPr/>
          <p:nvPr/>
        </p:nvSpPr>
        <p:spPr>
          <a:xfrm>
            <a:off x="5303838" y="1584325"/>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i="1">
                <a:solidFill>
                  <a:srgbClr val="000000"/>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1996" name="Google Shape;1996;p53"/>
          <p:cNvSpPr/>
          <p:nvPr/>
        </p:nvSpPr>
        <p:spPr>
          <a:xfrm>
            <a:off x="4754563" y="1131888"/>
            <a:ext cx="11271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i="1">
                <a:solidFill>
                  <a:srgbClr val="000000"/>
                </a:solidFill>
                <a:latin typeface="Times New Roman"/>
                <a:ea typeface="Times New Roman"/>
                <a:cs typeface="Times New Roman"/>
                <a:sym typeface="Times New Roman"/>
              </a:rPr>
              <a:t>c</a:t>
            </a:r>
            <a:endParaRPr sz="2400">
              <a:solidFill>
                <a:schemeClr val="dk1"/>
              </a:solidFill>
              <a:latin typeface="Times New Roman"/>
              <a:ea typeface="Times New Roman"/>
              <a:cs typeface="Times New Roman"/>
              <a:sym typeface="Times New Roman"/>
            </a:endParaRPr>
          </a:p>
        </p:txBody>
      </p:sp>
      <p:sp>
        <p:nvSpPr>
          <p:cNvPr id="1997" name="Google Shape;1997;p53"/>
          <p:cNvSpPr/>
          <p:nvPr/>
        </p:nvSpPr>
        <p:spPr>
          <a:xfrm>
            <a:off x="4275138" y="1131888"/>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i="1">
                <a:solidFill>
                  <a:srgbClr val="000000"/>
                </a:solidFill>
                <a:latin typeface="Times New Roman"/>
                <a:ea typeface="Times New Roman"/>
                <a:cs typeface="Times New Roman"/>
                <a:sym typeface="Times New Roman"/>
              </a:rPr>
              <a:t>j</a:t>
            </a:r>
            <a:endParaRPr sz="2400">
              <a:solidFill>
                <a:schemeClr val="dk1"/>
              </a:solidFill>
              <a:latin typeface="Times New Roman"/>
              <a:ea typeface="Times New Roman"/>
              <a:cs typeface="Times New Roman"/>
              <a:sym typeface="Times New Roman"/>
            </a:endParaRPr>
          </a:p>
        </p:txBody>
      </p:sp>
      <p:sp>
        <p:nvSpPr>
          <p:cNvPr id="1998" name="Google Shape;1998;p53"/>
          <p:cNvSpPr/>
          <p:nvPr/>
        </p:nvSpPr>
        <p:spPr>
          <a:xfrm>
            <a:off x="4030663" y="1131888"/>
            <a:ext cx="698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i="1">
                <a:solidFill>
                  <a:srgbClr val="000000"/>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1999" name="Google Shape;1999;p53"/>
          <p:cNvSpPr/>
          <p:nvPr/>
        </p:nvSpPr>
        <p:spPr>
          <a:xfrm>
            <a:off x="6292850" y="1787525"/>
            <a:ext cx="42863" cy="1825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i="1">
                <a:solidFill>
                  <a:srgbClr val="000000"/>
                </a:solidFill>
                <a:latin typeface="Times New Roman"/>
                <a:ea typeface="Times New Roman"/>
                <a:cs typeface="Times New Roman"/>
                <a:sym typeface="Times New Roman"/>
              </a:rPr>
              <a:t>j</a:t>
            </a:r>
            <a:endParaRPr sz="2400">
              <a:solidFill>
                <a:schemeClr val="dk1"/>
              </a:solidFill>
              <a:latin typeface="Times New Roman"/>
              <a:ea typeface="Times New Roman"/>
              <a:cs typeface="Times New Roman"/>
              <a:sym typeface="Times New Roman"/>
            </a:endParaRPr>
          </a:p>
        </p:txBody>
      </p:sp>
      <p:sp>
        <p:nvSpPr>
          <p:cNvPr id="2000" name="Google Shape;2000;p53"/>
          <p:cNvSpPr/>
          <p:nvPr/>
        </p:nvSpPr>
        <p:spPr>
          <a:xfrm>
            <a:off x="5068888" y="1292225"/>
            <a:ext cx="42862" cy="1825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i="1">
                <a:solidFill>
                  <a:srgbClr val="000000"/>
                </a:solidFill>
                <a:latin typeface="Times New Roman"/>
                <a:ea typeface="Times New Roman"/>
                <a:cs typeface="Times New Roman"/>
                <a:sym typeface="Times New Roman"/>
              </a:rPr>
              <a:t>j</a:t>
            </a:r>
            <a:endParaRPr sz="2400">
              <a:solidFill>
                <a:schemeClr val="dk1"/>
              </a:solidFill>
              <a:latin typeface="Times New Roman"/>
              <a:ea typeface="Times New Roman"/>
              <a:cs typeface="Times New Roman"/>
              <a:sym typeface="Times New Roman"/>
            </a:endParaRPr>
          </a:p>
        </p:txBody>
      </p:sp>
      <p:sp>
        <p:nvSpPr>
          <p:cNvPr id="2001" name="Google Shape;2001;p53"/>
          <p:cNvSpPr/>
          <p:nvPr/>
        </p:nvSpPr>
        <p:spPr>
          <a:xfrm>
            <a:off x="4930775" y="1292225"/>
            <a:ext cx="42863" cy="18256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i="1">
                <a:solidFill>
                  <a:srgbClr val="000000"/>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p:txBody>
      </p:sp>
      <p:sp>
        <p:nvSpPr>
          <p:cNvPr id="2002" name="Google Shape;2002;p53"/>
          <p:cNvSpPr/>
          <p:nvPr/>
        </p:nvSpPr>
        <p:spPr>
          <a:xfrm>
            <a:off x="5734050" y="1554163"/>
            <a:ext cx="1397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Noto Sans Symbols"/>
                <a:ea typeface="Noto Sans Symbols"/>
                <a:cs typeface="Noto Sans Symbols"/>
                <a:sym typeface="Noto Sans Symbols"/>
              </a:rPr>
              <a:t>=</a:t>
            </a:r>
            <a:endParaRPr sz="2400">
              <a:solidFill>
                <a:schemeClr val="dk1"/>
              </a:solidFill>
              <a:latin typeface="Times New Roman"/>
              <a:ea typeface="Times New Roman"/>
              <a:cs typeface="Times New Roman"/>
              <a:sym typeface="Times New Roman"/>
            </a:endParaRPr>
          </a:p>
        </p:txBody>
      </p:sp>
      <p:sp>
        <p:nvSpPr>
          <p:cNvPr id="2003" name="Google Shape;2003;p53"/>
          <p:cNvSpPr/>
          <p:nvPr/>
        </p:nvSpPr>
        <p:spPr>
          <a:xfrm>
            <a:off x="4529138" y="1101725"/>
            <a:ext cx="1397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a:solidFill>
                  <a:srgbClr val="000000"/>
                </a:solidFill>
                <a:latin typeface="Noto Sans Symbols"/>
                <a:ea typeface="Noto Sans Symbols"/>
                <a:cs typeface="Noto Sans Symbols"/>
                <a:sym typeface="Noto Sans Symbols"/>
              </a:rPr>
              <a:t>=</a:t>
            </a:r>
            <a:endParaRPr sz="2400">
              <a:solidFill>
                <a:schemeClr val="dk1"/>
              </a:solidFill>
              <a:latin typeface="Times New Roman"/>
              <a:ea typeface="Times New Roman"/>
              <a:cs typeface="Times New Roman"/>
              <a:sym typeface="Times New Roman"/>
            </a:endParaRPr>
          </a:p>
        </p:txBody>
      </p:sp>
      <p:sp>
        <p:nvSpPr>
          <p:cNvPr id="2004" name="Google Shape;2004;p53"/>
          <p:cNvSpPr/>
          <p:nvPr/>
        </p:nvSpPr>
        <p:spPr>
          <a:xfrm>
            <a:off x="5954713" y="1484313"/>
            <a:ext cx="280987" cy="473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00">
                <a:solidFill>
                  <a:srgbClr val="000000"/>
                </a:solidFill>
                <a:latin typeface="Noto Sans Symbols"/>
                <a:ea typeface="Noto Sans Symbols"/>
                <a:cs typeface="Noto Sans Symbols"/>
                <a:sym typeface="Noto Sans Symbols"/>
              </a:rPr>
              <a:t>∑</a:t>
            </a:r>
            <a:endParaRPr sz="2400">
              <a:solidFill>
                <a:schemeClr val="dk1"/>
              </a:solidFill>
              <a:latin typeface="Times New Roman"/>
              <a:ea typeface="Times New Roman"/>
              <a:cs typeface="Times New Roman"/>
              <a:sym typeface="Times New Roman"/>
            </a:endParaRPr>
          </a:p>
        </p:txBody>
      </p:sp>
      <p:sp>
        <p:nvSpPr>
          <p:cNvPr id="2005" name="Google Shape;2005;p53"/>
          <p:cNvSpPr/>
          <p:nvPr/>
        </p:nvSpPr>
        <p:spPr>
          <a:xfrm>
            <a:off x="6392863" y="1584325"/>
            <a:ext cx="2540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a:solidFill>
                  <a:srgbClr val="000000"/>
                </a:solidFill>
                <a:latin typeface="Times New Roman"/>
                <a:ea typeface="Times New Roman"/>
                <a:cs typeface="Times New Roman"/>
                <a:sym typeface="Times New Roman"/>
              </a:rPr>
              <a:t>W</a:t>
            </a:r>
            <a:endParaRPr sz="2400">
              <a:solidFill>
                <a:schemeClr val="dk1"/>
              </a:solidFill>
              <a:latin typeface="Times New Roman"/>
              <a:ea typeface="Times New Roman"/>
              <a:cs typeface="Times New Roman"/>
              <a:sym typeface="Times New Roman"/>
            </a:endParaRPr>
          </a:p>
        </p:txBody>
      </p:sp>
      <p:sp>
        <p:nvSpPr>
          <p:cNvPr id="2006" name="Google Shape;2006;p53"/>
          <p:cNvSpPr/>
          <p:nvPr/>
        </p:nvSpPr>
        <p:spPr>
          <a:xfrm>
            <a:off x="5005388" y="1584325"/>
            <a:ext cx="18415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a:solidFill>
                  <a:srgbClr val="000000"/>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sp>
        <p:nvSpPr>
          <p:cNvPr id="2007" name="Google Shape;2007;p53"/>
          <p:cNvSpPr/>
          <p:nvPr/>
        </p:nvSpPr>
        <p:spPr>
          <a:xfrm>
            <a:off x="1081088" y="1584325"/>
            <a:ext cx="336550" cy="3540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a:solidFill>
                  <a:srgbClr val="000000"/>
                </a:solidFill>
                <a:latin typeface="Times New Roman"/>
                <a:ea typeface="Times New Roman"/>
                <a:cs typeface="Times New Roman"/>
                <a:sym typeface="Times New Roman"/>
              </a:rPr>
              <a:t>D</a:t>
            </a:r>
            <a:endParaRPr sz="2400">
              <a:solidFill>
                <a:schemeClr val="dk1"/>
              </a:solidFill>
              <a:latin typeface="Times New Roman"/>
              <a:ea typeface="Times New Roman"/>
              <a:cs typeface="Times New Roman"/>
              <a:sym typeface="Times New Roman"/>
            </a:endParaRPr>
          </a:p>
        </p:txBody>
      </p:sp>
      <p:sp>
        <p:nvSpPr>
          <p:cNvPr id="2008" name="Google Shape;2008;p53"/>
          <p:cNvSpPr/>
          <p:nvPr/>
        </p:nvSpPr>
        <p:spPr>
          <a:xfrm>
            <a:off x="3644900" y="1131888"/>
            <a:ext cx="2540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a:solidFill>
                  <a:srgbClr val="000000"/>
                </a:solidFill>
                <a:latin typeface="Times New Roman"/>
                <a:ea typeface="Times New Roman"/>
                <a:cs typeface="Times New Roman"/>
                <a:sym typeface="Times New Roman"/>
              </a:rPr>
              <a:t>W</a:t>
            </a:r>
            <a:endParaRPr sz="2400">
              <a:solidFill>
                <a:schemeClr val="dk1"/>
              </a:solidFill>
              <a:latin typeface="Times New Roman"/>
              <a:ea typeface="Times New Roman"/>
              <a:cs typeface="Times New Roman"/>
              <a:sym typeface="Times New Roman"/>
            </a:endParaRPr>
          </a:p>
        </p:txBody>
      </p:sp>
      <p:sp>
        <p:nvSpPr>
          <p:cNvPr id="2009" name="Google Shape;2009;p53"/>
          <p:cNvSpPr/>
          <p:nvPr/>
        </p:nvSpPr>
        <p:spPr>
          <a:xfrm>
            <a:off x="1085850" y="1131888"/>
            <a:ext cx="2540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a:solidFill>
                  <a:srgbClr val="000000"/>
                </a:solidFill>
                <a:latin typeface="Times New Roman"/>
                <a:ea typeface="Times New Roman"/>
                <a:cs typeface="Times New Roman"/>
                <a:sym typeface="Times New Roman"/>
              </a:rPr>
              <a:t>W</a:t>
            </a:r>
            <a:endParaRPr sz="2400">
              <a:solidFill>
                <a:schemeClr val="dk1"/>
              </a:solidFill>
              <a:latin typeface="Times New Roman"/>
              <a:ea typeface="Times New Roman"/>
              <a:cs typeface="Times New Roman"/>
              <a:sym typeface="Times New Roman"/>
            </a:endParaRPr>
          </a:p>
        </p:txBody>
      </p:sp>
      <p:sp>
        <p:nvSpPr>
          <p:cNvPr id="2010" name="Google Shape;2010;p53"/>
          <p:cNvSpPr txBox="1">
            <a:spLocks noGrp="1"/>
          </p:cNvSpPr>
          <p:nvPr>
            <p:ph type="body" idx="1"/>
          </p:nvPr>
        </p:nvSpPr>
        <p:spPr>
          <a:xfrm>
            <a:off x="685800" y="2209800"/>
            <a:ext cx="7772400" cy="762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None/>
            </a:pPr>
            <a:r>
              <a:rPr lang="en-US"/>
              <a:t>Can write normalized cut as:</a:t>
            </a:r>
            <a:endParaRPr/>
          </a:p>
        </p:txBody>
      </p:sp>
      <p:pic>
        <p:nvPicPr>
          <p:cNvPr id="2011" name="Google Shape;2011;p53"/>
          <p:cNvPicPr preferRelativeResize="0"/>
          <p:nvPr/>
        </p:nvPicPr>
        <p:blipFill rotWithShape="1">
          <a:blip r:embed="rId3">
            <a:alphaModFix/>
          </a:blip>
          <a:srcRect/>
          <a:stretch/>
        </p:blipFill>
        <p:spPr>
          <a:xfrm>
            <a:off x="1393825" y="2667000"/>
            <a:ext cx="6073775" cy="803275"/>
          </a:xfrm>
          <a:prstGeom prst="rect">
            <a:avLst/>
          </a:prstGeom>
          <a:solidFill>
            <a:schemeClr val="lt1"/>
          </a:solidFill>
          <a:ln>
            <a:noFill/>
          </a:ln>
        </p:spPr>
      </p:pic>
      <p:sp>
        <p:nvSpPr>
          <p:cNvPr id="2012" name="Google Shape;2012;p53"/>
          <p:cNvSpPr/>
          <p:nvPr/>
        </p:nvSpPr>
        <p:spPr>
          <a:xfrm>
            <a:off x="685800" y="3048000"/>
            <a:ext cx="8305800" cy="22098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None/>
            </a:pPr>
            <a:endParaRPr sz="2800">
              <a:solidFill>
                <a:schemeClr val="dk1"/>
              </a:solidFill>
              <a:latin typeface="Arial"/>
              <a:ea typeface="Arial"/>
              <a:cs typeface="Arial"/>
              <a:sym typeface="Arial"/>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Solution given by “generalized” eigenvalue problem:</a:t>
            </a:r>
            <a:endParaRPr/>
          </a:p>
          <a:p>
            <a:pPr marL="742950" marR="0" lvl="1" indent="-158750" algn="l" rtl="0">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742950" marR="0" lvl="1" indent="-285750" algn="l" rtl="0">
              <a:spcBef>
                <a:spcPts val="4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Solved by converting to standard eigenvalue problem:</a:t>
            </a:r>
            <a:endParaRPr/>
          </a:p>
          <a:p>
            <a:pPr marL="742950" marR="0" lvl="1" indent="-158750" algn="l" rtl="0">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742950" marR="0" lvl="1" indent="-158750" algn="l" rtl="0">
              <a:spcBef>
                <a:spcPts val="40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742950" marR="0" lvl="1" indent="-285750" algn="l" rtl="0">
              <a:spcBef>
                <a:spcPts val="400"/>
              </a:spcBef>
              <a:spcAft>
                <a:spcPts val="0"/>
              </a:spcAft>
              <a:buClr>
                <a:srgbClr val="FF0000"/>
              </a:buClr>
              <a:buSzPts val="2000"/>
              <a:buFont typeface="Arial"/>
              <a:buChar char="•"/>
            </a:pPr>
            <a:r>
              <a:rPr lang="en-US" sz="2000" b="0" i="0" u="none" strike="noStrike" cap="none">
                <a:solidFill>
                  <a:srgbClr val="FF0000"/>
                </a:solidFill>
                <a:latin typeface="Arial"/>
                <a:ea typeface="Arial"/>
                <a:cs typeface="Arial"/>
                <a:sym typeface="Arial"/>
              </a:rPr>
              <a:t>optimal solution corresponds to second smallest eigenvector</a:t>
            </a:r>
            <a:endParaRPr/>
          </a:p>
          <a:p>
            <a:pPr marL="742950" marR="0" lvl="1" indent="-285750" algn="l" rtl="0">
              <a:spcBef>
                <a:spcPts val="400"/>
              </a:spcBef>
              <a:spcAft>
                <a:spcPts val="0"/>
              </a:spcAft>
              <a:buClr>
                <a:schemeClr val="dk1"/>
              </a:buClr>
              <a:buSzPts val="2000"/>
              <a:buFont typeface="Arial"/>
              <a:buChar char="•"/>
            </a:pPr>
            <a:r>
              <a:rPr lang="en-US" sz="2000" b="1" i="0" u="sng" strike="noStrike" cap="none">
                <a:solidFill>
                  <a:schemeClr val="dk1"/>
                </a:solidFill>
                <a:latin typeface="Arial"/>
                <a:ea typeface="Arial"/>
                <a:cs typeface="Arial"/>
                <a:sym typeface="Arial"/>
              </a:rPr>
              <a:t>for more details, see</a:t>
            </a:r>
            <a:endParaRPr/>
          </a:p>
          <a:p>
            <a:pPr marL="1143000" marR="0" lvl="2" indent="-228600" algn="l" rtl="0">
              <a:spcBef>
                <a:spcPts val="280"/>
              </a:spcBef>
              <a:spcAft>
                <a:spcPts val="0"/>
              </a:spcAft>
              <a:buClr>
                <a:schemeClr val="dk1"/>
              </a:buClr>
              <a:buSzPts val="1400"/>
              <a:buFont typeface="Arial"/>
              <a:buChar char="–"/>
            </a:pPr>
            <a:r>
              <a:rPr lang="en-US" sz="1400" b="1" i="0" u="sng" strike="noStrike" cap="none">
                <a:solidFill>
                  <a:schemeClr val="dk1"/>
                </a:solidFill>
                <a:latin typeface="Arial"/>
                <a:ea typeface="Arial"/>
                <a:cs typeface="Arial"/>
                <a:sym typeface="Arial"/>
              </a:rPr>
              <a:t>J. Shi and J. Malik, </a:t>
            </a:r>
            <a:r>
              <a:rPr lang="en-US" sz="1400" b="1" i="0" u="sng" strike="noStrike" cap="none">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Normalized Cuts and Image Segmentation</a:t>
            </a:r>
            <a:r>
              <a:rPr lang="en-US" sz="1400" b="1" i="0" u="sng" strike="noStrike" cap="none">
                <a:solidFill>
                  <a:schemeClr val="dk1"/>
                </a:solidFill>
                <a:latin typeface="Arial"/>
                <a:ea typeface="Arial"/>
                <a:cs typeface="Arial"/>
                <a:sym typeface="Arial"/>
              </a:rPr>
              <a:t>, IEEE Conf. Computer Vision and Pattern Recognition(CVPR), 1997</a:t>
            </a:r>
            <a:endParaRPr/>
          </a:p>
          <a:p>
            <a:pPr marL="1143000" marR="0" lvl="2" indent="-228600" algn="l" rtl="0">
              <a:spcBef>
                <a:spcPts val="280"/>
              </a:spcBef>
              <a:spcAft>
                <a:spcPts val="0"/>
              </a:spcAft>
              <a:buClr>
                <a:schemeClr val="dk1"/>
              </a:buClr>
              <a:buSzPts val="1400"/>
              <a:buFont typeface="Arial"/>
              <a:buChar char="–"/>
            </a:pPr>
            <a:r>
              <a:rPr lang="en-US" sz="1400" b="1" i="0" u="sng" strike="noStrike" cap="none">
                <a:solidFill>
                  <a:schemeClr val="dk1"/>
                </a:solidFill>
                <a:latin typeface="Arial"/>
                <a:ea typeface="Arial"/>
                <a:cs typeface="Arial"/>
                <a:sym typeface="Arial"/>
                <a:hlinkClick r:id="rId4">
                  <a:extLst>
                    <a:ext uri="{A12FA001-AC4F-418D-AE19-62706E023703}">
                      <ahyp:hlinkClr xmlns:ahyp="http://schemas.microsoft.com/office/drawing/2018/hyperlinkcolor" val="tx"/>
                    </a:ext>
                  </a:extLst>
                </a:hlinkClick>
              </a:rPr>
              <a:t>http://www.cs.washington.edu/education/courses/455/03wi/readings/Ncut.pdf</a:t>
            </a:r>
            <a:endParaRPr sz="1400" b="1" i="0" u="sng" strike="noStrike" cap="none">
              <a:solidFill>
                <a:schemeClr val="dk1"/>
              </a:solidFill>
              <a:latin typeface="Arial"/>
              <a:ea typeface="Arial"/>
              <a:cs typeface="Arial"/>
              <a:sym typeface="Arial"/>
            </a:endParaRPr>
          </a:p>
        </p:txBody>
      </p:sp>
      <p:pic>
        <p:nvPicPr>
          <p:cNvPr id="2013" name="Google Shape;2013;p53"/>
          <p:cNvPicPr preferRelativeResize="0"/>
          <p:nvPr/>
        </p:nvPicPr>
        <p:blipFill rotWithShape="1">
          <a:blip r:embed="rId5">
            <a:alphaModFix/>
          </a:blip>
          <a:srcRect/>
          <a:stretch/>
        </p:blipFill>
        <p:spPr>
          <a:xfrm>
            <a:off x="3048000" y="3911600"/>
            <a:ext cx="2209800" cy="431800"/>
          </a:xfrm>
          <a:prstGeom prst="rect">
            <a:avLst/>
          </a:prstGeom>
          <a:solidFill>
            <a:schemeClr val="lt1"/>
          </a:solidFill>
          <a:ln>
            <a:noFill/>
          </a:ln>
        </p:spPr>
      </p:pic>
      <p:pic>
        <p:nvPicPr>
          <p:cNvPr id="2014" name="Google Shape;2014;p53"/>
          <p:cNvPicPr preferRelativeResize="0"/>
          <p:nvPr/>
        </p:nvPicPr>
        <p:blipFill rotWithShape="1">
          <a:blip r:embed="rId6">
            <a:alphaModFix/>
          </a:blip>
          <a:srcRect/>
          <a:stretch/>
        </p:blipFill>
        <p:spPr>
          <a:xfrm>
            <a:off x="1552575" y="4587875"/>
            <a:ext cx="5200650" cy="593725"/>
          </a:xfrm>
          <a:prstGeom prst="rect">
            <a:avLst/>
          </a:prstGeom>
          <a:solidFill>
            <a:schemeClr val="lt1"/>
          </a:solid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69</TotalTime>
  <Words>2770</Words>
  <Application>Microsoft Office PowerPoint</Application>
  <PresentationFormat>On-screen Show (4:3)</PresentationFormat>
  <Paragraphs>469</Paragraphs>
  <Slides>59</Slides>
  <Notes>58</Notes>
  <HiddenSlides>1</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59</vt:i4>
      </vt:variant>
    </vt:vector>
  </HeadingPairs>
  <TitlesOfParts>
    <vt:vector size="68" baseType="lpstr">
      <vt:lpstr>Comic Sans MS</vt:lpstr>
      <vt:lpstr>Calibri</vt:lpstr>
      <vt:lpstr>Noto Sans Symbols</vt:lpstr>
      <vt:lpstr>Arial</vt:lpstr>
      <vt:lpstr>Times New Roman</vt:lpstr>
      <vt:lpstr>Blank Presentation</vt:lpstr>
      <vt:lpstr>Office Theme</vt:lpstr>
      <vt:lpstr>MSPhotoEd.3</vt:lpstr>
      <vt:lpstr>Photoshop.Image.5</vt:lpstr>
      <vt:lpstr>Session #11:  Image Segmentation</vt:lpstr>
      <vt:lpstr>Aakash Goel https://www.linkedin.com/in/goelaakash123/</vt:lpstr>
      <vt:lpstr>Image segmentation is a process in computer vision that involves dividing an image into multiple segments, or regions, to simplify or change the representation of an image into something more meaningful and easier to analyze. It's often used to locate objects and boundaries within images.  </vt:lpstr>
      <vt:lpstr>Types</vt:lpstr>
      <vt:lpstr>Image Segmentation</vt:lpstr>
      <vt:lpstr>Gestalt: Seeing the unified whole</vt:lpstr>
      <vt:lpstr>Human perception of shape recognition</vt:lpstr>
      <vt:lpstr>From images to objects</vt:lpstr>
      <vt:lpstr>Image Segmentation</vt:lpstr>
      <vt:lpstr>Image histograms</vt:lpstr>
      <vt:lpstr>What do histograms look like?</vt:lpstr>
      <vt:lpstr>Histogram-based segmentation</vt:lpstr>
      <vt:lpstr>Histogram-based segmentation</vt:lpstr>
      <vt:lpstr>Clustering</vt:lpstr>
      <vt:lpstr>Break it down into subproblems</vt:lpstr>
      <vt:lpstr>K-means clustering</vt:lpstr>
      <vt:lpstr>K means clustering</vt:lpstr>
      <vt:lpstr>Probabilistic clustering</vt:lpstr>
      <vt:lpstr>Mixture of Gaussians</vt:lpstr>
      <vt:lpstr>Expectation maximization (EM)</vt:lpstr>
      <vt:lpstr>EM details</vt:lpstr>
      <vt:lpstr>EM demos</vt:lpstr>
      <vt:lpstr>Applications of EM</vt:lpstr>
      <vt:lpstr>Problems with EM</vt:lpstr>
      <vt:lpstr>Mean-shift for image segmentation</vt:lpstr>
      <vt:lpstr>Mean shift segmentation</vt:lpstr>
      <vt:lpstr>Mean shift algorithm</vt:lpstr>
      <vt:lpstr>Kernel density estimation</vt:lpstr>
      <vt:lpstr>Mean shift</vt:lpstr>
      <vt:lpstr>Mean shift</vt:lpstr>
      <vt:lpstr>Mean shift</vt:lpstr>
      <vt:lpstr>Mean shift</vt:lpstr>
      <vt:lpstr>Mean shift</vt:lpstr>
      <vt:lpstr>Mean shift</vt:lpstr>
      <vt:lpstr>Mean shift</vt:lpstr>
      <vt:lpstr>Computing the Mean Shift</vt:lpstr>
      <vt:lpstr>Real Modality Analysis</vt:lpstr>
      <vt:lpstr>Attraction basin</vt:lpstr>
      <vt:lpstr>Attraction basin</vt:lpstr>
      <vt:lpstr>Finding Modes in a Histogram</vt:lpstr>
      <vt:lpstr>Mean Shift [Comaniciu &amp; Meer]</vt:lpstr>
      <vt:lpstr>Mean-Shift</vt:lpstr>
      <vt:lpstr>Mean shift clustering</vt:lpstr>
      <vt:lpstr>Mean shift segmentation results</vt:lpstr>
      <vt:lpstr>PowerPoint Presentation</vt:lpstr>
      <vt:lpstr>Mean-shift: other issues</vt:lpstr>
      <vt:lpstr>Mean shift pros and cons</vt:lpstr>
      <vt:lpstr>Region-based segmentation</vt:lpstr>
      <vt:lpstr>Images as graphs</vt:lpstr>
      <vt:lpstr>Images as graphs</vt:lpstr>
      <vt:lpstr>Images as graphs</vt:lpstr>
      <vt:lpstr>Segmentation by Graph Cuts</vt:lpstr>
      <vt:lpstr>Cuts in a graph</vt:lpstr>
      <vt:lpstr>But min cut is not always the best cut...</vt:lpstr>
      <vt:lpstr>But min cut is not always the best cut...</vt:lpstr>
      <vt:lpstr>Cuts in a graph</vt:lpstr>
      <vt:lpstr>Cuts in a graph</vt:lpstr>
      <vt:lpstr>Color Image Segmentation</vt:lpstr>
      <vt:lpstr>Normalize Cut in Matrix 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Steve Seitz</dc:creator>
  <cp:lastModifiedBy>Aakash Goel (MSTIC DS&amp;AI)</cp:lastModifiedBy>
  <cp:revision>3</cp:revision>
  <dcterms:created xsi:type="dcterms:W3CDTF">1998-05-10T17:20:27Z</dcterms:created>
  <dcterms:modified xsi:type="dcterms:W3CDTF">2025-08-03T06:51:49Z</dcterms:modified>
</cp:coreProperties>
</file>