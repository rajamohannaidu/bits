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y="5143500" cx="9144000"/>
  <p:notesSz cx="6858000" cy="9144000"/>
  <p:embeddedFontLst>
    <p:embeddedFont>
      <p:font typeface="Proxima Nova"/>
      <p:regular r:id="rId42"/>
      <p:bold r:id="rId43"/>
      <p:italic r:id="rId44"/>
      <p:boldItalic r:id="rId45"/>
    </p:embeddedFont>
    <p:embeddedFont>
      <p:font typeface="Proxima Nova Semibold"/>
      <p:regular r:id="rId46"/>
      <p:bold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9" roundtripDataSignature="AMtx7mgu7IgF4lnr/lZha+P+U/Zx5QS08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1E922B1-AD67-4BF2-A728-5F531385D041}">
  <a:tblStyle styleId="{51E922B1-AD67-4BF2-A728-5F531385D04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font" Target="fonts/ProximaNova-regular.fntdata"/><Relationship Id="rId41" Type="http://schemas.openxmlformats.org/officeDocument/2006/relationships/slide" Target="slides/slide34.xml"/><Relationship Id="rId44" Type="http://schemas.openxmlformats.org/officeDocument/2006/relationships/font" Target="fonts/ProximaNova-italic.fntdata"/><Relationship Id="rId43" Type="http://schemas.openxmlformats.org/officeDocument/2006/relationships/font" Target="fonts/ProximaNova-bold.fntdata"/><Relationship Id="rId46" Type="http://schemas.openxmlformats.org/officeDocument/2006/relationships/font" Target="fonts/ProximaNovaSemibold-regular.fntdata"/><Relationship Id="rId45" Type="http://schemas.openxmlformats.org/officeDocument/2006/relationships/font" Target="fonts/ProximaNova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ProximaNovaSemibold-boldItalic.fntdata"/><Relationship Id="rId47" Type="http://schemas.openxmlformats.org/officeDocument/2006/relationships/font" Target="fonts/ProximaNovaSemibold-bold.fntdata"/><Relationship Id="rId49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6c94a5ba1d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g26c94a5ba1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c84c1ab39e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g2c84c1ab39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50">
              <a:solidFill>
                <a:srgbClr val="080A13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c84c1ab39e_0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g2c84c1ab39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50">
              <a:solidFill>
                <a:srgbClr val="080A13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c84c1ab39e_0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g2c84c1ab39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50">
              <a:solidFill>
                <a:srgbClr val="080A13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c84c1ab39e_0_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g2c84c1ab39e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50">
              <a:solidFill>
                <a:srgbClr val="080A13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c84c1ab39e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g2c84c1ab39e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rgbClr val="1F2328"/>
                </a:solidFill>
                <a:highlight>
                  <a:srgbClr val="FFFFFF"/>
                </a:highlight>
              </a:rPr>
              <a:t>Calculation of 11-point Interpolated Average Precision. </a:t>
            </a:r>
            <a:endParaRPr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50">
              <a:solidFill>
                <a:srgbClr val="080A13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c84c1ab39e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g2c84c1ab39e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50">
              <a:solidFill>
                <a:srgbClr val="080A13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c84c1ab39e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g2c84c1ab39e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50">
              <a:solidFill>
                <a:srgbClr val="080A13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c84c1ab39e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g2c84c1ab39e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50">
              <a:solidFill>
                <a:srgbClr val="080A13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c84c1ab39e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g2c84c1ab39e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50">
              <a:solidFill>
                <a:srgbClr val="080A13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c84c1ab39e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g2c84c1ab39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50">
              <a:solidFill>
                <a:srgbClr val="080A13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2c84c1ab39e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g2c84c1ab39e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50">
              <a:solidFill>
                <a:srgbClr val="080A13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c84c1ab39e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g2c84c1ab39e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50">
              <a:solidFill>
                <a:srgbClr val="080A13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c84c1ab39e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g2c84c1ab39e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50">
              <a:solidFill>
                <a:srgbClr val="080A13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c84c1ab39e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g2c84c1ab39e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50">
              <a:solidFill>
                <a:srgbClr val="080A13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c84c1ab39e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g2c84c1ab39e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50">
              <a:solidFill>
                <a:srgbClr val="080A13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6c94a5ba1d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g26c94a5ba1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2c84c1ab39e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g2c84c1ab39e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c84c1ab39e_0_1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g2c84c1ab39e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2c84c1ab39e_0_19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g2c84c1ab39e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2c84c1ab39e_0_2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g2c84c1ab39e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2c84c1ab39e_0_2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g2c84c1ab39e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2c84c1ab39e_0_2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g2c84c1ab39e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2c84c1ab39e_0_2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g2c84c1ab39e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2c84c1ab39e_0_2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g2c84c1ab39e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c84c1ab39e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g2c84c1ab39e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2c84c1ab39e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g2c84c1ab39e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2c84c1ab39e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4" name="Google Shape;474;g2c84c1ab39e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2c84c1ab39e_0_2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1" name="Google Shape;481;g2c84c1ab39e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2c84c1ab39e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" name="Google Shape;489;g2c84c1ab39e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2f8503a303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2f8503a30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4" name="Google Shape;504;p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5" name="Google Shape;505;p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gif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5.gif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gif"/><Relationship Id="rId3" Type="http://schemas.openxmlformats.org/officeDocument/2006/relationships/hyperlink" Target="mailto:vimalsp@wilp.bits-pilani.ac.in" TargetMode="External"/><Relationship Id="rId4" Type="http://schemas.openxmlformats.org/officeDocument/2006/relationships/hyperlink" Target="mailto:sangeetha.viswanathan@pilani.bits-pilani.ac.in" TargetMode="External"/><Relationship Id="rId5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gif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gif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1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gif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ITS Pilani logo" id="10" name="Google Shape;10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17084" y="197102"/>
            <a:ext cx="2504055" cy="6494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00" y="0"/>
            <a:ext cx="418624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40"/>
          <p:cNvSpPr txBox="1"/>
          <p:nvPr>
            <p:ph type="ctrTitle"/>
          </p:nvPr>
        </p:nvSpPr>
        <p:spPr>
          <a:xfrm>
            <a:off x="1400993" y="2419895"/>
            <a:ext cx="7117500" cy="955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2700" cap="none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40"/>
          <p:cNvSpPr txBox="1"/>
          <p:nvPr/>
        </p:nvSpPr>
        <p:spPr>
          <a:xfrm>
            <a:off x="384325" y="790425"/>
            <a:ext cx="27342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073763"/>
                </a:solidFill>
                <a:latin typeface="Proxima Nova"/>
                <a:ea typeface="Proxima Nova"/>
                <a:cs typeface="Proxima Nova"/>
                <a:sym typeface="Proxima Nova"/>
              </a:rPr>
              <a:t>AIMLC </a:t>
            </a:r>
            <a:r>
              <a:rPr b="1" i="0" lang="en-US" sz="1700" u="none" cap="none" strike="noStrike">
                <a:solidFill>
                  <a:srgbClr val="20124D"/>
                </a:solidFill>
                <a:latin typeface="Proxima Nova"/>
                <a:ea typeface="Proxima Nova"/>
                <a:cs typeface="Proxima Nova"/>
                <a:sym typeface="Proxima Nova"/>
              </a:rPr>
              <a:t>ZG525</a:t>
            </a:r>
            <a:endParaRPr b="1" i="0" sz="1700" u="none" cap="none" strike="noStrike">
              <a:solidFill>
                <a:srgbClr val="20124D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073763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b="1" i="0" sz="1700" u="none" cap="none" strike="noStrike">
              <a:solidFill>
                <a:srgbClr val="07376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2300" u="none" cap="none" strike="noStrike">
                <a:solidFill>
                  <a:srgbClr val="073763"/>
                </a:solidFill>
                <a:latin typeface="Proxima Nova"/>
                <a:ea typeface="Proxima Nova"/>
                <a:cs typeface="Proxima Nova"/>
                <a:sym typeface="Proxima Nova"/>
              </a:rPr>
              <a:t>Computer Vision</a:t>
            </a:r>
            <a:r>
              <a:rPr b="1" i="0" lang="en-US" sz="1700" u="sng" cap="none" strike="noStrike">
                <a:solidFill>
                  <a:srgbClr val="073763"/>
                </a:solidFill>
                <a:latin typeface="Proxima Nova"/>
                <a:ea typeface="Proxima Nova"/>
                <a:cs typeface="Proxima Nova"/>
                <a:sym typeface="Proxima Nova"/>
              </a:rPr>
              <a:t>  </a:t>
            </a:r>
            <a:endParaRPr b="1" i="0" sz="1700" u="sng" cap="none" strike="noStrike">
              <a:solidFill>
                <a:srgbClr val="07376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Table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1"/>
          <p:cNvSpPr txBox="1"/>
          <p:nvPr>
            <p:ph type="title"/>
          </p:nvPr>
        </p:nvSpPr>
        <p:spPr>
          <a:xfrm>
            <a:off x="628650" y="274369"/>
            <a:ext cx="7886700" cy="93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4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irla Institute of Technology and Science, Pilani | Logopedia | Fandom" id="17" name="Google Shape;17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9391"/>
            <a:ext cx="528638" cy="52863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1"/>
          <p:cNvSpPr txBox="1"/>
          <p:nvPr>
            <p:ph idx="1" type="body"/>
          </p:nvPr>
        </p:nvSpPr>
        <p:spPr>
          <a:xfrm>
            <a:off x="628650" y="1420585"/>
            <a:ext cx="7886700" cy="31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41"/>
          <p:cNvSpPr txBox="1"/>
          <p:nvPr/>
        </p:nvSpPr>
        <p:spPr>
          <a:xfrm>
            <a:off x="6330475" y="-47525"/>
            <a:ext cx="28134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CV </a:t>
            </a:r>
            <a:r>
              <a:rPr lang="en-US" sz="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16: Note on Performance Metrics and wrap up</a:t>
            </a:r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rt Art">
  <p:cSld name="Smart Art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2c0ef3173c8_0_826"/>
          <p:cNvSpPr txBox="1"/>
          <p:nvPr>
            <p:ph type="title"/>
          </p:nvPr>
        </p:nvSpPr>
        <p:spPr>
          <a:xfrm>
            <a:off x="628650" y="273844"/>
            <a:ext cx="76500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sz="21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Google Shape;22;g2c0ef3173c8_0_82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g2c0ef3173c8_0_82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irla Institute of Technology and Science, Pilani | Logopedia | Fandom" id="24" name="Google Shape;24;g2c0ef3173c8_0_8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1431"/>
            <a:ext cx="528638" cy="528638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g2c0ef3173c8_0_826"/>
          <p:cNvSpPr txBox="1"/>
          <p:nvPr>
            <p:ph idx="1" type="body"/>
          </p:nvPr>
        </p:nvSpPr>
        <p:spPr>
          <a:xfrm>
            <a:off x="628650" y="1224643"/>
            <a:ext cx="7886700" cy="3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2"/>
          <p:cNvSpPr txBox="1"/>
          <p:nvPr>
            <p:ph type="title"/>
          </p:nvPr>
        </p:nvSpPr>
        <p:spPr>
          <a:xfrm>
            <a:off x="255550" y="122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irla Institute of Technology and Science, Pilani | Logopedia | Fandom" id="30" name="Google Shape;30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9391"/>
            <a:ext cx="528638" cy="528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" name="Google Shape;33;p4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4" name="Google Shape;34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irla Institute of Technology and Science, Pilani | Logopedia | Fandom" id="35" name="Google Shape;35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9391"/>
            <a:ext cx="528638" cy="528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8" name="Google Shape;38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irla Institute of Technology and Science, Pilani | Logopedia | Fandom" id="39" name="Google Shape;39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9391"/>
            <a:ext cx="528638" cy="528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8"/>
          <p:cNvSpPr txBox="1"/>
          <p:nvPr>
            <p:ph type="title"/>
          </p:nvPr>
        </p:nvSpPr>
        <p:spPr>
          <a:xfrm>
            <a:off x="255550" y="122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irla Institute of Technology and Science, Pilani | Logopedia | Fandom" id="44" name="Google Shape;44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9391"/>
            <a:ext cx="528638" cy="528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9"/>
          <p:cNvSpPr txBox="1"/>
          <p:nvPr>
            <p:ph type="title"/>
          </p:nvPr>
        </p:nvSpPr>
        <p:spPr>
          <a:xfrm>
            <a:off x="255550" y="122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4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" name="Google Shape;48;p4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irla Institute of Technology and Science, Pilani | Logopedia | Fandom" id="50" name="Google Shape;50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9391"/>
            <a:ext cx="528638" cy="528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0"/>
          <p:cNvSpPr txBox="1"/>
          <p:nvPr>
            <p:ph type="title"/>
          </p:nvPr>
        </p:nvSpPr>
        <p:spPr>
          <a:xfrm>
            <a:off x="255550" y="122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irla Institute of Technology and Science, Pilani | Logopedia | Fandom" id="54" name="Google Shape;54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9391"/>
            <a:ext cx="528638" cy="528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7" name="Google Shape;57;p5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" name="Google Shape;58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irla Institute of Technology and Science, Pilani | Logopedia | Fandom" id="59" name="Google Shape;59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9391"/>
            <a:ext cx="528638" cy="528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2" name="Google Shape;62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irla Institute of Technology and Science, Pilani | Logopedia | Fandom" id="63" name="Google Shape;63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9391"/>
            <a:ext cx="528638" cy="528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irla Institute of Technology and Science, Pilani | Logopedia | Fandom" id="66" name="Google Shape;66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9391"/>
            <a:ext cx="528638" cy="528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418624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45"/>
          <p:cNvSpPr txBox="1"/>
          <p:nvPr>
            <p:ph type="title"/>
          </p:nvPr>
        </p:nvSpPr>
        <p:spPr>
          <a:xfrm>
            <a:off x="3493293" y="2107406"/>
            <a:ext cx="5022000" cy="1432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sz="21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45"/>
          <p:cNvSpPr txBox="1"/>
          <p:nvPr>
            <p:ph idx="1" type="subTitle"/>
          </p:nvPr>
        </p:nvSpPr>
        <p:spPr>
          <a:xfrm>
            <a:off x="3493294" y="3771602"/>
            <a:ext cx="5022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070"/>
              </a:buClr>
              <a:buSzPts val="1200"/>
              <a:buNone/>
              <a:defRPr sz="1200">
                <a:solidFill>
                  <a:srgbClr val="757070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6" name="Google Shape;76;p45"/>
          <p:cNvSpPr txBox="1"/>
          <p:nvPr>
            <p:ph idx="11" type="ftr"/>
          </p:nvPr>
        </p:nvSpPr>
        <p:spPr>
          <a:xfrm>
            <a:off x="5057774" y="4767263"/>
            <a:ext cx="190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45"/>
          <p:cNvSpPr txBox="1"/>
          <p:nvPr>
            <p:ph idx="12" type="sldNum"/>
          </p:nvPr>
        </p:nvSpPr>
        <p:spPr>
          <a:xfrm>
            <a:off x="7243763" y="4767263"/>
            <a:ext cx="12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ITS Pilani logo" id="78" name="Google Shape;78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7529" y="144383"/>
            <a:ext cx="2504055" cy="649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">
  <p:cSld name="Chart">
    <p:bg>
      <p:bgPr>
        <a:solidFill>
          <a:schemeClr val="accen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4"/>
          <p:cNvSpPr txBox="1"/>
          <p:nvPr>
            <p:ph type="title"/>
          </p:nvPr>
        </p:nvSpPr>
        <p:spPr>
          <a:xfrm>
            <a:off x="628650" y="273844"/>
            <a:ext cx="7886700" cy="9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sz="21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4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4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irla Institute of Technology and Science, Pilani | Logopedia | Fandom" id="83" name="Google Shape;83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1431"/>
            <a:ext cx="528638" cy="528638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4"/>
          <p:cNvSpPr txBox="1"/>
          <p:nvPr>
            <p:ph idx="1" type="body"/>
          </p:nvPr>
        </p:nvSpPr>
        <p:spPr>
          <a:xfrm>
            <a:off x="628650" y="1420585"/>
            <a:ext cx="7886700" cy="31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ITS Pilani logo" id="86" name="Google Shape;86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17084" y="197102"/>
            <a:ext cx="2504055" cy="64943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57"/>
          <p:cNvSpPr txBox="1"/>
          <p:nvPr/>
        </p:nvSpPr>
        <p:spPr>
          <a:xfrm>
            <a:off x="3276900" y="4287169"/>
            <a:ext cx="5414700" cy="6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Instructors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Prof. S. P. Vimal (</a:t>
            </a:r>
            <a:r>
              <a:rPr b="0" i="0" lang="en-US" sz="12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vimalsp@wilp.bits-pilani.ac.in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Prof. Sangeetha Viswanathan (</a:t>
            </a:r>
            <a:r>
              <a:rPr b="0" i="0" lang="en-US" sz="12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sangeetha.viswanathan@pilani.bits-pilani.ac.in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418624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57"/>
          <p:cNvSpPr txBox="1"/>
          <p:nvPr>
            <p:ph type="ctrTitle"/>
          </p:nvPr>
        </p:nvSpPr>
        <p:spPr>
          <a:xfrm>
            <a:off x="1400993" y="2419895"/>
            <a:ext cx="7117500" cy="955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2700" cap="none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57"/>
          <p:cNvSpPr txBox="1"/>
          <p:nvPr/>
        </p:nvSpPr>
        <p:spPr>
          <a:xfrm>
            <a:off x="48394" y="790425"/>
            <a:ext cx="31470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864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Deep Reinforcement Learning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9792"/>
              <a:buFont typeface="Arial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2022-23 Second Semester, M.Tech (AIML)  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Table"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8"/>
          <p:cNvSpPr txBox="1"/>
          <p:nvPr>
            <p:ph type="title"/>
          </p:nvPr>
        </p:nvSpPr>
        <p:spPr>
          <a:xfrm>
            <a:off x="628650" y="273844"/>
            <a:ext cx="7886700" cy="93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5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5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irla Institute of Technology and Science, Pilani | Logopedia | Fandom" id="95" name="Google Shape;95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1431"/>
            <a:ext cx="528638" cy="528638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58"/>
          <p:cNvSpPr txBox="1"/>
          <p:nvPr>
            <p:ph idx="1" type="body"/>
          </p:nvPr>
        </p:nvSpPr>
        <p:spPr>
          <a:xfrm>
            <a:off x="628650" y="1420585"/>
            <a:ext cx="7886700" cy="31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rt Art">
  <p:cSld name="Smart Art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9"/>
          <p:cNvSpPr txBox="1"/>
          <p:nvPr>
            <p:ph type="title"/>
          </p:nvPr>
        </p:nvSpPr>
        <p:spPr>
          <a:xfrm>
            <a:off x="628650" y="273844"/>
            <a:ext cx="76500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sz="21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5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5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irla Institute of Technology and Science, Pilani | Logopedia | Fandom" id="101" name="Google Shape;101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1431"/>
            <a:ext cx="528638" cy="528638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59"/>
          <p:cNvSpPr txBox="1"/>
          <p:nvPr>
            <p:ph idx="1" type="body"/>
          </p:nvPr>
        </p:nvSpPr>
        <p:spPr>
          <a:xfrm>
            <a:off x="628650" y="1224643"/>
            <a:ext cx="7886700" cy="3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Introduction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ITS Pilani logo" id="104" name="Google Shape;104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8131" y="216696"/>
            <a:ext cx="2504055" cy="64943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60"/>
          <p:cNvSpPr txBox="1"/>
          <p:nvPr>
            <p:ph type="title"/>
          </p:nvPr>
        </p:nvSpPr>
        <p:spPr>
          <a:xfrm>
            <a:off x="351337" y="1253729"/>
            <a:ext cx="45042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60"/>
          <p:cNvSpPr txBox="1"/>
          <p:nvPr>
            <p:ph idx="1" type="body"/>
          </p:nvPr>
        </p:nvSpPr>
        <p:spPr>
          <a:xfrm>
            <a:off x="1021556" y="1939835"/>
            <a:ext cx="4504200" cy="24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7" name="Google Shape;107;p60"/>
          <p:cNvSpPr txBox="1"/>
          <p:nvPr>
            <p:ph idx="11" type="ftr"/>
          </p:nvPr>
        </p:nvSpPr>
        <p:spPr>
          <a:xfrm>
            <a:off x="1847850" y="4767263"/>
            <a:ext cx="2609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6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 type="obj">
  <p:cSld name="OBJECT">
    <p:bg>
      <p:bgPr>
        <a:solidFill>
          <a:schemeClr val="dk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61"/>
          <p:cNvPicPr preferRelativeResize="0"/>
          <p:nvPr/>
        </p:nvPicPr>
        <p:blipFill rotWithShape="1">
          <a:blip r:embed="rId2">
            <a:alphaModFix/>
          </a:blip>
          <a:srcRect b="23066" l="0" r="28339" t="18296"/>
          <a:stretch/>
        </p:blipFill>
        <p:spPr>
          <a:xfrm>
            <a:off x="4116611" y="0"/>
            <a:ext cx="50273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61"/>
          <p:cNvSpPr txBox="1"/>
          <p:nvPr>
            <p:ph type="title"/>
          </p:nvPr>
        </p:nvSpPr>
        <p:spPr>
          <a:xfrm>
            <a:off x="1000125" y="765334"/>
            <a:ext cx="2171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None/>
              <a:defRPr sz="2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61"/>
          <p:cNvSpPr txBox="1"/>
          <p:nvPr>
            <p:ph idx="1" type="body"/>
          </p:nvPr>
        </p:nvSpPr>
        <p:spPr>
          <a:xfrm>
            <a:off x="1000125" y="2193131"/>
            <a:ext cx="2171700" cy="18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3" name="Google Shape;113;p61"/>
          <p:cNvSpPr txBox="1"/>
          <p:nvPr>
            <p:ph idx="11" type="ftr"/>
          </p:nvPr>
        </p:nvSpPr>
        <p:spPr>
          <a:xfrm>
            <a:off x="2002414" y="4767262"/>
            <a:ext cx="1862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61"/>
          <p:cNvSpPr txBox="1"/>
          <p:nvPr>
            <p:ph idx="12" type="sldNum"/>
          </p:nvPr>
        </p:nvSpPr>
        <p:spPr>
          <a:xfrm>
            <a:off x="4152229" y="4767263"/>
            <a:ext cx="740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Introduction" type="secHead">
  <p:cSld name="SECTION_HEADER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2"/>
          <p:cNvSpPr txBox="1"/>
          <p:nvPr>
            <p:ph type="title"/>
          </p:nvPr>
        </p:nvSpPr>
        <p:spPr>
          <a:xfrm>
            <a:off x="351337" y="1253729"/>
            <a:ext cx="45042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62"/>
          <p:cNvSpPr txBox="1"/>
          <p:nvPr>
            <p:ph idx="1" type="body"/>
          </p:nvPr>
        </p:nvSpPr>
        <p:spPr>
          <a:xfrm>
            <a:off x="1021556" y="1939835"/>
            <a:ext cx="4504200" cy="24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8" name="Google Shape;118;p62"/>
          <p:cNvSpPr txBox="1"/>
          <p:nvPr>
            <p:ph idx="11" type="ftr"/>
          </p:nvPr>
        </p:nvSpPr>
        <p:spPr>
          <a:xfrm>
            <a:off x="1847850" y="4767263"/>
            <a:ext cx="2609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6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ITS Pilani logo" id="120" name="Google Shape;120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8131" y="216696"/>
            <a:ext cx="2504055" cy="649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" type="title">
  <p:cSld name="TITLE">
    <p:bg>
      <p:bgPr>
        <a:solidFill>
          <a:schemeClr val="dk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3"/>
          <p:cNvSpPr txBox="1"/>
          <p:nvPr>
            <p:ph type="ctrTitle"/>
          </p:nvPr>
        </p:nvSpPr>
        <p:spPr>
          <a:xfrm>
            <a:off x="5243513" y="1611630"/>
            <a:ext cx="3134700" cy="1286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alibri"/>
              <a:buNone/>
              <a:defRPr sz="27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63"/>
          <p:cNvSpPr txBox="1"/>
          <p:nvPr>
            <p:ph idx="1" type="subTitle"/>
          </p:nvPr>
        </p:nvSpPr>
        <p:spPr>
          <a:xfrm>
            <a:off x="5243513" y="2971502"/>
            <a:ext cx="3134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124" name="Google Shape;124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21506"/>
            <a:ext cx="4407694" cy="3900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Slide 4 People">
  <p:cSld name="Team Slide 4 People"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4"/>
          <p:cNvSpPr txBox="1"/>
          <p:nvPr>
            <p:ph type="title"/>
          </p:nvPr>
        </p:nvSpPr>
        <p:spPr>
          <a:xfrm>
            <a:off x="921425" y="280022"/>
            <a:ext cx="7847100" cy="97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sz="21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64"/>
          <p:cNvSpPr/>
          <p:nvPr>
            <p:ph idx="2" type="pic"/>
          </p:nvPr>
        </p:nvSpPr>
        <p:spPr>
          <a:xfrm>
            <a:off x="1115386" y="2164556"/>
            <a:ext cx="1384200" cy="13842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28" name="Google Shape;128;p64"/>
          <p:cNvSpPr txBox="1"/>
          <p:nvPr>
            <p:ph idx="1" type="body"/>
          </p:nvPr>
        </p:nvSpPr>
        <p:spPr>
          <a:xfrm>
            <a:off x="921426" y="3813393"/>
            <a:ext cx="17385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29" name="Google Shape;129;p64"/>
          <p:cNvSpPr txBox="1"/>
          <p:nvPr>
            <p:ph idx="3" type="body"/>
          </p:nvPr>
        </p:nvSpPr>
        <p:spPr>
          <a:xfrm>
            <a:off x="1115386" y="4098086"/>
            <a:ext cx="13842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30" name="Google Shape;130;p64"/>
          <p:cNvSpPr/>
          <p:nvPr>
            <p:ph idx="4" type="pic"/>
          </p:nvPr>
        </p:nvSpPr>
        <p:spPr>
          <a:xfrm>
            <a:off x="2877685" y="2164556"/>
            <a:ext cx="1384200" cy="13842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31" name="Google Shape;131;p64"/>
          <p:cNvSpPr txBox="1"/>
          <p:nvPr>
            <p:ph idx="5" type="body"/>
          </p:nvPr>
        </p:nvSpPr>
        <p:spPr>
          <a:xfrm>
            <a:off x="2683725" y="3813393"/>
            <a:ext cx="17481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32" name="Google Shape;132;p64"/>
          <p:cNvSpPr txBox="1"/>
          <p:nvPr>
            <p:ph idx="6" type="body"/>
          </p:nvPr>
        </p:nvSpPr>
        <p:spPr>
          <a:xfrm>
            <a:off x="2877685" y="4109097"/>
            <a:ext cx="13920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33" name="Google Shape;133;p64"/>
          <p:cNvSpPr/>
          <p:nvPr>
            <p:ph idx="7" type="pic"/>
          </p:nvPr>
        </p:nvSpPr>
        <p:spPr>
          <a:xfrm>
            <a:off x="4745684" y="2164556"/>
            <a:ext cx="1384200" cy="13842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34" name="Google Shape;134;p64"/>
          <p:cNvSpPr txBox="1"/>
          <p:nvPr>
            <p:ph idx="8" type="body"/>
          </p:nvPr>
        </p:nvSpPr>
        <p:spPr>
          <a:xfrm>
            <a:off x="4551723" y="3813393"/>
            <a:ext cx="17385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35" name="Google Shape;135;p64"/>
          <p:cNvSpPr txBox="1"/>
          <p:nvPr>
            <p:ph idx="9" type="body"/>
          </p:nvPr>
        </p:nvSpPr>
        <p:spPr>
          <a:xfrm>
            <a:off x="4745683" y="4109097"/>
            <a:ext cx="13842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36" name="Google Shape;136;p64"/>
          <p:cNvSpPr/>
          <p:nvPr>
            <p:ph idx="13" type="pic"/>
          </p:nvPr>
        </p:nvSpPr>
        <p:spPr>
          <a:xfrm>
            <a:off x="6560594" y="2164556"/>
            <a:ext cx="1384200" cy="13842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37" name="Google Shape;137;p64"/>
          <p:cNvSpPr txBox="1"/>
          <p:nvPr>
            <p:ph idx="14" type="body"/>
          </p:nvPr>
        </p:nvSpPr>
        <p:spPr>
          <a:xfrm>
            <a:off x="6366634" y="3813393"/>
            <a:ext cx="17385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38" name="Google Shape;138;p64"/>
          <p:cNvSpPr txBox="1"/>
          <p:nvPr>
            <p:ph idx="15" type="body"/>
          </p:nvPr>
        </p:nvSpPr>
        <p:spPr>
          <a:xfrm>
            <a:off x="6560594" y="4098086"/>
            <a:ext cx="13842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39" name="Google Shape;139;p6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0" name="Google Shape;140;p6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irla Institute of Technology and Science, Pilani | Logopedia | Fandom" id="141" name="Google Shape;141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1431"/>
            <a:ext cx="528638" cy="528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Slide 8 People">
  <p:cSld name="Team Slide 8 People">
    <p:bg>
      <p:bgPr>
        <a:solidFill>
          <a:schemeClr val="dk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65"/>
          <p:cNvGrpSpPr/>
          <p:nvPr/>
        </p:nvGrpSpPr>
        <p:grpSpPr>
          <a:xfrm>
            <a:off x="0" y="355465"/>
            <a:ext cx="9144000" cy="4216002"/>
            <a:chOff x="0" y="473953"/>
            <a:chExt cx="12192000" cy="5621336"/>
          </a:xfrm>
        </p:grpSpPr>
        <p:pic>
          <p:nvPicPr>
            <p:cNvPr id="144" name="Google Shape;144;p6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473953"/>
              <a:ext cx="2057400" cy="1647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6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49000" y="5180889"/>
              <a:ext cx="1143000" cy="914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6" name="Google Shape;146;p65"/>
          <p:cNvSpPr txBox="1"/>
          <p:nvPr>
            <p:ph type="title"/>
          </p:nvPr>
        </p:nvSpPr>
        <p:spPr>
          <a:xfrm>
            <a:off x="1413867" y="669133"/>
            <a:ext cx="63162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None/>
              <a:def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7" name="Google Shape;147;p65"/>
          <p:cNvSpPr/>
          <p:nvPr>
            <p:ph idx="2" type="pic"/>
          </p:nvPr>
        </p:nvSpPr>
        <p:spPr>
          <a:xfrm>
            <a:off x="1407882" y="1821656"/>
            <a:ext cx="800100" cy="800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48" name="Google Shape;148;p65"/>
          <p:cNvSpPr txBox="1"/>
          <p:nvPr>
            <p:ph idx="1" type="body"/>
          </p:nvPr>
        </p:nvSpPr>
        <p:spPr>
          <a:xfrm>
            <a:off x="1125126" y="2740784"/>
            <a:ext cx="13716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49" name="Google Shape;149;p65"/>
          <p:cNvSpPr txBox="1"/>
          <p:nvPr>
            <p:ph idx="3" type="body"/>
          </p:nvPr>
        </p:nvSpPr>
        <p:spPr>
          <a:xfrm>
            <a:off x="1125126" y="2857310"/>
            <a:ext cx="13716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50" name="Google Shape;150;p65"/>
          <p:cNvSpPr/>
          <p:nvPr>
            <p:ph idx="4" type="pic"/>
          </p:nvPr>
        </p:nvSpPr>
        <p:spPr>
          <a:xfrm>
            <a:off x="3169703" y="1821656"/>
            <a:ext cx="800100" cy="800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1" name="Google Shape;151;p65"/>
          <p:cNvSpPr txBox="1"/>
          <p:nvPr>
            <p:ph idx="5" type="body"/>
          </p:nvPr>
        </p:nvSpPr>
        <p:spPr>
          <a:xfrm>
            <a:off x="2886946" y="2740784"/>
            <a:ext cx="13716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52" name="Google Shape;152;p65"/>
          <p:cNvSpPr txBox="1"/>
          <p:nvPr>
            <p:ph idx="6" type="body"/>
          </p:nvPr>
        </p:nvSpPr>
        <p:spPr>
          <a:xfrm>
            <a:off x="2886946" y="2857310"/>
            <a:ext cx="13716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53" name="Google Shape;153;p65"/>
          <p:cNvSpPr/>
          <p:nvPr>
            <p:ph idx="7" type="pic"/>
          </p:nvPr>
        </p:nvSpPr>
        <p:spPr>
          <a:xfrm>
            <a:off x="4991688" y="1821656"/>
            <a:ext cx="800100" cy="800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4" name="Google Shape;154;p65"/>
          <p:cNvSpPr txBox="1"/>
          <p:nvPr>
            <p:ph idx="8" type="body"/>
          </p:nvPr>
        </p:nvSpPr>
        <p:spPr>
          <a:xfrm>
            <a:off x="4648766" y="2740784"/>
            <a:ext cx="15789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55" name="Google Shape;155;p65"/>
          <p:cNvSpPr txBox="1"/>
          <p:nvPr>
            <p:ph idx="9" type="body"/>
          </p:nvPr>
        </p:nvSpPr>
        <p:spPr>
          <a:xfrm>
            <a:off x="4571999" y="2857310"/>
            <a:ext cx="17250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56" name="Google Shape;156;p65"/>
          <p:cNvSpPr/>
          <p:nvPr>
            <p:ph idx="13" type="pic"/>
          </p:nvPr>
        </p:nvSpPr>
        <p:spPr>
          <a:xfrm>
            <a:off x="6852611" y="1821656"/>
            <a:ext cx="800100" cy="800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7" name="Google Shape;157;p65"/>
          <p:cNvSpPr txBox="1"/>
          <p:nvPr>
            <p:ph idx="14" type="body"/>
          </p:nvPr>
        </p:nvSpPr>
        <p:spPr>
          <a:xfrm>
            <a:off x="6569855" y="2740784"/>
            <a:ext cx="13716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58" name="Google Shape;158;p65"/>
          <p:cNvSpPr txBox="1"/>
          <p:nvPr>
            <p:ph idx="15" type="body"/>
          </p:nvPr>
        </p:nvSpPr>
        <p:spPr>
          <a:xfrm>
            <a:off x="6558360" y="2857310"/>
            <a:ext cx="13830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59" name="Google Shape;159;p65"/>
          <p:cNvSpPr/>
          <p:nvPr>
            <p:ph idx="16" type="pic"/>
          </p:nvPr>
        </p:nvSpPr>
        <p:spPr>
          <a:xfrm>
            <a:off x="1407882" y="3215783"/>
            <a:ext cx="800100" cy="800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0" name="Google Shape;160;p65"/>
          <p:cNvSpPr txBox="1"/>
          <p:nvPr>
            <p:ph idx="17" type="body"/>
          </p:nvPr>
        </p:nvSpPr>
        <p:spPr>
          <a:xfrm>
            <a:off x="1125126" y="4134911"/>
            <a:ext cx="13716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61" name="Google Shape;161;p65"/>
          <p:cNvSpPr txBox="1"/>
          <p:nvPr>
            <p:ph idx="18" type="body"/>
          </p:nvPr>
        </p:nvSpPr>
        <p:spPr>
          <a:xfrm>
            <a:off x="1125126" y="4251437"/>
            <a:ext cx="13716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62" name="Google Shape;162;p65"/>
          <p:cNvSpPr/>
          <p:nvPr>
            <p:ph idx="19" type="pic"/>
          </p:nvPr>
        </p:nvSpPr>
        <p:spPr>
          <a:xfrm>
            <a:off x="3169703" y="3215783"/>
            <a:ext cx="800100" cy="800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3" name="Google Shape;163;p65"/>
          <p:cNvSpPr txBox="1"/>
          <p:nvPr>
            <p:ph idx="20" type="body"/>
          </p:nvPr>
        </p:nvSpPr>
        <p:spPr>
          <a:xfrm>
            <a:off x="2886946" y="4134911"/>
            <a:ext cx="13716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64" name="Google Shape;164;p65"/>
          <p:cNvSpPr txBox="1"/>
          <p:nvPr>
            <p:ph idx="21" type="body"/>
          </p:nvPr>
        </p:nvSpPr>
        <p:spPr>
          <a:xfrm>
            <a:off x="2886946" y="4251437"/>
            <a:ext cx="13716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65" name="Google Shape;165;p65"/>
          <p:cNvSpPr/>
          <p:nvPr>
            <p:ph idx="22" type="pic"/>
          </p:nvPr>
        </p:nvSpPr>
        <p:spPr>
          <a:xfrm>
            <a:off x="4991688" y="3215783"/>
            <a:ext cx="800100" cy="800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6" name="Google Shape;166;p65"/>
          <p:cNvSpPr txBox="1"/>
          <p:nvPr>
            <p:ph idx="23" type="body"/>
          </p:nvPr>
        </p:nvSpPr>
        <p:spPr>
          <a:xfrm>
            <a:off x="4754945" y="4134911"/>
            <a:ext cx="13716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67" name="Google Shape;167;p65"/>
          <p:cNvSpPr txBox="1"/>
          <p:nvPr>
            <p:ph idx="24" type="body"/>
          </p:nvPr>
        </p:nvSpPr>
        <p:spPr>
          <a:xfrm>
            <a:off x="4754945" y="4251437"/>
            <a:ext cx="13602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68" name="Google Shape;168;p65"/>
          <p:cNvSpPr/>
          <p:nvPr>
            <p:ph idx="25" type="pic"/>
          </p:nvPr>
        </p:nvSpPr>
        <p:spPr>
          <a:xfrm>
            <a:off x="6852611" y="3215783"/>
            <a:ext cx="800100" cy="800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9" name="Google Shape;169;p65"/>
          <p:cNvSpPr txBox="1"/>
          <p:nvPr>
            <p:ph idx="26" type="body"/>
          </p:nvPr>
        </p:nvSpPr>
        <p:spPr>
          <a:xfrm>
            <a:off x="6569855" y="4134911"/>
            <a:ext cx="13716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70" name="Google Shape;170;p65"/>
          <p:cNvSpPr txBox="1"/>
          <p:nvPr>
            <p:ph idx="27" type="body"/>
          </p:nvPr>
        </p:nvSpPr>
        <p:spPr>
          <a:xfrm>
            <a:off x="6558360" y="4251437"/>
            <a:ext cx="13830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71" name="Google Shape;171;p6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7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2" name="Google Shape;172;p6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Timeline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6"/>
          <p:cNvSpPr/>
          <p:nvPr/>
        </p:nvSpPr>
        <p:spPr>
          <a:xfrm>
            <a:off x="1585413" y="0"/>
            <a:ext cx="7558587" cy="5143500"/>
          </a:xfrm>
          <a:custGeom>
            <a:rect b="b" l="l" r="r" t="t"/>
            <a:pathLst>
              <a:path extrusionOk="0" h="6858000" w="10078116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6"/>
          <p:cNvSpPr txBox="1"/>
          <p:nvPr>
            <p:ph idx="1" type="body"/>
          </p:nvPr>
        </p:nvSpPr>
        <p:spPr>
          <a:xfrm>
            <a:off x="124556" y="1287585"/>
            <a:ext cx="16062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6" name="Google Shape;176;p66"/>
          <p:cNvSpPr txBox="1"/>
          <p:nvPr>
            <p:ph idx="2" type="body"/>
          </p:nvPr>
        </p:nvSpPr>
        <p:spPr>
          <a:xfrm>
            <a:off x="549098" y="2094829"/>
            <a:ext cx="16062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7" name="Google Shape;177;p66"/>
          <p:cNvSpPr txBox="1"/>
          <p:nvPr>
            <p:ph idx="3" type="body"/>
          </p:nvPr>
        </p:nvSpPr>
        <p:spPr>
          <a:xfrm>
            <a:off x="1003917" y="2902073"/>
            <a:ext cx="16062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8" name="Google Shape;178;p66"/>
          <p:cNvSpPr txBox="1"/>
          <p:nvPr>
            <p:ph idx="4" type="body"/>
          </p:nvPr>
        </p:nvSpPr>
        <p:spPr>
          <a:xfrm>
            <a:off x="1442067" y="3719114"/>
            <a:ext cx="16062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9" name="Google Shape;179;p66"/>
          <p:cNvSpPr txBox="1"/>
          <p:nvPr>
            <p:ph idx="5" type="body"/>
          </p:nvPr>
        </p:nvSpPr>
        <p:spPr>
          <a:xfrm>
            <a:off x="3291355" y="1112174"/>
            <a:ext cx="38271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0" name="Google Shape;180;p66"/>
          <p:cNvSpPr txBox="1"/>
          <p:nvPr>
            <p:ph idx="6" type="body"/>
          </p:nvPr>
        </p:nvSpPr>
        <p:spPr>
          <a:xfrm>
            <a:off x="3739522" y="1953140"/>
            <a:ext cx="38271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1" name="Google Shape;181;p66"/>
          <p:cNvSpPr txBox="1"/>
          <p:nvPr>
            <p:ph idx="7" type="body"/>
          </p:nvPr>
        </p:nvSpPr>
        <p:spPr>
          <a:xfrm>
            <a:off x="4182704" y="2757764"/>
            <a:ext cx="38271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2" name="Google Shape;182;p66"/>
          <p:cNvSpPr txBox="1"/>
          <p:nvPr>
            <p:ph idx="8" type="body"/>
          </p:nvPr>
        </p:nvSpPr>
        <p:spPr>
          <a:xfrm>
            <a:off x="4631460" y="3588931"/>
            <a:ext cx="38271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3" name="Google Shape;183;p66"/>
          <p:cNvSpPr txBox="1"/>
          <p:nvPr>
            <p:ph idx="11" type="ftr"/>
          </p:nvPr>
        </p:nvSpPr>
        <p:spPr>
          <a:xfrm>
            <a:off x="5061857" y="4767263"/>
            <a:ext cx="2832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4" name="Google Shape;184;p66"/>
          <p:cNvSpPr txBox="1"/>
          <p:nvPr>
            <p:ph idx="12" type="sldNum"/>
          </p:nvPr>
        </p:nvSpPr>
        <p:spPr>
          <a:xfrm>
            <a:off x="8108156" y="4767263"/>
            <a:ext cx="407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85" name="Google Shape;185;p66"/>
          <p:cNvCxnSpPr/>
          <p:nvPr/>
        </p:nvCxnSpPr>
        <p:spPr>
          <a:xfrm>
            <a:off x="3265136" y="3944300"/>
            <a:ext cx="113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6" name="Google Shape;186;p66"/>
          <p:cNvCxnSpPr/>
          <p:nvPr/>
        </p:nvCxnSpPr>
        <p:spPr>
          <a:xfrm>
            <a:off x="2819938" y="3118094"/>
            <a:ext cx="113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7" name="Google Shape;187;p66"/>
          <p:cNvCxnSpPr/>
          <p:nvPr/>
        </p:nvCxnSpPr>
        <p:spPr>
          <a:xfrm>
            <a:off x="2380090" y="2311271"/>
            <a:ext cx="113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8" name="Google Shape;188;p66"/>
          <p:cNvCxnSpPr/>
          <p:nvPr/>
        </p:nvCxnSpPr>
        <p:spPr>
          <a:xfrm>
            <a:off x="1939697" y="1503818"/>
            <a:ext cx="113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Birla Institute of Technology and Science, Pilani | Logopedia | Fandom" id="189" name="Google Shape;189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1431"/>
            <a:ext cx="528638" cy="528638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66"/>
          <p:cNvSpPr txBox="1"/>
          <p:nvPr/>
        </p:nvSpPr>
        <p:spPr>
          <a:xfrm>
            <a:off x="547282" y="430768"/>
            <a:ext cx="45042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bg>
      <p:bgPr>
        <a:solidFill>
          <a:schemeClr val="accen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7"/>
          <p:cNvSpPr txBox="1"/>
          <p:nvPr>
            <p:ph type="title"/>
          </p:nvPr>
        </p:nvSpPr>
        <p:spPr>
          <a:xfrm>
            <a:off x="932328" y="332527"/>
            <a:ext cx="7583100" cy="7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sz="21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3" name="Google Shape;193;p67"/>
          <p:cNvSpPr txBox="1"/>
          <p:nvPr>
            <p:ph idx="1" type="body"/>
          </p:nvPr>
        </p:nvSpPr>
        <p:spPr>
          <a:xfrm>
            <a:off x="932327" y="1449578"/>
            <a:ext cx="21618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94" name="Google Shape;194;p67"/>
          <p:cNvSpPr txBox="1"/>
          <p:nvPr>
            <p:ph idx="2" type="body"/>
          </p:nvPr>
        </p:nvSpPr>
        <p:spPr>
          <a:xfrm>
            <a:off x="932328" y="2292532"/>
            <a:ext cx="2161800" cy="20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5" name="Google Shape;195;p67"/>
          <p:cNvSpPr txBox="1"/>
          <p:nvPr>
            <p:ph idx="3" type="body"/>
          </p:nvPr>
        </p:nvSpPr>
        <p:spPr>
          <a:xfrm>
            <a:off x="3485748" y="1465082"/>
            <a:ext cx="21726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96" name="Google Shape;196;p67"/>
          <p:cNvSpPr txBox="1"/>
          <p:nvPr>
            <p:ph idx="4" type="body"/>
          </p:nvPr>
        </p:nvSpPr>
        <p:spPr>
          <a:xfrm>
            <a:off x="3485749" y="2292532"/>
            <a:ext cx="2172600" cy="20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7" name="Google Shape;197;p67"/>
          <p:cNvSpPr txBox="1"/>
          <p:nvPr>
            <p:ph idx="5" type="body"/>
          </p:nvPr>
        </p:nvSpPr>
        <p:spPr>
          <a:xfrm>
            <a:off x="6049815" y="1469172"/>
            <a:ext cx="21618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98" name="Google Shape;198;p67"/>
          <p:cNvSpPr txBox="1"/>
          <p:nvPr>
            <p:ph idx="6" type="body"/>
          </p:nvPr>
        </p:nvSpPr>
        <p:spPr>
          <a:xfrm>
            <a:off x="6049816" y="2292532"/>
            <a:ext cx="2161800" cy="20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9" name="Google Shape;199;p6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0" name="Google Shape;200;p6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irla Institute of Technology and Science, Pilani | Logopedia | Fandom" id="201" name="Google Shape;201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1431"/>
            <a:ext cx="528638" cy="528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ntent">
  <p:cSld name="Three Content">
    <p:bg>
      <p:bgPr>
        <a:solidFill>
          <a:schemeClr val="lt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8"/>
          <p:cNvSpPr txBox="1"/>
          <p:nvPr>
            <p:ph type="title"/>
          </p:nvPr>
        </p:nvSpPr>
        <p:spPr>
          <a:xfrm>
            <a:off x="932328" y="332527"/>
            <a:ext cx="7583100" cy="7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sz="21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4" name="Google Shape;204;p68"/>
          <p:cNvSpPr txBox="1"/>
          <p:nvPr>
            <p:ph idx="1" type="body"/>
          </p:nvPr>
        </p:nvSpPr>
        <p:spPr>
          <a:xfrm>
            <a:off x="932327" y="1449578"/>
            <a:ext cx="21618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05" name="Google Shape;205;p68"/>
          <p:cNvSpPr txBox="1"/>
          <p:nvPr>
            <p:ph idx="2" type="body"/>
          </p:nvPr>
        </p:nvSpPr>
        <p:spPr>
          <a:xfrm>
            <a:off x="932328" y="2292532"/>
            <a:ext cx="2161800" cy="20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6" name="Google Shape;206;p68"/>
          <p:cNvSpPr txBox="1"/>
          <p:nvPr>
            <p:ph idx="3" type="body"/>
          </p:nvPr>
        </p:nvSpPr>
        <p:spPr>
          <a:xfrm>
            <a:off x="3485748" y="1465082"/>
            <a:ext cx="21726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07" name="Google Shape;207;p68"/>
          <p:cNvSpPr txBox="1"/>
          <p:nvPr>
            <p:ph idx="4" type="body"/>
          </p:nvPr>
        </p:nvSpPr>
        <p:spPr>
          <a:xfrm>
            <a:off x="3485749" y="2292532"/>
            <a:ext cx="2172600" cy="20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8" name="Google Shape;208;p68"/>
          <p:cNvSpPr txBox="1"/>
          <p:nvPr>
            <p:ph idx="5" type="body"/>
          </p:nvPr>
        </p:nvSpPr>
        <p:spPr>
          <a:xfrm>
            <a:off x="6049815" y="1469172"/>
            <a:ext cx="21618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09" name="Google Shape;209;p68"/>
          <p:cNvSpPr txBox="1"/>
          <p:nvPr>
            <p:ph idx="6" type="body"/>
          </p:nvPr>
        </p:nvSpPr>
        <p:spPr>
          <a:xfrm>
            <a:off x="6049816" y="2292532"/>
            <a:ext cx="2161800" cy="20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0" name="Google Shape;210;p6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1" name="Google Shape;211;p6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irla Institute of Technology and Science, Pilani | Logopedia | Fandom" id="212" name="Google Shape;212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1431"/>
            <a:ext cx="528638" cy="528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">
  <p:cSld name="Summary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69"/>
          <p:cNvSpPr txBox="1"/>
          <p:nvPr>
            <p:ph type="title"/>
          </p:nvPr>
        </p:nvSpPr>
        <p:spPr>
          <a:xfrm>
            <a:off x="2890157" y="1253729"/>
            <a:ext cx="50514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sz="21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5" name="Google Shape;215;p69"/>
          <p:cNvSpPr txBox="1"/>
          <p:nvPr>
            <p:ph idx="1" type="body"/>
          </p:nvPr>
        </p:nvSpPr>
        <p:spPr>
          <a:xfrm>
            <a:off x="2890157" y="2745581"/>
            <a:ext cx="5051400" cy="11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16" name="Google Shape;216;p6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7" name="Google Shape;217;p6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ITS Pilani logo" id="218" name="Google Shape;218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27529" y="144383"/>
            <a:ext cx="2504055" cy="649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25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">
  <p:cSld name="Closing">
    <p:bg>
      <p:bgPr>
        <a:solidFill>
          <a:schemeClr val="dk1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70"/>
          <p:cNvSpPr txBox="1"/>
          <p:nvPr>
            <p:ph type="ctrTitle"/>
          </p:nvPr>
        </p:nvSpPr>
        <p:spPr>
          <a:xfrm>
            <a:off x="3200400" y="1211802"/>
            <a:ext cx="31347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alibri"/>
              <a:buNone/>
              <a:defRPr sz="27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1" name="Google Shape;221;p70"/>
          <p:cNvSpPr txBox="1"/>
          <p:nvPr>
            <p:ph idx="1" type="subTitle"/>
          </p:nvPr>
        </p:nvSpPr>
        <p:spPr>
          <a:xfrm>
            <a:off x="3200400" y="2428577"/>
            <a:ext cx="3134700" cy="1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222" name="Google Shape;222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238270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70"/>
          <p:cNvSpPr txBox="1"/>
          <p:nvPr>
            <p:ph idx="11" type="ftr"/>
          </p:nvPr>
        </p:nvSpPr>
        <p:spPr>
          <a:xfrm>
            <a:off x="4859791" y="4767263"/>
            <a:ext cx="1996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4" name="Google Shape;224;p70"/>
          <p:cNvSpPr txBox="1"/>
          <p:nvPr>
            <p:ph idx="12" type="sldNum"/>
          </p:nvPr>
        </p:nvSpPr>
        <p:spPr>
          <a:xfrm>
            <a:off x="7184571" y="4767263"/>
            <a:ext cx="1330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6.xml"/><Relationship Id="rId17" Type="http://schemas.openxmlformats.org/officeDocument/2006/relationships/theme" Target="../theme/theme3.xml"/><Relationship Id="rId1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9"/>
          <p:cNvSpPr txBox="1"/>
          <p:nvPr>
            <p:ph type="title"/>
          </p:nvPr>
        </p:nvSpPr>
        <p:spPr>
          <a:xfrm>
            <a:off x="255550" y="122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4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4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4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2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Relationship Id="rId4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Relationship Id="rId4" Type="http://schemas.openxmlformats.org/officeDocument/2006/relationships/image" Target="../media/image10.png"/><Relationship Id="rId5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Relationship Id="rId4" Type="http://schemas.openxmlformats.org/officeDocument/2006/relationships/image" Target="../media/image2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Relationship Id="rId4" Type="http://schemas.openxmlformats.org/officeDocument/2006/relationships/image" Target="../media/image3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1.png"/><Relationship Id="rId4" Type="http://schemas.openxmlformats.org/officeDocument/2006/relationships/image" Target="../media/image3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3.png"/><Relationship Id="rId4" Type="http://schemas.openxmlformats.org/officeDocument/2006/relationships/image" Target="../media/image3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3.png"/><Relationship Id="rId4" Type="http://schemas.openxmlformats.org/officeDocument/2006/relationships/image" Target="../media/image47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png"/><Relationship Id="rId4" Type="http://schemas.openxmlformats.org/officeDocument/2006/relationships/image" Target="../media/image3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6.png"/><Relationship Id="rId4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0.png"/><Relationship Id="rId4" Type="http://schemas.openxmlformats.org/officeDocument/2006/relationships/hyperlink" Target="http://host.robots.ox.ac.uk/pascal/VOC/pubs/everingham15.pdf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2.png"/><Relationship Id="rId4" Type="http://schemas.openxmlformats.org/officeDocument/2006/relationships/hyperlink" Target="https://people.inf.elte.hu/kiss/13dwhdm/roc.pdf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2.png"/><Relationship Id="rId4" Type="http://schemas.openxmlformats.org/officeDocument/2006/relationships/image" Target="../media/image4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"/>
          <p:cNvSpPr txBox="1"/>
          <p:nvPr>
            <p:ph type="ctrTitle"/>
          </p:nvPr>
        </p:nvSpPr>
        <p:spPr>
          <a:xfrm>
            <a:off x="3206500" y="2457050"/>
            <a:ext cx="57498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US" sz="2000">
                <a:solidFill>
                  <a:srgbClr val="073763"/>
                </a:solidFill>
                <a:latin typeface="Proxima Nova"/>
                <a:ea typeface="Proxima Nova"/>
                <a:cs typeface="Proxima Nova"/>
                <a:sym typeface="Proxima Nova"/>
              </a:rPr>
              <a:t>CV 16: </a:t>
            </a:r>
            <a:endParaRPr sz="2000">
              <a:solidFill>
                <a:srgbClr val="07376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US" sz="2000">
                <a:solidFill>
                  <a:srgbClr val="073763"/>
                </a:solidFill>
                <a:latin typeface="Proxima Nova"/>
                <a:ea typeface="Proxima Nova"/>
                <a:cs typeface="Proxima Nova"/>
                <a:sym typeface="Proxima Nova"/>
              </a:rPr>
              <a:t>Note on Performance Metrics </a:t>
            </a:r>
            <a:r>
              <a:rPr lang="en-US" sz="2000">
                <a:solidFill>
                  <a:srgbClr val="980000"/>
                </a:solidFill>
                <a:latin typeface="Proxima Nova"/>
                <a:ea typeface="Proxima Nova"/>
                <a:cs typeface="Proxima Nova"/>
                <a:sym typeface="Proxima Nova"/>
              </a:rPr>
              <a:t>&amp; </a:t>
            </a:r>
            <a:r>
              <a:rPr lang="en-US" sz="2000">
                <a:solidFill>
                  <a:srgbClr val="073763"/>
                </a:solidFill>
                <a:latin typeface="Proxima Nova"/>
                <a:ea typeface="Proxima Nova"/>
                <a:cs typeface="Proxima Nova"/>
                <a:sym typeface="Proxima Nova"/>
              </a:rPr>
              <a:t>Course Summary</a:t>
            </a:r>
            <a:endParaRPr sz="2000">
              <a:solidFill>
                <a:srgbClr val="07376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30" name="Google Shape;230;p1"/>
          <p:cNvSpPr txBox="1"/>
          <p:nvPr>
            <p:ph idx="4294967295" type="sldNum"/>
          </p:nvPr>
        </p:nvSpPr>
        <p:spPr>
          <a:xfrm>
            <a:off x="708660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1" name="Google Shape;231;p1"/>
          <p:cNvSpPr txBox="1"/>
          <p:nvPr/>
        </p:nvSpPr>
        <p:spPr>
          <a:xfrm>
            <a:off x="6330475" y="-47525"/>
            <a:ext cx="28134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CV 16: Note on Performance Metrics and wrap up</a:t>
            </a:r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"/>
          <p:cNvSpPr txBox="1"/>
          <p:nvPr>
            <p:ph type="title"/>
          </p:nvPr>
        </p:nvSpPr>
        <p:spPr>
          <a:xfrm>
            <a:off x="628650" y="274374"/>
            <a:ext cx="78867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-US" sz="2400">
                <a:latin typeface="Proxima Nova"/>
                <a:ea typeface="Proxima Nova"/>
                <a:cs typeface="Proxima Nova"/>
                <a:sym typeface="Proxima Nova"/>
              </a:rPr>
              <a:t>Agenda for the class</a:t>
            </a:r>
            <a:endParaRPr b="0"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38" name="Google Shape;238;p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9" name="Google Shape;239;p2"/>
          <p:cNvSpPr txBox="1"/>
          <p:nvPr>
            <p:ph idx="1" type="body"/>
          </p:nvPr>
        </p:nvSpPr>
        <p:spPr>
          <a:xfrm>
            <a:off x="628650" y="1420585"/>
            <a:ext cx="7886700" cy="31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roxima Nova"/>
              <a:buChar char="➔"/>
            </a:pPr>
            <a:r>
              <a:rPr lang="en-US">
                <a:latin typeface="Proxima Nova"/>
                <a:ea typeface="Proxima Nova"/>
                <a:cs typeface="Proxima Nova"/>
                <a:sym typeface="Proxima Nova"/>
              </a:rPr>
              <a:t>Mean Average Precision (mAP)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roxima Nova"/>
              <a:buChar char="➔"/>
            </a:pPr>
            <a:r>
              <a:rPr lang="en-US">
                <a:latin typeface="Proxima Nova"/>
                <a:ea typeface="Proxima Nova"/>
                <a:cs typeface="Proxima Nova"/>
                <a:sym typeface="Proxima Nova"/>
              </a:rPr>
              <a:t>ROC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6c94a5ba1d_0_2"/>
          <p:cNvSpPr txBox="1"/>
          <p:nvPr>
            <p:ph type="title"/>
          </p:nvPr>
        </p:nvSpPr>
        <p:spPr>
          <a:xfrm>
            <a:off x="628650" y="274374"/>
            <a:ext cx="78867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-US" sz="2400">
                <a:latin typeface="Proxima Nova"/>
                <a:ea typeface="Proxima Nova"/>
                <a:cs typeface="Proxima Nova"/>
                <a:sym typeface="Proxima Nova"/>
              </a:rPr>
              <a:t>Confusion Matrix (revisiting)</a:t>
            </a:r>
            <a:endParaRPr b="0"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45" name="Google Shape;245;g26c94a5ba1d_0_2"/>
          <p:cNvSpPr txBox="1"/>
          <p:nvPr/>
        </p:nvSpPr>
        <p:spPr>
          <a:xfrm>
            <a:off x="340425" y="1161900"/>
            <a:ext cx="81750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roxima Nova"/>
              <a:buChar char="●"/>
            </a:pPr>
            <a:r>
              <a:rPr b="0" i="0" lang="en-US" sz="1500" u="none" cap="none" strike="noStrike">
                <a:solidFill>
                  <a:srgbClr val="980000"/>
                </a:solidFill>
                <a:latin typeface="Proxima Nova"/>
                <a:ea typeface="Proxima Nova"/>
                <a:cs typeface="Proxima Nova"/>
                <a:sym typeface="Proxima Nova"/>
              </a:rPr>
              <a:t>Precision</a:t>
            </a:r>
            <a:r>
              <a:rPr b="0" i="0" lang="en-US" sz="15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: fraction of retrieved docs that are relevant </a:t>
            </a:r>
            <a:endParaRPr b="0" i="0" sz="1500" u="none" cap="none" strike="noStrike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roxima Nova"/>
              <a:buChar char="○"/>
            </a:pPr>
            <a:r>
              <a:rPr b="0" i="0" lang="en-US" sz="15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P(relevant|retrieved)</a:t>
            </a:r>
            <a:endParaRPr b="0" i="0" sz="1500" u="none" cap="none" strike="noStrike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roxima Nova"/>
              <a:buChar char="●"/>
            </a:pPr>
            <a:r>
              <a:rPr b="0" i="0" lang="en-US" sz="1500" u="none" cap="none" strike="noStrike">
                <a:solidFill>
                  <a:srgbClr val="980000"/>
                </a:solidFill>
                <a:latin typeface="Proxima Nova"/>
                <a:ea typeface="Proxima Nova"/>
                <a:cs typeface="Proxima Nova"/>
                <a:sym typeface="Proxima Nova"/>
              </a:rPr>
              <a:t>Recall</a:t>
            </a:r>
            <a:r>
              <a:rPr b="0" i="0" lang="en-US" sz="15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: fraction of relevant docs that are retrieved</a:t>
            </a:r>
            <a:endParaRPr b="0" i="0" sz="1500" u="none" cap="none" strike="noStrike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roxima Nova"/>
              <a:buChar char="○"/>
            </a:pPr>
            <a:r>
              <a:rPr b="0" i="0" lang="en-US" sz="15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P(retrieved|relevant)</a:t>
            </a:r>
            <a:endParaRPr b="0" i="0" sz="1500" u="none" cap="none" strike="noStrike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roxima Nova"/>
              <a:buChar char="●"/>
            </a:pPr>
            <a:r>
              <a:rPr b="0" i="0" lang="en-US" sz="15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Precision P = tp/(tp + fp)</a:t>
            </a:r>
            <a:endParaRPr b="0" i="0" sz="1500" u="none" cap="none" strike="noStrike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roxima Nova"/>
              <a:buChar char="●"/>
            </a:pPr>
            <a:r>
              <a:rPr b="0" i="0" lang="en-US" sz="15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Recall      R = tp/(tp + fn)</a:t>
            </a:r>
            <a:endParaRPr b="0" i="0" sz="1500" u="none" cap="none" strike="noStrike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246" name="Google Shape;246;g26c94a5ba1d_0_2"/>
          <p:cNvGraphicFramePr/>
          <p:nvPr/>
        </p:nvGraphicFramePr>
        <p:xfrm>
          <a:off x="1344700" y="2355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{51E922B1-AD67-4BF2-A728-5F531385D041}</a:tableStyleId>
              </a:tblPr>
              <a:tblGrid>
                <a:gridCol w="2952450"/>
                <a:gridCol w="935700"/>
                <a:gridCol w="1363750"/>
              </a:tblGrid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Relevant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Non-Relevant 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7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Retrieved / Predicted Positive 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tp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fp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26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Not Retrieved / Predicted Negative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fn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tn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47" name="Google Shape;247;g26c94a5ba1d_0_2"/>
          <p:cNvSpPr/>
          <p:nvPr/>
        </p:nvSpPr>
        <p:spPr>
          <a:xfrm>
            <a:off x="0" y="4764982"/>
            <a:ext cx="2994900" cy="3708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600" u="none" cap="none" strike="noStrike">
                <a:solidFill>
                  <a:srgbClr val="FFF2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IoU, AUC-PR , mAP</a:t>
            </a:r>
            <a:endParaRPr b="0" i="0" sz="1600" u="none" cap="none" strike="noStrike">
              <a:solidFill>
                <a:srgbClr val="FFF2CC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c84c1ab39e_0_8"/>
          <p:cNvSpPr txBox="1"/>
          <p:nvPr>
            <p:ph type="title"/>
          </p:nvPr>
        </p:nvSpPr>
        <p:spPr>
          <a:xfrm>
            <a:off x="628650" y="274374"/>
            <a:ext cx="78867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-US" sz="2400">
                <a:latin typeface="Proxima Nova"/>
                <a:ea typeface="Proxima Nova"/>
                <a:cs typeface="Proxima Nova"/>
                <a:sym typeface="Proxima Nova"/>
              </a:rPr>
              <a:t>Intersection over Union - IoU (revisiting)</a:t>
            </a:r>
            <a:endParaRPr b="0"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53" name="Google Shape;253;g2c84c1ab39e_0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400" y="1617825"/>
            <a:ext cx="5667227" cy="210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g2c84c1ab39e_0_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3975" y="1302125"/>
            <a:ext cx="2747925" cy="260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g2c84c1ab39e_0_8"/>
          <p:cNvSpPr/>
          <p:nvPr/>
        </p:nvSpPr>
        <p:spPr>
          <a:xfrm>
            <a:off x="0" y="4764982"/>
            <a:ext cx="2994900" cy="3708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600" u="none" cap="none" strike="noStrike">
                <a:solidFill>
                  <a:srgbClr val="FFF2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IoU, AUC-PR , mAP</a:t>
            </a:r>
            <a:endParaRPr b="0" i="0" sz="1600" u="none" cap="none" strike="noStrike">
              <a:solidFill>
                <a:srgbClr val="FFF2CC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c84c1ab39e_0_18"/>
          <p:cNvSpPr txBox="1"/>
          <p:nvPr>
            <p:ph type="title"/>
          </p:nvPr>
        </p:nvSpPr>
        <p:spPr>
          <a:xfrm>
            <a:off x="628650" y="274374"/>
            <a:ext cx="78867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-US" sz="2400">
                <a:latin typeface="Proxima Nova"/>
                <a:ea typeface="Proxima Nova"/>
                <a:cs typeface="Proxima Nova"/>
                <a:sym typeface="Proxima Nova"/>
              </a:rPr>
              <a:t>Intersection over Union - IoU (revisiting)</a:t>
            </a:r>
            <a:endParaRPr b="0"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61" name="Google Shape;261;g2c84c1ab39e_0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4850" y="977100"/>
            <a:ext cx="6780049" cy="38113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g2c84c1ab39e_0_18"/>
          <p:cNvSpPr/>
          <p:nvPr/>
        </p:nvSpPr>
        <p:spPr>
          <a:xfrm>
            <a:off x="0" y="4764982"/>
            <a:ext cx="2994900" cy="3708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600" u="none" cap="none" strike="noStrike">
                <a:solidFill>
                  <a:srgbClr val="FFF2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IoU, AUC-PR , mAP</a:t>
            </a:r>
            <a:endParaRPr b="0" i="0" sz="1600" u="none" cap="none" strike="noStrike">
              <a:solidFill>
                <a:srgbClr val="FFF2CC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c84c1ab39e_0_27"/>
          <p:cNvSpPr txBox="1"/>
          <p:nvPr>
            <p:ph type="title"/>
          </p:nvPr>
        </p:nvSpPr>
        <p:spPr>
          <a:xfrm>
            <a:off x="628650" y="274374"/>
            <a:ext cx="78867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-US" sz="2400">
                <a:latin typeface="Proxima Nova"/>
                <a:ea typeface="Proxima Nova"/>
                <a:cs typeface="Proxima Nova"/>
                <a:sym typeface="Proxima Nova"/>
              </a:rPr>
              <a:t>Precision Recall Curve &amp; purpose</a:t>
            </a:r>
            <a:endParaRPr b="0"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68" name="Google Shape;268;g2c84c1ab39e_0_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175" y="1006574"/>
            <a:ext cx="5720733" cy="3750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g2c84c1ab39e_0_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70308" y="1240374"/>
            <a:ext cx="2921292" cy="87818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g2c84c1ab39e_0_27"/>
          <p:cNvSpPr/>
          <p:nvPr/>
        </p:nvSpPr>
        <p:spPr>
          <a:xfrm>
            <a:off x="0" y="4764982"/>
            <a:ext cx="2994900" cy="3708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600" u="none" cap="none" strike="noStrike">
                <a:solidFill>
                  <a:srgbClr val="FFF2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IoU, AUC-PR , mAP</a:t>
            </a:r>
            <a:endParaRPr b="0" i="0" sz="1600" u="none" cap="none" strike="noStrike">
              <a:solidFill>
                <a:srgbClr val="FFF2CC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c84c1ab39e_0_83"/>
          <p:cNvSpPr txBox="1"/>
          <p:nvPr>
            <p:ph type="title"/>
          </p:nvPr>
        </p:nvSpPr>
        <p:spPr>
          <a:xfrm>
            <a:off x="628650" y="274374"/>
            <a:ext cx="78867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-US" sz="2400">
                <a:latin typeface="Proxima Nova"/>
                <a:ea typeface="Proxima Nova"/>
                <a:cs typeface="Proxima Nova"/>
                <a:sym typeface="Proxima Nova"/>
              </a:rPr>
              <a:t>Precision Recall Curve &amp; purpose</a:t>
            </a:r>
            <a:endParaRPr b="0"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76" name="Google Shape;276;g2c84c1ab39e_0_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175" y="1006574"/>
            <a:ext cx="5720733" cy="3750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g2c84c1ab39e_0_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16946" y="1087975"/>
            <a:ext cx="2592950" cy="62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g2c84c1ab39e_0_83"/>
          <p:cNvSpPr/>
          <p:nvPr/>
        </p:nvSpPr>
        <p:spPr>
          <a:xfrm>
            <a:off x="0" y="4764982"/>
            <a:ext cx="2994900" cy="3708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600" u="none" cap="none" strike="noStrike">
                <a:solidFill>
                  <a:srgbClr val="FFF2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IoU, AUC-PR , mAP</a:t>
            </a:r>
            <a:endParaRPr b="0" i="0" sz="1600" u="none" cap="none" strike="noStrike">
              <a:solidFill>
                <a:srgbClr val="FFF2CC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c84c1ab39e_0_90"/>
          <p:cNvSpPr txBox="1"/>
          <p:nvPr>
            <p:ph type="title"/>
          </p:nvPr>
        </p:nvSpPr>
        <p:spPr>
          <a:xfrm>
            <a:off x="628650" y="274374"/>
            <a:ext cx="78867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-US" sz="2400">
                <a:latin typeface="Proxima Nova"/>
                <a:ea typeface="Proxima Nova"/>
                <a:cs typeface="Proxima Nova"/>
                <a:sym typeface="Proxima Nova"/>
              </a:rPr>
              <a:t>Precision Recall Curve &amp; purpose</a:t>
            </a:r>
            <a:endParaRPr b="0"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84" name="Google Shape;284;g2c84c1ab39e_0_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175" y="1006574"/>
            <a:ext cx="5720733" cy="3750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g2c84c1ab39e_0_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9708" y="761649"/>
            <a:ext cx="2015941" cy="3750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g2c84c1ab39e_0_9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16946" y="1087975"/>
            <a:ext cx="2592950" cy="62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g2c84c1ab39e_0_90"/>
          <p:cNvSpPr/>
          <p:nvPr/>
        </p:nvSpPr>
        <p:spPr>
          <a:xfrm>
            <a:off x="0" y="4764982"/>
            <a:ext cx="2994900" cy="3708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600" u="none" cap="none" strike="noStrike">
                <a:solidFill>
                  <a:srgbClr val="FFF2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IoU, AUC-PR , mAP</a:t>
            </a:r>
            <a:endParaRPr b="0" i="0" sz="1600" u="none" cap="none" strike="noStrike">
              <a:solidFill>
                <a:srgbClr val="FFF2CC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c84c1ab39e_0_105"/>
          <p:cNvSpPr txBox="1"/>
          <p:nvPr>
            <p:ph type="title"/>
          </p:nvPr>
        </p:nvSpPr>
        <p:spPr>
          <a:xfrm>
            <a:off x="628650" y="274374"/>
            <a:ext cx="78867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-US" sz="2400">
                <a:latin typeface="Proxima Nova"/>
                <a:ea typeface="Proxima Nova"/>
                <a:cs typeface="Proxima Nova"/>
                <a:sym typeface="Proxima Nova"/>
              </a:rPr>
              <a:t>Example: </a:t>
            </a:r>
            <a:endParaRPr b="0"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93" name="Google Shape;293;g2c84c1ab39e_0_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982127"/>
            <a:ext cx="6579676" cy="362737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g2c84c1ab39e_0_105"/>
          <p:cNvSpPr txBox="1"/>
          <p:nvPr/>
        </p:nvSpPr>
        <p:spPr>
          <a:xfrm>
            <a:off x="2783275" y="133600"/>
            <a:ext cx="2048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980000"/>
                </a:solidFill>
                <a:latin typeface="Proxima Nova"/>
                <a:ea typeface="Proxima Nova"/>
                <a:cs typeface="Proxima Nova"/>
                <a:sym typeface="Proxima Nova"/>
              </a:rPr>
              <a:t>ROI Proposals = 24</a:t>
            </a:r>
            <a:endParaRPr b="0" i="0" sz="1600" u="none" cap="none" strike="noStrike">
              <a:solidFill>
                <a:srgbClr val="98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980000"/>
                </a:solidFill>
                <a:latin typeface="Proxima Nova"/>
                <a:ea typeface="Proxima Nova"/>
                <a:cs typeface="Proxima Nova"/>
                <a:sym typeface="Proxima Nova"/>
              </a:rPr>
              <a:t>Ground Truths = 15</a:t>
            </a:r>
            <a:endParaRPr b="0" i="0" sz="1600" u="none" cap="none" strike="noStrike">
              <a:solidFill>
                <a:srgbClr val="98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95" name="Google Shape;295;g2c84c1ab39e_0_105"/>
          <p:cNvSpPr/>
          <p:nvPr/>
        </p:nvSpPr>
        <p:spPr>
          <a:xfrm>
            <a:off x="0" y="4764982"/>
            <a:ext cx="2994900" cy="3708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600" u="none" cap="none" strike="noStrike">
                <a:solidFill>
                  <a:srgbClr val="FFF2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IoU, AUC-PR , mAP</a:t>
            </a:r>
            <a:endParaRPr b="0" i="0" sz="1600" u="none" cap="none" strike="noStrike">
              <a:solidFill>
                <a:srgbClr val="FFF2CC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c84c1ab39e_0_38"/>
          <p:cNvSpPr txBox="1"/>
          <p:nvPr>
            <p:ph type="title"/>
          </p:nvPr>
        </p:nvSpPr>
        <p:spPr>
          <a:xfrm>
            <a:off x="628650" y="274374"/>
            <a:ext cx="78867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-US" sz="2400">
                <a:latin typeface="Proxima Nova"/>
                <a:ea typeface="Proxima Nova"/>
                <a:cs typeface="Proxima Nova"/>
                <a:sym typeface="Proxima Nova"/>
              </a:rPr>
              <a:t>Example: </a:t>
            </a:r>
            <a:endParaRPr b="0"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01" name="Google Shape;301;g2c84c1ab39e_0_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982127"/>
            <a:ext cx="6579676" cy="362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g2c84c1ab39e_0_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36525" y="227975"/>
            <a:ext cx="2207475" cy="468755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g2c84c1ab39e_0_38"/>
          <p:cNvSpPr txBox="1"/>
          <p:nvPr/>
        </p:nvSpPr>
        <p:spPr>
          <a:xfrm>
            <a:off x="2783275" y="133600"/>
            <a:ext cx="2048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980000"/>
                </a:solidFill>
                <a:latin typeface="Proxima Nova"/>
                <a:ea typeface="Proxima Nova"/>
                <a:cs typeface="Proxima Nova"/>
                <a:sym typeface="Proxima Nova"/>
              </a:rPr>
              <a:t>ROI Proposals = 24</a:t>
            </a:r>
            <a:endParaRPr b="0" i="0" sz="1600" u="none" cap="none" strike="noStrike">
              <a:solidFill>
                <a:srgbClr val="98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980000"/>
                </a:solidFill>
                <a:latin typeface="Proxima Nova"/>
                <a:ea typeface="Proxima Nova"/>
                <a:cs typeface="Proxima Nova"/>
                <a:sym typeface="Proxima Nova"/>
              </a:rPr>
              <a:t>Ground Truths = 15</a:t>
            </a:r>
            <a:endParaRPr b="0" i="0" sz="1600" u="none" cap="none" strike="noStrike">
              <a:solidFill>
                <a:srgbClr val="98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04" name="Google Shape;304;g2c84c1ab39e_0_38"/>
          <p:cNvSpPr/>
          <p:nvPr/>
        </p:nvSpPr>
        <p:spPr>
          <a:xfrm>
            <a:off x="0" y="4764982"/>
            <a:ext cx="2994900" cy="3708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600" u="none" cap="none" strike="noStrike">
                <a:solidFill>
                  <a:srgbClr val="FFF2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IoU, AUC-PR , mAP</a:t>
            </a:r>
            <a:endParaRPr b="0" i="0" sz="1600" u="none" cap="none" strike="noStrike">
              <a:solidFill>
                <a:srgbClr val="FFF2CC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c84c1ab39e_0_44"/>
          <p:cNvSpPr txBox="1"/>
          <p:nvPr>
            <p:ph type="title"/>
          </p:nvPr>
        </p:nvSpPr>
        <p:spPr>
          <a:xfrm>
            <a:off x="628650" y="274374"/>
            <a:ext cx="78867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-US" sz="2400">
                <a:latin typeface="Proxima Nova"/>
                <a:ea typeface="Proxima Nova"/>
                <a:cs typeface="Proxima Nova"/>
                <a:sym typeface="Proxima Nova"/>
              </a:rPr>
              <a:t>Example: </a:t>
            </a:r>
            <a:endParaRPr b="0"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10" name="Google Shape;310;g2c84c1ab39e_0_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21175" y="342675"/>
            <a:ext cx="2207475" cy="468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g2c84c1ab39e_0_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57400" y="24000"/>
            <a:ext cx="4078775" cy="4890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2" name="Google Shape;312;g2c84c1ab39e_0_44"/>
          <p:cNvCxnSpPr/>
          <p:nvPr/>
        </p:nvCxnSpPr>
        <p:spPr>
          <a:xfrm rot="10800000">
            <a:off x="6202725" y="2293375"/>
            <a:ext cx="651900" cy="50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3" name="Google Shape;313;g2c84c1ab39e_0_44"/>
          <p:cNvSpPr txBox="1"/>
          <p:nvPr/>
        </p:nvSpPr>
        <p:spPr>
          <a:xfrm>
            <a:off x="144725" y="2081900"/>
            <a:ext cx="2048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980000"/>
                </a:solidFill>
                <a:latin typeface="Proxima Nova"/>
                <a:ea typeface="Proxima Nova"/>
                <a:cs typeface="Proxima Nova"/>
                <a:sym typeface="Proxima Nova"/>
              </a:rPr>
              <a:t>Ground Truths = 15</a:t>
            </a:r>
            <a:endParaRPr b="0" i="0" sz="1600" u="none" cap="none" strike="noStrike">
              <a:solidFill>
                <a:srgbClr val="98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14" name="Google Shape;314;g2c84c1ab39e_0_44"/>
          <p:cNvSpPr/>
          <p:nvPr/>
        </p:nvSpPr>
        <p:spPr>
          <a:xfrm>
            <a:off x="0" y="4764982"/>
            <a:ext cx="2994900" cy="3708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600" u="none" cap="none" strike="noStrike">
                <a:solidFill>
                  <a:srgbClr val="FFF2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IoU, AUC-PR , mAP</a:t>
            </a:r>
            <a:endParaRPr b="0" i="0" sz="1600" u="none" cap="none" strike="noStrike">
              <a:solidFill>
                <a:srgbClr val="FFF2CC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c84c1ab39e_0_52"/>
          <p:cNvSpPr txBox="1"/>
          <p:nvPr>
            <p:ph type="title"/>
          </p:nvPr>
        </p:nvSpPr>
        <p:spPr>
          <a:xfrm>
            <a:off x="628650" y="274374"/>
            <a:ext cx="78867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-US" sz="2400">
                <a:latin typeface="Proxima Nova"/>
                <a:ea typeface="Proxima Nova"/>
                <a:cs typeface="Proxima Nova"/>
                <a:sym typeface="Proxima Nova"/>
              </a:rPr>
              <a:t>Example: </a:t>
            </a:r>
            <a:endParaRPr b="0"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20" name="Google Shape;320;g2c84c1ab39e_0_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50350" y="274375"/>
            <a:ext cx="4078775" cy="4890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1" name="Google Shape;321;g2c84c1ab39e_0_52"/>
          <p:cNvCxnSpPr/>
          <p:nvPr/>
        </p:nvCxnSpPr>
        <p:spPr>
          <a:xfrm rot="10800000">
            <a:off x="4246050" y="2377450"/>
            <a:ext cx="651900" cy="50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322" name="Google Shape;322;g2c84c1ab39e_0_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240374"/>
            <a:ext cx="3941250" cy="3154357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g2c84c1ab39e_0_52"/>
          <p:cNvSpPr/>
          <p:nvPr/>
        </p:nvSpPr>
        <p:spPr>
          <a:xfrm>
            <a:off x="0" y="4764982"/>
            <a:ext cx="2994900" cy="3708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600" u="none" cap="none" strike="noStrike">
                <a:solidFill>
                  <a:srgbClr val="FFF2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IoU, AUC-PR , mAP</a:t>
            </a:r>
            <a:endParaRPr b="0" i="0" sz="1600" u="none" cap="none" strike="noStrike">
              <a:solidFill>
                <a:srgbClr val="FFF2CC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c84c1ab39e_0_60"/>
          <p:cNvSpPr txBox="1"/>
          <p:nvPr>
            <p:ph type="title"/>
          </p:nvPr>
        </p:nvSpPr>
        <p:spPr>
          <a:xfrm>
            <a:off x="628650" y="274374"/>
            <a:ext cx="78867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-US" sz="2400">
                <a:latin typeface="Proxima Nova"/>
                <a:ea typeface="Proxima Nova"/>
                <a:cs typeface="Proxima Nova"/>
                <a:sym typeface="Proxima Nova"/>
              </a:rPr>
              <a:t>Example: </a:t>
            </a:r>
            <a:endParaRPr b="0"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29" name="Google Shape;329;g2c84c1ab39e_0_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240374"/>
            <a:ext cx="3941250" cy="3154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g2c84c1ab39e_0_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12850" y="1240374"/>
            <a:ext cx="4745550" cy="3559163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g2c84c1ab39e_0_60"/>
          <p:cNvSpPr/>
          <p:nvPr/>
        </p:nvSpPr>
        <p:spPr>
          <a:xfrm>
            <a:off x="0" y="4764982"/>
            <a:ext cx="2994900" cy="3708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600" u="none" cap="none" strike="noStrike">
                <a:solidFill>
                  <a:srgbClr val="FFF2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IoU, AUC-PR , mAP</a:t>
            </a:r>
            <a:endParaRPr b="0" i="0" sz="1600" u="none" cap="none" strike="noStrike">
              <a:solidFill>
                <a:srgbClr val="FFF2CC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2c84c1ab39e_0_68"/>
          <p:cNvSpPr txBox="1"/>
          <p:nvPr>
            <p:ph type="title"/>
          </p:nvPr>
        </p:nvSpPr>
        <p:spPr>
          <a:xfrm>
            <a:off x="628650" y="274374"/>
            <a:ext cx="78867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-US" sz="2400">
                <a:latin typeface="Proxima Nova"/>
                <a:ea typeface="Proxima Nova"/>
                <a:cs typeface="Proxima Nova"/>
                <a:sym typeface="Proxima Nova"/>
              </a:rPr>
              <a:t>Example: </a:t>
            </a:r>
            <a:endParaRPr b="0"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37" name="Google Shape;337;g2c84c1ab39e_0_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2850" y="1240374"/>
            <a:ext cx="4745550" cy="3559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g2c84c1ab39e_0_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621374"/>
            <a:ext cx="4008049" cy="3103234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g2c84c1ab39e_0_68"/>
          <p:cNvSpPr/>
          <p:nvPr/>
        </p:nvSpPr>
        <p:spPr>
          <a:xfrm>
            <a:off x="0" y="4764982"/>
            <a:ext cx="2994900" cy="3708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600" u="none" cap="none" strike="noStrike">
                <a:solidFill>
                  <a:srgbClr val="FFF2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IoU, AUC-PR , mAP</a:t>
            </a:r>
            <a:endParaRPr b="0" i="0" sz="1600" u="none" cap="none" strike="noStrike">
              <a:solidFill>
                <a:srgbClr val="FFF2CC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c84c1ab39e_0_115"/>
          <p:cNvSpPr txBox="1"/>
          <p:nvPr>
            <p:ph type="title"/>
          </p:nvPr>
        </p:nvSpPr>
        <p:spPr>
          <a:xfrm>
            <a:off x="628650" y="274374"/>
            <a:ext cx="78867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-US" sz="2400">
                <a:latin typeface="Proxima Nova"/>
                <a:ea typeface="Proxima Nova"/>
                <a:cs typeface="Proxima Nova"/>
                <a:sym typeface="Proxima Nova"/>
              </a:rPr>
              <a:t>Example: </a:t>
            </a:r>
            <a:endParaRPr b="0"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45" name="Google Shape;345;g2c84c1ab39e_0_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2850" y="1240374"/>
            <a:ext cx="4745550" cy="3559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g2c84c1ab39e_0_1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398" y="2507833"/>
            <a:ext cx="4645400" cy="301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g2c84c1ab39e_0_1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25" y="1878424"/>
            <a:ext cx="2057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g2c84c1ab39e_0_1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3189848"/>
            <a:ext cx="10191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g2c84c1ab39e_0_115"/>
          <p:cNvSpPr/>
          <p:nvPr/>
        </p:nvSpPr>
        <p:spPr>
          <a:xfrm>
            <a:off x="0" y="4764982"/>
            <a:ext cx="2994900" cy="3708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600" u="none" cap="none" strike="noStrike">
                <a:solidFill>
                  <a:srgbClr val="FFF2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IoU, AUC-PR , mAP</a:t>
            </a:r>
            <a:endParaRPr b="0" i="0" sz="1600" u="none" cap="none" strike="noStrike">
              <a:solidFill>
                <a:srgbClr val="FFF2CC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2c84c1ab39e_0_124"/>
          <p:cNvSpPr txBox="1"/>
          <p:nvPr>
            <p:ph type="title"/>
          </p:nvPr>
        </p:nvSpPr>
        <p:spPr>
          <a:xfrm>
            <a:off x="628650" y="274374"/>
            <a:ext cx="78867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-US" sz="2400">
                <a:latin typeface="Proxima Nova"/>
                <a:ea typeface="Proxima Nova"/>
                <a:cs typeface="Proxima Nova"/>
                <a:sym typeface="Proxima Nova"/>
              </a:rPr>
              <a:t>Example: </a:t>
            </a:r>
            <a:endParaRPr b="0"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55" name="Google Shape;355;g2c84c1ab39e_0_1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2850" y="1240374"/>
            <a:ext cx="4745550" cy="3559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g2c84c1ab39e_0_1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621374"/>
            <a:ext cx="4008049" cy="3103234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g2c84c1ab39e_0_124"/>
          <p:cNvSpPr/>
          <p:nvPr/>
        </p:nvSpPr>
        <p:spPr>
          <a:xfrm>
            <a:off x="0" y="4764982"/>
            <a:ext cx="2994900" cy="3708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600" u="none" cap="none" strike="noStrike">
                <a:solidFill>
                  <a:srgbClr val="FFF2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IoU, AUC-PR , mAP</a:t>
            </a:r>
            <a:endParaRPr b="0" i="0" sz="1600" u="none" cap="none" strike="noStrike">
              <a:solidFill>
                <a:srgbClr val="FFF2CC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c84c1ab39e_0_75"/>
          <p:cNvSpPr txBox="1"/>
          <p:nvPr>
            <p:ph type="title"/>
          </p:nvPr>
        </p:nvSpPr>
        <p:spPr>
          <a:xfrm>
            <a:off x="628650" y="274374"/>
            <a:ext cx="78867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-US" sz="2400">
                <a:latin typeface="Proxima Nova"/>
                <a:ea typeface="Proxima Nova"/>
                <a:cs typeface="Proxima Nova"/>
                <a:sym typeface="Proxima Nova"/>
              </a:rPr>
              <a:t>Example: </a:t>
            </a:r>
            <a:endParaRPr b="0"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63" name="Google Shape;363;g2c84c1ab39e_0_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621374"/>
            <a:ext cx="4008049" cy="3103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g2c84c1ab39e_0_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7800" y="1189275"/>
            <a:ext cx="4471551" cy="34621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g2c84c1ab39e_0_75"/>
          <p:cNvSpPr/>
          <p:nvPr/>
        </p:nvSpPr>
        <p:spPr>
          <a:xfrm>
            <a:off x="0" y="4764982"/>
            <a:ext cx="2994900" cy="3708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600" u="none" cap="none" strike="noStrike">
                <a:solidFill>
                  <a:srgbClr val="FFF2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IoU, AUC-PR , mAP</a:t>
            </a:r>
            <a:endParaRPr b="0" i="0" sz="1600" u="none" cap="none" strike="noStrike">
              <a:solidFill>
                <a:srgbClr val="FFF2CC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c84c1ab39e_0_133"/>
          <p:cNvSpPr txBox="1"/>
          <p:nvPr>
            <p:ph type="title"/>
          </p:nvPr>
        </p:nvSpPr>
        <p:spPr>
          <a:xfrm>
            <a:off x="628650" y="274374"/>
            <a:ext cx="78867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-US" sz="2400">
                <a:latin typeface="Proxima Nova"/>
                <a:ea typeface="Proxima Nova"/>
                <a:cs typeface="Proxima Nova"/>
                <a:sym typeface="Proxima Nova"/>
              </a:rPr>
              <a:t>Example: </a:t>
            </a:r>
            <a:endParaRPr b="0"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71" name="Google Shape;371;g2c84c1ab39e_0_1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240374"/>
            <a:ext cx="8839200" cy="2055015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g2c84c1ab39e_0_133"/>
          <p:cNvSpPr txBox="1"/>
          <p:nvPr/>
        </p:nvSpPr>
        <p:spPr>
          <a:xfrm>
            <a:off x="534400" y="3751850"/>
            <a:ext cx="6535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sng" cap="none" strike="noStrike">
                <a:solidFill>
                  <a:srgbClr val="980000"/>
                </a:solidFill>
                <a:latin typeface="Proxima Nova"/>
                <a:ea typeface="Proxima Nova"/>
                <a:cs typeface="Proxima Nova"/>
                <a:sym typeface="Proxima Nova"/>
              </a:rPr>
              <a:t>Source</a:t>
            </a:r>
            <a:r>
              <a:rPr b="0" i="0" lang="en-US" sz="16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: </a:t>
            </a:r>
            <a:r>
              <a:rPr b="0" i="0" lang="en-US" sz="1600" u="sng" cap="none" strike="noStrike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4"/>
              </a:rPr>
              <a:t>http://host.robots.ox.ac.uk/pascal/VOC/pubs/everingham15.pdf</a:t>
            </a:r>
            <a:r>
              <a:rPr b="0" i="0" lang="en-US" sz="16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b="0" i="0" sz="1600" u="none" cap="none" strike="noStrike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3" name="Google Shape;373;g2c84c1ab39e_0_133"/>
          <p:cNvSpPr/>
          <p:nvPr/>
        </p:nvSpPr>
        <p:spPr>
          <a:xfrm>
            <a:off x="0" y="4764982"/>
            <a:ext cx="2994900" cy="370800"/>
          </a:xfrm>
          <a:prstGeom prst="homePlate">
            <a:avLst>
              <a:gd fmla="val 50000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600" u="none" cap="none" strike="noStrike">
                <a:solidFill>
                  <a:srgbClr val="FFF2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IoU, AUC-PR , mAP</a:t>
            </a:r>
            <a:endParaRPr b="0" i="0" sz="1600" u="none" cap="none" strike="noStrike">
              <a:solidFill>
                <a:srgbClr val="FFF2CC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26c94a5ba1d_0_8"/>
          <p:cNvSpPr txBox="1"/>
          <p:nvPr>
            <p:ph type="title"/>
          </p:nvPr>
        </p:nvSpPr>
        <p:spPr>
          <a:xfrm>
            <a:off x="628650" y="274374"/>
            <a:ext cx="78867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-US" sz="2400">
                <a:latin typeface="Proxima Nova"/>
                <a:ea typeface="Proxima Nova"/>
                <a:cs typeface="Proxima Nova"/>
                <a:sym typeface="Proxima Nova"/>
              </a:rPr>
              <a:t>ROC Analysis</a:t>
            </a:r>
            <a:endParaRPr b="0"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9" name="Google Shape;379;g26c94a5ba1d_0_8"/>
          <p:cNvSpPr/>
          <p:nvPr/>
        </p:nvSpPr>
        <p:spPr>
          <a:xfrm>
            <a:off x="0" y="4764982"/>
            <a:ext cx="2994900" cy="370800"/>
          </a:xfrm>
          <a:prstGeom prst="homePlate">
            <a:avLst>
              <a:gd fmla="val 50000" name="adj"/>
            </a:avLst>
          </a:prstGeom>
          <a:solidFill>
            <a:srgbClr val="741B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600" u="none" cap="none" strike="noStrike">
                <a:solidFill>
                  <a:srgbClr val="FFF2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AU-ROC - Analysis </a:t>
            </a:r>
            <a:endParaRPr b="0" i="0" sz="1600" u="none" cap="none" strike="noStrike">
              <a:solidFill>
                <a:srgbClr val="FFF2CC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pic>
        <p:nvPicPr>
          <p:cNvPr id="380" name="Google Shape;380;g26c94a5ba1d_0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9775" y="1895475"/>
            <a:ext cx="5169225" cy="123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g26c94a5ba1d_0_8"/>
          <p:cNvSpPr txBox="1"/>
          <p:nvPr/>
        </p:nvSpPr>
        <p:spPr>
          <a:xfrm>
            <a:off x="628650" y="1146700"/>
            <a:ext cx="64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sng" cap="none" strike="noStrik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Contents are adopted from : </a:t>
            </a:r>
            <a:endParaRPr b="0" i="0" sz="1800" u="sng" cap="none" strike="noStrik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g26c94a5ba1d_0_8"/>
          <p:cNvSpPr txBox="1"/>
          <p:nvPr/>
        </p:nvSpPr>
        <p:spPr>
          <a:xfrm>
            <a:off x="768200" y="3415425"/>
            <a:ext cx="56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Available from </a:t>
            </a:r>
            <a:r>
              <a:rPr b="0" i="0" lang="en-US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https://people.inf.elte.hu/kiss/13dwhdm/roc.pdf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2c84c1ab39e_0_178"/>
          <p:cNvSpPr txBox="1"/>
          <p:nvPr>
            <p:ph type="title"/>
          </p:nvPr>
        </p:nvSpPr>
        <p:spPr>
          <a:xfrm>
            <a:off x="628650" y="274374"/>
            <a:ext cx="78867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-US" sz="2400">
                <a:latin typeface="Proxima Nova"/>
                <a:ea typeface="Proxima Nova"/>
                <a:cs typeface="Proxima Nova"/>
                <a:sym typeface="Proxima Nova"/>
              </a:rPr>
              <a:t>Confusion Matrix ( Again) </a:t>
            </a:r>
            <a:endParaRPr b="0"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88" name="Google Shape;388;g2c84c1ab39e_0_178"/>
          <p:cNvSpPr/>
          <p:nvPr/>
        </p:nvSpPr>
        <p:spPr>
          <a:xfrm>
            <a:off x="0" y="4764982"/>
            <a:ext cx="2994900" cy="370800"/>
          </a:xfrm>
          <a:prstGeom prst="homePlate">
            <a:avLst>
              <a:gd fmla="val 50000" name="adj"/>
            </a:avLst>
          </a:prstGeom>
          <a:solidFill>
            <a:srgbClr val="741B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600" u="none" cap="none" strike="noStrike">
                <a:solidFill>
                  <a:srgbClr val="FFF2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AU-ROC - Analysis </a:t>
            </a:r>
            <a:endParaRPr b="0" i="0" sz="1600" u="none" cap="none" strike="noStrike">
              <a:solidFill>
                <a:srgbClr val="FFF2CC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pic>
        <p:nvPicPr>
          <p:cNvPr id="389" name="Google Shape;389;g2c84c1ab39e_0_1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3575" y="1087974"/>
            <a:ext cx="8011592" cy="3372208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g2c84c1ab39e_0_178"/>
          <p:cNvSpPr/>
          <p:nvPr/>
        </p:nvSpPr>
        <p:spPr>
          <a:xfrm>
            <a:off x="4876300" y="1636575"/>
            <a:ext cx="1714500" cy="501000"/>
          </a:xfrm>
          <a:prstGeom prst="flowChartAlternateProcess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g2c84c1ab39e_0_178"/>
          <p:cNvSpPr/>
          <p:nvPr/>
        </p:nvSpPr>
        <p:spPr>
          <a:xfrm>
            <a:off x="7086100" y="1636575"/>
            <a:ext cx="1714500" cy="501000"/>
          </a:xfrm>
          <a:prstGeom prst="flowChartAlternateProcess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c84c1ab39e_0_186"/>
          <p:cNvSpPr txBox="1"/>
          <p:nvPr>
            <p:ph type="title"/>
          </p:nvPr>
        </p:nvSpPr>
        <p:spPr>
          <a:xfrm>
            <a:off x="628650" y="274374"/>
            <a:ext cx="78867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-US" sz="2400">
                <a:latin typeface="Proxima Nova"/>
                <a:ea typeface="Proxima Nova"/>
                <a:cs typeface="Proxima Nova"/>
                <a:sym typeface="Proxima Nova"/>
              </a:rPr>
              <a:t>ROC Space</a:t>
            </a:r>
            <a:endParaRPr b="0"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97" name="Google Shape;397;g2c84c1ab39e_0_186"/>
          <p:cNvSpPr/>
          <p:nvPr/>
        </p:nvSpPr>
        <p:spPr>
          <a:xfrm>
            <a:off x="0" y="4764982"/>
            <a:ext cx="2994900" cy="370800"/>
          </a:xfrm>
          <a:prstGeom prst="homePlate">
            <a:avLst>
              <a:gd fmla="val 50000" name="adj"/>
            </a:avLst>
          </a:prstGeom>
          <a:solidFill>
            <a:srgbClr val="741B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600" u="none" cap="none" strike="noStrike">
                <a:solidFill>
                  <a:srgbClr val="FFF2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AU-ROC - Analysis </a:t>
            </a:r>
            <a:endParaRPr b="0" i="0" sz="1600" u="none" cap="none" strike="noStrike">
              <a:solidFill>
                <a:srgbClr val="FFF2CC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pic>
        <p:nvPicPr>
          <p:cNvPr id="398" name="Google Shape;398;g2c84c1ab39e_0_1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6500" y="0"/>
            <a:ext cx="4729180" cy="4764974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g2c84c1ab39e_0_186"/>
          <p:cNvSpPr txBox="1"/>
          <p:nvPr/>
        </p:nvSpPr>
        <p:spPr>
          <a:xfrm>
            <a:off x="6330475" y="-47525"/>
            <a:ext cx="28134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CV 16: Note on Performance Metrics and wrap up</a:t>
            </a:r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2c84c1ab39e_0_199"/>
          <p:cNvSpPr txBox="1"/>
          <p:nvPr>
            <p:ph type="title"/>
          </p:nvPr>
        </p:nvSpPr>
        <p:spPr>
          <a:xfrm>
            <a:off x="628650" y="274374"/>
            <a:ext cx="78867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-US" sz="2400">
                <a:latin typeface="Proxima Nova"/>
                <a:ea typeface="Proxima Nova"/>
                <a:cs typeface="Proxima Nova"/>
                <a:sym typeface="Proxima Nova"/>
              </a:rPr>
              <a:t>Points in ROC Space</a:t>
            </a:r>
            <a:endParaRPr b="0"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05" name="Google Shape;405;g2c84c1ab39e_0_199"/>
          <p:cNvSpPr/>
          <p:nvPr/>
        </p:nvSpPr>
        <p:spPr>
          <a:xfrm>
            <a:off x="0" y="4764982"/>
            <a:ext cx="2994900" cy="370800"/>
          </a:xfrm>
          <a:prstGeom prst="homePlate">
            <a:avLst>
              <a:gd fmla="val 50000" name="adj"/>
            </a:avLst>
          </a:prstGeom>
          <a:solidFill>
            <a:srgbClr val="741B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600" u="none" cap="none" strike="noStrike">
                <a:solidFill>
                  <a:srgbClr val="FFF2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AU-ROC - Analysis </a:t>
            </a:r>
            <a:endParaRPr b="0" i="0" sz="1600" u="none" cap="none" strike="noStrike">
              <a:solidFill>
                <a:srgbClr val="FFF2CC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pic>
        <p:nvPicPr>
          <p:cNvPr id="406" name="Google Shape;406;g2c84c1ab39e_0_1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6500" y="0"/>
            <a:ext cx="4729180" cy="4764974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g2c84c1ab39e_0_199"/>
          <p:cNvSpPr txBox="1"/>
          <p:nvPr/>
        </p:nvSpPr>
        <p:spPr>
          <a:xfrm>
            <a:off x="0" y="1149075"/>
            <a:ext cx="4431000" cy="30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Proxima Nova"/>
              <a:buChar char="●"/>
            </a:pPr>
            <a:r>
              <a:rPr b="0" i="0" lang="en-US" sz="1700" u="none" cap="none" strike="noStrike">
                <a:solidFill>
                  <a:srgbClr val="980000"/>
                </a:solidFill>
                <a:latin typeface="Proxima Nova"/>
                <a:ea typeface="Proxima Nova"/>
                <a:cs typeface="Proxima Nova"/>
                <a:sym typeface="Proxima Nova"/>
              </a:rPr>
              <a:t>Lower left point (0, 0) </a:t>
            </a:r>
            <a:r>
              <a:rPr b="0" i="0" lang="en-US" sz="17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represents the strategy of never issuing a positive classification; </a:t>
            </a:r>
            <a:endParaRPr b="0" i="0" sz="17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Proxima Nova"/>
              <a:buChar char="○"/>
            </a:pPr>
            <a:r>
              <a:rPr b="0" i="0" lang="en-US" sz="17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Such a classier commits no false positive errors but also gains no true positives. </a:t>
            </a:r>
            <a:endParaRPr b="0" i="0" sz="17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Proxima Nova"/>
              <a:buChar char="●"/>
            </a:pPr>
            <a:r>
              <a:rPr b="0" i="0" lang="en-US" sz="1700" u="none" cap="none" strike="noStrike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Upper right corner (1, 1)</a:t>
            </a:r>
            <a:r>
              <a:rPr b="0" i="0" lang="en-US" sz="17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represents the opposite strategy, of unconditionally issuing positive classifications. </a:t>
            </a:r>
            <a:endParaRPr b="0" i="0" sz="17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08" name="Google Shape;408;g2c84c1ab39e_0_199"/>
          <p:cNvSpPr/>
          <p:nvPr/>
        </p:nvSpPr>
        <p:spPr>
          <a:xfrm>
            <a:off x="5021025" y="3996800"/>
            <a:ext cx="133500" cy="122400"/>
          </a:xfrm>
          <a:prstGeom prst="ellipse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g2c84c1ab39e_0_199"/>
          <p:cNvSpPr/>
          <p:nvPr/>
        </p:nvSpPr>
        <p:spPr>
          <a:xfrm>
            <a:off x="8907225" y="110600"/>
            <a:ext cx="133500" cy="1224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2c84c1ab39e_0_208"/>
          <p:cNvSpPr txBox="1"/>
          <p:nvPr>
            <p:ph type="title"/>
          </p:nvPr>
        </p:nvSpPr>
        <p:spPr>
          <a:xfrm>
            <a:off x="628650" y="274374"/>
            <a:ext cx="78867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-US" sz="2400">
                <a:latin typeface="Proxima Nova"/>
                <a:ea typeface="Proxima Nova"/>
                <a:cs typeface="Proxima Nova"/>
                <a:sym typeface="Proxima Nova"/>
              </a:rPr>
              <a:t>Points in ROC Space</a:t>
            </a:r>
            <a:endParaRPr b="0"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15" name="Google Shape;415;g2c84c1ab39e_0_208"/>
          <p:cNvSpPr/>
          <p:nvPr/>
        </p:nvSpPr>
        <p:spPr>
          <a:xfrm>
            <a:off x="0" y="4764982"/>
            <a:ext cx="2994900" cy="370800"/>
          </a:xfrm>
          <a:prstGeom prst="homePlate">
            <a:avLst>
              <a:gd fmla="val 50000" name="adj"/>
            </a:avLst>
          </a:prstGeom>
          <a:solidFill>
            <a:srgbClr val="741B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600" u="none" cap="none" strike="noStrike">
                <a:solidFill>
                  <a:srgbClr val="FFF2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AU-ROC - Analysis </a:t>
            </a:r>
            <a:endParaRPr b="0" i="0" sz="1600" u="none" cap="none" strike="noStrike">
              <a:solidFill>
                <a:srgbClr val="FFF2CC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pic>
        <p:nvPicPr>
          <p:cNvPr id="416" name="Google Shape;416;g2c84c1ab39e_0_2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6500" y="0"/>
            <a:ext cx="4729180" cy="4764974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g2c84c1ab39e_0_208"/>
          <p:cNvSpPr txBox="1"/>
          <p:nvPr/>
        </p:nvSpPr>
        <p:spPr>
          <a:xfrm>
            <a:off x="0" y="1149075"/>
            <a:ext cx="4431000" cy="30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Proxima Nova"/>
              <a:buChar char="●"/>
            </a:pPr>
            <a:r>
              <a:rPr b="0" i="0" lang="en-US" sz="17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Point (0, 1) </a:t>
            </a:r>
            <a:r>
              <a:rPr b="0" i="0" lang="en-US" sz="17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represents perfect classification. </a:t>
            </a:r>
            <a:endParaRPr b="0" i="0" sz="17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Proxima Nova"/>
              <a:buChar char="○"/>
            </a:pPr>
            <a:r>
              <a:rPr b="0" i="0" lang="en-US" sz="17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D's performance is perfect as shown.</a:t>
            </a:r>
            <a:endParaRPr b="0" i="0" sz="17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Proxima Nova"/>
              <a:buChar char="●"/>
            </a:pPr>
            <a:r>
              <a:rPr b="0" i="0" lang="en-US" sz="17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Informally, one point in ROC space is better than another if it is to the northwest of the first</a:t>
            </a:r>
            <a:endParaRPr b="0" i="0" sz="17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Proxima Nova"/>
              <a:buChar char="○"/>
            </a:pPr>
            <a:r>
              <a:rPr b="0" i="0" lang="en-US" sz="17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tp rate is higher, fp rate is lower, or both.</a:t>
            </a:r>
            <a:endParaRPr b="0" i="0" sz="17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18" name="Google Shape;418;g2c84c1ab39e_0_208"/>
          <p:cNvSpPr/>
          <p:nvPr/>
        </p:nvSpPr>
        <p:spPr>
          <a:xfrm>
            <a:off x="5021025" y="132866"/>
            <a:ext cx="133500" cy="122400"/>
          </a:xfrm>
          <a:prstGeom prst="ellipse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c84c1ab39e_0_218"/>
          <p:cNvSpPr txBox="1"/>
          <p:nvPr>
            <p:ph type="title"/>
          </p:nvPr>
        </p:nvSpPr>
        <p:spPr>
          <a:xfrm>
            <a:off x="628650" y="274374"/>
            <a:ext cx="78867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-US" sz="2400">
                <a:latin typeface="Proxima Nova"/>
                <a:ea typeface="Proxima Nova"/>
                <a:cs typeface="Proxima Nova"/>
                <a:sym typeface="Proxima Nova"/>
              </a:rPr>
              <a:t>Conservative Vs. Liberal</a:t>
            </a:r>
            <a:endParaRPr b="0"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24" name="Google Shape;424;g2c84c1ab39e_0_218"/>
          <p:cNvSpPr/>
          <p:nvPr/>
        </p:nvSpPr>
        <p:spPr>
          <a:xfrm>
            <a:off x="0" y="4764982"/>
            <a:ext cx="2994900" cy="370800"/>
          </a:xfrm>
          <a:prstGeom prst="homePlate">
            <a:avLst>
              <a:gd fmla="val 50000" name="adj"/>
            </a:avLst>
          </a:prstGeom>
          <a:solidFill>
            <a:srgbClr val="741B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600" u="none" cap="none" strike="noStrike">
                <a:solidFill>
                  <a:srgbClr val="FFF2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AU-ROC - Analysis </a:t>
            </a:r>
            <a:endParaRPr b="0" i="0" sz="1600" u="none" cap="none" strike="noStrike">
              <a:solidFill>
                <a:srgbClr val="FFF2CC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pic>
        <p:nvPicPr>
          <p:cNvPr id="425" name="Google Shape;425;g2c84c1ab39e_0_2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6500" y="0"/>
            <a:ext cx="4729180" cy="4764974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g2c84c1ab39e_0_218"/>
          <p:cNvSpPr txBox="1"/>
          <p:nvPr/>
        </p:nvSpPr>
        <p:spPr>
          <a:xfrm>
            <a:off x="0" y="1301850"/>
            <a:ext cx="44310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Proxima Nova"/>
              <a:buChar char="●"/>
            </a:pPr>
            <a:r>
              <a:rPr b="0" i="0" lang="en-US" sz="17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Classifiers appearing on the left hand-side of an ROC graph, near the X axis, may be thought of as “conservative”</a:t>
            </a:r>
            <a:endParaRPr b="0" i="0" sz="17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Proxima Nova"/>
              <a:buChar char="○"/>
            </a:pPr>
            <a:r>
              <a:rPr b="0" i="0" lang="en-US" sz="17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they make positive classifications only with strong evidence so they make few false positive errors, </a:t>
            </a:r>
            <a:endParaRPr b="0" i="0" sz="17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Proxima Nova"/>
              <a:buChar char="○"/>
            </a:pPr>
            <a:r>
              <a:rPr b="0" i="0" lang="en-US" sz="17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but they often have low true positive rates as well.</a:t>
            </a:r>
            <a:endParaRPr b="0" i="0" sz="17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27" name="Google Shape;427;g2c84c1ab39e_0_218"/>
          <p:cNvSpPr/>
          <p:nvPr/>
        </p:nvSpPr>
        <p:spPr>
          <a:xfrm>
            <a:off x="5021025" y="132866"/>
            <a:ext cx="133500" cy="122400"/>
          </a:xfrm>
          <a:prstGeom prst="ellipse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g2c84c1ab39e_0_218"/>
          <p:cNvSpPr txBox="1"/>
          <p:nvPr/>
        </p:nvSpPr>
        <p:spPr>
          <a:xfrm>
            <a:off x="6330475" y="-47525"/>
            <a:ext cx="28134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CV 16: Note on Performance Metrics and wrap up</a:t>
            </a:r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2c84c1ab39e_0_227"/>
          <p:cNvSpPr txBox="1"/>
          <p:nvPr>
            <p:ph type="title"/>
          </p:nvPr>
        </p:nvSpPr>
        <p:spPr>
          <a:xfrm>
            <a:off x="628650" y="274374"/>
            <a:ext cx="78867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-US" sz="2400">
                <a:latin typeface="Proxima Nova"/>
                <a:ea typeface="Proxima Nova"/>
                <a:cs typeface="Proxima Nova"/>
                <a:sym typeface="Proxima Nova"/>
              </a:rPr>
              <a:t>Conservative Vs. Liberal</a:t>
            </a:r>
            <a:endParaRPr b="0"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34" name="Google Shape;434;g2c84c1ab39e_0_227"/>
          <p:cNvSpPr/>
          <p:nvPr/>
        </p:nvSpPr>
        <p:spPr>
          <a:xfrm>
            <a:off x="0" y="4764982"/>
            <a:ext cx="2994900" cy="370800"/>
          </a:xfrm>
          <a:prstGeom prst="homePlate">
            <a:avLst>
              <a:gd fmla="val 50000" name="adj"/>
            </a:avLst>
          </a:prstGeom>
          <a:solidFill>
            <a:srgbClr val="741B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600" u="none" cap="none" strike="noStrike">
                <a:solidFill>
                  <a:srgbClr val="FFF2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AU-ROC - Analysis </a:t>
            </a:r>
            <a:endParaRPr b="0" i="0" sz="1600" u="none" cap="none" strike="noStrike">
              <a:solidFill>
                <a:srgbClr val="FFF2CC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pic>
        <p:nvPicPr>
          <p:cNvPr id="435" name="Google Shape;435;g2c84c1ab39e_0_2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6500" y="0"/>
            <a:ext cx="4729180" cy="4764974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g2c84c1ab39e_0_227"/>
          <p:cNvSpPr txBox="1"/>
          <p:nvPr/>
        </p:nvSpPr>
        <p:spPr>
          <a:xfrm>
            <a:off x="0" y="1301850"/>
            <a:ext cx="4431000" cy="30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Proxima Nova"/>
              <a:buChar char="●"/>
            </a:pPr>
            <a:r>
              <a:rPr b="0" i="0" lang="en-US" sz="17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Classifiers on the upper right-hand side of an ROC graph may be thought of as “liberal” </a:t>
            </a:r>
            <a:endParaRPr b="0" i="0" sz="17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Proxima Nova"/>
              <a:buChar char="○"/>
            </a:pPr>
            <a:r>
              <a:rPr b="0" i="0" lang="en-US" sz="17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they make positive classifications with weak evidence so they classify nearly all positives correctly, </a:t>
            </a:r>
            <a:endParaRPr b="0" i="0" sz="17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Proxima Nova"/>
              <a:buChar char="○"/>
            </a:pPr>
            <a:r>
              <a:rPr b="0" i="0" lang="en-US" sz="17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but they often have high false positive rates. </a:t>
            </a:r>
            <a:endParaRPr b="0" i="0" sz="17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Proxima Nova"/>
              <a:buChar char="●"/>
            </a:pPr>
            <a:r>
              <a:rPr b="0" i="0" lang="en-US" sz="17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 figure, A is more conservative than B.</a:t>
            </a:r>
            <a:endParaRPr b="0" i="0" sz="17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37" name="Google Shape;437;g2c84c1ab39e_0_227"/>
          <p:cNvSpPr/>
          <p:nvPr/>
        </p:nvSpPr>
        <p:spPr>
          <a:xfrm>
            <a:off x="5021025" y="132866"/>
            <a:ext cx="133500" cy="122400"/>
          </a:xfrm>
          <a:prstGeom prst="ellipse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g2c84c1ab39e_0_227"/>
          <p:cNvSpPr txBox="1"/>
          <p:nvPr/>
        </p:nvSpPr>
        <p:spPr>
          <a:xfrm>
            <a:off x="6330475" y="-47525"/>
            <a:ext cx="28134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CV 16: Note on Performance Metrics and wrap up</a:t>
            </a:r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2c84c1ab39e_0_237"/>
          <p:cNvSpPr txBox="1"/>
          <p:nvPr>
            <p:ph type="title"/>
          </p:nvPr>
        </p:nvSpPr>
        <p:spPr>
          <a:xfrm>
            <a:off x="628650" y="274374"/>
            <a:ext cx="78867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-US" sz="2400">
                <a:latin typeface="Proxima Nova"/>
                <a:ea typeface="Proxima Nova"/>
                <a:cs typeface="Proxima Nova"/>
                <a:sym typeface="Proxima Nova"/>
              </a:rPr>
              <a:t>Random Performance</a:t>
            </a:r>
            <a:endParaRPr b="0"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44" name="Google Shape;444;g2c84c1ab39e_0_237"/>
          <p:cNvSpPr/>
          <p:nvPr/>
        </p:nvSpPr>
        <p:spPr>
          <a:xfrm>
            <a:off x="0" y="4764982"/>
            <a:ext cx="2994900" cy="370800"/>
          </a:xfrm>
          <a:prstGeom prst="homePlate">
            <a:avLst>
              <a:gd fmla="val 50000" name="adj"/>
            </a:avLst>
          </a:prstGeom>
          <a:solidFill>
            <a:srgbClr val="741B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600" u="none" cap="none" strike="noStrike">
                <a:solidFill>
                  <a:srgbClr val="FFF2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AU-ROC - Analysis </a:t>
            </a:r>
            <a:endParaRPr b="0" i="0" sz="1600" u="none" cap="none" strike="noStrike">
              <a:solidFill>
                <a:srgbClr val="FFF2CC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pic>
        <p:nvPicPr>
          <p:cNvPr id="445" name="Google Shape;445;g2c84c1ab39e_0_2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6500" y="0"/>
            <a:ext cx="4729180" cy="4764974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g2c84c1ab39e_0_237"/>
          <p:cNvSpPr txBox="1"/>
          <p:nvPr/>
        </p:nvSpPr>
        <p:spPr>
          <a:xfrm>
            <a:off x="0" y="1301850"/>
            <a:ext cx="4431000" cy="30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Proxima Nova"/>
              <a:buChar char="●"/>
            </a:pPr>
            <a:r>
              <a:rPr b="0" i="0" lang="en-US" sz="17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Classifiers on the upper right-hand side of an ROC graph may be thought of as “liberal” </a:t>
            </a:r>
            <a:endParaRPr b="0" i="0" sz="17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Proxima Nova"/>
              <a:buChar char="○"/>
            </a:pPr>
            <a:r>
              <a:rPr b="0" i="0" lang="en-US" sz="17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they make positive classifications with weak evidence so they classify nearly all positives correctly, </a:t>
            </a:r>
            <a:endParaRPr b="0" i="0" sz="17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Proxima Nova"/>
              <a:buChar char="○"/>
            </a:pPr>
            <a:r>
              <a:rPr b="0" i="0" lang="en-US" sz="17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but they often have high false positive rates. </a:t>
            </a:r>
            <a:endParaRPr b="0" i="0" sz="17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Proxima Nova"/>
              <a:buChar char="●"/>
            </a:pPr>
            <a:r>
              <a:rPr b="0" i="0" lang="en-US" sz="17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 figure, A is more conservative than B.</a:t>
            </a:r>
            <a:endParaRPr b="0" i="0" sz="17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47" name="Google Shape;447;g2c84c1ab39e_0_237"/>
          <p:cNvSpPr/>
          <p:nvPr/>
        </p:nvSpPr>
        <p:spPr>
          <a:xfrm>
            <a:off x="5021025" y="132866"/>
            <a:ext cx="133500" cy="122400"/>
          </a:xfrm>
          <a:prstGeom prst="ellipse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g2c84c1ab39e_0_237"/>
          <p:cNvSpPr txBox="1"/>
          <p:nvPr/>
        </p:nvSpPr>
        <p:spPr>
          <a:xfrm>
            <a:off x="6330475" y="-47525"/>
            <a:ext cx="28134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CV 16: Note on Performance Metrics and wrap up</a:t>
            </a:r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2c84c1ab39e_0_246"/>
          <p:cNvSpPr txBox="1"/>
          <p:nvPr>
            <p:ph type="title"/>
          </p:nvPr>
        </p:nvSpPr>
        <p:spPr>
          <a:xfrm>
            <a:off x="628650" y="274374"/>
            <a:ext cx="78867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-US" sz="2400">
                <a:latin typeface="Proxima Nova"/>
                <a:ea typeface="Proxima Nova"/>
                <a:cs typeface="Proxima Nova"/>
                <a:sym typeface="Proxima Nova"/>
              </a:rPr>
              <a:t>Curves in ROC space</a:t>
            </a:r>
            <a:endParaRPr b="0"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54" name="Google Shape;454;g2c84c1ab39e_0_246"/>
          <p:cNvSpPr/>
          <p:nvPr/>
        </p:nvSpPr>
        <p:spPr>
          <a:xfrm>
            <a:off x="0" y="4764982"/>
            <a:ext cx="2994900" cy="370800"/>
          </a:xfrm>
          <a:prstGeom prst="homePlate">
            <a:avLst>
              <a:gd fmla="val 50000" name="adj"/>
            </a:avLst>
          </a:prstGeom>
          <a:solidFill>
            <a:srgbClr val="741B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600" u="none" cap="none" strike="noStrike">
                <a:solidFill>
                  <a:srgbClr val="FFF2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AU-ROC - Analysis </a:t>
            </a:r>
            <a:endParaRPr b="0" i="0" sz="1600" u="none" cap="none" strike="noStrike">
              <a:solidFill>
                <a:srgbClr val="FFF2CC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455" name="Google Shape;455;g2c84c1ab39e_0_246"/>
          <p:cNvSpPr txBox="1"/>
          <p:nvPr/>
        </p:nvSpPr>
        <p:spPr>
          <a:xfrm>
            <a:off x="0" y="1301850"/>
            <a:ext cx="44643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Proxima Nova"/>
              <a:buChar char="●"/>
            </a:pPr>
            <a:r>
              <a:rPr b="0" i="0" lang="en-US" sz="17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Classifiers, such as decision trees or rule sets, are designed to produce only a class decision, i.e., a Y or N on each instance. </a:t>
            </a:r>
            <a:endParaRPr b="0" i="0" sz="17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Proxima Nova"/>
              <a:buChar char="○"/>
            </a:pPr>
            <a:r>
              <a:rPr b="0" i="0" lang="en-US" sz="17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When such a </a:t>
            </a:r>
            <a:r>
              <a:rPr b="0" i="0" lang="en-US" sz="1700" u="none" cap="none" strike="noStrike">
                <a:solidFill>
                  <a:srgbClr val="980000"/>
                </a:solidFill>
                <a:latin typeface="Proxima Nova"/>
                <a:ea typeface="Proxima Nova"/>
                <a:cs typeface="Proxima Nova"/>
                <a:sym typeface="Proxima Nova"/>
              </a:rPr>
              <a:t>discrete classier</a:t>
            </a:r>
            <a:r>
              <a:rPr b="0" i="0" lang="en-US" sz="17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is applied to a test set, </a:t>
            </a:r>
            <a:r>
              <a:rPr b="0" i="0" lang="en-US" sz="1700" u="none" cap="none" strike="noStrike">
                <a:solidFill>
                  <a:srgbClr val="980000"/>
                </a:solidFill>
                <a:latin typeface="Proxima Nova"/>
                <a:ea typeface="Proxima Nova"/>
                <a:cs typeface="Proxima Nova"/>
                <a:sym typeface="Proxima Nova"/>
              </a:rPr>
              <a:t>it yields a single confusion matrix</a:t>
            </a:r>
            <a:r>
              <a:rPr b="0" i="0" lang="en-US" sz="17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, which in turn corresponds to one ROC point. </a:t>
            </a:r>
            <a:endParaRPr b="0" i="0" sz="17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Proxima Nova"/>
              <a:buChar char="○"/>
            </a:pPr>
            <a:r>
              <a:rPr b="0" i="0" lang="en-US" sz="17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Thus, a discrete classifier produces only a single point in ROC space.</a:t>
            </a:r>
            <a:endParaRPr b="0" i="0" sz="17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56" name="Google Shape;456;g2c84c1ab39e_0_2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4700" y="656850"/>
            <a:ext cx="3743324" cy="369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2c84c1ab39e_0_257"/>
          <p:cNvSpPr txBox="1"/>
          <p:nvPr>
            <p:ph type="title"/>
          </p:nvPr>
        </p:nvSpPr>
        <p:spPr>
          <a:xfrm>
            <a:off x="628650" y="274374"/>
            <a:ext cx="78867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-US" sz="2400">
                <a:latin typeface="Proxima Nova"/>
                <a:ea typeface="Proxima Nova"/>
                <a:cs typeface="Proxima Nova"/>
                <a:sym typeface="Proxima Nova"/>
              </a:rPr>
              <a:t>Curves in ROC space</a:t>
            </a:r>
            <a:endParaRPr b="0"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62" name="Google Shape;462;g2c84c1ab39e_0_257"/>
          <p:cNvSpPr/>
          <p:nvPr/>
        </p:nvSpPr>
        <p:spPr>
          <a:xfrm>
            <a:off x="0" y="4764982"/>
            <a:ext cx="2994900" cy="370800"/>
          </a:xfrm>
          <a:prstGeom prst="homePlate">
            <a:avLst>
              <a:gd fmla="val 50000" name="adj"/>
            </a:avLst>
          </a:prstGeom>
          <a:solidFill>
            <a:srgbClr val="741B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600" u="none" cap="none" strike="noStrike">
                <a:solidFill>
                  <a:srgbClr val="FFF2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AU-ROC - Analysis </a:t>
            </a:r>
            <a:endParaRPr b="0" i="0" sz="1600" u="none" cap="none" strike="noStrike">
              <a:solidFill>
                <a:srgbClr val="FFF2CC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463" name="Google Shape;463;g2c84c1ab39e_0_257"/>
          <p:cNvSpPr txBox="1"/>
          <p:nvPr/>
        </p:nvSpPr>
        <p:spPr>
          <a:xfrm>
            <a:off x="0" y="920850"/>
            <a:ext cx="54441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Proxima Nova"/>
              <a:buChar char="●"/>
            </a:pPr>
            <a:r>
              <a:rPr b="0" i="0" lang="en-US" sz="17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Classifiers, such as a Naive Bayes classifier, yield an instance probability or score. </a:t>
            </a:r>
            <a:endParaRPr b="0" i="0" sz="17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Proxima Nova"/>
              <a:buChar char="○"/>
            </a:pPr>
            <a:r>
              <a:rPr b="0" i="0" lang="en-US" sz="17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Such a ranking or scoring classier can be used with a threshold to produce a discrete (binary) classier: </a:t>
            </a:r>
            <a:endParaRPr b="0" i="0" sz="17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65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Proxima Nova"/>
              <a:buChar char="■"/>
            </a:pPr>
            <a:r>
              <a:rPr b="0" i="0" lang="en-US" sz="17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if the classier output is above the threshold, the classier produces a Y, </a:t>
            </a:r>
            <a:endParaRPr b="0" i="0" sz="17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65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Proxima Nova"/>
              <a:buChar char="■"/>
            </a:pPr>
            <a:r>
              <a:rPr b="0" i="0" lang="en-US" sz="17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else a N. </a:t>
            </a:r>
            <a:endParaRPr b="0" i="0" sz="17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Proxima Nova"/>
              <a:buChar char="●"/>
            </a:pPr>
            <a:r>
              <a:rPr b="0" i="0" lang="en-US" sz="17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Each threshold value produces a different point in ROC space (corresponding to a different confusion matrix). </a:t>
            </a:r>
            <a:endParaRPr b="0" i="0" sz="17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Proxima Nova"/>
              <a:buChar char="●"/>
            </a:pPr>
            <a:r>
              <a:rPr b="0" i="0" lang="en-US" sz="17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Conceptually, we may imagine varying a threshold from –infinity to + infinity and tracing a curve through ROC space.</a:t>
            </a:r>
            <a:endParaRPr b="0" i="0" sz="17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64" name="Google Shape;464;g2c84c1ab39e_0_2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4700" y="656850"/>
            <a:ext cx="3743324" cy="369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2c84c1ab39e_0_267"/>
          <p:cNvSpPr txBox="1"/>
          <p:nvPr>
            <p:ph type="title"/>
          </p:nvPr>
        </p:nvSpPr>
        <p:spPr>
          <a:xfrm>
            <a:off x="628650" y="274374"/>
            <a:ext cx="78867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-US" sz="2400">
                <a:latin typeface="Proxima Nova"/>
                <a:ea typeface="Proxima Nova"/>
                <a:cs typeface="Proxima Nova"/>
                <a:sym typeface="Proxima Nova"/>
              </a:rPr>
              <a:t>Algorithm</a:t>
            </a:r>
            <a:endParaRPr b="0"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70" name="Google Shape;470;g2c84c1ab39e_0_267"/>
          <p:cNvSpPr/>
          <p:nvPr/>
        </p:nvSpPr>
        <p:spPr>
          <a:xfrm>
            <a:off x="0" y="4764982"/>
            <a:ext cx="2994900" cy="370800"/>
          </a:xfrm>
          <a:prstGeom prst="homePlate">
            <a:avLst>
              <a:gd fmla="val 50000" name="adj"/>
            </a:avLst>
          </a:prstGeom>
          <a:solidFill>
            <a:srgbClr val="741B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600" u="none" cap="none" strike="noStrike">
                <a:solidFill>
                  <a:srgbClr val="FFF2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AU-ROC - Analysis </a:t>
            </a:r>
            <a:endParaRPr b="0" i="0" sz="1600" u="none" cap="none" strike="noStrike">
              <a:solidFill>
                <a:srgbClr val="FFF2CC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471" name="Google Shape;471;g2c84c1ab39e_0_267"/>
          <p:cNvSpPr txBox="1"/>
          <p:nvPr/>
        </p:nvSpPr>
        <p:spPr>
          <a:xfrm>
            <a:off x="381000" y="1149450"/>
            <a:ext cx="8594700" cy="3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roxima Nova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Exploit monotonicity of thresholded classifications: </a:t>
            </a:r>
            <a:endParaRPr b="0" i="0" sz="20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roxima Nova"/>
              <a:buChar char="○"/>
            </a:pPr>
            <a:r>
              <a:rPr b="0" i="0" lang="en-US" sz="20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Any instance that is classified positive with respect to a given threshold will be classified positive for all lower thresholds as well. </a:t>
            </a:r>
            <a:endParaRPr b="0" i="0" sz="20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	</a:t>
            </a:r>
            <a:endParaRPr b="0" i="0" sz="20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roxima Nova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Therefore, we can simply: </a:t>
            </a:r>
            <a:endParaRPr b="0" i="0" sz="20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000"/>
              <a:buFont typeface="Proxima Nova"/>
              <a:buChar char="○"/>
            </a:pPr>
            <a:r>
              <a:rPr b="0" i="0" lang="en-US" sz="2000" u="none" cap="none" strike="noStrike">
                <a:solidFill>
                  <a:srgbClr val="1C4587"/>
                </a:solidFill>
                <a:latin typeface="Proxima Nova"/>
                <a:ea typeface="Proxima Nova"/>
                <a:cs typeface="Proxima Nova"/>
                <a:sym typeface="Proxima Nova"/>
              </a:rPr>
              <a:t>sort the test instances decreasing by their scores and </a:t>
            </a:r>
            <a:endParaRPr b="0" i="0" sz="2000" u="none" cap="none" strike="noStrike">
              <a:solidFill>
                <a:srgbClr val="1C458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000"/>
              <a:buFont typeface="Proxima Nova"/>
              <a:buChar char="○"/>
            </a:pPr>
            <a:r>
              <a:rPr b="0" i="0" lang="en-US" sz="2000" u="none" cap="none" strike="noStrike">
                <a:solidFill>
                  <a:srgbClr val="1C4587"/>
                </a:solidFill>
                <a:latin typeface="Proxima Nova"/>
                <a:ea typeface="Proxima Nova"/>
                <a:cs typeface="Proxima Nova"/>
                <a:sym typeface="Proxima Nova"/>
              </a:rPr>
              <a:t>move down the list, processing one instance at a time and </a:t>
            </a:r>
            <a:endParaRPr b="0" i="0" sz="2000" u="none" cap="none" strike="noStrike">
              <a:solidFill>
                <a:srgbClr val="1C458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000"/>
              <a:buFont typeface="Proxima Nova"/>
              <a:buChar char="○"/>
            </a:pPr>
            <a:r>
              <a:rPr b="0" i="0" lang="en-US" sz="2000" u="none" cap="none" strike="noStrike">
                <a:solidFill>
                  <a:srgbClr val="1C4587"/>
                </a:solidFill>
                <a:latin typeface="Proxima Nova"/>
                <a:ea typeface="Proxima Nova"/>
                <a:cs typeface="Proxima Nova"/>
                <a:sym typeface="Proxima Nova"/>
              </a:rPr>
              <a:t>update TP and FP as we go. </a:t>
            </a:r>
            <a:endParaRPr b="0" i="0" sz="2000" u="none" cap="none" strike="noStrike">
              <a:solidFill>
                <a:srgbClr val="1C458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roxima Nova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 this way, an ROC graph can be created from a linear scan</a:t>
            </a:r>
            <a:endParaRPr b="0" i="0" sz="20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2c84c1ab39e_0_275"/>
          <p:cNvSpPr txBox="1"/>
          <p:nvPr>
            <p:ph type="title"/>
          </p:nvPr>
        </p:nvSpPr>
        <p:spPr>
          <a:xfrm>
            <a:off x="628650" y="274374"/>
            <a:ext cx="78867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-US" sz="2400">
                <a:latin typeface="Proxima Nova"/>
                <a:ea typeface="Proxima Nova"/>
                <a:cs typeface="Proxima Nova"/>
                <a:sym typeface="Proxima Nova"/>
              </a:rPr>
              <a:t>Example</a:t>
            </a:r>
            <a:endParaRPr b="0"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77" name="Google Shape;477;g2c84c1ab39e_0_275"/>
          <p:cNvSpPr/>
          <p:nvPr/>
        </p:nvSpPr>
        <p:spPr>
          <a:xfrm>
            <a:off x="0" y="4764982"/>
            <a:ext cx="2994900" cy="370800"/>
          </a:xfrm>
          <a:prstGeom prst="homePlate">
            <a:avLst>
              <a:gd fmla="val 50000" name="adj"/>
            </a:avLst>
          </a:prstGeom>
          <a:solidFill>
            <a:srgbClr val="741B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600" u="none" cap="none" strike="noStrike">
                <a:solidFill>
                  <a:srgbClr val="FFF2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AU-ROC - Analysis </a:t>
            </a:r>
            <a:endParaRPr b="0" i="0" sz="1600" u="none" cap="none" strike="noStrike">
              <a:solidFill>
                <a:srgbClr val="FFF2CC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pic>
        <p:nvPicPr>
          <p:cNvPr id="478" name="Google Shape;478;g2c84c1ab39e_0_2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87975"/>
            <a:ext cx="4960624" cy="3498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2c84c1ab39e_0_282"/>
          <p:cNvSpPr txBox="1"/>
          <p:nvPr>
            <p:ph type="title"/>
          </p:nvPr>
        </p:nvSpPr>
        <p:spPr>
          <a:xfrm>
            <a:off x="628650" y="274374"/>
            <a:ext cx="78867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-US" sz="2400">
                <a:latin typeface="Proxima Nova"/>
                <a:ea typeface="Proxima Nova"/>
                <a:cs typeface="Proxima Nova"/>
                <a:sym typeface="Proxima Nova"/>
              </a:rPr>
              <a:t>Example</a:t>
            </a:r>
            <a:endParaRPr b="0"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84" name="Google Shape;484;g2c84c1ab39e_0_282"/>
          <p:cNvSpPr/>
          <p:nvPr/>
        </p:nvSpPr>
        <p:spPr>
          <a:xfrm>
            <a:off x="0" y="4764982"/>
            <a:ext cx="2994900" cy="370800"/>
          </a:xfrm>
          <a:prstGeom prst="homePlate">
            <a:avLst>
              <a:gd fmla="val 50000" name="adj"/>
            </a:avLst>
          </a:prstGeom>
          <a:solidFill>
            <a:srgbClr val="741B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600" u="none" cap="none" strike="noStrike">
                <a:solidFill>
                  <a:srgbClr val="FFF2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AU-ROC - Analysis </a:t>
            </a:r>
            <a:endParaRPr b="0" i="0" sz="1600" u="none" cap="none" strike="noStrike">
              <a:solidFill>
                <a:srgbClr val="FFF2CC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pic>
        <p:nvPicPr>
          <p:cNvPr id="485" name="Google Shape;485;g2c84c1ab39e_0_2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87975"/>
            <a:ext cx="4960624" cy="3498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g2c84c1ab39e_0_2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8500" y="1165526"/>
            <a:ext cx="4155500" cy="341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2c84c1ab39e_0_290"/>
          <p:cNvSpPr txBox="1"/>
          <p:nvPr>
            <p:ph type="title"/>
          </p:nvPr>
        </p:nvSpPr>
        <p:spPr>
          <a:xfrm>
            <a:off x="628650" y="274374"/>
            <a:ext cx="78867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-US" sz="2400">
                <a:latin typeface="Proxima Nova"/>
                <a:ea typeface="Proxima Nova"/>
                <a:cs typeface="Proxima Nova"/>
                <a:sym typeface="Proxima Nova"/>
              </a:rPr>
              <a:t>Area under ROC</a:t>
            </a:r>
            <a:endParaRPr b="0"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92" name="Google Shape;492;g2c84c1ab39e_0_290"/>
          <p:cNvSpPr/>
          <p:nvPr/>
        </p:nvSpPr>
        <p:spPr>
          <a:xfrm>
            <a:off x="0" y="4764982"/>
            <a:ext cx="2994900" cy="370800"/>
          </a:xfrm>
          <a:prstGeom prst="homePlate">
            <a:avLst>
              <a:gd fmla="val 50000" name="adj"/>
            </a:avLst>
          </a:prstGeom>
          <a:solidFill>
            <a:srgbClr val="741B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600" u="none" cap="none" strike="noStrike">
                <a:solidFill>
                  <a:srgbClr val="FFF2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AU-ROC - Analysis </a:t>
            </a:r>
            <a:endParaRPr b="0" i="0" sz="1600" u="none" cap="none" strike="noStrike">
              <a:solidFill>
                <a:srgbClr val="FFF2CC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493" name="Google Shape;493;g2c84c1ab39e_0_290"/>
          <p:cNvSpPr txBox="1"/>
          <p:nvPr/>
        </p:nvSpPr>
        <p:spPr>
          <a:xfrm>
            <a:off x="381000" y="1494800"/>
            <a:ext cx="45660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Proxima Nova"/>
              <a:buChar char="●"/>
            </a:pPr>
            <a:r>
              <a:rPr b="0" i="0" lang="en-US" sz="17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AUC has an important statistical property: </a:t>
            </a:r>
            <a:endParaRPr b="0" i="0" sz="17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Proxima Nova"/>
              <a:buChar char="○"/>
            </a:pPr>
            <a:r>
              <a:rPr b="0" i="0" lang="en-US" sz="17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</a:t>
            </a:r>
            <a:r>
              <a:rPr b="0" i="0" lang="en-US" sz="1700" u="none" cap="none" strike="noStrike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he AUC of a classifier is equivalent to the probability that the classier will rank a randomly chosen positive instance higher than a randomly chosen negative instance.</a:t>
            </a:r>
            <a:endParaRPr b="0" i="0" sz="1700" u="none" cap="none" strike="noStrike"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Proxima Nova"/>
              <a:buChar char="●"/>
            </a:pPr>
            <a:r>
              <a:rPr b="0" i="0" lang="en-US" sz="17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Often used to compare classifiers:</a:t>
            </a:r>
            <a:endParaRPr b="0" i="0" sz="17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Proxima Nova"/>
              <a:buChar char="●"/>
            </a:pPr>
            <a:r>
              <a:rPr b="0" i="0" lang="en-US" sz="17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The bigger AUC the better</a:t>
            </a:r>
            <a:endParaRPr b="0" i="0" sz="17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Proxima Nova"/>
              <a:buChar char="●"/>
            </a:pPr>
            <a:r>
              <a:rPr b="0" i="0" lang="en-US" sz="17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AUC can be computed by a slight modification to the algorithm for constructing ROC curves.   </a:t>
            </a:r>
            <a:endParaRPr b="0" i="0" sz="17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94" name="Google Shape;494;g2c84c1ab39e_0_2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47050" y="895249"/>
            <a:ext cx="4013517" cy="37507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2f8503a3034_0_0"/>
          <p:cNvSpPr txBox="1"/>
          <p:nvPr>
            <p:ph type="title"/>
          </p:nvPr>
        </p:nvSpPr>
        <p:spPr>
          <a:xfrm>
            <a:off x="1107950" y="122225"/>
            <a:ext cx="766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Wrap Up</a:t>
            </a:r>
            <a:endParaRPr/>
          </a:p>
        </p:txBody>
      </p:sp>
      <p:sp>
        <p:nvSpPr>
          <p:cNvPr id="500" name="Google Shape;500;g2f8503a3034_0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Comprehensive Exam Syllabus and Pattern for Computer Vision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Weightage 			- 40%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Number of Questions	- 6 Questions ( Each of 6-8 Marks 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Topics Included		- Entire Course Coverage </a:t>
            </a:r>
            <a:endParaRPr/>
          </a:p>
          <a:p>
            <a:pPr indent="45720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 About 20% -3 questions-  upto Midterm exam</a:t>
            </a:r>
            <a:r>
              <a:rPr lang="en-US"/>
              <a:t>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							20% -3 questions- post </a:t>
            </a:r>
            <a:r>
              <a:rPr lang="en-US"/>
              <a:t>midterm</a:t>
            </a:r>
            <a:r>
              <a:rPr lang="en-US"/>
              <a:t> Topics)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For topics and the details, refer to the uploaded slides.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g2f8503a3034_0_0"/>
          <p:cNvSpPr txBox="1"/>
          <p:nvPr/>
        </p:nvSpPr>
        <p:spPr>
          <a:xfrm>
            <a:off x="6330475" y="-47525"/>
            <a:ext cx="28134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CV 16: Note on Performance Metrics and wrap up</a:t>
            </a:r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8"/>
          <p:cNvSpPr txBox="1"/>
          <p:nvPr>
            <p:ph type="title"/>
          </p:nvPr>
        </p:nvSpPr>
        <p:spPr>
          <a:xfrm>
            <a:off x="3493293" y="2107406"/>
            <a:ext cx="5022000" cy="1432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508" name="Google Shape;508;p38"/>
          <p:cNvSpPr txBox="1"/>
          <p:nvPr>
            <p:ph idx="1" type="subTitle"/>
          </p:nvPr>
        </p:nvSpPr>
        <p:spPr>
          <a:xfrm>
            <a:off x="3493294" y="3771602"/>
            <a:ext cx="5022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ct val="129032"/>
              <a:buNone/>
            </a:pPr>
            <a:r>
              <a:t/>
            </a:r>
            <a:endParaRPr/>
          </a:p>
        </p:txBody>
      </p:sp>
      <p:sp>
        <p:nvSpPr>
          <p:cNvPr id="509" name="Google Shape;509;p38"/>
          <p:cNvSpPr txBox="1"/>
          <p:nvPr>
            <p:ph idx="12" type="sldNum"/>
          </p:nvPr>
        </p:nvSpPr>
        <p:spPr>
          <a:xfrm>
            <a:off x="7243763" y="4767263"/>
            <a:ext cx="12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