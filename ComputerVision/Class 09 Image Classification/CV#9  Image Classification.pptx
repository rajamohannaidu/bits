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5" r:id="rId2"/>
  </p:sldMasterIdLst>
  <p:notesMasterIdLst>
    <p:notesMasterId r:id="rId64"/>
  </p:notesMasterIdLst>
  <p:sldIdLst>
    <p:sldId id="319" r:id="rId3"/>
    <p:sldId id="257" r:id="rId4"/>
    <p:sldId id="320" r:id="rId5"/>
    <p:sldId id="259" r:id="rId6"/>
    <p:sldId id="260" r:id="rId7"/>
    <p:sldId id="261" r:id="rId8"/>
    <p:sldId id="262" r:id="rId9"/>
    <p:sldId id="263"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Lst>
  <p:sldSz cx="12192000" cy="6858000"/>
  <p:notesSz cx="6858000" cy="9144000"/>
  <p:embeddedFontLst>
    <p:embeddedFont>
      <p:font typeface="Noto Sans Symbols" panose="020B0604020202020204" charset="0"/>
      <p:regular r:id="rId65"/>
      <p:bold r:id="rId66"/>
    </p:embeddedFont>
    <p:embeddedFont>
      <p:font typeface="Proxima Nova" panose="020B0604020202020204" charset="0"/>
      <p:regular r:id="rId67"/>
      <p:bold r:id="rId68"/>
      <p:italic r:id="rId69"/>
      <p:boldItalic r:id="rId70"/>
    </p:embeddedFont>
    <p:embeddedFont>
      <p:font typeface="Segoe UI" panose="020B0502040204020203" pitchFamily="34" charset="0"/>
      <p:regular r:id="rId71"/>
      <p:bold r:id="rId72"/>
      <p:italic r:id="rId73"/>
      <p:boldItalic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5" roundtripDataSignature="AMtx7mhDmnLL2TBQAARZ4MIofz9k8QGcz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860" y="2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font" Target="fonts/font4.fntdata"/><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2.fntdata"/><Relationship Id="rId74" Type="http://schemas.openxmlformats.org/officeDocument/2006/relationships/font" Target="fonts/font10.fntdata"/><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font" Target="fonts/font5.fntdata"/><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8.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3.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6.fntdata"/><Relationship Id="rId75"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font" Target="fonts/font1.fntdata"/><Relationship Id="rId73" Type="http://schemas.openxmlformats.org/officeDocument/2006/relationships/font" Target="fonts/font9.fntdata"/><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font" Target="fonts/font7.fntdata"/><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262a763626f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g262a763626f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292fd40077_1_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g3292fd40077_1_6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292fd40077_1_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g3292fd40077_1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292fd40077_1_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g3292fd40077_1_7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292fd40077_1_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g3292fd40077_1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292fd40077_1_8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g3292fd40077_1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292fd40077_1_9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g3292fd40077_1_9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292fd40077_1_1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g3292fd40077_1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292fd40077_1_1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g3292fd40077_1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292fd40077_1_1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g3292fd40077_1_11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291c302432_0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3291c302432_0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171450" lvl="0" indent="-171450" algn="l" rtl="0">
              <a:spcBef>
                <a:spcPts val="0"/>
              </a:spcBef>
              <a:spcAft>
                <a:spcPts val="0"/>
              </a:spcAft>
              <a:buFont typeface="Arial" panose="020B0604020202020204" pitchFamily="34" charset="0"/>
              <a:buChar char="•"/>
            </a:pPr>
            <a:r>
              <a:rPr lang="en-US" sz="1200" b="1" i="0" u="none" strike="noStrike" cap="none" dirty="0">
                <a:solidFill>
                  <a:schemeClr val="dk1"/>
                </a:solidFill>
                <a:effectLst/>
                <a:latin typeface="Calibri"/>
                <a:ea typeface="Calibri"/>
                <a:cs typeface="Calibri"/>
                <a:sym typeface="Calibri"/>
              </a:rPr>
              <a:t>Key-Patch</a:t>
            </a:r>
            <a:r>
              <a:rPr lang="en-US" sz="1200" b="0" i="0" u="none" strike="noStrike" cap="none" dirty="0">
                <a:solidFill>
                  <a:schemeClr val="dk1"/>
                </a:solidFill>
                <a:effectLst/>
                <a:latin typeface="Calibri"/>
                <a:ea typeface="Calibri"/>
                <a:cs typeface="Calibri"/>
                <a:sym typeface="Calibri"/>
              </a:rPr>
              <a:t>: These are specific areas of interest that are likely to contain important information for distinguishing between different categories.</a:t>
            </a:r>
          </a:p>
          <a:p>
            <a:pPr marL="171450" lvl="0" indent="-171450" algn="l" rtl="0">
              <a:spcBef>
                <a:spcPts val="0"/>
              </a:spcBef>
              <a:spcAft>
                <a:spcPts val="0"/>
              </a:spcAft>
              <a:buFont typeface="Arial" panose="020B0604020202020204" pitchFamily="34" charset="0"/>
              <a:buChar char="•"/>
            </a:pPr>
            <a:r>
              <a:rPr lang="en-US" sz="1200" b="1" i="0" u="none" strike="noStrike" cap="none" dirty="0">
                <a:solidFill>
                  <a:schemeClr val="dk1"/>
                </a:solidFill>
                <a:effectLst/>
                <a:latin typeface="Calibri"/>
                <a:ea typeface="Calibri"/>
                <a:cs typeface="Calibri"/>
                <a:sym typeface="Calibri"/>
              </a:rPr>
              <a:t>Feature Extraction</a:t>
            </a:r>
            <a:r>
              <a:rPr lang="en-US" sz="1200" b="0" i="0" u="none" strike="noStrike" cap="none" dirty="0">
                <a:solidFill>
                  <a:schemeClr val="dk1"/>
                </a:solidFill>
                <a:effectLst/>
                <a:latin typeface="Calibri"/>
                <a:ea typeface="Calibri"/>
                <a:cs typeface="Calibri"/>
                <a:sym typeface="Calibri"/>
              </a:rPr>
              <a:t>: Once key patches are detected, features are extracted from these areas. These features are numerical representations that capture the essence of the key patches.</a:t>
            </a:r>
          </a:p>
          <a:p>
            <a:pPr marL="171450" lvl="0" indent="-171450" algn="l" rtl="0">
              <a:spcBef>
                <a:spcPts val="0"/>
              </a:spcBef>
              <a:spcAft>
                <a:spcPts val="0"/>
              </a:spcAft>
              <a:buFont typeface="Arial" panose="020B0604020202020204" pitchFamily="34" charset="0"/>
              <a:buChar char="•"/>
            </a:pPr>
            <a:r>
              <a:rPr lang="en-US" sz="1200" b="0" i="0" u="none" strike="noStrike" cap="none" dirty="0">
                <a:solidFill>
                  <a:schemeClr val="dk1"/>
                </a:solidFill>
                <a:effectLst/>
                <a:latin typeface="Calibri"/>
                <a:ea typeface="Calibri"/>
                <a:cs typeface="Calibri"/>
                <a:sym typeface="Calibri"/>
              </a:rPr>
              <a:t>Extracted features are then quantized into a set of "visual words," similar to how words are used in text analysis. This involves clustering the features into a predefined number of clusters, each representing a visual word. </a:t>
            </a:r>
            <a:r>
              <a:rPr lang="en-US" sz="1200" b="0" i="0" u="none" strike="noStrike" cap="none" dirty="0">
                <a:solidFill>
                  <a:schemeClr val="dk1"/>
                </a:solidFill>
                <a:effectLst/>
                <a:latin typeface="Calibri"/>
                <a:ea typeface="Calibri"/>
                <a:cs typeface="Calibri"/>
                <a:sym typeface="Wingdings" panose="05000000000000000000" pitchFamily="2" charset="2"/>
              </a:rPr>
              <a:t> More detail -- </a:t>
            </a:r>
            <a:r>
              <a:rPr lang="en-US" sz="1200" b="0" i="0" u="none" strike="noStrike" cap="none" dirty="0">
                <a:solidFill>
                  <a:schemeClr val="dk1"/>
                </a:solidFill>
                <a:effectLst/>
                <a:latin typeface="Calibri"/>
                <a:ea typeface="Calibri"/>
                <a:cs typeface="Calibri"/>
                <a:sym typeface="Calibri"/>
              </a:rPr>
              <a:t>lustering the features extracted from a large set of training images into a predefined number of clusters. Each cluster center represents a "visual word.“ The choice of the number of clusters (i.e., the size of the vocabulary) is an important parameter. A larger vocabulary can capture more detail but may also increase computational complexity.</a:t>
            </a:r>
          </a:p>
          <a:p>
            <a:pPr marL="171450" lvl="0" indent="-171450" algn="l" rtl="0">
              <a:spcBef>
                <a:spcPts val="0"/>
              </a:spcBef>
              <a:spcAft>
                <a:spcPts val="0"/>
              </a:spcAft>
              <a:buFont typeface="Arial" panose="020B0604020202020204" pitchFamily="34" charset="0"/>
              <a:buChar char="•"/>
            </a:pPr>
            <a:r>
              <a:rPr lang="en-US" sz="1200" b="1" i="0" u="none" strike="noStrike" cap="none" dirty="0">
                <a:solidFill>
                  <a:schemeClr val="dk1"/>
                </a:solidFill>
                <a:effectLst/>
                <a:latin typeface="Calibri"/>
                <a:ea typeface="Calibri"/>
                <a:cs typeface="Calibri"/>
                <a:sym typeface="Calibri"/>
              </a:rPr>
              <a:t>Feature Vector Representation</a:t>
            </a:r>
            <a:r>
              <a:rPr lang="en-US" sz="1200" b="0" i="0" u="none" strike="noStrike" cap="none" dirty="0">
                <a:solidFill>
                  <a:schemeClr val="dk1"/>
                </a:solidFill>
                <a:effectLst/>
                <a:latin typeface="Calibri"/>
                <a:ea typeface="Calibri"/>
                <a:cs typeface="Calibri"/>
                <a:sym typeface="Calibri"/>
              </a:rPr>
              <a:t>: The histogram is a fixed-length vector, regardless of the size or content of the image, because it is based on the predefined visual vocabulary. Each element of the vector represents the count (or normalized count) of a specific visual word in the image. This vector captures the distribution of features in the image.</a:t>
            </a:r>
          </a:p>
          <a:p>
            <a:pPr marL="171450" lvl="0" indent="-171450" algn="l" rtl="0">
              <a:spcBef>
                <a:spcPts val="0"/>
              </a:spcBef>
              <a:spcAft>
                <a:spcPts val="0"/>
              </a:spcAft>
              <a:buFont typeface="Arial" panose="020B0604020202020204" pitchFamily="34" charset="0"/>
              <a:buChar char="•"/>
            </a:pPr>
            <a:r>
              <a:rPr lang="en-US" sz="1200" b="1" i="0" u="none" strike="noStrike" cap="none" dirty="0">
                <a:solidFill>
                  <a:schemeClr val="dk1"/>
                </a:solidFill>
                <a:effectLst/>
                <a:latin typeface="Calibri"/>
                <a:ea typeface="Calibri"/>
                <a:cs typeface="Calibri"/>
                <a:sym typeface="Calibri"/>
              </a:rPr>
              <a:t>Input to Classifier</a:t>
            </a:r>
            <a:r>
              <a:rPr lang="en-US" sz="1200" b="0" i="0" u="none" strike="noStrike" cap="none" dirty="0">
                <a:solidFill>
                  <a:schemeClr val="dk1"/>
                </a:solidFill>
                <a:effectLst/>
                <a:latin typeface="Calibri"/>
                <a:ea typeface="Calibri"/>
                <a:cs typeface="Calibri"/>
                <a:sym typeface="Calibri"/>
              </a:rPr>
              <a:t>: The histogram feature vector is used as input to a machine learning classifier. Common choices for classifiers in the </a:t>
            </a:r>
            <a:r>
              <a:rPr lang="en-US" sz="1200" b="0" i="0" u="none" strike="noStrike" cap="none" dirty="0" err="1">
                <a:solidFill>
                  <a:schemeClr val="dk1"/>
                </a:solidFill>
                <a:effectLst/>
                <a:latin typeface="Calibri"/>
                <a:ea typeface="Calibri"/>
                <a:cs typeface="Calibri"/>
                <a:sym typeface="Calibri"/>
              </a:rPr>
              <a:t>BoW</a:t>
            </a:r>
            <a:r>
              <a:rPr lang="en-US" sz="1200" b="0" i="0" u="none" strike="noStrike" cap="none" dirty="0">
                <a:solidFill>
                  <a:schemeClr val="dk1"/>
                </a:solidFill>
                <a:effectLst/>
                <a:latin typeface="Calibri"/>
                <a:ea typeface="Calibri"/>
                <a:cs typeface="Calibri"/>
                <a:sym typeface="Calibri"/>
              </a:rPr>
              <a:t> model include Support Vector Machines (SVMs), k-Nearest Neighbors (k-NN), or even simple linear classifiers. The classifier is trained on these feature vectors, along with their corresponding labels, to learn decision boundaries that separate different classes.</a:t>
            </a:r>
          </a:p>
          <a:p>
            <a:pPr marL="0" lvl="0" indent="0" algn="l" rtl="0">
              <a:spcBef>
                <a:spcPts val="0"/>
              </a:spcBef>
              <a:spcAft>
                <a:spcPts val="0"/>
              </a:spcAft>
              <a:buFont typeface="Arial" panose="020B0604020202020204" pitchFamily="34" charset="0"/>
              <a:buNone/>
            </a:pPr>
            <a:endParaRPr lang="en-US" sz="1200" b="0" i="0" u="none" strike="noStrike" cap="none" dirty="0">
              <a:solidFill>
                <a:schemeClr val="dk1"/>
              </a:solidFill>
              <a:effectLst/>
              <a:latin typeface="Calibri"/>
              <a:ea typeface="Calibri"/>
              <a:cs typeface="Calibri"/>
              <a:sym typeface="Calibri"/>
            </a:endParaRPr>
          </a:p>
        </p:txBody>
      </p:sp>
      <p:sp>
        <p:nvSpPr>
          <p:cNvPr id="316" name="Google Shape;316;g3291c302432_0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292fd40077_1_1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g3292fd40077_1_12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292fd40077_1_1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g3292fd40077_1_12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292fd40077_1_1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g3292fd40077_1_13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292fd40077_1_1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g3292fd40077_1_13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292fd40077_1_1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g3292fd40077_1_14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292fd40077_1_1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3" name="Google Shape;363;g3292fd40077_1_14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292fd40077_1_1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g3292fd40077_1_15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292fd40077_1_1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g3292fd40077_1_15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292fd40077_1_1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g3292fd40077_1_16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3292fd40077_1_1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g3292fd40077_1_17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292fd40077_1_1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g3292fd40077_1_17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292fd40077_1_1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g3292fd40077_1_18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3292fd40077_1_18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g3292fd40077_1_18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292fd40077_1_1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g3292fd40077_1_19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3292fd40077_1_19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g3292fd40077_1_19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292fd40077_1_19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g3292fd40077_1_19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3292fd40077_1_2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g3292fd40077_1_20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3292fd40077_1_20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5" name="Google Shape;445;g3292fd40077_1_20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292fd40077_1_2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g3292fd40077_1_21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292fd40077_1_2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8" name="Google Shape;458;g3292fd40077_1_21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3292fd40077_1_2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cap="none" dirty="0">
                <a:solidFill>
                  <a:schemeClr val="dk1"/>
                </a:solidFill>
                <a:effectLst/>
                <a:latin typeface="Calibri"/>
                <a:ea typeface="Calibri"/>
                <a:cs typeface="Calibri"/>
                <a:sym typeface="Calibri"/>
              </a:rPr>
              <a:t>This approach does not account for spatial relationships or perceptual differences, focusing solely on numerical differences in pixel values.</a:t>
            </a:r>
          </a:p>
          <a:p>
            <a:pPr marL="0" lvl="0" indent="0" algn="l" rtl="0">
              <a:spcBef>
                <a:spcPts val="0"/>
              </a:spcBef>
              <a:spcAft>
                <a:spcPts val="0"/>
              </a:spcAft>
              <a:buNone/>
            </a:pPr>
            <a:br>
              <a:rPr lang="en-US" dirty="0"/>
            </a:br>
            <a:r>
              <a:rPr lang="en-US" sz="1200" b="0" i="0" u="none" strike="noStrike" cap="none" dirty="0">
                <a:solidFill>
                  <a:schemeClr val="dk1"/>
                </a:solidFill>
                <a:effectLst/>
                <a:latin typeface="Calibri"/>
                <a:ea typeface="Calibri"/>
                <a:cs typeface="Calibri"/>
                <a:sym typeface="Calibri"/>
              </a:rPr>
              <a:t>shifting an image might change the pixel values uniformly across the image, while darkening might reduce pixel values by a constant amount. Both transformations can lead to similar L2 distances if the overall change in pixel values is consistent.</a:t>
            </a:r>
          </a:p>
          <a:p>
            <a:pPr marL="0" lvl="0" indent="0" algn="l" rtl="0">
              <a:spcBef>
                <a:spcPts val="0"/>
              </a:spcBef>
              <a:spcAft>
                <a:spcPts val="0"/>
              </a:spcAft>
              <a:buNone/>
            </a:pPr>
            <a:endParaRPr lang="en-US" sz="1200" b="0" i="0" u="none" strike="noStrike" cap="none" dirty="0">
              <a:solidFill>
                <a:schemeClr val="dk1"/>
              </a:solidFill>
              <a:effectLst/>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cap="none" dirty="0">
                <a:solidFill>
                  <a:schemeClr val="dk1"/>
                </a:solidFill>
                <a:effectLst/>
                <a:latin typeface="Calibri"/>
                <a:ea typeface="Calibri"/>
                <a:cs typeface="Calibri"/>
                <a:sym typeface="Calibri"/>
              </a:rPr>
              <a:t>L2 distance does not consider the spatial arrangement of pixels. It treats the image as a flat vector, ignoring how pixels are organized or how changes in one part of the image might affect perception.</a:t>
            </a:r>
          </a:p>
        </p:txBody>
      </p:sp>
      <p:sp>
        <p:nvSpPr>
          <p:cNvPr id="465" name="Google Shape;465;g3292fd40077_1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3292fd40077_1_2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1" name="Google Shape;471;g3292fd40077_1_22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3292fd40077_1_2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g3292fd40077_1_23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3292fd40077_1_2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5" name="Google Shape;485;g3292fd40077_1_23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3292fd40077_1_2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3" name="Google Shape;493;g3292fd40077_1_24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3292fd40077_1_2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0" name="Google Shape;500;g3292fd40077_1_24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292fd40077_1_2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7" name="Google Shape;507;g3292fd40077_1_25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292fd40077_1_2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4" name="Google Shape;514;g3292fd40077_1_25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292fd40077_1_2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1" name="Google Shape;521;g3292fd40077_1_26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3292fd40077_1_2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7" name="Google Shape;527;g3292fd40077_1_26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3292fd40077_1_2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5" name="Google Shape;535;g3292fd40077_1_27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3292fd40077_1_2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4" name="Google Shape;544;g3292fd40077_1_27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3292fd40077_1_30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5" name="Google Shape;575;g3292fd40077_1_30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3292fd40077_1_3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1" name="Google Shape;581;g3292fd40077_1_31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3292fd40077_1_3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7" name="Google Shape;587;g3292fd40077_1_31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3292fd40077_1_3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3" name="Google Shape;593;g3292fd40077_1_31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3292fd40077_1_3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0" name="Google Shape;600;g3292fd40077_1_32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3292fd40077_1_3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8" name="Google Shape;608;g3292fd40077_1_33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3292fd40077_1_3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4" name="Google Shape;614;g3292fd40077_1_33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3292fd40077_1_3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1" name="Google Shape;621;g3292fd40077_1_33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g3292fd40077_1_3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4" name="Google Shape;634;g3292fd40077_1_35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3292fd40077_1_3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5" name="Google Shape;665;g3292fd40077_1_37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3292fd40077_1_4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2" name="Google Shape;742;g3292fd40077_1_45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3292fd40077_1_4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8" name="Google Shape;758;g3292fd40077_1_46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3292fd40077_1_48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9" name="Google Shape;779;g3292fd40077_1_48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3292fd40077_1_4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6" name="Google Shape;786;g3292fd40077_1_49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4" name="Google Shape;79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24320ba2c0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g24320ba2c0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19"/>
        <p:cNvGrpSpPr/>
        <p:nvPr/>
      </p:nvGrpSpPr>
      <p:grpSpPr>
        <a:xfrm>
          <a:off x="0" y="0"/>
          <a:ext cx="0" cy="0"/>
          <a:chOff x="0" y="0"/>
          <a:chExt cx="0" cy="0"/>
        </a:xfrm>
      </p:grpSpPr>
      <p:pic>
        <p:nvPicPr>
          <p:cNvPr id="20" name="Google Shape;20;p7" descr="BITS Pilani logo"/>
          <p:cNvPicPr preferRelativeResize="0"/>
          <p:nvPr/>
        </p:nvPicPr>
        <p:blipFill rotWithShape="1">
          <a:blip r:embed="rId2">
            <a:alphaModFix/>
          </a:blip>
          <a:srcRect/>
          <a:stretch/>
        </p:blipFill>
        <p:spPr>
          <a:xfrm>
            <a:off x="384175" y="288928"/>
            <a:ext cx="3338739" cy="865907"/>
          </a:xfrm>
          <a:prstGeom prst="rect">
            <a:avLst/>
          </a:prstGeom>
          <a:noFill/>
          <a:ln>
            <a:noFill/>
          </a:ln>
        </p:spPr>
      </p:pic>
      <p:sp>
        <p:nvSpPr>
          <p:cNvPr id="21" name="Google Shape;21;p7"/>
          <p:cNvSpPr txBox="1">
            <a:spLocks noGrp="1"/>
          </p:cNvSpPr>
          <p:nvPr>
            <p:ph type="title"/>
          </p:nvPr>
        </p:nvSpPr>
        <p:spPr>
          <a:xfrm>
            <a:off x="468449" y="1671639"/>
            <a:ext cx="6005376" cy="65318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7"/>
          <p:cNvSpPr txBox="1">
            <a:spLocks noGrp="1"/>
          </p:cNvSpPr>
          <p:nvPr>
            <p:ph type="body" idx="1"/>
          </p:nvPr>
        </p:nvSpPr>
        <p:spPr>
          <a:xfrm>
            <a:off x="1362075" y="2586447"/>
            <a:ext cx="6005376" cy="3304902"/>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1000"/>
              </a:spcBef>
              <a:spcAft>
                <a:spcPts val="0"/>
              </a:spcAft>
              <a:buClr>
                <a:schemeClr val="dk1"/>
              </a:buClr>
              <a:buSzPts val="2400"/>
              <a:buFont typeface="Calibri"/>
              <a:buAutoNum type="arabicPeriod"/>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3" name="Google Shape;23;p7"/>
          <p:cNvSpPr txBox="1">
            <a:spLocks noGrp="1"/>
          </p:cNvSpPr>
          <p:nvPr>
            <p:ph type="ftr" idx="11"/>
          </p:nvPr>
        </p:nvSpPr>
        <p:spPr>
          <a:xfrm>
            <a:off x="2463800" y="6356350"/>
            <a:ext cx="3479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5" name="Google Shape;25;p7"/>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mart Art">
  <p:cSld name="Smart Art">
    <p:bg>
      <p:bgPr>
        <a:solidFill>
          <a:schemeClr val="lt1"/>
        </a:solidFill>
        <a:effectLst/>
      </p:bgPr>
    </p:bg>
    <p:spTree>
      <p:nvGrpSpPr>
        <p:cNvPr id="1" name="Shape 26"/>
        <p:cNvGrpSpPr/>
        <p:nvPr/>
      </p:nvGrpSpPr>
      <p:grpSpPr>
        <a:xfrm>
          <a:off x="0" y="0"/>
          <a:ext cx="0" cy="0"/>
          <a:chOff x="0" y="0"/>
          <a:chExt cx="0" cy="0"/>
        </a:xfrm>
      </p:grpSpPr>
      <p:sp>
        <p:nvSpPr>
          <p:cNvPr id="27" name="Google Shape;27;p16"/>
          <p:cNvSpPr txBox="1">
            <a:spLocks noGrp="1"/>
          </p:cNvSpPr>
          <p:nvPr>
            <p:ph type="title"/>
          </p:nvPr>
        </p:nvSpPr>
        <p:spPr>
          <a:xfrm>
            <a:off x="838200" y="365126"/>
            <a:ext cx="10199914" cy="1027906"/>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9" name="Google Shape;29;p16" descr="Birla Institute of Technology and Science, Pilani | Logopedia | Fandom"/>
          <p:cNvPicPr preferRelativeResize="0"/>
          <p:nvPr/>
        </p:nvPicPr>
        <p:blipFill rotWithShape="1">
          <a:blip r:embed="rId2">
            <a:alphaModFix/>
          </a:blip>
          <a:srcRect/>
          <a:stretch/>
        </p:blipFill>
        <p:spPr>
          <a:xfrm>
            <a:off x="0" y="28575"/>
            <a:ext cx="704850" cy="704850"/>
          </a:xfrm>
          <a:prstGeom prst="rect">
            <a:avLst/>
          </a:prstGeom>
          <a:noFill/>
          <a:ln>
            <a:noFill/>
          </a:ln>
        </p:spPr>
      </p:pic>
      <p:sp>
        <p:nvSpPr>
          <p:cNvPr id="30" name="Google Shape;30;p16"/>
          <p:cNvSpPr txBox="1">
            <a:spLocks noGrp="1"/>
          </p:cNvSpPr>
          <p:nvPr>
            <p:ph type="body" idx="1"/>
          </p:nvPr>
        </p:nvSpPr>
        <p:spPr>
          <a:xfrm>
            <a:off x="838200" y="1632858"/>
            <a:ext cx="10515599" cy="44413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1000"/>
              </a:spcBef>
              <a:spcAft>
                <a:spcPts val="0"/>
              </a:spcAft>
              <a:buClr>
                <a:schemeClr val="dk1"/>
              </a:buClr>
              <a:buSzPts val="2800"/>
              <a:buFont typeface="Arial"/>
              <a:buChar char="•"/>
              <a:defRPr sz="28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16"/>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hart">
  <p:cSld name="Chart">
    <p:bg>
      <p:bgPr>
        <a:solidFill>
          <a:schemeClr val="accent1"/>
        </a:solidFill>
        <a:effectLst/>
      </p:bgPr>
    </p:bg>
    <p:spTree>
      <p:nvGrpSpPr>
        <p:cNvPr id="1" name="Shape 32"/>
        <p:cNvGrpSpPr/>
        <p:nvPr/>
      </p:nvGrpSpPr>
      <p:grpSpPr>
        <a:xfrm>
          <a:off x="0" y="0"/>
          <a:ext cx="0" cy="0"/>
          <a:chOff x="0" y="0"/>
          <a:chExt cx="0" cy="0"/>
        </a:xfrm>
      </p:grpSpPr>
      <p:sp>
        <p:nvSpPr>
          <p:cNvPr id="33" name="Google Shape;33;p13"/>
          <p:cNvSpPr txBox="1">
            <a:spLocks noGrp="1"/>
          </p:cNvSpPr>
          <p:nvPr>
            <p:ph type="title"/>
          </p:nvPr>
        </p:nvSpPr>
        <p:spPr>
          <a:xfrm>
            <a:off x="838200" y="365125"/>
            <a:ext cx="10515599" cy="124665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36" name="Google Shape;36;p13" descr="Birla Institute of Technology and Science, Pilani | Logopedia | Fandom"/>
          <p:cNvPicPr preferRelativeResize="0"/>
          <p:nvPr/>
        </p:nvPicPr>
        <p:blipFill rotWithShape="1">
          <a:blip r:embed="rId2">
            <a:alphaModFix/>
          </a:blip>
          <a:srcRect/>
          <a:stretch/>
        </p:blipFill>
        <p:spPr>
          <a:xfrm>
            <a:off x="0" y="28575"/>
            <a:ext cx="704850" cy="704850"/>
          </a:xfrm>
          <a:prstGeom prst="rect">
            <a:avLst/>
          </a:prstGeom>
          <a:noFill/>
          <a:ln>
            <a:noFill/>
          </a:ln>
        </p:spPr>
      </p:pic>
      <p:sp>
        <p:nvSpPr>
          <p:cNvPr id="37" name="Google Shape;37;p13"/>
          <p:cNvSpPr txBox="1">
            <a:spLocks noGrp="1"/>
          </p:cNvSpPr>
          <p:nvPr>
            <p:ph type="body" idx="1"/>
          </p:nvPr>
        </p:nvSpPr>
        <p:spPr>
          <a:xfrm>
            <a:off x="838200" y="1894114"/>
            <a:ext cx="10515599" cy="4180115"/>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1000"/>
              </a:spcBef>
              <a:spcAft>
                <a:spcPts val="0"/>
              </a:spcAft>
              <a:buClr>
                <a:schemeClr val="dk1"/>
              </a:buClr>
              <a:buSzPts val="2800"/>
              <a:buFont typeface="Arial"/>
              <a:buChar char="•"/>
              <a:defRPr sz="28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8" name="Google Shape;38;p13"/>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39"/>
        <p:cNvGrpSpPr/>
        <p:nvPr/>
      </p:nvGrpSpPr>
      <p:grpSpPr>
        <a:xfrm>
          <a:off x="0" y="0"/>
          <a:ext cx="0" cy="0"/>
          <a:chOff x="0" y="0"/>
          <a:chExt cx="0" cy="0"/>
        </a:xfrm>
      </p:grpSpPr>
      <p:pic>
        <p:nvPicPr>
          <p:cNvPr id="40" name="Google Shape;40;p9"/>
          <p:cNvPicPr preferRelativeResize="0"/>
          <p:nvPr/>
        </p:nvPicPr>
        <p:blipFill rotWithShape="1">
          <a:blip r:embed="rId2">
            <a:alphaModFix/>
          </a:blip>
          <a:srcRect/>
          <a:stretch/>
        </p:blipFill>
        <p:spPr>
          <a:xfrm>
            <a:off x="0" y="0"/>
            <a:ext cx="5581650" cy="6858000"/>
          </a:xfrm>
          <a:prstGeom prst="rect">
            <a:avLst/>
          </a:prstGeom>
          <a:noFill/>
          <a:ln>
            <a:noFill/>
          </a:ln>
        </p:spPr>
      </p:pic>
      <p:sp>
        <p:nvSpPr>
          <p:cNvPr id="41" name="Google Shape;41;p9"/>
          <p:cNvSpPr txBox="1">
            <a:spLocks noGrp="1"/>
          </p:cNvSpPr>
          <p:nvPr>
            <p:ph type="title"/>
          </p:nvPr>
        </p:nvSpPr>
        <p:spPr>
          <a:xfrm>
            <a:off x="4657724" y="2809875"/>
            <a:ext cx="6696075" cy="19097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9"/>
          <p:cNvSpPr txBox="1">
            <a:spLocks noGrp="1"/>
          </p:cNvSpPr>
          <p:nvPr>
            <p:ph type="subTitle" idx="1"/>
          </p:nvPr>
        </p:nvSpPr>
        <p:spPr>
          <a:xfrm>
            <a:off x="4657725" y="5028803"/>
            <a:ext cx="6696074" cy="3651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1000"/>
              </a:spcBef>
              <a:spcAft>
                <a:spcPts val="0"/>
              </a:spcAft>
              <a:buClr>
                <a:srgbClr val="757070"/>
              </a:buClr>
              <a:buSzPts val="1600"/>
              <a:buNone/>
              <a:defRPr sz="1600">
                <a:solidFill>
                  <a:srgbClr val="75707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3" name="Google Shape;43;p9"/>
          <p:cNvSpPr txBox="1">
            <a:spLocks noGrp="1"/>
          </p:cNvSpPr>
          <p:nvPr>
            <p:ph type="ftr" idx="11"/>
          </p:nvPr>
        </p:nvSpPr>
        <p:spPr>
          <a:xfrm>
            <a:off x="6743699" y="6356350"/>
            <a:ext cx="2543175"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9"/>
          <p:cNvSpPr txBox="1">
            <a:spLocks noGrp="1"/>
          </p:cNvSpPr>
          <p:nvPr>
            <p:ph type="sldNum" idx="12"/>
          </p:nvPr>
        </p:nvSpPr>
        <p:spPr>
          <a:xfrm>
            <a:off x="9658350" y="6356350"/>
            <a:ext cx="169545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45" name="Google Shape;45;p9" descr="BITS Pilani logo"/>
          <p:cNvPicPr preferRelativeResize="0"/>
          <p:nvPr/>
        </p:nvPicPr>
        <p:blipFill rotWithShape="1">
          <a:blip r:embed="rId3">
            <a:alphaModFix/>
          </a:blip>
          <a:srcRect/>
          <a:stretch/>
        </p:blipFill>
        <p:spPr>
          <a:xfrm>
            <a:off x="8836705" y="192510"/>
            <a:ext cx="3338739" cy="865907"/>
          </a:xfrm>
          <a:prstGeom prst="rect">
            <a:avLst/>
          </a:prstGeom>
          <a:noFill/>
          <a:ln>
            <a:noFill/>
          </a:ln>
        </p:spPr>
      </p:pic>
      <p:sp>
        <p:nvSpPr>
          <p:cNvPr id="46" name="Google Shape;46;p9"/>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ree Content">
  <p:cSld name="Three Content">
    <p:bg>
      <p:bgPr>
        <a:solidFill>
          <a:schemeClr val="lt1"/>
        </a:solidFill>
        <a:effectLst/>
      </p:bgPr>
    </p:bg>
    <p:spTree>
      <p:nvGrpSpPr>
        <p:cNvPr id="1" name="Shape 47"/>
        <p:cNvGrpSpPr/>
        <p:nvPr/>
      </p:nvGrpSpPr>
      <p:grpSpPr>
        <a:xfrm>
          <a:off x="0" y="0"/>
          <a:ext cx="0" cy="0"/>
          <a:chOff x="0" y="0"/>
          <a:chExt cx="0" cy="0"/>
        </a:xfrm>
      </p:grpSpPr>
      <p:sp>
        <p:nvSpPr>
          <p:cNvPr id="48" name="Google Shape;48;p19"/>
          <p:cNvSpPr txBox="1">
            <a:spLocks noGrp="1"/>
          </p:cNvSpPr>
          <p:nvPr>
            <p:ph type="title"/>
          </p:nvPr>
        </p:nvSpPr>
        <p:spPr>
          <a:xfrm>
            <a:off x="1243104" y="443369"/>
            <a:ext cx="10110696" cy="10515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9"/>
          <p:cNvSpPr txBox="1">
            <a:spLocks noGrp="1"/>
          </p:cNvSpPr>
          <p:nvPr>
            <p:ph type="body" idx="1"/>
          </p:nvPr>
        </p:nvSpPr>
        <p:spPr>
          <a:xfrm>
            <a:off x="1243103" y="1932770"/>
            <a:ext cx="2882475"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19"/>
          <p:cNvSpPr txBox="1">
            <a:spLocks noGrp="1"/>
          </p:cNvSpPr>
          <p:nvPr>
            <p:ph type="body" idx="2"/>
          </p:nvPr>
        </p:nvSpPr>
        <p:spPr>
          <a:xfrm>
            <a:off x="1243104" y="3056709"/>
            <a:ext cx="2882475" cy="277576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9"/>
          <p:cNvSpPr txBox="1">
            <a:spLocks noGrp="1"/>
          </p:cNvSpPr>
          <p:nvPr>
            <p:ph type="body" idx="3"/>
          </p:nvPr>
        </p:nvSpPr>
        <p:spPr>
          <a:xfrm>
            <a:off x="4647664" y="1953443"/>
            <a:ext cx="289667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9"/>
          <p:cNvSpPr txBox="1">
            <a:spLocks noGrp="1"/>
          </p:cNvSpPr>
          <p:nvPr>
            <p:ph type="body" idx="4"/>
          </p:nvPr>
        </p:nvSpPr>
        <p:spPr>
          <a:xfrm>
            <a:off x="4647665" y="3056709"/>
            <a:ext cx="2896671" cy="277576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9"/>
          <p:cNvSpPr txBox="1">
            <a:spLocks noGrp="1"/>
          </p:cNvSpPr>
          <p:nvPr>
            <p:ph type="body" idx="5"/>
          </p:nvPr>
        </p:nvSpPr>
        <p:spPr>
          <a:xfrm>
            <a:off x="8066420" y="1958896"/>
            <a:ext cx="2882475"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19"/>
          <p:cNvSpPr txBox="1">
            <a:spLocks noGrp="1"/>
          </p:cNvSpPr>
          <p:nvPr>
            <p:ph type="body" idx="6"/>
          </p:nvPr>
        </p:nvSpPr>
        <p:spPr>
          <a:xfrm>
            <a:off x="8066421" y="3056709"/>
            <a:ext cx="2882475" cy="277576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57" name="Google Shape;57;p19" descr="Birla Institute of Technology and Science, Pilani | Logopedia | Fandom"/>
          <p:cNvPicPr preferRelativeResize="0"/>
          <p:nvPr/>
        </p:nvPicPr>
        <p:blipFill rotWithShape="1">
          <a:blip r:embed="rId2">
            <a:alphaModFix/>
          </a:blip>
          <a:srcRect/>
          <a:stretch/>
        </p:blipFill>
        <p:spPr>
          <a:xfrm>
            <a:off x="0" y="28575"/>
            <a:ext cx="704850" cy="7048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p:cSld name="Table">
    <p:bg>
      <p:bgPr>
        <a:solidFill>
          <a:schemeClr val="lt1"/>
        </a:solidFill>
        <a:effectLst/>
      </p:bgPr>
    </p:bg>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838200" y="365125"/>
            <a:ext cx="10515599" cy="1246199"/>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000"/>
              <a:buFont typeface="Calibri"/>
              <a:buNone/>
              <a:defRPr sz="4000" b="1"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62" name="Google Shape;62;p8" descr="Birla Institute of Technology and Science, Pilani | Logopedia | Fandom"/>
          <p:cNvPicPr preferRelativeResize="0"/>
          <p:nvPr/>
        </p:nvPicPr>
        <p:blipFill rotWithShape="1">
          <a:blip r:embed="rId2">
            <a:alphaModFix/>
          </a:blip>
          <a:srcRect/>
          <a:stretch/>
        </p:blipFill>
        <p:spPr>
          <a:xfrm>
            <a:off x="0" y="28575"/>
            <a:ext cx="704850" cy="704850"/>
          </a:xfrm>
          <a:prstGeom prst="rect">
            <a:avLst/>
          </a:prstGeom>
          <a:noFill/>
          <a:ln>
            <a:noFill/>
          </a:ln>
        </p:spPr>
      </p:pic>
      <p:sp>
        <p:nvSpPr>
          <p:cNvPr id="63" name="Google Shape;63;p8"/>
          <p:cNvSpPr txBox="1">
            <a:spLocks noGrp="1"/>
          </p:cNvSpPr>
          <p:nvPr>
            <p:ph type="body" idx="1"/>
          </p:nvPr>
        </p:nvSpPr>
        <p:spPr>
          <a:xfrm>
            <a:off x="838200" y="1894114"/>
            <a:ext cx="10515599" cy="4180115"/>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1000"/>
              </a:spcBef>
              <a:spcAft>
                <a:spcPts val="0"/>
              </a:spcAft>
              <a:buClr>
                <a:schemeClr val="dk1"/>
              </a:buClr>
              <a:buSzPts val="2800"/>
              <a:buFont typeface="Arial"/>
              <a:buChar char="•"/>
              <a:defRPr sz="28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genda" type="obj">
  <p:cSld name="OBJECT">
    <p:bg>
      <p:bgPr>
        <a:solidFill>
          <a:schemeClr val="dk1"/>
        </a:solidFill>
        <a:effectLst/>
      </p:bgPr>
    </p:bg>
    <p:spTree>
      <p:nvGrpSpPr>
        <p:cNvPr id="1" name="Shape 64"/>
        <p:cNvGrpSpPr/>
        <p:nvPr/>
      </p:nvGrpSpPr>
      <p:grpSpPr>
        <a:xfrm>
          <a:off x="0" y="0"/>
          <a:ext cx="0" cy="0"/>
          <a:chOff x="0" y="0"/>
          <a:chExt cx="0" cy="0"/>
        </a:xfrm>
      </p:grpSpPr>
      <p:pic>
        <p:nvPicPr>
          <p:cNvPr id="65" name="Google Shape;65;p10"/>
          <p:cNvPicPr preferRelativeResize="0"/>
          <p:nvPr/>
        </p:nvPicPr>
        <p:blipFill rotWithShape="1">
          <a:blip r:embed="rId2">
            <a:alphaModFix/>
          </a:blip>
          <a:srcRect t="18301" r="28339" b="23070"/>
          <a:stretch/>
        </p:blipFill>
        <p:spPr>
          <a:xfrm>
            <a:off x="5488815" y="0"/>
            <a:ext cx="6703185" cy="6858000"/>
          </a:xfrm>
          <a:prstGeom prst="rect">
            <a:avLst/>
          </a:prstGeom>
          <a:noFill/>
          <a:ln>
            <a:noFill/>
          </a:ln>
        </p:spPr>
      </p:pic>
      <p:sp>
        <p:nvSpPr>
          <p:cNvPr id="66" name="Google Shape;66;p10"/>
          <p:cNvSpPr txBox="1">
            <a:spLocks noGrp="1"/>
          </p:cNvSpPr>
          <p:nvPr>
            <p:ph type="title"/>
          </p:nvPr>
        </p:nvSpPr>
        <p:spPr>
          <a:xfrm>
            <a:off x="1333500" y="1020445"/>
            <a:ext cx="2895600" cy="13255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2800"/>
              <a:buFont typeface="Calibri"/>
              <a:buNone/>
              <a:defRPr sz="2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body" idx="1"/>
          </p:nvPr>
        </p:nvSpPr>
        <p:spPr>
          <a:xfrm>
            <a:off x="1333500" y="2924175"/>
            <a:ext cx="2895600" cy="2519363"/>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chemeClr val="lt1"/>
              </a:buClr>
              <a:buSzPts val="1400"/>
              <a:buNone/>
              <a:defRPr sz="1400">
                <a:solidFill>
                  <a:schemeClr val="lt1"/>
                </a:solidFill>
              </a:defRPr>
            </a:lvl1pPr>
            <a:lvl2pPr marL="914400" lvl="1" indent="-228600" algn="l">
              <a:lnSpc>
                <a:spcPct val="150000"/>
              </a:lnSpc>
              <a:spcBef>
                <a:spcPts val="500"/>
              </a:spcBef>
              <a:spcAft>
                <a:spcPts val="0"/>
              </a:spcAft>
              <a:buClr>
                <a:schemeClr val="lt1"/>
              </a:buClr>
              <a:buSzPts val="1400"/>
              <a:buNone/>
              <a:defRPr sz="1400">
                <a:solidFill>
                  <a:schemeClr val="lt1"/>
                </a:solidFill>
              </a:defRPr>
            </a:lvl2pPr>
            <a:lvl3pPr marL="1371600" lvl="2" indent="-228600" algn="l">
              <a:lnSpc>
                <a:spcPct val="150000"/>
              </a:lnSpc>
              <a:spcBef>
                <a:spcPts val="500"/>
              </a:spcBef>
              <a:spcAft>
                <a:spcPts val="0"/>
              </a:spcAft>
              <a:buClr>
                <a:schemeClr val="lt1"/>
              </a:buClr>
              <a:buSzPts val="1400"/>
              <a:buNone/>
              <a:defRPr sz="1400">
                <a:solidFill>
                  <a:schemeClr val="lt1"/>
                </a:solidFill>
              </a:defRPr>
            </a:lvl3pPr>
            <a:lvl4pPr marL="1828800" lvl="3" indent="-228600" algn="l">
              <a:lnSpc>
                <a:spcPct val="150000"/>
              </a:lnSpc>
              <a:spcBef>
                <a:spcPts val="500"/>
              </a:spcBef>
              <a:spcAft>
                <a:spcPts val="0"/>
              </a:spcAft>
              <a:buClr>
                <a:schemeClr val="lt1"/>
              </a:buClr>
              <a:buSzPts val="1400"/>
              <a:buNone/>
              <a:defRPr sz="1400">
                <a:solidFill>
                  <a:schemeClr val="lt1"/>
                </a:solidFill>
              </a:defRPr>
            </a:lvl4pPr>
            <a:lvl5pPr marL="2286000" lvl="4" indent="-228600" algn="l">
              <a:lnSpc>
                <a:spcPct val="150000"/>
              </a:lnSpc>
              <a:spcBef>
                <a:spcPts val="500"/>
              </a:spcBef>
              <a:spcAft>
                <a:spcPts val="0"/>
              </a:spcAft>
              <a:buClr>
                <a:schemeClr val="lt1"/>
              </a:buClr>
              <a:buSzPts val="1400"/>
              <a:buNone/>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0"/>
          <p:cNvSpPr txBox="1">
            <a:spLocks noGrp="1"/>
          </p:cNvSpPr>
          <p:nvPr>
            <p:ph type="ftr" idx="11"/>
          </p:nvPr>
        </p:nvSpPr>
        <p:spPr>
          <a:xfrm>
            <a:off x="2669886" y="6356349"/>
            <a:ext cx="2482842"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txBox="1">
            <a:spLocks noGrp="1"/>
          </p:cNvSpPr>
          <p:nvPr>
            <p:ph type="sldNum" idx="12"/>
          </p:nvPr>
        </p:nvSpPr>
        <p:spPr>
          <a:xfrm>
            <a:off x="5536305" y="6356350"/>
            <a:ext cx="987552"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Introduction" type="secHead">
  <p:cSld name="SECTION_HEADER">
    <p:spTree>
      <p:nvGrpSpPr>
        <p:cNvPr id="1" name="Shape 70"/>
        <p:cNvGrpSpPr/>
        <p:nvPr/>
      </p:nvGrpSpPr>
      <p:grpSpPr>
        <a:xfrm>
          <a:off x="0" y="0"/>
          <a:ext cx="0" cy="0"/>
          <a:chOff x="0" y="0"/>
          <a:chExt cx="0" cy="0"/>
        </a:xfrm>
      </p:grpSpPr>
      <p:sp>
        <p:nvSpPr>
          <p:cNvPr id="71" name="Google Shape;71;p11"/>
          <p:cNvSpPr txBox="1">
            <a:spLocks noGrp="1"/>
          </p:cNvSpPr>
          <p:nvPr>
            <p:ph type="title"/>
          </p:nvPr>
        </p:nvSpPr>
        <p:spPr>
          <a:xfrm>
            <a:off x="468449" y="1671639"/>
            <a:ext cx="6005376" cy="65318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body" idx="1"/>
          </p:nvPr>
        </p:nvSpPr>
        <p:spPr>
          <a:xfrm>
            <a:off x="1362075" y="2586447"/>
            <a:ext cx="6005376" cy="3304902"/>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1000"/>
              </a:spcBef>
              <a:spcAft>
                <a:spcPts val="0"/>
              </a:spcAft>
              <a:buClr>
                <a:schemeClr val="dk1"/>
              </a:buClr>
              <a:buSzPts val="2400"/>
              <a:buFont typeface="Calibri"/>
              <a:buAutoNum type="arabicPeriod"/>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73" name="Google Shape;73;p11"/>
          <p:cNvSpPr txBox="1">
            <a:spLocks noGrp="1"/>
          </p:cNvSpPr>
          <p:nvPr>
            <p:ph type="ftr" idx="11"/>
          </p:nvPr>
        </p:nvSpPr>
        <p:spPr>
          <a:xfrm>
            <a:off x="2463800" y="6356350"/>
            <a:ext cx="3479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75" name="Google Shape;75;p11" descr="BITS Pilani logo"/>
          <p:cNvPicPr preferRelativeResize="0"/>
          <p:nvPr/>
        </p:nvPicPr>
        <p:blipFill rotWithShape="1">
          <a:blip r:embed="rId2">
            <a:alphaModFix/>
          </a:blip>
          <a:srcRect/>
          <a:stretch/>
        </p:blipFill>
        <p:spPr>
          <a:xfrm>
            <a:off x="384175" y="288928"/>
            <a:ext cx="3338739" cy="86590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Break" type="title">
  <p:cSld name="TITLE">
    <p:bg>
      <p:bgPr>
        <a:solidFill>
          <a:schemeClr val="dk1"/>
        </a:solidFill>
        <a:effectLst/>
      </p:bgPr>
    </p:bg>
    <p:spTree>
      <p:nvGrpSpPr>
        <p:cNvPr id="1" name="Shape 76"/>
        <p:cNvGrpSpPr/>
        <p:nvPr/>
      </p:nvGrpSpPr>
      <p:grpSpPr>
        <a:xfrm>
          <a:off x="0" y="0"/>
          <a:ext cx="0" cy="0"/>
          <a:chOff x="0" y="0"/>
          <a:chExt cx="0" cy="0"/>
        </a:xfrm>
      </p:grpSpPr>
      <p:sp>
        <p:nvSpPr>
          <p:cNvPr id="77" name="Google Shape;77;p12"/>
          <p:cNvSpPr txBox="1">
            <a:spLocks noGrp="1"/>
          </p:cNvSpPr>
          <p:nvPr>
            <p:ph type="ctrTitle"/>
          </p:nvPr>
        </p:nvSpPr>
        <p:spPr>
          <a:xfrm>
            <a:off x="6991350" y="2148840"/>
            <a:ext cx="4179570" cy="17155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subTitle" idx="1"/>
          </p:nvPr>
        </p:nvSpPr>
        <p:spPr>
          <a:xfrm>
            <a:off x="6991350" y="3962003"/>
            <a:ext cx="4179570" cy="365125"/>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79" name="Google Shape;79;p12"/>
          <p:cNvPicPr preferRelativeResize="0"/>
          <p:nvPr/>
        </p:nvPicPr>
        <p:blipFill rotWithShape="1">
          <a:blip r:embed="rId2">
            <a:alphaModFix/>
          </a:blip>
          <a:srcRect/>
          <a:stretch/>
        </p:blipFill>
        <p:spPr>
          <a:xfrm>
            <a:off x="0" y="828675"/>
            <a:ext cx="5876925" cy="520065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eam Slide 4 People">
  <p:cSld name="Team Slide 4 People">
    <p:bg>
      <p:bgPr>
        <a:solidFill>
          <a:schemeClr val="lt1"/>
        </a:solidFill>
        <a:effectLst/>
      </p:bgPr>
    </p:bg>
    <p:spTree>
      <p:nvGrpSpPr>
        <p:cNvPr id="1" name="Shape 80"/>
        <p:cNvGrpSpPr/>
        <p:nvPr/>
      </p:nvGrpSpPr>
      <p:grpSpPr>
        <a:xfrm>
          <a:off x="0" y="0"/>
          <a:ext cx="0" cy="0"/>
          <a:chOff x="0" y="0"/>
          <a:chExt cx="0" cy="0"/>
        </a:xfrm>
      </p:grpSpPr>
      <p:sp>
        <p:nvSpPr>
          <p:cNvPr id="81" name="Google Shape;81;p14"/>
          <p:cNvSpPr txBox="1">
            <a:spLocks noGrp="1"/>
          </p:cNvSpPr>
          <p:nvPr>
            <p:ph type="title"/>
          </p:nvPr>
        </p:nvSpPr>
        <p:spPr>
          <a:xfrm>
            <a:off x="1228567" y="373362"/>
            <a:ext cx="10462689" cy="129868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4"/>
          <p:cNvSpPr>
            <a:spLocks noGrp="1"/>
          </p:cNvSpPr>
          <p:nvPr>
            <p:ph type="pic" idx="2"/>
          </p:nvPr>
        </p:nvSpPr>
        <p:spPr>
          <a:xfrm>
            <a:off x="1487181" y="2886074"/>
            <a:ext cx="1845511" cy="1845511"/>
          </a:xfrm>
          <a:prstGeom prst="rect">
            <a:avLst/>
          </a:prstGeom>
          <a:solidFill>
            <a:srgbClr val="F2F2F2"/>
          </a:solidFill>
          <a:ln>
            <a:noFill/>
          </a:ln>
        </p:spPr>
      </p:sp>
      <p:sp>
        <p:nvSpPr>
          <p:cNvPr id="83" name="Google Shape;83;p14"/>
          <p:cNvSpPr txBox="1">
            <a:spLocks noGrp="1"/>
          </p:cNvSpPr>
          <p:nvPr>
            <p:ph type="body" idx="1"/>
          </p:nvPr>
        </p:nvSpPr>
        <p:spPr>
          <a:xfrm>
            <a:off x="1228568" y="5084524"/>
            <a:ext cx="2317707"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4" name="Google Shape;84;p14"/>
          <p:cNvSpPr txBox="1">
            <a:spLocks noGrp="1"/>
          </p:cNvSpPr>
          <p:nvPr>
            <p:ph type="body" idx="3"/>
          </p:nvPr>
        </p:nvSpPr>
        <p:spPr>
          <a:xfrm>
            <a:off x="1487181" y="5464114"/>
            <a:ext cx="1845511"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5" name="Google Shape;85;p14"/>
          <p:cNvSpPr>
            <a:spLocks noGrp="1"/>
          </p:cNvSpPr>
          <p:nvPr>
            <p:ph type="pic" idx="4"/>
          </p:nvPr>
        </p:nvSpPr>
        <p:spPr>
          <a:xfrm>
            <a:off x="3836914" y="2886074"/>
            <a:ext cx="1845511" cy="1845511"/>
          </a:xfrm>
          <a:prstGeom prst="rect">
            <a:avLst/>
          </a:prstGeom>
          <a:solidFill>
            <a:srgbClr val="F2F2F2"/>
          </a:solidFill>
          <a:ln>
            <a:noFill/>
          </a:ln>
        </p:spPr>
      </p:sp>
      <p:sp>
        <p:nvSpPr>
          <p:cNvPr id="86" name="Google Shape;86;p14"/>
          <p:cNvSpPr txBox="1">
            <a:spLocks noGrp="1"/>
          </p:cNvSpPr>
          <p:nvPr>
            <p:ph type="body" idx="5"/>
          </p:nvPr>
        </p:nvSpPr>
        <p:spPr>
          <a:xfrm>
            <a:off x="3578300" y="5084524"/>
            <a:ext cx="2330816"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7" name="Google Shape;87;p14"/>
          <p:cNvSpPr txBox="1">
            <a:spLocks noGrp="1"/>
          </p:cNvSpPr>
          <p:nvPr>
            <p:ph type="body" idx="6"/>
          </p:nvPr>
        </p:nvSpPr>
        <p:spPr>
          <a:xfrm>
            <a:off x="3836913" y="5478796"/>
            <a:ext cx="1855949"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8" name="Google Shape;88;p14"/>
          <p:cNvSpPr>
            <a:spLocks noGrp="1"/>
          </p:cNvSpPr>
          <p:nvPr>
            <p:ph type="pic" idx="7"/>
          </p:nvPr>
        </p:nvSpPr>
        <p:spPr>
          <a:xfrm>
            <a:off x="6327578" y="2886074"/>
            <a:ext cx="1845511" cy="1845511"/>
          </a:xfrm>
          <a:prstGeom prst="rect">
            <a:avLst/>
          </a:prstGeom>
          <a:solidFill>
            <a:srgbClr val="F2F2F2"/>
          </a:solidFill>
          <a:ln>
            <a:noFill/>
          </a:ln>
        </p:spPr>
      </p:sp>
      <p:sp>
        <p:nvSpPr>
          <p:cNvPr id="89" name="Google Shape;89;p14"/>
          <p:cNvSpPr txBox="1">
            <a:spLocks noGrp="1"/>
          </p:cNvSpPr>
          <p:nvPr>
            <p:ph type="body" idx="8"/>
          </p:nvPr>
        </p:nvSpPr>
        <p:spPr>
          <a:xfrm>
            <a:off x="6068964" y="5084524"/>
            <a:ext cx="2317707"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0" name="Google Shape;90;p14"/>
          <p:cNvSpPr txBox="1">
            <a:spLocks noGrp="1"/>
          </p:cNvSpPr>
          <p:nvPr>
            <p:ph type="body" idx="9"/>
          </p:nvPr>
        </p:nvSpPr>
        <p:spPr>
          <a:xfrm>
            <a:off x="6327577" y="5478796"/>
            <a:ext cx="1845511"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1" name="Google Shape;91;p14"/>
          <p:cNvSpPr>
            <a:spLocks noGrp="1"/>
          </p:cNvSpPr>
          <p:nvPr>
            <p:ph type="pic" idx="13"/>
          </p:nvPr>
        </p:nvSpPr>
        <p:spPr>
          <a:xfrm>
            <a:off x="8747458" y="2886074"/>
            <a:ext cx="1845511" cy="1845511"/>
          </a:xfrm>
          <a:prstGeom prst="rect">
            <a:avLst/>
          </a:prstGeom>
          <a:solidFill>
            <a:srgbClr val="F2F2F2"/>
          </a:solidFill>
          <a:ln>
            <a:noFill/>
          </a:ln>
        </p:spPr>
      </p:sp>
      <p:sp>
        <p:nvSpPr>
          <p:cNvPr id="92" name="Google Shape;92;p14"/>
          <p:cNvSpPr txBox="1">
            <a:spLocks noGrp="1"/>
          </p:cNvSpPr>
          <p:nvPr>
            <p:ph type="body" idx="14"/>
          </p:nvPr>
        </p:nvSpPr>
        <p:spPr>
          <a:xfrm>
            <a:off x="8488845" y="5084524"/>
            <a:ext cx="2317706"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3" name="Google Shape;93;p14"/>
          <p:cNvSpPr txBox="1">
            <a:spLocks noGrp="1"/>
          </p:cNvSpPr>
          <p:nvPr>
            <p:ph type="body" idx="15"/>
          </p:nvPr>
        </p:nvSpPr>
        <p:spPr>
          <a:xfrm>
            <a:off x="8747458" y="5464114"/>
            <a:ext cx="184551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4" name="Google Shape;9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96" name="Google Shape;96;p14" descr="Birla Institute of Technology and Science, Pilani | Logopedia | Fandom"/>
          <p:cNvPicPr preferRelativeResize="0"/>
          <p:nvPr/>
        </p:nvPicPr>
        <p:blipFill rotWithShape="1">
          <a:blip r:embed="rId2">
            <a:alphaModFix/>
          </a:blip>
          <a:srcRect/>
          <a:stretch/>
        </p:blipFill>
        <p:spPr>
          <a:xfrm>
            <a:off x="0" y="28575"/>
            <a:ext cx="704850" cy="7048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am Slide 8 People">
  <p:cSld name="Team Slide 8 People">
    <p:bg>
      <p:bgPr>
        <a:solidFill>
          <a:schemeClr val="dk1"/>
        </a:solidFill>
        <a:effectLst/>
      </p:bgPr>
    </p:bg>
    <p:spTree>
      <p:nvGrpSpPr>
        <p:cNvPr id="1" name="Shape 97"/>
        <p:cNvGrpSpPr/>
        <p:nvPr/>
      </p:nvGrpSpPr>
      <p:grpSpPr>
        <a:xfrm>
          <a:off x="0" y="0"/>
          <a:ext cx="0" cy="0"/>
          <a:chOff x="0" y="0"/>
          <a:chExt cx="0" cy="0"/>
        </a:xfrm>
      </p:grpSpPr>
      <p:grpSp>
        <p:nvGrpSpPr>
          <p:cNvPr id="98" name="Google Shape;98;p15"/>
          <p:cNvGrpSpPr/>
          <p:nvPr/>
        </p:nvGrpSpPr>
        <p:grpSpPr>
          <a:xfrm>
            <a:off x="0" y="473953"/>
            <a:ext cx="12192000" cy="5621336"/>
            <a:chOff x="0" y="473953"/>
            <a:chExt cx="12192000" cy="5621336"/>
          </a:xfrm>
        </p:grpSpPr>
        <p:pic>
          <p:nvPicPr>
            <p:cNvPr id="99" name="Google Shape;99;p15"/>
            <p:cNvPicPr preferRelativeResize="0"/>
            <p:nvPr/>
          </p:nvPicPr>
          <p:blipFill rotWithShape="1">
            <a:blip r:embed="rId2">
              <a:alphaModFix/>
            </a:blip>
            <a:srcRect/>
            <a:stretch/>
          </p:blipFill>
          <p:spPr>
            <a:xfrm>
              <a:off x="0" y="473953"/>
              <a:ext cx="2057400" cy="1647825"/>
            </a:xfrm>
            <a:prstGeom prst="rect">
              <a:avLst/>
            </a:prstGeom>
            <a:noFill/>
            <a:ln>
              <a:noFill/>
            </a:ln>
          </p:spPr>
        </p:pic>
        <p:pic>
          <p:nvPicPr>
            <p:cNvPr id="100" name="Google Shape;100;p15"/>
            <p:cNvPicPr preferRelativeResize="0"/>
            <p:nvPr/>
          </p:nvPicPr>
          <p:blipFill rotWithShape="1">
            <a:blip r:embed="rId3">
              <a:alphaModFix/>
            </a:blip>
            <a:srcRect/>
            <a:stretch/>
          </p:blipFill>
          <p:spPr>
            <a:xfrm>
              <a:off x="11049000" y="5180889"/>
              <a:ext cx="1143000" cy="914400"/>
            </a:xfrm>
            <a:prstGeom prst="rect">
              <a:avLst/>
            </a:prstGeom>
            <a:noFill/>
            <a:ln>
              <a:noFill/>
            </a:ln>
          </p:spPr>
        </p:pic>
      </p:grpSp>
      <p:sp>
        <p:nvSpPr>
          <p:cNvPr id="101" name="Google Shape;101;p15"/>
          <p:cNvSpPr txBox="1">
            <a:spLocks noGrp="1"/>
          </p:cNvSpPr>
          <p:nvPr>
            <p:ph type="title"/>
          </p:nvPr>
        </p:nvSpPr>
        <p:spPr>
          <a:xfrm>
            <a:off x="1885156" y="892177"/>
            <a:ext cx="8421688"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2800"/>
              <a:buFont typeface="Calibri"/>
              <a:buNone/>
              <a:defRPr sz="28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15"/>
          <p:cNvSpPr>
            <a:spLocks noGrp="1"/>
          </p:cNvSpPr>
          <p:nvPr>
            <p:ph type="pic" idx="2"/>
          </p:nvPr>
        </p:nvSpPr>
        <p:spPr>
          <a:xfrm>
            <a:off x="1877176" y="2428875"/>
            <a:ext cx="1066800" cy="1066800"/>
          </a:xfrm>
          <a:prstGeom prst="rect">
            <a:avLst/>
          </a:prstGeom>
          <a:solidFill>
            <a:schemeClr val="lt1"/>
          </a:solidFill>
          <a:ln>
            <a:noFill/>
          </a:ln>
        </p:spPr>
      </p:sp>
      <p:sp>
        <p:nvSpPr>
          <p:cNvPr id="103" name="Google Shape;103;p15"/>
          <p:cNvSpPr txBox="1">
            <a:spLocks noGrp="1"/>
          </p:cNvSpPr>
          <p:nvPr>
            <p:ph type="body" idx="1"/>
          </p:nvPr>
        </p:nvSpPr>
        <p:spPr>
          <a:xfrm>
            <a:off x="1500168" y="3654378"/>
            <a:ext cx="182880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4" name="Google Shape;104;p15"/>
          <p:cNvSpPr txBox="1">
            <a:spLocks noGrp="1"/>
          </p:cNvSpPr>
          <p:nvPr>
            <p:ph type="body" idx="3"/>
          </p:nvPr>
        </p:nvSpPr>
        <p:spPr>
          <a:xfrm>
            <a:off x="1500168" y="3809747"/>
            <a:ext cx="1828800"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15"/>
          <p:cNvSpPr>
            <a:spLocks noGrp="1"/>
          </p:cNvSpPr>
          <p:nvPr>
            <p:ph type="pic" idx="4"/>
          </p:nvPr>
        </p:nvSpPr>
        <p:spPr>
          <a:xfrm>
            <a:off x="4226270" y="2428875"/>
            <a:ext cx="1066800" cy="1066800"/>
          </a:xfrm>
          <a:prstGeom prst="rect">
            <a:avLst/>
          </a:prstGeom>
          <a:solidFill>
            <a:schemeClr val="lt1"/>
          </a:solidFill>
          <a:ln>
            <a:noFill/>
          </a:ln>
        </p:spPr>
      </p:sp>
      <p:sp>
        <p:nvSpPr>
          <p:cNvPr id="106" name="Google Shape;106;p15"/>
          <p:cNvSpPr txBox="1">
            <a:spLocks noGrp="1"/>
          </p:cNvSpPr>
          <p:nvPr>
            <p:ph type="body" idx="5"/>
          </p:nvPr>
        </p:nvSpPr>
        <p:spPr>
          <a:xfrm>
            <a:off x="3849262" y="3654378"/>
            <a:ext cx="182880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15"/>
          <p:cNvSpPr txBox="1">
            <a:spLocks noGrp="1"/>
          </p:cNvSpPr>
          <p:nvPr>
            <p:ph type="body" idx="6"/>
          </p:nvPr>
        </p:nvSpPr>
        <p:spPr>
          <a:xfrm>
            <a:off x="3849262" y="3809747"/>
            <a:ext cx="1828800"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8" name="Google Shape;108;p15"/>
          <p:cNvSpPr>
            <a:spLocks noGrp="1"/>
          </p:cNvSpPr>
          <p:nvPr>
            <p:ph type="pic" idx="7"/>
          </p:nvPr>
        </p:nvSpPr>
        <p:spPr>
          <a:xfrm>
            <a:off x="6655584" y="2428875"/>
            <a:ext cx="1066800" cy="1066800"/>
          </a:xfrm>
          <a:prstGeom prst="rect">
            <a:avLst/>
          </a:prstGeom>
          <a:solidFill>
            <a:schemeClr val="lt1"/>
          </a:solidFill>
          <a:ln>
            <a:noFill/>
          </a:ln>
        </p:spPr>
      </p:sp>
      <p:sp>
        <p:nvSpPr>
          <p:cNvPr id="109" name="Google Shape;109;p15"/>
          <p:cNvSpPr txBox="1">
            <a:spLocks noGrp="1"/>
          </p:cNvSpPr>
          <p:nvPr>
            <p:ph type="body" idx="8"/>
          </p:nvPr>
        </p:nvSpPr>
        <p:spPr>
          <a:xfrm>
            <a:off x="6198355" y="3654378"/>
            <a:ext cx="2105135"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0" name="Google Shape;110;p15"/>
          <p:cNvSpPr txBox="1">
            <a:spLocks noGrp="1"/>
          </p:cNvSpPr>
          <p:nvPr>
            <p:ph type="body" idx="9"/>
          </p:nvPr>
        </p:nvSpPr>
        <p:spPr>
          <a:xfrm>
            <a:off x="6095999" y="3809747"/>
            <a:ext cx="2299855"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1" name="Google Shape;111;p15"/>
          <p:cNvSpPr>
            <a:spLocks noGrp="1"/>
          </p:cNvSpPr>
          <p:nvPr>
            <p:ph type="pic" idx="13"/>
          </p:nvPr>
        </p:nvSpPr>
        <p:spPr>
          <a:xfrm>
            <a:off x="9136814" y="2428875"/>
            <a:ext cx="1066800" cy="1066800"/>
          </a:xfrm>
          <a:prstGeom prst="rect">
            <a:avLst/>
          </a:prstGeom>
          <a:solidFill>
            <a:schemeClr val="lt1"/>
          </a:solidFill>
          <a:ln>
            <a:noFill/>
          </a:ln>
        </p:spPr>
      </p:sp>
      <p:sp>
        <p:nvSpPr>
          <p:cNvPr id="112" name="Google Shape;112;p15"/>
          <p:cNvSpPr txBox="1">
            <a:spLocks noGrp="1"/>
          </p:cNvSpPr>
          <p:nvPr>
            <p:ph type="body" idx="14"/>
          </p:nvPr>
        </p:nvSpPr>
        <p:spPr>
          <a:xfrm>
            <a:off x="8759806" y="3654378"/>
            <a:ext cx="182880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3" name="Google Shape;113;p15"/>
          <p:cNvSpPr txBox="1">
            <a:spLocks noGrp="1"/>
          </p:cNvSpPr>
          <p:nvPr>
            <p:ph type="body" idx="15"/>
          </p:nvPr>
        </p:nvSpPr>
        <p:spPr>
          <a:xfrm>
            <a:off x="8744480" y="3809747"/>
            <a:ext cx="1844126"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4" name="Google Shape;114;p15"/>
          <p:cNvSpPr>
            <a:spLocks noGrp="1"/>
          </p:cNvSpPr>
          <p:nvPr>
            <p:ph type="pic" idx="16"/>
          </p:nvPr>
        </p:nvSpPr>
        <p:spPr>
          <a:xfrm>
            <a:off x="1877176" y="4287711"/>
            <a:ext cx="1066800" cy="1066800"/>
          </a:xfrm>
          <a:prstGeom prst="rect">
            <a:avLst/>
          </a:prstGeom>
          <a:solidFill>
            <a:schemeClr val="lt1"/>
          </a:solidFill>
          <a:ln>
            <a:noFill/>
          </a:ln>
        </p:spPr>
      </p:sp>
      <p:sp>
        <p:nvSpPr>
          <p:cNvPr id="115" name="Google Shape;115;p15"/>
          <p:cNvSpPr txBox="1">
            <a:spLocks noGrp="1"/>
          </p:cNvSpPr>
          <p:nvPr>
            <p:ph type="body" idx="17"/>
          </p:nvPr>
        </p:nvSpPr>
        <p:spPr>
          <a:xfrm>
            <a:off x="1500168" y="5513214"/>
            <a:ext cx="182880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15"/>
          <p:cNvSpPr txBox="1">
            <a:spLocks noGrp="1"/>
          </p:cNvSpPr>
          <p:nvPr>
            <p:ph type="body" idx="18"/>
          </p:nvPr>
        </p:nvSpPr>
        <p:spPr>
          <a:xfrm>
            <a:off x="1500168" y="5668583"/>
            <a:ext cx="1828800"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7" name="Google Shape;117;p15"/>
          <p:cNvSpPr>
            <a:spLocks noGrp="1"/>
          </p:cNvSpPr>
          <p:nvPr>
            <p:ph type="pic" idx="19"/>
          </p:nvPr>
        </p:nvSpPr>
        <p:spPr>
          <a:xfrm>
            <a:off x="4226270" y="4287711"/>
            <a:ext cx="1066800" cy="1066800"/>
          </a:xfrm>
          <a:prstGeom prst="rect">
            <a:avLst/>
          </a:prstGeom>
          <a:solidFill>
            <a:schemeClr val="lt1"/>
          </a:solidFill>
          <a:ln>
            <a:noFill/>
          </a:ln>
        </p:spPr>
      </p:sp>
      <p:sp>
        <p:nvSpPr>
          <p:cNvPr id="118" name="Google Shape;118;p15"/>
          <p:cNvSpPr txBox="1">
            <a:spLocks noGrp="1"/>
          </p:cNvSpPr>
          <p:nvPr>
            <p:ph type="body" idx="20"/>
          </p:nvPr>
        </p:nvSpPr>
        <p:spPr>
          <a:xfrm>
            <a:off x="3849262" y="5513214"/>
            <a:ext cx="182880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15"/>
          <p:cNvSpPr txBox="1">
            <a:spLocks noGrp="1"/>
          </p:cNvSpPr>
          <p:nvPr>
            <p:ph type="body" idx="21"/>
          </p:nvPr>
        </p:nvSpPr>
        <p:spPr>
          <a:xfrm>
            <a:off x="3849262" y="5668583"/>
            <a:ext cx="1828800"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0" name="Google Shape;120;p15"/>
          <p:cNvSpPr>
            <a:spLocks noGrp="1"/>
          </p:cNvSpPr>
          <p:nvPr>
            <p:ph type="pic" idx="22"/>
          </p:nvPr>
        </p:nvSpPr>
        <p:spPr>
          <a:xfrm>
            <a:off x="6655584" y="4287711"/>
            <a:ext cx="1066800" cy="1066800"/>
          </a:xfrm>
          <a:prstGeom prst="rect">
            <a:avLst/>
          </a:prstGeom>
          <a:solidFill>
            <a:schemeClr val="lt1"/>
          </a:solidFill>
          <a:ln>
            <a:noFill/>
          </a:ln>
        </p:spPr>
      </p:sp>
      <p:sp>
        <p:nvSpPr>
          <p:cNvPr id="121" name="Google Shape;121;p15"/>
          <p:cNvSpPr txBox="1">
            <a:spLocks noGrp="1"/>
          </p:cNvSpPr>
          <p:nvPr>
            <p:ph type="body" idx="23"/>
          </p:nvPr>
        </p:nvSpPr>
        <p:spPr>
          <a:xfrm>
            <a:off x="6339926" y="5513214"/>
            <a:ext cx="182880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15"/>
          <p:cNvSpPr txBox="1">
            <a:spLocks noGrp="1"/>
          </p:cNvSpPr>
          <p:nvPr>
            <p:ph type="body" idx="24"/>
          </p:nvPr>
        </p:nvSpPr>
        <p:spPr>
          <a:xfrm>
            <a:off x="6339926" y="5668583"/>
            <a:ext cx="1813474"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3" name="Google Shape;123;p15"/>
          <p:cNvSpPr>
            <a:spLocks noGrp="1"/>
          </p:cNvSpPr>
          <p:nvPr>
            <p:ph type="pic" idx="25"/>
          </p:nvPr>
        </p:nvSpPr>
        <p:spPr>
          <a:xfrm>
            <a:off x="9136814" y="4287711"/>
            <a:ext cx="1066800" cy="1066800"/>
          </a:xfrm>
          <a:prstGeom prst="rect">
            <a:avLst/>
          </a:prstGeom>
          <a:solidFill>
            <a:schemeClr val="lt1"/>
          </a:solidFill>
          <a:ln>
            <a:noFill/>
          </a:ln>
        </p:spPr>
      </p:sp>
      <p:sp>
        <p:nvSpPr>
          <p:cNvPr id="124" name="Google Shape;124;p15"/>
          <p:cNvSpPr txBox="1">
            <a:spLocks noGrp="1"/>
          </p:cNvSpPr>
          <p:nvPr>
            <p:ph type="body" idx="26"/>
          </p:nvPr>
        </p:nvSpPr>
        <p:spPr>
          <a:xfrm>
            <a:off x="8759806" y="5513214"/>
            <a:ext cx="1828800" cy="343061"/>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5" name="Google Shape;125;p15"/>
          <p:cNvSpPr txBox="1">
            <a:spLocks noGrp="1"/>
          </p:cNvSpPr>
          <p:nvPr>
            <p:ph type="body" idx="27"/>
          </p:nvPr>
        </p:nvSpPr>
        <p:spPr>
          <a:xfrm>
            <a:off x="8744480" y="5668583"/>
            <a:ext cx="1844126" cy="343061"/>
          </a:xfrm>
          <a:prstGeom prst="rect">
            <a:avLst/>
          </a:prstGeom>
          <a:noFill/>
          <a:ln>
            <a:noFill/>
          </a:ln>
        </p:spPr>
        <p:txBody>
          <a:bodyPr spcFirstLastPara="1" wrap="square" lIns="91425" tIns="45700" rIns="91425" bIns="45700" anchor="ctr" anchorCtr="0">
            <a:noAutofit/>
          </a:bodyPr>
          <a:lstStyle>
            <a:lvl1pPr marL="457200" lvl="0" indent="-2286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6" name="Google Shape;12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128"/>
        <p:cNvGrpSpPr/>
        <p:nvPr/>
      </p:nvGrpSpPr>
      <p:grpSpPr>
        <a:xfrm>
          <a:off x="0" y="0"/>
          <a:ext cx="0" cy="0"/>
          <a:chOff x="0" y="0"/>
          <a:chExt cx="0" cy="0"/>
        </a:xfrm>
      </p:grpSpPr>
      <p:sp>
        <p:nvSpPr>
          <p:cNvPr id="129" name="Google Shape;129;p17"/>
          <p:cNvSpPr/>
          <p:nvPr/>
        </p:nvSpPr>
        <p:spPr>
          <a:xfrm>
            <a:off x="2113884" y="0"/>
            <a:ext cx="10078116" cy="6858000"/>
          </a:xfrm>
          <a:custGeom>
            <a:avLst/>
            <a:gdLst/>
            <a:ahLst/>
            <a:cxnLst/>
            <a:rect l="l" t="t" r="r" b="b"/>
            <a:pathLst>
              <a:path w="10078116" h="6858000" extrusionOk="0">
                <a:moveTo>
                  <a:pt x="3793236" y="6858000"/>
                </a:moveTo>
                <a:lnTo>
                  <a:pt x="0" y="0"/>
                </a:lnTo>
                <a:lnTo>
                  <a:pt x="10078116" y="0"/>
                </a:lnTo>
                <a:lnTo>
                  <a:pt x="10078116" y="685800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0" name="Google Shape;130;p17"/>
          <p:cNvSpPr txBox="1">
            <a:spLocks noGrp="1"/>
          </p:cNvSpPr>
          <p:nvPr>
            <p:ph type="body" idx="1"/>
          </p:nvPr>
        </p:nvSpPr>
        <p:spPr>
          <a:xfrm>
            <a:off x="166074" y="1716780"/>
            <a:ext cx="2141764" cy="514350"/>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dk1"/>
              </a:buClr>
              <a:buSzPts val="2400"/>
              <a:buNone/>
              <a:defRPr sz="2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1" name="Google Shape;131;p17"/>
          <p:cNvSpPr txBox="1">
            <a:spLocks noGrp="1"/>
          </p:cNvSpPr>
          <p:nvPr>
            <p:ph type="body" idx="2"/>
          </p:nvPr>
        </p:nvSpPr>
        <p:spPr>
          <a:xfrm>
            <a:off x="732131" y="2793105"/>
            <a:ext cx="2141764" cy="514350"/>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dk1"/>
              </a:buClr>
              <a:buSzPts val="2000"/>
              <a:buNone/>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2" name="Google Shape;132;p17"/>
          <p:cNvSpPr txBox="1">
            <a:spLocks noGrp="1"/>
          </p:cNvSpPr>
          <p:nvPr>
            <p:ph type="body" idx="3"/>
          </p:nvPr>
        </p:nvSpPr>
        <p:spPr>
          <a:xfrm>
            <a:off x="1338556" y="3869430"/>
            <a:ext cx="2141764" cy="514350"/>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dk1"/>
              </a:buClr>
              <a:buSzPts val="2000"/>
              <a:buNone/>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p17"/>
          <p:cNvSpPr txBox="1">
            <a:spLocks noGrp="1"/>
          </p:cNvSpPr>
          <p:nvPr>
            <p:ph type="body" idx="4"/>
          </p:nvPr>
        </p:nvSpPr>
        <p:spPr>
          <a:xfrm>
            <a:off x="1922756" y="4958819"/>
            <a:ext cx="2141764" cy="514350"/>
          </a:xfrm>
          <a:prstGeom prst="rect">
            <a:avLst/>
          </a:prstGeom>
          <a:noFill/>
          <a:ln>
            <a:noFill/>
          </a:ln>
        </p:spPr>
        <p:txBody>
          <a:bodyPr spcFirstLastPara="1" wrap="square" lIns="91425" tIns="45700" rIns="91425" bIns="45700" anchor="ctr" anchorCtr="0">
            <a:normAutofit/>
          </a:bodyPr>
          <a:lstStyle>
            <a:lvl1pPr marL="457200" lvl="0" indent="-228600" algn="r">
              <a:lnSpc>
                <a:spcPct val="90000"/>
              </a:lnSpc>
              <a:spcBef>
                <a:spcPts val="1000"/>
              </a:spcBef>
              <a:spcAft>
                <a:spcPts val="0"/>
              </a:spcAft>
              <a:buClr>
                <a:schemeClr val="dk1"/>
              </a:buClr>
              <a:buSzPts val="2000"/>
              <a:buNone/>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17"/>
          <p:cNvSpPr txBox="1">
            <a:spLocks noGrp="1"/>
          </p:cNvSpPr>
          <p:nvPr>
            <p:ph type="body" idx="5"/>
          </p:nvPr>
        </p:nvSpPr>
        <p:spPr>
          <a:xfrm>
            <a:off x="4388473" y="1482898"/>
            <a:ext cx="5102680" cy="1010842"/>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1000"/>
              </a:spcBef>
              <a:spcAft>
                <a:spcPts val="0"/>
              </a:spcAft>
              <a:buClr>
                <a:schemeClr val="dk1"/>
              </a:buClr>
              <a:buSzPts val="2000"/>
              <a:buFont typeface="Arial"/>
              <a:buChar char="•"/>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5" name="Google Shape;135;p17"/>
          <p:cNvSpPr txBox="1">
            <a:spLocks noGrp="1"/>
          </p:cNvSpPr>
          <p:nvPr>
            <p:ph type="body" idx="6"/>
          </p:nvPr>
        </p:nvSpPr>
        <p:spPr>
          <a:xfrm>
            <a:off x="4986029" y="2604186"/>
            <a:ext cx="5102680" cy="1010842"/>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1000"/>
              </a:spcBef>
              <a:spcAft>
                <a:spcPts val="0"/>
              </a:spcAft>
              <a:buClr>
                <a:schemeClr val="dk1"/>
              </a:buClr>
              <a:buSzPts val="2000"/>
              <a:buFont typeface="Arial"/>
              <a:buChar char="•"/>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6" name="Google Shape;136;p17"/>
          <p:cNvSpPr txBox="1">
            <a:spLocks noGrp="1"/>
          </p:cNvSpPr>
          <p:nvPr>
            <p:ph type="body" idx="7"/>
          </p:nvPr>
        </p:nvSpPr>
        <p:spPr>
          <a:xfrm>
            <a:off x="5576938" y="3677018"/>
            <a:ext cx="5102680" cy="1010842"/>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1000"/>
              </a:spcBef>
              <a:spcAft>
                <a:spcPts val="0"/>
              </a:spcAft>
              <a:buClr>
                <a:schemeClr val="dk1"/>
              </a:buClr>
              <a:buSzPts val="2000"/>
              <a:buFont typeface="Arial"/>
              <a:buChar char="•"/>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7" name="Google Shape;137;p17"/>
          <p:cNvSpPr txBox="1">
            <a:spLocks noGrp="1"/>
          </p:cNvSpPr>
          <p:nvPr>
            <p:ph type="body" idx="8"/>
          </p:nvPr>
        </p:nvSpPr>
        <p:spPr>
          <a:xfrm>
            <a:off x="6175280" y="4785241"/>
            <a:ext cx="5102680" cy="1010842"/>
          </a:xfrm>
          <a:prstGeom prst="rect">
            <a:avLst/>
          </a:prstGeom>
          <a:noFill/>
          <a:ln>
            <a:noFill/>
          </a:ln>
        </p:spPr>
        <p:txBody>
          <a:bodyPr spcFirstLastPara="1" wrap="square" lIns="91425" tIns="45700" rIns="91425" bIns="45700" anchor="t" anchorCtr="0">
            <a:normAutofit/>
          </a:bodyPr>
          <a:lstStyle>
            <a:lvl1pPr marL="457200" lvl="0" indent="-355600" algn="l">
              <a:lnSpc>
                <a:spcPct val="100000"/>
              </a:lnSpc>
              <a:spcBef>
                <a:spcPts val="1000"/>
              </a:spcBef>
              <a:spcAft>
                <a:spcPts val="0"/>
              </a:spcAft>
              <a:buClr>
                <a:schemeClr val="dk1"/>
              </a:buClr>
              <a:buSzPts val="2000"/>
              <a:buFont typeface="Arial"/>
              <a:buChar char="•"/>
              <a:defRPr sz="20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8" name="Google Shape;138;p17"/>
          <p:cNvSpPr txBox="1">
            <a:spLocks noGrp="1"/>
          </p:cNvSpPr>
          <p:nvPr>
            <p:ph type="ftr" idx="11"/>
          </p:nvPr>
        </p:nvSpPr>
        <p:spPr>
          <a:xfrm>
            <a:off x="6749143" y="6356350"/>
            <a:ext cx="377598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17"/>
          <p:cNvSpPr txBox="1">
            <a:spLocks noGrp="1"/>
          </p:cNvSpPr>
          <p:nvPr>
            <p:ph type="sldNum" idx="12"/>
          </p:nvPr>
        </p:nvSpPr>
        <p:spPr>
          <a:xfrm>
            <a:off x="10810874" y="6356350"/>
            <a:ext cx="5429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40" name="Google Shape;140;p17"/>
          <p:cNvCxnSpPr/>
          <p:nvPr/>
        </p:nvCxnSpPr>
        <p:spPr>
          <a:xfrm>
            <a:off x="4353515" y="5259067"/>
            <a:ext cx="1513211" cy="0"/>
          </a:xfrm>
          <a:prstGeom prst="straightConnector1">
            <a:avLst/>
          </a:prstGeom>
          <a:noFill/>
          <a:ln w="9525" cap="flat" cmpd="sng">
            <a:solidFill>
              <a:schemeClr val="dk1"/>
            </a:solidFill>
            <a:prstDash val="solid"/>
            <a:miter lim="800000"/>
            <a:headEnd type="none" w="sm" len="sm"/>
            <a:tailEnd type="none" w="sm" len="sm"/>
          </a:ln>
        </p:spPr>
      </p:cxnSp>
      <p:cxnSp>
        <p:nvCxnSpPr>
          <p:cNvPr id="141" name="Google Shape;141;p17"/>
          <p:cNvCxnSpPr/>
          <p:nvPr/>
        </p:nvCxnSpPr>
        <p:spPr>
          <a:xfrm>
            <a:off x="3759917" y="4157459"/>
            <a:ext cx="1513211" cy="0"/>
          </a:xfrm>
          <a:prstGeom prst="straightConnector1">
            <a:avLst/>
          </a:prstGeom>
          <a:noFill/>
          <a:ln w="9525" cap="flat" cmpd="sng">
            <a:solidFill>
              <a:schemeClr val="dk1"/>
            </a:solidFill>
            <a:prstDash val="solid"/>
            <a:miter lim="800000"/>
            <a:headEnd type="none" w="sm" len="sm"/>
            <a:tailEnd type="none" w="sm" len="sm"/>
          </a:ln>
        </p:spPr>
      </p:cxnSp>
      <p:cxnSp>
        <p:nvCxnSpPr>
          <p:cNvPr id="142" name="Google Shape;142;p17"/>
          <p:cNvCxnSpPr/>
          <p:nvPr/>
        </p:nvCxnSpPr>
        <p:spPr>
          <a:xfrm>
            <a:off x="3173453" y="3081694"/>
            <a:ext cx="1513211" cy="0"/>
          </a:xfrm>
          <a:prstGeom prst="straightConnector1">
            <a:avLst/>
          </a:prstGeom>
          <a:noFill/>
          <a:ln w="9525" cap="flat" cmpd="sng">
            <a:solidFill>
              <a:schemeClr val="dk1"/>
            </a:solidFill>
            <a:prstDash val="solid"/>
            <a:miter lim="800000"/>
            <a:headEnd type="none" w="sm" len="sm"/>
            <a:tailEnd type="none" w="sm" len="sm"/>
          </a:ln>
        </p:spPr>
      </p:cxnSp>
      <p:cxnSp>
        <p:nvCxnSpPr>
          <p:cNvPr id="143" name="Google Shape;143;p17"/>
          <p:cNvCxnSpPr/>
          <p:nvPr/>
        </p:nvCxnSpPr>
        <p:spPr>
          <a:xfrm>
            <a:off x="2586263" y="2005091"/>
            <a:ext cx="1513211" cy="0"/>
          </a:xfrm>
          <a:prstGeom prst="straightConnector1">
            <a:avLst/>
          </a:prstGeom>
          <a:noFill/>
          <a:ln w="9525" cap="flat" cmpd="sng">
            <a:solidFill>
              <a:schemeClr val="dk1"/>
            </a:solidFill>
            <a:prstDash val="solid"/>
            <a:miter lim="800000"/>
            <a:headEnd type="none" w="sm" len="sm"/>
            <a:tailEnd type="none" w="sm" len="sm"/>
          </a:ln>
        </p:spPr>
      </p:cxnSp>
      <p:pic>
        <p:nvPicPr>
          <p:cNvPr id="144" name="Google Shape;144;p17" descr="Birla Institute of Technology and Science, Pilani | Logopedia | Fandom"/>
          <p:cNvPicPr preferRelativeResize="0"/>
          <p:nvPr/>
        </p:nvPicPr>
        <p:blipFill rotWithShape="1">
          <a:blip r:embed="rId2">
            <a:alphaModFix/>
          </a:blip>
          <a:srcRect/>
          <a:stretch/>
        </p:blipFill>
        <p:spPr>
          <a:xfrm>
            <a:off x="0" y="28575"/>
            <a:ext cx="704850" cy="704850"/>
          </a:xfrm>
          <a:prstGeom prst="rect">
            <a:avLst/>
          </a:prstGeom>
          <a:noFill/>
          <a:ln>
            <a:noFill/>
          </a:ln>
        </p:spPr>
      </p:pic>
      <p:sp>
        <p:nvSpPr>
          <p:cNvPr id="145" name="Google Shape;145;p17"/>
          <p:cNvSpPr txBox="1"/>
          <p:nvPr/>
        </p:nvSpPr>
        <p:spPr>
          <a:xfrm>
            <a:off x="729709" y="574358"/>
            <a:ext cx="6005376" cy="653184"/>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3200"/>
              <a:buFont typeface="Calibri"/>
              <a:buNone/>
            </a:pPr>
            <a:r>
              <a:rPr lang="en-US" sz="3200" b="0" i="0" u="none" strike="noStrike" cap="none">
                <a:solidFill>
                  <a:schemeClr val="dk1"/>
                </a:solidFill>
                <a:latin typeface="Calibri"/>
                <a:ea typeface="Calibri"/>
                <a:cs typeface="Calibri"/>
                <a:sym typeface="Calibri"/>
              </a:rPr>
              <a:t>Agenda</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ntent">
  <p:cSld name="Two Content">
    <p:bg>
      <p:bgPr>
        <a:solidFill>
          <a:schemeClr val="accent1"/>
        </a:solidFill>
        <a:effectLst/>
      </p:bgPr>
    </p:bg>
    <p:spTree>
      <p:nvGrpSpPr>
        <p:cNvPr id="1" name="Shape 146"/>
        <p:cNvGrpSpPr/>
        <p:nvPr/>
      </p:nvGrpSpPr>
      <p:grpSpPr>
        <a:xfrm>
          <a:off x="0" y="0"/>
          <a:ext cx="0" cy="0"/>
          <a:chOff x="0" y="0"/>
          <a:chExt cx="0" cy="0"/>
        </a:xfrm>
      </p:grpSpPr>
      <p:sp>
        <p:nvSpPr>
          <p:cNvPr id="147" name="Google Shape;147;p18"/>
          <p:cNvSpPr txBox="1">
            <a:spLocks noGrp="1"/>
          </p:cNvSpPr>
          <p:nvPr>
            <p:ph type="title"/>
          </p:nvPr>
        </p:nvSpPr>
        <p:spPr>
          <a:xfrm>
            <a:off x="1243104" y="443369"/>
            <a:ext cx="10110696" cy="105151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18"/>
          <p:cNvSpPr txBox="1">
            <a:spLocks noGrp="1"/>
          </p:cNvSpPr>
          <p:nvPr>
            <p:ph type="body" idx="1"/>
          </p:nvPr>
        </p:nvSpPr>
        <p:spPr>
          <a:xfrm>
            <a:off x="1243103" y="1932770"/>
            <a:ext cx="2882475"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9" name="Google Shape;149;p18"/>
          <p:cNvSpPr txBox="1">
            <a:spLocks noGrp="1"/>
          </p:cNvSpPr>
          <p:nvPr>
            <p:ph type="body" idx="2"/>
          </p:nvPr>
        </p:nvSpPr>
        <p:spPr>
          <a:xfrm>
            <a:off x="1243104" y="3056709"/>
            <a:ext cx="2882475" cy="277576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18"/>
          <p:cNvSpPr txBox="1">
            <a:spLocks noGrp="1"/>
          </p:cNvSpPr>
          <p:nvPr>
            <p:ph type="body" idx="3"/>
          </p:nvPr>
        </p:nvSpPr>
        <p:spPr>
          <a:xfrm>
            <a:off x="4647664" y="1953443"/>
            <a:ext cx="289667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51" name="Google Shape;151;p18"/>
          <p:cNvSpPr txBox="1">
            <a:spLocks noGrp="1"/>
          </p:cNvSpPr>
          <p:nvPr>
            <p:ph type="body" idx="4"/>
          </p:nvPr>
        </p:nvSpPr>
        <p:spPr>
          <a:xfrm>
            <a:off x="4647665" y="3056709"/>
            <a:ext cx="2896671" cy="277576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2" name="Google Shape;152;p18"/>
          <p:cNvSpPr txBox="1">
            <a:spLocks noGrp="1"/>
          </p:cNvSpPr>
          <p:nvPr>
            <p:ph type="body" idx="5"/>
          </p:nvPr>
        </p:nvSpPr>
        <p:spPr>
          <a:xfrm>
            <a:off x="8066420" y="1958896"/>
            <a:ext cx="2882475"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53" name="Google Shape;153;p18"/>
          <p:cNvSpPr txBox="1">
            <a:spLocks noGrp="1"/>
          </p:cNvSpPr>
          <p:nvPr>
            <p:ph type="body" idx="6"/>
          </p:nvPr>
        </p:nvSpPr>
        <p:spPr>
          <a:xfrm>
            <a:off x="8066421" y="3056709"/>
            <a:ext cx="2882475" cy="277576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400"/>
              <a:buNone/>
              <a:defRPr sz="14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400"/>
              <a:buNone/>
              <a:defRPr sz="1400"/>
            </a:lvl3pPr>
            <a:lvl4pPr marL="1828800" lvl="3" indent="-228600" algn="l">
              <a:lnSpc>
                <a:spcPct val="100000"/>
              </a:lnSpc>
              <a:spcBef>
                <a:spcPts val="500"/>
              </a:spcBef>
              <a:spcAft>
                <a:spcPts val="0"/>
              </a:spcAft>
              <a:buClr>
                <a:schemeClr val="dk1"/>
              </a:buClr>
              <a:buSzPts val="1400"/>
              <a:buNone/>
              <a:defRPr sz="1400"/>
            </a:lvl4pPr>
            <a:lvl5pPr marL="2286000" lvl="4" indent="-228600" algn="l">
              <a:lnSpc>
                <a:spcPct val="100000"/>
              </a:lnSpc>
              <a:spcBef>
                <a:spcPts val="500"/>
              </a:spcBef>
              <a:spcAft>
                <a:spcPts val="0"/>
              </a:spcAft>
              <a:buClr>
                <a:schemeClr val="dk1"/>
              </a:buClr>
              <a:buSzPts val="1400"/>
              <a:buNone/>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6" name="Google Shape;156;p18" descr="Birla Institute of Technology and Science, Pilani | Logopedia | Fandom"/>
          <p:cNvPicPr preferRelativeResize="0"/>
          <p:nvPr/>
        </p:nvPicPr>
        <p:blipFill rotWithShape="1">
          <a:blip r:embed="rId2">
            <a:alphaModFix/>
          </a:blip>
          <a:srcRect/>
          <a:stretch/>
        </p:blipFill>
        <p:spPr>
          <a:xfrm>
            <a:off x="0" y="28575"/>
            <a:ext cx="704850" cy="7048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ummary">
  <p:cSld name="Summary">
    <p:spTree>
      <p:nvGrpSpPr>
        <p:cNvPr id="1" name="Shape 157"/>
        <p:cNvGrpSpPr/>
        <p:nvPr/>
      </p:nvGrpSpPr>
      <p:grpSpPr>
        <a:xfrm>
          <a:off x="0" y="0"/>
          <a:ext cx="0" cy="0"/>
          <a:chOff x="0" y="0"/>
          <a:chExt cx="0" cy="0"/>
        </a:xfrm>
      </p:grpSpPr>
      <p:sp>
        <p:nvSpPr>
          <p:cNvPr id="158" name="Google Shape;158;p20"/>
          <p:cNvSpPr txBox="1">
            <a:spLocks noGrp="1"/>
          </p:cNvSpPr>
          <p:nvPr>
            <p:ph type="title"/>
          </p:nvPr>
        </p:nvSpPr>
        <p:spPr>
          <a:xfrm>
            <a:off x="3853543" y="1671639"/>
            <a:ext cx="6735082" cy="120491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20"/>
          <p:cNvSpPr txBox="1">
            <a:spLocks noGrp="1"/>
          </p:cNvSpPr>
          <p:nvPr>
            <p:ph type="body" idx="1"/>
          </p:nvPr>
        </p:nvSpPr>
        <p:spPr>
          <a:xfrm>
            <a:off x="3853543" y="3660774"/>
            <a:ext cx="6735082" cy="152558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60" name="Google Shape;16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62" name="Google Shape;162;p20" descr="BITS Pilani logo"/>
          <p:cNvPicPr preferRelativeResize="0"/>
          <p:nvPr/>
        </p:nvPicPr>
        <p:blipFill rotWithShape="1">
          <a:blip r:embed="rId2">
            <a:alphaModFix/>
          </a:blip>
          <a:srcRect/>
          <a:stretch/>
        </p:blipFill>
        <p:spPr>
          <a:xfrm>
            <a:off x="8836705" y="192510"/>
            <a:ext cx="3338739" cy="865907"/>
          </a:xfrm>
          <a:prstGeom prst="rect">
            <a:avLst/>
          </a:prstGeom>
          <a:noFill/>
          <a:ln>
            <a:noFill/>
          </a:ln>
        </p:spPr>
      </p:pic>
    </p:spTree>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losing">
  <p:cSld name="Closing">
    <p:bg>
      <p:bgPr>
        <a:solidFill>
          <a:schemeClr val="dk1"/>
        </a:solidFill>
        <a:effectLst/>
      </p:bgPr>
    </p:bg>
    <p:spTree>
      <p:nvGrpSpPr>
        <p:cNvPr id="1" name="Shape 163"/>
        <p:cNvGrpSpPr/>
        <p:nvPr/>
      </p:nvGrpSpPr>
      <p:grpSpPr>
        <a:xfrm>
          <a:off x="0" y="0"/>
          <a:ext cx="0" cy="0"/>
          <a:chOff x="0" y="0"/>
          <a:chExt cx="0" cy="0"/>
        </a:xfrm>
      </p:grpSpPr>
      <p:sp>
        <p:nvSpPr>
          <p:cNvPr id="164" name="Google Shape;164;p21"/>
          <p:cNvSpPr txBox="1">
            <a:spLocks noGrp="1"/>
          </p:cNvSpPr>
          <p:nvPr>
            <p:ph type="ctrTitle"/>
          </p:nvPr>
        </p:nvSpPr>
        <p:spPr>
          <a:xfrm>
            <a:off x="4267200" y="1615736"/>
            <a:ext cx="4179570" cy="152473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p21"/>
          <p:cNvSpPr txBox="1">
            <a:spLocks noGrp="1"/>
          </p:cNvSpPr>
          <p:nvPr>
            <p:ph type="subTitle" idx="1"/>
          </p:nvPr>
        </p:nvSpPr>
        <p:spPr>
          <a:xfrm>
            <a:off x="4267200" y="3238103"/>
            <a:ext cx="4179570" cy="1371997"/>
          </a:xfrm>
          <a:prstGeom prst="rect">
            <a:avLst/>
          </a:prstGeom>
          <a:noFill/>
          <a:ln>
            <a:noFill/>
          </a:ln>
        </p:spPr>
        <p:txBody>
          <a:bodyPr spcFirstLastPara="1" wrap="square" lIns="91425" tIns="45700" rIns="91425" bIns="45700" anchor="t" anchorCtr="0">
            <a:normAutofit/>
          </a:bodyPr>
          <a:lstStyle>
            <a:lvl1pPr lvl="0" algn="l">
              <a:lnSpc>
                <a:spcPct val="150000"/>
              </a:lnSpc>
              <a:spcBef>
                <a:spcPts val="1000"/>
              </a:spcBef>
              <a:spcAft>
                <a:spcPts val="0"/>
              </a:spcAft>
              <a:buClr>
                <a:schemeClr val="lt1"/>
              </a:buClr>
              <a:buSzPts val="1400"/>
              <a:buNone/>
              <a:defRPr sz="1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66" name="Google Shape;166;p21"/>
          <p:cNvPicPr preferRelativeResize="0"/>
          <p:nvPr/>
        </p:nvPicPr>
        <p:blipFill rotWithShape="1">
          <a:blip r:embed="rId2">
            <a:alphaModFix/>
          </a:blip>
          <a:srcRect/>
          <a:stretch/>
        </p:blipFill>
        <p:spPr>
          <a:xfrm>
            <a:off x="0" y="0"/>
            <a:ext cx="3176938" cy="6858000"/>
          </a:xfrm>
          <a:prstGeom prst="rect">
            <a:avLst/>
          </a:prstGeom>
          <a:noFill/>
          <a:ln>
            <a:noFill/>
          </a:ln>
        </p:spPr>
      </p:pic>
      <p:sp>
        <p:nvSpPr>
          <p:cNvPr id="167" name="Google Shape;167;p21"/>
          <p:cNvSpPr txBox="1">
            <a:spLocks noGrp="1"/>
          </p:cNvSpPr>
          <p:nvPr>
            <p:ph type="ftr" idx="11"/>
          </p:nvPr>
        </p:nvSpPr>
        <p:spPr>
          <a:xfrm>
            <a:off x="6479721" y="6356350"/>
            <a:ext cx="2661557"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21"/>
          <p:cNvSpPr txBox="1">
            <a:spLocks noGrp="1"/>
          </p:cNvSpPr>
          <p:nvPr>
            <p:ph type="sldNum" idx="12"/>
          </p:nvPr>
        </p:nvSpPr>
        <p:spPr>
          <a:xfrm>
            <a:off x="9579428" y="6356350"/>
            <a:ext cx="1774371"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5"/>
        <p:cNvGrpSpPr/>
        <p:nvPr/>
      </p:nvGrpSpPr>
      <p:grpSpPr>
        <a:xfrm>
          <a:off x="0" y="0"/>
          <a:ext cx="0" cy="0"/>
          <a:chOff x="0" y="0"/>
          <a:chExt cx="0" cy="0"/>
        </a:xfrm>
      </p:grpSpPr>
      <p:sp>
        <p:nvSpPr>
          <p:cNvPr id="176" name="Google Shape;176;g3292fd40077_1_6"/>
          <p:cNvSpPr txBox="1">
            <a:spLocks noGrp="1"/>
          </p:cNvSpPr>
          <p:nvPr>
            <p:ph type="title"/>
          </p:nvPr>
        </p:nvSpPr>
        <p:spPr>
          <a:xfrm>
            <a:off x="284056" y="166624"/>
            <a:ext cx="11525673" cy="1301876"/>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7" name="Google Shape;177;g3292fd40077_1_6"/>
          <p:cNvSpPr txBox="1">
            <a:spLocks noGrp="1"/>
          </p:cNvSpPr>
          <p:nvPr>
            <p:ph type="body" idx="1"/>
          </p:nvPr>
        </p:nvSpPr>
        <p:spPr>
          <a:xfrm>
            <a:off x="715433" y="1517936"/>
            <a:ext cx="9275233" cy="162750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3200" b="0" i="0">
                <a:solidFill>
                  <a:schemeClr val="dk1"/>
                </a:solidFill>
                <a:latin typeface="Calibri"/>
                <a:ea typeface="Calibri"/>
                <a:cs typeface="Calibri"/>
                <a:sym typeface="Calibri"/>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8" name="Google Shape;178;g3292fd40077_1_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9" name="Google Shape;179;g3292fd40077_1_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0" name="Google Shape;180;g3292fd40077_1_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
        <p:nvSpPr>
          <p:cNvPr id="181" name="Google Shape;181;g3292fd40077_1_6"/>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82"/>
        <p:cNvGrpSpPr/>
        <p:nvPr/>
      </p:nvGrpSpPr>
      <p:grpSpPr>
        <a:xfrm>
          <a:off x="0" y="0"/>
          <a:ext cx="0" cy="0"/>
          <a:chOff x="0" y="0"/>
          <a:chExt cx="0" cy="0"/>
        </a:xfrm>
      </p:grpSpPr>
      <p:sp>
        <p:nvSpPr>
          <p:cNvPr id="183" name="Google Shape;183;g3292fd40077_1_12"/>
          <p:cNvSpPr txBox="1">
            <a:spLocks noGrp="1"/>
          </p:cNvSpPr>
          <p:nvPr>
            <p:ph type="title"/>
          </p:nvPr>
        </p:nvSpPr>
        <p:spPr>
          <a:xfrm>
            <a:off x="284056" y="166624"/>
            <a:ext cx="11525673" cy="1301876"/>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4" name="Google Shape;184;g3292fd40077_1_1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5" name="Google Shape;185;g3292fd40077_1_1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6" name="Google Shape;186;g3292fd40077_1_1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
        <p:nvSpPr>
          <p:cNvPr id="187" name="Google Shape;187;g3292fd40077_1_12"/>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88"/>
        <p:cNvGrpSpPr/>
        <p:nvPr/>
      </p:nvGrpSpPr>
      <p:grpSpPr>
        <a:xfrm>
          <a:off x="0" y="0"/>
          <a:ext cx="0" cy="0"/>
          <a:chOff x="0" y="0"/>
          <a:chExt cx="0" cy="0"/>
        </a:xfrm>
      </p:grpSpPr>
      <p:sp>
        <p:nvSpPr>
          <p:cNvPr id="189" name="Google Shape;189;g3292fd40077_1_1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0" name="Google Shape;190;g3292fd40077_1_1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g3292fd40077_1_1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
        <p:nvSpPr>
          <p:cNvPr id="192" name="Google Shape;192;g3292fd40077_1_17"/>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93"/>
        <p:cNvGrpSpPr/>
        <p:nvPr/>
      </p:nvGrpSpPr>
      <p:grpSpPr>
        <a:xfrm>
          <a:off x="0" y="0"/>
          <a:ext cx="0" cy="0"/>
          <a:chOff x="0" y="0"/>
          <a:chExt cx="0" cy="0"/>
        </a:xfrm>
      </p:grpSpPr>
      <p:sp>
        <p:nvSpPr>
          <p:cNvPr id="194" name="Google Shape;194;g3292fd40077_1_21"/>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5" name="Google Shape;195;g3292fd40077_1_21"/>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0" i="0">
                <a:solidFill>
                  <a:schemeClr val="dk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6" name="Google Shape;196;g3292fd40077_1_2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7" name="Google Shape;197;g3292fd40077_1_2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8" name="Google Shape;198;g3292fd40077_1_2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99"/>
        <p:cNvGrpSpPr/>
        <p:nvPr/>
      </p:nvGrpSpPr>
      <p:grpSpPr>
        <a:xfrm>
          <a:off x="0" y="0"/>
          <a:ext cx="0" cy="0"/>
          <a:chOff x="0" y="0"/>
          <a:chExt cx="0" cy="0"/>
        </a:xfrm>
      </p:grpSpPr>
      <p:sp>
        <p:nvSpPr>
          <p:cNvPr id="200" name="Google Shape;200;g3292fd40077_1_27"/>
          <p:cNvSpPr txBox="1">
            <a:spLocks noGrp="1"/>
          </p:cNvSpPr>
          <p:nvPr>
            <p:ph type="title"/>
          </p:nvPr>
        </p:nvSpPr>
        <p:spPr>
          <a:xfrm>
            <a:off x="284056" y="166624"/>
            <a:ext cx="11525673" cy="1301876"/>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1" name="Google Shape;201;g3292fd40077_1_27"/>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02" name="Google Shape;202;g3292fd40077_1_27"/>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03" name="Google Shape;203;g3292fd40077_1_2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4" name="Google Shape;204;g3292fd40077_1_2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g3292fd40077_1_2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2.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
          <p:cNvSpPr txBox="1">
            <a:spLocks noGrp="1"/>
          </p:cNvSpPr>
          <p:nvPr>
            <p:ph type="title"/>
          </p:nvPr>
        </p:nvSpPr>
        <p:spPr>
          <a:xfrm>
            <a:off x="838200" y="365125"/>
            <a:ext cx="1051559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9"/>
        <p:cNvGrpSpPr/>
        <p:nvPr/>
      </p:nvGrpSpPr>
      <p:grpSpPr>
        <a:xfrm>
          <a:off x="0" y="0"/>
          <a:ext cx="0" cy="0"/>
          <a:chOff x="0" y="0"/>
          <a:chExt cx="0" cy="0"/>
        </a:xfrm>
      </p:grpSpPr>
      <p:sp>
        <p:nvSpPr>
          <p:cNvPr id="170" name="Google Shape;170;g3292fd40077_1_0"/>
          <p:cNvSpPr txBox="1">
            <a:spLocks noGrp="1"/>
          </p:cNvSpPr>
          <p:nvPr>
            <p:ph type="title"/>
          </p:nvPr>
        </p:nvSpPr>
        <p:spPr>
          <a:xfrm>
            <a:off x="284056" y="166624"/>
            <a:ext cx="11525673" cy="1301876"/>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1" name="Google Shape;171;g3292fd40077_1_0"/>
          <p:cNvSpPr txBox="1">
            <a:spLocks noGrp="1"/>
          </p:cNvSpPr>
          <p:nvPr>
            <p:ph type="body" idx="1"/>
          </p:nvPr>
        </p:nvSpPr>
        <p:spPr>
          <a:xfrm>
            <a:off x="715433" y="1517936"/>
            <a:ext cx="9275233" cy="162750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3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72" name="Google Shape;172;g3292fd40077_1_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3" name="Google Shape;173;g3292fd40077_1_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4" name="Google Shape;174;g3292fd40077_1_0"/>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linkedin.com/in/goelaakash123/" TargetMode="Externa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hyperlink" Target="https://cloud.google.com/vision/" TargetMode="External"/><Relationship Id="rId7"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hyperlink" Target="https://azure.microsoft.com/en-us/services/cognitive-services/computer-vision/" TargetMode="External"/><Relationship Id="rId5" Type="http://schemas.openxmlformats.org/officeDocument/2006/relationships/hyperlink" Target="https://www.clarifai.com/" TargetMode="External"/><Relationship Id="rId4" Type="http://schemas.openxmlformats.org/officeDocument/2006/relationships/hyperlink" Target="https://aws.amazon.com/rekognition/"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hyperlink" Target="http://vision.stanford.edu/teaching/cs231n/"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hyperlink" Target="http://vision.stanford.edu/teaching/cs231n/"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16.xml"/><Relationship Id="rId4" Type="http://schemas.openxmlformats.org/officeDocument/2006/relationships/hyperlink" Target="http://vision.stanford.edu/teaching/cs231n/"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hyperlink" Target="http://vision.stanford.edu/teaching/cs231n/" TargetMode="External"/><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19.jpg"/></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9.xml"/><Relationship Id="rId1" Type="http://schemas.openxmlformats.org/officeDocument/2006/relationships/slideLayout" Target="../slideLayouts/slideLayout16.xml"/><Relationship Id="rId4" Type="http://schemas.openxmlformats.org/officeDocument/2006/relationships/hyperlink" Target="http://vision.stanford.edu/teaching/cs231n/"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0.xml"/><Relationship Id="rId1" Type="http://schemas.openxmlformats.org/officeDocument/2006/relationships/slideLayout" Target="../slideLayouts/slideLayout16.xml"/><Relationship Id="rId4" Type="http://schemas.openxmlformats.org/officeDocument/2006/relationships/hyperlink" Target="http://vision.stanford.edu/teaching/cs231n/"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1.xml"/><Relationship Id="rId1" Type="http://schemas.openxmlformats.org/officeDocument/2006/relationships/slideLayout" Target="../slideLayouts/slideLayout18.xml"/><Relationship Id="rId4" Type="http://schemas.openxmlformats.org/officeDocument/2006/relationships/hyperlink" Target="http://vision.stanford.edu/teaching/cs231n-demos/knn/"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5.xml"/><Relationship Id="rId1" Type="http://schemas.openxmlformats.org/officeDocument/2006/relationships/slideLayout" Target="../slideLayouts/slideLayout16.xml"/><Relationship Id="rId4" Type="http://schemas.openxmlformats.org/officeDocument/2006/relationships/hyperlink" Target="http://vision.stanford.edu/teaching/cs231n/"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41.xml"/><Relationship Id="rId1" Type="http://schemas.openxmlformats.org/officeDocument/2006/relationships/slideLayout" Target="../slideLayouts/slideLayout17.xml"/><Relationship Id="rId4" Type="http://schemas.openxmlformats.org/officeDocument/2006/relationships/image" Target="../media/image42.png"/></Relationships>
</file>

<file path=ppt/slides/_rels/slide44.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42.xml"/><Relationship Id="rId1" Type="http://schemas.openxmlformats.org/officeDocument/2006/relationships/slideLayout" Target="../slideLayouts/slideLayout17.xml"/><Relationship Id="rId4" Type="http://schemas.openxmlformats.org/officeDocument/2006/relationships/image" Target="../media/image44.png"/></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16.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48.xml"/><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49.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51.xml"/><Relationship Id="rId1" Type="http://schemas.openxmlformats.org/officeDocument/2006/relationships/slideLayout" Target="../slideLayouts/slideLayout16.xml"/><Relationship Id="rId6" Type="http://schemas.openxmlformats.org/officeDocument/2006/relationships/image" Target="../media/image57.jpg"/><Relationship Id="rId5" Type="http://schemas.openxmlformats.org/officeDocument/2006/relationships/image" Target="../media/image56.jpg"/><Relationship Id="rId4" Type="http://schemas.openxmlformats.org/officeDocument/2006/relationships/image" Target="../media/image55.jpg"/></Relationships>
</file>

<file path=ppt/slides/_rels/slide5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2.xml"/><Relationship Id="rId1" Type="http://schemas.openxmlformats.org/officeDocument/2006/relationships/slideLayout" Target="../slideLayouts/slideLayout16.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55.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notesSlide" Target="../notesSlides/notesSlide53.xml"/><Relationship Id="rId1" Type="http://schemas.openxmlformats.org/officeDocument/2006/relationships/slideLayout" Target="../slideLayouts/slideLayout16.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56.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54.xml"/><Relationship Id="rId1" Type="http://schemas.openxmlformats.org/officeDocument/2006/relationships/slideLayout" Target="../slideLayouts/slideLayout16.xml"/><Relationship Id="rId5" Type="http://schemas.openxmlformats.org/officeDocument/2006/relationships/image" Target="../media/image70.jpg"/><Relationship Id="rId4" Type="http://schemas.openxmlformats.org/officeDocument/2006/relationships/image" Target="../media/image69.jpg"/></Relationships>
</file>

<file path=ppt/slides/_rels/slide57.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notesSlide" Target="../notesSlides/notesSlide55.xml"/><Relationship Id="rId1" Type="http://schemas.openxmlformats.org/officeDocument/2006/relationships/slideLayout" Target="../slideLayouts/slideLayout16.xml"/><Relationship Id="rId4" Type="http://schemas.openxmlformats.org/officeDocument/2006/relationships/image" Target="../media/image72.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57.xml"/><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3" Type="http://schemas.openxmlformats.org/officeDocument/2006/relationships/hyperlink" Target="http://cs231n.stanford.edu/" TargetMode="External"/><Relationship Id="rId2" Type="http://schemas.openxmlformats.org/officeDocument/2006/relationships/notesSlide" Target="../notesSlides/notesSlide58.xml"/><Relationship Id="rId1" Type="http://schemas.openxmlformats.org/officeDocument/2006/relationships/slideLayout" Target="../slideLayouts/slideLayout3.xml"/><Relationship Id="rId5" Type="http://schemas.openxmlformats.org/officeDocument/2006/relationships/hyperlink" Target="https://github.com/mithunkumarsr/LearnComputerVisionWithMithun/blob/main/CV9_Image_Classification.ipynb" TargetMode="External"/><Relationship Id="rId4" Type="http://schemas.openxmlformats.org/officeDocument/2006/relationships/hyperlink" Target="https://www.cs.toronto.edu/~kriz/cifar.html" TargetMode="Externa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D0C69-C9ED-17AF-8127-828113E1227F}"/>
              </a:ext>
            </a:extLst>
          </p:cNvPr>
          <p:cNvSpPr>
            <a:spLocks noGrp="1"/>
          </p:cNvSpPr>
          <p:nvPr>
            <p:ph type="title"/>
          </p:nvPr>
        </p:nvSpPr>
        <p:spPr/>
        <p:txBody>
          <a:bodyPr>
            <a:normAutofit/>
          </a:bodyPr>
          <a:lstStyle/>
          <a:p>
            <a:pPr marL="0" lvl="0" indent="0" rtl="0">
              <a:spcBef>
                <a:spcPts val="0"/>
              </a:spcBef>
              <a:spcAft>
                <a:spcPts val="0"/>
              </a:spcAft>
            </a:pPr>
            <a:r>
              <a:rPr lang="en-US" sz="2800" dirty="0">
                <a:solidFill>
                  <a:schemeClr val="dk1"/>
                </a:solidFill>
                <a:latin typeface="Calibri"/>
                <a:ea typeface="Calibri"/>
                <a:cs typeface="Calibri"/>
                <a:sym typeface="Calibri"/>
              </a:rPr>
              <a:t>Aakash Goel</a:t>
            </a:r>
            <a:br>
              <a:rPr lang="en-US" sz="2800" dirty="0">
                <a:solidFill>
                  <a:schemeClr val="dk1"/>
                </a:solidFill>
                <a:latin typeface="Calibri"/>
                <a:ea typeface="Calibri"/>
                <a:cs typeface="Calibri"/>
                <a:sym typeface="Calibri"/>
              </a:rPr>
            </a:br>
            <a:r>
              <a:rPr lang="en-US" sz="2800" dirty="0">
                <a:solidFill>
                  <a:schemeClr val="dk1"/>
                </a:solidFill>
                <a:latin typeface="Calibri"/>
                <a:ea typeface="Calibri"/>
                <a:cs typeface="Calibri"/>
                <a:sym typeface="Calibri"/>
                <a:hlinkClick r:id="rId2"/>
              </a:rPr>
              <a:t>https://www.linkedin.com/in/goelaakash123/</a:t>
            </a:r>
            <a:endParaRPr lang="en-US" dirty="0"/>
          </a:p>
        </p:txBody>
      </p:sp>
      <p:sp>
        <p:nvSpPr>
          <p:cNvPr id="3" name="Subtitle 2">
            <a:extLst>
              <a:ext uri="{FF2B5EF4-FFF2-40B4-BE49-F238E27FC236}">
                <a16:creationId xmlns:a16="http://schemas.microsoft.com/office/drawing/2014/main" id="{C84DECD3-7272-A66B-D05A-F5C716C54AE3}"/>
              </a:ext>
            </a:extLst>
          </p:cNvPr>
          <p:cNvSpPr>
            <a:spLocks noGrp="1"/>
          </p:cNvSpPr>
          <p:nvPr>
            <p:ph type="subTitle" idx="1"/>
          </p:nvPr>
        </p:nvSpPr>
        <p:spPr>
          <a:xfrm>
            <a:off x="4657725" y="5028803"/>
            <a:ext cx="6696074" cy="688825"/>
          </a:xfrm>
        </p:spPr>
        <p:txBody>
          <a:bodyPr>
            <a:noAutofit/>
          </a:bodyPr>
          <a:lstStyle/>
          <a:p>
            <a:r>
              <a:rPr lang="en-US" sz="1200" dirty="0"/>
              <a:t>Acknowledgement: </a:t>
            </a:r>
            <a:r>
              <a:rPr lang="en-US" sz="1200" b="0" i="0" u="none" strike="noStrike" cap="none" dirty="0">
                <a:solidFill>
                  <a:srgbClr val="FF0000"/>
                </a:solidFill>
                <a:latin typeface="Arial"/>
                <a:ea typeface="Arial"/>
                <a:cs typeface="Arial"/>
                <a:sym typeface="Arial"/>
              </a:rPr>
              <a:t>Slide Materials adopted from  - Intro to Computer Vision (Cornell Tech); Noah Snavely, </a:t>
            </a:r>
            <a:r>
              <a:rPr lang="en-US" sz="1200" dirty="0">
                <a:solidFill>
                  <a:srgbClr val="FF0000"/>
                </a:solidFill>
              </a:rPr>
              <a:t>prepared by the lead instructor Prof S P Vimal , modified (added some content) by Aakash Goel</a:t>
            </a:r>
          </a:p>
        </p:txBody>
      </p:sp>
      <p:sp>
        <p:nvSpPr>
          <p:cNvPr id="4" name="Slide Number Placeholder 3">
            <a:extLst>
              <a:ext uri="{FF2B5EF4-FFF2-40B4-BE49-F238E27FC236}">
                <a16:creationId xmlns:a16="http://schemas.microsoft.com/office/drawing/2014/main" id="{CF5FF7BA-7C01-3743-F6C5-F7589575014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
        <p:nvSpPr>
          <p:cNvPr id="6" name="TextBox 5">
            <a:extLst>
              <a:ext uri="{FF2B5EF4-FFF2-40B4-BE49-F238E27FC236}">
                <a16:creationId xmlns:a16="http://schemas.microsoft.com/office/drawing/2014/main" id="{FAB6B0C6-F660-E59C-6C87-5A6540BC8E38}"/>
              </a:ext>
            </a:extLst>
          </p:cNvPr>
          <p:cNvSpPr txBox="1"/>
          <p:nvPr/>
        </p:nvSpPr>
        <p:spPr>
          <a:xfrm>
            <a:off x="777765" y="1907531"/>
            <a:ext cx="6096000" cy="523220"/>
          </a:xfrm>
          <a:prstGeom prst="rect">
            <a:avLst/>
          </a:prstGeom>
          <a:noFill/>
        </p:spPr>
        <p:txBody>
          <a:bodyPr wrap="square">
            <a:spAutoFit/>
          </a:bodyPr>
          <a:lstStyle/>
          <a:p>
            <a:pPr marL="0" lvl="0" indent="0" algn="l" rtl="0">
              <a:spcBef>
                <a:spcPts val="0"/>
              </a:spcBef>
              <a:spcAft>
                <a:spcPts val="0"/>
              </a:spcAft>
              <a:buClr>
                <a:schemeClr val="dk1"/>
              </a:buClr>
              <a:buSzPts val="3600"/>
              <a:buFont typeface="Calibri"/>
              <a:buNone/>
            </a:pPr>
            <a:r>
              <a:rPr lang="en-US" b="1" u="sng" dirty="0"/>
              <a:t>Session 9: </a:t>
            </a:r>
          </a:p>
          <a:p>
            <a:pPr marL="0" lvl="0" indent="0" algn="l" rtl="0">
              <a:spcBef>
                <a:spcPts val="0"/>
              </a:spcBef>
              <a:spcAft>
                <a:spcPts val="0"/>
              </a:spcAft>
              <a:buClr>
                <a:schemeClr val="dk1"/>
              </a:buClr>
              <a:buSzPts val="3600"/>
              <a:buFont typeface="Calibri"/>
              <a:buNone/>
            </a:pPr>
            <a:r>
              <a:rPr lang="en-US" b="1" dirty="0"/>
              <a:t>Image Classification</a:t>
            </a:r>
          </a:p>
        </p:txBody>
      </p:sp>
    </p:spTree>
    <p:extLst>
      <p:ext uri="{BB962C8B-B14F-4D97-AF65-F5344CB8AC3E}">
        <p14:creationId xmlns:p14="http://schemas.microsoft.com/office/powerpoint/2010/main" val="599536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262a763626f_0_6"/>
          <p:cNvSpPr txBox="1">
            <a:spLocks noGrp="1"/>
          </p:cNvSpPr>
          <p:nvPr>
            <p:ph type="title"/>
          </p:nvPr>
        </p:nvSpPr>
        <p:spPr>
          <a:xfrm>
            <a:off x="468449" y="1671639"/>
            <a:ext cx="6005400" cy="6531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3600"/>
              <a:buFont typeface="Calibri"/>
              <a:buNone/>
            </a:pPr>
            <a:endParaRPr/>
          </a:p>
          <a:p>
            <a:pPr marL="0" lvl="0" indent="0" algn="l" rtl="0">
              <a:lnSpc>
                <a:spcPct val="90000"/>
              </a:lnSpc>
              <a:spcBef>
                <a:spcPts val="0"/>
              </a:spcBef>
              <a:spcAft>
                <a:spcPts val="0"/>
              </a:spcAft>
              <a:buClr>
                <a:schemeClr val="dk1"/>
              </a:buClr>
              <a:buSzPts val="3600"/>
              <a:buFont typeface="Calibri"/>
              <a:buNone/>
            </a:pPr>
            <a:r>
              <a:rPr lang="en-US" u="sng"/>
              <a:t>Topics</a:t>
            </a:r>
            <a:endParaRPr/>
          </a:p>
        </p:txBody>
      </p:sp>
      <p:sp>
        <p:nvSpPr>
          <p:cNvPr id="218" name="Google Shape;218;g262a763626f_0_6"/>
          <p:cNvSpPr txBox="1"/>
          <p:nvPr/>
        </p:nvSpPr>
        <p:spPr>
          <a:xfrm>
            <a:off x="607574" y="6152944"/>
            <a:ext cx="8562000" cy="95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highlight>
                  <a:srgbClr val="FFFF00"/>
                </a:highlight>
                <a:latin typeface="Arial"/>
                <a:ea typeface="Arial"/>
                <a:cs typeface="Arial"/>
                <a:sym typeface="Arial"/>
              </a:rPr>
              <a:t>Acknowledgement</a:t>
            </a:r>
            <a:r>
              <a:rPr lang="en-US" sz="1400" b="0" i="0" u="none" strike="noStrike" cap="none">
                <a:solidFill>
                  <a:srgbClr val="C00000"/>
                </a:solidFill>
                <a:latin typeface="Arial"/>
                <a:ea typeface="Arial"/>
                <a:cs typeface="Arial"/>
                <a:sym typeface="Arial"/>
              </a:rPr>
              <a:t>: Slide Materials adopted from  - Intro to Computer Vision (Cornell Tech); Noah Snavely,</a:t>
            </a:r>
            <a:r>
              <a:rPr lang="en-US">
                <a:solidFill>
                  <a:srgbClr val="C00000"/>
                </a:solidFill>
              </a:rPr>
              <a:t> </a:t>
            </a:r>
            <a:r>
              <a:rPr lang="en-US" sz="1400" b="0" i="0" u="none" strike="noStrike" cap="none">
                <a:solidFill>
                  <a:srgbClr val="C00000"/>
                </a:solidFill>
                <a:latin typeface="Arial"/>
                <a:ea typeface="Arial"/>
                <a:cs typeface="Arial"/>
                <a:sym typeface="Arial"/>
              </a:rPr>
              <a:t>Fei-Fei Li, Justin Johnson, Serena Yeung </a:t>
            </a:r>
            <a:endParaRPr sz="1400" b="0" i="0" u="none" strike="noStrike" cap="none">
              <a:solidFill>
                <a:srgbClr val="C00000"/>
              </a:solidFill>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400" b="0"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a:solidFill>
                <a:srgbClr val="C00000"/>
              </a:solidFill>
            </a:endParaRPr>
          </a:p>
        </p:txBody>
      </p:sp>
      <p:sp>
        <p:nvSpPr>
          <p:cNvPr id="219" name="Google Shape;219;g262a763626f_0_6"/>
          <p:cNvSpPr txBox="1">
            <a:spLocks noGrp="1"/>
          </p:cNvSpPr>
          <p:nvPr>
            <p:ph type="body" idx="1"/>
          </p:nvPr>
        </p:nvSpPr>
        <p:spPr>
          <a:xfrm>
            <a:off x="1362075" y="2357850"/>
            <a:ext cx="10189500" cy="3304800"/>
          </a:xfrm>
          <a:prstGeom prst="rect">
            <a:avLst/>
          </a:prstGeom>
          <a:noFill/>
          <a:ln>
            <a:noFill/>
          </a:ln>
        </p:spPr>
        <p:txBody>
          <a:bodyPr spcFirstLastPara="1" wrap="square" lIns="91425" tIns="45700" rIns="91425" bIns="45700" anchor="t" anchorCtr="0">
            <a:normAutofit/>
          </a:bodyPr>
          <a:lstStyle/>
          <a:p>
            <a:pPr marL="457200" lvl="0" indent="-381000" algn="l" rtl="0">
              <a:spcBef>
                <a:spcPts val="1000"/>
              </a:spcBef>
              <a:spcAft>
                <a:spcPts val="0"/>
              </a:spcAft>
              <a:buSzPts val="2400"/>
              <a:buChar char="➔"/>
            </a:pPr>
            <a:r>
              <a:rPr lang="en-US" dirty="0"/>
              <a:t>Image classification pipeline</a:t>
            </a:r>
            <a:endParaRPr dirty="0"/>
          </a:p>
          <a:p>
            <a:pPr marL="457200" lvl="0" indent="-381000" algn="l" rtl="0">
              <a:spcBef>
                <a:spcPts val="1000"/>
              </a:spcBef>
              <a:spcAft>
                <a:spcPts val="0"/>
              </a:spcAft>
              <a:buSzPts val="2400"/>
              <a:buChar char="➔"/>
            </a:pPr>
            <a:r>
              <a:rPr lang="en-US" dirty="0"/>
              <a:t>Training, validation, testing</a:t>
            </a:r>
            <a:endParaRPr dirty="0"/>
          </a:p>
          <a:p>
            <a:pPr marL="457200" lvl="0" indent="-381000" algn="l" rtl="0">
              <a:spcBef>
                <a:spcPts val="1000"/>
              </a:spcBef>
              <a:spcAft>
                <a:spcPts val="0"/>
              </a:spcAft>
              <a:buSzPts val="2400"/>
              <a:buChar char="➔"/>
            </a:pPr>
            <a:r>
              <a:rPr lang="en-US" dirty="0"/>
              <a:t>Nearest neighbor classification</a:t>
            </a:r>
            <a:endParaRPr dirty="0"/>
          </a:p>
          <a:p>
            <a:pPr marL="457200" lvl="0" indent="-381000" algn="l" rtl="0">
              <a:spcBef>
                <a:spcPts val="1000"/>
              </a:spcBef>
              <a:spcAft>
                <a:spcPts val="0"/>
              </a:spcAft>
              <a:buSzPts val="2400"/>
              <a:buChar char="➔"/>
            </a:pPr>
            <a:r>
              <a:rPr lang="en-US" dirty="0"/>
              <a:t>Linear classification</a:t>
            </a:r>
            <a:endParaRPr dirty="0"/>
          </a:p>
          <a:p>
            <a:pPr marL="457200" lvl="0" indent="-381000" algn="l" rtl="0">
              <a:spcBef>
                <a:spcPts val="1000"/>
              </a:spcBef>
              <a:spcAft>
                <a:spcPts val="0"/>
              </a:spcAft>
              <a:buSzPts val="2400"/>
              <a:buChar char="➔"/>
            </a:pPr>
            <a:r>
              <a:rPr lang="en-US" dirty="0"/>
              <a:t>Building up to… CNNs for learning, transformers and vision transformers (next class)</a:t>
            </a:r>
            <a:endParaRPr dirty="0"/>
          </a:p>
          <a:p>
            <a:pPr marL="457200" lvl="0" indent="0" algn="l" rtl="0">
              <a:spcBef>
                <a:spcPts val="1000"/>
              </a:spcBef>
              <a:spcAft>
                <a:spcPts val="0"/>
              </a:spcAft>
              <a:buNone/>
            </a:pPr>
            <a:endParaRPr dirty="0"/>
          </a:p>
        </p:txBody>
      </p:sp>
      <p:sp>
        <p:nvSpPr>
          <p:cNvPr id="220" name="Google Shape;220;g262a763626f_0_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D838F-44B6-FA51-580B-8D6740A09397}"/>
              </a:ext>
            </a:extLst>
          </p:cNvPr>
          <p:cNvSpPr>
            <a:spLocks noGrp="1"/>
          </p:cNvSpPr>
          <p:nvPr>
            <p:ph type="title"/>
          </p:nvPr>
        </p:nvSpPr>
        <p:spPr/>
        <p:txBody>
          <a:bodyPr/>
          <a:lstStyle/>
          <a:p>
            <a:r>
              <a:rPr lang="en-US" dirty="0"/>
              <a:t>Motivation – Why Image Classification ?</a:t>
            </a:r>
          </a:p>
        </p:txBody>
      </p:sp>
      <p:sp>
        <p:nvSpPr>
          <p:cNvPr id="3" name="Slide Number Placeholder 2">
            <a:extLst>
              <a:ext uri="{FF2B5EF4-FFF2-40B4-BE49-F238E27FC236}">
                <a16:creationId xmlns:a16="http://schemas.microsoft.com/office/drawing/2014/main" id="{8A2B89DD-B9D0-5E8E-4073-3BB8083224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5" name="Rectangle 1">
            <a:extLst>
              <a:ext uri="{FF2B5EF4-FFF2-40B4-BE49-F238E27FC236}">
                <a16:creationId xmlns:a16="http://schemas.microsoft.com/office/drawing/2014/main" id="{E1A13540-D07E-4BBB-BF7A-982012976F3E}"/>
              </a:ext>
            </a:extLst>
          </p:cNvPr>
          <p:cNvSpPr>
            <a:spLocks noGrp="1" noChangeArrowheads="1"/>
          </p:cNvSpPr>
          <p:nvPr>
            <p:ph type="body" idx="1"/>
          </p:nvPr>
        </p:nvSpPr>
        <p:spPr bwMode="auto">
          <a:xfrm>
            <a:off x="838200" y="2699382"/>
            <a:ext cx="869019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 Real-Life Examples: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Classifying </a:t>
            </a:r>
            <a:r>
              <a:rPr kumimoji="0" lang="en-US" altLang="en-US" sz="1200" b="1" i="0" u="none" strike="noStrike" cap="none" normalizeH="0" baseline="0" dirty="0">
                <a:ln>
                  <a:noFill/>
                </a:ln>
                <a:solidFill>
                  <a:schemeClr val="tx1"/>
                </a:solidFill>
                <a:effectLst/>
                <a:latin typeface="Arial" panose="020B0604020202020204" pitchFamily="34" charset="0"/>
              </a:rPr>
              <a:t>X-ray images</a:t>
            </a:r>
            <a:r>
              <a:rPr kumimoji="0" lang="en-US" altLang="en-US" sz="1200" b="0" i="0" u="none" strike="noStrike" cap="none" normalizeH="0" baseline="0" dirty="0">
                <a:ln>
                  <a:noFill/>
                </a:ln>
                <a:solidFill>
                  <a:schemeClr val="tx1"/>
                </a:solidFill>
                <a:effectLst/>
                <a:latin typeface="Arial" panose="020B0604020202020204" pitchFamily="34" charset="0"/>
              </a:rPr>
              <a:t> as 'normal' or 'pneumonia’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Tagging photos: 'cat', 'dog', 'car’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Identifying </a:t>
            </a:r>
            <a:r>
              <a:rPr kumimoji="0" lang="en-US" altLang="en-US" sz="1200" b="1" i="0" u="none" strike="noStrike" cap="none" normalizeH="0" baseline="0" dirty="0">
                <a:ln>
                  <a:noFill/>
                </a:ln>
                <a:solidFill>
                  <a:schemeClr val="tx1"/>
                </a:solidFill>
                <a:effectLst/>
                <a:latin typeface="Arial" panose="020B0604020202020204" pitchFamily="34" charset="0"/>
              </a:rPr>
              <a:t>defective vs. non-defective</a:t>
            </a:r>
            <a:r>
              <a:rPr kumimoji="0" lang="en-US" altLang="en-US" sz="1200" b="0" i="0" u="none" strike="noStrike" cap="none" normalizeH="0" baseline="0" dirty="0">
                <a:ln>
                  <a:noFill/>
                </a:ln>
                <a:solidFill>
                  <a:schemeClr val="tx1"/>
                </a:solidFill>
                <a:effectLst/>
                <a:latin typeface="Arial" panose="020B0604020202020204" pitchFamily="34" charset="0"/>
              </a:rPr>
              <a:t> parts in manufacturing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 Smart assistants recognizing household items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 Analogy: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Imagine a toddler learning to distinguish a cat from a dog: by </a:t>
            </a:r>
            <a:r>
              <a:rPr kumimoji="0" lang="en-US" altLang="en-US" sz="1200" b="1" i="0" u="none" strike="noStrike" cap="none" normalizeH="0" baseline="0" dirty="0">
                <a:ln>
                  <a:noFill/>
                </a:ln>
                <a:solidFill>
                  <a:schemeClr val="tx1"/>
                </a:solidFill>
                <a:effectLst/>
                <a:latin typeface="Arial" panose="020B0604020202020204" pitchFamily="34" charset="0"/>
              </a:rPr>
              <a:t>seeing many </a:t>
            </a:r>
            <a:r>
              <a:rPr kumimoji="0" lang="en-US" altLang="en-US" sz="1200" b="1" i="0" u="none" strike="noStrike" cap="none" normalizeH="0" baseline="0" dirty="0" err="1">
                <a:ln>
                  <a:noFill/>
                </a:ln>
                <a:solidFill>
                  <a:schemeClr val="tx1"/>
                </a:solidFill>
                <a:effectLst/>
                <a:latin typeface="Arial" panose="020B0604020202020204" pitchFamily="34" charset="0"/>
              </a:rPr>
              <a:t>examples</a:t>
            </a:r>
            <a:r>
              <a:rPr kumimoji="0" lang="en-US" altLang="en-US" sz="1200" b="0" i="0" u="none" strike="noStrike" cap="none" normalizeH="0" baseline="0" dirty="0" err="1">
                <a:ln>
                  <a:noFill/>
                </a:ln>
                <a:solidFill>
                  <a:schemeClr val="tx1"/>
                </a:solidFill>
                <a:effectLst/>
                <a:latin typeface="Arial" panose="020B0604020202020204" pitchFamily="34" charset="0"/>
              </a:rPr>
              <a:t>,and</a:t>
            </a: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tx1"/>
                </a:solidFill>
                <a:effectLst/>
                <a:latin typeface="Arial" panose="020B0604020202020204" pitchFamily="34" charset="0"/>
              </a:rPr>
              <a:t>focusing on key visual features</a:t>
            </a:r>
            <a:r>
              <a:rPr kumimoji="0" lang="en-US" altLang="en-US" sz="12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28437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231"/>
        <p:cNvGrpSpPr/>
        <p:nvPr/>
      </p:nvGrpSpPr>
      <p:grpSpPr>
        <a:xfrm>
          <a:off x="0" y="0"/>
          <a:ext cx="0" cy="0"/>
          <a:chOff x="0" y="0"/>
          <a:chExt cx="0" cy="0"/>
        </a:xfrm>
      </p:grpSpPr>
      <p:sp>
        <p:nvSpPr>
          <p:cNvPr id="232" name="Google Shape;232;g3292fd40077_1_65"/>
          <p:cNvSpPr txBox="1">
            <a:spLocks noGrp="1"/>
          </p:cNvSpPr>
          <p:nvPr>
            <p:ph type="title"/>
          </p:nvPr>
        </p:nvSpPr>
        <p:spPr>
          <a:xfrm>
            <a:off x="284056" y="166624"/>
            <a:ext cx="11525673" cy="1301876"/>
          </a:xfrm>
          <a:prstGeom prst="rect">
            <a:avLst/>
          </a:prstGeom>
          <a:noFill/>
          <a:ln>
            <a:noFill/>
          </a:ln>
        </p:spPr>
        <p:txBody>
          <a:bodyPr spcFirstLastPara="1" wrap="square" lIns="0" tIns="16500" rIns="0" bIns="0" anchor="t" anchorCtr="0">
            <a:spAutoFit/>
          </a:bodyPr>
          <a:lstStyle/>
          <a:p>
            <a:pPr marL="85090" lvl="0" indent="0" algn="ctr" rtl="0">
              <a:lnSpc>
                <a:spcPct val="100000"/>
              </a:lnSpc>
              <a:spcBef>
                <a:spcPts val="0"/>
              </a:spcBef>
              <a:spcAft>
                <a:spcPts val="0"/>
              </a:spcAft>
              <a:buNone/>
            </a:pPr>
            <a:r>
              <a:rPr lang="en-US" sz="3950"/>
              <a:t>Image Classification:</a:t>
            </a:r>
            <a:endParaRPr sz="3950"/>
          </a:p>
          <a:p>
            <a:pPr marL="67945" lvl="0" indent="0" algn="ctr" rtl="0">
              <a:lnSpc>
                <a:spcPct val="100000"/>
              </a:lnSpc>
              <a:spcBef>
                <a:spcPts val="65"/>
              </a:spcBef>
              <a:spcAft>
                <a:spcPts val="0"/>
              </a:spcAft>
              <a:buNone/>
            </a:pPr>
            <a:r>
              <a:rPr lang="en-US" sz="3950"/>
              <a:t>A core task in Computer Vision</a:t>
            </a:r>
            <a:endParaRPr sz="3950"/>
          </a:p>
        </p:txBody>
      </p:sp>
      <p:sp>
        <p:nvSpPr>
          <p:cNvPr id="233" name="Google Shape;233;g3292fd40077_1_65"/>
          <p:cNvSpPr txBox="1"/>
          <p:nvPr/>
        </p:nvSpPr>
        <p:spPr>
          <a:xfrm>
            <a:off x="715433" y="1606930"/>
            <a:ext cx="9186333" cy="1003935"/>
          </a:xfrm>
          <a:prstGeom prst="rect">
            <a:avLst/>
          </a:prstGeom>
          <a:noFill/>
          <a:ln>
            <a:noFill/>
          </a:ln>
        </p:spPr>
        <p:txBody>
          <a:bodyPr spcFirstLastPara="1" wrap="square" lIns="0" tIns="16500" rIns="0" bIns="0" anchor="t" anchorCtr="0">
            <a:spAutoFit/>
          </a:bodyPr>
          <a:lstStyle/>
          <a:p>
            <a:pPr marL="342900" marR="5080" lvl="0" indent="-342900" algn="r" rtl="0">
              <a:lnSpc>
                <a:spcPct val="119843"/>
              </a:lnSpc>
              <a:spcBef>
                <a:spcPts val="0"/>
              </a:spcBef>
              <a:spcAft>
                <a:spcPts val="0"/>
              </a:spcAft>
              <a:buSzPts val="3200"/>
              <a:buFont typeface="Arial"/>
              <a:buChar char="•"/>
            </a:pPr>
            <a:r>
              <a:rPr lang="en-US" sz="3200">
                <a:latin typeface="Calibri"/>
                <a:ea typeface="Calibri"/>
                <a:cs typeface="Calibri"/>
                <a:sym typeface="Calibri"/>
              </a:rPr>
              <a:t>Assume given set of discrete labels, e.g.</a:t>
            </a:r>
            <a:endParaRPr sz="3200">
              <a:latin typeface="Calibri"/>
              <a:ea typeface="Calibri"/>
              <a:cs typeface="Calibri"/>
              <a:sym typeface="Calibri"/>
            </a:endParaRPr>
          </a:p>
          <a:p>
            <a:pPr marL="0" marR="8890" lvl="0" indent="0" algn="r" rtl="0">
              <a:lnSpc>
                <a:spcPct val="119843"/>
              </a:lnSpc>
              <a:spcBef>
                <a:spcPts val="0"/>
              </a:spcBef>
              <a:spcAft>
                <a:spcPts val="0"/>
              </a:spcAft>
              <a:buNone/>
            </a:pPr>
            <a:r>
              <a:rPr lang="en-US" sz="3200">
                <a:latin typeface="Calibri"/>
                <a:ea typeface="Calibri"/>
                <a:cs typeface="Calibri"/>
                <a:sym typeface="Calibri"/>
              </a:rPr>
              <a:t>{cat, dog, cow, apple, tomato, truck, … }</a:t>
            </a:r>
            <a:endParaRPr sz="3200">
              <a:latin typeface="Calibri"/>
              <a:ea typeface="Calibri"/>
              <a:cs typeface="Calibri"/>
              <a:sym typeface="Calibri"/>
            </a:endParaRPr>
          </a:p>
        </p:txBody>
      </p:sp>
      <p:pic>
        <p:nvPicPr>
          <p:cNvPr id="234" name="Google Shape;234;g3292fd40077_1_65"/>
          <p:cNvPicPr preferRelativeResize="0"/>
          <p:nvPr/>
        </p:nvPicPr>
        <p:blipFill rotWithShape="1">
          <a:blip r:embed="rId3">
            <a:alphaModFix/>
          </a:blip>
          <a:srcRect/>
          <a:stretch/>
        </p:blipFill>
        <p:spPr>
          <a:xfrm>
            <a:off x="1490241" y="3127827"/>
            <a:ext cx="7695416" cy="3653971"/>
          </a:xfrm>
          <a:prstGeom prst="rect">
            <a:avLst/>
          </a:prstGeom>
          <a:noFill/>
          <a:ln>
            <a:noFill/>
          </a:ln>
        </p:spPr>
      </p:pic>
      <p:sp>
        <p:nvSpPr>
          <p:cNvPr id="235" name="Google Shape;235;g3292fd40077_1_65"/>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239"/>
        <p:cNvGrpSpPr/>
        <p:nvPr/>
      </p:nvGrpSpPr>
      <p:grpSpPr>
        <a:xfrm>
          <a:off x="0" y="0"/>
          <a:ext cx="0" cy="0"/>
          <a:chOff x="0" y="0"/>
          <a:chExt cx="0" cy="0"/>
        </a:xfrm>
      </p:grpSpPr>
      <p:sp>
        <p:nvSpPr>
          <p:cNvPr id="240" name="Google Shape;240;g3292fd40077_1_71"/>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1433195" lvl="0" indent="0" algn="l" rtl="0">
              <a:lnSpc>
                <a:spcPct val="100000"/>
              </a:lnSpc>
              <a:spcBef>
                <a:spcPts val="0"/>
              </a:spcBef>
              <a:spcAft>
                <a:spcPts val="0"/>
              </a:spcAft>
              <a:buNone/>
            </a:pPr>
            <a:r>
              <a:rPr lang="en-US"/>
              <a:t>Image classification demo</a:t>
            </a:r>
            <a:endParaRPr/>
          </a:p>
        </p:txBody>
      </p:sp>
      <p:sp>
        <p:nvSpPr>
          <p:cNvPr id="241" name="Google Shape;241;g3292fd40077_1_71"/>
          <p:cNvSpPr txBox="1"/>
          <p:nvPr/>
        </p:nvSpPr>
        <p:spPr>
          <a:xfrm>
            <a:off x="170603" y="4867305"/>
            <a:ext cx="10027920" cy="1818639"/>
          </a:xfrm>
          <a:prstGeom prst="rect">
            <a:avLst/>
          </a:prstGeom>
          <a:noFill/>
          <a:ln>
            <a:noFill/>
          </a:ln>
        </p:spPr>
        <p:txBody>
          <a:bodyPr spcFirstLastPara="1" wrap="square" lIns="0" tIns="38725" rIns="0" bIns="0" anchor="t" anchorCtr="0">
            <a:spAutoFit/>
          </a:bodyPr>
          <a:lstStyle/>
          <a:p>
            <a:pPr marL="2395220" lvl="0" indent="0" algn="l" rtl="0">
              <a:lnSpc>
                <a:spcPct val="100000"/>
              </a:lnSpc>
              <a:spcBef>
                <a:spcPts val="0"/>
              </a:spcBef>
              <a:spcAft>
                <a:spcPts val="0"/>
              </a:spcAft>
              <a:buNone/>
            </a:pPr>
            <a:r>
              <a:rPr lang="en-US" sz="2400" u="sng">
                <a:solidFill>
                  <a:schemeClr val="hlink"/>
                </a:solidFill>
                <a:latin typeface="Calibri"/>
                <a:ea typeface="Calibri"/>
                <a:cs typeface="Calibri"/>
                <a:sym typeface="Calibri"/>
                <a:hlinkClick r:id="rId3"/>
              </a:rPr>
              <a:t>https://cloud.google.com/vision/</a:t>
            </a:r>
            <a:endParaRPr sz="2400">
              <a:latin typeface="Calibri"/>
              <a:ea typeface="Calibri"/>
              <a:cs typeface="Calibri"/>
              <a:sym typeface="Calibri"/>
            </a:endParaRPr>
          </a:p>
          <a:p>
            <a:pPr marL="12700" marR="3928745" lvl="0" indent="0" algn="l" rtl="0">
              <a:lnSpc>
                <a:spcPct val="100800"/>
              </a:lnSpc>
              <a:spcBef>
                <a:spcPts val="140"/>
              </a:spcBef>
              <a:spcAft>
                <a:spcPts val="0"/>
              </a:spcAft>
              <a:buNone/>
            </a:pPr>
            <a:r>
              <a:rPr lang="en-US" sz="1800">
                <a:latin typeface="Calibri"/>
                <a:ea typeface="Calibri"/>
                <a:cs typeface="Calibri"/>
                <a:sym typeface="Calibri"/>
              </a:rPr>
              <a:t>See also: </a:t>
            </a:r>
            <a:r>
              <a:rPr lang="en-US" sz="1800" u="sng">
                <a:solidFill>
                  <a:schemeClr val="hlink"/>
                </a:solidFill>
                <a:latin typeface="Calibri"/>
                <a:ea typeface="Calibri"/>
                <a:cs typeface="Calibri"/>
                <a:sym typeface="Calibri"/>
                <a:hlinkClick r:id="rId4"/>
              </a:rPr>
              <a:t>https://aws.amazon.com/rekognition/</a:t>
            </a:r>
            <a:r>
              <a:rPr lang="en-US" sz="1800">
                <a:solidFill>
                  <a:srgbClr val="0000FF"/>
                </a:solidFill>
                <a:latin typeface="Calibri"/>
                <a:ea typeface="Calibri"/>
                <a:cs typeface="Calibri"/>
                <a:sym typeface="Calibri"/>
              </a:rPr>
              <a:t> </a:t>
            </a:r>
            <a:r>
              <a:rPr lang="en-US" sz="1800" u="sng">
                <a:solidFill>
                  <a:schemeClr val="hlink"/>
                </a:solidFill>
                <a:latin typeface="Calibri"/>
                <a:ea typeface="Calibri"/>
                <a:cs typeface="Calibri"/>
                <a:sym typeface="Calibri"/>
                <a:hlinkClick r:id="rId5"/>
              </a:rPr>
              <a:t>https://www.clarifai.com/</a:t>
            </a:r>
            <a:endParaRPr sz="1800">
              <a:latin typeface="Calibri"/>
              <a:ea typeface="Calibri"/>
              <a:cs typeface="Calibri"/>
              <a:sym typeface="Calibri"/>
            </a:endParaRPr>
          </a:p>
          <a:p>
            <a:pPr marL="12700" lvl="0" indent="0" algn="l" rtl="0">
              <a:lnSpc>
                <a:spcPct val="100000"/>
              </a:lnSpc>
              <a:spcBef>
                <a:spcPts val="20"/>
              </a:spcBef>
              <a:spcAft>
                <a:spcPts val="0"/>
              </a:spcAft>
              <a:buNone/>
            </a:pPr>
            <a:r>
              <a:rPr lang="en-US" sz="1800" u="sng">
                <a:solidFill>
                  <a:schemeClr val="hlink"/>
                </a:solidFill>
                <a:latin typeface="Calibri"/>
                <a:ea typeface="Calibri"/>
                <a:cs typeface="Calibri"/>
                <a:sym typeface="Calibri"/>
                <a:hlinkClick r:id="rId6"/>
              </a:rPr>
              <a:t>https://azure.microsoft.com/en-us/services/cognitive-services/computer-vision/</a:t>
            </a:r>
            <a:endParaRPr sz="1800">
              <a:latin typeface="Calibri"/>
              <a:ea typeface="Calibri"/>
              <a:cs typeface="Calibri"/>
              <a:sym typeface="Calibri"/>
            </a:endParaRPr>
          </a:p>
          <a:p>
            <a:pPr marL="165100" lvl="0" indent="0" algn="l" rtl="0">
              <a:lnSpc>
                <a:spcPct val="100000"/>
              </a:lnSpc>
              <a:spcBef>
                <a:spcPts val="20"/>
              </a:spcBef>
              <a:spcAft>
                <a:spcPts val="0"/>
              </a:spcAft>
              <a:buNone/>
            </a:pPr>
            <a:r>
              <a:rPr lang="en-US" sz="1800">
                <a:latin typeface="Calibri"/>
                <a:ea typeface="Calibri"/>
                <a:cs typeface="Calibri"/>
                <a:sym typeface="Calibri"/>
              </a:rPr>
              <a:t>…</a:t>
            </a:r>
            <a:endParaRPr sz="1800">
              <a:latin typeface="Calibri"/>
              <a:ea typeface="Calibri"/>
              <a:cs typeface="Calibri"/>
              <a:sym typeface="Calibri"/>
            </a:endParaRPr>
          </a:p>
        </p:txBody>
      </p:sp>
      <p:pic>
        <p:nvPicPr>
          <p:cNvPr id="242" name="Google Shape;242;g3292fd40077_1_71"/>
          <p:cNvPicPr preferRelativeResize="0"/>
          <p:nvPr/>
        </p:nvPicPr>
        <p:blipFill rotWithShape="1">
          <a:blip r:embed="rId7">
            <a:alphaModFix/>
          </a:blip>
          <a:srcRect/>
          <a:stretch/>
        </p:blipFill>
        <p:spPr>
          <a:xfrm>
            <a:off x="2590800" y="1229710"/>
            <a:ext cx="5257800" cy="3648075"/>
          </a:xfrm>
          <a:prstGeom prst="rect">
            <a:avLst/>
          </a:prstGeom>
          <a:noFill/>
          <a:ln>
            <a:noFill/>
          </a:ln>
        </p:spPr>
      </p:pic>
      <p:sp>
        <p:nvSpPr>
          <p:cNvPr id="243" name="Google Shape;243;g3292fd40077_1_71"/>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247"/>
        <p:cNvGrpSpPr/>
        <p:nvPr/>
      </p:nvGrpSpPr>
      <p:grpSpPr>
        <a:xfrm>
          <a:off x="0" y="0"/>
          <a:ext cx="0" cy="0"/>
          <a:chOff x="0" y="0"/>
          <a:chExt cx="0" cy="0"/>
        </a:xfrm>
      </p:grpSpPr>
      <p:sp>
        <p:nvSpPr>
          <p:cNvPr id="248" name="Google Shape;248;g3292fd40077_1_77"/>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2110105" lvl="0" indent="0" algn="l" rtl="0">
              <a:lnSpc>
                <a:spcPct val="100000"/>
              </a:lnSpc>
              <a:spcBef>
                <a:spcPts val="0"/>
              </a:spcBef>
              <a:spcAft>
                <a:spcPts val="0"/>
              </a:spcAft>
              <a:buNone/>
            </a:pPr>
            <a:r>
              <a:rPr lang="en-US"/>
              <a:t>Image Classification</a:t>
            </a:r>
            <a:endParaRPr/>
          </a:p>
        </p:txBody>
      </p:sp>
      <p:pic>
        <p:nvPicPr>
          <p:cNvPr id="249" name="Google Shape;249;g3292fd40077_1_77"/>
          <p:cNvPicPr preferRelativeResize="0"/>
          <p:nvPr/>
        </p:nvPicPr>
        <p:blipFill rotWithShape="1">
          <a:blip r:embed="rId3">
            <a:alphaModFix/>
          </a:blip>
          <a:srcRect/>
          <a:stretch/>
        </p:blipFill>
        <p:spPr>
          <a:xfrm>
            <a:off x="570643" y="1803967"/>
            <a:ext cx="7938243" cy="4185040"/>
          </a:xfrm>
          <a:prstGeom prst="rect">
            <a:avLst/>
          </a:prstGeom>
          <a:noFill/>
          <a:ln>
            <a:noFill/>
          </a:ln>
        </p:spPr>
      </p:pic>
      <p:sp>
        <p:nvSpPr>
          <p:cNvPr id="250" name="Google Shape;250;g3292fd40077_1_77"/>
          <p:cNvSpPr txBox="1"/>
          <p:nvPr/>
        </p:nvSpPr>
        <p:spPr>
          <a:xfrm>
            <a:off x="8845635" y="6500177"/>
            <a:ext cx="3208020" cy="32702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50">
                <a:latin typeface="Arial"/>
                <a:ea typeface="Arial"/>
                <a:cs typeface="Arial"/>
                <a:sym typeface="Arial"/>
              </a:rPr>
              <a:t>Slides from Andrej Karpathy and Fei-Fei Li</a:t>
            </a:r>
            <a:endParaRPr sz="950">
              <a:latin typeface="Arial"/>
              <a:ea typeface="Arial"/>
              <a:cs typeface="Arial"/>
              <a:sym typeface="Arial"/>
            </a:endParaRPr>
          </a:p>
          <a:p>
            <a:pPr marL="12700" lvl="0" indent="0" algn="l" rtl="0">
              <a:lnSpc>
                <a:spcPct val="100000"/>
              </a:lnSpc>
              <a:spcBef>
                <a:spcPts val="60"/>
              </a:spcBef>
              <a:spcAft>
                <a:spcPts val="0"/>
              </a:spcAft>
              <a:buNone/>
            </a:pPr>
            <a:r>
              <a:rPr lang="en-US" sz="950" u="sng">
                <a:solidFill>
                  <a:schemeClr val="hlink"/>
                </a:solidFill>
                <a:latin typeface="Arial"/>
                <a:ea typeface="Arial"/>
                <a:cs typeface="Arial"/>
                <a:sym typeface="Arial"/>
                <a:hlinkClick r:id="rId4"/>
              </a:rPr>
              <a:t>http://vision.stanford.edu/teaching/cs231n/</a:t>
            </a:r>
            <a:endParaRPr sz="950">
              <a:latin typeface="Arial"/>
              <a:ea typeface="Arial"/>
              <a:cs typeface="Arial"/>
              <a:sym typeface="Arial"/>
            </a:endParaRPr>
          </a:p>
        </p:txBody>
      </p:sp>
      <p:sp>
        <p:nvSpPr>
          <p:cNvPr id="251" name="Google Shape;251;g3292fd40077_1_77"/>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255"/>
        <p:cNvGrpSpPr/>
        <p:nvPr/>
      </p:nvGrpSpPr>
      <p:grpSpPr>
        <a:xfrm>
          <a:off x="0" y="0"/>
          <a:ext cx="0" cy="0"/>
          <a:chOff x="0" y="0"/>
          <a:chExt cx="0" cy="0"/>
        </a:xfrm>
      </p:grpSpPr>
      <p:sp>
        <p:nvSpPr>
          <p:cNvPr id="256" name="Google Shape;256;g3292fd40077_1_83"/>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1022985" lvl="0" indent="0" algn="l" rtl="0">
              <a:lnSpc>
                <a:spcPct val="100000"/>
              </a:lnSpc>
              <a:spcBef>
                <a:spcPts val="0"/>
              </a:spcBef>
              <a:spcAft>
                <a:spcPts val="0"/>
              </a:spcAft>
              <a:buNone/>
            </a:pPr>
            <a:r>
              <a:rPr lang="en-US"/>
              <a:t>Image Classification: Problem</a:t>
            </a:r>
            <a:endParaRPr/>
          </a:p>
        </p:txBody>
      </p:sp>
      <p:pic>
        <p:nvPicPr>
          <p:cNvPr id="257" name="Google Shape;257;g3292fd40077_1_83"/>
          <p:cNvPicPr preferRelativeResize="0"/>
          <p:nvPr/>
        </p:nvPicPr>
        <p:blipFill rotWithShape="1">
          <a:blip r:embed="rId3">
            <a:alphaModFix/>
          </a:blip>
          <a:srcRect/>
          <a:stretch/>
        </p:blipFill>
        <p:spPr>
          <a:xfrm>
            <a:off x="1727200" y="1828800"/>
            <a:ext cx="6858000" cy="4791075"/>
          </a:xfrm>
          <a:prstGeom prst="rect">
            <a:avLst/>
          </a:prstGeom>
          <a:noFill/>
          <a:ln>
            <a:noFill/>
          </a:ln>
        </p:spPr>
      </p:pic>
      <p:sp>
        <p:nvSpPr>
          <p:cNvPr id="258" name="Google Shape;258;g3292fd40077_1_83"/>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
        <p:nvSpPr>
          <p:cNvPr id="3" name="TextBox 2">
            <a:extLst>
              <a:ext uri="{FF2B5EF4-FFF2-40B4-BE49-F238E27FC236}">
                <a16:creationId xmlns:a16="http://schemas.microsoft.com/office/drawing/2014/main" id="{76841800-7F38-EB46-EA44-E8CC295056C5}"/>
              </a:ext>
            </a:extLst>
          </p:cNvPr>
          <p:cNvSpPr txBox="1"/>
          <p:nvPr/>
        </p:nvSpPr>
        <p:spPr>
          <a:xfrm>
            <a:off x="8859944" y="1265791"/>
            <a:ext cx="2386125" cy="1600438"/>
          </a:xfrm>
          <a:prstGeom prst="rect">
            <a:avLst/>
          </a:prstGeom>
          <a:noFill/>
        </p:spPr>
        <p:txBody>
          <a:bodyPr wrap="square">
            <a:spAutoFit/>
          </a:bodyPr>
          <a:lstStyle/>
          <a:p>
            <a:r>
              <a:rPr lang="en-US" b="0" i="0" dirty="0">
                <a:solidFill>
                  <a:srgbClr val="424242"/>
                </a:solidFill>
                <a:effectLst/>
                <a:latin typeface="Segoe UI" panose="020B0502040204020203" pitchFamily="34" charset="0"/>
              </a:rPr>
              <a:t>The goal of image classification is to take this grid of numbers and determine what the image represents. In this case, the task is to classify the image as a "cat."</a:t>
            </a:r>
            <a:endParaRPr lang="en-US" dirty="0"/>
          </a:p>
        </p:txBody>
      </p:sp>
      <p:sp>
        <p:nvSpPr>
          <p:cNvPr id="5" name="TextBox 4">
            <a:extLst>
              <a:ext uri="{FF2B5EF4-FFF2-40B4-BE49-F238E27FC236}">
                <a16:creationId xmlns:a16="http://schemas.microsoft.com/office/drawing/2014/main" id="{3593E23B-4234-D32F-1C53-692F936074D6}"/>
              </a:ext>
            </a:extLst>
          </p:cNvPr>
          <p:cNvSpPr txBox="1"/>
          <p:nvPr/>
        </p:nvSpPr>
        <p:spPr>
          <a:xfrm>
            <a:off x="8761729" y="3428999"/>
            <a:ext cx="2810161" cy="1600438"/>
          </a:xfrm>
          <a:prstGeom prst="rect">
            <a:avLst/>
          </a:prstGeom>
          <a:noFill/>
        </p:spPr>
        <p:txBody>
          <a:bodyPr wrap="square">
            <a:spAutoFit/>
          </a:bodyPr>
          <a:lstStyle/>
          <a:p>
            <a:r>
              <a:rPr lang="en-US" b="0" i="0" dirty="0">
                <a:solidFill>
                  <a:srgbClr val="424242"/>
                </a:solidFill>
                <a:effectLst/>
                <a:latin typeface="Segoe UI" panose="020B0502040204020203" pitchFamily="34" charset="0"/>
              </a:rPr>
              <a:t>Instead of seeing the image as a whole, the computer sees a grid of numbers. These numbers represent pixel values, which encode information about the color and intensity of each part of the image.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262"/>
        <p:cNvGrpSpPr/>
        <p:nvPr/>
      </p:nvGrpSpPr>
      <p:grpSpPr>
        <a:xfrm>
          <a:off x="0" y="0"/>
          <a:ext cx="0" cy="0"/>
          <a:chOff x="0" y="0"/>
          <a:chExt cx="0" cy="0"/>
        </a:xfrm>
      </p:grpSpPr>
      <p:pic>
        <p:nvPicPr>
          <p:cNvPr id="263" name="Google Shape;263;g3292fd40077_1_88"/>
          <p:cNvPicPr preferRelativeResize="0"/>
          <p:nvPr/>
        </p:nvPicPr>
        <p:blipFill rotWithShape="1">
          <a:blip r:embed="rId3">
            <a:alphaModFix/>
          </a:blip>
          <a:srcRect/>
          <a:stretch/>
        </p:blipFill>
        <p:spPr>
          <a:xfrm>
            <a:off x="186943" y="1101050"/>
            <a:ext cx="8546592" cy="4193368"/>
          </a:xfrm>
          <a:prstGeom prst="rect">
            <a:avLst/>
          </a:prstGeom>
          <a:noFill/>
          <a:ln>
            <a:noFill/>
          </a:ln>
        </p:spPr>
      </p:pic>
      <p:sp>
        <p:nvSpPr>
          <p:cNvPr id="264" name="Google Shape;264;g3292fd40077_1_88"/>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
        <p:nvSpPr>
          <p:cNvPr id="3" name="TextBox 2">
            <a:extLst>
              <a:ext uri="{FF2B5EF4-FFF2-40B4-BE49-F238E27FC236}">
                <a16:creationId xmlns:a16="http://schemas.microsoft.com/office/drawing/2014/main" id="{A4CDB8A5-EE88-720E-E083-F87F4B049DC0}"/>
              </a:ext>
            </a:extLst>
          </p:cNvPr>
          <p:cNvSpPr txBox="1"/>
          <p:nvPr/>
        </p:nvSpPr>
        <p:spPr>
          <a:xfrm>
            <a:off x="9144000" y="1101050"/>
            <a:ext cx="2575034" cy="5878532"/>
          </a:xfrm>
          <a:prstGeom prst="rect">
            <a:avLst/>
          </a:prstGeom>
          <a:noFill/>
        </p:spPr>
        <p:txBody>
          <a:bodyPr wrap="square">
            <a:spAutoFit/>
          </a:bodyPr>
          <a:lstStyle/>
          <a:p>
            <a:pPr marL="285750" indent="-285750">
              <a:buFont typeface="Arial" panose="020B0604020202020204" pitchFamily="34" charset="0"/>
              <a:buChar char="•"/>
            </a:pPr>
            <a:r>
              <a:rPr lang="en-US" sz="1200" b="1" dirty="0"/>
              <a:t>Viewpoint: </a:t>
            </a:r>
            <a:r>
              <a:rPr lang="en-US" sz="1200" dirty="0">
                <a:solidFill>
                  <a:srgbClr val="424242"/>
                </a:solidFill>
                <a:latin typeface="Segoe UI" panose="020B0502040204020203" pitchFamily="34" charset="0"/>
              </a:rPr>
              <a:t>C</a:t>
            </a:r>
            <a:r>
              <a:rPr lang="en-US" sz="1200" b="0" i="0" dirty="0">
                <a:solidFill>
                  <a:srgbClr val="424242"/>
                </a:solidFill>
                <a:effectLst/>
                <a:latin typeface="Segoe UI" panose="020B0502040204020203" pitchFamily="34" charset="0"/>
              </a:rPr>
              <a:t>at viewed from the front looks different from a cat viewed from the side or above. Image classification models need to be robust to these changes in viewpoint.</a:t>
            </a:r>
          </a:p>
          <a:p>
            <a:pPr marL="285750" indent="-285750">
              <a:buFont typeface="Arial" panose="020B0604020202020204" pitchFamily="34" charset="0"/>
              <a:buChar char="•"/>
            </a:pPr>
            <a:r>
              <a:rPr lang="en-US" sz="1200" b="1" dirty="0"/>
              <a:t>Illumination: </a:t>
            </a:r>
            <a:r>
              <a:rPr lang="en-US" sz="1200" dirty="0"/>
              <a:t>Lighting conditions can alter the appearance of an object.</a:t>
            </a:r>
          </a:p>
          <a:p>
            <a:pPr marL="285750" indent="-285750">
              <a:buFont typeface="Arial" panose="020B0604020202020204" pitchFamily="34" charset="0"/>
              <a:buChar char="•"/>
            </a:pPr>
            <a:r>
              <a:rPr lang="en-US" sz="1200" b="1" dirty="0"/>
              <a:t>Deformation</a:t>
            </a:r>
            <a:r>
              <a:rPr lang="en-US" sz="1200" dirty="0"/>
              <a:t>: Objects can change shape or position, especially if they are flexible or articulated, like animals</a:t>
            </a:r>
          </a:p>
          <a:p>
            <a:pPr marL="285750" indent="-285750">
              <a:buFont typeface="Arial" panose="020B0604020202020204" pitchFamily="34" charset="0"/>
              <a:buChar char="•"/>
            </a:pPr>
            <a:r>
              <a:rPr lang="en-US" sz="1200" b="1" dirty="0"/>
              <a:t>Occlusion</a:t>
            </a:r>
            <a:r>
              <a:rPr lang="en-US" sz="1200" dirty="0"/>
              <a:t>: Sometimes, parts of an object are hidden from view, either by other objects or by the object itself.</a:t>
            </a:r>
          </a:p>
          <a:p>
            <a:pPr marL="285750" indent="-285750">
              <a:buFont typeface="Arial" panose="020B0604020202020204" pitchFamily="34" charset="0"/>
              <a:buChar char="•"/>
            </a:pPr>
            <a:r>
              <a:rPr lang="en-US" sz="1200" b="1" dirty="0"/>
              <a:t>Clutter</a:t>
            </a:r>
            <a:r>
              <a:rPr lang="en-US" sz="1200" dirty="0"/>
              <a:t>: The presence of other objects or a busy background can make it difficult to isolate the object of interest</a:t>
            </a:r>
          </a:p>
          <a:p>
            <a:pPr marL="285750" indent="-285750">
              <a:buFont typeface="Arial" panose="020B0604020202020204" pitchFamily="34" charset="0"/>
              <a:buChar char="•"/>
            </a:pPr>
            <a:r>
              <a:rPr lang="en-US" b="1" dirty="0"/>
              <a:t>Intraclass Variation</a:t>
            </a:r>
            <a:r>
              <a:rPr lang="en-US" dirty="0"/>
              <a:t>: Even within the same category, there can be significant variation. Different breeds of cats, for example, can have different colors, sizes, and shapes.</a:t>
            </a:r>
            <a:endParaRPr lang="en-US" sz="1200" dirty="0"/>
          </a:p>
          <a:p>
            <a:pPr marL="285750" indent="-285750">
              <a:buFont typeface="Arial" panose="020B0604020202020204" pitchFamily="34" charset="0"/>
              <a:buChar char="•"/>
            </a:pP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283"/>
        <p:cNvGrpSpPr/>
        <p:nvPr/>
      </p:nvGrpSpPr>
      <p:grpSpPr>
        <a:xfrm>
          <a:off x="0" y="0"/>
          <a:ext cx="0" cy="0"/>
          <a:chOff x="0" y="0"/>
          <a:chExt cx="0" cy="0"/>
        </a:xfrm>
      </p:grpSpPr>
      <p:pic>
        <p:nvPicPr>
          <p:cNvPr id="284" name="Google Shape;284;g3292fd40077_1_97"/>
          <p:cNvPicPr preferRelativeResize="0"/>
          <p:nvPr/>
        </p:nvPicPr>
        <p:blipFill rotWithShape="1">
          <a:blip r:embed="rId3">
            <a:alphaModFix/>
          </a:blip>
          <a:srcRect/>
          <a:stretch/>
        </p:blipFill>
        <p:spPr>
          <a:xfrm>
            <a:off x="1530001" y="3236321"/>
            <a:ext cx="6673206" cy="3424101"/>
          </a:xfrm>
          <a:prstGeom prst="rect">
            <a:avLst/>
          </a:prstGeom>
          <a:noFill/>
          <a:ln>
            <a:noFill/>
          </a:ln>
        </p:spPr>
      </p:pic>
      <p:sp>
        <p:nvSpPr>
          <p:cNvPr id="285" name="Google Shape;285;g3292fd40077_1_97"/>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1890395" lvl="0" indent="0" algn="l" rtl="0">
              <a:lnSpc>
                <a:spcPct val="100000"/>
              </a:lnSpc>
              <a:spcBef>
                <a:spcPts val="0"/>
              </a:spcBef>
              <a:spcAft>
                <a:spcPts val="0"/>
              </a:spcAft>
              <a:buNone/>
            </a:pPr>
            <a:r>
              <a:rPr lang="en-US"/>
              <a:t>Data-driven approach</a:t>
            </a:r>
            <a:endParaRPr/>
          </a:p>
        </p:txBody>
      </p:sp>
      <p:sp>
        <p:nvSpPr>
          <p:cNvPr id="286" name="Google Shape;286;g3292fd40077_1_97"/>
          <p:cNvSpPr txBox="1">
            <a:spLocks noGrp="1"/>
          </p:cNvSpPr>
          <p:nvPr>
            <p:ph type="body" idx="1"/>
          </p:nvPr>
        </p:nvSpPr>
        <p:spPr>
          <a:xfrm>
            <a:off x="715433" y="1517936"/>
            <a:ext cx="9275233" cy="1627505"/>
          </a:xfrm>
          <a:prstGeom prst="rect">
            <a:avLst/>
          </a:prstGeom>
          <a:noFill/>
          <a:ln>
            <a:noFill/>
          </a:ln>
        </p:spPr>
        <p:txBody>
          <a:bodyPr spcFirstLastPara="1" wrap="square" lIns="0" tIns="57775" rIns="0" bIns="0" anchor="t" anchorCtr="0">
            <a:spAutoFit/>
          </a:bodyPr>
          <a:lstStyle/>
          <a:p>
            <a:pPr marL="355600" lvl="0" indent="-342900" algn="l" rtl="0">
              <a:lnSpc>
                <a:spcPct val="100000"/>
              </a:lnSpc>
              <a:spcBef>
                <a:spcPts val="0"/>
              </a:spcBef>
              <a:spcAft>
                <a:spcPts val="0"/>
              </a:spcAft>
              <a:buClr>
                <a:schemeClr val="dk1"/>
              </a:buClr>
              <a:buSzPts val="3200"/>
              <a:buFont typeface="Arial"/>
              <a:buChar char="•"/>
            </a:pPr>
            <a:r>
              <a:rPr lang="en-US"/>
              <a:t>Collect a database of images with labels</a:t>
            </a:r>
            <a:endParaRPr/>
          </a:p>
          <a:p>
            <a:pPr marL="355600" lvl="0" indent="-342900" algn="l" rtl="0">
              <a:lnSpc>
                <a:spcPct val="100000"/>
              </a:lnSpc>
              <a:spcBef>
                <a:spcPts val="365"/>
              </a:spcBef>
              <a:spcAft>
                <a:spcPts val="0"/>
              </a:spcAft>
              <a:buClr>
                <a:schemeClr val="dk1"/>
              </a:buClr>
              <a:buSzPts val="3200"/>
              <a:buFont typeface="Arial"/>
              <a:buChar char="•"/>
            </a:pPr>
            <a:r>
              <a:rPr lang="en-US"/>
              <a:t>Use ML to train an image classifier</a:t>
            </a:r>
            <a:endParaRPr/>
          </a:p>
          <a:p>
            <a:pPr marL="355600" lvl="0" indent="-342900" algn="l" rtl="0">
              <a:lnSpc>
                <a:spcPct val="100000"/>
              </a:lnSpc>
              <a:spcBef>
                <a:spcPts val="365"/>
              </a:spcBef>
              <a:spcAft>
                <a:spcPts val="0"/>
              </a:spcAft>
              <a:buClr>
                <a:schemeClr val="dk1"/>
              </a:buClr>
              <a:buSzPts val="3200"/>
              <a:buFont typeface="Arial"/>
              <a:buChar char="•"/>
            </a:pPr>
            <a:r>
              <a:rPr lang="en-US"/>
              <a:t>Evaluate the classifier on test images</a:t>
            </a:r>
            <a:endParaRPr/>
          </a:p>
        </p:txBody>
      </p:sp>
      <p:sp>
        <p:nvSpPr>
          <p:cNvPr id="287" name="Google Shape;287;g3292fd40077_1_97"/>
          <p:cNvSpPr txBox="1"/>
          <p:nvPr/>
        </p:nvSpPr>
        <p:spPr>
          <a:xfrm>
            <a:off x="8845635" y="6500177"/>
            <a:ext cx="3208020" cy="32702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50">
                <a:latin typeface="Arial"/>
                <a:ea typeface="Arial"/>
                <a:cs typeface="Arial"/>
                <a:sym typeface="Arial"/>
              </a:rPr>
              <a:t>Slides from Andrej Karpathy and Fei-Fei Li</a:t>
            </a:r>
            <a:endParaRPr sz="950">
              <a:latin typeface="Arial"/>
              <a:ea typeface="Arial"/>
              <a:cs typeface="Arial"/>
              <a:sym typeface="Arial"/>
            </a:endParaRPr>
          </a:p>
          <a:p>
            <a:pPr marL="12700" lvl="0" indent="0" algn="l" rtl="0">
              <a:lnSpc>
                <a:spcPct val="100000"/>
              </a:lnSpc>
              <a:spcBef>
                <a:spcPts val="60"/>
              </a:spcBef>
              <a:spcAft>
                <a:spcPts val="0"/>
              </a:spcAft>
              <a:buNone/>
            </a:pPr>
            <a:r>
              <a:rPr lang="en-US" sz="950" u="sng">
                <a:solidFill>
                  <a:schemeClr val="hlink"/>
                </a:solidFill>
                <a:latin typeface="Arial"/>
                <a:ea typeface="Arial"/>
                <a:cs typeface="Arial"/>
                <a:sym typeface="Arial"/>
                <a:hlinkClick r:id="rId4"/>
              </a:rPr>
              <a:t>http://vision.stanford.edu/teaching/cs231n/</a:t>
            </a:r>
            <a:endParaRPr sz="950">
              <a:latin typeface="Arial"/>
              <a:ea typeface="Arial"/>
              <a:cs typeface="Arial"/>
              <a:sym typeface="Arial"/>
            </a:endParaRPr>
          </a:p>
        </p:txBody>
      </p:sp>
      <p:sp>
        <p:nvSpPr>
          <p:cNvPr id="288" name="Google Shape;288;g3292fd40077_1_97"/>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292"/>
        <p:cNvGrpSpPr/>
        <p:nvPr/>
      </p:nvGrpSpPr>
      <p:grpSpPr>
        <a:xfrm>
          <a:off x="0" y="0"/>
          <a:ext cx="0" cy="0"/>
          <a:chOff x="0" y="0"/>
          <a:chExt cx="0" cy="0"/>
        </a:xfrm>
      </p:grpSpPr>
      <p:sp>
        <p:nvSpPr>
          <p:cNvPr id="293" name="Google Shape;293;g3292fd40077_1_104"/>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1890395" lvl="0" indent="0" algn="l" rtl="0">
              <a:lnSpc>
                <a:spcPct val="100000"/>
              </a:lnSpc>
              <a:spcBef>
                <a:spcPts val="0"/>
              </a:spcBef>
              <a:spcAft>
                <a:spcPts val="0"/>
              </a:spcAft>
              <a:buNone/>
            </a:pPr>
            <a:r>
              <a:rPr lang="en-US"/>
              <a:t>Data-driven approach</a:t>
            </a:r>
            <a:endParaRPr/>
          </a:p>
        </p:txBody>
      </p:sp>
      <p:sp>
        <p:nvSpPr>
          <p:cNvPr id="294" name="Google Shape;294;g3292fd40077_1_104"/>
          <p:cNvSpPr txBox="1">
            <a:spLocks noGrp="1"/>
          </p:cNvSpPr>
          <p:nvPr>
            <p:ph type="body" idx="1"/>
          </p:nvPr>
        </p:nvSpPr>
        <p:spPr>
          <a:xfrm>
            <a:off x="715433" y="1517936"/>
            <a:ext cx="9275233" cy="1084261"/>
          </a:xfrm>
          <a:prstGeom prst="rect">
            <a:avLst/>
          </a:prstGeom>
          <a:noFill/>
          <a:ln>
            <a:noFill/>
          </a:ln>
        </p:spPr>
        <p:txBody>
          <a:bodyPr spcFirstLastPara="1" wrap="square" lIns="0" tIns="57775" rIns="0" bIns="0" anchor="t" anchorCtr="0">
            <a:spAutoFit/>
          </a:bodyPr>
          <a:lstStyle/>
          <a:p>
            <a:pPr marL="355600" lvl="0" indent="-342900" algn="l" rtl="0">
              <a:lnSpc>
                <a:spcPct val="100000"/>
              </a:lnSpc>
              <a:spcBef>
                <a:spcPts val="0"/>
              </a:spcBef>
              <a:spcAft>
                <a:spcPts val="0"/>
              </a:spcAft>
              <a:buClr>
                <a:schemeClr val="dk1"/>
              </a:buClr>
              <a:buSzPts val="3200"/>
              <a:buFont typeface="Arial"/>
              <a:buChar char="•"/>
            </a:pPr>
            <a:r>
              <a:rPr lang="en-US" sz="1200" dirty="0"/>
              <a:t>Collect a database of images with labels</a:t>
            </a:r>
            <a:endParaRPr sz="1200" dirty="0"/>
          </a:p>
          <a:p>
            <a:pPr marL="355600" indent="-342900">
              <a:spcBef>
                <a:spcPts val="365"/>
              </a:spcBef>
              <a:buClr>
                <a:schemeClr val="dk1"/>
              </a:buClr>
              <a:buSzPts val="3200"/>
              <a:buFont typeface="Arial"/>
              <a:buChar char="•"/>
            </a:pPr>
            <a:r>
              <a:rPr lang="en-US" sz="1200" dirty="0"/>
              <a:t>Use ML to train an image classifier - During this phase, the model processes the training images and adjusts its parameters to minimize the error between its predictions and the actual labels. This involves techniques like backpropagation and optimization algorithms such as gradient descent.</a:t>
            </a:r>
            <a:endParaRPr dirty="0"/>
          </a:p>
          <a:p>
            <a:pPr marL="355600" lvl="0" indent="-342900" algn="l" rtl="0">
              <a:lnSpc>
                <a:spcPct val="100000"/>
              </a:lnSpc>
              <a:spcBef>
                <a:spcPts val="365"/>
              </a:spcBef>
              <a:spcAft>
                <a:spcPts val="0"/>
              </a:spcAft>
              <a:buClr>
                <a:schemeClr val="dk1"/>
              </a:buClr>
              <a:buSzPts val="3200"/>
              <a:buFont typeface="Arial"/>
              <a:buChar char="•"/>
            </a:pPr>
            <a:r>
              <a:rPr lang="en-US" sz="1200" dirty="0"/>
              <a:t>Evaluate the classifier on test images</a:t>
            </a:r>
            <a:endParaRPr sz="1200" dirty="0"/>
          </a:p>
        </p:txBody>
      </p:sp>
      <p:pic>
        <p:nvPicPr>
          <p:cNvPr id="295" name="Google Shape;295;g3292fd40077_1_104"/>
          <p:cNvPicPr preferRelativeResize="0"/>
          <p:nvPr/>
        </p:nvPicPr>
        <p:blipFill rotWithShape="1">
          <a:blip r:embed="rId3">
            <a:alphaModFix/>
          </a:blip>
          <a:srcRect/>
          <a:stretch/>
        </p:blipFill>
        <p:spPr>
          <a:xfrm>
            <a:off x="745067" y="3657600"/>
            <a:ext cx="6337300" cy="2019300"/>
          </a:xfrm>
          <a:prstGeom prst="rect">
            <a:avLst/>
          </a:prstGeom>
          <a:noFill/>
          <a:ln>
            <a:noFill/>
          </a:ln>
        </p:spPr>
      </p:pic>
      <p:sp>
        <p:nvSpPr>
          <p:cNvPr id="296" name="Google Shape;296;g3292fd40077_1_104"/>
          <p:cNvSpPr txBox="1"/>
          <p:nvPr/>
        </p:nvSpPr>
        <p:spPr>
          <a:xfrm>
            <a:off x="8845635" y="6500177"/>
            <a:ext cx="3208020" cy="32702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50">
                <a:latin typeface="Arial"/>
                <a:ea typeface="Arial"/>
                <a:cs typeface="Arial"/>
                <a:sym typeface="Arial"/>
              </a:rPr>
              <a:t>Slides from Andrej Karpathy and Fei-Fei Li</a:t>
            </a:r>
            <a:endParaRPr sz="950">
              <a:latin typeface="Arial"/>
              <a:ea typeface="Arial"/>
              <a:cs typeface="Arial"/>
              <a:sym typeface="Arial"/>
            </a:endParaRPr>
          </a:p>
          <a:p>
            <a:pPr marL="12700" lvl="0" indent="0" algn="l" rtl="0">
              <a:lnSpc>
                <a:spcPct val="100000"/>
              </a:lnSpc>
              <a:spcBef>
                <a:spcPts val="60"/>
              </a:spcBef>
              <a:spcAft>
                <a:spcPts val="0"/>
              </a:spcAft>
              <a:buNone/>
            </a:pPr>
            <a:r>
              <a:rPr lang="en-US" sz="950" u="sng">
                <a:solidFill>
                  <a:schemeClr val="hlink"/>
                </a:solidFill>
                <a:latin typeface="Arial"/>
                <a:ea typeface="Arial"/>
                <a:cs typeface="Arial"/>
                <a:sym typeface="Arial"/>
                <a:hlinkClick r:id="rId4"/>
              </a:rPr>
              <a:t>http://vision.stanford.edu/teaching/cs231n/</a:t>
            </a:r>
            <a:endParaRPr sz="950">
              <a:latin typeface="Arial"/>
              <a:ea typeface="Arial"/>
              <a:cs typeface="Arial"/>
              <a:sym typeface="Arial"/>
            </a:endParaRPr>
          </a:p>
        </p:txBody>
      </p:sp>
      <p:sp>
        <p:nvSpPr>
          <p:cNvPr id="297" name="Google Shape;297;g3292fd40077_1_104"/>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301"/>
        <p:cNvGrpSpPr/>
        <p:nvPr/>
      </p:nvGrpSpPr>
      <p:grpSpPr>
        <a:xfrm>
          <a:off x="0" y="0"/>
          <a:ext cx="0" cy="0"/>
          <a:chOff x="0" y="0"/>
          <a:chExt cx="0" cy="0"/>
        </a:xfrm>
      </p:grpSpPr>
      <p:grpSp>
        <p:nvGrpSpPr>
          <p:cNvPr id="302" name="Google Shape;302;g3292fd40077_1_111"/>
          <p:cNvGrpSpPr/>
          <p:nvPr/>
        </p:nvGrpSpPr>
        <p:grpSpPr>
          <a:xfrm>
            <a:off x="46928" y="1077308"/>
            <a:ext cx="12145495" cy="5676900"/>
            <a:chOff x="35196" y="1066798"/>
            <a:chExt cx="9109121" cy="5676900"/>
          </a:xfrm>
        </p:grpSpPr>
        <p:pic>
          <p:nvPicPr>
            <p:cNvPr id="303" name="Google Shape;303;g3292fd40077_1_111"/>
            <p:cNvPicPr preferRelativeResize="0"/>
            <p:nvPr/>
          </p:nvPicPr>
          <p:blipFill rotWithShape="1">
            <a:blip r:embed="rId3">
              <a:alphaModFix/>
            </a:blip>
            <a:srcRect/>
            <a:stretch/>
          </p:blipFill>
          <p:spPr>
            <a:xfrm>
              <a:off x="35196" y="1066798"/>
              <a:ext cx="9066568" cy="5676900"/>
            </a:xfrm>
            <a:prstGeom prst="rect">
              <a:avLst/>
            </a:prstGeom>
            <a:noFill/>
            <a:ln>
              <a:noFill/>
            </a:ln>
          </p:spPr>
        </p:pic>
        <p:sp>
          <p:nvSpPr>
            <p:cNvPr id="304" name="Google Shape;304;g3292fd40077_1_111"/>
            <p:cNvSpPr/>
            <p:nvPr/>
          </p:nvSpPr>
          <p:spPr>
            <a:xfrm>
              <a:off x="80962" y="4729162"/>
              <a:ext cx="9063355" cy="1752600"/>
            </a:xfrm>
            <a:custGeom>
              <a:avLst/>
              <a:gdLst/>
              <a:ahLst/>
              <a:cxnLst/>
              <a:rect l="l" t="t" r="r" b="b"/>
              <a:pathLst>
                <a:path w="9063355" h="1752600" extrusionOk="0">
                  <a:moveTo>
                    <a:pt x="9063037" y="0"/>
                  </a:moveTo>
                  <a:lnTo>
                    <a:pt x="0" y="0"/>
                  </a:lnTo>
                  <a:lnTo>
                    <a:pt x="0" y="1752600"/>
                  </a:lnTo>
                  <a:lnTo>
                    <a:pt x="9063037" y="1752600"/>
                  </a:lnTo>
                  <a:lnTo>
                    <a:pt x="9063037"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05" name="Google Shape;305;g3292fd40077_1_111"/>
            <p:cNvSpPr/>
            <p:nvPr/>
          </p:nvSpPr>
          <p:spPr>
            <a:xfrm>
              <a:off x="80962" y="4729162"/>
              <a:ext cx="9063355" cy="1752600"/>
            </a:xfrm>
            <a:custGeom>
              <a:avLst/>
              <a:gdLst/>
              <a:ahLst/>
              <a:cxnLst/>
              <a:rect l="l" t="t" r="r" b="b"/>
              <a:pathLst>
                <a:path w="9063355" h="1752600" extrusionOk="0">
                  <a:moveTo>
                    <a:pt x="9063037" y="0"/>
                  </a:moveTo>
                  <a:lnTo>
                    <a:pt x="0" y="0"/>
                  </a:lnTo>
                  <a:lnTo>
                    <a:pt x="0" y="1752600"/>
                  </a:lnTo>
                  <a:lnTo>
                    <a:pt x="9063037" y="1752600"/>
                  </a:lnTo>
                </a:path>
              </a:pathLst>
            </a:custGeom>
            <a:noFill/>
            <a:ln w="285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06" name="Google Shape;306;g3292fd40077_1_111"/>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
        <p:nvSpPr>
          <p:cNvPr id="3" name="TextBox 2">
            <a:extLst>
              <a:ext uri="{FF2B5EF4-FFF2-40B4-BE49-F238E27FC236}">
                <a16:creationId xmlns:a16="http://schemas.microsoft.com/office/drawing/2014/main" id="{14BE7996-51E7-AB69-F4CE-3CF2EE8FE64C}"/>
              </a:ext>
            </a:extLst>
          </p:cNvPr>
          <p:cNvSpPr txBox="1"/>
          <p:nvPr/>
        </p:nvSpPr>
        <p:spPr>
          <a:xfrm>
            <a:off x="3489434" y="3876390"/>
            <a:ext cx="3762703" cy="2123658"/>
          </a:xfrm>
          <a:prstGeom prst="rect">
            <a:avLst/>
          </a:prstGeom>
          <a:noFill/>
        </p:spPr>
        <p:txBody>
          <a:bodyPr wrap="square">
            <a:spAutoFit/>
          </a:bodyPr>
          <a:lstStyle/>
          <a:p>
            <a:pPr algn="l">
              <a:buFont typeface="Arial" panose="020B0604020202020204" pitchFamily="34" charset="0"/>
              <a:buChar char="•"/>
            </a:pPr>
            <a:r>
              <a:rPr lang="en-US" sz="1200" b="0" i="0" dirty="0">
                <a:solidFill>
                  <a:srgbClr val="424242"/>
                </a:solidFill>
                <a:effectLst/>
                <a:latin typeface="Segoe UI" panose="020B0502040204020203" pitchFamily="34" charset="0"/>
              </a:rPr>
              <a:t>The next step involves extracting features from the training images. Features are distinctive attributes or patterns that help differentiate one class from another. In traditional computer vision, this might involve techniques like edge detection or color histograms.</a:t>
            </a:r>
          </a:p>
          <a:p>
            <a:pPr algn="l"/>
            <a:endParaRPr lang="en-US" sz="1200" b="0" i="0" dirty="0">
              <a:solidFill>
                <a:srgbClr val="424242"/>
              </a:solidFill>
              <a:effectLst/>
              <a:latin typeface="Segoe UI" panose="020B0502040204020203" pitchFamily="34" charset="0"/>
            </a:endParaRPr>
          </a:p>
          <a:p>
            <a:pPr algn="l">
              <a:buFont typeface="Arial" panose="020B0604020202020204" pitchFamily="34" charset="0"/>
              <a:buChar char="•"/>
            </a:pPr>
            <a:r>
              <a:rPr lang="en-US" sz="1200" b="0" i="0" dirty="0">
                <a:solidFill>
                  <a:srgbClr val="424242"/>
                </a:solidFill>
                <a:effectLst/>
                <a:latin typeface="Segoe UI" panose="020B0502040204020203" pitchFamily="34" charset="0"/>
              </a:rPr>
              <a:t>In modern deep learning approaches, convolutional neural networks (CNNs) automatically learn hierarchical features from raw pixel data, capturing complex patterns and structures.</a:t>
            </a:r>
          </a:p>
        </p:txBody>
      </p:sp>
      <p:sp>
        <p:nvSpPr>
          <p:cNvPr id="5" name="TextBox 4">
            <a:extLst>
              <a:ext uri="{FF2B5EF4-FFF2-40B4-BE49-F238E27FC236}">
                <a16:creationId xmlns:a16="http://schemas.microsoft.com/office/drawing/2014/main" id="{4723B62B-77E4-B451-15DE-13F07D444A1C}"/>
              </a:ext>
            </a:extLst>
          </p:cNvPr>
          <p:cNvSpPr txBox="1"/>
          <p:nvPr/>
        </p:nvSpPr>
        <p:spPr>
          <a:xfrm>
            <a:off x="7388773" y="3944006"/>
            <a:ext cx="1597572" cy="1569660"/>
          </a:xfrm>
          <a:prstGeom prst="rect">
            <a:avLst/>
          </a:prstGeom>
          <a:noFill/>
        </p:spPr>
        <p:txBody>
          <a:bodyPr wrap="square">
            <a:spAutoFit/>
          </a:bodyPr>
          <a:lstStyle/>
          <a:p>
            <a:r>
              <a:rPr lang="en-US" sz="1200" b="0" i="0" dirty="0">
                <a:solidFill>
                  <a:srgbClr val="424242"/>
                </a:solidFill>
                <a:effectLst/>
                <a:latin typeface="Segoe UI" panose="020B0502040204020203" pitchFamily="34" charset="0"/>
              </a:rPr>
              <a:t>The model learns to map features to labels by adjusting its parameters to minimize the error between its predictions and the actual labels.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310"/>
        <p:cNvGrpSpPr/>
        <p:nvPr/>
      </p:nvGrpSpPr>
      <p:grpSpPr>
        <a:xfrm>
          <a:off x="0" y="0"/>
          <a:ext cx="0" cy="0"/>
          <a:chOff x="0" y="0"/>
          <a:chExt cx="0" cy="0"/>
        </a:xfrm>
      </p:grpSpPr>
      <p:pic>
        <p:nvPicPr>
          <p:cNvPr id="311" name="Google Shape;311;g3292fd40077_1_118"/>
          <p:cNvPicPr preferRelativeResize="0"/>
          <p:nvPr/>
        </p:nvPicPr>
        <p:blipFill rotWithShape="1">
          <a:blip r:embed="rId3">
            <a:alphaModFix/>
          </a:blip>
          <a:srcRect/>
          <a:stretch/>
        </p:blipFill>
        <p:spPr>
          <a:xfrm>
            <a:off x="46928" y="1066798"/>
            <a:ext cx="9066568" cy="5676900"/>
          </a:xfrm>
          <a:prstGeom prst="rect">
            <a:avLst/>
          </a:prstGeom>
          <a:noFill/>
          <a:ln>
            <a:noFill/>
          </a:ln>
        </p:spPr>
      </p:pic>
      <p:sp>
        <p:nvSpPr>
          <p:cNvPr id="312" name="Google Shape;312;g3292fd40077_1_118"/>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g3291c302432_0_39"/>
          <p:cNvSpPr txBox="1">
            <a:spLocks noGrp="1"/>
          </p:cNvSpPr>
          <p:nvPr>
            <p:ph type="title"/>
          </p:nvPr>
        </p:nvSpPr>
        <p:spPr>
          <a:xfrm>
            <a:off x="284056" y="166624"/>
            <a:ext cx="11525700" cy="677400"/>
          </a:xfrm>
          <a:prstGeom prst="rect">
            <a:avLst/>
          </a:prstGeom>
        </p:spPr>
        <p:txBody>
          <a:bodyPr spcFirstLastPara="1" wrap="square" lIns="0" tIns="0" rIns="0" bIns="0" anchor="t" anchorCtr="0">
            <a:spAutoFit/>
          </a:bodyPr>
          <a:lstStyle/>
          <a:p>
            <a:pPr lvl="0"/>
            <a:r>
              <a:rPr lang="en-US" dirty="0"/>
              <a:t>Bag of Words - classic approach</a:t>
            </a:r>
            <a:endParaRPr dirty="0"/>
          </a:p>
        </p:txBody>
      </p:sp>
      <p:sp>
        <p:nvSpPr>
          <p:cNvPr id="319" name="Google Shape;319;g3291c302432_0_39"/>
          <p:cNvSpPr txBox="1">
            <a:spLocks noGrp="1"/>
          </p:cNvSpPr>
          <p:nvPr>
            <p:ph type="body" idx="1"/>
          </p:nvPr>
        </p:nvSpPr>
        <p:spPr>
          <a:xfrm>
            <a:off x="715433" y="1517936"/>
            <a:ext cx="9275100" cy="4926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320" name="Google Shape;320;g3291c302432_0_39"/>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pic>
        <p:nvPicPr>
          <p:cNvPr id="321" name="Google Shape;321;g3291c302432_0_39"/>
          <p:cNvPicPr preferRelativeResize="0"/>
          <p:nvPr/>
        </p:nvPicPr>
        <p:blipFill>
          <a:blip r:embed="rId3">
            <a:alphaModFix/>
          </a:blip>
          <a:stretch>
            <a:fillRect/>
          </a:stretch>
        </p:blipFill>
        <p:spPr>
          <a:xfrm>
            <a:off x="0" y="1323736"/>
            <a:ext cx="12192000" cy="5054203"/>
          </a:xfrm>
          <a:prstGeom prst="rect">
            <a:avLst/>
          </a:prstGeom>
          <a:noFill/>
          <a:ln>
            <a:noFill/>
          </a:ln>
        </p:spPr>
      </p:pic>
      <p:sp>
        <p:nvSpPr>
          <p:cNvPr id="322" name="Google Shape;322;g3291c302432_0_39"/>
          <p:cNvSpPr txBox="1"/>
          <p:nvPr/>
        </p:nvSpPr>
        <p:spPr>
          <a:xfrm>
            <a:off x="7740825" y="6039550"/>
            <a:ext cx="3000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Computer Vision: Algorithms and Applications, 2nd ed.</a:t>
            </a:r>
            <a:endParaRPr/>
          </a:p>
        </p:txBody>
      </p:sp>
      <p:sp>
        <p:nvSpPr>
          <p:cNvPr id="323" name="Google Shape;323;g3291c302432_0_39"/>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327"/>
        <p:cNvGrpSpPr/>
        <p:nvPr/>
      </p:nvGrpSpPr>
      <p:grpSpPr>
        <a:xfrm>
          <a:off x="0" y="0"/>
          <a:ext cx="0" cy="0"/>
          <a:chOff x="0" y="0"/>
          <a:chExt cx="0" cy="0"/>
        </a:xfrm>
      </p:grpSpPr>
      <p:sp>
        <p:nvSpPr>
          <p:cNvPr id="328" name="Google Shape;328;g3292fd40077_1_122"/>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3234690" lvl="0" indent="0" algn="l" rtl="0">
              <a:lnSpc>
                <a:spcPct val="100000"/>
              </a:lnSpc>
              <a:spcBef>
                <a:spcPts val="0"/>
              </a:spcBef>
              <a:spcAft>
                <a:spcPts val="0"/>
              </a:spcAft>
              <a:buNone/>
            </a:pPr>
            <a:r>
              <a:rPr lang="en-US"/>
              <a:t>Classifiers</a:t>
            </a:r>
            <a:endParaRPr/>
          </a:p>
        </p:txBody>
      </p:sp>
      <p:sp>
        <p:nvSpPr>
          <p:cNvPr id="329" name="Google Shape;329;g3292fd40077_1_122"/>
          <p:cNvSpPr txBox="1"/>
          <p:nvPr/>
        </p:nvSpPr>
        <p:spPr>
          <a:xfrm>
            <a:off x="715433" y="1517649"/>
            <a:ext cx="6996853" cy="3535679"/>
          </a:xfrm>
          <a:prstGeom prst="rect">
            <a:avLst/>
          </a:prstGeom>
          <a:noFill/>
          <a:ln>
            <a:noFill/>
          </a:ln>
        </p:spPr>
        <p:txBody>
          <a:bodyPr spcFirstLastPara="1" wrap="square" lIns="0" tIns="105400" rIns="0" bIns="0" anchor="t" anchorCtr="0">
            <a:spAutoFit/>
          </a:bodyPr>
          <a:lstStyle/>
          <a:p>
            <a:pPr marL="355600" lvl="0" indent="-342900" algn="l" rtl="0">
              <a:lnSpc>
                <a:spcPct val="100000"/>
              </a:lnSpc>
              <a:spcBef>
                <a:spcPts val="0"/>
              </a:spcBef>
              <a:spcAft>
                <a:spcPts val="0"/>
              </a:spcAft>
              <a:buSzPts val="3200"/>
              <a:buFont typeface="Arial"/>
              <a:buChar char="•"/>
            </a:pPr>
            <a:r>
              <a:rPr lang="en-US" sz="3200">
                <a:latin typeface="Calibri"/>
                <a:ea typeface="Calibri"/>
                <a:cs typeface="Calibri"/>
                <a:sym typeface="Calibri"/>
              </a:rPr>
              <a:t>Nearest Neighbor</a:t>
            </a:r>
            <a:endParaRPr sz="3200">
              <a:latin typeface="Calibri"/>
              <a:ea typeface="Calibri"/>
              <a:cs typeface="Calibri"/>
              <a:sym typeface="Calibri"/>
            </a:endParaRPr>
          </a:p>
          <a:p>
            <a:pPr marL="355600" lvl="0" indent="-342900" algn="l" rtl="0">
              <a:lnSpc>
                <a:spcPct val="100000"/>
              </a:lnSpc>
              <a:spcBef>
                <a:spcPts val="740"/>
              </a:spcBef>
              <a:spcAft>
                <a:spcPts val="0"/>
              </a:spcAft>
              <a:buSzPts val="3200"/>
              <a:buFont typeface="Arial"/>
              <a:buChar char="•"/>
            </a:pPr>
            <a:r>
              <a:rPr lang="en-US" sz="3200">
                <a:latin typeface="Calibri"/>
                <a:ea typeface="Calibri"/>
                <a:cs typeface="Calibri"/>
                <a:sym typeface="Calibri"/>
              </a:rPr>
              <a:t>kNN	(“k-Nearest Neighbors”)</a:t>
            </a:r>
            <a:endParaRPr sz="3200">
              <a:latin typeface="Calibri"/>
              <a:ea typeface="Calibri"/>
              <a:cs typeface="Calibri"/>
              <a:sym typeface="Calibri"/>
            </a:endParaRPr>
          </a:p>
          <a:p>
            <a:pPr marL="355600" lvl="0" indent="-342900" algn="l" rtl="0">
              <a:lnSpc>
                <a:spcPct val="100000"/>
              </a:lnSpc>
              <a:spcBef>
                <a:spcPts val="819"/>
              </a:spcBef>
              <a:spcAft>
                <a:spcPts val="0"/>
              </a:spcAft>
              <a:buSzPts val="3200"/>
              <a:buFont typeface="Arial"/>
              <a:buChar char="•"/>
            </a:pPr>
            <a:r>
              <a:rPr lang="en-US" sz="3200">
                <a:latin typeface="Calibri"/>
                <a:ea typeface="Calibri"/>
                <a:cs typeface="Calibri"/>
                <a:sym typeface="Calibri"/>
              </a:rPr>
              <a:t>Linear Classifier</a:t>
            </a:r>
            <a:endParaRPr sz="3200">
              <a:latin typeface="Calibri"/>
              <a:ea typeface="Calibri"/>
              <a:cs typeface="Calibri"/>
              <a:sym typeface="Calibri"/>
            </a:endParaRPr>
          </a:p>
          <a:p>
            <a:pPr marL="355600" lvl="0" indent="-342900" algn="l" rtl="0">
              <a:lnSpc>
                <a:spcPct val="100000"/>
              </a:lnSpc>
              <a:spcBef>
                <a:spcPts val="740"/>
              </a:spcBef>
              <a:spcAft>
                <a:spcPts val="0"/>
              </a:spcAft>
              <a:buSzPts val="3200"/>
              <a:buFont typeface="Arial"/>
              <a:buChar char="•"/>
            </a:pPr>
            <a:r>
              <a:rPr lang="en-US" sz="3200">
                <a:latin typeface="Calibri"/>
                <a:ea typeface="Calibri"/>
                <a:cs typeface="Calibri"/>
                <a:sym typeface="Calibri"/>
              </a:rPr>
              <a:t>Neural Network</a:t>
            </a:r>
            <a:endParaRPr sz="3200">
              <a:latin typeface="Calibri"/>
              <a:ea typeface="Calibri"/>
              <a:cs typeface="Calibri"/>
              <a:sym typeface="Calibri"/>
            </a:endParaRPr>
          </a:p>
          <a:p>
            <a:pPr marL="355600" lvl="0" indent="-342900" algn="l" rtl="0">
              <a:lnSpc>
                <a:spcPct val="100000"/>
              </a:lnSpc>
              <a:spcBef>
                <a:spcPts val="815"/>
              </a:spcBef>
              <a:spcAft>
                <a:spcPts val="0"/>
              </a:spcAft>
              <a:buSzPts val="3200"/>
              <a:buFont typeface="Arial"/>
              <a:buChar char="•"/>
            </a:pPr>
            <a:r>
              <a:rPr lang="en-US" sz="3200">
                <a:latin typeface="Calibri"/>
                <a:ea typeface="Calibri"/>
                <a:cs typeface="Calibri"/>
                <a:sym typeface="Calibri"/>
              </a:rPr>
              <a:t>Deep Neural Network</a:t>
            </a:r>
            <a:endParaRPr sz="3200">
              <a:latin typeface="Calibri"/>
              <a:ea typeface="Calibri"/>
              <a:cs typeface="Calibri"/>
              <a:sym typeface="Calibri"/>
            </a:endParaRPr>
          </a:p>
          <a:p>
            <a:pPr marL="355600" lvl="0" indent="-342900" algn="l" rtl="0">
              <a:lnSpc>
                <a:spcPct val="100000"/>
              </a:lnSpc>
              <a:spcBef>
                <a:spcPts val="745"/>
              </a:spcBef>
              <a:spcAft>
                <a:spcPts val="0"/>
              </a:spcAft>
              <a:buSzPts val="3200"/>
              <a:buFont typeface="Arial"/>
              <a:buChar char="•"/>
            </a:pPr>
            <a:r>
              <a:rPr lang="en-US" sz="3200">
                <a:latin typeface="Calibri"/>
                <a:ea typeface="Calibri"/>
                <a:cs typeface="Calibri"/>
                <a:sym typeface="Calibri"/>
              </a:rPr>
              <a:t>…</a:t>
            </a:r>
            <a:endParaRPr sz="3200">
              <a:latin typeface="Calibri"/>
              <a:ea typeface="Calibri"/>
              <a:cs typeface="Calibri"/>
              <a:sym typeface="Calibri"/>
            </a:endParaRPr>
          </a:p>
        </p:txBody>
      </p:sp>
      <p:sp>
        <p:nvSpPr>
          <p:cNvPr id="330" name="Google Shape;330;g3292fd40077_1_122"/>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334"/>
        <p:cNvGrpSpPr/>
        <p:nvPr/>
      </p:nvGrpSpPr>
      <p:grpSpPr>
        <a:xfrm>
          <a:off x="0" y="0"/>
          <a:ext cx="0" cy="0"/>
          <a:chOff x="0" y="0"/>
          <a:chExt cx="0" cy="0"/>
        </a:xfrm>
      </p:grpSpPr>
      <p:sp>
        <p:nvSpPr>
          <p:cNvPr id="335" name="Google Shape;335;g3292fd40077_1_127"/>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12700" lvl="0" indent="0" algn="l" rtl="0">
              <a:lnSpc>
                <a:spcPct val="100000"/>
              </a:lnSpc>
              <a:spcBef>
                <a:spcPts val="0"/>
              </a:spcBef>
              <a:spcAft>
                <a:spcPts val="0"/>
              </a:spcAft>
              <a:buNone/>
            </a:pPr>
            <a:r>
              <a:rPr lang="en-US"/>
              <a:t>First: Nearest Neighbor (NN) Classifier</a:t>
            </a:r>
            <a:endParaRPr/>
          </a:p>
        </p:txBody>
      </p:sp>
      <p:sp>
        <p:nvSpPr>
          <p:cNvPr id="336" name="Google Shape;336;g3292fd40077_1_127"/>
          <p:cNvSpPr txBox="1"/>
          <p:nvPr/>
        </p:nvSpPr>
        <p:spPr>
          <a:xfrm>
            <a:off x="715433" y="1503197"/>
            <a:ext cx="9818793" cy="3261360"/>
          </a:xfrm>
          <a:prstGeom prst="rect">
            <a:avLst/>
          </a:prstGeom>
          <a:noFill/>
          <a:ln>
            <a:noFill/>
          </a:ln>
        </p:spPr>
        <p:txBody>
          <a:bodyPr spcFirstLastPara="1" wrap="square" lIns="0" tIns="120000" rIns="0" bIns="0" anchor="t" anchorCtr="0">
            <a:spAutoFit/>
          </a:bodyPr>
          <a:lstStyle/>
          <a:p>
            <a:pPr marL="355600" lvl="0" indent="-342900" algn="l" rtl="0">
              <a:lnSpc>
                <a:spcPct val="100000"/>
              </a:lnSpc>
              <a:spcBef>
                <a:spcPts val="0"/>
              </a:spcBef>
              <a:spcAft>
                <a:spcPts val="0"/>
              </a:spcAft>
              <a:buSzPts val="3200"/>
              <a:buFont typeface="Arial"/>
              <a:buChar char="•"/>
            </a:pPr>
            <a:r>
              <a:rPr lang="en-US" sz="3200">
                <a:latin typeface="Calibri"/>
                <a:ea typeface="Calibri"/>
                <a:cs typeface="Calibri"/>
                <a:sym typeface="Calibri"/>
              </a:rPr>
              <a:t>Train</a:t>
            </a:r>
            <a:endParaRPr sz="3200">
              <a:latin typeface="Calibri"/>
              <a:ea typeface="Calibri"/>
              <a:cs typeface="Calibri"/>
              <a:sym typeface="Calibri"/>
            </a:endParaRPr>
          </a:p>
          <a:p>
            <a:pPr marL="755015" lvl="1" indent="-285115" algn="l" rtl="0">
              <a:lnSpc>
                <a:spcPct val="100000"/>
              </a:lnSpc>
              <a:spcBef>
                <a:spcPts val="740"/>
              </a:spcBef>
              <a:spcAft>
                <a:spcPts val="0"/>
              </a:spcAft>
              <a:buSzPts val="2750"/>
              <a:buFont typeface="Arial"/>
              <a:buChar char="–"/>
            </a:pPr>
            <a:r>
              <a:rPr lang="en-US" sz="2750">
                <a:latin typeface="Calibri"/>
                <a:ea typeface="Calibri"/>
                <a:cs typeface="Calibri"/>
                <a:sym typeface="Calibri"/>
              </a:rPr>
              <a:t>Remember all training images and their labels</a:t>
            </a:r>
            <a:endParaRPr sz="2750">
              <a:latin typeface="Calibri"/>
              <a:ea typeface="Calibri"/>
              <a:cs typeface="Calibri"/>
              <a:sym typeface="Calibri"/>
            </a:endParaRPr>
          </a:p>
          <a:p>
            <a:pPr marL="0" lvl="1" indent="0" algn="l" rtl="0">
              <a:lnSpc>
                <a:spcPct val="100000"/>
              </a:lnSpc>
              <a:spcBef>
                <a:spcPts val="1455"/>
              </a:spcBef>
              <a:spcAft>
                <a:spcPts val="0"/>
              </a:spcAft>
              <a:buSzPts val="2750"/>
              <a:buFont typeface="Arial"/>
              <a:buNone/>
            </a:pPr>
            <a:endParaRPr sz="2750">
              <a:latin typeface="Calibri"/>
              <a:ea typeface="Calibri"/>
              <a:cs typeface="Calibri"/>
              <a:sym typeface="Calibri"/>
            </a:endParaRPr>
          </a:p>
          <a:p>
            <a:pPr marL="355600" lvl="0" indent="-342900" algn="l" rtl="0">
              <a:lnSpc>
                <a:spcPct val="100000"/>
              </a:lnSpc>
              <a:spcBef>
                <a:spcPts val="0"/>
              </a:spcBef>
              <a:spcAft>
                <a:spcPts val="0"/>
              </a:spcAft>
              <a:buSzPts val="3200"/>
              <a:buFont typeface="Arial"/>
              <a:buChar char="•"/>
            </a:pPr>
            <a:r>
              <a:rPr lang="en-US" sz="3200">
                <a:latin typeface="Calibri"/>
                <a:ea typeface="Calibri"/>
                <a:cs typeface="Calibri"/>
                <a:sym typeface="Calibri"/>
              </a:rPr>
              <a:t>Predict</a:t>
            </a:r>
            <a:endParaRPr sz="3200">
              <a:latin typeface="Calibri"/>
              <a:ea typeface="Calibri"/>
              <a:cs typeface="Calibri"/>
              <a:sym typeface="Calibri"/>
            </a:endParaRPr>
          </a:p>
          <a:p>
            <a:pPr marL="755015" lvl="1" indent="-285115" algn="l" rtl="0">
              <a:lnSpc>
                <a:spcPct val="100000"/>
              </a:lnSpc>
              <a:spcBef>
                <a:spcPts val="740"/>
              </a:spcBef>
              <a:spcAft>
                <a:spcPts val="0"/>
              </a:spcAft>
              <a:buSzPts val="2750"/>
              <a:buFont typeface="Arial"/>
              <a:buChar char="–"/>
            </a:pPr>
            <a:r>
              <a:rPr lang="en-US" sz="2750">
                <a:latin typeface="Calibri"/>
                <a:ea typeface="Calibri"/>
                <a:cs typeface="Calibri"/>
                <a:sym typeface="Calibri"/>
              </a:rPr>
              <a:t>Find the closest (most similar) training image</a:t>
            </a:r>
            <a:endParaRPr sz="2750">
              <a:latin typeface="Calibri"/>
              <a:ea typeface="Calibri"/>
              <a:cs typeface="Calibri"/>
              <a:sym typeface="Calibri"/>
            </a:endParaRPr>
          </a:p>
          <a:p>
            <a:pPr marL="755015" lvl="1" indent="-285115" algn="l" rtl="0">
              <a:lnSpc>
                <a:spcPct val="100000"/>
              </a:lnSpc>
              <a:spcBef>
                <a:spcPts val="755"/>
              </a:spcBef>
              <a:spcAft>
                <a:spcPts val="0"/>
              </a:spcAft>
              <a:buSzPts val="2750"/>
              <a:buFont typeface="Arial"/>
              <a:buChar char="–"/>
            </a:pPr>
            <a:r>
              <a:rPr lang="en-US" sz="2750">
                <a:latin typeface="Calibri"/>
                <a:ea typeface="Calibri"/>
                <a:cs typeface="Calibri"/>
                <a:sym typeface="Calibri"/>
              </a:rPr>
              <a:t>Predict its label as the true label</a:t>
            </a:r>
            <a:endParaRPr sz="2750">
              <a:latin typeface="Calibri"/>
              <a:ea typeface="Calibri"/>
              <a:cs typeface="Calibri"/>
              <a:sym typeface="Calibri"/>
            </a:endParaRPr>
          </a:p>
        </p:txBody>
      </p:sp>
      <p:sp>
        <p:nvSpPr>
          <p:cNvPr id="337" name="Google Shape;337;g3292fd40077_1_127"/>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341"/>
        <p:cNvGrpSpPr/>
        <p:nvPr/>
      </p:nvGrpSpPr>
      <p:grpSpPr>
        <a:xfrm>
          <a:off x="0" y="0"/>
          <a:ext cx="0" cy="0"/>
          <a:chOff x="0" y="0"/>
          <a:chExt cx="0" cy="0"/>
        </a:xfrm>
      </p:grpSpPr>
      <p:pic>
        <p:nvPicPr>
          <p:cNvPr id="342" name="Google Shape;342;g3292fd40077_1_132"/>
          <p:cNvPicPr preferRelativeResize="0"/>
          <p:nvPr/>
        </p:nvPicPr>
        <p:blipFill rotWithShape="1">
          <a:blip r:embed="rId3">
            <a:alphaModFix/>
          </a:blip>
          <a:srcRect/>
          <a:stretch/>
        </p:blipFill>
        <p:spPr>
          <a:xfrm>
            <a:off x="25400" y="1447800"/>
            <a:ext cx="5347416" cy="4627201"/>
          </a:xfrm>
          <a:prstGeom prst="rect">
            <a:avLst/>
          </a:prstGeom>
          <a:noFill/>
          <a:ln>
            <a:noFill/>
          </a:ln>
        </p:spPr>
      </p:pic>
      <p:sp>
        <p:nvSpPr>
          <p:cNvPr id="343" name="Google Shape;343;g3292fd40077_1_132"/>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1604645" lvl="0" indent="0" algn="l" rtl="0">
              <a:lnSpc>
                <a:spcPct val="100000"/>
              </a:lnSpc>
              <a:spcBef>
                <a:spcPts val="0"/>
              </a:spcBef>
              <a:spcAft>
                <a:spcPts val="0"/>
              </a:spcAft>
              <a:buNone/>
            </a:pPr>
            <a:r>
              <a:rPr lang="en-US"/>
              <a:t>CIFAR-10 and NN results</a:t>
            </a:r>
            <a:endParaRPr/>
          </a:p>
        </p:txBody>
      </p:sp>
      <p:sp>
        <p:nvSpPr>
          <p:cNvPr id="344" name="Google Shape;344;g3292fd40077_1_132"/>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348"/>
        <p:cNvGrpSpPr/>
        <p:nvPr/>
      </p:nvGrpSpPr>
      <p:grpSpPr>
        <a:xfrm>
          <a:off x="0" y="0"/>
          <a:ext cx="0" cy="0"/>
          <a:chOff x="0" y="0"/>
          <a:chExt cx="0" cy="0"/>
        </a:xfrm>
      </p:grpSpPr>
      <p:sp>
        <p:nvSpPr>
          <p:cNvPr id="349" name="Google Shape;349;g3292fd40077_1_137"/>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1604645" lvl="0" indent="0" algn="l" rtl="0">
              <a:lnSpc>
                <a:spcPct val="100000"/>
              </a:lnSpc>
              <a:spcBef>
                <a:spcPts val="0"/>
              </a:spcBef>
              <a:spcAft>
                <a:spcPts val="0"/>
              </a:spcAft>
              <a:buNone/>
            </a:pPr>
            <a:r>
              <a:rPr lang="en-US"/>
              <a:t>CIFAR-10 and NN results</a:t>
            </a:r>
            <a:endParaRPr/>
          </a:p>
        </p:txBody>
      </p:sp>
      <p:sp>
        <p:nvSpPr>
          <p:cNvPr id="350" name="Google Shape;350;g3292fd40077_1_137"/>
          <p:cNvSpPr txBox="1"/>
          <p:nvPr/>
        </p:nvSpPr>
        <p:spPr>
          <a:xfrm>
            <a:off x="8845635" y="6500177"/>
            <a:ext cx="3208020" cy="32702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50">
                <a:latin typeface="Arial"/>
                <a:ea typeface="Arial"/>
                <a:cs typeface="Arial"/>
                <a:sym typeface="Arial"/>
              </a:rPr>
              <a:t>Slides from Andrej Karpathy and Fei-Fei Li</a:t>
            </a:r>
            <a:endParaRPr sz="950">
              <a:latin typeface="Arial"/>
              <a:ea typeface="Arial"/>
              <a:cs typeface="Arial"/>
              <a:sym typeface="Arial"/>
            </a:endParaRPr>
          </a:p>
          <a:p>
            <a:pPr marL="12700" lvl="0" indent="0" algn="l" rtl="0">
              <a:lnSpc>
                <a:spcPct val="100000"/>
              </a:lnSpc>
              <a:spcBef>
                <a:spcPts val="60"/>
              </a:spcBef>
              <a:spcAft>
                <a:spcPts val="0"/>
              </a:spcAft>
              <a:buNone/>
            </a:pPr>
            <a:r>
              <a:rPr lang="en-US" sz="950" u="sng">
                <a:solidFill>
                  <a:schemeClr val="hlink"/>
                </a:solidFill>
                <a:latin typeface="Arial"/>
                <a:ea typeface="Arial"/>
                <a:cs typeface="Arial"/>
                <a:sym typeface="Arial"/>
                <a:hlinkClick r:id="rId3"/>
              </a:rPr>
              <a:t>http://vision.stanford.edu/teaching/cs231n/</a:t>
            </a:r>
            <a:endParaRPr sz="950">
              <a:latin typeface="Arial"/>
              <a:ea typeface="Arial"/>
              <a:cs typeface="Arial"/>
              <a:sym typeface="Arial"/>
            </a:endParaRPr>
          </a:p>
        </p:txBody>
      </p:sp>
      <p:pic>
        <p:nvPicPr>
          <p:cNvPr id="351" name="Google Shape;351;g3292fd40077_1_137"/>
          <p:cNvPicPr preferRelativeResize="0"/>
          <p:nvPr/>
        </p:nvPicPr>
        <p:blipFill rotWithShape="1">
          <a:blip r:embed="rId4">
            <a:alphaModFix/>
          </a:blip>
          <a:srcRect/>
          <a:stretch/>
        </p:blipFill>
        <p:spPr>
          <a:xfrm>
            <a:off x="196440" y="1447800"/>
            <a:ext cx="8977322" cy="4638072"/>
          </a:xfrm>
          <a:prstGeom prst="rect">
            <a:avLst/>
          </a:prstGeom>
          <a:noFill/>
          <a:ln>
            <a:noFill/>
          </a:ln>
        </p:spPr>
      </p:pic>
      <p:sp>
        <p:nvSpPr>
          <p:cNvPr id="352" name="Google Shape;352;g3292fd40077_1_137"/>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356"/>
        <p:cNvGrpSpPr/>
        <p:nvPr/>
      </p:nvGrpSpPr>
      <p:grpSpPr>
        <a:xfrm>
          <a:off x="0" y="0"/>
          <a:ext cx="0" cy="0"/>
          <a:chOff x="0" y="0"/>
          <a:chExt cx="0" cy="0"/>
        </a:xfrm>
      </p:grpSpPr>
      <p:sp>
        <p:nvSpPr>
          <p:cNvPr id="357" name="Google Shape;357;g3292fd40077_1_143"/>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2205355" lvl="0" indent="0" algn="l" rtl="0">
              <a:lnSpc>
                <a:spcPct val="100000"/>
              </a:lnSpc>
              <a:spcBef>
                <a:spcPts val="0"/>
              </a:spcBef>
              <a:spcAft>
                <a:spcPts val="0"/>
              </a:spcAft>
              <a:buNone/>
            </a:pPr>
            <a:r>
              <a:rPr lang="en-US"/>
              <a:t>k-nearest neighbor</a:t>
            </a:r>
            <a:endParaRPr/>
          </a:p>
        </p:txBody>
      </p:sp>
      <p:pic>
        <p:nvPicPr>
          <p:cNvPr id="358" name="Google Shape;358;g3292fd40077_1_143"/>
          <p:cNvPicPr preferRelativeResize="0"/>
          <p:nvPr/>
        </p:nvPicPr>
        <p:blipFill rotWithShape="1">
          <a:blip r:embed="rId3">
            <a:alphaModFix/>
          </a:blip>
          <a:srcRect/>
          <a:stretch/>
        </p:blipFill>
        <p:spPr>
          <a:xfrm>
            <a:off x="42296" y="3628308"/>
            <a:ext cx="8910046" cy="2172267"/>
          </a:xfrm>
          <a:prstGeom prst="rect">
            <a:avLst/>
          </a:prstGeom>
          <a:noFill/>
          <a:ln>
            <a:noFill/>
          </a:ln>
        </p:spPr>
      </p:pic>
      <p:sp>
        <p:nvSpPr>
          <p:cNvPr id="359" name="Google Shape;359;g3292fd40077_1_143"/>
          <p:cNvSpPr txBox="1"/>
          <p:nvPr/>
        </p:nvSpPr>
        <p:spPr>
          <a:xfrm>
            <a:off x="715433" y="1517936"/>
            <a:ext cx="9906000" cy="1093470"/>
          </a:xfrm>
          <a:prstGeom prst="rect">
            <a:avLst/>
          </a:prstGeom>
          <a:noFill/>
          <a:ln>
            <a:noFill/>
          </a:ln>
        </p:spPr>
        <p:txBody>
          <a:bodyPr spcFirstLastPara="1" wrap="square" lIns="0" tIns="57775" rIns="0" bIns="0" anchor="t" anchorCtr="0">
            <a:spAutoFit/>
          </a:bodyPr>
          <a:lstStyle/>
          <a:p>
            <a:pPr marL="355600" lvl="0" indent="-342900" algn="l" rtl="0">
              <a:lnSpc>
                <a:spcPct val="100000"/>
              </a:lnSpc>
              <a:spcBef>
                <a:spcPts val="0"/>
              </a:spcBef>
              <a:spcAft>
                <a:spcPts val="0"/>
              </a:spcAft>
              <a:buSzPts val="3200"/>
              <a:buFont typeface="Arial"/>
              <a:buChar char="•"/>
            </a:pPr>
            <a:r>
              <a:rPr lang="en-US" sz="3200" dirty="0">
                <a:latin typeface="Calibri"/>
                <a:ea typeface="Calibri"/>
                <a:cs typeface="Calibri"/>
                <a:sym typeface="Calibri"/>
              </a:rPr>
              <a:t>Find the k closest points from training data</a:t>
            </a:r>
            <a:endParaRPr sz="3200" dirty="0">
              <a:latin typeface="Calibri"/>
              <a:ea typeface="Calibri"/>
              <a:cs typeface="Calibri"/>
              <a:sym typeface="Calibri"/>
            </a:endParaRPr>
          </a:p>
          <a:p>
            <a:pPr marL="355600" lvl="0" indent="-342900" algn="l" rtl="0">
              <a:lnSpc>
                <a:spcPct val="100000"/>
              </a:lnSpc>
              <a:spcBef>
                <a:spcPts val="365"/>
              </a:spcBef>
              <a:spcAft>
                <a:spcPts val="0"/>
              </a:spcAft>
              <a:buSzPts val="3200"/>
              <a:buFont typeface="Arial"/>
              <a:buChar char="•"/>
            </a:pPr>
            <a:r>
              <a:rPr lang="en-US" sz="3200" dirty="0">
                <a:latin typeface="Calibri"/>
                <a:ea typeface="Calibri"/>
                <a:cs typeface="Calibri"/>
                <a:sym typeface="Calibri"/>
              </a:rPr>
              <a:t>Take </a:t>
            </a:r>
            <a:r>
              <a:rPr lang="en-US" sz="3200" b="1" dirty="0">
                <a:latin typeface="Calibri"/>
                <a:ea typeface="Calibri"/>
                <a:cs typeface="Calibri"/>
                <a:sym typeface="Calibri"/>
              </a:rPr>
              <a:t>majority vote </a:t>
            </a:r>
            <a:r>
              <a:rPr lang="en-US" sz="3200" dirty="0">
                <a:latin typeface="Calibri"/>
                <a:ea typeface="Calibri"/>
                <a:cs typeface="Calibri"/>
                <a:sym typeface="Calibri"/>
              </a:rPr>
              <a:t>from K closest points</a:t>
            </a:r>
            <a:endParaRPr sz="3200" dirty="0">
              <a:latin typeface="Calibri"/>
              <a:ea typeface="Calibri"/>
              <a:cs typeface="Calibri"/>
              <a:sym typeface="Calibri"/>
            </a:endParaRPr>
          </a:p>
        </p:txBody>
      </p:sp>
      <p:sp>
        <p:nvSpPr>
          <p:cNvPr id="360" name="Google Shape;360;g3292fd40077_1_143"/>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364"/>
        <p:cNvGrpSpPr/>
        <p:nvPr/>
      </p:nvGrpSpPr>
      <p:grpSpPr>
        <a:xfrm>
          <a:off x="0" y="0"/>
          <a:ext cx="0" cy="0"/>
          <a:chOff x="0" y="0"/>
          <a:chExt cx="0" cy="0"/>
        </a:xfrm>
      </p:grpSpPr>
      <p:pic>
        <p:nvPicPr>
          <p:cNvPr id="365" name="Google Shape;365;g3292fd40077_1_149"/>
          <p:cNvPicPr preferRelativeResize="0"/>
          <p:nvPr/>
        </p:nvPicPr>
        <p:blipFill rotWithShape="1">
          <a:blip r:embed="rId3">
            <a:alphaModFix/>
          </a:blip>
          <a:srcRect/>
          <a:stretch/>
        </p:blipFill>
        <p:spPr>
          <a:xfrm>
            <a:off x="520200" y="1100875"/>
            <a:ext cx="8200700" cy="5199274"/>
          </a:xfrm>
          <a:prstGeom prst="rect">
            <a:avLst/>
          </a:prstGeom>
          <a:noFill/>
          <a:ln>
            <a:noFill/>
          </a:ln>
        </p:spPr>
      </p:pic>
      <p:sp>
        <p:nvSpPr>
          <p:cNvPr id="366" name="Google Shape;366;g3292fd40077_1_149"/>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370"/>
        <p:cNvGrpSpPr/>
        <p:nvPr/>
      </p:nvGrpSpPr>
      <p:grpSpPr>
        <a:xfrm>
          <a:off x="0" y="0"/>
          <a:ext cx="0" cy="0"/>
          <a:chOff x="0" y="0"/>
          <a:chExt cx="0" cy="0"/>
        </a:xfrm>
      </p:grpSpPr>
      <p:pic>
        <p:nvPicPr>
          <p:cNvPr id="371" name="Google Shape;371;g3292fd40077_1_153"/>
          <p:cNvPicPr preferRelativeResize="0"/>
          <p:nvPr/>
        </p:nvPicPr>
        <p:blipFill rotWithShape="1">
          <a:blip r:embed="rId3">
            <a:alphaModFix/>
          </a:blip>
          <a:srcRect/>
          <a:stretch/>
        </p:blipFill>
        <p:spPr>
          <a:xfrm>
            <a:off x="520191" y="1100882"/>
            <a:ext cx="6388608" cy="405039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375"/>
        <p:cNvGrpSpPr/>
        <p:nvPr/>
      </p:nvGrpSpPr>
      <p:grpSpPr>
        <a:xfrm>
          <a:off x="0" y="0"/>
          <a:ext cx="0" cy="0"/>
          <a:chOff x="0" y="0"/>
          <a:chExt cx="0" cy="0"/>
        </a:xfrm>
      </p:grpSpPr>
      <p:sp>
        <p:nvSpPr>
          <p:cNvPr id="376" name="Google Shape;376;g3292fd40077_1_157"/>
          <p:cNvSpPr txBox="1">
            <a:spLocks noGrp="1"/>
          </p:cNvSpPr>
          <p:nvPr>
            <p:ph type="title"/>
          </p:nvPr>
        </p:nvSpPr>
        <p:spPr>
          <a:xfrm>
            <a:off x="284056" y="166624"/>
            <a:ext cx="11525673" cy="1301876"/>
          </a:xfrm>
          <a:prstGeom prst="rect">
            <a:avLst/>
          </a:prstGeom>
          <a:noFill/>
          <a:ln>
            <a:noFill/>
          </a:ln>
        </p:spPr>
        <p:txBody>
          <a:bodyPr spcFirstLastPara="1" wrap="square" lIns="0" tIns="66800" rIns="0" bIns="0" anchor="t" anchorCtr="0">
            <a:spAutoFit/>
          </a:bodyPr>
          <a:lstStyle/>
          <a:p>
            <a:pPr marL="632460" marR="5080" lvl="0" indent="-47625" algn="l" rtl="0">
              <a:lnSpc>
                <a:spcPct val="101400"/>
              </a:lnSpc>
              <a:spcBef>
                <a:spcPts val="0"/>
              </a:spcBef>
              <a:spcAft>
                <a:spcPts val="0"/>
              </a:spcAft>
              <a:buNone/>
            </a:pPr>
            <a:r>
              <a:rPr lang="en-US" sz="3950"/>
              <a:t>How to find the most similar training image? What is the distance metric?</a:t>
            </a:r>
            <a:endParaRPr sz="3950"/>
          </a:p>
        </p:txBody>
      </p:sp>
      <p:pic>
        <p:nvPicPr>
          <p:cNvPr id="377" name="Google Shape;377;g3292fd40077_1_157"/>
          <p:cNvPicPr preferRelativeResize="0"/>
          <p:nvPr/>
        </p:nvPicPr>
        <p:blipFill rotWithShape="1">
          <a:blip r:embed="rId3">
            <a:alphaModFix/>
          </a:blip>
          <a:srcRect/>
          <a:stretch/>
        </p:blipFill>
        <p:spPr>
          <a:xfrm>
            <a:off x="221672" y="2438400"/>
            <a:ext cx="8948650" cy="3621182"/>
          </a:xfrm>
          <a:prstGeom prst="rect">
            <a:avLst/>
          </a:prstGeom>
          <a:noFill/>
          <a:ln>
            <a:noFill/>
          </a:ln>
        </p:spPr>
      </p:pic>
      <p:sp>
        <p:nvSpPr>
          <p:cNvPr id="378" name="Google Shape;378;g3292fd40077_1_157"/>
          <p:cNvSpPr txBox="1"/>
          <p:nvPr/>
        </p:nvSpPr>
        <p:spPr>
          <a:xfrm>
            <a:off x="8845635" y="6500177"/>
            <a:ext cx="3208020" cy="32702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50">
                <a:latin typeface="Arial"/>
                <a:ea typeface="Arial"/>
                <a:cs typeface="Arial"/>
                <a:sym typeface="Arial"/>
              </a:rPr>
              <a:t>Slides from Andrej Karpathy and Fei-Fei Li</a:t>
            </a:r>
            <a:endParaRPr sz="950">
              <a:latin typeface="Arial"/>
              <a:ea typeface="Arial"/>
              <a:cs typeface="Arial"/>
              <a:sym typeface="Arial"/>
            </a:endParaRPr>
          </a:p>
          <a:p>
            <a:pPr marL="12700" lvl="0" indent="0" algn="l" rtl="0">
              <a:lnSpc>
                <a:spcPct val="100000"/>
              </a:lnSpc>
              <a:spcBef>
                <a:spcPts val="60"/>
              </a:spcBef>
              <a:spcAft>
                <a:spcPts val="0"/>
              </a:spcAft>
              <a:buNone/>
            </a:pPr>
            <a:r>
              <a:rPr lang="en-US" sz="950" u="sng">
                <a:solidFill>
                  <a:schemeClr val="hlink"/>
                </a:solidFill>
                <a:latin typeface="Arial"/>
                <a:ea typeface="Arial"/>
                <a:cs typeface="Arial"/>
                <a:sym typeface="Arial"/>
                <a:hlinkClick r:id="rId4"/>
              </a:rPr>
              <a:t>http://vision.stanford.edu/teaching/cs231n/</a:t>
            </a:r>
            <a:endParaRPr sz="950">
              <a:latin typeface="Arial"/>
              <a:ea typeface="Arial"/>
              <a:cs typeface="Arial"/>
              <a:sym typeface="Arial"/>
            </a:endParaRPr>
          </a:p>
        </p:txBody>
      </p:sp>
      <p:sp>
        <p:nvSpPr>
          <p:cNvPr id="379" name="Google Shape;379;g3292fd40077_1_157"/>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383"/>
        <p:cNvGrpSpPr/>
        <p:nvPr/>
      </p:nvGrpSpPr>
      <p:grpSpPr>
        <a:xfrm>
          <a:off x="0" y="0"/>
          <a:ext cx="0" cy="0"/>
          <a:chOff x="0" y="0"/>
          <a:chExt cx="0" cy="0"/>
        </a:xfrm>
      </p:grpSpPr>
      <p:sp>
        <p:nvSpPr>
          <p:cNvPr id="384" name="Google Shape;384;g3292fd40077_1_163"/>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1480820" lvl="0" indent="0" algn="l" rtl="0">
              <a:lnSpc>
                <a:spcPct val="100000"/>
              </a:lnSpc>
              <a:spcBef>
                <a:spcPts val="0"/>
              </a:spcBef>
              <a:spcAft>
                <a:spcPts val="0"/>
              </a:spcAft>
              <a:buNone/>
            </a:pPr>
            <a:r>
              <a:rPr lang="en-US"/>
              <a:t>Choice of distance metric</a:t>
            </a:r>
            <a:endParaRPr/>
          </a:p>
        </p:txBody>
      </p:sp>
      <p:sp>
        <p:nvSpPr>
          <p:cNvPr id="385" name="Google Shape;385;g3292fd40077_1_163"/>
          <p:cNvSpPr txBox="1"/>
          <p:nvPr/>
        </p:nvSpPr>
        <p:spPr>
          <a:xfrm>
            <a:off x="715433" y="1606930"/>
            <a:ext cx="4162213" cy="518159"/>
          </a:xfrm>
          <a:prstGeom prst="rect">
            <a:avLst/>
          </a:prstGeom>
          <a:noFill/>
          <a:ln>
            <a:noFill/>
          </a:ln>
        </p:spPr>
        <p:txBody>
          <a:bodyPr spcFirstLastPara="1" wrap="square" lIns="0" tIns="16500" rIns="0" bIns="0" anchor="t" anchorCtr="0">
            <a:spAutoFit/>
          </a:bodyPr>
          <a:lstStyle/>
          <a:p>
            <a:pPr marL="355600" lvl="0" indent="-342900" algn="l" rtl="0">
              <a:lnSpc>
                <a:spcPct val="100000"/>
              </a:lnSpc>
              <a:spcBef>
                <a:spcPts val="0"/>
              </a:spcBef>
              <a:spcAft>
                <a:spcPts val="0"/>
              </a:spcAft>
              <a:buSzPts val="3200"/>
              <a:buFont typeface="Arial"/>
              <a:buChar char="•"/>
            </a:pPr>
            <a:r>
              <a:rPr lang="en-US" sz="3200">
                <a:latin typeface="Calibri"/>
                <a:ea typeface="Calibri"/>
                <a:cs typeface="Calibri"/>
                <a:sym typeface="Calibri"/>
              </a:rPr>
              <a:t>Hyperparameter</a:t>
            </a:r>
            <a:endParaRPr sz="3200">
              <a:latin typeface="Calibri"/>
              <a:ea typeface="Calibri"/>
              <a:cs typeface="Calibri"/>
              <a:sym typeface="Calibri"/>
            </a:endParaRPr>
          </a:p>
        </p:txBody>
      </p:sp>
      <p:grpSp>
        <p:nvGrpSpPr>
          <p:cNvPr id="386" name="Google Shape;386;g3292fd40077_1_163"/>
          <p:cNvGrpSpPr/>
          <p:nvPr/>
        </p:nvGrpSpPr>
        <p:grpSpPr>
          <a:xfrm>
            <a:off x="0" y="2595171"/>
            <a:ext cx="9457639" cy="3551598"/>
            <a:chOff x="0" y="2595058"/>
            <a:chExt cx="9144000" cy="3596191"/>
          </a:xfrm>
        </p:grpSpPr>
        <p:pic>
          <p:nvPicPr>
            <p:cNvPr id="387" name="Google Shape;387;g3292fd40077_1_163"/>
            <p:cNvPicPr preferRelativeResize="0"/>
            <p:nvPr/>
          </p:nvPicPr>
          <p:blipFill rotWithShape="1">
            <a:blip r:embed="rId3">
              <a:alphaModFix/>
            </a:blip>
            <a:srcRect/>
            <a:stretch/>
          </p:blipFill>
          <p:spPr>
            <a:xfrm>
              <a:off x="357173" y="2595058"/>
              <a:ext cx="8343573" cy="3342431"/>
            </a:xfrm>
            <a:prstGeom prst="rect">
              <a:avLst/>
            </a:prstGeom>
            <a:noFill/>
            <a:ln>
              <a:noFill/>
            </a:ln>
          </p:spPr>
        </p:pic>
        <p:sp>
          <p:nvSpPr>
            <p:cNvPr id="388" name="Google Shape;388;g3292fd40077_1_163"/>
            <p:cNvSpPr/>
            <p:nvPr/>
          </p:nvSpPr>
          <p:spPr>
            <a:xfrm>
              <a:off x="0" y="4424362"/>
              <a:ext cx="9144000" cy="1752600"/>
            </a:xfrm>
            <a:custGeom>
              <a:avLst/>
              <a:gdLst/>
              <a:ahLst/>
              <a:cxnLst/>
              <a:rect l="l" t="t" r="r" b="b"/>
              <a:pathLst>
                <a:path w="9144000" h="1752600" extrusionOk="0">
                  <a:moveTo>
                    <a:pt x="0" y="0"/>
                  </a:moveTo>
                  <a:lnTo>
                    <a:pt x="0" y="1752600"/>
                  </a:lnTo>
                  <a:lnTo>
                    <a:pt x="9144000" y="1752600"/>
                  </a:lnTo>
                  <a:lnTo>
                    <a:pt x="9144000" y="0"/>
                  </a:lnTo>
                  <a:lnTo>
                    <a:pt x="0"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89" name="Google Shape;389;g3292fd40077_1_163"/>
            <p:cNvSpPr/>
            <p:nvPr/>
          </p:nvSpPr>
          <p:spPr>
            <a:xfrm>
              <a:off x="0" y="4410074"/>
              <a:ext cx="9144000" cy="1781175"/>
            </a:xfrm>
            <a:custGeom>
              <a:avLst/>
              <a:gdLst/>
              <a:ahLst/>
              <a:cxnLst/>
              <a:rect l="l" t="t" r="r" b="b"/>
              <a:pathLst>
                <a:path w="9144000" h="1781175" extrusionOk="0">
                  <a:moveTo>
                    <a:pt x="9144000" y="1752600"/>
                  </a:moveTo>
                  <a:lnTo>
                    <a:pt x="0" y="1752600"/>
                  </a:lnTo>
                  <a:lnTo>
                    <a:pt x="0" y="1781175"/>
                  </a:lnTo>
                  <a:lnTo>
                    <a:pt x="9144000" y="1781175"/>
                  </a:lnTo>
                  <a:lnTo>
                    <a:pt x="9144000" y="1752600"/>
                  </a:lnTo>
                  <a:close/>
                </a:path>
                <a:path w="9144000" h="1781175" extrusionOk="0">
                  <a:moveTo>
                    <a:pt x="9144000" y="0"/>
                  </a:moveTo>
                  <a:lnTo>
                    <a:pt x="0" y="0"/>
                  </a:lnTo>
                  <a:lnTo>
                    <a:pt x="0" y="28575"/>
                  </a:lnTo>
                  <a:lnTo>
                    <a:pt x="9144000" y="28575"/>
                  </a:lnTo>
                  <a:lnTo>
                    <a:pt x="9144000"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390" name="Google Shape;390;g3292fd40077_1_163"/>
          <p:cNvSpPr txBox="1"/>
          <p:nvPr/>
        </p:nvSpPr>
        <p:spPr>
          <a:xfrm>
            <a:off x="8845635" y="6500177"/>
            <a:ext cx="3208020" cy="32702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50">
                <a:latin typeface="Arial"/>
                <a:ea typeface="Arial"/>
                <a:cs typeface="Arial"/>
                <a:sym typeface="Arial"/>
              </a:rPr>
              <a:t>Slides from Andrej Karpathy and Fei-Fei Li</a:t>
            </a:r>
            <a:endParaRPr sz="950">
              <a:latin typeface="Arial"/>
              <a:ea typeface="Arial"/>
              <a:cs typeface="Arial"/>
              <a:sym typeface="Arial"/>
            </a:endParaRPr>
          </a:p>
          <a:p>
            <a:pPr marL="12700" lvl="0" indent="0" algn="l" rtl="0">
              <a:lnSpc>
                <a:spcPct val="100000"/>
              </a:lnSpc>
              <a:spcBef>
                <a:spcPts val="60"/>
              </a:spcBef>
              <a:spcAft>
                <a:spcPts val="0"/>
              </a:spcAft>
              <a:buNone/>
            </a:pPr>
            <a:r>
              <a:rPr lang="en-US" sz="950" u="sng">
                <a:solidFill>
                  <a:schemeClr val="hlink"/>
                </a:solidFill>
                <a:latin typeface="Arial"/>
                <a:ea typeface="Arial"/>
                <a:cs typeface="Arial"/>
                <a:sym typeface="Arial"/>
                <a:hlinkClick r:id="rId4"/>
              </a:rPr>
              <a:t>http://vision.stanford.edu/teaching/cs231n/</a:t>
            </a:r>
            <a:endParaRPr sz="950">
              <a:latin typeface="Arial"/>
              <a:ea typeface="Arial"/>
              <a:cs typeface="Arial"/>
              <a:sym typeface="Arial"/>
            </a:endParaRPr>
          </a:p>
        </p:txBody>
      </p:sp>
      <p:sp>
        <p:nvSpPr>
          <p:cNvPr id="391" name="Google Shape;391;g3292fd40077_1_163"/>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395"/>
        <p:cNvGrpSpPr/>
        <p:nvPr/>
      </p:nvGrpSpPr>
      <p:grpSpPr>
        <a:xfrm>
          <a:off x="0" y="0"/>
          <a:ext cx="0" cy="0"/>
          <a:chOff x="0" y="0"/>
          <a:chExt cx="0" cy="0"/>
        </a:xfrm>
      </p:grpSpPr>
      <p:pic>
        <p:nvPicPr>
          <p:cNvPr id="396" name="Google Shape;396;g3292fd40077_1_173"/>
          <p:cNvPicPr preferRelativeResize="0"/>
          <p:nvPr/>
        </p:nvPicPr>
        <p:blipFill rotWithShape="1">
          <a:blip r:embed="rId3">
            <a:alphaModFix/>
          </a:blip>
          <a:srcRect/>
          <a:stretch/>
        </p:blipFill>
        <p:spPr>
          <a:xfrm>
            <a:off x="568959" y="1106973"/>
            <a:ext cx="7656576" cy="4123482"/>
          </a:xfrm>
          <a:prstGeom prst="rect">
            <a:avLst/>
          </a:prstGeom>
          <a:noFill/>
          <a:ln>
            <a:noFill/>
          </a:ln>
        </p:spPr>
      </p:pic>
      <p:sp>
        <p:nvSpPr>
          <p:cNvPr id="397" name="Google Shape;397;g3292fd40077_1_173"/>
          <p:cNvSpPr txBox="1"/>
          <p:nvPr/>
        </p:nvSpPr>
        <p:spPr>
          <a:xfrm>
            <a:off x="1923965" y="6033134"/>
            <a:ext cx="8358293" cy="30035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Arial"/>
                <a:ea typeface="Arial"/>
                <a:cs typeface="Arial"/>
                <a:sym typeface="Arial"/>
              </a:rPr>
              <a:t>Demo: </a:t>
            </a:r>
            <a:r>
              <a:rPr lang="en-US" sz="1800" u="sng">
                <a:solidFill>
                  <a:schemeClr val="hlink"/>
                </a:solidFill>
                <a:latin typeface="Arial"/>
                <a:ea typeface="Arial"/>
                <a:cs typeface="Arial"/>
                <a:sym typeface="Arial"/>
                <a:hlinkClick r:id="rId4"/>
              </a:rPr>
              <a:t>http://vision.stanford.edu/teaching/cs231n-demos/knn/</a:t>
            </a:r>
            <a:endParaRPr sz="1800">
              <a:latin typeface="Arial"/>
              <a:ea typeface="Arial"/>
              <a:cs typeface="Arial"/>
              <a:sym typeface="Arial"/>
            </a:endParaRPr>
          </a:p>
        </p:txBody>
      </p:sp>
      <p:sp>
        <p:nvSpPr>
          <p:cNvPr id="398" name="Google Shape;398;g3292fd40077_1_173"/>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402"/>
        <p:cNvGrpSpPr/>
        <p:nvPr/>
      </p:nvGrpSpPr>
      <p:grpSpPr>
        <a:xfrm>
          <a:off x="0" y="0"/>
          <a:ext cx="0" cy="0"/>
          <a:chOff x="0" y="0"/>
          <a:chExt cx="0" cy="0"/>
        </a:xfrm>
      </p:grpSpPr>
      <p:sp>
        <p:nvSpPr>
          <p:cNvPr id="403" name="Google Shape;403;g3292fd40077_1_178"/>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2367280" lvl="0" indent="0" algn="l" rtl="0">
              <a:lnSpc>
                <a:spcPct val="100000"/>
              </a:lnSpc>
              <a:spcBef>
                <a:spcPts val="0"/>
              </a:spcBef>
              <a:spcAft>
                <a:spcPts val="0"/>
              </a:spcAft>
              <a:buNone/>
            </a:pPr>
            <a:r>
              <a:rPr lang="en-US"/>
              <a:t>Hyperparameters</a:t>
            </a:r>
            <a:endParaRPr/>
          </a:p>
        </p:txBody>
      </p:sp>
      <p:sp>
        <p:nvSpPr>
          <p:cNvPr id="404" name="Google Shape;404;g3292fd40077_1_178"/>
          <p:cNvSpPr txBox="1"/>
          <p:nvPr/>
        </p:nvSpPr>
        <p:spPr>
          <a:xfrm>
            <a:off x="715433" y="1517649"/>
            <a:ext cx="10501207" cy="4544695"/>
          </a:xfrm>
          <a:prstGeom prst="rect">
            <a:avLst/>
          </a:prstGeom>
          <a:noFill/>
          <a:ln>
            <a:noFill/>
          </a:ln>
        </p:spPr>
        <p:txBody>
          <a:bodyPr spcFirstLastPara="1" wrap="square" lIns="0" tIns="105400" rIns="0" bIns="0" anchor="t" anchorCtr="0">
            <a:spAutoFit/>
          </a:bodyPr>
          <a:lstStyle/>
          <a:p>
            <a:pPr marL="355600" lvl="0" indent="-342900" algn="l" rtl="0">
              <a:lnSpc>
                <a:spcPct val="100000"/>
              </a:lnSpc>
              <a:spcBef>
                <a:spcPts val="0"/>
              </a:spcBef>
              <a:spcAft>
                <a:spcPts val="0"/>
              </a:spcAft>
              <a:buSzPts val="3200"/>
              <a:buFont typeface="Arial"/>
              <a:buChar char="•"/>
            </a:pPr>
            <a:r>
              <a:rPr lang="en-US" sz="3200">
                <a:latin typeface="Calibri"/>
                <a:ea typeface="Calibri"/>
                <a:cs typeface="Calibri"/>
                <a:sym typeface="Calibri"/>
              </a:rPr>
              <a:t>What is the </a:t>
            </a:r>
            <a:r>
              <a:rPr lang="en-US" sz="3200" b="1">
                <a:latin typeface="Calibri"/>
                <a:ea typeface="Calibri"/>
                <a:cs typeface="Calibri"/>
                <a:sym typeface="Calibri"/>
              </a:rPr>
              <a:t>best distance </a:t>
            </a:r>
            <a:r>
              <a:rPr lang="en-US" sz="3200">
                <a:latin typeface="Calibri"/>
                <a:ea typeface="Calibri"/>
                <a:cs typeface="Calibri"/>
                <a:sym typeface="Calibri"/>
              </a:rPr>
              <a:t>to use?</a:t>
            </a:r>
            <a:endParaRPr sz="3200">
              <a:latin typeface="Calibri"/>
              <a:ea typeface="Calibri"/>
              <a:cs typeface="Calibri"/>
              <a:sym typeface="Calibri"/>
            </a:endParaRPr>
          </a:p>
          <a:p>
            <a:pPr marL="355600" lvl="0" indent="-342900" algn="l" rtl="0">
              <a:lnSpc>
                <a:spcPct val="100000"/>
              </a:lnSpc>
              <a:spcBef>
                <a:spcPts val="740"/>
              </a:spcBef>
              <a:spcAft>
                <a:spcPts val="0"/>
              </a:spcAft>
              <a:buSzPts val="3200"/>
              <a:buFont typeface="Arial"/>
              <a:buChar char="•"/>
            </a:pPr>
            <a:r>
              <a:rPr lang="en-US" sz="3200">
                <a:latin typeface="Calibri"/>
                <a:ea typeface="Calibri"/>
                <a:cs typeface="Calibri"/>
                <a:sym typeface="Calibri"/>
              </a:rPr>
              <a:t>What is the </a:t>
            </a:r>
            <a:r>
              <a:rPr lang="en-US" sz="3200" b="1">
                <a:latin typeface="Calibri"/>
                <a:ea typeface="Calibri"/>
                <a:cs typeface="Calibri"/>
                <a:sym typeface="Calibri"/>
              </a:rPr>
              <a:t>best value of k </a:t>
            </a:r>
            <a:r>
              <a:rPr lang="en-US" sz="3200">
                <a:latin typeface="Calibri"/>
                <a:ea typeface="Calibri"/>
                <a:cs typeface="Calibri"/>
                <a:sym typeface="Calibri"/>
              </a:rPr>
              <a:t>to use?</a:t>
            </a:r>
            <a:endParaRPr sz="3200">
              <a:latin typeface="Calibri"/>
              <a:ea typeface="Calibri"/>
              <a:cs typeface="Calibri"/>
              <a:sym typeface="Calibri"/>
            </a:endParaRPr>
          </a:p>
          <a:p>
            <a:pPr marL="0" lvl="0" indent="0" algn="l" rtl="0">
              <a:lnSpc>
                <a:spcPct val="100000"/>
              </a:lnSpc>
              <a:spcBef>
                <a:spcPts val="1490"/>
              </a:spcBef>
              <a:spcAft>
                <a:spcPts val="0"/>
              </a:spcAft>
              <a:buSzPts val="3200"/>
              <a:buFont typeface="Arial"/>
              <a:buNone/>
            </a:pPr>
            <a:endParaRPr sz="3200">
              <a:latin typeface="Calibri"/>
              <a:ea typeface="Calibri"/>
              <a:cs typeface="Calibri"/>
              <a:sym typeface="Calibri"/>
            </a:endParaRPr>
          </a:p>
          <a:p>
            <a:pPr marL="355600" marR="406400" lvl="0" indent="-343535" algn="l" rtl="0">
              <a:lnSpc>
                <a:spcPct val="100000"/>
              </a:lnSpc>
              <a:spcBef>
                <a:spcPts val="0"/>
              </a:spcBef>
              <a:spcAft>
                <a:spcPts val="0"/>
              </a:spcAft>
              <a:buSzPts val="3200"/>
              <a:buFont typeface="Arial"/>
              <a:buChar char="•"/>
            </a:pPr>
            <a:r>
              <a:rPr lang="en-US" sz="3200">
                <a:latin typeface="Calibri"/>
                <a:ea typeface="Calibri"/>
                <a:cs typeface="Calibri"/>
                <a:sym typeface="Calibri"/>
              </a:rPr>
              <a:t>These are </a:t>
            </a:r>
            <a:r>
              <a:rPr lang="en-US" sz="3200" b="1">
                <a:latin typeface="Calibri"/>
                <a:ea typeface="Calibri"/>
                <a:cs typeface="Calibri"/>
                <a:sym typeface="Calibri"/>
              </a:rPr>
              <a:t>hyperparameters</a:t>
            </a:r>
            <a:r>
              <a:rPr lang="en-US" sz="3200">
                <a:latin typeface="Calibri"/>
                <a:ea typeface="Calibri"/>
                <a:cs typeface="Calibri"/>
                <a:sym typeface="Calibri"/>
              </a:rPr>
              <a:t>: choices about the algorithm that we set rather than learn</a:t>
            </a:r>
            <a:endParaRPr sz="3200">
              <a:latin typeface="Calibri"/>
              <a:ea typeface="Calibri"/>
              <a:cs typeface="Calibri"/>
              <a:sym typeface="Calibri"/>
            </a:endParaRPr>
          </a:p>
          <a:p>
            <a:pPr marL="0" lvl="0" indent="0" algn="l" rtl="0">
              <a:lnSpc>
                <a:spcPct val="100000"/>
              </a:lnSpc>
              <a:spcBef>
                <a:spcPts val="1485"/>
              </a:spcBef>
              <a:spcAft>
                <a:spcPts val="0"/>
              </a:spcAft>
              <a:buSzPts val="3200"/>
              <a:buFont typeface="Arial"/>
              <a:buNone/>
            </a:pPr>
            <a:endParaRPr sz="3200">
              <a:latin typeface="Calibri"/>
              <a:ea typeface="Calibri"/>
              <a:cs typeface="Calibri"/>
              <a:sym typeface="Calibri"/>
            </a:endParaRPr>
          </a:p>
          <a:p>
            <a:pPr marL="355600" lvl="0" indent="-342900" algn="l" rtl="0">
              <a:lnSpc>
                <a:spcPct val="100000"/>
              </a:lnSpc>
              <a:spcBef>
                <a:spcPts val="0"/>
              </a:spcBef>
              <a:spcAft>
                <a:spcPts val="0"/>
              </a:spcAft>
              <a:buSzPts val="3200"/>
              <a:buFont typeface="Arial"/>
              <a:buChar char="•"/>
            </a:pPr>
            <a:r>
              <a:rPr lang="en-US" sz="3200">
                <a:latin typeface="Calibri"/>
                <a:ea typeface="Calibri"/>
                <a:cs typeface="Calibri"/>
                <a:sym typeface="Calibri"/>
              </a:rPr>
              <a:t>How do we set them?</a:t>
            </a:r>
            <a:endParaRPr sz="3200">
              <a:latin typeface="Calibri"/>
              <a:ea typeface="Calibri"/>
              <a:cs typeface="Calibri"/>
              <a:sym typeface="Calibri"/>
            </a:endParaRPr>
          </a:p>
          <a:p>
            <a:pPr marL="469900" lvl="0" indent="0" algn="l" rtl="0">
              <a:lnSpc>
                <a:spcPct val="100000"/>
              </a:lnSpc>
              <a:spcBef>
                <a:spcPts val="815"/>
              </a:spcBef>
              <a:spcAft>
                <a:spcPts val="0"/>
              </a:spcAft>
              <a:buNone/>
            </a:pPr>
            <a:r>
              <a:rPr lang="en-US" sz="2750">
                <a:latin typeface="Arial"/>
                <a:ea typeface="Arial"/>
                <a:cs typeface="Arial"/>
                <a:sym typeface="Arial"/>
              </a:rPr>
              <a:t>– </a:t>
            </a:r>
            <a:r>
              <a:rPr lang="en-US" sz="2750">
                <a:latin typeface="Calibri"/>
                <a:ea typeface="Calibri"/>
                <a:cs typeface="Calibri"/>
                <a:sym typeface="Calibri"/>
              </a:rPr>
              <a:t>One option: try them all and see what works best</a:t>
            </a:r>
            <a:endParaRPr sz="2750">
              <a:latin typeface="Calibri"/>
              <a:ea typeface="Calibri"/>
              <a:cs typeface="Calibri"/>
              <a:sym typeface="Calibri"/>
            </a:endParaRPr>
          </a:p>
        </p:txBody>
      </p:sp>
      <p:sp>
        <p:nvSpPr>
          <p:cNvPr id="405" name="Google Shape;405;g3292fd40077_1_178"/>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409"/>
        <p:cNvGrpSpPr/>
        <p:nvPr/>
      </p:nvGrpSpPr>
      <p:grpSpPr>
        <a:xfrm>
          <a:off x="0" y="0"/>
          <a:ext cx="0" cy="0"/>
          <a:chOff x="0" y="0"/>
          <a:chExt cx="0" cy="0"/>
        </a:xfrm>
      </p:grpSpPr>
      <p:pic>
        <p:nvPicPr>
          <p:cNvPr id="410" name="Google Shape;410;g3292fd40077_1_183"/>
          <p:cNvPicPr preferRelativeResize="0"/>
          <p:nvPr/>
        </p:nvPicPr>
        <p:blipFill rotWithShape="1">
          <a:blip r:embed="rId3">
            <a:alphaModFix/>
          </a:blip>
          <a:srcRect/>
          <a:stretch/>
        </p:blipFill>
        <p:spPr>
          <a:xfrm>
            <a:off x="414527" y="1100882"/>
            <a:ext cx="7833359" cy="1674974"/>
          </a:xfrm>
          <a:prstGeom prst="rect">
            <a:avLst/>
          </a:prstGeom>
          <a:noFill/>
          <a:ln>
            <a:noFill/>
          </a:ln>
        </p:spPr>
      </p:pic>
      <p:sp>
        <p:nvSpPr>
          <p:cNvPr id="411" name="Google Shape;411;g3292fd40077_1_183"/>
          <p:cNvSpPr txBox="1"/>
          <p:nvPr/>
        </p:nvSpPr>
        <p:spPr>
          <a:xfrm>
            <a:off x="9192000" y="0"/>
            <a:ext cx="30000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800"/>
          </a:p>
          <a:p>
            <a:pPr marL="0" lvl="0" indent="0" algn="l" rtl="0">
              <a:spcBef>
                <a:spcPts val="0"/>
              </a:spcBef>
              <a:spcAft>
                <a:spcPts val="0"/>
              </a:spcAft>
              <a:buNone/>
            </a:pPr>
            <a:endParaRPr sz="800"/>
          </a:p>
        </p:txBody>
      </p:sp>
      <p:sp>
        <p:nvSpPr>
          <p:cNvPr id="412" name="Google Shape;412;g3292fd40077_1_183"/>
          <p:cNvSpPr txBox="1"/>
          <p:nvPr/>
        </p:nvSpPr>
        <p:spPr>
          <a:xfrm>
            <a:off x="9344400" y="15240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416"/>
        <p:cNvGrpSpPr/>
        <p:nvPr/>
      </p:nvGrpSpPr>
      <p:grpSpPr>
        <a:xfrm>
          <a:off x="0" y="0"/>
          <a:ext cx="0" cy="0"/>
          <a:chOff x="0" y="0"/>
          <a:chExt cx="0" cy="0"/>
        </a:xfrm>
      </p:grpSpPr>
      <p:pic>
        <p:nvPicPr>
          <p:cNvPr id="417" name="Google Shape;417;g3292fd40077_1_187"/>
          <p:cNvPicPr preferRelativeResize="0"/>
          <p:nvPr/>
        </p:nvPicPr>
        <p:blipFill rotWithShape="1">
          <a:blip r:embed="rId3">
            <a:alphaModFix/>
          </a:blip>
          <a:srcRect/>
          <a:stretch/>
        </p:blipFill>
        <p:spPr>
          <a:xfrm>
            <a:off x="414527" y="1100882"/>
            <a:ext cx="8040624" cy="1674974"/>
          </a:xfrm>
          <a:prstGeom prst="rect">
            <a:avLst/>
          </a:prstGeom>
          <a:noFill/>
          <a:ln>
            <a:noFill/>
          </a:ln>
        </p:spPr>
      </p:pic>
      <p:sp>
        <p:nvSpPr>
          <p:cNvPr id="418" name="Google Shape;418;g3292fd40077_1_187"/>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422"/>
        <p:cNvGrpSpPr/>
        <p:nvPr/>
      </p:nvGrpSpPr>
      <p:grpSpPr>
        <a:xfrm>
          <a:off x="0" y="0"/>
          <a:ext cx="0" cy="0"/>
          <a:chOff x="0" y="0"/>
          <a:chExt cx="0" cy="0"/>
        </a:xfrm>
      </p:grpSpPr>
      <p:pic>
        <p:nvPicPr>
          <p:cNvPr id="423" name="Google Shape;423;g3292fd40077_1_191"/>
          <p:cNvPicPr preferRelativeResize="0"/>
          <p:nvPr/>
        </p:nvPicPr>
        <p:blipFill rotWithShape="1">
          <a:blip r:embed="rId3">
            <a:alphaModFix/>
          </a:blip>
          <a:srcRect/>
          <a:stretch/>
        </p:blipFill>
        <p:spPr>
          <a:xfrm>
            <a:off x="398272" y="1101047"/>
            <a:ext cx="8052816" cy="2931668"/>
          </a:xfrm>
          <a:prstGeom prst="rect">
            <a:avLst/>
          </a:prstGeom>
          <a:noFill/>
          <a:ln>
            <a:noFill/>
          </a:ln>
        </p:spPr>
      </p:pic>
      <p:sp>
        <p:nvSpPr>
          <p:cNvPr id="424" name="Google Shape;424;g3292fd40077_1_191"/>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428"/>
        <p:cNvGrpSpPr/>
        <p:nvPr/>
      </p:nvGrpSpPr>
      <p:grpSpPr>
        <a:xfrm>
          <a:off x="0" y="0"/>
          <a:ext cx="0" cy="0"/>
          <a:chOff x="0" y="0"/>
          <a:chExt cx="0" cy="0"/>
        </a:xfrm>
      </p:grpSpPr>
      <p:pic>
        <p:nvPicPr>
          <p:cNvPr id="429" name="Google Shape;429;g3292fd40077_1_195"/>
          <p:cNvPicPr preferRelativeResize="0"/>
          <p:nvPr/>
        </p:nvPicPr>
        <p:blipFill rotWithShape="1">
          <a:blip r:embed="rId3">
            <a:alphaModFix/>
          </a:blip>
          <a:srcRect/>
          <a:stretch/>
        </p:blipFill>
        <p:spPr>
          <a:xfrm>
            <a:off x="398272" y="1101047"/>
            <a:ext cx="8357616" cy="2931668"/>
          </a:xfrm>
          <a:prstGeom prst="rect">
            <a:avLst/>
          </a:prstGeom>
          <a:noFill/>
          <a:ln>
            <a:noFill/>
          </a:ln>
        </p:spPr>
      </p:pic>
      <p:sp>
        <p:nvSpPr>
          <p:cNvPr id="430" name="Google Shape;430;g3292fd40077_1_195"/>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434"/>
        <p:cNvGrpSpPr/>
        <p:nvPr/>
      </p:nvGrpSpPr>
      <p:grpSpPr>
        <a:xfrm>
          <a:off x="0" y="0"/>
          <a:ext cx="0" cy="0"/>
          <a:chOff x="0" y="0"/>
          <a:chExt cx="0" cy="0"/>
        </a:xfrm>
      </p:grpSpPr>
      <p:pic>
        <p:nvPicPr>
          <p:cNvPr id="435" name="Google Shape;435;g3292fd40077_1_199"/>
          <p:cNvPicPr preferRelativeResize="0"/>
          <p:nvPr/>
        </p:nvPicPr>
        <p:blipFill rotWithShape="1">
          <a:blip r:embed="rId3">
            <a:alphaModFix/>
          </a:blip>
          <a:srcRect/>
          <a:stretch/>
        </p:blipFill>
        <p:spPr>
          <a:xfrm>
            <a:off x="398272" y="1100882"/>
            <a:ext cx="8357616" cy="4196572"/>
          </a:xfrm>
          <a:prstGeom prst="rect">
            <a:avLst/>
          </a:prstGeom>
          <a:noFill/>
          <a:ln>
            <a:noFill/>
          </a:ln>
        </p:spPr>
      </p:pic>
      <p:sp>
        <p:nvSpPr>
          <p:cNvPr id="436" name="Google Shape;436;g3292fd40077_1_199"/>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440"/>
        <p:cNvGrpSpPr/>
        <p:nvPr/>
      </p:nvGrpSpPr>
      <p:grpSpPr>
        <a:xfrm>
          <a:off x="0" y="0"/>
          <a:ext cx="0" cy="0"/>
          <a:chOff x="0" y="0"/>
          <a:chExt cx="0" cy="0"/>
        </a:xfrm>
      </p:grpSpPr>
      <p:pic>
        <p:nvPicPr>
          <p:cNvPr id="441" name="Google Shape;441;g3292fd40077_1_203"/>
          <p:cNvPicPr preferRelativeResize="0"/>
          <p:nvPr/>
        </p:nvPicPr>
        <p:blipFill rotWithShape="1">
          <a:blip r:embed="rId3">
            <a:alphaModFix/>
          </a:blip>
          <a:srcRect/>
          <a:stretch/>
        </p:blipFill>
        <p:spPr>
          <a:xfrm>
            <a:off x="447039" y="1100882"/>
            <a:ext cx="7808976" cy="4001666"/>
          </a:xfrm>
          <a:prstGeom prst="rect">
            <a:avLst/>
          </a:prstGeom>
          <a:noFill/>
          <a:ln>
            <a:noFill/>
          </a:ln>
        </p:spPr>
      </p:pic>
      <p:sp>
        <p:nvSpPr>
          <p:cNvPr id="442" name="Google Shape;442;g3292fd40077_1_203"/>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446"/>
        <p:cNvGrpSpPr/>
        <p:nvPr/>
      </p:nvGrpSpPr>
      <p:grpSpPr>
        <a:xfrm>
          <a:off x="0" y="0"/>
          <a:ext cx="0" cy="0"/>
          <a:chOff x="0" y="0"/>
          <a:chExt cx="0" cy="0"/>
        </a:xfrm>
      </p:grpSpPr>
      <p:pic>
        <p:nvPicPr>
          <p:cNvPr id="447" name="Google Shape;447;g3292fd40077_1_207"/>
          <p:cNvPicPr preferRelativeResize="0"/>
          <p:nvPr/>
        </p:nvPicPr>
        <p:blipFill rotWithShape="1">
          <a:blip r:embed="rId3">
            <a:alphaModFix/>
          </a:blip>
          <a:srcRect/>
          <a:stretch/>
        </p:blipFill>
        <p:spPr>
          <a:xfrm>
            <a:off x="470431" y="1628775"/>
            <a:ext cx="8604964" cy="4445506"/>
          </a:xfrm>
          <a:prstGeom prst="rect">
            <a:avLst/>
          </a:prstGeom>
          <a:noFill/>
          <a:ln>
            <a:noFill/>
          </a:ln>
        </p:spPr>
      </p:pic>
      <p:sp>
        <p:nvSpPr>
          <p:cNvPr id="448" name="Google Shape;448;g3292fd40077_1_207"/>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452"/>
        <p:cNvGrpSpPr/>
        <p:nvPr/>
      </p:nvGrpSpPr>
      <p:grpSpPr>
        <a:xfrm>
          <a:off x="0" y="0"/>
          <a:ext cx="0" cy="0"/>
          <a:chOff x="0" y="0"/>
          <a:chExt cx="0" cy="0"/>
        </a:xfrm>
      </p:grpSpPr>
      <p:sp>
        <p:nvSpPr>
          <p:cNvPr id="453" name="Google Shape;453;g3292fd40077_1_211"/>
          <p:cNvSpPr txBox="1">
            <a:spLocks noGrp="1"/>
          </p:cNvSpPr>
          <p:nvPr>
            <p:ph type="title"/>
          </p:nvPr>
        </p:nvSpPr>
        <p:spPr>
          <a:xfrm>
            <a:off x="284056" y="166624"/>
            <a:ext cx="11525673" cy="1301876"/>
          </a:xfrm>
          <a:prstGeom prst="rect">
            <a:avLst/>
          </a:prstGeom>
          <a:noFill/>
          <a:ln>
            <a:noFill/>
          </a:ln>
        </p:spPr>
        <p:txBody>
          <a:bodyPr spcFirstLastPara="1" wrap="square" lIns="0" tIns="350325" rIns="0" bIns="0" anchor="t" anchorCtr="0">
            <a:spAutoFit/>
          </a:bodyPr>
          <a:lstStyle/>
          <a:p>
            <a:pPr marL="469900" lvl="0" indent="0" algn="l" rtl="0">
              <a:lnSpc>
                <a:spcPct val="100000"/>
              </a:lnSpc>
              <a:spcBef>
                <a:spcPts val="0"/>
              </a:spcBef>
              <a:spcAft>
                <a:spcPts val="0"/>
              </a:spcAft>
              <a:buNone/>
            </a:pPr>
            <a:r>
              <a:rPr lang="en-US" sz="3950"/>
              <a:t>Recap: How to pick hyperparameters?</a:t>
            </a:r>
            <a:endParaRPr sz="3950"/>
          </a:p>
        </p:txBody>
      </p:sp>
      <p:sp>
        <p:nvSpPr>
          <p:cNvPr id="454" name="Google Shape;454;g3292fd40077_1_211"/>
          <p:cNvSpPr txBox="1"/>
          <p:nvPr/>
        </p:nvSpPr>
        <p:spPr>
          <a:xfrm>
            <a:off x="715433" y="1503197"/>
            <a:ext cx="8052647" cy="3921760"/>
          </a:xfrm>
          <a:prstGeom prst="rect">
            <a:avLst/>
          </a:prstGeom>
          <a:noFill/>
          <a:ln>
            <a:noFill/>
          </a:ln>
        </p:spPr>
        <p:txBody>
          <a:bodyPr spcFirstLastPara="1" wrap="square" lIns="0" tIns="120000" rIns="0" bIns="0" anchor="t" anchorCtr="0">
            <a:spAutoFit/>
          </a:bodyPr>
          <a:lstStyle/>
          <a:p>
            <a:pPr marL="355600" lvl="0" indent="-343535" algn="l" rtl="0">
              <a:lnSpc>
                <a:spcPct val="100000"/>
              </a:lnSpc>
              <a:spcBef>
                <a:spcPts val="0"/>
              </a:spcBef>
              <a:spcAft>
                <a:spcPts val="0"/>
              </a:spcAft>
              <a:buSzPts val="3200"/>
              <a:buFont typeface="Arial"/>
              <a:buChar char="•"/>
            </a:pPr>
            <a:r>
              <a:rPr lang="en-US" sz="3200">
                <a:latin typeface="Calibri"/>
                <a:ea typeface="Calibri"/>
                <a:cs typeface="Calibri"/>
                <a:sym typeface="Calibri"/>
              </a:rPr>
              <a:t>Methodology</a:t>
            </a:r>
            <a:endParaRPr sz="3200">
              <a:latin typeface="Calibri"/>
              <a:ea typeface="Calibri"/>
              <a:cs typeface="Calibri"/>
              <a:sym typeface="Calibri"/>
            </a:endParaRPr>
          </a:p>
          <a:p>
            <a:pPr marL="755015" lvl="1" indent="-285115" algn="l" rtl="0">
              <a:lnSpc>
                <a:spcPct val="100000"/>
              </a:lnSpc>
              <a:spcBef>
                <a:spcPts val="740"/>
              </a:spcBef>
              <a:spcAft>
                <a:spcPts val="0"/>
              </a:spcAft>
              <a:buSzPts val="2750"/>
              <a:buFont typeface="Arial"/>
              <a:buChar char="–"/>
            </a:pPr>
            <a:r>
              <a:rPr lang="en-US" sz="2750">
                <a:latin typeface="Calibri"/>
                <a:ea typeface="Calibri"/>
                <a:cs typeface="Calibri"/>
                <a:sym typeface="Calibri"/>
              </a:rPr>
              <a:t>Train and test</a:t>
            </a:r>
            <a:endParaRPr sz="2750">
              <a:latin typeface="Calibri"/>
              <a:ea typeface="Calibri"/>
              <a:cs typeface="Calibri"/>
              <a:sym typeface="Calibri"/>
            </a:endParaRPr>
          </a:p>
          <a:p>
            <a:pPr marL="755015" lvl="1" indent="-285115" algn="l" rtl="0">
              <a:lnSpc>
                <a:spcPct val="100000"/>
              </a:lnSpc>
              <a:spcBef>
                <a:spcPts val="755"/>
              </a:spcBef>
              <a:spcAft>
                <a:spcPts val="0"/>
              </a:spcAft>
              <a:buSzPts val="2750"/>
              <a:buFont typeface="Arial"/>
              <a:buChar char="–"/>
            </a:pPr>
            <a:r>
              <a:rPr lang="en-US" sz="2750">
                <a:latin typeface="Calibri"/>
                <a:ea typeface="Calibri"/>
                <a:cs typeface="Calibri"/>
                <a:sym typeface="Calibri"/>
              </a:rPr>
              <a:t>Train, validate, test</a:t>
            </a:r>
            <a:endParaRPr sz="2750">
              <a:latin typeface="Calibri"/>
              <a:ea typeface="Calibri"/>
              <a:cs typeface="Calibri"/>
              <a:sym typeface="Calibri"/>
            </a:endParaRPr>
          </a:p>
          <a:p>
            <a:pPr marL="0" lvl="1" indent="0" algn="l" rtl="0">
              <a:lnSpc>
                <a:spcPct val="100000"/>
              </a:lnSpc>
              <a:spcBef>
                <a:spcPts val="1455"/>
              </a:spcBef>
              <a:spcAft>
                <a:spcPts val="0"/>
              </a:spcAft>
              <a:buSzPts val="2750"/>
              <a:buFont typeface="Arial"/>
              <a:buNone/>
            </a:pPr>
            <a:endParaRPr sz="2750">
              <a:latin typeface="Calibri"/>
              <a:ea typeface="Calibri"/>
              <a:cs typeface="Calibri"/>
              <a:sym typeface="Calibri"/>
            </a:endParaRPr>
          </a:p>
          <a:p>
            <a:pPr marL="355600" lvl="0" indent="-342900" algn="l" rtl="0">
              <a:lnSpc>
                <a:spcPct val="100000"/>
              </a:lnSpc>
              <a:spcBef>
                <a:spcPts val="0"/>
              </a:spcBef>
              <a:spcAft>
                <a:spcPts val="0"/>
              </a:spcAft>
              <a:buSzPts val="3200"/>
              <a:buFont typeface="Arial"/>
              <a:buChar char="•"/>
            </a:pPr>
            <a:r>
              <a:rPr lang="en-US" sz="3200">
                <a:latin typeface="Calibri"/>
                <a:ea typeface="Calibri"/>
                <a:cs typeface="Calibri"/>
                <a:sym typeface="Calibri"/>
              </a:rPr>
              <a:t>Train for original model</a:t>
            </a:r>
            <a:endParaRPr sz="3200">
              <a:latin typeface="Calibri"/>
              <a:ea typeface="Calibri"/>
              <a:cs typeface="Calibri"/>
              <a:sym typeface="Calibri"/>
            </a:endParaRPr>
          </a:p>
          <a:p>
            <a:pPr marL="355600" lvl="0" indent="-342900" algn="l" rtl="0">
              <a:lnSpc>
                <a:spcPct val="100000"/>
              </a:lnSpc>
              <a:spcBef>
                <a:spcPts val="740"/>
              </a:spcBef>
              <a:spcAft>
                <a:spcPts val="0"/>
              </a:spcAft>
              <a:buSzPts val="3200"/>
              <a:buFont typeface="Arial"/>
              <a:buChar char="•"/>
            </a:pPr>
            <a:r>
              <a:rPr lang="en-US" sz="3200">
                <a:latin typeface="Calibri"/>
                <a:ea typeface="Calibri"/>
                <a:cs typeface="Calibri"/>
                <a:sym typeface="Calibri"/>
              </a:rPr>
              <a:t>Validate to find hyperparameters</a:t>
            </a:r>
            <a:endParaRPr sz="3200">
              <a:latin typeface="Calibri"/>
              <a:ea typeface="Calibri"/>
              <a:cs typeface="Calibri"/>
              <a:sym typeface="Calibri"/>
            </a:endParaRPr>
          </a:p>
          <a:p>
            <a:pPr marL="355600" lvl="0" indent="-342900" algn="l" rtl="0">
              <a:lnSpc>
                <a:spcPct val="100000"/>
              </a:lnSpc>
              <a:spcBef>
                <a:spcPts val="815"/>
              </a:spcBef>
              <a:spcAft>
                <a:spcPts val="0"/>
              </a:spcAft>
              <a:buSzPts val="3200"/>
              <a:buFont typeface="Arial"/>
              <a:buChar char="•"/>
            </a:pPr>
            <a:r>
              <a:rPr lang="en-US" sz="3200">
                <a:latin typeface="Calibri"/>
                <a:ea typeface="Calibri"/>
                <a:cs typeface="Calibri"/>
                <a:sym typeface="Calibri"/>
              </a:rPr>
              <a:t>Test to understand generalizability</a:t>
            </a:r>
            <a:endParaRPr sz="3200">
              <a:latin typeface="Calibri"/>
              <a:ea typeface="Calibri"/>
              <a:cs typeface="Calibri"/>
              <a:sym typeface="Calibri"/>
            </a:endParaRPr>
          </a:p>
        </p:txBody>
      </p:sp>
      <p:sp>
        <p:nvSpPr>
          <p:cNvPr id="455" name="Google Shape;455;g3292fd40077_1_211"/>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459"/>
        <p:cNvGrpSpPr/>
        <p:nvPr/>
      </p:nvGrpSpPr>
      <p:grpSpPr>
        <a:xfrm>
          <a:off x="0" y="0"/>
          <a:ext cx="0" cy="0"/>
          <a:chOff x="0" y="0"/>
          <a:chExt cx="0" cy="0"/>
        </a:xfrm>
      </p:grpSpPr>
      <p:sp>
        <p:nvSpPr>
          <p:cNvPr id="460" name="Google Shape;460;g3292fd40077_1_216"/>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880110" lvl="0" indent="0" algn="l" rtl="0">
              <a:lnSpc>
                <a:spcPct val="100000"/>
              </a:lnSpc>
              <a:spcBef>
                <a:spcPts val="0"/>
              </a:spcBef>
              <a:spcAft>
                <a:spcPts val="0"/>
              </a:spcAft>
              <a:buNone/>
            </a:pPr>
            <a:r>
              <a:rPr lang="en-US"/>
              <a:t>kNN -- Complexity and Storage</a:t>
            </a:r>
            <a:endParaRPr/>
          </a:p>
        </p:txBody>
      </p:sp>
      <p:sp>
        <p:nvSpPr>
          <p:cNvPr id="461" name="Google Shape;461;g3292fd40077_1_216"/>
          <p:cNvSpPr txBox="1"/>
          <p:nvPr/>
        </p:nvSpPr>
        <p:spPr>
          <a:xfrm>
            <a:off x="715433" y="1606930"/>
            <a:ext cx="9005145" cy="4474210"/>
          </a:xfrm>
          <a:prstGeom prst="rect">
            <a:avLst/>
          </a:prstGeom>
          <a:noFill/>
          <a:ln>
            <a:noFill/>
          </a:ln>
        </p:spPr>
        <p:txBody>
          <a:bodyPr spcFirstLastPara="1" wrap="square" lIns="0" tIns="16500" rIns="0" bIns="0" anchor="t" anchorCtr="0">
            <a:spAutoFit/>
          </a:bodyPr>
          <a:lstStyle/>
          <a:p>
            <a:pPr marL="355600" lvl="0" indent="-342900" algn="l" rtl="0">
              <a:lnSpc>
                <a:spcPct val="100000"/>
              </a:lnSpc>
              <a:spcBef>
                <a:spcPts val="0"/>
              </a:spcBef>
              <a:spcAft>
                <a:spcPts val="0"/>
              </a:spcAft>
              <a:buSzPts val="3200"/>
              <a:buFont typeface="Arial"/>
              <a:buChar char="•"/>
            </a:pPr>
            <a:r>
              <a:rPr lang="en-US" sz="3200">
                <a:latin typeface="Calibri"/>
                <a:ea typeface="Calibri"/>
                <a:cs typeface="Calibri"/>
                <a:sym typeface="Calibri"/>
              </a:rPr>
              <a:t>N training images, M test images</a:t>
            </a:r>
            <a:endParaRPr sz="3200">
              <a:latin typeface="Calibri"/>
              <a:ea typeface="Calibri"/>
              <a:cs typeface="Calibri"/>
              <a:sym typeface="Calibri"/>
            </a:endParaRPr>
          </a:p>
          <a:p>
            <a:pPr marL="0" lvl="0" indent="0" algn="l" rtl="0">
              <a:lnSpc>
                <a:spcPct val="100000"/>
              </a:lnSpc>
              <a:spcBef>
                <a:spcPts val="1490"/>
              </a:spcBef>
              <a:spcAft>
                <a:spcPts val="0"/>
              </a:spcAft>
              <a:buSzPts val="3200"/>
              <a:buFont typeface="Arial"/>
              <a:buNone/>
            </a:pPr>
            <a:endParaRPr sz="3200">
              <a:latin typeface="Calibri"/>
              <a:ea typeface="Calibri"/>
              <a:cs typeface="Calibri"/>
              <a:sym typeface="Calibri"/>
            </a:endParaRPr>
          </a:p>
          <a:p>
            <a:pPr marL="355600" lvl="0" indent="-342900" algn="l" rtl="0">
              <a:lnSpc>
                <a:spcPct val="100000"/>
              </a:lnSpc>
              <a:spcBef>
                <a:spcPts val="0"/>
              </a:spcBef>
              <a:spcAft>
                <a:spcPts val="0"/>
              </a:spcAft>
              <a:buSzPts val="3200"/>
              <a:buFont typeface="Arial"/>
              <a:buChar char="•"/>
            </a:pPr>
            <a:r>
              <a:rPr lang="en-US" sz="3200">
                <a:latin typeface="Calibri"/>
                <a:ea typeface="Calibri"/>
                <a:cs typeface="Calibri"/>
                <a:sym typeface="Calibri"/>
              </a:rPr>
              <a:t>Training: O(1)</a:t>
            </a:r>
            <a:endParaRPr sz="3200">
              <a:latin typeface="Calibri"/>
              <a:ea typeface="Calibri"/>
              <a:cs typeface="Calibri"/>
              <a:sym typeface="Calibri"/>
            </a:endParaRPr>
          </a:p>
          <a:p>
            <a:pPr marL="355600" lvl="0" indent="-342900" algn="l" rtl="0">
              <a:lnSpc>
                <a:spcPct val="100000"/>
              </a:lnSpc>
              <a:spcBef>
                <a:spcPts val="740"/>
              </a:spcBef>
              <a:spcAft>
                <a:spcPts val="0"/>
              </a:spcAft>
              <a:buSzPts val="3200"/>
              <a:buFont typeface="Arial"/>
              <a:buChar char="•"/>
            </a:pPr>
            <a:r>
              <a:rPr lang="en-US" sz="3200">
                <a:latin typeface="Calibri"/>
                <a:ea typeface="Calibri"/>
                <a:cs typeface="Calibri"/>
                <a:sym typeface="Calibri"/>
              </a:rPr>
              <a:t>Testing: O(MN)</a:t>
            </a:r>
            <a:endParaRPr sz="3200">
              <a:latin typeface="Calibri"/>
              <a:ea typeface="Calibri"/>
              <a:cs typeface="Calibri"/>
              <a:sym typeface="Calibri"/>
            </a:endParaRPr>
          </a:p>
          <a:p>
            <a:pPr marL="0" lvl="0" indent="0" algn="l" rtl="0">
              <a:lnSpc>
                <a:spcPct val="100000"/>
              </a:lnSpc>
              <a:spcBef>
                <a:spcPts val="1490"/>
              </a:spcBef>
              <a:spcAft>
                <a:spcPts val="0"/>
              </a:spcAft>
              <a:buSzPts val="3200"/>
              <a:buFont typeface="Arial"/>
              <a:buNone/>
            </a:pPr>
            <a:endParaRPr sz="3200">
              <a:latin typeface="Calibri"/>
              <a:ea typeface="Calibri"/>
              <a:cs typeface="Calibri"/>
              <a:sym typeface="Calibri"/>
            </a:endParaRPr>
          </a:p>
          <a:p>
            <a:pPr marL="355600" lvl="0" indent="-342900" algn="l" rtl="0">
              <a:lnSpc>
                <a:spcPct val="100000"/>
              </a:lnSpc>
              <a:spcBef>
                <a:spcPts val="5"/>
              </a:spcBef>
              <a:spcAft>
                <a:spcPts val="0"/>
              </a:spcAft>
              <a:buSzPts val="3200"/>
              <a:buFont typeface="Arial"/>
              <a:buChar char="•"/>
            </a:pPr>
            <a:r>
              <a:rPr lang="en-US" sz="3200">
                <a:latin typeface="Calibri"/>
                <a:ea typeface="Calibri"/>
                <a:cs typeface="Calibri"/>
                <a:sym typeface="Calibri"/>
              </a:rPr>
              <a:t>Hmm…</a:t>
            </a:r>
            <a:endParaRPr sz="3200">
              <a:latin typeface="Calibri"/>
              <a:ea typeface="Calibri"/>
              <a:cs typeface="Calibri"/>
              <a:sym typeface="Calibri"/>
            </a:endParaRPr>
          </a:p>
          <a:p>
            <a:pPr marL="755015" lvl="1" indent="-285115" algn="l" rtl="0">
              <a:lnSpc>
                <a:spcPct val="100000"/>
              </a:lnSpc>
              <a:spcBef>
                <a:spcPts val="740"/>
              </a:spcBef>
              <a:spcAft>
                <a:spcPts val="0"/>
              </a:spcAft>
              <a:buSzPts val="2750"/>
              <a:buFont typeface="Arial"/>
              <a:buChar char="–"/>
            </a:pPr>
            <a:r>
              <a:rPr lang="en-US" sz="2750">
                <a:latin typeface="Calibri"/>
                <a:ea typeface="Calibri"/>
                <a:cs typeface="Calibri"/>
                <a:sym typeface="Calibri"/>
              </a:rPr>
              <a:t>Normally need the opposite</a:t>
            </a:r>
            <a:endParaRPr sz="2750">
              <a:latin typeface="Calibri"/>
              <a:ea typeface="Calibri"/>
              <a:cs typeface="Calibri"/>
              <a:sym typeface="Calibri"/>
            </a:endParaRPr>
          </a:p>
          <a:p>
            <a:pPr marL="755015" lvl="1" indent="-285115" algn="l" rtl="0">
              <a:lnSpc>
                <a:spcPct val="100000"/>
              </a:lnSpc>
              <a:spcBef>
                <a:spcPts val="755"/>
              </a:spcBef>
              <a:spcAft>
                <a:spcPts val="0"/>
              </a:spcAft>
              <a:buSzPts val="2750"/>
              <a:buFont typeface="Arial"/>
              <a:buChar char="–"/>
            </a:pPr>
            <a:r>
              <a:rPr lang="en-US" sz="2750">
                <a:latin typeface="Calibri"/>
                <a:ea typeface="Calibri"/>
                <a:cs typeface="Calibri"/>
                <a:sym typeface="Calibri"/>
              </a:rPr>
              <a:t>Slow training (ok), fast testing (necessary)</a:t>
            </a:r>
            <a:endParaRPr sz="2750">
              <a:latin typeface="Calibri"/>
              <a:ea typeface="Calibri"/>
              <a:cs typeface="Calibri"/>
              <a:sym typeface="Calibri"/>
            </a:endParaRPr>
          </a:p>
        </p:txBody>
      </p:sp>
      <p:sp>
        <p:nvSpPr>
          <p:cNvPr id="462" name="Google Shape;462;g3292fd40077_1_216"/>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466"/>
        <p:cNvGrpSpPr/>
        <p:nvPr/>
      </p:nvGrpSpPr>
      <p:grpSpPr>
        <a:xfrm>
          <a:off x="0" y="0"/>
          <a:ext cx="0" cy="0"/>
          <a:chOff x="0" y="0"/>
          <a:chExt cx="0" cy="0"/>
        </a:xfrm>
      </p:grpSpPr>
      <p:pic>
        <p:nvPicPr>
          <p:cNvPr id="467" name="Google Shape;467;g3292fd40077_1_221"/>
          <p:cNvPicPr preferRelativeResize="0"/>
          <p:nvPr/>
        </p:nvPicPr>
        <p:blipFill rotWithShape="1">
          <a:blip r:embed="rId3">
            <a:alphaModFix/>
          </a:blip>
          <a:srcRect/>
          <a:stretch/>
        </p:blipFill>
        <p:spPr>
          <a:xfrm>
            <a:off x="438364" y="1659154"/>
            <a:ext cx="8383712" cy="4513045"/>
          </a:xfrm>
          <a:prstGeom prst="rect">
            <a:avLst/>
          </a:prstGeom>
          <a:noFill/>
          <a:ln>
            <a:noFill/>
          </a:ln>
        </p:spPr>
      </p:pic>
      <p:sp>
        <p:nvSpPr>
          <p:cNvPr id="468" name="Google Shape;468;g3292fd40077_1_221"/>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472"/>
        <p:cNvGrpSpPr/>
        <p:nvPr/>
      </p:nvGrpSpPr>
      <p:grpSpPr>
        <a:xfrm>
          <a:off x="0" y="0"/>
          <a:ext cx="0" cy="0"/>
          <a:chOff x="0" y="0"/>
          <a:chExt cx="0" cy="0"/>
        </a:xfrm>
      </p:grpSpPr>
      <p:sp>
        <p:nvSpPr>
          <p:cNvPr id="473" name="Google Shape;473;g3292fd40077_1_225"/>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812800" lvl="0" indent="0" algn="l" rtl="0">
              <a:lnSpc>
                <a:spcPct val="100000"/>
              </a:lnSpc>
              <a:spcBef>
                <a:spcPts val="0"/>
              </a:spcBef>
              <a:spcAft>
                <a:spcPts val="0"/>
              </a:spcAft>
              <a:buNone/>
            </a:pPr>
            <a:r>
              <a:rPr lang="en-US"/>
              <a:t>k-Nearest Neighbors: Summary</a:t>
            </a:r>
            <a:endParaRPr/>
          </a:p>
        </p:txBody>
      </p:sp>
      <p:sp>
        <p:nvSpPr>
          <p:cNvPr id="474" name="Google Shape;474;g3292fd40077_1_225"/>
          <p:cNvSpPr txBox="1"/>
          <p:nvPr/>
        </p:nvSpPr>
        <p:spPr>
          <a:xfrm>
            <a:off x="715433" y="1607248"/>
            <a:ext cx="10693400" cy="4403090"/>
          </a:xfrm>
          <a:prstGeom prst="rect">
            <a:avLst/>
          </a:prstGeom>
          <a:noFill/>
          <a:ln>
            <a:noFill/>
          </a:ln>
        </p:spPr>
        <p:txBody>
          <a:bodyPr spcFirstLastPara="1" wrap="square" lIns="0" tIns="12700" rIns="0" bIns="0" anchor="t" anchorCtr="0">
            <a:spAutoFit/>
          </a:bodyPr>
          <a:lstStyle/>
          <a:p>
            <a:pPr marL="355600" marR="172085" lvl="0" indent="-343535" algn="l" rtl="0">
              <a:lnSpc>
                <a:spcPct val="100000"/>
              </a:lnSpc>
              <a:spcBef>
                <a:spcPts val="0"/>
              </a:spcBef>
              <a:spcAft>
                <a:spcPts val="0"/>
              </a:spcAft>
              <a:buSzPts val="3000"/>
              <a:buFont typeface="Arial"/>
              <a:buChar char="•"/>
            </a:pPr>
            <a:r>
              <a:rPr lang="en-US" sz="3000">
                <a:latin typeface="Calibri"/>
                <a:ea typeface="Calibri"/>
                <a:cs typeface="Calibri"/>
                <a:sym typeface="Calibri"/>
              </a:rPr>
              <a:t>In </a:t>
            </a:r>
            <a:r>
              <a:rPr lang="en-US" sz="3000" b="1">
                <a:latin typeface="Calibri"/>
                <a:ea typeface="Calibri"/>
                <a:cs typeface="Calibri"/>
                <a:sym typeface="Calibri"/>
              </a:rPr>
              <a:t>image classification </a:t>
            </a:r>
            <a:r>
              <a:rPr lang="en-US" sz="3000">
                <a:latin typeface="Calibri"/>
                <a:ea typeface="Calibri"/>
                <a:cs typeface="Calibri"/>
                <a:sym typeface="Calibri"/>
              </a:rPr>
              <a:t>we start with a </a:t>
            </a:r>
            <a:r>
              <a:rPr lang="en-US" sz="3000" b="1">
                <a:latin typeface="Calibri"/>
                <a:ea typeface="Calibri"/>
                <a:cs typeface="Calibri"/>
                <a:sym typeface="Calibri"/>
              </a:rPr>
              <a:t>training set </a:t>
            </a:r>
            <a:r>
              <a:rPr lang="en-US" sz="3000">
                <a:latin typeface="Calibri"/>
                <a:ea typeface="Calibri"/>
                <a:cs typeface="Calibri"/>
                <a:sym typeface="Calibri"/>
              </a:rPr>
              <a:t>of images and labels, and must predict labels on the </a:t>
            </a:r>
            <a:r>
              <a:rPr lang="en-US" sz="3000" b="1">
                <a:latin typeface="Calibri"/>
                <a:ea typeface="Calibri"/>
                <a:cs typeface="Calibri"/>
                <a:sym typeface="Calibri"/>
              </a:rPr>
              <a:t>test set</a:t>
            </a:r>
            <a:endParaRPr sz="3000">
              <a:latin typeface="Calibri"/>
              <a:ea typeface="Calibri"/>
              <a:cs typeface="Calibri"/>
              <a:sym typeface="Calibri"/>
            </a:endParaRPr>
          </a:p>
          <a:p>
            <a:pPr marL="355600" marR="5080" lvl="0" indent="-343535" algn="l" rtl="0">
              <a:lnSpc>
                <a:spcPct val="100000"/>
              </a:lnSpc>
              <a:spcBef>
                <a:spcPts val="1895"/>
              </a:spcBef>
              <a:spcAft>
                <a:spcPts val="0"/>
              </a:spcAft>
              <a:buSzPts val="3000"/>
              <a:buFont typeface="Arial"/>
              <a:buChar char="•"/>
            </a:pPr>
            <a:r>
              <a:rPr lang="en-US" sz="3000">
                <a:latin typeface="Calibri"/>
                <a:ea typeface="Calibri"/>
                <a:cs typeface="Calibri"/>
                <a:sym typeface="Calibri"/>
              </a:rPr>
              <a:t>The </a:t>
            </a:r>
            <a:r>
              <a:rPr lang="en-US" sz="3000" b="1">
                <a:latin typeface="Calibri"/>
                <a:ea typeface="Calibri"/>
                <a:cs typeface="Calibri"/>
                <a:sym typeface="Calibri"/>
              </a:rPr>
              <a:t>K-Nearest Neighbors </a:t>
            </a:r>
            <a:r>
              <a:rPr lang="en-US" sz="3000">
                <a:latin typeface="Calibri"/>
                <a:ea typeface="Calibri"/>
                <a:cs typeface="Calibri"/>
                <a:sym typeface="Calibri"/>
              </a:rPr>
              <a:t>classifier predicts labels based on nearest training examples</a:t>
            </a:r>
            <a:endParaRPr sz="3000">
              <a:latin typeface="Calibri"/>
              <a:ea typeface="Calibri"/>
              <a:cs typeface="Calibri"/>
              <a:sym typeface="Calibri"/>
            </a:endParaRPr>
          </a:p>
          <a:p>
            <a:pPr marL="355600" lvl="0" indent="-342900" algn="l" rtl="0">
              <a:lnSpc>
                <a:spcPct val="100000"/>
              </a:lnSpc>
              <a:spcBef>
                <a:spcPts val="1885"/>
              </a:spcBef>
              <a:spcAft>
                <a:spcPts val="0"/>
              </a:spcAft>
              <a:buSzPts val="3000"/>
              <a:buFont typeface="Arial"/>
              <a:buChar char="•"/>
            </a:pPr>
            <a:r>
              <a:rPr lang="en-US" sz="3000">
                <a:latin typeface="Calibri"/>
                <a:ea typeface="Calibri"/>
                <a:cs typeface="Calibri"/>
                <a:sym typeface="Calibri"/>
              </a:rPr>
              <a:t>Distance metric and K are </a:t>
            </a:r>
            <a:r>
              <a:rPr lang="en-US" sz="3000" b="1">
                <a:latin typeface="Calibri"/>
                <a:ea typeface="Calibri"/>
                <a:cs typeface="Calibri"/>
                <a:sym typeface="Calibri"/>
              </a:rPr>
              <a:t>hyperparameters</a:t>
            </a:r>
            <a:endParaRPr sz="3000">
              <a:latin typeface="Calibri"/>
              <a:ea typeface="Calibri"/>
              <a:cs typeface="Calibri"/>
              <a:sym typeface="Calibri"/>
            </a:endParaRPr>
          </a:p>
          <a:p>
            <a:pPr marL="355600" marR="11430" lvl="0" indent="-343535" algn="l" rtl="0">
              <a:lnSpc>
                <a:spcPct val="100000"/>
              </a:lnSpc>
              <a:spcBef>
                <a:spcPts val="1885"/>
              </a:spcBef>
              <a:spcAft>
                <a:spcPts val="0"/>
              </a:spcAft>
              <a:buSzPts val="3000"/>
              <a:buFont typeface="Arial"/>
              <a:buChar char="•"/>
            </a:pPr>
            <a:r>
              <a:rPr lang="en-US" sz="3000">
                <a:latin typeface="Calibri"/>
                <a:ea typeface="Calibri"/>
                <a:cs typeface="Calibri"/>
                <a:sym typeface="Calibri"/>
              </a:rPr>
              <a:t>Choose hyperparameters using the </a:t>
            </a:r>
            <a:r>
              <a:rPr lang="en-US" sz="3000" b="1">
                <a:latin typeface="Calibri"/>
                <a:ea typeface="Calibri"/>
                <a:cs typeface="Calibri"/>
                <a:sym typeface="Calibri"/>
              </a:rPr>
              <a:t>validation set</a:t>
            </a:r>
            <a:r>
              <a:rPr lang="en-US" sz="3000">
                <a:latin typeface="Calibri"/>
                <a:ea typeface="Calibri"/>
                <a:cs typeface="Calibri"/>
                <a:sym typeface="Calibri"/>
              </a:rPr>
              <a:t>; only run on the test set once at the very end!</a:t>
            </a:r>
            <a:endParaRPr sz="3000">
              <a:latin typeface="Calibri"/>
              <a:ea typeface="Calibri"/>
              <a:cs typeface="Calibri"/>
              <a:sym typeface="Calibri"/>
            </a:endParaRPr>
          </a:p>
        </p:txBody>
      </p:sp>
      <p:sp>
        <p:nvSpPr>
          <p:cNvPr id="475" name="Google Shape;475;g3292fd40077_1_225"/>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479"/>
        <p:cNvGrpSpPr/>
        <p:nvPr/>
      </p:nvGrpSpPr>
      <p:grpSpPr>
        <a:xfrm>
          <a:off x="0" y="0"/>
          <a:ext cx="0" cy="0"/>
          <a:chOff x="0" y="0"/>
          <a:chExt cx="0" cy="0"/>
        </a:xfrm>
      </p:grpSpPr>
      <p:sp>
        <p:nvSpPr>
          <p:cNvPr id="480" name="Google Shape;480;g3292fd40077_1_230"/>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2501265" lvl="0" indent="0" algn="l" rtl="0">
              <a:lnSpc>
                <a:spcPct val="100000"/>
              </a:lnSpc>
              <a:spcBef>
                <a:spcPts val="0"/>
              </a:spcBef>
              <a:spcAft>
                <a:spcPts val="0"/>
              </a:spcAft>
              <a:buNone/>
            </a:pPr>
            <a:r>
              <a:rPr lang="en-US"/>
              <a:t>Linear classifiers</a:t>
            </a:r>
            <a:endParaRPr/>
          </a:p>
        </p:txBody>
      </p:sp>
      <p:pic>
        <p:nvPicPr>
          <p:cNvPr id="481" name="Google Shape;481;g3292fd40077_1_230"/>
          <p:cNvPicPr preferRelativeResize="0"/>
          <p:nvPr/>
        </p:nvPicPr>
        <p:blipFill rotWithShape="1">
          <a:blip r:embed="rId3">
            <a:alphaModFix/>
          </a:blip>
          <a:srcRect/>
          <a:stretch/>
        </p:blipFill>
        <p:spPr>
          <a:xfrm>
            <a:off x="260095" y="1691723"/>
            <a:ext cx="7028687" cy="4097912"/>
          </a:xfrm>
          <a:prstGeom prst="rect">
            <a:avLst/>
          </a:prstGeom>
          <a:noFill/>
          <a:ln>
            <a:noFill/>
          </a:ln>
        </p:spPr>
      </p:pic>
      <p:sp>
        <p:nvSpPr>
          <p:cNvPr id="482" name="Google Shape;482;g3292fd40077_1_230"/>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486"/>
        <p:cNvGrpSpPr/>
        <p:nvPr/>
      </p:nvGrpSpPr>
      <p:grpSpPr>
        <a:xfrm>
          <a:off x="0" y="0"/>
          <a:ext cx="0" cy="0"/>
          <a:chOff x="0" y="0"/>
          <a:chExt cx="0" cy="0"/>
        </a:xfrm>
      </p:grpSpPr>
      <p:sp>
        <p:nvSpPr>
          <p:cNvPr id="487" name="Google Shape;487;g3292fd40077_1_235"/>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2710815" lvl="0" indent="0" algn="l" rtl="0">
              <a:lnSpc>
                <a:spcPct val="100000"/>
              </a:lnSpc>
              <a:spcBef>
                <a:spcPts val="0"/>
              </a:spcBef>
              <a:spcAft>
                <a:spcPts val="0"/>
              </a:spcAft>
              <a:buNone/>
            </a:pPr>
            <a:r>
              <a:rPr lang="en-US"/>
              <a:t>Score function</a:t>
            </a:r>
            <a:endParaRPr/>
          </a:p>
        </p:txBody>
      </p:sp>
      <p:pic>
        <p:nvPicPr>
          <p:cNvPr id="488" name="Google Shape;488;g3292fd40077_1_235"/>
          <p:cNvPicPr preferRelativeResize="0"/>
          <p:nvPr/>
        </p:nvPicPr>
        <p:blipFill rotWithShape="1">
          <a:blip r:embed="rId3">
            <a:alphaModFix/>
          </a:blip>
          <a:srcRect/>
          <a:stretch/>
        </p:blipFill>
        <p:spPr>
          <a:xfrm>
            <a:off x="249580" y="2050014"/>
            <a:ext cx="8877261" cy="3485025"/>
          </a:xfrm>
          <a:prstGeom prst="rect">
            <a:avLst/>
          </a:prstGeom>
          <a:noFill/>
          <a:ln>
            <a:noFill/>
          </a:ln>
        </p:spPr>
      </p:pic>
      <p:sp>
        <p:nvSpPr>
          <p:cNvPr id="489" name="Google Shape;489;g3292fd40077_1_235"/>
          <p:cNvSpPr txBox="1"/>
          <p:nvPr/>
        </p:nvSpPr>
        <p:spPr>
          <a:xfrm>
            <a:off x="8845635" y="6500177"/>
            <a:ext cx="3208020" cy="32702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50">
                <a:latin typeface="Arial"/>
                <a:ea typeface="Arial"/>
                <a:cs typeface="Arial"/>
                <a:sym typeface="Arial"/>
              </a:rPr>
              <a:t>Slides from Andrej Karpathy and Fei-Fei Li</a:t>
            </a:r>
            <a:endParaRPr sz="950">
              <a:latin typeface="Arial"/>
              <a:ea typeface="Arial"/>
              <a:cs typeface="Arial"/>
              <a:sym typeface="Arial"/>
            </a:endParaRPr>
          </a:p>
          <a:p>
            <a:pPr marL="12700" lvl="0" indent="0" algn="l" rtl="0">
              <a:lnSpc>
                <a:spcPct val="100000"/>
              </a:lnSpc>
              <a:spcBef>
                <a:spcPts val="60"/>
              </a:spcBef>
              <a:spcAft>
                <a:spcPts val="0"/>
              </a:spcAft>
              <a:buNone/>
            </a:pPr>
            <a:r>
              <a:rPr lang="en-US" sz="950" u="sng">
                <a:solidFill>
                  <a:schemeClr val="hlink"/>
                </a:solidFill>
                <a:latin typeface="Arial"/>
                <a:ea typeface="Arial"/>
                <a:cs typeface="Arial"/>
                <a:sym typeface="Arial"/>
                <a:hlinkClick r:id="rId4"/>
              </a:rPr>
              <a:t>http://vision.stanford.edu/teaching/cs231n/</a:t>
            </a:r>
            <a:endParaRPr sz="950">
              <a:latin typeface="Arial"/>
              <a:ea typeface="Arial"/>
              <a:cs typeface="Arial"/>
              <a:sym typeface="Arial"/>
            </a:endParaRPr>
          </a:p>
        </p:txBody>
      </p:sp>
      <p:sp>
        <p:nvSpPr>
          <p:cNvPr id="490" name="Google Shape;490;g3292fd40077_1_235"/>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494"/>
        <p:cNvGrpSpPr/>
        <p:nvPr/>
      </p:nvGrpSpPr>
      <p:grpSpPr>
        <a:xfrm>
          <a:off x="0" y="0"/>
          <a:ext cx="0" cy="0"/>
          <a:chOff x="0" y="0"/>
          <a:chExt cx="0" cy="0"/>
        </a:xfrm>
      </p:grpSpPr>
      <p:sp>
        <p:nvSpPr>
          <p:cNvPr id="495" name="Google Shape;495;g3292fd40077_1_241"/>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2501265" lvl="0" indent="0" algn="l" rtl="0">
              <a:lnSpc>
                <a:spcPct val="100000"/>
              </a:lnSpc>
              <a:spcBef>
                <a:spcPts val="0"/>
              </a:spcBef>
              <a:spcAft>
                <a:spcPts val="0"/>
              </a:spcAft>
              <a:buNone/>
            </a:pPr>
            <a:r>
              <a:rPr lang="en-US"/>
              <a:t>Score function: f</a:t>
            </a:r>
            <a:endParaRPr/>
          </a:p>
        </p:txBody>
      </p:sp>
      <p:pic>
        <p:nvPicPr>
          <p:cNvPr id="496" name="Google Shape;496;g3292fd40077_1_241"/>
          <p:cNvPicPr preferRelativeResize="0"/>
          <p:nvPr/>
        </p:nvPicPr>
        <p:blipFill rotWithShape="1">
          <a:blip r:embed="rId3">
            <a:alphaModFix/>
          </a:blip>
          <a:srcRect/>
          <a:stretch/>
        </p:blipFill>
        <p:spPr>
          <a:xfrm>
            <a:off x="280651" y="1838139"/>
            <a:ext cx="8399948" cy="3880369"/>
          </a:xfrm>
          <a:prstGeom prst="rect">
            <a:avLst/>
          </a:prstGeom>
          <a:noFill/>
          <a:ln>
            <a:noFill/>
          </a:ln>
        </p:spPr>
      </p:pic>
      <p:sp>
        <p:nvSpPr>
          <p:cNvPr id="497" name="Google Shape;497;g3292fd40077_1_241"/>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501"/>
        <p:cNvGrpSpPr/>
        <p:nvPr/>
      </p:nvGrpSpPr>
      <p:grpSpPr>
        <a:xfrm>
          <a:off x="0" y="0"/>
          <a:ext cx="0" cy="0"/>
          <a:chOff x="0" y="0"/>
          <a:chExt cx="0" cy="0"/>
        </a:xfrm>
      </p:grpSpPr>
      <p:sp>
        <p:nvSpPr>
          <p:cNvPr id="502" name="Google Shape;502;g3292fd40077_1_246"/>
          <p:cNvSpPr txBox="1">
            <a:spLocks noGrp="1"/>
          </p:cNvSpPr>
          <p:nvPr>
            <p:ph type="title"/>
          </p:nvPr>
        </p:nvSpPr>
        <p:spPr>
          <a:xfrm>
            <a:off x="284056" y="166624"/>
            <a:ext cx="11525673" cy="1301876"/>
          </a:xfrm>
          <a:prstGeom prst="rect">
            <a:avLst/>
          </a:prstGeom>
          <a:noFill/>
          <a:ln>
            <a:noFill/>
          </a:ln>
        </p:spPr>
        <p:txBody>
          <a:bodyPr spcFirstLastPara="1" wrap="square" lIns="0" tIns="350325" rIns="0" bIns="0" anchor="t" anchorCtr="0">
            <a:spAutoFit/>
          </a:bodyPr>
          <a:lstStyle/>
          <a:p>
            <a:pPr marL="518159" lvl="0" indent="0" algn="l" rtl="0">
              <a:lnSpc>
                <a:spcPct val="100000"/>
              </a:lnSpc>
              <a:spcBef>
                <a:spcPts val="0"/>
              </a:spcBef>
              <a:spcAft>
                <a:spcPts val="0"/>
              </a:spcAft>
              <a:buNone/>
            </a:pPr>
            <a:r>
              <a:rPr lang="en-US" sz="3950"/>
              <a:t>Parametric approach: Linear classifier</a:t>
            </a:r>
            <a:endParaRPr sz="3950"/>
          </a:p>
        </p:txBody>
      </p:sp>
      <p:pic>
        <p:nvPicPr>
          <p:cNvPr id="503" name="Google Shape;503;g3292fd40077_1_246"/>
          <p:cNvPicPr preferRelativeResize="0"/>
          <p:nvPr/>
        </p:nvPicPr>
        <p:blipFill rotWithShape="1">
          <a:blip r:embed="rId3">
            <a:alphaModFix/>
          </a:blip>
          <a:srcRect/>
          <a:stretch/>
        </p:blipFill>
        <p:spPr>
          <a:xfrm>
            <a:off x="777517" y="2346457"/>
            <a:ext cx="8036527" cy="3248224"/>
          </a:xfrm>
          <a:prstGeom prst="rect">
            <a:avLst/>
          </a:prstGeom>
          <a:noFill/>
          <a:ln>
            <a:noFill/>
          </a:ln>
        </p:spPr>
      </p:pic>
      <p:sp>
        <p:nvSpPr>
          <p:cNvPr id="504" name="Google Shape;504;g3292fd40077_1_246"/>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508"/>
        <p:cNvGrpSpPr/>
        <p:nvPr/>
      </p:nvGrpSpPr>
      <p:grpSpPr>
        <a:xfrm>
          <a:off x="0" y="0"/>
          <a:ext cx="0" cy="0"/>
          <a:chOff x="0" y="0"/>
          <a:chExt cx="0" cy="0"/>
        </a:xfrm>
      </p:grpSpPr>
      <p:sp>
        <p:nvSpPr>
          <p:cNvPr id="509" name="Google Shape;509;g3292fd40077_1_251"/>
          <p:cNvSpPr txBox="1">
            <a:spLocks noGrp="1"/>
          </p:cNvSpPr>
          <p:nvPr>
            <p:ph type="title"/>
          </p:nvPr>
        </p:nvSpPr>
        <p:spPr>
          <a:xfrm>
            <a:off x="284056" y="166624"/>
            <a:ext cx="11525673" cy="1301876"/>
          </a:xfrm>
          <a:prstGeom prst="rect">
            <a:avLst/>
          </a:prstGeom>
          <a:noFill/>
          <a:ln>
            <a:noFill/>
          </a:ln>
        </p:spPr>
        <p:txBody>
          <a:bodyPr spcFirstLastPara="1" wrap="square" lIns="0" tIns="350325" rIns="0" bIns="0" anchor="t" anchorCtr="0">
            <a:spAutoFit/>
          </a:bodyPr>
          <a:lstStyle/>
          <a:p>
            <a:pPr marL="518159" lvl="0" indent="0" algn="l" rtl="0">
              <a:lnSpc>
                <a:spcPct val="100000"/>
              </a:lnSpc>
              <a:spcBef>
                <a:spcPts val="0"/>
              </a:spcBef>
              <a:spcAft>
                <a:spcPts val="0"/>
              </a:spcAft>
              <a:buNone/>
            </a:pPr>
            <a:r>
              <a:rPr lang="en-US" sz="3950"/>
              <a:t>Parametric approach: Linear classifier</a:t>
            </a:r>
            <a:endParaRPr sz="3950"/>
          </a:p>
        </p:txBody>
      </p:sp>
      <p:pic>
        <p:nvPicPr>
          <p:cNvPr id="510" name="Google Shape;510;g3292fd40077_1_251"/>
          <p:cNvPicPr preferRelativeResize="0"/>
          <p:nvPr/>
        </p:nvPicPr>
        <p:blipFill rotWithShape="1">
          <a:blip r:embed="rId3">
            <a:alphaModFix/>
          </a:blip>
          <a:srcRect/>
          <a:stretch/>
        </p:blipFill>
        <p:spPr>
          <a:xfrm>
            <a:off x="760028" y="2338939"/>
            <a:ext cx="8186683" cy="3286726"/>
          </a:xfrm>
          <a:prstGeom prst="rect">
            <a:avLst/>
          </a:prstGeom>
          <a:noFill/>
          <a:ln>
            <a:noFill/>
          </a:ln>
        </p:spPr>
      </p:pic>
      <p:sp>
        <p:nvSpPr>
          <p:cNvPr id="511" name="Google Shape;511;g3292fd40077_1_251"/>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515"/>
        <p:cNvGrpSpPr/>
        <p:nvPr/>
      </p:nvGrpSpPr>
      <p:grpSpPr>
        <a:xfrm>
          <a:off x="0" y="0"/>
          <a:ext cx="0" cy="0"/>
          <a:chOff x="0" y="0"/>
          <a:chExt cx="0" cy="0"/>
        </a:xfrm>
      </p:grpSpPr>
      <p:sp>
        <p:nvSpPr>
          <p:cNvPr id="516" name="Google Shape;516;g3292fd40077_1_256"/>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2577465" lvl="0" indent="0" algn="l" rtl="0">
              <a:lnSpc>
                <a:spcPct val="100000"/>
              </a:lnSpc>
              <a:spcBef>
                <a:spcPts val="0"/>
              </a:spcBef>
              <a:spcAft>
                <a:spcPts val="0"/>
              </a:spcAft>
              <a:buNone/>
            </a:pPr>
            <a:r>
              <a:rPr lang="en-US"/>
              <a:t>Linear Classifier</a:t>
            </a:r>
            <a:endParaRPr/>
          </a:p>
        </p:txBody>
      </p:sp>
      <p:pic>
        <p:nvPicPr>
          <p:cNvPr id="517" name="Google Shape;517;g3292fd40077_1_256"/>
          <p:cNvPicPr preferRelativeResize="0"/>
          <p:nvPr/>
        </p:nvPicPr>
        <p:blipFill rotWithShape="1">
          <a:blip r:embed="rId3">
            <a:alphaModFix/>
          </a:blip>
          <a:srcRect/>
          <a:stretch/>
        </p:blipFill>
        <p:spPr>
          <a:xfrm>
            <a:off x="183856" y="1919908"/>
            <a:ext cx="8691540" cy="3670970"/>
          </a:xfrm>
          <a:prstGeom prst="rect">
            <a:avLst/>
          </a:prstGeom>
          <a:noFill/>
          <a:ln>
            <a:noFill/>
          </a:ln>
        </p:spPr>
      </p:pic>
      <p:sp>
        <p:nvSpPr>
          <p:cNvPr id="518" name="Google Shape;518;g3292fd40077_1_256"/>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522"/>
        <p:cNvGrpSpPr/>
        <p:nvPr/>
      </p:nvGrpSpPr>
      <p:grpSpPr>
        <a:xfrm>
          <a:off x="0" y="0"/>
          <a:ext cx="0" cy="0"/>
          <a:chOff x="0" y="0"/>
          <a:chExt cx="0" cy="0"/>
        </a:xfrm>
      </p:grpSpPr>
      <p:pic>
        <p:nvPicPr>
          <p:cNvPr id="523" name="Google Shape;523;g3292fd40077_1_261"/>
          <p:cNvPicPr preferRelativeResize="0"/>
          <p:nvPr/>
        </p:nvPicPr>
        <p:blipFill rotWithShape="1">
          <a:blip r:embed="rId3">
            <a:alphaModFix/>
          </a:blip>
          <a:srcRect/>
          <a:stretch/>
        </p:blipFill>
        <p:spPr>
          <a:xfrm>
            <a:off x="103103" y="1587048"/>
            <a:ext cx="9008676" cy="4185100"/>
          </a:xfrm>
          <a:prstGeom prst="rect">
            <a:avLst/>
          </a:prstGeom>
          <a:noFill/>
          <a:ln>
            <a:noFill/>
          </a:ln>
        </p:spPr>
      </p:pic>
      <p:sp>
        <p:nvSpPr>
          <p:cNvPr id="524" name="Google Shape;524;g3292fd40077_1_261"/>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528"/>
        <p:cNvGrpSpPr/>
        <p:nvPr/>
      </p:nvGrpSpPr>
      <p:grpSpPr>
        <a:xfrm>
          <a:off x="0" y="0"/>
          <a:ext cx="0" cy="0"/>
          <a:chOff x="0" y="0"/>
          <a:chExt cx="0" cy="0"/>
        </a:xfrm>
      </p:grpSpPr>
      <p:sp>
        <p:nvSpPr>
          <p:cNvPr id="529" name="Google Shape;529;g3292fd40077_1_265"/>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460375" lvl="0" indent="0" algn="l" rtl="0">
              <a:lnSpc>
                <a:spcPct val="100000"/>
              </a:lnSpc>
              <a:spcBef>
                <a:spcPts val="0"/>
              </a:spcBef>
              <a:spcAft>
                <a:spcPts val="0"/>
              </a:spcAft>
              <a:buNone/>
            </a:pPr>
            <a:r>
              <a:rPr lang="en-US"/>
              <a:t>Interpretation: Template matching</a:t>
            </a:r>
            <a:endParaRPr/>
          </a:p>
        </p:txBody>
      </p:sp>
      <p:pic>
        <p:nvPicPr>
          <p:cNvPr id="530" name="Google Shape;530;g3292fd40077_1_265"/>
          <p:cNvPicPr preferRelativeResize="0"/>
          <p:nvPr/>
        </p:nvPicPr>
        <p:blipFill rotWithShape="1">
          <a:blip r:embed="rId3">
            <a:alphaModFix/>
          </a:blip>
          <a:srcRect/>
          <a:stretch/>
        </p:blipFill>
        <p:spPr>
          <a:xfrm>
            <a:off x="0" y="2933700"/>
            <a:ext cx="9144000" cy="971550"/>
          </a:xfrm>
          <a:prstGeom prst="rect">
            <a:avLst/>
          </a:prstGeom>
          <a:noFill/>
          <a:ln>
            <a:noFill/>
          </a:ln>
        </p:spPr>
      </p:pic>
      <p:pic>
        <p:nvPicPr>
          <p:cNvPr id="531" name="Google Shape;531;g3292fd40077_1_265"/>
          <p:cNvPicPr preferRelativeResize="0"/>
          <p:nvPr/>
        </p:nvPicPr>
        <p:blipFill rotWithShape="1">
          <a:blip r:embed="rId4">
            <a:alphaModFix/>
          </a:blip>
          <a:srcRect/>
          <a:stretch/>
        </p:blipFill>
        <p:spPr>
          <a:xfrm>
            <a:off x="5384800" y="5029200"/>
            <a:ext cx="4962525" cy="851243"/>
          </a:xfrm>
          <a:prstGeom prst="rect">
            <a:avLst/>
          </a:prstGeom>
          <a:noFill/>
          <a:ln>
            <a:noFill/>
          </a:ln>
        </p:spPr>
      </p:pic>
      <p:sp>
        <p:nvSpPr>
          <p:cNvPr id="532" name="Google Shape;532;g3292fd40077_1_265"/>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536"/>
        <p:cNvGrpSpPr/>
        <p:nvPr/>
      </p:nvGrpSpPr>
      <p:grpSpPr>
        <a:xfrm>
          <a:off x="0" y="0"/>
          <a:ext cx="0" cy="0"/>
          <a:chOff x="0" y="0"/>
          <a:chExt cx="0" cy="0"/>
        </a:xfrm>
      </p:grpSpPr>
      <p:sp>
        <p:nvSpPr>
          <p:cNvPr id="537" name="Google Shape;537;g3292fd40077_1_271"/>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1499870" lvl="0" indent="0" algn="l" rtl="0">
              <a:lnSpc>
                <a:spcPct val="100000"/>
              </a:lnSpc>
              <a:spcBef>
                <a:spcPts val="0"/>
              </a:spcBef>
              <a:spcAft>
                <a:spcPts val="0"/>
              </a:spcAft>
              <a:buNone/>
            </a:pPr>
            <a:r>
              <a:rPr lang="en-US"/>
              <a:t>Geometric Interpretation</a:t>
            </a:r>
            <a:endParaRPr/>
          </a:p>
        </p:txBody>
      </p:sp>
      <p:grpSp>
        <p:nvGrpSpPr>
          <p:cNvPr id="538" name="Google Shape;538;g3292fd40077_1_271"/>
          <p:cNvGrpSpPr/>
          <p:nvPr/>
        </p:nvGrpSpPr>
        <p:grpSpPr>
          <a:xfrm>
            <a:off x="319823" y="1552533"/>
            <a:ext cx="8904133" cy="5305467"/>
            <a:chOff x="239867" y="1552533"/>
            <a:chExt cx="8904133" cy="5305467"/>
          </a:xfrm>
        </p:grpSpPr>
        <p:pic>
          <p:nvPicPr>
            <p:cNvPr id="539" name="Google Shape;539;g3292fd40077_1_271"/>
            <p:cNvPicPr preferRelativeResize="0"/>
            <p:nvPr/>
          </p:nvPicPr>
          <p:blipFill rotWithShape="1">
            <a:blip r:embed="rId3">
              <a:alphaModFix/>
            </a:blip>
            <a:srcRect/>
            <a:stretch/>
          </p:blipFill>
          <p:spPr>
            <a:xfrm>
              <a:off x="239867" y="1552533"/>
              <a:ext cx="7370607" cy="5235426"/>
            </a:xfrm>
            <a:prstGeom prst="rect">
              <a:avLst/>
            </a:prstGeom>
            <a:noFill/>
            <a:ln>
              <a:noFill/>
            </a:ln>
          </p:spPr>
        </p:pic>
        <p:pic>
          <p:nvPicPr>
            <p:cNvPr id="540" name="Google Shape;540;g3292fd40077_1_271"/>
            <p:cNvPicPr preferRelativeResize="0"/>
            <p:nvPr/>
          </p:nvPicPr>
          <p:blipFill rotWithShape="1">
            <a:blip r:embed="rId4">
              <a:alphaModFix/>
            </a:blip>
            <a:srcRect/>
            <a:stretch/>
          </p:blipFill>
          <p:spPr>
            <a:xfrm>
              <a:off x="4181475" y="6057900"/>
              <a:ext cx="4962525" cy="800100"/>
            </a:xfrm>
            <a:prstGeom prst="rect">
              <a:avLst/>
            </a:prstGeom>
            <a:noFill/>
            <a:ln>
              <a:noFill/>
            </a:ln>
          </p:spPr>
        </p:pic>
      </p:grpSp>
      <p:sp>
        <p:nvSpPr>
          <p:cNvPr id="541" name="Google Shape;541;g3292fd40077_1_271"/>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545"/>
        <p:cNvGrpSpPr/>
        <p:nvPr/>
      </p:nvGrpSpPr>
      <p:grpSpPr>
        <a:xfrm>
          <a:off x="0" y="0"/>
          <a:ext cx="0" cy="0"/>
          <a:chOff x="0" y="0"/>
          <a:chExt cx="0" cy="0"/>
        </a:xfrm>
      </p:grpSpPr>
      <p:sp>
        <p:nvSpPr>
          <p:cNvPr id="546" name="Google Shape;546;g3292fd40077_1_278"/>
          <p:cNvSpPr txBox="1">
            <a:spLocks noGrp="1"/>
          </p:cNvSpPr>
          <p:nvPr>
            <p:ph type="title"/>
          </p:nvPr>
        </p:nvSpPr>
        <p:spPr>
          <a:xfrm>
            <a:off x="3602227" y="166624"/>
            <a:ext cx="5004647" cy="70104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a:t>Linear classifiers</a:t>
            </a:r>
            <a:endParaRPr/>
          </a:p>
        </p:txBody>
      </p:sp>
      <p:sp>
        <p:nvSpPr>
          <p:cNvPr id="547" name="Google Shape;547;g3292fd40077_1_278"/>
          <p:cNvSpPr txBox="1"/>
          <p:nvPr/>
        </p:nvSpPr>
        <p:spPr>
          <a:xfrm>
            <a:off x="1020656" y="920114"/>
            <a:ext cx="10346267" cy="1004569"/>
          </a:xfrm>
          <a:prstGeom prst="rect">
            <a:avLst/>
          </a:prstGeom>
          <a:noFill/>
          <a:ln>
            <a:noFill/>
          </a:ln>
        </p:spPr>
        <p:txBody>
          <a:bodyPr spcFirstLastPara="1" wrap="square" lIns="0" tIns="31100" rIns="0" bIns="0" anchor="t" anchorCtr="0">
            <a:spAutoFit/>
          </a:bodyPr>
          <a:lstStyle/>
          <a:p>
            <a:pPr marL="355600" marR="5080" lvl="0" indent="-343535" algn="l" rtl="0">
              <a:lnSpc>
                <a:spcPct val="119656"/>
              </a:lnSpc>
              <a:spcBef>
                <a:spcPts val="0"/>
              </a:spcBef>
              <a:spcAft>
                <a:spcPts val="0"/>
              </a:spcAft>
              <a:buSzPts val="3200"/>
              <a:buFont typeface="Calibri"/>
              <a:buChar char="•"/>
            </a:pPr>
            <a:r>
              <a:rPr lang="en-US" sz="3200">
                <a:latin typeface="Calibri"/>
                <a:ea typeface="Calibri"/>
                <a:cs typeface="Calibri"/>
                <a:sym typeface="Calibri"/>
              </a:rPr>
              <a:t>Find linear function (</a:t>
            </a:r>
            <a:r>
              <a:rPr lang="en-US" sz="3200" i="1">
                <a:latin typeface="Calibri"/>
                <a:ea typeface="Calibri"/>
                <a:cs typeface="Calibri"/>
                <a:sym typeface="Calibri"/>
              </a:rPr>
              <a:t>hyperplane</a:t>
            </a:r>
            <a:r>
              <a:rPr lang="en-US" sz="3200">
                <a:latin typeface="Calibri"/>
                <a:ea typeface="Calibri"/>
                <a:cs typeface="Calibri"/>
                <a:sym typeface="Calibri"/>
              </a:rPr>
              <a:t>) to separate positive and negative examples</a:t>
            </a:r>
            <a:endParaRPr sz="3200">
              <a:latin typeface="Calibri"/>
              <a:ea typeface="Calibri"/>
              <a:cs typeface="Calibri"/>
              <a:sym typeface="Calibri"/>
            </a:endParaRPr>
          </a:p>
        </p:txBody>
      </p:sp>
      <p:sp>
        <p:nvSpPr>
          <p:cNvPr id="548" name="Google Shape;548;g3292fd40077_1_278"/>
          <p:cNvSpPr txBox="1"/>
          <p:nvPr/>
        </p:nvSpPr>
        <p:spPr>
          <a:xfrm>
            <a:off x="9273789" y="2173118"/>
            <a:ext cx="2084493" cy="951865"/>
          </a:xfrm>
          <a:prstGeom prst="rect">
            <a:avLst/>
          </a:prstGeom>
          <a:noFill/>
          <a:ln>
            <a:noFill/>
          </a:ln>
        </p:spPr>
        <p:txBody>
          <a:bodyPr spcFirstLastPara="1" wrap="square" lIns="0" tIns="109850" rIns="0" bIns="0" anchor="t" anchorCtr="0">
            <a:spAutoFit/>
          </a:bodyPr>
          <a:lstStyle/>
          <a:p>
            <a:pPr marL="38100" lvl="0" indent="0" algn="l" rtl="0">
              <a:lnSpc>
                <a:spcPct val="100000"/>
              </a:lnSpc>
              <a:spcBef>
                <a:spcPts val="0"/>
              </a:spcBef>
              <a:spcAft>
                <a:spcPts val="0"/>
              </a:spcAft>
              <a:buNone/>
            </a:pPr>
            <a:r>
              <a:rPr lang="en-US" sz="2400" b="1">
                <a:latin typeface="Times New Roman"/>
                <a:ea typeface="Times New Roman"/>
                <a:cs typeface="Times New Roman"/>
                <a:sym typeface="Times New Roman"/>
              </a:rPr>
              <a:t>x</a:t>
            </a:r>
            <a:r>
              <a:rPr lang="en-US" sz="2100" i="1" baseline="-25000">
                <a:latin typeface="Times New Roman"/>
                <a:ea typeface="Times New Roman"/>
                <a:cs typeface="Times New Roman"/>
                <a:sym typeface="Times New Roman"/>
              </a:rPr>
              <a:t>i </a:t>
            </a:r>
            <a:r>
              <a:rPr lang="en-US" sz="2400">
                <a:latin typeface="Noto Sans Symbols"/>
                <a:ea typeface="Noto Sans Symbols"/>
                <a:cs typeface="Noto Sans Symbols"/>
                <a:sym typeface="Noto Sans Symbols"/>
              </a:rPr>
              <a:t>⋅</a:t>
            </a:r>
            <a:r>
              <a:rPr lang="en-US" sz="2400">
                <a:latin typeface="Times New Roman"/>
                <a:ea typeface="Times New Roman"/>
                <a:cs typeface="Times New Roman"/>
                <a:sym typeface="Times New Roman"/>
              </a:rPr>
              <a:t> </a:t>
            </a:r>
            <a:r>
              <a:rPr lang="en-US" sz="2400" b="1">
                <a:latin typeface="Times New Roman"/>
                <a:ea typeface="Times New Roman"/>
                <a:cs typeface="Times New Roman"/>
                <a:sym typeface="Times New Roman"/>
              </a:rPr>
              <a:t>w </a:t>
            </a:r>
            <a:r>
              <a:rPr lang="en-US" sz="2400">
                <a:latin typeface="Noto Sans Symbols"/>
                <a:ea typeface="Noto Sans Symbols"/>
                <a:cs typeface="Noto Sans Symbols"/>
                <a:sym typeface="Noto Sans Symbols"/>
              </a:rPr>
              <a:t>+</a:t>
            </a:r>
            <a:r>
              <a:rPr lang="en-US" sz="2400">
                <a:latin typeface="Times New Roman"/>
                <a:ea typeface="Times New Roman"/>
                <a:cs typeface="Times New Roman"/>
                <a:sym typeface="Times New Roman"/>
              </a:rPr>
              <a:t> </a:t>
            </a:r>
            <a:r>
              <a:rPr lang="en-US" sz="2400" i="1">
                <a:latin typeface="Times New Roman"/>
                <a:ea typeface="Times New Roman"/>
                <a:cs typeface="Times New Roman"/>
                <a:sym typeface="Times New Roman"/>
              </a:rPr>
              <a:t>b </a:t>
            </a:r>
            <a:r>
              <a:rPr lang="en-US" sz="2400">
                <a:latin typeface="Noto Sans Symbols"/>
                <a:ea typeface="Noto Sans Symbols"/>
                <a:cs typeface="Noto Sans Symbols"/>
                <a:sym typeface="Noto Sans Symbols"/>
              </a:rPr>
              <a:t>≥</a:t>
            </a:r>
            <a:r>
              <a:rPr lang="en-US" sz="2400">
                <a:latin typeface="Times New Roman"/>
                <a:ea typeface="Times New Roman"/>
                <a:cs typeface="Times New Roman"/>
                <a:sym typeface="Times New Roman"/>
              </a:rPr>
              <a:t> 0</a:t>
            </a:r>
            <a:endParaRPr sz="2400">
              <a:latin typeface="Times New Roman"/>
              <a:ea typeface="Times New Roman"/>
              <a:cs typeface="Times New Roman"/>
              <a:sym typeface="Times New Roman"/>
            </a:endParaRPr>
          </a:p>
          <a:p>
            <a:pPr marL="41910" lvl="0" indent="0" algn="l" rtl="0">
              <a:lnSpc>
                <a:spcPct val="100000"/>
              </a:lnSpc>
              <a:spcBef>
                <a:spcPts val="770"/>
              </a:spcBef>
              <a:spcAft>
                <a:spcPts val="0"/>
              </a:spcAft>
              <a:buNone/>
            </a:pPr>
            <a:r>
              <a:rPr lang="en-US" sz="2400" b="1">
                <a:latin typeface="Times New Roman"/>
                <a:ea typeface="Times New Roman"/>
                <a:cs typeface="Times New Roman"/>
                <a:sym typeface="Times New Roman"/>
              </a:rPr>
              <a:t>x</a:t>
            </a:r>
            <a:r>
              <a:rPr lang="en-US" sz="2100" i="1" baseline="-25000">
                <a:latin typeface="Times New Roman"/>
                <a:ea typeface="Times New Roman"/>
                <a:cs typeface="Times New Roman"/>
                <a:sym typeface="Times New Roman"/>
              </a:rPr>
              <a:t>i </a:t>
            </a:r>
            <a:r>
              <a:rPr lang="en-US" sz="2400">
                <a:latin typeface="Noto Sans Symbols"/>
                <a:ea typeface="Noto Sans Symbols"/>
                <a:cs typeface="Noto Sans Symbols"/>
                <a:sym typeface="Noto Sans Symbols"/>
              </a:rPr>
              <a:t>⋅</a:t>
            </a:r>
            <a:r>
              <a:rPr lang="en-US" sz="2400">
                <a:latin typeface="Times New Roman"/>
                <a:ea typeface="Times New Roman"/>
                <a:cs typeface="Times New Roman"/>
                <a:sym typeface="Times New Roman"/>
              </a:rPr>
              <a:t> </a:t>
            </a:r>
            <a:r>
              <a:rPr lang="en-US" sz="2400" b="1">
                <a:latin typeface="Times New Roman"/>
                <a:ea typeface="Times New Roman"/>
                <a:cs typeface="Times New Roman"/>
                <a:sym typeface="Times New Roman"/>
              </a:rPr>
              <a:t>w </a:t>
            </a:r>
            <a:r>
              <a:rPr lang="en-US" sz="2400">
                <a:latin typeface="Noto Sans Symbols"/>
                <a:ea typeface="Noto Sans Symbols"/>
                <a:cs typeface="Noto Sans Symbols"/>
                <a:sym typeface="Noto Sans Symbols"/>
              </a:rPr>
              <a:t>+</a:t>
            </a:r>
            <a:r>
              <a:rPr lang="en-US" sz="2400">
                <a:latin typeface="Times New Roman"/>
                <a:ea typeface="Times New Roman"/>
                <a:cs typeface="Times New Roman"/>
                <a:sym typeface="Times New Roman"/>
              </a:rPr>
              <a:t> </a:t>
            </a:r>
            <a:r>
              <a:rPr lang="en-US" sz="2400" i="1">
                <a:latin typeface="Times New Roman"/>
                <a:ea typeface="Times New Roman"/>
                <a:cs typeface="Times New Roman"/>
                <a:sym typeface="Times New Roman"/>
              </a:rPr>
              <a:t>b </a:t>
            </a:r>
            <a:r>
              <a:rPr lang="en-US" sz="2400">
                <a:latin typeface="Noto Sans Symbols"/>
                <a:ea typeface="Noto Sans Symbols"/>
                <a:cs typeface="Noto Sans Symbols"/>
                <a:sym typeface="Noto Sans Symbols"/>
              </a:rPr>
              <a:t>&lt;</a:t>
            </a:r>
            <a:r>
              <a:rPr lang="en-US" sz="2400">
                <a:latin typeface="Times New Roman"/>
                <a:ea typeface="Times New Roman"/>
                <a:cs typeface="Times New Roman"/>
                <a:sym typeface="Times New Roman"/>
              </a:rPr>
              <a:t> 0</a:t>
            </a:r>
            <a:endParaRPr sz="2400">
              <a:latin typeface="Times New Roman"/>
              <a:ea typeface="Times New Roman"/>
              <a:cs typeface="Times New Roman"/>
              <a:sym typeface="Times New Roman"/>
            </a:endParaRPr>
          </a:p>
        </p:txBody>
      </p:sp>
      <p:sp>
        <p:nvSpPr>
          <p:cNvPr id="549" name="Google Shape;549;g3292fd40077_1_278"/>
          <p:cNvSpPr txBox="1"/>
          <p:nvPr/>
        </p:nvSpPr>
        <p:spPr>
          <a:xfrm>
            <a:off x="6918456" y="2173118"/>
            <a:ext cx="2004060" cy="951865"/>
          </a:xfrm>
          <a:prstGeom prst="rect">
            <a:avLst/>
          </a:prstGeom>
          <a:noFill/>
          <a:ln>
            <a:noFill/>
          </a:ln>
        </p:spPr>
        <p:txBody>
          <a:bodyPr spcFirstLastPara="1" wrap="square" lIns="0" tIns="109850" rIns="0" bIns="0" anchor="t" anchorCtr="0">
            <a:spAutoFit/>
          </a:bodyPr>
          <a:lstStyle/>
          <a:p>
            <a:pPr marL="38100" lvl="0" indent="0" algn="l" rtl="0">
              <a:lnSpc>
                <a:spcPct val="100000"/>
              </a:lnSpc>
              <a:spcBef>
                <a:spcPts val="0"/>
              </a:spcBef>
              <a:spcAft>
                <a:spcPts val="0"/>
              </a:spcAft>
              <a:buNone/>
            </a:pPr>
            <a:r>
              <a:rPr lang="en-US" sz="2400" b="1">
                <a:latin typeface="Times New Roman"/>
                <a:ea typeface="Times New Roman"/>
                <a:cs typeface="Times New Roman"/>
                <a:sym typeface="Times New Roman"/>
              </a:rPr>
              <a:t>x</a:t>
            </a:r>
            <a:r>
              <a:rPr lang="en-US" sz="2100" i="1" baseline="-25000">
                <a:latin typeface="Times New Roman"/>
                <a:ea typeface="Times New Roman"/>
                <a:cs typeface="Times New Roman"/>
                <a:sym typeface="Times New Roman"/>
              </a:rPr>
              <a:t>i </a:t>
            </a:r>
            <a:r>
              <a:rPr lang="en-US" sz="2400">
                <a:latin typeface="Times New Roman"/>
                <a:ea typeface="Times New Roman"/>
                <a:cs typeface="Times New Roman"/>
                <a:sym typeface="Times New Roman"/>
              </a:rPr>
              <a:t>positive :</a:t>
            </a:r>
            <a:endParaRPr sz="2400">
              <a:latin typeface="Times New Roman"/>
              <a:ea typeface="Times New Roman"/>
              <a:cs typeface="Times New Roman"/>
              <a:sym typeface="Times New Roman"/>
            </a:endParaRPr>
          </a:p>
          <a:p>
            <a:pPr marL="38100" lvl="0" indent="0" algn="l" rtl="0">
              <a:lnSpc>
                <a:spcPct val="100000"/>
              </a:lnSpc>
              <a:spcBef>
                <a:spcPts val="770"/>
              </a:spcBef>
              <a:spcAft>
                <a:spcPts val="0"/>
              </a:spcAft>
              <a:buNone/>
            </a:pPr>
            <a:r>
              <a:rPr lang="en-US" sz="2400" b="1">
                <a:latin typeface="Times New Roman"/>
                <a:ea typeface="Times New Roman"/>
                <a:cs typeface="Times New Roman"/>
                <a:sym typeface="Times New Roman"/>
              </a:rPr>
              <a:t>x</a:t>
            </a:r>
            <a:r>
              <a:rPr lang="en-US" sz="2100" i="1" baseline="-25000">
                <a:latin typeface="Times New Roman"/>
                <a:ea typeface="Times New Roman"/>
                <a:cs typeface="Times New Roman"/>
                <a:sym typeface="Times New Roman"/>
              </a:rPr>
              <a:t>i </a:t>
            </a:r>
            <a:r>
              <a:rPr lang="en-US" sz="2400">
                <a:latin typeface="Times New Roman"/>
                <a:ea typeface="Times New Roman"/>
                <a:cs typeface="Times New Roman"/>
                <a:sym typeface="Times New Roman"/>
              </a:rPr>
              <a:t>negative :</a:t>
            </a:r>
            <a:endParaRPr sz="2400">
              <a:latin typeface="Times New Roman"/>
              <a:ea typeface="Times New Roman"/>
              <a:cs typeface="Times New Roman"/>
              <a:sym typeface="Times New Roman"/>
            </a:endParaRPr>
          </a:p>
        </p:txBody>
      </p:sp>
      <p:pic>
        <p:nvPicPr>
          <p:cNvPr id="550" name="Google Shape;550;g3292fd40077_1_278"/>
          <p:cNvPicPr preferRelativeResize="0"/>
          <p:nvPr/>
        </p:nvPicPr>
        <p:blipFill rotWithShape="1">
          <a:blip r:embed="rId3">
            <a:alphaModFix/>
          </a:blip>
          <a:srcRect/>
          <a:stretch/>
        </p:blipFill>
        <p:spPr>
          <a:xfrm>
            <a:off x="1117593" y="3962458"/>
            <a:ext cx="161934" cy="161934"/>
          </a:xfrm>
          <a:prstGeom prst="rect">
            <a:avLst/>
          </a:prstGeom>
          <a:noFill/>
          <a:ln>
            <a:noFill/>
          </a:ln>
        </p:spPr>
      </p:pic>
      <p:grpSp>
        <p:nvGrpSpPr>
          <p:cNvPr id="551" name="Google Shape;551;g3292fd40077_1_278"/>
          <p:cNvGrpSpPr/>
          <p:nvPr/>
        </p:nvGrpSpPr>
        <p:grpSpPr>
          <a:xfrm>
            <a:off x="1422400" y="1981200"/>
            <a:ext cx="6007189" cy="4648200"/>
            <a:chOff x="1066800" y="1981200"/>
            <a:chExt cx="4505392" cy="4648200"/>
          </a:xfrm>
        </p:grpSpPr>
        <p:pic>
          <p:nvPicPr>
            <p:cNvPr id="552" name="Google Shape;552;g3292fd40077_1_278"/>
            <p:cNvPicPr preferRelativeResize="0"/>
            <p:nvPr/>
          </p:nvPicPr>
          <p:blipFill rotWithShape="1">
            <a:blip r:embed="rId4">
              <a:alphaModFix/>
            </a:blip>
            <a:srcRect/>
            <a:stretch/>
          </p:blipFill>
          <p:spPr>
            <a:xfrm>
              <a:off x="1524058" y="4038658"/>
              <a:ext cx="161934" cy="161934"/>
            </a:xfrm>
            <a:prstGeom prst="rect">
              <a:avLst/>
            </a:prstGeom>
            <a:noFill/>
            <a:ln>
              <a:noFill/>
            </a:ln>
          </p:spPr>
        </p:pic>
        <p:pic>
          <p:nvPicPr>
            <p:cNvPr id="553" name="Google Shape;553;g3292fd40077_1_278"/>
            <p:cNvPicPr preferRelativeResize="0"/>
            <p:nvPr/>
          </p:nvPicPr>
          <p:blipFill rotWithShape="1">
            <a:blip r:embed="rId4">
              <a:alphaModFix/>
            </a:blip>
            <a:srcRect/>
            <a:stretch/>
          </p:blipFill>
          <p:spPr>
            <a:xfrm>
              <a:off x="1524058" y="4724458"/>
              <a:ext cx="161934" cy="161934"/>
            </a:xfrm>
            <a:prstGeom prst="rect">
              <a:avLst/>
            </a:prstGeom>
            <a:noFill/>
            <a:ln>
              <a:noFill/>
            </a:ln>
          </p:spPr>
        </p:pic>
        <p:pic>
          <p:nvPicPr>
            <p:cNvPr id="554" name="Google Shape;554;g3292fd40077_1_278"/>
            <p:cNvPicPr preferRelativeResize="0"/>
            <p:nvPr/>
          </p:nvPicPr>
          <p:blipFill rotWithShape="1">
            <a:blip r:embed="rId4">
              <a:alphaModFix/>
            </a:blip>
            <a:srcRect/>
            <a:stretch/>
          </p:blipFill>
          <p:spPr>
            <a:xfrm>
              <a:off x="2286058" y="4114858"/>
              <a:ext cx="161934" cy="161934"/>
            </a:xfrm>
            <a:prstGeom prst="rect">
              <a:avLst/>
            </a:prstGeom>
            <a:noFill/>
            <a:ln>
              <a:noFill/>
            </a:ln>
          </p:spPr>
        </p:pic>
        <p:pic>
          <p:nvPicPr>
            <p:cNvPr id="555" name="Google Shape;555;g3292fd40077_1_278"/>
            <p:cNvPicPr preferRelativeResize="0"/>
            <p:nvPr/>
          </p:nvPicPr>
          <p:blipFill rotWithShape="1">
            <a:blip r:embed="rId4">
              <a:alphaModFix/>
            </a:blip>
            <a:srcRect/>
            <a:stretch/>
          </p:blipFill>
          <p:spPr>
            <a:xfrm>
              <a:off x="2895658" y="4953058"/>
              <a:ext cx="161934" cy="161934"/>
            </a:xfrm>
            <a:prstGeom prst="rect">
              <a:avLst/>
            </a:prstGeom>
            <a:noFill/>
            <a:ln>
              <a:noFill/>
            </a:ln>
          </p:spPr>
        </p:pic>
        <p:pic>
          <p:nvPicPr>
            <p:cNvPr id="556" name="Google Shape;556;g3292fd40077_1_278"/>
            <p:cNvPicPr preferRelativeResize="0"/>
            <p:nvPr/>
          </p:nvPicPr>
          <p:blipFill rotWithShape="1">
            <a:blip r:embed="rId5">
              <a:alphaModFix/>
            </a:blip>
            <a:srcRect/>
            <a:stretch/>
          </p:blipFill>
          <p:spPr>
            <a:xfrm>
              <a:off x="3124258" y="3048058"/>
              <a:ext cx="161934" cy="161934"/>
            </a:xfrm>
            <a:prstGeom prst="rect">
              <a:avLst/>
            </a:prstGeom>
            <a:noFill/>
            <a:ln>
              <a:noFill/>
            </a:ln>
          </p:spPr>
        </p:pic>
        <p:pic>
          <p:nvPicPr>
            <p:cNvPr id="557" name="Google Shape;557;g3292fd40077_1_278"/>
            <p:cNvPicPr preferRelativeResize="0"/>
            <p:nvPr/>
          </p:nvPicPr>
          <p:blipFill rotWithShape="1">
            <a:blip r:embed="rId5">
              <a:alphaModFix/>
            </a:blip>
            <a:srcRect/>
            <a:stretch/>
          </p:blipFill>
          <p:spPr>
            <a:xfrm>
              <a:off x="3886258" y="3352858"/>
              <a:ext cx="161934" cy="161934"/>
            </a:xfrm>
            <a:prstGeom prst="rect">
              <a:avLst/>
            </a:prstGeom>
            <a:noFill/>
            <a:ln>
              <a:noFill/>
            </a:ln>
          </p:spPr>
        </p:pic>
        <p:pic>
          <p:nvPicPr>
            <p:cNvPr id="558" name="Google Shape;558;g3292fd40077_1_278"/>
            <p:cNvPicPr preferRelativeResize="0"/>
            <p:nvPr/>
          </p:nvPicPr>
          <p:blipFill rotWithShape="1">
            <a:blip r:embed="rId5">
              <a:alphaModFix/>
            </a:blip>
            <a:srcRect/>
            <a:stretch/>
          </p:blipFill>
          <p:spPr>
            <a:xfrm>
              <a:off x="4114858" y="4038658"/>
              <a:ext cx="161934" cy="161934"/>
            </a:xfrm>
            <a:prstGeom prst="rect">
              <a:avLst/>
            </a:prstGeom>
            <a:noFill/>
            <a:ln>
              <a:noFill/>
            </a:ln>
          </p:spPr>
        </p:pic>
        <p:pic>
          <p:nvPicPr>
            <p:cNvPr id="559" name="Google Shape;559;g3292fd40077_1_278"/>
            <p:cNvPicPr preferRelativeResize="0"/>
            <p:nvPr/>
          </p:nvPicPr>
          <p:blipFill rotWithShape="1">
            <a:blip r:embed="rId5">
              <a:alphaModFix/>
            </a:blip>
            <a:srcRect/>
            <a:stretch/>
          </p:blipFill>
          <p:spPr>
            <a:xfrm>
              <a:off x="3429058" y="4038658"/>
              <a:ext cx="161934" cy="161934"/>
            </a:xfrm>
            <a:prstGeom prst="rect">
              <a:avLst/>
            </a:prstGeom>
            <a:noFill/>
            <a:ln>
              <a:noFill/>
            </a:ln>
          </p:spPr>
        </p:pic>
        <p:pic>
          <p:nvPicPr>
            <p:cNvPr id="560" name="Google Shape;560;g3292fd40077_1_278"/>
            <p:cNvPicPr preferRelativeResize="0"/>
            <p:nvPr/>
          </p:nvPicPr>
          <p:blipFill rotWithShape="1">
            <a:blip r:embed="rId5">
              <a:alphaModFix/>
            </a:blip>
            <a:srcRect/>
            <a:stretch/>
          </p:blipFill>
          <p:spPr>
            <a:xfrm>
              <a:off x="2667058" y="2743258"/>
              <a:ext cx="161934" cy="161934"/>
            </a:xfrm>
            <a:prstGeom prst="rect">
              <a:avLst/>
            </a:prstGeom>
            <a:noFill/>
            <a:ln>
              <a:noFill/>
            </a:ln>
          </p:spPr>
        </p:pic>
        <p:pic>
          <p:nvPicPr>
            <p:cNvPr id="561" name="Google Shape;561;g3292fd40077_1_278"/>
            <p:cNvPicPr preferRelativeResize="0"/>
            <p:nvPr/>
          </p:nvPicPr>
          <p:blipFill rotWithShape="1">
            <a:blip r:embed="rId5">
              <a:alphaModFix/>
            </a:blip>
            <a:srcRect/>
            <a:stretch/>
          </p:blipFill>
          <p:spPr>
            <a:xfrm>
              <a:off x="4724458" y="4800658"/>
              <a:ext cx="161934" cy="161934"/>
            </a:xfrm>
            <a:prstGeom prst="rect">
              <a:avLst/>
            </a:prstGeom>
            <a:noFill/>
            <a:ln>
              <a:noFill/>
            </a:ln>
          </p:spPr>
        </p:pic>
        <p:pic>
          <p:nvPicPr>
            <p:cNvPr id="562" name="Google Shape;562;g3292fd40077_1_278"/>
            <p:cNvPicPr preferRelativeResize="0"/>
            <p:nvPr/>
          </p:nvPicPr>
          <p:blipFill rotWithShape="1">
            <a:blip r:embed="rId5">
              <a:alphaModFix/>
            </a:blip>
            <a:srcRect/>
            <a:stretch/>
          </p:blipFill>
          <p:spPr>
            <a:xfrm>
              <a:off x="4953058" y="3657658"/>
              <a:ext cx="161934" cy="161934"/>
            </a:xfrm>
            <a:prstGeom prst="rect">
              <a:avLst/>
            </a:prstGeom>
            <a:noFill/>
            <a:ln>
              <a:noFill/>
            </a:ln>
          </p:spPr>
        </p:pic>
        <p:pic>
          <p:nvPicPr>
            <p:cNvPr id="563" name="Google Shape;563;g3292fd40077_1_278"/>
            <p:cNvPicPr preferRelativeResize="0"/>
            <p:nvPr/>
          </p:nvPicPr>
          <p:blipFill rotWithShape="1">
            <a:blip r:embed="rId6">
              <a:alphaModFix/>
            </a:blip>
            <a:srcRect/>
            <a:stretch/>
          </p:blipFill>
          <p:spPr>
            <a:xfrm>
              <a:off x="2286058" y="5714995"/>
              <a:ext cx="161934" cy="161934"/>
            </a:xfrm>
            <a:prstGeom prst="rect">
              <a:avLst/>
            </a:prstGeom>
            <a:noFill/>
            <a:ln>
              <a:noFill/>
            </a:ln>
          </p:spPr>
        </p:pic>
        <p:pic>
          <p:nvPicPr>
            <p:cNvPr id="564" name="Google Shape;564;g3292fd40077_1_278"/>
            <p:cNvPicPr preferRelativeResize="0"/>
            <p:nvPr/>
          </p:nvPicPr>
          <p:blipFill rotWithShape="1">
            <a:blip r:embed="rId5">
              <a:alphaModFix/>
            </a:blip>
            <a:srcRect/>
            <a:stretch/>
          </p:blipFill>
          <p:spPr>
            <a:xfrm>
              <a:off x="4114858" y="2514658"/>
              <a:ext cx="161934" cy="161934"/>
            </a:xfrm>
            <a:prstGeom prst="rect">
              <a:avLst/>
            </a:prstGeom>
            <a:noFill/>
            <a:ln>
              <a:noFill/>
            </a:ln>
          </p:spPr>
        </p:pic>
        <p:pic>
          <p:nvPicPr>
            <p:cNvPr id="565" name="Google Shape;565;g3292fd40077_1_278"/>
            <p:cNvPicPr preferRelativeResize="0"/>
            <p:nvPr/>
          </p:nvPicPr>
          <p:blipFill rotWithShape="1">
            <a:blip r:embed="rId5">
              <a:alphaModFix/>
            </a:blip>
            <a:srcRect/>
            <a:stretch/>
          </p:blipFill>
          <p:spPr>
            <a:xfrm>
              <a:off x="5410258" y="4572058"/>
              <a:ext cx="161934" cy="161934"/>
            </a:xfrm>
            <a:prstGeom prst="rect">
              <a:avLst/>
            </a:prstGeom>
            <a:noFill/>
            <a:ln>
              <a:noFill/>
            </a:ln>
          </p:spPr>
        </p:pic>
        <p:sp>
          <p:nvSpPr>
            <p:cNvPr id="566" name="Google Shape;566;g3292fd40077_1_278"/>
            <p:cNvSpPr/>
            <p:nvPr/>
          </p:nvSpPr>
          <p:spPr>
            <a:xfrm>
              <a:off x="1371600" y="2743200"/>
              <a:ext cx="3581400" cy="3581400"/>
            </a:xfrm>
            <a:custGeom>
              <a:avLst/>
              <a:gdLst/>
              <a:ahLst/>
              <a:cxnLst/>
              <a:rect l="l" t="t" r="r" b="b"/>
              <a:pathLst>
                <a:path w="3581400" h="3581400" extrusionOk="0">
                  <a:moveTo>
                    <a:pt x="0" y="0"/>
                  </a:moveTo>
                  <a:lnTo>
                    <a:pt x="3581400" y="3581400"/>
                  </a:lnTo>
                </a:path>
              </a:pathLst>
            </a:custGeom>
            <a:noFill/>
            <a:ln w="38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567" name="Google Shape;567;g3292fd40077_1_278"/>
            <p:cNvPicPr preferRelativeResize="0"/>
            <p:nvPr/>
          </p:nvPicPr>
          <p:blipFill rotWithShape="1">
            <a:blip r:embed="rId5">
              <a:alphaModFix/>
            </a:blip>
            <a:srcRect/>
            <a:stretch/>
          </p:blipFill>
          <p:spPr>
            <a:xfrm>
              <a:off x="2971858" y="2133658"/>
              <a:ext cx="161934" cy="161934"/>
            </a:xfrm>
            <a:prstGeom prst="rect">
              <a:avLst/>
            </a:prstGeom>
            <a:noFill/>
            <a:ln>
              <a:noFill/>
            </a:ln>
          </p:spPr>
        </p:pic>
        <p:pic>
          <p:nvPicPr>
            <p:cNvPr id="568" name="Google Shape;568;g3292fd40077_1_278"/>
            <p:cNvPicPr preferRelativeResize="0"/>
            <p:nvPr/>
          </p:nvPicPr>
          <p:blipFill rotWithShape="1">
            <a:blip r:embed="rId6">
              <a:alphaModFix/>
            </a:blip>
            <a:srcRect/>
            <a:stretch/>
          </p:blipFill>
          <p:spPr>
            <a:xfrm>
              <a:off x="3124258" y="6172195"/>
              <a:ext cx="161934" cy="161934"/>
            </a:xfrm>
            <a:prstGeom prst="rect">
              <a:avLst/>
            </a:prstGeom>
            <a:noFill/>
            <a:ln>
              <a:noFill/>
            </a:ln>
          </p:spPr>
        </p:pic>
        <p:sp>
          <p:nvSpPr>
            <p:cNvPr id="569" name="Google Shape;569;g3292fd40077_1_278"/>
            <p:cNvSpPr/>
            <p:nvPr/>
          </p:nvSpPr>
          <p:spPr>
            <a:xfrm>
              <a:off x="1066800" y="1981200"/>
              <a:ext cx="4495800" cy="4648200"/>
            </a:xfrm>
            <a:custGeom>
              <a:avLst/>
              <a:gdLst/>
              <a:ahLst/>
              <a:cxnLst/>
              <a:rect l="l" t="t" r="r" b="b"/>
              <a:pathLst>
                <a:path w="4495800" h="4648200" extrusionOk="0">
                  <a:moveTo>
                    <a:pt x="685800" y="381000"/>
                  </a:moveTo>
                  <a:lnTo>
                    <a:pt x="3124200" y="4419600"/>
                  </a:lnTo>
                </a:path>
                <a:path w="4495800" h="4648200" extrusionOk="0">
                  <a:moveTo>
                    <a:pt x="1219200" y="0"/>
                  </a:moveTo>
                  <a:lnTo>
                    <a:pt x="2667000" y="4648200"/>
                  </a:lnTo>
                </a:path>
                <a:path w="4495800" h="4648200" extrusionOk="0">
                  <a:moveTo>
                    <a:pt x="0" y="1295400"/>
                  </a:moveTo>
                  <a:lnTo>
                    <a:pt x="4495800" y="3657600"/>
                  </a:lnTo>
                </a:path>
              </a:pathLst>
            </a:custGeom>
            <a:noFill/>
            <a:ln w="38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pic>
        <p:nvPicPr>
          <p:cNvPr id="570" name="Google Shape;570;g3292fd40077_1_278"/>
          <p:cNvPicPr preferRelativeResize="0"/>
          <p:nvPr/>
        </p:nvPicPr>
        <p:blipFill rotWithShape="1">
          <a:blip r:embed="rId3">
            <a:alphaModFix/>
          </a:blip>
          <a:srcRect/>
          <a:stretch/>
        </p:blipFill>
        <p:spPr>
          <a:xfrm>
            <a:off x="1015993" y="4267258"/>
            <a:ext cx="161934" cy="161934"/>
          </a:xfrm>
          <a:prstGeom prst="rect">
            <a:avLst/>
          </a:prstGeom>
          <a:noFill/>
          <a:ln>
            <a:noFill/>
          </a:ln>
        </p:spPr>
      </p:pic>
      <p:sp>
        <p:nvSpPr>
          <p:cNvPr id="571" name="Google Shape;571;g3292fd40077_1_278"/>
          <p:cNvSpPr txBox="1"/>
          <p:nvPr/>
        </p:nvSpPr>
        <p:spPr>
          <a:xfrm>
            <a:off x="7702127" y="5318696"/>
            <a:ext cx="3296920" cy="854075"/>
          </a:xfrm>
          <a:prstGeom prst="rect">
            <a:avLst/>
          </a:prstGeom>
          <a:noFill/>
          <a:ln>
            <a:noFill/>
          </a:ln>
        </p:spPr>
        <p:txBody>
          <a:bodyPr spcFirstLastPara="1" wrap="square" lIns="0" tIns="10150" rIns="0" bIns="0" anchor="t" anchorCtr="0">
            <a:spAutoFit/>
          </a:bodyPr>
          <a:lstStyle/>
          <a:p>
            <a:pPr marL="12700" marR="5080" lvl="0" indent="0" algn="ctr" rtl="0">
              <a:lnSpc>
                <a:spcPct val="100899"/>
              </a:lnSpc>
              <a:spcBef>
                <a:spcPts val="0"/>
              </a:spcBef>
              <a:spcAft>
                <a:spcPts val="0"/>
              </a:spcAft>
              <a:buNone/>
            </a:pPr>
            <a:r>
              <a:rPr lang="en-US" sz="1800">
                <a:latin typeface="Calibri"/>
                <a:ea typeface="Calibri"/>
                <a:cs typeface="Calibri"/>
                <a:sym typeface="Calibri"/>
              </a:rPr>
              <a:t>Which hyperplane is best? We will come back to this later</a:t>
            </a:r>
            <a:endParaRPr sz="1800">
              <a:latin typeface="Calibri"/>
              <a:ea typeface="Calibri"/>
              <a:cs typeface="Calibri"/>
              <a:sym typeface="Calibri"/>
            </a:endParaRPr>
          </a:p>
        </p:txBody>
      </p:sp>
      <p:sp>
        <p:nvSpPr>
          <p:cNvPr id="572" name="Google Shape;572;g3292fd40077_1_278"/>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576"/>
        <p:cNvGrpSpPr/>
        <p:nvPr/>
      </p:nvGrpSpPr>
      <p:grpSpPr>
        <a:xfrm>
          <a:off x="0" y="0"/>
          <a:ext cx="0" cy="0"/>
          <a:chOff x="0" y="0"/>
          <a:chExt cx="0" cy="0"/>
        </a:xfrm>
      </p:grpSpPr>
      <p:pic>
        <p:nvPicPr>
          <p:cNvPr id="577" name="Google Shape;577;g3292fd40077_1_307"/>
          <p:cNvPicPr preferRelativeResize="0"/>
          <p:nvPr/>
        </p:nvPicPr>
        <p:blipFill rotWithShape="1">
          <a:blip r:embed="rId3">
            <a:alphaModFix/>
          </a:blip>
          <a:srcRect/>
          <a:stretch/>
        </p:blipFill>
        <p:spPr>
          <a:xfrm>
            <a:off x="398272" y="1106973"/>
            <a:ext cx="8516112" cy="4160027"/>
          </a:xfrm>
          <a:prstGeom prst="rect">
            <a:avLst/>
          </a:prstGeom>
          <a:noFill/>
          <a:ln>
            <a:noFill/>
          </a:ln>
        </p:spPr>
      </p:pic>
      <p:sp>
        <p:nvSpPr>
          <p:cNvPr id="578" name="Google Shape;578;g3292fd40077_1_307"/>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582"/>
        <p:cNvGrpSpPr/>
        <p:nvPr/>
      </p:nvGrpSpPr>
      <p:grpSpPr>
        <a:xfrm>
          <a:off x="0" y="0"/>
          <a:ext cx="0" cy="0"/>
          <a:chOff x="0" y="0"/>
          <a:chExt cx="0" cy="0"/>
        </a:xfrm>
      </p:grpSpPr>
      <p:pic>
        <p:nvPicPr>
          <p:cNvPr id="583" name="Google Shape;583;g3292fd40077_1_311"/>
          <p:cNvPicPr preferRelativeResize="0"/>
          <p:nvPr/>
        </p:nvPicPr>
        <p:blipFill rotWithShape="1">
          <a:blip r:embed="rId3">
            <a:alphaModFix/>
          </a:blip>
          <a:srcRect/>
          <a:stretch/>
        </p:blipFill>
        <p:spPr>
          <a:xfrm>
            <a:off x="325120" y="1101047"/>
            <a:ext cx="8729471" cy="4095802"/>
          </a:xfrm>
          <a:prstGeom prst="rect">
            <a:avLst/>
          </a:prstGeom>
          <a:noFill/>
          <a:ln>
            <a:noFill/>
          </a:ln>
        </p:spPr>
      </p:pic>
      <p:sp>
        <p:nvSpPr>
          <p:cNvPr id="584" name="Google Shape;584;g3292fd40077_1_311"/>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588"/>
        <p:cNvGrpSpPr/>
        <p:nvPr/>
      </p:nvGrpSpPr>
      <p:grpSpPr>
        <a:xfrm>
          <a:off x="0" y="0"/>
          <a:ext cx="0" cy="0"/>
          <a:chOff x="0" y="0"/>
          <a:chExt cx="0" cy="0"/>
        </a:xfrm>
      </p:grpSpPr>
      <p:pic>
        <p:nvPicPr>
          <p:cNvPr id="589" name="Google Shape;589;g3292fd40077_1_315"/>
          <p:cNvPicPr preferRelativeResize="0"/>
          <p:nvPr/>
        </p:nvPicPr>
        <p:blipFill rotWithShape="1">
          <a:blip r:embed="rId3">
            <a:alphaModFix/>
          </a:blip>
          <a:srcRect/>
          <a:stretch/>
        </p:blipFill>
        <p:spPr>
          <a:xfrm>
            <a:off x="0" y="1100882"/>
            <a:ext cx="8924544" cy="4233117"/>
          </a:xfrm>
          <a:prstGeom prst="rect">
            <a:avLst/>
          </a:prstGeom>
          <a:noFill/>
          <a:ln>
            <a:noFill/>
          </a:ln>
        </p:spPr>
      </p:pic>
      <p:sp>
        <p:nvSpPr>
          <p:cNvPr id="590" name="Google Shape;590;g3292fd40077_1_315"/>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594"/>
        <p:cNvGrpSpPr/>
        <p:nvPr/>
      </p:nvGrpSpPr>
      <p:grpSpPr>
        <a:xfrm>
          <a:off x="0" y="0"/>
          <a:ext cx="0" cy="0"/>
          <a:chOff x="0" y="0"/>
          <a:chExt cx="0" cy="0"/>
        </a:xfrm>
      </p:grpSpPr>
      <p:sp>
        <p:nvSpPr>
          <p:cNvPr id="595" name="Google Shape;595;g3292fd40077_1_319"/>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3674109" lvl="0" indent="0" algn="l" rtl="0">
              <a:lnSpc>
                <a:spcPct val="100000"/>
              </a:lnSpc>
              <a:spcBef>
                <a:spcPts val="0"/>
              </a:spcBef>
              <a:spcAft>
                <a:spcPts val="0"/>
              </a:spcAft>
              <a:buNone/>
            </a:pPr>
            <a:r>
              <a:rPr lang="en-US"/>
              <a:t>Recap</a:t>
            </a:r>
            <a:endParaRPr/>
          </a:p>
        </p:txBody>
      </p:sp>
      <p:sp>
        <p:nvSpPr>
          <p:cNvPr id="596" name="Google Shape;596;g3292fd40077_1_319"/>
          <p:cNvSpPr txBox="1"/>
          <p:nvPr/>
        </p:nvSpPr>
        <p:spPr>
          <a:xfrm>
            <a:off x="715433" y="1503197"/>
            <a:ext cx="10740900" cy="4402800"/>
          </a:xfrm>
          <a:prstGeom prst="rect">
            <a:avLst/>
          </a:prstGeom>
          <a:noFill/>
          <a:ln>
            <a:noFill/>
          </a:ln>
        </p:spPr>
        <p:txBody>
          <a:bodyPr spcFirstLastPara="1" wrap="square" lIns="0" tIns="120000" rIns="0" bIns="0" anchor="t" anchorCtr="0">
            <a:spAutoFit/>
          </a:bodyPr>
          <a:lstStyle/>
          <a:p>
            <a:pPr marL="355600" lvl="0" indent="-342900" algn="l" rtl="0">
              <a:lnSpc>
                <a:spcPct val="100000"/>
              </a:lnSpc>
              <a:spcBef>
                <a:spcPts val="0"/>
              </a:spcBef>
              <a:spcAft>
                <a:spcPts val="0"/>
              </a:spcAft>
              <a:buSzPts val="3200"/>
              <a:buFont typeface="Arial"/>
              <a:buChar char="•"/>
            </a:pPr>
            <a:r>
              <a:rPr lang="en-US" sz="3200">
                <a:latin typeface="Calibri"/>
                <a:ea typeface="Calibri"/>
                <a:cs typeface="Calibri"/>
                <a:sym typeface="Calibri"/>
              </a:rPr>
              <a:t>Learning methods</a:t>
            </a:r>
            <a:endParaRPr sz="3200">
              <a:latin typeface="Calibri"/>
              <a:ea typeface="Calibri"/>
              <a:cs typeface="Calibri"/>
              <a:sym typeface="Calibri"/>
            </a:endParaRPr>
          </a:p>
          <a:p>
            <a:pPr marL="755015" lvl="1" indent="-285115" algn="l" rtl="0">
              <a:lnSpc>
                <a:spcPct val="100000"/>
              </a:lnSpc>
              <a:spcBef>
                <a:spcPts val="740"/>
              </a:spcBef>
              <a:spcAft>
                <a:spcPts val="0"/>
              </a:spcAft>
              <a:buSzPts val="2750"/>
              <a:buFont typeface="Arial"/>
              <a:buChar char="–"/>
            </a:pPr>
            <a:r>
              <a:rPr lang="en-US" sz="2750">
                <a:latin typeface="Calibri"/>
                <a:ea typeface="Calibri"/>
                <a:cs typeface="Calibri"/>
                <a:sym typeface="Calibri"/>
              </a:rPr>
              <a:t>k-Nearest Neighbors</a:t>
            </a:r>
            <a:endParaRPr sz="2750">
              <a:latin typeface="Calibri"/>
              <a:ea typeface="Calibri"/>
              <a:cs typeface="Calibri"/>
              <a:sym typeface="Calibri"/>
            </a:endParaRPr>
          </a:p>
          <a:p>
            <a:pPr marL="755015" lvl="1" indent="-285115" algn="l" rtl="0">
              <a:lnSpc>
                <a:spcPct val="100000"/>
              </a:lnSpc>
              <a:spcBef>
                <a:spcPts val="755"/>
              </a:spcBef>
              <a:spcAft>
                <a:spcPts val="0"/>
              </a:spcAft>
              <a:buSzPts val="2750"/>
              <a:buFont typeface="Arial"/>
              <a:buChar char="–"/>
            </a:pPr>
            <a:r>
              <a:rPr lang="en-US" sz="2750" b="1">
                <a:latin typeface="Calibri"/>
                <a:ea typeface="Calibri"/>
                <a:cs typeface="Calibri"/>
                <a:sym typeface="Calibri"/>
              </a:rPr>
              <a:t>Linear classification</a:t>
            </a:r>
            <a:endParaRPr sz="2750">
              <a:latin typeface="Calibri"/>
              <a:ea typeface="Calibri"/>
              <a:cs typeface="Calibri"/>
              <a:sym typeface="Calibri"/>
            </a:endParaRPr>
          </a:p>
          <a:p>
            <a:pPr marL="0" lvl="1" indent="0" algn="l" rtl="0">
              <a:lnSpc>
                <a:spcPct val="100000"/>
              </a:lnSpc>
              <a:spcBef>
                <a:spcPts val="1914"/>
              </a:spcBef>
              <a:spcAft>
                <a:spcPts val="0"/>
              </a:spcAft>
              <a:buSzPts val="2750"/>
              <a:buFont typeface="Arial"/>
              <a:buNone/>
            </a:pPr>
            <a:endParaRPr sz="2750">
              <a:latin typeface="Calibri"/>
              <a:ea typeface="Calibri"/>
              <a:cs typeface="Calibri"/>
              <a:sym typeface="Calibri"/>
            </a:endParaRPr>
          </a:p>
          <a:p>
            <a:pPr marL="355600" marR="699770" lvl="0" indent="-343535" algn="l" rtl="0">
              <a:lnSpc>
                <a:spcPct val="101699"/>
              </a:lnSpc>
              <a:spcBef>
                <a:spcPts val="0"/>
              </a:spcBef>
              <a:spcAft>
                <a:spcPts val="0"/>
              </a:spcAft>
              <a:buSzPts val="3200"/>
              <a:buFont typeface="Arial"/>
              <a:buChar char="•"/>
            </a:pPr>
            <a:r>
              <a:rPr lang="en-US" sz="3200">
                <a:latin typeface="Calibri"/>
                <a:ea typeface="Calibri"/>
                <a:cs typeface="Calibri"/>
                <a:sym typeface="Calibri"/>
              </a:rPr>
              <a:t>Classifier outputs a </a:t>
            </a:r>
            <a:r>
              <a:rPr lang="en-US" sz="3200" b="1">
                <a:latin typeface="Calibri"/>
                <a:ea typeface="Calibri"/>
                <a:cs typeface="Calibri"/>
                <a:sym typeface="Calibri"/>
              </a:rPr>
              <a:t>score function </a:t>
            </a:r>
            <a:r>
              <a:rPr lang="en-US" sz="3200">
                <a:latin typeface="Calibri"/>
                <a:ea typeface="Calibri"/>
                <a:cs typeface="Calibri"/>
                <a:sym typeface="Calibri"/>
              </a:rPr>
              <a:t>giving a score to each class</a:t>
            </a:r>
            <a:endParaRPr sz="3200">
              <a:latin typeface="Calibri"/>
              <a:ea typeface="Calibri"/>
              <a:cs typeface="Calibri"/>
              <a:sym typeface="Calibri"/>
            </a:endParaRPr>
          </a:p>
          <a:p>
            <a:pPr marL="355600" marR="5080" lvl="0" indent="-343535" algn="l" rtl="0">
              <a:lnSpc>
                <a:spcPct val="100000"/>
              </a:lnSpc>
              <a:spcBef>
                <a:spcPts val="740"/>
              </a:spcBef>
              <a:spcAft>
                <a:spcPts val="0"/>
              </a:spcAft>
              <a:buSzPts val="3200"/>
              <a:buFont typeface="Arial"/>
              <a:buChar char="•"/>
            </a:pPr>
            <a:r>
              <a:rPr lang="en-US" sz="3200">
                <a:latin typeface="Calibri"/>
                <a:ea typeface="Calibri"/>
                <a:cs typeface="Calibri"/>
                <a:sym typeface="Calibri"/>
              </a:rPr>
              <a:t>how do we define how good a classifier is based on the training data? (Spoiler: define a </a:t>
            </a:r>
            <a:r>
              <a:rPr lang="en-US" sz="3200" i="1">
                <a:latin typeface="Calibri"/>
                <a:ea typeface="Calibri"/>
                <a:cs typeface="Calibri"/>
                <a:sym typeface="Calibri"/>
              </a:rPr>
              <a:t>loss function</a:t>
            </a:r>
            <a:r>
              <a:rPr lang="en-US" sz="3200">
                <a:latin typeface="Calibri"/>
                <a:ea typeface="Calibri"/>
                <a:cs typeface="Calibri"/>
                <a:sym typeface="Calibri"/>
              </a:rPr>
              <a:t>)</a:t>
            </a:r>
            <a:endParaRPr sz="3200">
              <a:latin typeface="Calibri"/>
              <a:ea typeface="Calibri"/>
              <a:cs typeface="Calibri"/>
              <a:sym typeface="Calibri"/>
            </a:endParaRPr>
          </a:p>
        </p:txBody>
      </p:sp>
      <p:sp>
        <p:nvSpPr>
          <p:cNvPr id="597" name="Google Shape;597;g3292fd40077_1_319"/>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601"/>
        <p:cNvGrpSpPr/>
        <p:nvPr/>
      </p:nvGrpSpPr>
      <p:grpSpPr>
        <a:xfrm>
          <a:off x="0" y="0"/>
          <a:ext cx="0" cy="0"/>
          <a:chOff x="0" y="0"/>
          <a:chExt cx="0" cy="0"/>
        </a:xfrm>
      </p:grpSpPr>
      <p:sp>
        <p:nvSpPr>
          <p:cNvPr id="602" name="Google Shape;602;g3292fd40077_1_324"/>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2138680" lvl="0" indent="0" algn="l" rtl="0">
              <a:lnSpc>
                <a:spcPct val="100000"/>
              </a:lnSpc>
              <a:spcBef>
                <a:spcPts val="0"/>
              </a:spcBef>
              <a:spcAft>
                <a:spcPts val="0"/>
              </a:spcAft>
              <a:buNone/>
            </a:pPr>
            <a:r>
              <a:rPr lang="en-US"/>
              <a:t>Linear classification</a:t>
            </a:r>
            <a:endParaRPr/>
          </a:p>
        </p:txBody>
      </p:sp>
      <p:pic>
        <p:nvPicPr>
          <p:cNvPr id="603" name="Google Shape;603;g3292fd40077_1_324"/>
          <p:cNvPicPr preferRelativeResize="0"/>
          <p:nvPr/>
        </p:nvPicPr>
        <p:blipFill rotWithShape="1">
          <a:blip r:embed="rId3">
            <a:alphaModFix/>
          </a:blip>
          <a:srcRect/>
          <a:stretch/>
        </p:blipFill>
        <p:spPr>
          <a:xfrm>
            <a:off x="77743" y="1649004"/>
            <a:ext cx="8341763" cy="3757972"/>
          </a:xfrm>
          <a:prstGeom prst="rect">
            <a:avLst/>
          </a:prstGeom>
          <a:noFill/>
          <a:ln>
            <a:noFill/>
          </a:ln>
        </p:spPr>
      </p:pic>
      <p:sp>
        <p:nvSpPr>
          <p:cNvPr id="604" name="Google Shape;604;g3292fd40077_1_324"/>
          <p:cNvSpPr txBox="1"/>
          <p:nvPr/>
        </p:nvSpPr>
        <p:spPr>
          <a:xfrm>
            <a:off x="1847765" y="5577840"/>
            <a:ext cx="2732193" cy="44958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2750">
                <a:latin typeface="Calibri"/>
                <a:ea typeface="Calibri"/>
                <a:cs typeface="Calibri"/>
                <a:sym typeface="Calibri"/>
              </a:rPr>
              <a:t>Output scores</a:t>
            </a:r>
            <a:endParaRPr sz="2750">
              <a:latin typeface="Calibri"/>
              <a:ea typeface="Calibri"/>
              <a:cs typeface="Calibri"/>
              <a:sym typeface="Calibri"/>
            </a:endParaRPr>
          </a:p>
        </p:txBody>
      </p:sp>
      <p:sp>
        <p:nvSpPr>
          <p:cNvPr id="605" name="Google Shape;605;g3292fd40077_1_324"/>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609"/>
        <p:cNvGrpSpPr/>
        <p:nvPr/>
      </p:nvGrpSpPr>
      <p:grpSpPr>
        <a:xfrm>
          <a:off x="0" y="0"/>
          <a:ext cx="0" cy="0"/>
          <a:chOff x="0" y="0"/>
          <a:chExt cx="0" cy="0"/>
        </a:xfrm>
      </p:grpSpPr>
      <p:pic>
        <p:nvPicPr>
          <p:cNvPr id="610" name="Google Shape;610;g3292fd40077_1_330"/>
          <p:cNvPicPr preferRelativeResize="0"/>
          <p:nvPr/>
        </p:nvPicPr>
        <p:blipFill rotWithShape="1">
          <a:blip r:embed="rId3">
            <a:alphaModFix/>
          </a:blip>
          <a:srcRect/>
          <a:stretch/>
        </p:blipFill>
        <p:spPr>
          <a:xfrm>
            <a:off x="260095" y="1101050"/>
            <a:ext cx="8875776" cy="4388409"/>
          </a:xfrm>
          <a:prstGeom prst="rect">
            <a:avLst/>
          </a:prstGeom>
          <a:noFill/>
          <a:ln>
            <a:noFill/>
          </a:ln>
        </p:spPr>
      </p:pic>
      <p:sp>
        <p:nvSpPr>
          <p:cNvPr id="611" name="Google Shape;611;g3292fd40077_1_330"/>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615"/>
        <p:cNvGrpSpPr/>
        <p:nvPr/>
      </p:nvGrpSpPr>
      <p:grpSpPr>
        <a:xfrm>
          <a:off x="0" y="0"/>
          <a:ext cx="0" cy="0"/>
          <a:chOff x="0" y="0"/>
          <a:chExt cx="0" cy="0"/>
        </a:xfrm>
      </p:grpSpPr>
      <p:sp>
        <p:nvSpPr>
          <p:cNvPr id="616" name="Google Shape;616;g3292fd40077_1_334"/>
          <p:cNvSpPr txBox="1">
            <a:spLocks noGrp="1"/>
          </p:cNvSpPr>
          <p:nvPr>
            <p:ph type="title"/>
          </p:nvPr>
        </p:nvSpPr>
        <p:spPr>
          <a:xfrm>
            <a:off x="284056" y="166624"/>
            <a:ext cx="11525673" cy="1301876"/>
          </a:xfrm>
          <a:prstGeom prst="rect">
            <a:avLst/>
          </a:prstGeom>
          <a:noFill/>
          <a:ln>
            <a:noFill/>
          </a:ln>
        </p:spPr>
        <p:txBody>
          <a:bodyPr spcFirstLastPara="1" wrap="square" lIns="0" tIns="380975" rIns="0" bIns="0" anchor="t" anchorCtr="0">
            <a:spAutoFit/>
          </a:bodyPr>
          <a:lstStyle/>
          <a:p>
            <a:pPr marL="355600" lvl="0" indent="0" algn="l" rtl="0">
              <a:lnSpc>
                <a:spcPct val="100000"/>
              </a:lnSpc>
              <a:spcBef>
                <a:spcPts val="0"/>
              </a:spcBef>
              <a:spcAft>
                <a:spcPts val="0"/>
              </a:spcAft>
              <a:buNone/>
            </a:pPr>
            <a:r>
              <a:rPr lang="en-US" sz="3950"/>
              <a:t>Loss function, cost/objective function</a:t>
            </a:r>
            <a:endParaRPr sz="3950"/>
          </a:p>
        </p:txBody>
      </p:sp>
      <p:sp>
        <p:nvSpPr>
          <p:cNvPr id="617" name="Google Shape;617;g3292fd40077_1_334"/>
          <p:cNvSpPr txBox="1"/>
          <p:nvPr/>
        </p:nvSpPr>
        <p:spPr>
          <a:xfrm>
            <a:off x="647700" y="1503197"/>
            <a:ext cx="11067627" cy="4379595"/>
          </a:xfrm>
          <a:prstGeom prst="rect">
            <a:avLst/>
          </a:prstGeom>
          <a:noFill/>
          <a:ln>
            <a:noFill/>
          </a:ln>
        </p:spPr>
        <p:txBody>
          <a:bodyPr spcFirstLastPara="1" wrap="square" lIns="0" tIns="120000" rIns="0" bIns="0" anchor="t" anchorCtr="0">
            <a:spAutoFit/>
          </a:bodyPr>
          <a:lstStyle/>
          <a:p>
            <a:pPr marL="406400" lvl="0" indent="-342900" algn="l" rtl="0">
              <a:lnSpc>
                <a:spcPct val="100000"/>
              </a:lnSpc>
              <a:spcBef>
                <a:spcPts val="0"/>
              </a:spcBef>
              <a:spcAft>
                <a:spcPts val="0"/>
              </a:spcAft>
              <a:buSzPts val="3200"/>
              <a:buFont typeface="Arial"/>
              <a:buChar char="•"/>
            </a:pPr>
            <a:r>
              <a:rPr lang="en-US" sz="3200">
                <a:latin typeface="Calibri"/>
                <a:ea typeface="Calibri"/>
                <a:cs typeface="Calibri"/>
                <a:sym typeface="Calibri"/>
              </a:rPr>
              <a:t>Given ground truth labels (</a:t>
            </a:r>
            <a:r>
              <a:rPr lang="en-US" sz="3200" i="1">
                <a:latin typeface="Calibri"/>
                <a:ea typeface="Calibri"/>
                <a:cs typeface="Calibri"/>
                <a:sym typeface="Calibri"/>
              </a:rPr>
              <a:t>y</a:t>
            </a:r>
            <a:r>
              <a:rPr lang="en-US" sz="3150" i="1" baseline="-25000">
                <a:latin typeface="Calibri"/>
                <a:ea typeface="Calibri"/>
                <a:cs typeface="Calibri"/>
                <a:sym typeface="Calibri"/>
              </a:rPr>
              <a:t>i</a:t>
            </a:r>
            <a:r>
              <a:rPr lang="en-US" sz="3200">
                <a:latin typeface="Calibri"/>
                <a:ea typeface="Calibri"/>
                <a:cs typeface="Calibri"/>
                <a:sym typeface="Calibri"/>
              </a:rPr>
              <a:t>), scores </a:t>
            </a:r>
            <a:r>
              <a:rPr lang="en-US" sz="3200" i="1">
                <a:latin typeface="Calibri"/>
                <a:ea typeface="Calibri"/>
                <a:cs typeface="Calibri"/>
                <a:sym typeface="Calibri"/>
              </a:rPr>
              <a:t>f</a:t>
            </a:r>
            <a:r>
              <a:rPr lang="en-US" sz="3200">
                <a:latin typeface="Calibri"/>
                <a:ea typeface="Calibri"/>
                <a:cs typeface="Calibri"/>
                <a:sym typeface="Calibri"/>
              </a:rPr>
              <a:t>(</a:t>
            </a:r>
            <a:r>
              <a:rPr lang="en-US" sz="3200" i="1">
                <a:latin typeface="Calibri"/>
                <a:ea typeface="Calibri"/>
                <a:cs typeface="Calibri"/>
                <a:sym typeface="Calibri"/>
              </a:rPr>
              <a:t>x</a:t>
            </a:r>
            <a:r>
              <a:rPr lang="en-US" sz="3150" i="1" baseline="-25000">
                <a:latin typeface="Calibri"/>
                <a:ea typeface="Calibri"/>
                <a:cs typeface="Calibri"/>
                <a:sym typeface="Calibri"/>
              </a:rPr>
              <a:t>i</a:t>
            </a:r>
            <a:r>
              <a:rPr lang="en-US" sz="3200">
                <a:latin typeface="Calibri"/>
                <a:ea typeface="Calibri"/>
                <a:cs typeface="Calibri"/>
                <a:sym typeface="Calibri"/>
              </a:rPr>
              <a:t>, </a:t>
            </a:r>
            <a:r>
              <a:rPr lang="en-US" sz="3200" b="1">
                <a:latin typeface="Calibri"/>
                <a:ea typeface="Calibri"/>
                <a:cs typeface="Calibri"/>
                <a:sym typeface="Calibri"/>
              </a:rPr>
              <a:t>W</a:t>
            </a:r>
            <a:r>
              <a:rPr lang="en-US" sz="3200">
                <a:latin typeface="Calibri"/>
                <a:ea typeface="Calibri"/>
                <a:cs typeface="Calibri"/>
                <a:sym typeface="Calibri"/>
              </a:rPr>
              <a:t>)</a:t>
            </a:r>
            <a:endParaRPr sz="3200">
              <a:latin typeface="Calibri"/>
              <a:ea typeface="Calibri"/>
              <a:cs typeface="Calibri"/>
              <a:sym typeface="Calibri"/>
            </a:endParaRPr>
          </a:p>
          <a:p>
            <a:pPr marL="520700" lvl="0" indent="0" algn="l" rtl="0">
              <a:lnSpc>
                <a:spcPct val="100000"/>
              </a:lnSpc>
              <a:spcBef>
                <a:spcPts val="740"/>
              </a:spcBef>
              <a:spcAft>
                <a:spcPts val="0"/>
              </a:spcAft>
              <a:buNone/>
            </a:pPr>
            <a:r>
              <a:rPr lang="en-US" sz="2750">
                <a:latin typeface="Arial"/>
                <a:ea typeface="Arial"/>
                <a:cs typeface="Arial"/>
                <a:sym typeface="Arial"/>
              </a:rPr>
              <a:t>– </a:t>
            </a:r>
            <a:r>
              <a:rPr lang="en-US" sz="2750">
                <a:latin typeface="Calibri"/>
                <a:ea typeface="Calibri"/>
                <a:cs typeface="Calibri"/>
                <a:sym typeface="Calibri"/>
              </a:rPr>
              <a:t>how unhappy are we with the scores?</a:t>
            </a:r>
            <a:endParaRPr sz="2750">
              <a:latin typeface="Calibri"/>
              <a:ea typeface="Calibri"/>
              <a:cs typeface="Calibri"/>
              <a:sym typeface="Calibri"/>
            </a:endParaRPr>
          </a:p>
          <a:p>
            <a:pPr marL="0" lvl="0" indent="0" algn="l" rtl="0">
              <a:lnSpc>
                <a:spcPct val="100000"/>
              </a:lnSpc>
              <a:spcBef>
                <a:spcPts val="1455"/>
              </a:spcBef>
              <a:spcAft>
                <a:spcPts val="0"/>
              </a:spcAft>
              <a:buNone/>
            </a:pPr>
            <a:endParaRPr sz="2750">
              <a:latin typeface="Calibri"/>
              <a:ea typeface="Calibri"/>
              <a:cs typeface="Calibri"/>
              <a:sym typeface="Calibri"/>
            </a:endParaRPr>
          </a:p>
          <a:p>
            <a:pPr marL="406400" marR="1347470" lvl="0" indent="-343535" algn="l" rtl="0">
              <a:lnSpc>
                <a:spcPct val="100000"/>
              </a:lnSpc>
              <a:spcBef>
                <a:spcPts val="0"/>
              </a:spcBef>
              <a:spcAft>
                <a:spcPts val="0"/>
              </a:spcAft>
              <a:buSzPts val="3200"/>
              <a:buFont typeface="Arial"/>
              <a:buChar char="•"/>
            </a:pPr>
            <a:r>
              <a:rPr lang="en-US" sz="3200">
                <a:latin typeface="Calibri"/>
                <a:ea typeface="Calibri"/>
                <a:cs typeface="Calibri"/>
                <a:sym typeface="Calibri"/>
              </a:rPr>
              <a:t>Loss function or objective/cost function measures unhappiness</a:t>
            </a:r>
            <a:endParaRPr sz="3200">
              <a:latin typeface="Calibri"/>
              <a:ea typeface="Calibri"/>
              <a:cs typeface="Calibri"/>
              <a:sym typeface="Calibri"/>
            </a:endParaRPr>
          </a:p>
          <a:p>
            <a:pPr marL="0" lvl="0" indent="0" algn="l" rtl="0">
              <a:lnSpc>
                <a:spcPct val="100000"/>
              </a:lnSpc>
              <a:spcBef>
                <a:spcPts val="1480"/>
              </a:spcBef>
              <a:spcAft>
                <a:spcPts val="0"/>
              </a:spcAft>
              <a:buSzPts val="3200"/>
              <a:buFont typeface="Arial"/>
              <a:buNone/>
            </a:pPr>
            <a:endParaRPr sz="3200">
              <a:latin typeface="Calibri"/>
              <a:ea typeface="Calibri"/>
              <a:cs typeface="Calibri"/>
              <a:sym typeface="Calibri"/>
            </a:endParaRPr>
          </a:p>
          <a:p>
            <a:pPr marL="406400" marR="17780" lvl="0" indent="-343535" algn="l" rtl="0">
              <a:lnSpc>
                <a:spcPct val="100000"/>
              </a:lnSpc>
              <a:spcBef>
                <a:spcPts val="0"/>
              </a:spcBef>
              <a:spcAft>
                <a:spcPts val="0"/>
              </a:spcAft>
              <a:buSzPts val="3200"/>
              <a:buFont typeface="Arial"/>
              <a:buChar char="•"/>
            </a:pPr>
            <a:r>
              <a:rPr lang="en-US" sz="3200">
                <a:latin typeface="Calibri"/>
                <a:ea typeface="Calibri"/>
                <a:cs typeface="Calibri"/>
                <a:sym typeface="Calibri"/>
              </a:rPr>
              <a:t>During training, </a:t>
            </a:r>
            <a:r>
              <a:rPr lang="en-US" sz="3200" b="1">
                <a:latin typeface="Calibri"/>
                <a:ea typeface="Calibri"/>
                <a:cs typeface="Calibri"/>
                <a:sym typeface="Calibri"/>
              </a:rPr>
              <a:t>want to find the parameters W that minimizes the loss function</a:t>
            </a:r>
            <a:endParaRPr sz="3200">
              <a:latin typeface="Calibri"/>
              <a:ea typeface="Calibri"/>
              <a:cs typeface="Calibri"/>
              <a:sym typeface="Calibri"/>
            </a:endParaRPr>
          </a:p>
        </p:txBody>
      </p:sp>
      <p:sp>
        <p:nvSpPr>
          <p:cNvPr id="618" name="Google Shape;618;g3292fd40077_1_334"/>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622"/>
        <p:cNvGrpSpPr/>
        <p:nvPr/>
      </p:nvGrpSpPr>
      <p:grpSpPr>
        <a:xfrm>
          <a:off x="0" y="0"/>
          <a:ext cx="0" cy="0"/>
          <a:chOff x="0" y="0"/>
          <a:chExt cx="0" cy="0"/>
        </a:xfrm>
      </p:grpSpPr>
      <p:sp>
        <p:nvSpPr>
          <p:cNvPr id="623" name="Google Shape;623;g3292fd40077_1_339"/>
          <p:cNvSpPr txBox="1">
            <a:spLocks noGrp="1"/>
          </p:cNvSpPr>
          <p:nvPr>
            <p:ph type="title"/>
          </p:nvPr>
        </p:nvSpPr>
        <p:spPr>
          <a:xfrm>
            <a:off x="284056" y="166624"/>
            <a:ext cx="11525673" cy="1301876"/>
          </a:xfrm>
          <a:prstGeom prst="rect">
            <a:avLst/>
          </a:prstGeom>
          <a:noFill/>
          <a:ln>
            <a:noFill/>
          </a:ln>
        </p:spPr>
        <p:txBody>
          <a:bodyPr spcFirstLastPara="1" wrap="square" lIns="0" tIns="350325" rIns="0" bIns="0" anchor="t" anchorCtr="0">
            <a:spAutoFit/>
          </a:bodyPr>
          <a:lstStyle/>
          <a:p>
            <a:pPr marL="508000" lvl="0" indent="0" algn="l" rtl="0">
              <a:lnSpc>
                <a:spcPct val="100000"/>
              </a:lnSpc>
              <a:spcBef>
                <a:spcPts val="0"/>
              </a:spcBef>
              <a:spcAft>
                <a:spcPts val="0"/>
              </a:spcAft>
              <a:buNone/>
            </a:pPr>
            <a:r>
              <a:rPr lang="en-US" sz="3950"/>
              <a:t>Simpler example: binary classification</a:t>
            </a:r>
            <a:endParaRPr sz="3950"/>
          </a:p>
        </p:txBody>
      </p:sp>
      <p:sp>
        <p:nvSpPr>
          <p:cNvPr id="624" name="Google Shape;624;g3292fd40077_1_339"/>
          <p:cNvSpPr txBox="1"/>
          <p:nvPr/>
        </p:nvSpPr>
        <p:spPr>
          <a:xfrm>
            <a:off x="715433" y="1503197"/>
            <a:ext cx="8755379" cy="1134745"/>
          </a:xfrm>
          <a:prstGeom prst="rect">
            <a:avLst/>
          </a:prstGeom>
          <a:noFill/>
          <a:ln>
            <a:noFill/>
          </a:ln>
        </p:spPr>
        <p:txBody>
          <a:bodyPr spcFirstLastPara="1" wrap="square" lIns="0" tIns="120000" rIns="0" bIns="0" anchor="t" anchorCtr="0">
            <a:spAutoFit/>
          </a:bodyPr>
          <a:lstStyle/>
          <a:p>
            <a:pPr marL="342900" lvl="0" indent="-342900" algn="ctr" rtl="0">
              <a:lnSpc>
                <a:spcPct val="100000"/>
              </a:lnSpc>
              <a:spcBef>
                <a:spcPts val="0"/>
              </a:spcBef>
              <a:spcAft>
                <a:spcPts val="0"/>
              </a:spcAft>
              <a:buSzPts val="3200"/>
              <a:buFont typeface="Arial"/>
              <a:buChar char="•"/>
            </a:pPr>
            <a:r>
              <a:rPr lang="en-US" sz="3200">
                <a:latin typeface="Calibri"/>
                <a:ea typeface="Calibri"/>
                <a:cs typeface="Calibri"/>
                <a:sym typeface="Calibri"/>
              </a:rPr>
              <a:t>Two classes (e.g., “cat” and “not cat”)</a:t>
            </a:r>
            <a:endParaRPr sz="3200">
              <a:latin typeface="Calibri"/>
              <a:ea typeface="Calibri"/>
              <a:cs typeface="Calibri"/>
              <a:sym typeface="Calibri"/>
            </a:endParaRPr>
          </a:p>
          <a:p>
            <a:pPr marL="55244" lvl="0" indent="0" algn="ctr" rtl="0">
              <a:lnSpc>
                <a:spcPct val="100000"/>
              </a:lnSpc>
              <a:spcBef>
                <a:spcPts val="740"/>
              </a:spcBef>
              <a:spcAft>
                <a:spcPts val="0"/>
              </a:spcAft>
              <a:buNone/>
            </a:pPr>
            <a:r>
              <a:rPr lang="en-US" sz="2750">
                <a:latin typeface="Arial"/>
                <a:ea typeface="Arial"/>
                <a:cs typeface="Arial"/>
                <a:sym typeface="Arial"/>
              </a:rPr>
              <a:t>– </a:t>
            </a:r>
            <a:r>
              <a:rPr lang="en-US" sz="2750">
                <a:latin typeface="Calibri"/>
                <a:ea typeface="Calibri"/>
                <a:cs typeface="Calibri"/>
                <a:sym typeface="Calibri"/>
              </a:rPr>
              <a:t>AKA “positive” and “negative” classes</a:t>
            </a:r>
            <a:endParaRPr sz="2750">
              <a:latin typeface="Calibri"/>
              <a:ea typeface="Calibri"/>
              <a:cs typeface="Calibri"/>
              <a:sym typeface="Calibri"/>
            </a:endParaRPr>
          </a:p>
        </p:txBody>
      </p:sp>
      <p:pic>
        <p:nvPicPr>
          <p:cNvPr id="625" name="Google Shape;625;g3292fd40077_1_339"/>
          <p:cNvPicPr preferRelativeResize="0"/>
          <p:nvPr/>
        </p:nvPicPr>
        <p:blipFill rotWithShape="1">
          <a:blip r:embed="rId3">
            <a:alphaModFix/>
          </a:blip>
          <a:srcRect/>
          <a:stretch/>
        </p:blipFill>
        <p:spPr>
          <a:xfrm>
            <a:off x="2133600" y="3000375"/>
            <a:ext cx="2133600" cy="1419225"/>
          </a:xfrm>
          <a:prstGeom prst="rect">
            <a:avLst/>
          </a:prstGeom>
          <a:noFill/>
          <a:ln>
            <a:noFill/>
          </a:ln>
        </p:spPr>
      </p:pic>
      <p:pic>
        <p:nvPicPr>
          <p:cNvPr id="626" name="Google Shape;626;g3292fd40077_1_339"/>
          <p:cNvPicPr preferRelativeResize="0"/>
          <p:nvPr/>
        </p:nvPicPr>
        <p:blipFill rotWithShape="1">
          <a:blip r:embed="rId4">
            <a:alphaModFix/>
          </a:blip>
          <a:srcRect/>
          <a:stretch/>
        </p:blipFill>
        <p:spPr>
          <a:xfrm>
            <a:off x="6477000" y="3000375"/>
            <a:ext cx="2514600" cy="1419225"/>
          </a:xfrm>
          <a:prstGeom prst="rect">
            <a:avLst/>
          </a:prstGeom>
          <a:noFill/>
          <a:ln>
            <a:noFill/>
          </a:ln>
        </p:spPr>
      </p:pic>
      <p:sp>
        <p:nvSpPr>
          <p:cNvPr id="627" name="Google Shape;627;g3292fd40077_1_339"/>
          <p:cNvSpPr txBox="1"/>
          <p:nvPr/>
        </p:nvSpPr>
        <p:spPr>
          <a:xfrm>
            <a:off x="3093211" y="6185534"/>
            <a:ext cx="712893" cy="51752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3200">
                <a:solidFill>
                  <a:srgbClr val="3333FF"/>
                </a:solidFill>
                <a:latin typeface="Calibri"/>
                <a:ea typeface="Calibri"/>
                <a:cs typeface="Calibri"/>
                <a:sym typeface="Calibri"/>
              </a:rPr>
              <a:t>cat</a:t>
            </a:r>
            <a:endParaRPr sz="3200">
              <a:latin typeface="Calibri"/>
              <a:ea typeface="Calibri"/>
              <a:cs typeface="Calibri"/>
              <a:sym typeface="Calibri"/>
            </a:endParaRPr>
          </a:p>
        </p:txBody>
      </p:sp>
      <p:sp>
        <p:nvSpPr>
          <p:cNvPr id="628" name="Google Shape;628;g3292fd40077_1_339"/>
          <p:cNvSpPr txBox="1"/>
          <p:nvPr/>
        </p:nvSpPr>
        <p:spPr>
          <a:xfrm>
            <a:off x="7291153" y="6185534"/>
            <a:ext cx="1588347" cy="51752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3200">
                <a:solidFill>
                  <a:srgbClr val="FF0000"/>
                </a:solidFill>
                <a:latin typeface="Calibri"/>
                <a:ea typeface="Calibri"/>
                <a:cs typeface="Calibri"/>
                <a:sym typeface="Calibri"/>
              </a:rPr>
              <a:t>not cat</a:t>
            </a:r>
            <a:endParaRPr sz="3200">
              <a:latin typeface="Calibri"/>
              <a:ea typeface="Calibri"/>
              <a:cs typeface="Calibri"/>
              <a:sym typeface="Calibri"/>
            </a:endParaRPr>
          </a:p>
        </p:txBody>
      </p:sp>
      <p:pic>
        <p:nvPicPr>
          <p:cNvPr id="629" name="Google Shape;629;g3292fd40077_1_339"/>
          <p:cNvPicPr preferRelativeResize="0"/>
          <p:nvPr/>
        </p:nvPicPr>
        <p:blipFill rotWithShape="1">
          <a:blip r:embed="rId5">
            <a:alphaModFix/>
          </a:blip>
          <a:srcRect/>
          <a:stretch/>
        </p:blipFill>
        <p:spPr>
          <a:xfrm>
            <a:off x="6477000" y="4562475"/>
            <a:ext cx="2514600" cy="1666875"/>
          </a:xfrm>
          <a:prstGeom prst="rect">
            <a:avLst/>
          </a:prstGeom>
          <a:noFill/>
          <a:ln>
            <a:noFill/>
          </a:ln>
        </p:spPr>
      </p:pic>
      <p:pic>
        <p:nvPicPr>
          <p:cNvPr id="630" name="Google Shape;630;g3292fd40077_1_339"/>
          <p:cNvPicPr preferRelativeResize="0"/>
          <p:nvPr/>
        </p:nvPicPr>
        <p:blipFill rotWithShape="1">
          <a:blip r:embed="rId6">
            <a:alphaModFix/>
          </a:blip>
          <a:srcRect/>
          <a:stretch/>
        </p:blipFill>
        <p:spPr>
          <a:xfrm>
            <a:off x="2133600" y="4600575"/>
            <a:ext cx="2133600" cy="1600200"/>
          </a:xfrm>
          <a:prstGeom prst="rect">
            <a:avLst/>
          </a:prstGeom>
          <a:noFill/>
          <a:ln>
            <a:noFill/>
          </a:ln>
        </p:spPr>
      </p:pic>
      <p:sp>
        <p:nvSpPr>
          <p:cNvPr id="631" name="Google Shape;631;g3292fd40077_1_339"/>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635"/>
        <p:cNvGrpSpPr/>
        <p:nvPr/>
      </p:nvGrpSpPr>
      <p:grpSpPr>
        <a:xfrm>
          <a:off x="0" y="0"/>
          <a:ext cx="0" cy="0"/>
          <a:chOff x="0" y="0"/>
          <a:chExt cx="0" cy="0"/>
        </a:xfrm>
      </p:grpSpPr>
      <p:sp>
        <p:nvSpPr>
          <p:cNvPr id="636" name="Google Shape;636;g3292fd40077_1_350"/>
          <p:cNvSpPr txBox="1">
            <a:spLocks noGrp="1"/>
          </p:cNvSpPr>
          <p:nvPr>
            <p:ph type="title"/>
          </p:nvPr>
        </p:nvSpPr>
        <p:spPr>
          <a:xfrm>
            <a:off x="3602227" y="166624"/>
            <a:ext cx="5004647" cy="70104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a:t>Linear classifiers</a:t>
            </a:r>
            <a:endParaRPr/>
          </a:p>
        </p:txBody>
      </p:sp>
      <p:sp>
        <p:nvSpPr>
          <p:cNvPr id="637" name="Google Shape;637;g3292fd40077_1_350"/>
          <p:cNvSpPr txBox="1"/>
          <p:nvPr/>
        </p:nvSpPr>
        <p:spPr>
          <a:xfrm>
            <a:off x="1020656" y="920114"/>
            <a:ext cx="10346267" cy="1004569"/>
          </a:xfrm>
          <a:prstGeom prst="rect">
            <a:avLst/>
          </a:prstGeom>
          <a:noFill/>
          <a:ln>
            <a:noFill/>
          </a:ln>
        </p:spPr>
        <p:txBody>
          <a:bodyPr spcFirstLastPara="1" wrap="square" lIns="0" tIns="31100" rIns="0" bIns="0" anchor="t" anchorCtr="0">
            <a:spAutoFit/>
          </a:bodyPr>
          <a:lstStyle/>
          <a:p>
            <a:pPr marL="355600" marR="5080" lvl="0" indent="-343535" algn="l" rtl="0">
              <a:lnSpc>
                <a:spcPct val="119656"/>
              </a:lnSpc>
              <a:spcBef>
                <a:spcPts val="0"/>
              </a:spcBef>
              <a:spcAft>
                <a:spcPts val="0"/>
              </a:spcAft>
              <a:buSzPts val="3200"/>
              <a:buFont typeface="Calibri"/>
              <a:buChar char="•"/>
            </a:pPr>
            <a:r>
              <a:rPr lang="en-US" sz="3200">
                <a:latin typeface="Calibri"/>
                <a:ea typeface="Calibri"/>
                <a:cs typeface="Calibri"/>
                <a:sym typeface="Calibri"/>
              </a:rPr>
              <a:t>Find linear function (</a:t>
            </a:r>
            <a:r>
              <a:rPr lang="en-US" sz="3200" i="1">
                <a:latin typeface="Calibri"/>
                <a:ea typeface="Calibri"/>
                <a:cs typeface="Calibri"/>
                <a:sym typeface="Calibri"/>
              </a:rPr>
              <a:t>hyperplane</a:t>
            </a:r>
            <a:r>
              <a:rPr lang="en-US" sz="3200">
                <a:latin typeface="Calibri"/>
                <a:ea typeface="Calibri"/>
                <a:cs typeface="Calibri"/>
                <a:sym typeface="Calibri"/>
              </a:rPr>
              <a:t>) to separate positive and negative examples</a:t>
            </a:r>
            <a:endParaRPr sz="3200">
              <a:latin typeface="Calibri"/>
              <a:ea typeface="Calibri"/>
              <a:cs typeface="Calibri"/>
              <a:sym typeface="Calibri"/>
            </a:endParaRPr>
          </a:p>
        </p:txBody>
      </p:sp>
      <p:sp>
        <p:nvSpPr>
          <p:cNvPr id="638" name="Google Shape;638;g3292fd40077_1_350"/>
          <p:cNvSpPr txBox="1"/>
          <p:nvPr/>
        </p:nvSpPr>
        <p:spPr>
          <a:xfrm>
            <a:off x="9273789" y="2173118"/>
            <a:ext cx="2084493" cy="951865"/>
          </a:xfrm>
          <a:prstGeom prst="rect">
            <a:avLst/>
          </a:prstGeom>
          <a:noFill/>
          <a:ln>
            <a:noFill/>
          </a:ln>
        </p:spPr>
        <p:txBody>
          <a:bodyPr spcFirstLastPara="1" wrap="square" lIns="0" tIns="109850" rIns="0" bIns="0" anchor="t" anchorCtr="0">
            <a:spAutoFit/>
          </a:bodyPr>
          <a:lstStyle/>
          <a:p>
            <a:pPr marL="38100" lvl="0" indent="0" algn="l" rtl="0">
              <a:lnSpc>
                <a:spcPct val="100000"/>
              </a:lnSpc>
              <a:spcBef>
                <a:spcPts val="0"/>
              </a:spcBef>
              <a:spcAft>
                <a:spcPts val="0"/>
              </a:spcAft>
              <a:buNone/>
            </a:pPr>
            <a:r>
              <a:rPr lang="en-US" sz="2400" b="1">
                <a:latin typeface="Times New Roman"/>
                <a:ea typeface="Times New Roman"/>
                <a:cs typeface="Times New Roman"/>
                <a:sym typeface="Times New Roman"/>
              </a:rPr>
              <a:t>x</a:t>
            </a:r>
            <a:r>
              <a:rPr lang="en-US" sz="2100" i="1" baseline="-25000">
                <a:latin typeface="Times New Roman"/>
                <a:ea typeface="Times New Roman"/>
                <a:cs typeface="Times New Roman"/>
                <a:sym typeface="Times New Roman"/>
              </a:rPr>
              <a:t>i </a:t>
            </a:r>
            <a:r>
              <a:rPr lang="en-US" sz="2400">
                <a:latin typeface="Noto Sans Symbols"/>
                <a:ea typeface="Noto Sans Symbols"/>
                <a:cs typeface="Noto Sans Symbols"/>
                <a:sym typeface="Noto Sans Symbols"/>
              </a:rPr>
              <a:t>⋅</a:t>
            </a:r>
            <a:r>
              <a:rPr lang="en-US" sz="2400">
                <a:latin typeface="Times New Roman"/>
                <a:ea typeface="Times New Roman"/>
                <a:cs typeface="Times New Roman"/>
                <a:sym typeface="Times New Roman"/>
              </a:rPr>
              <a:t> </a:t>
            </a:r>
            <a:r>
              <a:rPr lang="en-US" sz="2400" b="1">
                <a:latin typeface="Times New Roman"/>
                <a:ea typeface="Times New Roman"/>
                <a:cs typeface="Times New Roman"/>
                <a:sym typeface="Times New Roman"/>
              </a:rPr>
              <a:t>w </a:t>
            </a:r>
            <a:r>
              <a:rPr lang="en-US" sz="2400">
                <a:latin typeface="Noto Sans Symbols"/>
                <a:ea typeface="Noto Sans Symbols"/>
                <a:cs typeface="Noto Sans Symbols"/>
                <a:sym typeface="Noto Sans Symbols"/>
              </a:rPr>
              <a:t>+</a:t>
            </a:r>
            <a:r>
              <a:rPr lang="en-US" sz="2400">
                <a:latin typeface="Times New Roman"/>
                <a:ea typeface="Times New Roman"/>
                <a:cs typeface="Times New Roman"/>
                <a:sym typeface="Times New Roman"/>
              </a:rPr>
              <a:t> </a:t>
            </a:r>
            <a:r>
              <a:rPr lang="en-US" sz="2400" i="1">
                <a:latin typeface="Times New Roman"/>
                <a:ea typeface="Times New Roman"/>
                <a:cs typeface="Times New Roman"/>
                <a:sym typeface="Times New Roman"/>
              </a:rPr>
              <a:t>b </a:t>
            </a:r>
            <a:r>
              <a:rPr lang="en-US" sz="2400">
                <a:latin typeface="Noto Sans Symbols"/>
                <a:ea typeface="Noto Sans Symbols"/>
                <a:cs typeface="Noto Sans Symbols"/>
                <a:sym typeface="Noto Sans Symbols"/>
              </a:rPr>
              <a:t>≥</a:t>
            </a:r>
            <a:r>
              <a:rPr lang="en-US" sz="2400">
                <a:latin typeface="Times New Roman"/>
                <a:ea typeface="Times New Roman"/>
                <a:cs typeface="Times New Roman"/>
                <a:sym typeface="Times New Roman"/>
              </a:rPr>
              <a:t> 0</a:t>
            </a:r>
            <a:endParaRPr sz="2400">
              <a:latin typeface="Times New Roman"/>
              <a:ea typeface="Times New Roman"/>
              <a:cs typeface="Times New Roman"/>
              <a:sym typeface="Times New Roman"/>
            </a:endParaRPr>
          </a:p>
          <a:p>
            <a:pPr marL="41910" lvl="0" indent="0" algn="l" rtl="0">
              <a:lnSpc>
                <a:spcPct val="100000"/>
              </a:lnSpc>
              <a:spcBef>
                <a:spcPts val="770"/>
              </a:spcBef>
              <a:spcAft>
                <a:spcPts val="0"/>
              </a:spcAft>
              <a:buNone/>
            </a:pPr>
            <a:r>
              <a:rPr lang="en-US" sz="2400" b="1">
                <a:latin typeface="Times New Roman"/>
                <a:ea typeface="Times New Roman"/>
                <a:cs typeface="Times New Roman"/>
                <a:sym typeface="Times New Roman"/>
              </a:rPr>
              <a:t>x</a:t>
            </a:r>
            <a:r>
              <a:rPr lang="en-US" sz="2100" i="1" baseline="-25000">
                <a:latin typeface="Times New Roman"/>
                <a:ea typeface="Times New Roman"/>
                <a:cs typeface="Times New Roman"/>
                <a:sym typeface="Times New Roman"/>
              </a:rPr>
              <a:t>i </a:t>
            </a:r>
            <a:r>
              <a:rPr lang="en-US" sz="2400">
                <a:latin typeface="Noto Sans Symbols"/>
                <a:ea typeface="Noto Sans Symbols"/>
                <a:cs typeface="Noto Sans Symbols"/>
                <a:sym typeface="Noto Sans Symbols"/>
              </a:rPr>
              <a:t>⋅</a:t>
            </a:r>
            <a:r>
              <a:rPr lang="en-US" sz="2400">
                <a:latin typeface="Times New Roman"/>
                <a:ea typeface="Times New Roman"/>
                <a:cs typeface="Times New Roman"/>
                <a:sym typeface="Times New Roman"/>
              </a:rPr>
              <a:t> </a:t>
            </a:r>
            <a:r>
              <a:rPr lang="en-US" sz="2400" b="1">
                <a:latin typeface="Times New Roman"/>
                <a:ea typeface="Times New Roman"/>
                <a:cs typeface="Times New Roman"/>
                <a:sym typeface="Times New Roman"/>
              </a:rPr>
              <a:t>w </a:t>
            </a:r>
            <a:r>
              <a:rPr lang="en-US" sz="2400">
                <a:latin typeface="Noto Sans Symbols"/>
                <a:ea typeface="Noto Sans Symbols"/>
                <a:cs typeface="Noto Sans Symbols"/>
                <a:sym typeface="Noto Sans Symbols"/>
              </a:rPr>
              <a:t>+</a:t>
            </a:r>
            <a:r>
              <a:rPr lang="en-US" sz="2400">
                <a:latin typeface="Times New Roman"/>
                <a:ea typeface="Times New Roman"/>
                <a:cs typeface="Times New Roman"/>
                <a:sym typeface="Times New Roman"/>
              </a:rPr>
              <a:t> </a:t>
            </a:r>
            <a:r>
              <a:rPr lang="en-US" sz="2400" i="1">
                <a:latin typeface="Times New Roman"/>
                <a:ea typeface="Times New Roman"/>
                <a:cs typeface="Times New Roman"/>
                <a:sym typeface="Times New Roman"/>
              </a:rPr>
              <a:t>b </a:t>
            </a:r>
            <a:r>
              <a:rPr lang="en-US" sz="2400">
                <a:latin typeface="Noto Sans Symbols"/>
                <a:ea typeface="Noto Sans Symbols"/>
                <a:cs typeface="Noto Sans Symbols"/>
                <a:sym typeface="Noto Sans Symbols"/>
              </a:rPr>
              <a:t>&lt;</a:t>
            </a:r>
            <a:r>
              <a:rPr lang="en-US" sz="2400">
                <a:latin typeface="Times New Roman"/>
                <a:ea typeface="Times New Roman"/>
                <a:cs typeface="Times New Roman"/>
                <a:sym typeface="Times New Roman"/>
              </a:rPr>
              <a:t> 0</a:t>
            </a:r>
            <a:endParaRPr sz="2400">
              <a:latin typeface="Times New Roman"/>
              <a:ea typeface="Times New Roman"/>
              <a:cs typeface="Times New Roman"/>
              <a:sym typeface="Times New Roman"/>
            </a:endParaRPr>
          </a:p>
        </p:txBody>
      </p:sp>
      <p:sp>
        <p:nvSpPr>
          <p:cNvPr id="639" name="Google Shape;639;g3292fd40077_1_350"/>
          <p:cNvSpPr txBox="1"/>
          <p:nvPr/>
        </p:nvSpPr>
        <p:spPr>
          <a:xfrm>
            <a:off x="6918456" y="2173118"/>
            <a:ext cx="2004060" cy="951865"/>
          </a:xfrm>
          <a:prstGeom prst="rect">
            <a:avLst/>
          </a:prstGeom>
          <a:noFill/>
          <a:ln>
            <a:noFill/>
          </a:ln>
        </p:spPr>
        <p:txBody>
          <a:bodyPr spcFirstLastPara="1" wrap="square" lIns="0" tIns="109850" rIns="0" bIns="0" anchor="t" anchorCtr="0">
            <a:spAutoFit/>
          </a:bodyPr>
          <a:lstStyle/>
          <a:p>
            <a:pPr marL="38100" lvl="0" indent="0" algn="l" rtl="0">
              <a:lnSpc>
                <a:spcPct val="100000"/>
              </a:lnSpc>
              <a:spcBef>
                <a:spcPts val="0"/>
              </a:spcBef>
              <a:spcAft>
                <a:spcPts val="0"/>
              </a:spcAft>
              <a:buNone/>
            </a:pPr>
            <a:r>
              <a:rPr lang="en-US" sz="2400" b="1">
                <a:latin typeface="Times New Roman"/>
                <a:ea typeface="Times New Roman"/>
                <a:cs typeface="Times New Roman"/>
                <a:sym typeface="Times New Roman"/>
              </a:rPr>
              <a:t>x</a:t>
            </a:r>
            <a:r>
              <a:rPr lang="en-US" sz="2100" i="1" baseline="-25000">
                <a:latin typeface="Times New Roman"/>
                <a:ea typeface="Times New Roman"/>
                <a:cs typeface="Times New Roman"/>
                <a:sym typeface="Times New Roman"/>
              </a:rPr>
              <a:t>i </a:t>
            </a:r>
            <a:r>
              <a:rPr lang="en-US" sz="2400">
                <a:latin typeface="Times New Roman"/>
                <a:ea typeface="Times New Roman"/>
                <a:cs typeface="Times New Roman"/>
                <a:sym typeface="Times New Roman"/>
              </a:rPr>
              <a:t>positive :</a:t>
            </a:r>
            <a:endParaRPr sz="2400">
              <a:latin typeface="Times New Roman"/>
              <a:ea typeface="Times New Roman"/>
              <a:cs typeface="Times New Roman"/>
              <a:sym typeface="Times New Roman"/>
            </a:endParaRPr>
          </a:p>
          <a:p>
            <a:pPr marL="38100" lvl="0" indent="0" algn="l" rtl="0">
              <a:lnSpc>
                <a:spcPct val="100000"/>
              </a:lnSpc>
              <a:spcBef>
                <a:spcPts val="770"/>
              </a:spcBef>
              <a:spcAft>
                <a:spcPts val="0"/>
              </a:spcAft>
              <a:buNone/>
            </a:pPr>
            <a:r>
              <a:rPr lang="en-US" sz="2400" b="1">
                <a:latin typeface="Times New Roman"/>
                <a:ea typeface="Times New Roman"/>
                <a:cs typeface="Times New Roman"/>
                <a:sym typeface="Times New Roman"/>
              </a:rPr>
              <a:t>x</a:t>
            </a:r>
            <a:r>
              <a:rPr lang="en-US" sz="2100" i="1" baseline="-25000">
                <a:latin typeface="Times New Roman"/>
                <a:ea typeface="Times New Roman"/>
                <a:cs typeface="Times New Roman"/>
                <a:sym typeface="Times New Roman"/>
              </a:rPr>
              <a:t>i </a:t>
            </a:r>
            <a:r>
              <a:rPr lang="en-US" sz="2400">
                <a:latin typeface="Times New Roman"/>
                <a:ea typeface="Times New Roman"/>
                <a:cs typeface="Times New Roman"/>
                <a:sym typeface="Times New Roman"/>
              </a:rPr>
              <a:t>negative :</a:t>
            </a:r>
            <a:endParaRPr sz="2400">
              <a:latin typeface="Times New Roman"/>
              <a:ea typeface="Times New Roman"/>
              <a:cs typeface="Times New Roman"/>
              <a:sym typeface="Times New Roman"/>
            </a:endParaRPr>
          </a:p>
        </p:txBody>
      </p:sp>
      <p:pic>
        <p:nvPicPr>
          <p:cNvPr id="640" name="Google Shape;640;g3292fd40077_1_350"/>
          <p:cNvPicPr preferRelativeResize="0"/>
          <p:nvPr/>
        </p:nvPicPr>
        <p:blipFill rotWithShape="1">
          <a:blip r:embed="rId3">
            <a:alphaModFix/>
          </a:blip>
          <a:srcRect/>
          <a:stretch/>
        </p:blipFill>
        <p:spPr>
          <a:xfrm>
            <a:off x="1117593" y="3962458"/>
            <a:ext cx="161934" cy="161934"/>
          </a:xfrm>
          <a:prstGeom prst="rect">
            <a:avLst/>
          </a:prstGeom>
          <a:noFill/>
          <a:ln>
            <a:noFill/>
          </a:ln>
        </p:spPr>
      </p:pic>
      <p:grpSp>
        <p:nvGrpSpPr>
          <p:cNvPr id="641" name="Google Shape;641;g3292fd40077_1_350"/>
          <p:cNvGrpSpPr/>
          <p:nvPr/>
        </p:nvGrpSpPr>
        <p:grpSpPr>
          <a:xfrm>
            <a:off x="1828800" y="2133658"/>
            <a:ext cx="5600789" cy="4200471"/>
            <a:chOff x="1371600" y="2133658"/>
            <a:chExt cx="4200592" cy="4200471"/>
          </a:xfrm>
        </p:grpSpPr>
        <p:pic>
          <p:nvPicPr>
            <p:cNvPr id="642" name="Google Shape;642;g3292fd40077_1_350"/>
            <p:cNvPicPr preferRelativeResize="0"/>
            <p:nvPr/>
          </p:nvPicPr>
          <p:blipFill rotWithShape="1">
            <a:blip r:embed="rId4">
              <a:alphaModFix/>
            </a:blip>
            <a:srcRect/>
            <a:stretch/>
          </p:blipFill>
          <p:spPr>
            <a:xfrm>
              <a:off x="1524058" y="4038658"/>
              <a:ext cx="161934" cy="161934"/>
            </a:xfrm>
            <a:prstGeom prst="rect">
              <a:avLst/>
            </a:prstGeom>
            <a:noFill/>
            <a:ln>
              <a:noFill/>
            </a:ln>
          </p:spPr>
        </p:pic>
        <p:pic>
          <p:nvPicPr>
            <p:cNvPr id="643" name="Google Shape;643;g3292fd40077_1_350"/>
            <p:cNvPicPr preferRelativeResize="0"/>
            <p:nvPr/>
          </p:nvPicPr>
          <p:blipFill rotWithShape="1">
            <a:blip r:embed="rId4">
              <a:alphaModFix/>
            </a:blip>
            <a:srcRect/>
            <a:stretch/>
          </p:blipFill>
          <p:spPr>
            <a:xfrm>
              <a:off x="1524058" y="4724458"/>
              <a:ext cx="161934" cy="161934"/>
            </a:xfrm>
            <a:prstGeom prst="rect">
              <a:avLst/>
            </a:prstGeom>
            <a:noFill/>
            <a:ln>
              <a:noFill/>
            </a:ln>
          </p:spPr>
        </p:pic>
        <p:pic>
          <p:nvPicPr>
            <p:cNvPr id="644" name="Google Shape;644;g3292fd40077_1_350"/>
            <p:cNvPicPr preferRelativeResize="0"/>
            <p:nvPr/>
          </p:nvPicPr>
          <p:blipFill rotWithShape="1">
            <a:blip r:embed="rId4">
              <a:alphaModFix/>
            </a:blip>
            <a:srcRect/>
            <a:stretch/>
          </p:blipFill>
          <p:spPr>
            <a:xfrm>
              <a:off x="2286058" y="4114858"/>
              <a:ext cx="161934" cy="161934"/>
            </a:xfrm>
            <a:prstGeom prst="rect">
              <a:avLst/>
            </a:prstGeom>
            <a:noFill/>
            <a:ln>
              <a:noFill/>
            </a:ln>
          </p:spPr>
        </p:pic>
        <p:pic>
          <p:nvPicPr>
            <p:cNvPr id="645" name="Google Shape;645;g3292fd40077_1_350"/>
            <p:cNvPicPr preferRelativeResize="0"/>
            <p:nvPr/>
          </p:nvPicPr>
          <p:blipFill rotWithShape="1">
            <a:blip r:embed="rId4">
              <a:alphaModFix/>
            </a:blip>
            <a:srcRect/>
            <a:stretch/>
          </p:blipFill>
          <p:spPr>
            <a:xfrm>
              <a:off x="2895658" y="4953058"/>
              <a:ext cx="161934" cy="161934"/>
            </a:xfrm>
            <a:prstGeom prst="rect">
              <a:avLst/>
            </a:prstGeom>
            <a:noFill/>
            <a:ln>
              <a:noFill/>
            </a:ln>
          </p:spPr>
        </p:pic>
        <p:pic>
          <p:nvPicPr>
            <p:cNvPr id="646" name="Google Shape;646;g3292fd40077_1_350"/>
            <p:cNvPicPr preferRelativeResize="0"/>
            <p:nvPr/>
          </p:nvPicPr>
          <p:blipFill rotWithShape="1">
            <a:blip r:embed="rId5">
              <a:alphaModFix/>
            </a:blip>
            <a:srcRect/>
            <a:stretch/>
          </p:blipFill>
          <p:spPr>
            <a:xfrm>
              <a:off x="3124258" y="3048058"/>
              <a:ext cx="161934" cy="161934"/>
            </a:xfrm>
            <a:prstGeom prst="rect">
              <a:avLst/>
            </a:prstGeom>
            <a:noFill/>
            <a:ln>
              <a:noFill/>
            </a:ln>
          </p:spPr>
        </p:pic>
        <p:pic>
          <p:nvPicPr>
            <p:cNvPr id="647" name="Google Shape;647;g3292fd40077_1_350"/>
            <p:cNvPicPr preferRelativeResize="0"/>
            <p:nvPr/>
          </p:nvPicPr>
          <p:blipFill rotWithShape="1">
            <a:blip r:embed="rId5">
              <a:alphaModFix/>
            </a:blip>
            <a:srcRect/>
            <a:stretch/>
          </p:blipFill>
          <p:spPr>
            <a:xfrm>
              <a:off x="3886258" y="3352858"/>
              <a:ext cx="161934" cy="161934"/>
            </a:xfrm>
            <a:prstGeom prst="rect">
              <a:avLst/>
            </a:prstGeom>
            <a:noFill/>
            <a:ln>
              <a:noFill/>
            </a:ln>
          </p:spPr>
        </p:pic>
        <p:pic>
          <p:nvPicPr>
            <p:cNvPr id="648" name="Google Shape;648;g3292fd40077_1_350"/>
            <p:cNvPicPr preferRelativeResize="0"/>
            <p:nvPr/>
          </p:nvPicPr>
          <p:blipFill rotWithShape="1">
            <a:blip r:embed="rId5">
              <a:alphaModFix/>
            </a:blip>
            <a:srcRect/>
            <a:stretch/>
          </p:blipFill>
          <p:spPr>
            <a:xfrm>
              <a:off x="4114858" y="4038658"/>
              <a:ext cx="161934" cy="161934"/>
            </a:xfrm>
            <a:prstGeom prst="rect">
              <a:avLst/>
            </a:prstGeom>
            <a:noFill/>
            <a:ln>
              <a:noFill/>
            </a:ln>
          </p:spPr>
        </p:pic>
        <p:pic>
          <p:nvPicPr>
            <p:cNvPr id="649" name="Google Shape;649;g3292fd40077_1_350"/>
            <p:cNvPicPr preferRelativeResize="0"/>
            <p:nvPr/>
          </p:nvPicPr>
          <p:blipFill rotWithShape="1">
            <a:blip r:embed="rId5">
              <a:alphaModFix/>
            </a:blip>
            <a:srcRect/>
            <a:stretch/>
          </p:blipFill>
          <p:spPr>
            <a:xfrm>
              <a:off x="3429058" y="4038658"/>
              <a:ext cx="161934" cy="161934"/>
            </a:xfrm>
            <a:prstGeom prst="rect">
              <a:avLst/>
            </a:prstGeom>
            <a:noFill/>
            <a:ln>
              <a:noFill/>
            </a:ln>
          </p:spPr>
        </p:pic>
        <p:pic>
          <p:nvPicPr>
            <p:cNvPr id="650" name="Google Shape;650;g3292fd40077_1_350"/>
            <p:cNvPicPr preferRelativeResize="0"/>
            <p:nvPr/>
          </p:nvPicPr>
          <p:blipFill rotWithShape="1">
            <a:blip r:embed="rId5">
              <a:alphaModFix/>
            </a:blip>
            <a:srcRect/>
            <a:stretch/>
          </p:blipFill>
          <p:spPr>
            <a:xfrm>
              <a:off x="2667058" y="2743258"/>
              <a:ext cx="161934" cy="161934"/>
            </a:xfrm>
            <a:prstGeom prst="rect">
              <a:avLst/>
            </a:prstGeom>
            <a:noFill/>
            <a:ln>
              <a:noFill/>
            </a:ln>
          </p:spPr>
        </p:pic>
        <p:pic>
          <p:nvPicPr>
            <p:cNvPr id="651" name="Google Shape;651;g3292fd40077_1_350"/>
            <p:cNvPicPr preferRelativeResize="0"/>
            <p:nvPr/>
          </p:nvPicPr>
          <p:blipFill rotWithShape="1">
            <a:blip r:embed="rId5">
              <a:alphaModFix/>
            </a:blip>
            <a:srcRect/>
            <a:stretch/>
          </p:blipFill>
          <p:spPr>
            <a:xfrm>
              <a:off x="4724458" y="4800658"/>
              <a:ext cx="161934" cy="161934"/>
            </a:xfrm>
            <a:prstGeom prst="rect">
              <a:avLst/>
            </a:prstGeom>
            <a:noFill/>
            <a:ln>
              <a:noFill/>
            </a:ln>
          </p:spPr>
        </p:pic>
        <p:pic>
          <p:nvPicPr>
            <p:cNvPr id="652" name="Google Shape;652;g3292fd40077_1_350"/>
            <p:cNvPicPr preferRelativeResize="0"/>
            <p:nvPr/>
          </p:nvPicPr>
          <p:blipFill rotWithShape="1">
            <a:blip r:embed="rId5">
              <a:alphaModFix/>
            </a:blip>
            <a:srcRect/>
            <a:stretch/>
          </p:blipFill>
          <p:spPr>
            <a:xfrm>
              <a:off x="4953058" y="3657658"/>
              <a:ext cx="161934" cy="161934"/>
            </a:xfrm>
            <a:prstGeom prst="rect">
              <a:avLst/>
            </a:prstGeom>
            <a:noFill/>
            <a:ln>
              <a:noFill/>
            </a:ln>
          </p:spPr>
        </p:pic>
        <p:pic>
          <p:nvPicPr>
            <p:cNvPr id="653" name="Google Shape;653;g3292fd40077_1_350"/>
            <p:cNvPicPr preferRelativeResize="0"/>
            <p:nvPr/>
          </p:nvPicPr>
          <p:blipFill rotWithShape="1">
            <a:blip r:embed="rId6">
              <a:alphaModFix/>
            </a:blip>
            <a:srcRect/>
            <a:stretch/>
          </p:blipFill>
          <p:spPr>
            <a:xfrm>
              <a:off x="2286058" y="5714995"/>
              <a:ext cx="161934" cy="161934"/>
            </a:xfrm>
            <a:prstGeom prst="rect">
              <a:avLst/>
            </a:prstGeom>
            <a:noFill/>
            <a:ln>
              <a:noFill/>
            </a:ln>
          </p:spPr>
        </p:pic>
        <p:pic>
          <p:nvPicPr>
            <p:cNvPr id="654" name="Google Shape;654;g3292fd40077_1_350"/>
            <p:cNvPicPr preferRelativeResize="0"/>
            <p:nvPr/>
          </p:nvPicPr>
          <p:blipFill rotWithShape="1">
            <a:blip r:embed="rId5">
              <a:alphaModFix/>
            </a:blip>
            <a:srcRect/>
            <a:stretch/>
          </p:blipFill>
          <p:spPr>
            <a:xfrm>
              <a:off x="4114858" y="2514658"/>
              <a:ext cx="161934" cy="161934"/>
            </a:xfrm>
            <a:prstGeom prst="rect">
              <a:avLst/>
            </a:prstGeom>
            <a:noFill/>
            <a:ln>
              <a:noFill/>
            </a:ln>
          </p:spPr>
        </p:pic>
        <p:pic>
          <p:nvPicPr>
            <p:cNvPr id="655" name="Google Shape;655;g3292fd40077_1_350"/>
            <p:cNvPicPr preferRelativeResize="0"/>
            <p:nvPr/>
          </p:nvPicPr>
          <p:blipFill rotWithShape="1">
            <a:blip r:embed="rId5">
              <a:alphaModFix/>
            </a:blip>
            <a:srcRect/>
            <a:stretch/>
          </p:blipFill>
          <p:spPr>
            <a:xfrm>
              <a:off x="5410258" y="4572058"/>
              <a:ext cx="161934" cy="161934"/>
            </a:xfrm>
            <a:prstGeom prst="rect">
              <a:avLst/>
            </a:prstGeom>
            <a:noFill/>
            <a:ln>
              <a:noFill/>
            </a:ln>
          </p:spPr>
        </p:pic>
        <p:sp>
          <p:nvSpPr>
            <p:cNvPr id="656" name="Google Shape;656;g3292fd40077_1_350"/>
            <p:cNvSpPr/>
            <p:nvPr/>
          </p:nvSpPr>
          <p:spPr>
            <a:xfrm>
              <a:off x="1371600" y="2743200"/>
              <a:ext cx="3581400" cy="3581400"/>
            </a:xfrm>
            <a:custGeom>
              <a:avLst/>
              <a:gdLst/>
              <a:ahLst/>
              <a:cxnLst/>
              <a:rect l="l" t="t" r="r" b="b"/>
              <a:pathLst>
                <a:path w="3581400" h="3581400" extrusionOk="0">
                  <a:moveTo>
                    <a:pt x="0" y="0"/>
                  </a:moveTo>
                  <a:lnTo>
                    <a:pt x="3581400" y="3581400"/>
                  </a:lnTo>
                </a:path>
              </a:pathLst>
            </a:custGeom>
            <a:noFill/>
            <a:ln w="38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657" name="Google Shape;657;g3292fd40077_1_350"/>
            <p:cNvPicPr preferRelativeResize="0"/>
            <p:nvPr/>
          </p:nvPicPr>
          <p:blipFill rotWithShape="1">
            <a:blip r:embed="rId5">
              <a:alphaModFix/>
            </a:blip>
            <a:srcRect/>
            <a:stretch/>
          </p:blipFill>
          <p:spPr>
            <a:xfrm>
              <a:off x="2971858" y="2133658"/>
              <a:ext cx="161934" cy="161934"/>
            </a:xfrm>
            <a:prstGeom prst="rect">
              <a:avLst/>
            </a:prstGeom>
            <a:noFill/>
            <a:ln>
              <a:noFill/>
            </a:ln>
          </p:spPr>
        </p:pic>
        <p:pic>
          <p:nvPicPr>
            <p:cNvPr id="658" name="Google Shape;658;g3292fd40077_1_350"/>
            <p:cNvPicPr preferRelativeResize="0"/>
            <p:nvPr/>
          </p:nvPicPr>
          <p:blipFill rotWithShape="1">
            <a:blip r:embed="rId6">
              <a:alphaModFix/>
            </a:blip>
            <a:srcRect/>
            <a:stretch/>
          </p:blipFill>
          <p:spPr>
            <a:xfrm>
              <a:off x="3124258" y="6172195"/>
              <a:ext cx="161934" cy="161934"/>
            </a:xfrm>
            <a:prstGeom prst="rect">
              <a:avLst/>
            </a:prstGeom>
            <a:noFill/>
            <a:ln>
              <a:noFill/>
            </a:ln>
          </p:spPr>
        </p:pic>
      </p:grpSp>
      <p:pic>
        <p:nvPicPr>
          <p:cNvPr id="659" name="Google Shape;659;g3292fd40077_1_350"/>
          <p:cNvPicPr preferRelativeResize="0"/>
          <p:nvPr/>
        </p:nvPicPr>
        <p:blipFill rotWithShape="1">
          <a:blip r:embed="rId3">
            <a:alphaModFix/>
          </a:blip>
          <a:srcRect/>
          <a:stretch/>
        </p:blipFill>
        <p:spPr>
          <a:xfrm>
            <a:off x="1015993" y="4267258"/>
            <a:ext cx="161934" cy="161934"/>
          </a:xfrm>
          <a:prstGeom prst="rect">
            <a:avLst/>
          </a:prstGeom>
          <a:noFill/>
          <a:ln>
            <a:noFill/>
          </a:ln>
        </p:spPr>
      </p:pic>
      <p:sp>
        <p:nvSpPr>
          <p:cNvPr id="660" name="Google Shape;660;g3292fd40077_1_350"/>
          <p:cNvSpPr txBox="1"/>
          <p:nvPr/>
        </p:nvSpPr>
        <p:spPr>
          <a:xfrm>
            <a:off x="7314353" y="5603240"/>
            <a:ext cx="4481405" cy="1126490"/>
          </a:xfrm>
          <a:prstGeom prst="rect">
            <a:avLst/>
          </a:prstGeom>
          <a:noFill/>
          <a:ln>
            <a:noFill/>
          </a:ln>
        </p:spPr>
        <p:txBody>
          <a:bodyPr spcFirstLastPara="1" wrap="square" lIns="0" tIns="11425" rIns="0" bIns="0" anchor="t" anchorCtr="0">
            <a:spAutoFit/>
          </a:bodyPr>
          <a:lstStyle/>
          <a:p>
            <a:pPr marL="12700" marR="5080" lvl="0" indent="-12065" algn="ctr" rtl="0">
              <a:lnSpc>
                <a:spcPct val="100400"/>
              </a:lnSpc>
              <a:spcBef>
                <a:spcPts val="0"/>
              </a:spcBef>
              <a:spcAft>
                <a:spcPts val="0"/>
              </a:spcAft>
              <a:buNone/>
            </a:pPr>
            <a:r>
              <a:rPr lang="en-US" sz="2400">
                <a:latin typeface="Calibri"/>
                <a:ea typeface="Calibri"/>
                <a:cs typeface="Calibri"/>
                <a:sym typeface="Calibri"/>
              </a:rPr>
              <a:t>Which hyperplane is best? We need a </a:t>
            </a:r>
            <a:r>
              <a:rPr lang="en-US" sz="2400" b="1">
                <a:latin typeface="Calibri"/>
                <a:ea typeface="Calibri"/>
                <a:cs typeface="Calibri"/>
                <a:sym typeface="Calibri"/>
              </a:rPr>
              <a:t>loss function </a:t>
            </a:r>
            <a:r>
              <a:rPr lang="en-US" sz="2400">
                <a:latin typeface="Calibri"/>
                <a:ea typeface="Calibri"/>
                <a:cs typeface="Calibri"/>
                <a:sym typeface="Calibri"/>
              </a:rPr>
              <a:t>to decide</a:t>
            </a:r>
            <a:endParaRPr sz="2400">
              <a:latin typeface="Calibri"/>
              <a:ea typeface="Calibri"/>
              <a:cs typeface="Calibri"/>
              <a:sym typeface="Calibri"/>
            </a:endParaRPr>
          </a:p>
        </p:txBody>
      </p:sp>
      <p:sp>
        <p:nvSpPr>
          <p:cNvPr id="661" name="Google Shape;661;g3292fd40077_1_350"/>
          <p:cNvSpPr/>
          <p:nvPr/>
        </p:nvSpPr>
        <p:spPr>
          <a:xfrm>
            <a:off x="1422400" y="1981200"/>
            <a:ext cx="5994400" cy="4648200"/>
          </a:xfrm>
          <a:custGeom>
            <a:avLst/>
            <a:gdLst/>
            <a:ahLst/>
            <a:cxnLst/>
            <a:rect l="l" t="t" r="r" b="b"/>
            <a:pathLst>
              <a:path w="4495800" h="4648200" extrusionOk="0">
                <a:moveTo>
                  <a:pt x="685800" y="381000"/>
                </a:moveTo>
                <a:lnTo>
                  <a:pt x="3124200" y="4419600"/>
                </a:lnTo>
              </a:path>
              <a:path w="4495800" h="4648200" extrusionOk="0">
                <a:moveTo>
                  <a:pt x="1219200" y="0"/>
                </a:moveTo>
                <a:lnTo>
                  <a:pt x="2667000" y="4648200"/>
                </a:lnTo>
              </a:path>
              <a:path w="4495800" h="4648200" extrusionOk="0">
                <a:moveTo>
                  <a:pt x="0" y="1295400"/>
                </a:moveTo>
                <a:lnTo>
                  <a:pt x="4495800" y="3657600"/>
                </a:lnTo>
              </a:path>
            </a:pathLst>
          </a:custGeom>
          <a:noFill/>
          <a:ln w="38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62" name="Google Shape;662;g3292fd40077_1_350"/>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666"/>
        <p:cNvGrpSpPr/>
        <p:nvPr/>
      </p:nvGrpSpPr>
      <p:grpSpPr>
        <a:xfrm>
          <a:off x="0" y="0"/>
          <a:ext cx="0" cy="0"/>
          <a:chOff x="0" y="0"/>
          <a:chExt cx="0" cy="0"/>
        </a:xfrm>
      </p:grpSpPr>
      <p:sp>
        <p:nvSpPr>
          <p:cNvPr id="667" name="Google Shape;667;g3292fd40077_1_379"/>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1022985" lvl="0" indent="0" algn="l" rtl="0">
              <a:lnSpc>
                <a:spcPct val="100000"/>
              </a:lnSpc>
              <a:spcBef>
                <a:spcPts val="0"/>
              </a:spcBef>
              <a:spcAft>
                <a:spcPts val="0"/>
              </a:spcAft>
              <a:buNone/>
            </a:pPr>
            <a:r>
              <a:rPr lang="en-US"/>
              <a:t>What is a good loss function?</a:t>
            </a:r>
            <a:endParaRPr/>
          </a:p>
        </p:txBody>
      </p:sp>
      <p:sp>
        <p:nvSpPr>
          <p:cNvPr id="668" name="Google Shape;668;g3292fd40077_1_379"/>
          <p:cNvSpPr txBox="1"/>
          <p:nvPr/>
        </p:nvSpPr>
        <p:spPr>
          <a:xfrm>
            <a:off x="715433" y="1503197"/>
            <a:ext cx="7529407" cy="1134745"/>
          </a:xfrm>
          <a:prstGeom prst="rect">
            <a:avLst/>
          </a:prstGeom>
          <a:noFill/>
          <a:ln>
            <a:noFill/>
          </a:ln>
        </p:spPr>
        <p:txBody>
          <a:bodyPr spcFirstLastPara="1" wrap="square" lIns="0" tIns="120000" rIns="0" bIns="0" anchor="t" anchorCtr="0">
            <a:spAutoFit/>
          </a:bodyPr>
          <a:lstStyle/>
          <a:p>
            <a:pPr marL="355600" lvl="0" indent="-342900" algn="l" rtl="0">
              <a:lnSpc>
                <a:spcPct val="100000"/>
              </a:lnSpc>
              <a:spcBef>
                <a:spcPts val="0"/>
              </a:spcBef>
              <a:spcAft>
                <a:spcPts val="0"/>
              </a:spcAft>
              <a:buSzPts val="3200"/>
              <a:buFont typeface="Arial"/>
              <a:buChar char="•"/>
            </a:pPr>
            <a:r>
              <a:rPr lang="en-US" sz="3200">
                <a:latin typeface="Calibri"/>
                <a:ea typeface="Calibri"/>
                <a:cs typeface="Calibri"/>
                <a:sym typeface="Calibri"/>
              </a:rPr>
              <a:t>One possibility</a:t>
            </a:r>
            <a:endParaRPr sz="3200">
              <a:latin typeface="Calibri"/>
              <a:ea typeface="Calibri"/>
              <a:cs typeface="Calibri"/>
              <a:sym typeface="Calibri"/>
            </a:endParaRPr>
          </a:p>
          <a:p>
            <a:pPr marL="469900" lvl="0" indent="0" algn="l" rtl="0">
              <a:lnSpc>
                <a:spcPct val="100000"/>
              </a:lnSpc>
              <a:spcBef>
                <a:spcPts val="740"/>
              </a:spcBef>
              <a:spcAft>
                <a:spcPts val="0"/>
              </a:spcAft>
              <a:buNone/>
            </a:pPr>
            <a:r>
              <a:rPr lang="en-US" sz="2750">
                <a:latin typeface="Arial"/>
                <a:ea typeface="Arial"/>
                <a:cs typeface="Arial"/>
                <a:sym typeface="Arial"/>
              </a:rPr>
              <a:t>– </a:t>
            </a:r>
            <a:r>
              <a:rPr lang="en-US" sz="2750">
                <a:latin typeface="Calibri"/>
                <a:ea typeface="Calibri"/>
                <a:cs typeface="Calibri"/>
                <a:sym typeface="Calibri"/>
              </a:rPr>
              <a:t>Number of misclassified examples</a:t>
            </a:r>
            <a:endParaRPr sz="2750">
              <a:latin typeface="Calibri"/>
              <a:ea typeface="Calibri"/>
              <a:cs typeface="Calibri"/>
              <a:sym typeface="Calibri"/>
            </a:endParaRPr>
          </a:p>
        </p:txBody>
      </p:sp>
      <p:sp>
        <p:nvSpPr>
          <p:cNvPr id="669" name="Google Shape;669;g3292fd40077_1_379"/>
          <p:cNvSpPr txBox="1"/>
          <p:nvPr/>
        </p:nvSpPr>
        <p:spPr>
          <a:xfrm>
            <a:off x="1325456" y="5186732"/>
            <a:ext cx="9852660" cy="1552575"/>
          </a:xfrm>
          <a:prstGeom prst="rect">
            <a:avLst/>
          </a:prstGeom>
          <a:noFill/>
          <a:ln>
            <a:noFill/>
          </a:ln>
        </p:spPr>
        <p:txBody>
          <a:bodyPr spcFirstLastPara="1" wrap="square" lIns="0" tIns="99050" rIns="0" bIns="0" anchor="t" anchorCtr="0">
            <a:spAutoFit/>
          </a:bodyPr>
          <a:lstStyle/>
          <a:p>
            <a:pPr marL="297815" lvl="0" indent="-285115" algn="l" rtl="0">
              <a:lnSpc>
                <a:spcPct val="100000"/>
              </a:lnSpc>
              <a:spcBef>
                <a:spcPts val="0"/>
              </a:spcBef>
              <a:spcAft>
                <a:spcPts val="0"/>
              </a:spcAft>
              <a:buSzPts val="2750"/>
              <a:buFont typeface="Arial"/>
              <a:buChar char="–"/>
            </a:pPr>
            <a:r>
              <a:rPr lang="en-US" sz="2750">
                <a:latin typeface="Calibri"/>
                <a:ea typeface="Calibri"/>
                <a:cs typeface="Calibri"/>
                <a:sym typeface="Calibri"/>
              </a:rPr>
              <a:t>Problems: discrete, can’t break ties</a:t>
            </a:r>
            <a:endParaRPr sz="2750">
              <a:latin typeface="Calibri"/>
              <a:ea typeface="Calibri"/>
              <a:cs typeface="Calibri"/>
              <a:sym typeface="Calibri"/>
            </a:endParaRPr>
          </a:p>
          <a:p>
            <a:pPr marL="297815" lvl="0" indent="-285115" algn="l" rtl="0">
              <a:lnSpc>
                <a:spcPct val="100000"/>
              </a:lnSpc>
              <a:spcBef>
                <a:spcPts val="680"/>
              </a:spcBef>
              <a:spcAft>
                <a:spcPts val="0"/>
              </a:spcAft>
              <a:buSzPts val="2750"/>
              <a:buFont typeface="Arial"/>
              <a:buChar char="–"/>
            </a:pPr>
            <a:r>
              <a:rPr lang="en-US" sz="2750">
                <a:latin typeface="Calibri"/>
                <a:ea typeface="Calibri"/>
                <a:cs typeface="Calibri"/>
                <a:sym typeface="Calibri"/>
              </a:rPr>
              <a:t>We want the loss to lead to </a:t>
            </a:r>
            <a:r>
              <a:rPr lang="en-US" sz="2750" i="1">
                <a:latin typeface="Calibri"/>
                <a:ea typeface="Calibri"/>
                <a:cs typeface="Calibri"/>
                <a:sym typeface="Calibri"/>
              </a:rPr>
              <a:t>good generalization</a:t>
            </a:r>
            <a:endParaRPr sz="2750">
              <a:latin typeface="Calibri"/>
              <a:ea typeface="Calibri"/>
              <a:cs typeface="Calibri"/>
              <a:sym typeface="Calibri"/>
            </a:endParaRPr>
          </a:p>
          <a:p>
            <a:pPr marL="297815" lvl="0" indent="-285115" algn="l" rtl="0">
              <a:lnSpc>
                <a:spcPct val="100000"/>
              </a:lnSpc>
              <a:spcBef>
                <a:spcPts val="755"/>
              </a:spcBef>
              <a:spcAft>
                <a:spcPts val="0"/>
              </a:spcAft>
              <a:buSzPts val="2750"/>
              <a:buFont typeface="Arial"/>
              <a:buChar char="–"/>
            </a:pPr>
            <a:r>
              <a:rPr lang="en-US" sz="2750">
                <a:latin typeface="Calibri"/>
                <a:ea typeface="Calibri"/>
                <a:cs typeface="Calibri"/>
                <a:sym typeface="Calibri"/>
              </a:rPr>
              <a:t>We want the loss to work for more than 2 classes</a:t>
            </a:r>
            <a:endParaRPr sz="2750">
              <a:latin typeface="Calibri"/>
              <a:ea typeface="Calibri"/>
              <a:cs typeface="Calibri"/>
              <a:sym typeface="Calibri"/>
            </a:endParaRPr>
          </a:p>
        </p:txBody>
      </p:sp>
      <p:pic>
        <p:nvPicPr>
          <p:cNvPr id="670" name="Google Shape;670;g3292fd40077_1_379"/>
          <p:cNvPicPr preferRelativeResize="0"/>
          <p:nvPr/>
        </p:nvPicPr>
        <p:blipFill rotWithShape="1">
          <a:blip r:embed="rId3">
            <a:alphaModFix/>
          </a:blip>
          <a:srcRect/>
          <a:stretch/>
        </p:blipFill>
        <p:spPr>
          <a:xfrm>
            <a:off x="1295393" y="3590983"/>
            <a:ext cx="85734" cy="76209"/>
          </a:xfrm>
          <a:prstGeom prst="rect">
            <a:avLst/>
          </a:prstGeom>
          <a:noFill/>
          <a:ln>
            <a:noFill/>
          </a:ln>
        </p:spPr>
      </p:pic>
      <p:grpSp>
        <p:nvGrpSpPr>
          <p:cNvPr id="671" name="Google Shape;671;g3292fd40077_1_379"/>
          <p:cNvGrpSpPr/>
          <p:nvPr/>
        </p:nvGrpSpPr>
        <p:grpSpPr>
          <a:xfrm>
            <a:off x="1625600" y="2933758"/>
            <a:ext cx="2273389" cy="1733559"/>
            <a:chOff x="1219200" y="2933758"/>
            <a:chExt cx="1705042" cy="1733559"/>
          </a:xfrm>
        </p:grpSpPr>
        <p:pic>
          <p:nvPicPr>
            <p:cNvPr id="672" name="Google Shape;672;g3292fd40077_1_379"/>
            <p:cNvPicPr preferRelativeResize="0"/>
            <p:nvPr/>
          </p:nvPicPr>
          <p:blipFill rotWithShape="1">
            <a:blip r:embed="rId4">
              <a:alphaModFix/>
            </a:blip>
            <a:srcRect/>
            <a:stretch/>
          </p:blipFill>
          <p:spPr>
            <a:xfrm>
              <a:off x="1285933" y="3619558"/>
              <a:ext cx="76209" cy="85734"/>
            </a:xfrm>
            <a:prstGeom prst="rect">
              <a:avLst/>
            </a:prstGeom>
            <a:noFill/>
            <a:ln>
              <a:noFill/>
            </a:ln>
          </p:spPr>
        </p:pic>
        <p:pic>
          <p:nvPicPr>
            <p:cNvPr id="673" name="Google Shape;673;g3292fd40077_1_379"/>
            <p:cNvPicPr preferRelativeResize="0"/>
            <p:nvPr/>
          </p:nvPicPr>
          <p:blipFill rotWithShape="1">
            <a:blip r:embed="rId5">
              <a:alphaModFix/>
            </a:blip>
            <a:srcRect/>
            <a:stretch/>
          </p:blipFill>
          <p:spPr>
            <a:xfrm>
              <a:off x="1285933" y="3933883"/>
              <a:ext cx="76209" cy="76209"/>
            </a:xfrm>
            <a:prstGeom prst="rect">
              <a:avLst/>
            </a:prstGeom>
            <a:noFill/>
            <a:ln>
              <a:noFill/>
            </a:ln>
          </p:spPr>
        </p:pic>
        <p:pic>
          <p:nvPicPr>
            <p:cNvPr id="674" name="Google Shape;674;g3292fd40077_1_379"/>
            <p:cNvPicPr preferRelativeResize="0"/>
            <p:nvPr/>
          </p:nvPicPr>
          <p:blipFill rotWithShape="1">
            <a:blip r:embed="rId5">
              <a:alphaModFix/>
            </a:blip>
            <a:srcRect/>
            <a:stretch/>
          </p:blipFill>
          <p:spPr>
            <a:xfrm>
              <a:off x="1638358" y="3657658"/>
              <a:ext cx="76209" cy="76209"/>
            </a:xfrm>
            <a:prstGeom prst="rect">
              <a:avLst/>
            </a:prstGeom>
            <a:noFill/>
            <a:ln>
              <a:noFill/>
            </a:ln>
          </p:spPr>
        </p:pic>
        <p:pic>
          <p:nvPicPr>
            <p:cNvPr id="675" name="Google Shape;675;g3292fd40077_1_379"/>
            <p:cNvPicPr preferRelativeResize="0"/>
            <p:nvPr/>
          </p:nvPicPr>
          <p:blipFill rotWithShape="1">
            <a:blip r:embed="rId5">
              <a:alphaModFix/>
            </a:blip>
            <a:srcRect/>
            <a:stretch/>
          </p:blipFill>
          <p:spPr>
            <a:xfrm>
              <a:off x="1914583" y="4038658"/>
              <a:ext cx="76209" cy="76209"/>
            </a:xfrm>
            <a:prstGeom prst="rect">
              <a:avLst/>
            </a:prstGeom>
            <a:noFill/>
            <a:ln>
              <a:noFill/>
            </a:ln>
          </p:spPr>
        </p:pic>
        <p:pic>
          <p:nvPicPr>
            <p:cNvPr id="676" name="Google Shape;676;g3292fd40077_1_379"/>
            <p:cNvPicPr preferRelativeResize="0"/>
            <p:nvPr/>
          </p:nvPicPr>
          <p:blipFill rotWithShape="1">
            <a:blip r:embed="rId6">
              <a:alphaModFix/>
            </a:blip>
            <a:srcRect/>
            <a:stretch/>
          </p:blipFill>
          <p:spPr>
            <a:xfrm>
              <a:off x="2019358" y="3171883"/>
              <a:ext cx="76209" cy="76209"/>
            </a:xfrm>
            <a:prstGeom prst="rect">
              <a:avLst/>
            </a:prstGeom>
            <a:noFill/>
            <a:ln>
              <a:noFill/>
            </a:ln>
          </p:spPr>
        </p:pic>
        <p:pic>
          <p:nvPicPr>
            <p:cNvPr id="677" name="Google Shape;677;g3292fd40077_1_379"/>
            <p:cNvPicPr preferRelativeResize="0"/>
            <p:nvPr/>
          </p:nvPicPr>
          <p:blipFill rotWithShape="1">
            <a:blip r:embed="rId6">
              <a:alphaModFix/>
            </a:blip>
            <a:srcRect/>
            <a:stretch/>
          </p:blipFill>
          <p:spPr>
            <a:xfrm>
              <a:off x="2362258" y="3314758"/>
              <a:ext cx="76209" cy="76209"/>
            </a:xfrm>
            <a:prstGeom prst="rect">
              <a:avLst/>
            </a:prstGeom>
            <a:noFill/>
            <a:ln>
              <a:noFill/>
            </a:ln>
          </p:spPr>
        </p:pic>
        <p:pic>
          <p:nvPicPr>
            <p:cNvPr id="678" name="Google Shape;678;g3292fd40077_1_379"/>
            <p:cNvPicPr preferRelativeResize="0"/>
            <p:nvPr/>
          </p:nvPicPr>
          <p:blipFill rotWithShape="1">
            <a:blip r:embed="rId7">
              <a:alphaModFix/>
            </a:blip>
            <a:srcRect/>
            <a:stretch/>
          </p:blipFill>
          <p:spPr>
            <a:xfrm>
              <a:off x="2467033" y="3619558"/>
              <a:ext cx="76209" cy="85734"/>
            </a:xfrm>
            <a:prstGeom prst="rect">
              <a:avLst/>
            </a:prstGeom>
            <a:noFill/>
            <a:ln>
              <a:noFill/>
            </a:ln>
          </p:spPr>
        </p:pic>
        <p:pic>
          <p:nvPicPr>
            <p:cNvPr id="679" name="Google Shape;679;g3292fd40077_1_379"/>
            <p:cNvPicPr preferRelativeResize="0"/>
            <p:nvPr/>
          </p:nvPicPr>
          <p:blipFill rotWithShape="1">
            <a:blip r:embed="rId7">
              <a:alphaModFix/>
            </a:blip>
            <a:srcRect/>
            <a:stretch/>
          </p:blipFill>
          <p:spPr>
            <a:xfrm>
              <a:off x="2152708" y="3619558"/>
              <a:ext cx="76209" cy="85734"/>
            </a:xfrm>
            <a:prstGeom prst="rect">
              <a:avLst/>
            </a:prstGeom>
            <a:noFill/>
            <a:ln>
              <a:noFill/>
            </a:ln>
          </p:spPr>
        </p:pic>
        <p:pic>
          <p:nvPicPr>
            <p:cNvPr id="680" name="Google Shape;680;g3292fd40077_1_379"/>
            <p:cNvPicPr preferRelativeResize="0"/>
            <p:nvPr/>
          </p:nvPicPr>
          <p:blipFill rotWithShape="1">
            <a:blip r:embed="rId7">
              <a:alphaModFix/>
            </a:blip>
            <a:srcRect/>
            <a:stretch/>
          </p:blipFill>
          <p:spPr>
            <a:xfrm>
              <a:off x="1809808" y="3029008"/>
              <a:ext cx="76209" cy="85734"/>
            </a:xfrm>
            <a:prstGeom prst="rect">
              <a:avLst/>
            </a:prstGeom>
            <a:noFill/>
            <a:ln>
              <a:noFill/>
            </a:ln>
          </p:spPr>
        </p:pic>
        <p:pic>
          <p:nvPicPr>
            <p:cNvPr id="681" name="Google Shape;681;g3292fd40077_1_379"/>
            <p:cNvPicPr preferRelativeResize="0"/>
            <p:nvPr/>
          </p:nvPicPr>
          <p:blipFill rotWithShape="1">
            <a:blip r:embed="rId6">
              <a:alphaModFix/>
            </a:blip>
            <a:srcRect/>
            <a:stretch/>
          </p:blipFill>
          <p:spPr>
            <a:xfrm>
              <a:off x="2743258" y="3971983"/>
              <a:ext cx="76209" cy="76209"/>
            </a:xfrm>
            <a:prstGeom prst="rect">
              <a:avLst/>
            </a:prstGeom>
            <a:noFill/>
            <a:ln>
              <a:noFill/>
            </a:ln>
          </p:spPr>
        </p:pic>
        <p:pic>
          <p:nvPicPr>
            <p:cNvPr id="682" name="Google Shape;682;g3292fd40077_1_379"/>
            <p:cNvPicPr preferRelativeResize="0"/>
            <p:nvPr/>
          </p:nvPicPr>
          <p:blipFill rotWithShape="1">
            <a:blip r:embed="rId6">
              <a:alphaModFix/>
            </a:blip>
            <a:srcRect/>
            <a:stretch/>
          </p:blipFill>
          <p:spPr>
            <a:xfrm>
              <a:off x="2848033" y="3448108"/>
              <a:ext cx="76209" cy="76209"/>
            </a:xfrm>
            <a:prstGeom prst="rect">
              <a:avLst/>
            </a:prstGeom>
            <a:noFill/>
            <a:ln>
              <a:noFill/>
            </a:ln>
          </p:spPr>
        </p:pic>
        <p:pic>
          <p:nvPicPr>
            <p:cNvPr id="683" name="Google Shape;683;g3292fd40077_1_379"/>
            <p:cNvPicPr preferRelativeResize="0"/>
            <p:nvPr/>
          </p:nvPicPr>
          <p:blipFill rotWithShape="1">
            <a:blip r:embed="rId4">
              <a:alphaModFix/>
            </a:blip>
            <a:srcRect/>
            <a:stretch/>
          </p:blipFill>
          <p:spPr>
            <a:xfrm>
              <a:off x="1638358" y="4381558"/>
              <a:ext cx="76209" cy="85734"/>
            </a:xfrm>
            <a:prstGeom prst="rect">
              <a:avLst/>
            </a:prstGeom>
            <a:noFill/>
            <a:ln>
              <a:noFill/>
            </a:ln>
          </p:spPr>
        </p:pic>
        <p:pic>
          <p:nvPicPr>
            <p:cNvPr id="684" name="Google Shape;684;g3292fd40077_1_379"/>
            <p:cNvPicPr preferRelativeResize="0"/>
            <p:nvPr/>
          </p:nvPicPr>
          <p:blipFill rotWithShape="1">
            <a:blip r:embed="rId6">
              <a:alphaModFix/>
            </a:blip>
            <a:srcRect/>
            <a:stretch/>
          </p:blipFill>
          <p:spPr>
            <a:xfrm>
              <a:off x="2467033" y="2933758"/>
              <a:ext cx="76209" cy="76209"/>
            </a:xfrm>
            <a:prstGeom prst="rect">
              <a:avLst/>
            </a:prstGeom>
            <a:noFill/>
            <a:ln>
              <a:noFill/>
            </a:ln>
          </p:spPr>
        </p:pic>
        <p:sp>
          <p:nvSpPr>
            <p:cNvPr id="685" name="Google Shape;685;g3292fd40077_1_379"/>
            <p:cNvSpPr/>
            <p:nvPr/>
          </p:nvSpPr>
          <p:spPr>
            <a:xfrm>
              <a:off x="1219200" y="3028949"/>
              <a:ext cx="1628775" cy="1628775"/>
            </a:xfrm>
            <a:custGeom>
              <a:avLst/>
              <a:gdLst/>
              <a:ahLst/>
              <a:cxnLst/>
              <a:rect l="l" t="t" r="r" b="b"/>
              <a:pathLst>
                <a:path w="1628775" h="1628775" extrusionOk="0">
                  <a:moveTo>
                    <a:pt x="0" y="0"/>
                  </a:moveTo>
                  <a:lnTo>
                    <a:pt x="1628775" y="1628775"/>
                  </a:lnTo>
                </a:path>
              </a:pathLst>
            </a:custGeom>
            <a:noFill/>
            <a:ln w="38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686" name="Google Shape;686;g3292fd40077_1_379"/>
            <p:cNvPicPr preferRelativeResize="0"/>
            <p:nvPr/>
          </p:nvPicPr>
          <p:blipFill rotWithShape="1">
            <a:blip r:embed="rId5">
              <a:alphaModFix/>
            </a:blip>
            <a:srcRect/>
            <a:stretch/>
          </p:blipFill>
          <p:spPr>
            <a:xfrm>
              <a:off x="2019358" y="4591108"/>
              <a:ext cx="76209" cy="76209"/>
            </a:xfrm>
            <a:prstGeom prst="rect">
              <a:avLst/>
            </a:prstGeom>
            <a:noFill/>
            <a:ln>
              <a:noFill/>
            </a:ln>
          </p:spPr>
        </p:pic>
        <p:pic>
          <p:nvPicPr>
            <p:cNvPr id="687" name="Google Shape;687;g3292fd40077_1_379"/>
            <p:cNvPicPr preferRelativeResize="0"/>
            <p:nvPr/>
          </p:nvPicPr>
          <p:blipFill rotWithShape="1">
            <a:blip r:embed="rId8">
              <a:alphaModFix/>
            </a:blip>
            <a:srcRect/>
            <a:stretch/>
          </p:blipFill>
          <p:spPr>
            <a:xfrm>
              <a:off x="1438333" y="3000433"/>
              <a:ext cx="85734" cy="85734"/>
            </a:xfrm>
            <a:prstGeom prst="rect">
              <a:avLst/>
            </a:prstGeom>
            <a:noFill/>
            <a:ln>
              <a:noFill/>
            </a:ln>
          </p:spPr>
        </p:pic>
        <p:pic>
          <p:nvPicPr>
            <p:cNvPr id="688" name="Google Shape;688;g3292fd40077_1_379"/>
            <p:cNvPicPr preferRelativeResize="0"/>
            <p:nvPr/>
          </p:nvPicPr>
          <p:blipFill rotWithShape="1">
            <a:blip r:embed="rId6">
              <a:alphaModFix/>
            </a:blip>
            <a:srcRect/>
            <a:stretch/>
          </p:blipFill>
          <p:spPr>
            <a:xfrm>
              <a:off x="2419408" y="4495858"/>
              <a:ext cx="76209" cy="76209"/>
            </a:xfrm>
            <a:prstGeom prst="rect">
              <a:avLst/>
            </a:prstGeom>
            <a:noFill/>
            <a:ln>
              <a:noFill/>
            </a:ln>
          </p:spPr>
        </p:pic>
      </p:grpSp>
      <p:pic>
        <p:nvPicPr>
          <p:cNvPr id="689" name="Google Shape;689;g3292fd40077_1_379"/>
          <p:cNvPicPr preferRelativeResize="0"/>
          <p:nvPr/>
        </p:nvPicPr>
        <p:blipFill rotWithShape="1">
          <a:blip r:embed="rId9">
            <a:alphaModFix/>
          </a:blip>
          <a:srcRect/>
          <a:stretch/>
        </p:blipFill>
        <p:spPr>
          <a:xfrm>
            <a:off x="1257293" y="3724333"/>
            <a:ext cx="76209" cy="76209"/>
          </a:xfrm>
          <a:prstGeom prst="rect">
            <a:avLst/>
          </a:prstGeom>
          <a:noFill/>
          <a:ln>
            <a:noFill/>
          </a:ln>
        </p:spPr>
      </p:pic>
      <p:pic>
        <p:nvPicPr>
          <p:cNvPr id="690" name="Google Shape;690;g3292fd40077_1_379"/>
          <p:cNvPicPr preferRelativeResize="0"/>
          <p:nvPr/>
        </p:nvPicPr>
        <p:blipFill rotWithShape="1">
          <a:blip r:embed="rId6">
            <a:alphaModFix/>
          </a:blip>
          <a:srcRect/>
          <a:stretch/>
        </p:blipFill>
        <p:spPr>
          <a:xfrm>
            <a:off x="4076777" y="3867208"/>
            <a:ext cx="76209" cy="76209"/>
          </a:xfrm>
          <a:prstGeom prst="rect">
            <a:avLst/>
          </a:prstGeom>
          <a:noFill/>
          <a:ln>
            <a:noFill/>
          </a:ln>
        </p:spPr>
      </p:pic>
      <p:pic>
        <p:nvPicPr>
          <p:cNvPr id="691" name="Google Shape;691;g3292fd40077_1_379"/>
          <p:cNvPicPr preferRelativeResize="0"/>
          <p:nvPr/>
        </p:nvPicPr>
        <p:blipFill rotWithShape="1">
          <a:blip r:embed="rId10">
            <a:alphaModFix/>
          </a:blip>
          <a:srcRect/>
          <a:stretch/>
        </p:blipFill>
        <p:spPr>
          <a:xfrm>
            <a:off x="2590877" y="2752783"/>
            <a:ext cx="85734" cy="85734"/>
          </a:xfrm>
          <a:prstGeom prst="rect">
            <a:avLst/>
          </a:prstGeom>
          <a:noFill/>
          <a:ln>
            <a:noFill/>
          </a:ln>
        </p:spPr>
      </p:pic>
      <p:sp>
        <p:nvSpPr>
          <p:cNvPr id="692" name="Google Shape;692;g3292fd40077_1_379"/>
          <p:cNvSpPr txBox="1"/>
          <p:nvPr/>
        </p:nvSpPr>
        <p:spPr>
          <a:xfrm>
            <a:off x="2358305" y="4770818"/>
            <a:ext cx="873760" cy="30035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1">
                <a:latin typeface="Calibri"/>
                <a:ea typeface="Calibri"/>
                <a:cs typeface="Calibri"/>
                <a:sym typeface="Calibri"/>
              </a:rPr>
              <a:t>Loss: 2</a:t>
            </a:r>
            <a:endParaRPr sz="1800">
              <a:latin typeface="Calibri"/>
              <a:ea typeface="Calibri"/>
              <a:cs typeface="Calibri"/>
              <a:sym typeface="Calibri"/>
            </a:endParaRPr>
          </a:p>
        </p:txBody>
      </p:sp>
      <p:pic>
        <p:nvPicPr>
          <p:cNvPr id="693" name="Google Shape;693;g3292fd40077_1_379"/>
          <p:cNvPicPr preferRelativeResize="0"/>
          <p:nvPr/>
        </p:nvPicPr>
        <p:blipFill rotWithShape="1">
          <a:blip r:embed="rId4">
            <a:alphaModFix/>
          </a:blip>
          <a:srcRect/>
          <a:stretch/>
        </p:blipFill>
        <p:spPr>
          <a:xfrm>
            <a:off x="4826077" y="3600508"/>
            <a:ext cx="76209" cy="85734"/>
          </a:xfrm>
          <a:prstGeom prst="rect">
            <a:avLst/>
          </a:prstGeom>
          <a:noFill/>
          <a:ln>
            <a:noFill/>
          </a:ln>
        </p:spPr>
      </p:pic>
      <p:grpSp>
        <p:nvGrpSpPr>
          <p:cNvPr id="694" name="Google Shape;694;g3292fd40077_1_379"/>
          <p:cNvGrpSpPr/>
          <p:nvPr/>
        </p:nvGrpSpPr>
        <p:grpSpPr>
          <a:xfrm>
            <a:off x="5245177" y="2752725"/>
            <a:ext cx="1676412" cy="2095500"/>
            <a:chOff x="3933883" y="2752725"/>
            <a:chExt cx="1257309" cy="2095500"/>
          </a:xfrm>
        </p:grpSpPr>
        <p:pic>
          <p:nvPicPr>
            <p:cNvPr id="695" name="Google Shape;695;g3292fd40077_1_379"/>
            <p:cNvPicPr preferRelativeResize="0"/>
            <p:nvPr/>
          </p:nvPicPr>
          <p:blipFill rotWithShape="1">
            <a:blip r:embed="rId5">
              <a:alphaModFix/>
            </a:blip>
            <a:srcRect/>
            <a:stretch/>
          </p:blipFill>
          <p:spPr>
            <a:xfrm>
              <a:off x="3933883" y="3638608"/>
              <a:ext cx="76209" cy="76209"/>
            </a:xfrm>
            <a:prstGeom prst="rect">
              <a:avLst/>
            </a:prstGeom>
            <a:noFill/>
            <a:ln>
              <a:noFill/>
            </a:ln>
          </p:spPr>
        </p:pic>
        <p:pic>
          <p:nvPicPr>
            <p:cNvPr id="696" name="Google Shape;696;g3292fd40077_1_379"/>
            <p:cNvPicPr preferRelativeResize="0"/>
            <p:nvPr/>
          </p:nvPicPr>
          <p:blipFill rotWithShape="1">
            <a:blip r:embed="rId5">
              <a:alphaModFix/>
            </a:blip>
            <a:srcRect/>
            <a:stretch/>
          </p:blipFill>
          <p:spPr>
            <a:xfrm>
              <a:off x="3933883" y="3952933"/>
              <a:ext cx="76209" cy="76209"/>
            </a:xfrm>
            <a:prstGeom prst="rect">
              <a:avLst/>
            </a:prstGeom>
            <a:noFill/>
            <a:ln>
              <a:noFill/>
            </a:ln>
          </p:spPr>
        </p:pic>
        <p:pic>
          <p:nvPicPr>
            <p:cNvPr id="697" name="Google Shape;697;g3292fd40077_1_379"/>
            <p:cNvPicPr preferRelativeResize="0"/>
            <p:nvPr/>
          </p:nvPicPr>
          <p:blipFill rotWithShape="1">
            <a:blip r:embed="rId11">
              <a:alphaModFix/>
            </a:blip>
            <a:srcRect/>
            <a:stretch/>
          </p:blipFill>
          <p:spPr>
            <a:xfrm>
              <a:off x="4276783" y="3676708"/>
              <a:ext cx="85734" cy="76209"/>
            </a:xfrm>
            <a:prstGeom prst="rect">
              <a:avLst/>
            </a:prstGeom>
            <a:noFill/>
            <a:ln>
              <a:noFill/>
            </a:ln>
          </p:spPr>
        </p:pic>
        <p:pic>
          <p:nvPicPr>
            <p:cNvPr id="698" name="Google Shape;698;g3292fd40077_1_379"/>
            <p:cNvPicPr preferRelativeResize="0"/>
            <p:nvPr/>
          </p:nvPicPr>
          <p:blipFill rotWithShape="1">
            <a:blip r:embed="rId11">
              <a:alphaModFix/>
            </a:blip>
            <a:srcRect/>
            <a:stretch/>
          </p:blipFill>
          <p:spPr>
            <a:xfrm>
              <a:off x="4553008" y="4057708"/>
              <a:ext cx="85734" cy="76209"/>
            </a:xfrm>
            <a:prstGeom prst="rect">
              <a:avLst/>
            </a:prstGeom>
            <a:noFill/>
            <a:ln>
              <a:noFill/>
            </a:ln>
          </p:spPr>
        </p:pic>
        <p:pic>
          <p:nvPicPr>
            <p:cNvPr id="699" name="Google Shape;699;g3292fd40077_1_379"/>
            <p:cNvPicPr preferRelativeResize="0"/>
            <p:nvPr/>
          </p:nvPicPr>
          <p:blipFill rotWithShape="1">
            <a:blip r:embed="rId12">
              <a:alphaModFix/>
            </a:blip>
            <a:srcRect/>
            <a:stretch/>
          </p:blipFill>
          <p:spPr>
            <a:xfrm>
              <a:off x="4657783" y="3190933"/>
              <a:ext cx="85734" cy="76209"/>
            </a:xfrm>
            <a:prstGeom prst="rect">
              <a:avLst/>
            </a:prstGeom>
            <a:noFill/>
            <a:ln>
              <a:noFill/>
            </a:ln>
          </p:spPr>
        </p:pic>
        <p:pic>
          <p:nvPicPr>
            <p:cNvPr id="700" name="Google Shape;700;g3292fd40077_1_379"/>
            <p:cNvPicPr preferRelativeResize="0"/>
            <p:nvPr/>
          </p:nvPicPr>
          <p:blipFill rotWithShape="1">
            <a:blip r:embed="rId7">
              <a:alphaModFix/>
            </a:blip>
            <a:srcRect/>
            <a:stretch/>
          </p:blipFill>
          <p:spPr>
            <a:xfrm>
              <a:off x="5010208" y="3324283"/>
              <a:ext cx="76209" cy="85734"/>
            </a:xfrm>
            <a:prstGeom prst="rect">
              <a:avLst/>
            </a:prstGeom>
            <a:noFill/>
            <a:ln>
              <a:noFill/>
            </a:ln>
          </p:spPr>
        </p:pic>
        <p:pic>
          <p:nvPicPr>
            <p:cNvPr id="701" name="Google Shape;701;g3292fd40077_1_379"/>
            <p:cNvPicPr preferRelativeResize="0"/>
            <p:nvPr/>
          </p:nvPicPr>
          <p:blipFill rotWithShape="1">
            <a:blip r:embed="rId6">
              <a:alphaModFix/>
            </a:blip>
            <a:srcRect/>
            <a:stretch/>
          </p:blipFill>
          <p:spPr>
            <a:xfrm>
              <a:off x="5114983" y="3638608"/>
              <a:ext cx="76209" cy="76209"/>
            </a:xfrm>
            <a:prstGeom prst="rect">
              <a:avLst/>
            </a:prstGeom>
            <a:noFill/>
            <a:ln>
              <a:noFill/>
            </a:ln>
          </p:spPr>
        </p:pic>
        <p:pic>
          <p:nvPicPr>
            <p:cNvPr id="702" name="Google Shape;702;g3292fd40077_1_379"/>
            <p:cNvPicPr preferRelativeResize="0"/>
            <p:nvPr/>
          </p:nvPicPr>
          <p:blipFill rotWithShape="1">
            <a:blip r:embed="rId6">
              <a:alphaModFix/>
            </a:blip>
            <a:srcRect/>
            <a:stretch/>
          </p:blipFill>
          <p:spPr>
            <a:xfrm>
              <a:off x="4800658" y="3638608"/>
              <a:ext cx="76209" cy="76209"/>
            </a:xfrm>
            <a:prstGeom prst="rect">
              <a:avLst/>
            </a:prstGeom>
            <a:noFill/>
            <a:ln>
              <a:noFill/>
            </a:ln>
          </p:spPr>
        </p:pic>
        <p:pic>
          <p:nvPicPr>
            <p:cNvPr id="703" name="Google Shape;703;g3292fd40077_1_379"/>
            <p:cNvPicPr preferRelativeResize="0"/>
            <p:nvPr/>
          </p:nvPicPr>
          <p:blipFill rotWithShape="1">
            <a:blip r:embed="rId10">
              <a:alphaModFix/>
            </a:blip>
            <a:srcRect/>
            <a:stretch/>
          </p:blipFill>
          <p:spPr>
            <a:xfrm>
              <a:off x="4448233" y="3048058"/>
              <a:ext cx="85734" cy="85734"/>
            </a:xfrm>
            <a:prstGeom prst="rect">
              <a:avLst/>
            </a:prstGeom>
            <a:noFill/>
            <a:ln>
              <a:noFill/>
            </a:ln>
          </p:spPr>
        </p:pic>
        <p:pic>
          <p:nvPicPr>
            <p:cNvPr id="704" name="Google Shape;704;g3292fd40077_1_379"/>
            <p:cNvPicPr preferRelativeResize="0"/>
            <p:nvPr/>
          </p:nvPicPr>
          <p:blipFill rotWithShape="1">
            <a:blip r:embed="rId11">
              <a:alphaModFix/>
            </a:blip>
            <a:srcRect/>
            <a:stretch/>
          </p:blipFill>
          <p:spPr>
            <a:xfrm>
              <a:off x="4276783" y="4400608"/>
              <a:ext cx="85734" cy="76209"/>
            </a:xfrm>
            <a:prstGeom prst="rect">
              <a:avLst/>
            </a:prstGeom>
            <a:noFill/>
            <a:ln>
              <a:noFill/>
            </a:ln>
          </p:spPr>
        </p:pic>
        <p:pic>
          <p:nvPicPr>
            <p:cNvPr id="705" name="Google Shape;705;g3292fd40077_1_379"/>
            <p:cNvPicPr preferRelativeResize="0"/>
            <p:nvPr/>
          </p:nvPicPr>
          <p:blipFill rotWithShape="1">
            <a:blip r:embed="rId7">
              <a:alphaModFix/>
            </a:blip>
            <a:srcRect/>
            <a:stretch/>
          </p:blipFill>
          <p:spPr>
            <a:xfrm>
              <a:off x="5114983" y="2943283"/>
              <a:ext cx="76209" cy="85734"/>
            </a:xfrm>
            <a:prstGeom prst="rect">
              <a:avLst/>
            </a:prstGeom>
            <a:noFill/>
            <a:ln>
              <a:noFill/>
            </a:ln>
          </p:spPr>
        </p:pic>
        <p:sp>
          <p:nvSpPr>
            <p:cNvPr id="706" name="Google Shape;706;g3292fd40077_1_379"/>
            <p:cNvSpPr/>
            <p:nvPr/>
          </p:nvSpPr>
          <p:spPr>
            <a:xfrm>
              <a:off x="4048125" y="2752725"/>
              <a:ext cx="1133475" cy="2095500"/>
            </a:xfrm>
            <a:custGeom>
              <a:avLst/>
              <a:gdLst/>
              <a:ahLst/>
              <a:cxnLst/>
              <a:rect l="l" t="t" r="r" b="b"/>
              <a:pathLst>
                <a:path w="1133475" h="2095500" extrusionOk="0">
                  <a:moveTo>
                    <a:pt x="0" y="0"/>
                  </a:moveTo>
                  <a:lnTo>
                    <a:pt x="1133475" y="2095500"/>
                  </a:lnTo>
                </a:path>
              </a:pathLst>
            </a:custGeom>
            <a:noFill/>
            <a:ln w="38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07" name="Google Shape;707;g3292fd40077_1_379"/>
            <p:cNvPicPr preferRelativeResize="0"/>
            <p:nvPr/>
          </p:nvPicPr>
          <p:blipFill rotWithShape="1">
            <a:blip r:embed="rId6">
              <a:alphaModFix/>
            </a:blip>
            <a:srcRect/>
            <a:stretch/>
          </p:blipFill>
          <p:spPr>
            <a:xfrm>
              <a:off x="4591108" y="2771833"/>
              <a:ext cx="76209" cy="76209"/>
            </a:xfrm>
            <a:prstGeom prst="rect">
              <a:avLst/>
            </a:prstGeom>
            <a:noFill/>
            <a:ln>
              <a:noFill/>
            </a:ln>
          </p:spPr>
        </p:pic>
        <p:pic>
          <p:nvPicPr>
            <p:cNvPr id="708" name="Google Shape;708;g3292fd40077_1_379"/>
            <p:cNvPicPr preferRelativeResize="0"/>
            <p:nvPr/>
          </p:nvPicPr>
          <p:blipFill rotWithShape="1">
            <a:blip r:embed="rId11">
              <a:alphaModFix/>
            </a:blip>
            <a:srcRect/>
            <a:stretch/>
          </p:blipFill>
          <p:spPr>
            <a:xfrm>
              <a:off x="4657783" y="4610158"/>
              <a:ext cx="85734" cy="76209"/>
            </a:xfrm>
            <a:prstGeom prst="rect">
              <a:avLst/>
            </a:prstGeom>
            <a:noFill/>
            <a:ln>
              <a:noFill/>
            </a:ln>
          </p:spPr>
        </p:pic>
        <p:pic>
          <p:nvPicPr>
            <p:cNvPr id="709" name="Google Shape;709;g3292fd40077_1_379"/>
            <p:cNvPicPr preferRelativeResize="0"/>
            <p:nvPr/>
          </p:nvPicPr>
          <p:blipFill rotWithShape="1">
            <a:blip r:embed="rId5">
              <a:alphaModFix/>
            </a:blip>
            <a:srcRect/>
            <a:stretch/>
          </p:blipFill>
          <p:spPr>
            <a:xfrm>
              <a:off x="4086283" y="3019483"/>
              <a:ext cx="76209" cy="76209"/>
            </a:xfrm>
            <a:prstGeom prst="rect">
              <a:avLst/>
            </a:prstGeom>
            <a:noFill/>
            <a:ln>
              <a:noFill/>
            </a:ln>
          </p:spPr>
        </p:pic>
        <p:pic>
          <p:nvPicPr>
            <p:cNvPr id="710" name="Google Shape;710;g3292fd40077_1_379"/>
            <p:cNvPicPr preferRelativeResize="0"/>
            <p:nvPr/>
          </p:nvPicPr>
          <p:blipFill rotWithShape="1">
            <a:blip r:embed="rId6">
              <a:alphaModFix/>
            </a:blip>
            <a:srcRect/>
            <a:stretch/>
          </p:blipFill>
          <p:spPr>
            <a:xfrm>
              <a:off x="5067358" y="4514908"/>
              <a:ext cx="76209" cy="76209"/>
            </a:xfrm>
            <a:prstGeom prst="rect">
              <a:avLst/>
            </a:prstGeom>
            <a:noFill/>
            <a:ln>
              <a:noFill/>
            </a:ln>
          </p:spPr>
        </p:pic>
      </p:grpSp>
      <p:pic>
        <p:nvPicPr>
          <p:cNvPr id="711" name="Google Shape;711;g3292fd40077_1_379"/>
          <p:cNvPicPr preferRelativeResize="0"/>
          <p:nvPr/>
        </p:nvPicPr>
        <p:blipFill rotWithShape="1">
          <a:blip r:embed="rId5">
            <a:alphaModFix/>
          </a:blip>
          <a:srcRect/>
          <a:stretch/>
        </p:blipFill>
        <p:spPr>
          <a:xfrm>
            <a:off x="4787977" y="3743383"/>
            <a:ext cx="76209" cy="76209"/>
          </a:xfrm>
          <a:prstGeom prst="rect">
            <a:avLst/>
          </a:prstGeom>
          <a:noFill/>
          <a:ln>
            <a:noFill/>
          </a:ln>
        </p:spPr>
      </p:pic>
      <p:pic>
        <p:nvPicPr>
          <p:cNvPr id="712" name="Google Shape;712;g3292fd40077_1_379"/>
          <p:cNvPicPr preferRelativeResize="0"/>
          <p:nvPr/>
        </p:nvPicPr>
        <p:blipFill rotWithShape="1">
          <a:blip r:embed="rId7">
            <a:alphaModFix/>
          </a:blip>
          <a:srcRect/>
          <a:stretch/>
        </p:blipFill>
        <p:spPr>
          <a:xfrm>
            <a:off x="7188277" y="3981508"/>
            <a:ext cx="76209" cy="85734"/>
          </a:xfrm>
          <a:prstGeom prst="rect">
            <a:avLst/>
          </a:prstGeom>
          <a:noFill/>
          <a:ln>
            <a:noFill/>
          </a:ln>
        </p:spPr>
      </p:pic>
      <p:pic>
        <p:nvPicPr>
          <p:cNvPr id="713" name="Google Shape;713;g3292fd40077_1_379"/>
          <p:cNvPicPr preferRelativeResize="0"/>
          <p:nvPr/>
        </p:nvPicPr>
        <p:blipFill rotWithShape="1">
          <a:blip r:embed="rId6">
            <a:alphaModFix/>
          </a:blip>
          <a:srcRect/>
          <a:stretch/>
        </p:blipFill>
        <p:spPr>
          <a:xfrm>
            <a:off x="7327977" y="3467158"/>
            <a:ext cx="76209" cy="76209"/>
          </a:xfrm>
          <a:prstGeom prst="rect">
            <a:avLst/>
          </a:prstGeom>
          <a:noFill/>
          <a:ln>
            <a:noFill/>
          </a:ln>
        </p:spPr>
      </p:pic>
      <p:pic>
        <p:nvPicPr>
          <p:cNvPr id="714" name="Google Shape;714;g3292fd40077_1_379"/>
          <p:cNvPicPr preferRelativeResize="0"/>
          <p:nvPr/>
        </p:nvPicPr>
        <p:blipFill rotWithShape="1">
          <a:blip r:embed="rId12">
            <a:alphaModFix/>
          </a:blip>
          <a:srcRect/>
          <a:stretch/>
        </p:blipFill>
        <p:spPr>
          <a:xfrm>
            <a:off x="7594677" y="3886258"/>
            <a:ext cx="85734" cy="76209"/>
          </a:xfrm>
          <a:prstGeom prst="rect">
            <a:avLst/>
          </a:prstGeom>
          <a:noFill/>
          <a:ln>
            <a:noFill/>
          </a:ln>
        </p:spPr>
      </p:pic>
      <p:sp>
        <p:nvSpPr>
          <p:cNvPr id="715" name="Google Shape;715;g3292fd40077_1_379"/>
          <p:cNvSpPr txBox="1"/>
          <p:nvPr/>
        </p:nvSpPr>
        <p:spPr>
          <a:xfrm>
            <a:off x="5888904" y="4788217"/>
            <a:ext cx="873760" cy="30035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1">
                <a:latin typeface="Calibri"/>
                <a:ea typeface="Calibri"/>
                <a:cs typeface="Calibri"/>
                <a:sym typeface="Calibri"/>
              </a:rPr>
              <a:t>Loss: 0</a:t>
            </a:r>
            <a:endParaRPr sz="1800">
              <a:latin typeface="Calibri"/>
              <a:ea typeface="Calibri"/>
              <a:cs typeface="Calibri"/>
              <a:sym typeface="Calibri"/>
            </a:endParaRPr>
          </a:p>
        </p:txBody>
      </p:sp>
      <p:pic>
        <p:nvPicPr>
          <p:cNvPr id="716" name="Google Shape;716;g3292fd40077_1_379"/>
          <p:cNvPicPr preferRelativeResize="0"/>
          <p:nvPr/>
        </p:nvPicPr>
        <p:blipFill rotWithShape="1">
          <a:blip r:embed="rId4">
            <a:alphaModFix/>
          </a:blip>
          <a:srcRect/>
          <a:stretch/>
        </p:blipFill>
        <p:spPr>
          <a:xfrm>
            <a:off x="8216977" y="3619558"/>
            <a:ext cx="76209" cy="85734"/>
          </a:xfrm>
          <a:prstGeom prst="rect">
            <a:avLst/>
          </a:prstGeom>
          <a:noFill/>
          <a:ln>
            <a:noFill/>
          </a:ln>
        </p:spPr>
      </p:pic>
      <p:pic>
        <p:nvPicPr>
          <p:cNvPr id="717" name="Google Shape;717;g3292fd40077_1_379"/>
          <p:cNvPicPr preferRelativeResize="0"/>
          <p:nvPr/>
        </p:nvPicPr>
        <p:blipFill rotWithShape="1">
          <a:blip r:embed="rId11">
            <a:alphaModFix/>
          </a:blip>
          <a:srcRect/>
          <a:stretch/>
        </p:blipFill>
        <p:spPr>
          <a:xfrm>
            <a:off x="8623377" y="3657658"/>
            <a:ext cx="85734" cy="76209"/>
          </a:xfrm>
          <a:prstGeom prst="rect">
            <a:avLst/>
          </a:prstGeom>
          <a:noFill/>
          <a:ln>
            <a:noFill/>
          </a:ln>
        </p:spPr>
      </p:pic>
      <p:pic>
        <p:nvPicPr>
          <p:cNvPr id="718" name="Google Shape;718;g3292fd40077_1_379"/>
          <p:cNvPicPr preferRelativeResize="0"/>
          <p:nvPr/>
        </p:nvPicPr>
        <p:blipFill rotWithShape="1">
          <a:blip r:embed="rId11">
            <a:alphaModFix/>
          </a:blip>
          <a:srcRect/>
          <a:stretch/>
        </p:blipFill>
        <p:spPr>
          <a:xfrm>
            <a:off x="8623377" y="3971983"/>
            <a:ext cx="85734" cy="76209"/>
          </a:xfrm>
          <a:prstGeom prst="rect">
            <a:avLst/>
          </a:prstGeom>
          <a:noFill/>
          <a:ln>
            <a:noFill/>
          </a:ln>
        </p:spPr>
      </p:pic>
      <p:pic>
        <p:nvPicPr>
          <p:cNvPr id="719" name="Google Shape;719;g3292fd40077_1_379"/>
          <p:cNvPicPr preferRelativeResize="0"/>
          <p:nvPr/>
        </p:nvPicPr>
        <p:blipFill rotWithShape="1">
          <a:blip r:embed="rId5">
            <a:alphaModFix/>
          </a:blip>
          <a:srcRect/>
          <a:stretch/>
        </p:blipFill>
        <p:spPr>
          <a:xfrm>
            <a:off x="8166177" y="3762433"/>
            <a:ext cx="76209" cy="76209"/>
          </a:xfrm>
          <a:prstGeom prst="rect">
            <a:avLst/>
          </a:prstGeom>
          <a:noFill/>
          <a:ln>
            <a:noFill/>
          </a:ln>
        </p:spPr>
      </p:pic>
      <p:grpSp>
        <p:nvGrpSpPr>
          <p:cNvPr id="720" name="Google Shape;720;g3292fd40077_1_379"/>
          <p:cNvGrpSpPr/>
          <p:nvPr/>
        </p:nvGrpSpPr>
        <p:grpSpPr>
          <a:xfrm>
            <a:off x="8826577" y="2695575"/>
            <a:ext cx="1473212" cy="2238375"/>
            <a:chOff x="6619933" y="2695575"/>
            <a:chExt cx="1104909" cy="2238375"/>
          </a:xfrm>
        </p:grpSpPr>
        <p:pic>
          <p:nvPicPr>
            <p:cNvPr id="721" name="Google Shape;721;g3292fd40077_1_379"/>
            <p:cNvPicPr preferRelativeResize="0"/>
            <p:nvPr/>
          </p:nvPicPr>
          <p:blipFill rotWithShape="1">
            <a:blip r:embed="rId5">
              <a:alphaModFix/>
            </a:blip>
            <a:srcRect/>
            <a:stretch/>
          </p:blipFill>
          <p:spPr>
            <a:xfrm>
              <a:off x="6819958" y="3695758"/>
              <a:ext cx="76209" cy="76209"/>
            </a:xfrm>
            <a:prstGeom prst="rect">
              <a:avLst/>
            </a:prstGeom>
            <a:noFill/>
            <a:ln>
              <a:noFill/>
            </a:ln>
          </p:spPr>
        </p:pic>
        <p:pic>
          <p:nvPicPr>
            <p:cNvPr id="722" name="Google Shape;722;g3292fd40077_1_379"/>
            <p:cNvPicPr preferRelativeResize="0"/>
            <p:nvPr/>
          </p:nvPicPr>
          <p:blipFill rotWithShape="1">
            <a:blip r:embed="rId5">
              <a:alphaModFix/>
            </a:blip>
            <a:srcRect/>
            <a:stretch/>
          </p:blipFill>
          <p:spPr>
            <a:xfrm>
              <a:off x="7096183" y="4076758"/>
              <a:ext cx="76209" cy="76209"/>
            </a:xfrm>
            <a:prstGeom prst="rect">
              <a:avLst/>
            </a:prstGeom>
            <a:noFill/>
            <a:ln>
              <a:noFill/>
            </a:ln>
          </p:spPr>
        </p:pic>
        <p:pic>
          <p:nvPicPr>
            <p:cNvPr id="723" name="Google Shape;723;g3292fd40077_1_379"/>
            <p:cNvPicPr preferRelativeResize="0"/>
            <p:nvPr/>
          </p:nvPicPr>
          <p:blipFill rotWithShape="1">
            <a:blip r:embed="rId6">
              <a:alphaModFix/>
            </a:blip>
            <a:srcRect/>
            <a:stretch/>
          </p:blipFill>
          <p:spPr>
            <a:xfrm>
              <a:off x="7200958" y="3209983"/>
              <a:ext cx="76209" cy="76209"/>
            </a:xfrm>
            <a:prstGeom prst="rect">
              <a:avLst/>
            </a:prstGeom>
            <a:noFill/>
            <a:ln>
              <a:noFill/>
            </a:ln>
          </p:spPr>
        </p:pic>
        <p:pic>
          <p:nvPicPr>
            <p:cNvPr id="724" name="Google Shape;724;g3292fd40077_1_379"/>
            <p:cNvPicPr preferRelativeResize="0"/>
            <p:nvPr/>
          </p:nvPicPr>
          <p:blipFill rotWithShape="1">
            <a:blip r:embed="rId6">
              <a:alphaModFix/>
            </a:blip>
            <a:srcRect/>
            <a:stretch/>
          </p:blipFill>
          <p:spPr>
            <a:xfrm>
              <a:off x="7543858" y="3343333"/>
              <a:ext cx="76209" cy="76209"/>
            </a:xfrm>
            <a:prstGeom prst="rect">
              <a:avLst/>
            </a:prstGeom>
            <a:noFill/>
            <a:ln>
              <a:noFill/>
            </a:ln>
          </p:spPr>
        </p:pic>
        <p:pic>
          <p:nvPicPr>
            <p:cNvPr id="725" name="Google Shape;725;g3292fd40077_1_379"/>
            <p:cNvPicPr preferRelativeResize="0"/>
            <p:nvPr/>
          </p:nvPicPr>
          <p:blipFill rotWithShape="1">
            <a:blip r:embed="rId6">
              <a:alphaModFix/>
            </a:blip>
            <a:srcRect/>
            <a:stretch/>
          </p:blipFill>
          <p:spPr>
            <a:xfrm>
              <a:off x="7648633" y="3657658"/>
              <a:ext cx="76209" cy="76209"/>
            </a:xfrm>
            <a:prstGeom prst="rect">
              <a:avLst/>
            </a:prstGeom>
            <a:noFill/>
            <a:ln>
              <a:noFill/>
            </a:ln>
          </p:spPr>
        </p:pic>
        <p:pic>
          <p:nvPicPr>
            <p:cNvPr id="726" name="Google Shape;726;g3292fd40077_1_379"/>
            <p:cNvPicPr preferRelativeResize="0"/>
            <p:nvPr/>
          </p:nvPicPr>
          <p:blipFill rotWithShape="1">
            <a:blip r:embed="rId6">
              <a:alphaModFix/>
            </a:blip>
            <a:srcRect/>
            <a:stretch/>
          </p:blipFill>
          <p:spPr>
            <a:xfrm>
              <a:off x="7334308" y="3657658"/>
              <a:ext cx="76209" cy="76209"/>
            </a:xfrm>
            <a:prstGeom prst="rect">
              <a:avLst/>
            </a:prstGeom>
            <a:noFill/>
            <a:ln>
              <a:noFill/>
            </a:ln>
          </p:spPr>
        </p:pic>
        <p:pic>
          <p:nvPicPr>
            <p:cNvPr id="727" name="Google Shape;727;g3292fd40077_1_379"/>
            <p:cNvPicPr preferRelativeResize="0"/>
            <p:nvPr/>
          </p:nvPicPr>
          <p:blipFill rotWithShape="1">
            <a:blip r:embed="rId6">
              <a:alphaModFix/>
            </a:blip>
            <a:srcRect/>
            <a:stretch/>
          </p:blipFill>
          <p:spPr>
            <a:xfrm>
              <a:off x="6991408" y="3067108"/>
              <a:ext cx="76209" cy="76209"/>
            </a:xfrm>
            <a:prstGeom prst="rect">
              <a:avLst/>
            </a:prstGeom>
            <a:noFill/>
            <a:ln>
              <a:noFill/>
            </a:ln>
          </p:spPr>
        </p:pic>
        <p:pic>
          <p:nvPicPr>
            <p:cNvPr id="728" name="Google Shape;728;g3292fd40077_1_379"/>
            <p:cNvPicPr preferRelativeResize="0"/>
            <p:nvPr/>
          </p:nvPicPr>
          <p:blipFill rotWithShape="1">
            <a:blip r:embed="rId5">
              <a:alphaModFix/>
            </a:blip>
            <a:srcRect/>
            <a:stretch/>
          </p:blipFill>
          <p:spPr>
            <a:xfrm>
              <a:off x="6819958" y="4419658"/>
              <a:ext cx="76209" cy="76209"/>
            </a:xfrm>
            <a:prstGeom prst="rect">
              <a:avLst/>
            </a:prstGeom>
            <a:noFill/>
            <a:ln>
              <a:noFill/>
            </a:ln>
          </p:spPr>
        </p:pic>
        <p:pic>
          <p:nvPicPr>
            <p:cNvPr id="729" name="Google Shape;729;g3292fd40077_1_379"/>
            <p:cNvPicPr preferRelativeResize="0"/>
            <p:nvPr/>
          </p:nvPicPr>
          <p:blipFill rotWithShape="1">
            <a:blip r:embed="rId6">
              <a:alphaModFix/>
            </a:blip>
            <a:srcRect/>
            <a:stretch/>
          </p:blipFill>
          <p:spPr>
            <a:xfrm>
              <a:off x="7648633" y="2962333"/>
              <a:ext cx="76209" cy="76209"/>
            </a:xfrm>
            <a:prstGeom prst="rect">
              <a:avLst/>
            </a:prstGeom>
            <a:noFill/>
            <a:ln>
              <a:noFill/>
            </a:ln>
          </p:spPr>
        </p:pic>
        <p:sp>
          <p:nvSpPr>
            <p:cNvPr id="730" name="Google Shape;730;g3292fd40077_1_379"/>
            <p:cNvSpPr/>
            <p:nvPr/>
          </p:nvSpPr>
          <p:spPr>
            <a:xfrm>
              <a:off x="6696075" y="2695575"/>
              <a:ext cx="952500" cy="2238375"/>
            </a:xfrm>
            <a:custGeom>
              <a:avLst/>
              <a:gdLst/>
              <a:ahLst/>
              <a:cxnLst/>
              <a:rect l="l" t="t" r="r" b="b"/>
              <a:pathLst>
                <a:path w="952500" h="2238375" extrusionOk="0">
                  <a:moveTo>
                    <a:pt x="0" y="0"/>
                  </a:moveTo>
                  <a:lnTo>
                    <a:pt x="952500" y="2238375"/>
                  </a:lnTo>
                </a:path>
              </a:pathLst>
            </a:custGeom>
            <a:noFill/>
            <a:ln w="38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31" name="Google Shape;731;g3292fd40077_1_379"/>
            <p:cNvPicPr preferRelativeResize="0"/>
            <p:nvPr/>
          </p:nvPicPr>
          <p:blipFill rotWithShape="1">
            <a:blip r:embed="rId12">
              <a:alphaModFix/>
            </a:blip>
            <a:srcRect/>
            <a:stretch/>
          </p:blipFill>
          <p:spPr>
            <a:xfrm>
              <a:off x="7124758" y="2790883"/>
              <a:ext cx="85734" cy="76209"/>
            </a:xfrm>
            <a:prstGeom prst="rect">
              <a:avLst/>
            </a:prstGeom>
            <a:noFill/>
            <a:ln>
              <a:noFill/>
            </a:ln>
          </p:spPr>
        </p:pic>
        <p:pic>
          <p:nvPicPr>
            <p:cNvPr id="732" name="Google Shape;732;g3292fd40077_1_379"/>
            <p:cNvPicPr preferRelativeResize="0"/>
            <p:nvPr/>
          </p:nvPicPr>
          <p:blipFill rotWithShape="1">
            <a:blip r:embed="rId5">
              <a:alphaModFix/>
            </a:blip>
            <a:srcRect/>
            <a:stretch/>
          </p:blipFill>
          <p:spPr>
            <a:xfrm>
              <a:off x="7200958" y="4629208"/>
              <a:ext cx="76209" cy="76209"/>
            </a:xfrm>
            <a:prstGeom prst="rect">
              <a:avLst/>
            </a:prstGeom>
            <a:noFill/>
            <a:ln>
              <a:noFill/>
            </a:ln>
          </p:spPr>
        </p:pic>
        <p:pic>
          <p:nvPicPr>
            <p:cNvPr id="733" name="Google Shape;733;g3292fd40077_1_379"/>
            <p:cNvPicPr preferRelativeResize="0"/>
            <p:nvPr/>
          </p:nvPicPr>
          <p:blipFill rotWithShape="1">
            <a:blip r:embed="rId11">
              <a:alphaModFix/>
            </a:blip>
            <a:srcRect/>
            <a:stretch/>
          </p:blipFill>
          <p:spPr>
            <a:xfrm>
              <a:off x="6619933" y="3038533"/>
              <a:ext cx="85734" cy="76209"/>
            </a:xfrm>
            <a:prstGeom prst="rect">
              <a:avLst/>
            </a:prstGeom>
            <a:noFill/>
            <a:ln>
              <a:noFill/>
            </a:ln>
          </p:spPr>
        </p:pic>
        <p:pic>
          <p:nvPicPr>
            <p:cNvPr id="734" name="Google Shape;734;g3292fd40077_1_379"/>
            <p:cNvPicPr preferRelativeResize="0"/>
            <p:nvPr/>
          </p:nvPicPr>
          <p:blipFill rotWithShape="1">
            <a:blip r:embed="rId12">
              <a:alphaModFix/>
            </a:blip>
            <a:srcRect/>
            <a:stretch/>
          </p:blipFill>
          <p:spPr>
            <a:xfrm>
              <a:off x="7601008" y="4533958"/>
              <a:ext cx="85734" cy="76209"/>
            </a:xfrm>
            <a:prstGeom prst="rect">
              <a:avLst/>
            </a:prstGeom>
            <a:noFill/>
            <a:ln>
              <a:noFill/>
            </a:ln>
          </p:spPr>
        </p:pic>
      </p:grpSp>
      <p:pic>
        <p:nvPicPr>
          <p:cNvPr id="735" name="Google Shape;735;g3292fd40077_1_379"/>
          <p:cNvPicPr preferRelativeResize="0"/>
          <p:nvPr/>
        </p:nvPicPr>
        <p:blipFill rotWithShape="1">
          <a:blip r:embed="rId7">
            <a:alphaModFix/>
          </a:blip>
          <a:srcRect/>
          <a:stretch/>
        </p:blipFill>
        <p:spPr>
          <a:xfrm>
            <a:off x="10566477" y="4000558"/>
            <a:ext cx="76209" cy="85734"/>
          </a:xfrm>
          <a:prstGeom prst="rect">
            <a:avLst/>
          </a:prstGeom>
          <a:noFill/>
          <a:ln>
            <a:noFill/>
          </a:ln>
        </p:spPr>
      </p:pic>
      <p:pic>
        <p:nvPicPr>
          <p:cNvPr id="736" name="Google Shape;736;g3292fd40077_1_379"/>
          <p:cNvPicPr preferRelativeResize="0"/>
          <p:nvPr/>
        </p:nvPicPr>
        <p:blipFill rotWithShape="1">
          <a:blip r:embed="rId6">
            <a:alphaModFix/>
          </a:blip>
          <a:srcRect/>
          <a:stretch/>
        </p:blipFill>
        <p:spPr>
          <a:xfrm>
            <a:off x="10706177" y="3486208"/>
            <a:ext cx="76209" cy="76209"/>
          </a:xfrm>
          <a:prstGeom prst="rect">
            <a:avLst/>
          </a:prstGeom>
          <a:noFill/>
          <a:ln>
            <a:noFill/>
          </a:ln>
        </p:spPr>
      </p:pic>
      <p:pic>
        <p:nvPicPr>
          <p:cNvPr id="737" name="Google Shape;737;g3292fd40077_1_379"/>
          <p:cNvPicPr preferRelativeResize="0"/>
          <p:nvPr/>
        </p:nvPicPr>
        <p:blipFill rotWithShape="1">
          <a:blip r:embed="rId7">
            <a:alphaModFix/>
          </a:blip>
          <a:srcRect/>
          <a:stretch/>
        </p:blipFill>
        <p:spPr>
          <a:xfrm>
            <a:off x="10985577" y="3895783"/>
            <a:ext cx="76209" cy="85734"/>
          </a:xfrm>
          <a:prstGeom prst="rect">
            <a:avLst/>
          </a:prstGeom>
          <a:noFill/>
          <a:ln>
            <a:noFill/>
          </a:ln>
        </p:spPr>
      </p:pic>
      <p:sp>
        <p:nvSpPr>
          <p:cNvPr id="738" name="Google Shape;738;g3292fd40077_1_379"/>
          <p:cNvSpPr txBox="1"/>
          <p:nvPr/>
        </p:nvSpPr>
        <p:spPr>
          <a:xfrm>
            <a:off x="9274387" y="4805362"/>
            <a:ext cx="875453" cy="30035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b="1">
                <a:latin typeface="Calibri"/>
                <a:ea typeface="Calibri"/>
                <a:cs typeface="Calibri"/>
                <a:sym typeface="Calibri"/>
              </a:rPr>
              <a:t>Loss: 0</a:t>
            </a:r>
            <a:endParaRPr sz="1800">
              <a:latin typeface="Calibri"/>
              <a:ea typeface="Calibri"/>
              <a:cs typeface="Calibri"/>
              <a:sym typeface="Calibri"/>
            </a:endParaRPr>
          </a:p>
        </p:txBody>
      </p:sp>
      <p:sp>
        <p:nvSpPr>
          <p:cNvPr id="739" name="Google Shape;739;g3292fd40077_1_379"/>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743"/>
        <p:cNvGrpSpPr/>
        <p:nvPr/>
      </p:nvGrpSpPr>
      <p:grpSpPr>
        <a:xfrm>
          <a:off x="0" y="0"/>
          <a:ext cx="0" cy="0"/>
          <a:chOff x="0" y="0"/>
          <a:chExt cx="0" cy="0"/>
        </a:xfrm>
      </p:grpSpPr>
      <p:sp>
        <p:nvSpPr>
          <p:cNvPr id="744" name="Google Shape;744;g3292fd40077_1_454"/>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2367280" lvl="0" indent="0" algn="l" rtl="0">
              <a:lnSpc>
                <a:spcPct val="100000"/>
              </a:lnSpc>
              <a:spcBef>
                <a:spcPts val="0"/>
              </a:spcBef>
              <a:spcAft>
                <a:spcPts val="0"/>
              </a:spcAft>
              <a:buNone/>
            </a:pPr>
            <a:r>
              <a:rPr lang="en-US"/>
              <a:t>Softmax classifier</a:t>
            </a:r>
            <a:endParaRPr/>
          </a:p>
        </p:txBody>
      </p:sp>
      <p:grpSp>
        <p:nvGrpSpPr>
          <p:cNvPr id="745" name="Google Shape;745;g3292fd40077_1_454"/>
          <p:cNvGrpSpPr/>
          <p:nvPr/>
        </p:nvGrpSpPr>
        <p:grpSpPr>
          <a:xfrm>
            <a:off x="812800" y="1528825"/>
            <a:ext cx="8744035" cy="2799730"/>
            <a:chOff x="609600" y="1528825"/>
            <a:chExt cx="6558026" cy="2799730"/>
          </a:xfrm>
        </p:grpSpPr>
        <p:pic>
          <p:nvPicPr>
            <p:cNvPr id="746" name="Google Shape;746;g3292fd40077_1_454"/>
            <p:cNvPicPr preferRelativeResize="0"/>
            <p:nvPr/>
          </p:nvPicPr>
          <p:blipFill rotWithShape="1">
            <a:blip r:embed="rId3">
              <a:alphaModFix/>
            </a:blip>
            <a:srcRect/>
            <a:stretch/>
          </p:blipFill>
          <p:spPr>
            <a:xfrm>
              <a:off x="609600" y="1750620"/>
              <a:ext cx="6248400" cy="2577935"/>
            </a:xfrm>
            <a:prstGeom prst="rect">
              <a:avLst/>
            </a:prstGeom>
            <a:noFill/>
            <a:ln>
              <a:noFill/>
            </a:ln>
          </p:spPr>
        </p:pic>
        <p:sp>
          <p:nvSpPr>
            <p:cNvPr id="747" name="Google Shape;747;g3292fd40077_1_454"/>
            <p:cNvSpPr/>
            <p:nvPr/>
          </p:nvSpPr>
          <p:spPr>
            <a:xfrm>
              <a:off x="1814575" y="3129025"/>
              <a:ext cx="400050" cy="1143000"/>
            </a:xfrm>
            <a:custGeom>
              <a:avLst/>
              <a:gdLst/>
              <a:ahLst/>
              <a:cxnLst/>
              <a:rect l="l" t="t" r="r" b="b"/>
              <a:pathLst>
                <a:path w="400050" h="1143000" extrusionOk="0">
                  <a:moveTo>
                    <a:pt x="400050" y="0"/>
                  </a:moveTo>
                  <a:lnTo>
                    <a:pt x="0" y="0"/>
                  </a:lnTo>
                  <a:lnTo>
                    <a:pt x="0" y="1143000"/>
                  </a:lnTo>
                  <a:lnTo>
                    <a:pt x="400050" y="1143000"/>
                  </a:lnTo>
                  <a:lnTo>
                    <a:pt x="400050"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48" name="Google Shape;748;g3292fd40077_1_454"/>
            <p:cNvSpPr/>
            <p:nvPr/>
          </p:nvSpPr>
          <p:spPr>
            <a:xfrm>
              <a:off x="1814575" y="3129025"/>
              <a:ext cx="400050" cy="1143000"/>
            </a:xfrm>
            <a:custGeom>
              <a:avLst/>
              <a:gdLst/>
              <a:ahLst/>
              <a:cxnLst/>
              <a:rect l="l" t="t" r="r" b="b"/>
              <a:pathLst>
                <a:path w="400050" h="1143000" extrusionOk="0">
                  <a:moveTo>
                    <a:pt x="0" y="1143000"/>
                  </a:moveTo>
                  <a:lnTo>
                    <a:pt x="400050" y="1143000"/>
                  </a:lnTo>
                  <a:lnTo>
                    <a:pt x="400050" y="0"/>
                  </a:lnTo>
                  <a:lnTo>
                    <a:pt x="0" y="0"/>
                  </a:lnTo>
                  <a:lnTo>
                    <a:pt x="0" y="114300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49" name="Google Shape;749;g3292fd40077_1_454"/>
            <p:cNvSpPr/>
            <p:nvPr/>
          </p:nvSpPr>
          <p:spPr>
            <a:xfrm>
              <a:off x="4348226" y="1528825"/>
              <a:ext cx="2819400" cy="1143000"/>
            </a:xfrm>
            <a:custGeom>
              <a:avLst/>
              <a:gdLst/>
              <a:ahLst/>
              <a:cxnLst/>
              <a:rect l="l" t="t" r="r" b="b"/>
              <a:pathLst>
                <a:path w="2819400" h="1143000" extrusionOk="0">
                  <a:moveTo>
                    <a:pt x="2819400" y="0"/>
                  </a:moveTo>
                  <a:lnTo>
                    <a:pt x="0" y="0"/>
                  </a:lnTo>
                  <a:lnTo>
                    <a:pt x="0" y="1143000"/>
                  </a:lnTo>
                  <a:lnTo>
                    <a:pt x="2819400" y="1143000"/>
                  </a:lnTo>
                  <a:lnTo>
                    <a:pt x="2819400"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50" name="Google Shape;750;g3292fd40077_1_454"/>
            <p:cNvSpPr/>
            <p:nvPr/>
          </p:nvSpPr>
          <p:spPr>
            <a:xfrm>
              <a:off x="4348226" y="1528825"/>
              <a:ext cx="2819400" cy="1143000"/>
            </a:xfrm>
            <a:custGeom>
              <a:avLst/>
              <a:gdLst/>
              <a:ahLst/>
              <a:cxnLst/>
              <a:rect l="l" t="t" r="r" b="b"/>
              <a:pathLst>
                <a:path w="2819400" h="1143000" extrusionOk="0">
                  <a:moveTo>
                    <a:pt x="0" y="1143000"/>
                  </a:moveTo>
                  <a:lnTo>
                    <a:pt x="2819400" y="1143000"/>
                  </a:lnTo>
                  <a:lnTo>
                    <a:pt x="2819400" y="0"/>
                  </a:lnTo>
                  <a:lnTo>
                    <a:pt x="0" y="0"/>
                  </a:lnTo>
                  <a:lnTo>
                    <a:pt x="0" y="1143000"/>
                  </a:lnTo>
                  <a:close/>
                </a:path>
              </a:pathLst>
            </a:custGeom>
            <a:noFill/>
            <a:ln w="285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pic>
        <p:nvPicPr>
          <p:cNvPr id="751" name="Google Shape;751;g3292fd40077_1_454"/>
          <p:cNvPicPr preferRelativeResize="0"/>
          <p:nvPr/>
        </p:nvPicPr>
        <p:blipFill rotWithShape="1">
          <a:blip r:embed="rId4">
            <a:alphaModFix/>
          </a:blip>
          <a:srcRect/>
          <a:stretch/>
        </p:blipFill>
        <p:spPr>
          <a:xfrm>
            <a:off x="8082844" y="5897879"/>
            <a:ext cx="2149739" cy="462914"/>
          </a:xfrm>
          <a:prstGeom prst="rect">
            <a:avLst/>
          </a:prstGeom>
          <a:noFill/>
          <a:ln>
            <a:noFill/>
          </a:ln>
        </p:spPr>
      </p:pic>
      <p:sp>
        <p:nvSpPr>
          <p:cNvPr id="752" name="Google Shape;752;g3292fd40077_1_454"/>
          <p:cNvSpPr txBox="1"/>
          <p:nvPr/>
        </p:nvSpPr>
        <p:spPr>
          <a:xfrm>
            <a:off x="5916168" y="1813242"/>
            <a:ext cx="3522133" cy="51752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3200">
                <a:latin typeface="Calibri"/>
                <a:ea typeface="Calibri"/>
                <a:cs typeface="Calibri"/>
                <a:sym typeface="Calibri"/>
              </a:rPr>
              <a:t>(score function)</a:t>
            </a:r>
            <a:endParaRPr sz="3200">
              <a:latin typeface="Calibri"/>
              <a:ea typeface="Calibri"/>
              <a:cs typeface="Calibri"/>
              <a:sym typeface="Calibri"/>
            </a:endParaRPr>
          </a:p>
        </p:txBody>
      </p:sp>
      <p:pic>
        <p:nvPicPr>
          <p:cNvPr id="753" name="Google Shape;753;g3292fd40077_1_454"/>
          <p:cNvPicPr preferRelativeResize="0"/>
          <p:nvPr/>
        </p:nvPicPr>
        <p:blipFill rotWithShape="1">
          <a:blip r:embed="rId5">
            <a:alphaModFix/>
          </a:blip>
          <a:srcRect/>
          <a:stretch/>
        </p:blipFill>
        <p:spPr>
          <a:xfrm>
            <a:off x="1457040" y="4937210"/>
            <a:ext cx="7103072" cy="519528"/>
          </a:xfrm>
          <a:prstGeom prst="rect">
            <a:avLst/>
          </a:prstGeom>
          <a:noFill/>
          <a:ln>
            <a:noFill/>
          </a:ln>
        </p:spPr>
      </p:pic>
      <p:sp>
        <p:nvSpPr>
          <p:cNvPr id="754" name="Google Shape;754;g3292fd40077_1_454"/>
          <p:cNvSpPr txBox="1"/>
          <p:nvPr/>
        </p:nvSpPr>
        <p:spPr>
          <a:xfrm>
            <a:off x="613833" y="4430014"/>
            <a:ext cx="6913033" cy="2118995"/>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3200">
                <a:latin typeface="Calibri"/>
                <a:ea typeface="Calibri"/>
                <a:cs typeface="Calibri"/>
                <a:sym typeface="Calibri"/>
              </a:rPr>
              <a:t>Example with three classes:</a:t>
            </a:r>
            <a:endParaRPr sz="3200">
              <a:latin typeface="Calibri"/>
              <a:ea typeface="Calibri"/>
              <a:cs typeface="Calibri"/>
              <a:sym typeface="Calibri"/>
            </a:endParaRPr>
          </a:p>
          <a:p>
            <a:pPr marL="0" lvl="0" indent="0" algn="l" rtl="0">
              <a:lnSpc>
                <a:spcPct val="100000"/>
              </a:lnSpc>
              <a:spcBef>
                <a:spcPts val="2020"/>
              </a:spcBef>
              <a:spcAft>
                <a:spcPts val="0"/>
              </a:spcAft>
              <a:buNone/>
            </a:pPr>
            <a:endParaRPr sz="3200">
              <a:latin typeface="Calibri"/>
              <a:ea typeface="Calibri"/>
              <a:cs typeface="Calibri"/>
              <a:sym typeface="Calibri"/>
            </a:endParaRPr>
          </a:p>
          <a:p>
            <a:pPr marL="12700" lvl="0" indent="0" algn="l" rtl="0">
              <a:lnSpc>
                <a:spcPct val="100000"/>
              </a:lnSpc>
              <a:spcBef>
                <a:spcPts val="0"/>
              </a:spcBef>
              <a:spcAft>
                <a:spcPts val="0"/>
              </a:spcAft>
              <a:buNone/>
            </a:pPr>
            <a:r>
              <a:rPr lang="en-US" sz="2750">
                <a:latin typeface="Calibri"/>
                <a:ea typeface="Calibri"/>
                <a:cs typeface="Calibri"/>
                <a:sym typeface="Calibri"/>
              </a:rPr>
              <a:t>Interpretation: squashes values into</a:t>
            </a:r>
            <a:endParaRPr sz="2750">
              <a:latin typeface="Calibri"/>
              <a:ea typeface="Calibri"/>
              <a:cs typeface="Calibri"/>
              <a:sym typeface="Calibri"/>
            </a:endParaRPr>
          </a:p>
          <a:p>
            <a:pPr marL="12700" lvl="0" indent="0" algn="l" rtl="0">
              <a:lnSpc>
                <a:spcPct val="100000"/>
              </a:lnSpc>
              <a:spcBef>
                <a:spcPts val="80"/>
              </a:spcBef>
              <a:spcAft>
                <a:spcPts val="0"/>
              </a:spcAft>
              <a:buNone/>
            </a:pPr>
            <a:r>
              <a:rPr lang="en-US" sz="2750" i="1">
                <a:latin typeface="Calibri"/>
                <a:ea typeface="Calibri"/>
                <a:cs typeface="Calibri"/>
                <a:sym typeface="Calibri"/>
              </a:rPr>
              <a:t>probabilities </a:t>
            </a:r>
            <a:r>
              <a:rPr lang="en-US" sz="2750">
                <a:latin typeface="Calibri"/>
                <a:ea typeface="Calibri"/>
                <a:cs typeface="Calibri"/>
                <a:sym typeface="Calibri"/>
              </a:rPr>
              <a:t>ranging from 0 to 1</a:t>
            </a:r>
            <a:endParaRPr sz="2750">
              <a:latin typeface="Calibri"/>
              <a:ea typeface="Calibri"/>
              <a:cs typeface="Calibri"/>
              <a:sym typeface="Calibri"/>
            </a:endParaRPr>
          </a:p>
        </p:txBody>
      </p:sp>
      <p:sp>
        <p:nvSpPr>
          <p:cNvPr id="755" name="Google Shape;755;g3292fd40077_1_454"/>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759"/>
        <p:cNvGrpSpPr/>
        <p:nvPr/>
      </p:nvGrpSpPr>
      <p:grpSpPr>
        <a:xfrm>
          <a:off x="0" y="0"/>
          <a:ext cx="0" cy="0"/>
          <a:chOff x="0" y="0"/>
          <a:chExt cx="0" cy="0"/>
        </a:xfrm>
      </p:grpSpPr>
      <p:sp>
        <p:nvSpPr>
          <p:cNvPr id="760" name="Google Shape;760;g3292fd40077_1_468"/>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2281555" lvl="0" indent="0" algn="l" rtl="0">
              <a:lnSpc>
                <a:spcPct val="100000"/>
              </a:lnSpc>
              <a:spcBef>
                <a:spcPts val="0"/>
              </a:spcBef>
              <a:spcAft>
                <a:spcPts val="0"/>
              </a:spcAft>
              <a:buNone/>
            </a:pPr>
            <a:r>
              <a:rPr lang="en-US"/>
              <a:t>Cross-entropy loss</a:t>
            </a:r>
            <a:endParaRPr/>
          </a:p>
        </p:txBody>
      </p:sp>
      <p:grpSp>
        <p:nvGrpSpPr>
          <p:cNvPr id="761" name="Google Shape;761;g3292fd40077_1_468"/>
          <p:cNvGrpSpPr/>
          <p:nvPr/>
        </p:nvGrpSpPr>
        <p:grpSpPr>
          <a:xfrm>
            <a:off x="0" y="1757426"/>
            <a:ext cx="11906333" cy="4147032"/>
            <a:chOff x="0" y="1757426"/>
            <a:chExt cx="8929750" cy="4147032"/>
          </a:xfrm>
        </p:grpSpPr>
        <p:pic>
          <p:nvPicPr>
            <p:cNvPr id="762" name="Google Shape;762;g3292fd40077_1_468"/>
            <p:cNvPicPr preferRelativeResize="0"/>
            <p:nvPr/>
          </p:nvPicPr>
          <p:blipFill rotWithShape="1">
            <a:blip r:embed="rId3">
              <a:alphaModFix/>
            </a:blip>
            <a:srcRect/>
            <a:stretch/>
          </p:blipFill>
          <p:spPr>
            <a:xfrm>
              <a:off x="0" y="2006573"/>
              <a:ext cx="8245489" cy="3897885"/>
            </a:xfrm>
            <a:prstGeom prst="rect">
              <a:avLst/>
            </a:prstGeom>
            <a:noFill/>
            <a:ln>
              <a:noFill/>
            </a:ln>
          </p:spPr>
        </p:pic>
        <p:sp>
          <p:nvSpPr>
            <p:cNvPr id="763" name="Google Shape;763;g3292fd40077_1_468"/>
            <p:cNvSpPr/>
            <p:nvPr/>
          </p:nvSpPr>
          <p:spPr>
            <a:xfrm>
              <a:off x="0" y="2147951"/>
              <a:ext cx="2319655" cy="885825"/>
            </a:xfrm>
            <a:custGeom>
              <a:avLst/>
              <a:gdLst/>
              <a:ahLst/>
              <a:cxnLst/>
              <a:rect l="l" t="t" r="r" b="b"/>
              <a:pathLst>
                <a:path w="2319655" h="885825" extrusionOk="0">
                  <a:moveTo>
                    <a:pt x="2319337" y="0"/>
                  </a:moveTo>
                  <a:lnTo>
                    <a:pt x="0" y="0"/>
                  </a:lnTo>
                  <a:lnTo>
                    <a:pt x="0" y="885825"/>
                  </a:lnTo>
                  <a:lnTo>
                    <a:pt x="2319337" y="885825"/>
                  </a:lnTo>
                  <a:lnTo>
                    <a:pt x="2319337"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64" name="Google Shape;764;g3292fd40077_1_468"/>
            <p:cNvSpPr/>
            <p:nvPr/>
          </p:nvSpPr>
          <p:spPr>
            <a:xfrm>
              <a:off x="0" y="2147951"/>
              <a:ext cx="2319655" cy="885825"/>
            </a:xfrm>
            <a:custGeom>
              <a:avLst/>
              <a:gdLst/>
              <a:ahLst/>
              <a:cxnLst/>
              <a:rect l="l" t="t" r="r" b="b"/>
              <a:pathLst>
                <a:path w="2319655" h="885825" extrusionOk="0">
                  <a:moveTo>
                    <a:pt x="0" y="885825"/>
                  </a:moveTo>
                  <a:lnTo>
                    <a:pt x="2319337" y="885825"/>
                  </a:lnTo>
                  <a:lnTo>
                    <a:pt x="2319337" y="0"/>
                  </a:ln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65" name="Google Shape;765;g3292fd40077_1_468"/>
            <p:cNvPicPr preferRelativeResize="0"/>
            <p:nvPr/>
          </p:nvPicPr>
          <p:blipFill rotWithShape="1">
            <a:blip r:embed="rId4">
              <a:alphaModFix/>
            </a:blip>
            <a:srcRect/>
            <a:stretch/>
          </p:blipFill>
          <p:spPr>
            <a:xfrm>
              <a:off x="4648199" y="3105150"/>
              <a:ext cx="2924175" cy="1219200"/>
            </a:xfrm>
            <a:prstGeom prst="rect">
              <a:avLst/>
            </a:prstGeom>
            <a:noFill/>
            <a:ln>
              <a:noFill/>
            </a:ln>
          </p:spPr>
        </p:pic>
        <p:sp>
          <p:nvSpPr>
            <p:cNvPr id="766" name="Google Shape;766;g3292fd40077_1_468"/>
            <p:cNvSpPr/>
            <p:nvPr/>
          </p:nvSpPr>
          <p:spPr>
            <a:xfrm>
              <a:off x="6110350" y="1757426"/>
              <a:ext cx="2819400" cy="1143000"/>
            </a:xfrm>
            <a:custGeom>
              <a:avLst/>
              <a:gdLst/>
              <a:ahLst/>
              <a:cxnLst/>
              <a:rect l="l" t="t" r="r" b="b"/>
              <a:pathLst>
                <a:path w="2819400" h="1143000" extrusionOk="0">
                  <a:moveTo>
                    <a:pt x="2819400" y="0"/>
                  </a:moveTo>
                  <a:lnTo>
                    <a:pt x="0" y="0"/>
                  </a:lnTo>
                  <a:lnTo>
                    <a:pt x="0" y="1143000"/>
                  </a:lnTo>
                  <a:lnTo>
                    <a:pt x="2819400" y="1143000"/>
                  </a:lnTo>
                  <a:lnTo>
                    <a:pt x="2819400"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67" name="Google Shape;767;g3292fd40077_1_468"/>
            <p:cNvSpPr/>
            <p:nvPr/>
          </p:nvSpPr>
          <p:spPr>
            <a:xfrm>
              <a:off x="6110350" y="1757426"/>
              <a:ext cx="2819400" cy="1143000"/>
            </a:xfrm>
            <a:custGeom>
              <a:avLst/>
              <a:gdLst/>
              <a:ahLst/>
              <a:cxnLst/>
              <a:rect l="l" t="t" r="r" b="b"/>
              <a:pathLst>
                <a:path w="2819400" h="1143000" extrusionOk="0">
                  <a:moveTo>
                    <a:pt x="0" y="1143000"/>
                  </a:moveTo>
                  <a:lnTo>
                    <a:pt x="2819400" y="1143000"/>
                  </a:lnTo>
                  <a:lnTo>
                    <a:pt x="2819400" y="0"/>
                  </a:lnTo>
                  <a:lnTo>
                    <a:pt x="0" y="0"/>
                  </a:lnTo>
                  <a:lnTo>
                    <a:pt x="0" y="1143000"/>
                  </a:lnTo>
                  <a:close/>
                </a:path>
              </a:pathLst>
            </a:custGeom>
            <a:noFill/>
            <a:ln w="285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68" name="Google Shape;768;g3292fd40077_1_468"/>
          <p:cNvSpPr txBox="1"/>
          <p:nvPr/>
        </p:nvSpPr>
        <p:spPr>
          <a:xfrm>
            <a:off x="8271087" y="2042223"/>
            <a:ext cx="3528907" cy="51752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3200">
                <a:latin typeface="Calibri"/>
                <a:ea typeface="Calibri"/>
                <a:cs typeface="Calibri"/>
                <a:sym typeface="Calibri"/>
              </a:rPr>
              <a:t>(score function)</a:t>
            </a:r>
            <a:endParaRPr sz="3200">
              <a:latin typeface="Calibri"/>
              <a:ea typeface="Calibri"/>
              <a:cs typeface="Calibri"/>
              <a:sym typeface="Calibri"/>
            </a:endParaRPr>
          </a:p>
        </p:txBody>
      </p:sp>
      <p:grpSp>
        <p:nvGrpSpPr>
          <p:cNvPr id="769" name="Google Shape;769;g3292fd40077_1_468"/>
          <p:cNvGrpSpPr/>
          <p:nvPr/>
        </p:nvGrpSpPr>
        <p:grpSpPr>
          <a:xfrm>
            <a:off x="1517649" y="2957575"/>
            <a:ext cx="9626685" cy="3066987"/>
            <a:chOff x="1138237" y="2957575"/>
            <a:chExt cx="7220014" cy="3066987"/>
          </a:xfrm>
        </p:grpSpPr>
        <p:sp>
          <p:nvSpPr>
            <p:cNvPr id="770" name="Google Shape;770;g3292fd40077_1_468"/>
            <p:cNvSpPr/>
            <p:nvPr/>
          </p:nvSpPr>
          <p:spPr>
            <a:xfrm>
              <a:off x="1138237" y="3062350"/>
              <a:ext cx="3524250" cy="1171575"/>
            </a:xfrm>
            <a:custGeom>
              <a:avLst/>
              <a:gdLst/>
              <a:ahLst/>
              <a:cxnLst/>
              <a:rect l="l" t="t" r="r" b="b"/>
              <a:pathLst>
                <a:path w="3524250" h="1171575" extrusionOk="0">
                  <a:moveTo>
                    <a:pt x="3524250" y="0"/>
                  </a:moveTo>
                  <a:lnTo>
                    <a:pt x="0" y="0"/>
                  </a:lnTo>
                  <a:lnTo>
                    <a:pt x="0" y="1171575"/>
                  </a:lnTo>
                  <a:lnTo>
                    <a:pt x="3524250" y="1171575"/>
                  </a:lnTo>
                  <a:lnTo>
                    <a:pt x="3524250"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71" name="Google Shape;771;g3292fd40077_1_468"/>
            <p:cNvSpPr/>
            <p:nvPr/>
          </p:nvSpPr>
          <p:spPr>
            <a:xfrm>
              <a:off x="1138237" y="3062350"/>
              <a:ext cx="3524250" cy="1171575"/>
            </a:xfrm>
            <a:custGeom>
              <a:avLst/>
              <a:gdLst/>
              <a:ahLst/>
              <a:cxnLst/>
              <a:rect l="l" t="t" r="r" b="b"/>
              <a:pathLst>
                <a:path w="3524250" h="1171575" extrusionOk="0">
                  <a:moveTo>
                    <a:pt x="0" y="1171575"/>
                  </a:moveTo>
                  <a:lnTo>
                    <a:pt x="3524250" y="1171575"/>
                  </a:lnTo>
                  <a:lnTo>
                    <a:pt x="3524250" y="0"/>
                  </a:lnTo>
                  <a:lnTo>
                    <a:pt x="0" y="0"/>
                  </a:lnTo>
                  <a:lnTo>
                    <a:pt x="0" y="1171575"/>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72" name="Google Shape;772;g3292fd40077_1_468"/>
            <p:cNvSpPr/>
            <p:nvPr/>
          </p:nvSpPr>
          <p:spPr>
            <a:xfrm>
              <a:off x="4824475" y="2957575"/>
              <a:ext cx="3533775" cy="1171575"/>
            </a:xfrm>
            <a:custGeom>
              <a:avLst/>
              <a:gdLst/>
              <a:ahLst/>
              <a:cxnLst/>
              <a:rect l="l" t="t" r="r" b="b"/>
              <a:pathLst>
                <a:path w="3533775" h="1171575" extrusionOk="0">
                  <a:moveTo>
                    <a:pt x="3533775" y="0"/>
                  </a:moveTo>
                  <a:lnTo>
                    <a:pt x="0" y="0"/>
                  </a:lnTo>
                  <a:lnTo>
                    <a:pt x="0" y="1171575"/>
                  </a:lnTo>
                  <a:lnTo>
                    <a:pt x="3533775" y="1171575"/>
                  </a:lnTo>
                  <a:lnTo>
                    <a:pt x="3533775"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73" name="Google Shape;773;g3292fd40077_1_468"/>
            <p:cNvSpPr/>
            <p:nvPr/>
          </p:nvSpPr>
          <p:spPr>
            <a:xfrm>
              <a:off x="4824475" y="2957575"/>
              <a:ext cx="3533775" cy="1171575"/>
            </a:xfrm>
            <a:custGeom>
              <a:avLst/>
              <a:gdLst/>
              <a:ahLst/>
              <a:cxnLst/>
              <a:rect l="l" t="t" r="r" b="b"/>
              <a:pathLst>
                <a:path w="3533775" h="1171575" extrusionOk="0">
                  <a:moveTo>
                    <a:pt x="0" y="1171575"/>
                  </a:moveTo>
                  <a:lnTo>
                    <a:pt x="3533775" y="1171575"/>
                  </a:lnTo>
                  <a:lnTo>
                    <a:pt x="3533775" y="0"/>
                  </a:lnTo>
                  <a:lnTo>
                    <a:pt x="0" y="0"/>
                  </a:lnTo>
                  <a:lnTo>
                    <a:pt x="0" y="1171575"/>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74" name="Google Shape;774;g3292fd40077_1_468"/>
            <p:cNvSpPr/>
            <p:nvPr/>
          </p:nvSpPr>
          <p:spPr>
            <a:xfrm>
              <a:off x="1757426" y="4224337"/>
              <a:ext cx="6600825" cy="1800225"/>
            </a:xfrm>
            <a:custGeom>
              <a:avLst/>
              <a:gdLst/>
              <a:ahLst/>
              <a:cxnLst/>
              <a:rect l="l" t="t" r="r" b="b"/>
              <a:pathLst>
                <a:path w="6600825" h="1800225" extrusionOk="0">
                  <a:moveTo>
                    <a:pt x="6600825" y="0"/>
                  </a:moveTo>
                  <a:lnTo>
                    <a:pt x="0" y="0"/>
                  </a:lnTo>
                  <a:lnTo>
                    <a:pt x="0" y="1800225"/>
                  </a:lnTo>
                  <a:lnTo>
                    <a:pt x="6600825" y="1800225"/>
                  </a:lnTo>
                  <a:lnTo>
                    <a:pt x="6600825"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75" name="Google Shape;775;g3292fd40077_1_468"/>
            <p:cNvSpPr/>
            <p:nvPr/>
          </p:nvSpPr>
          <p:spPr>
            <a:xfrm>
              <a:off x="1757426" y="4224337"/>
              <a:ext cx="6600825" cy="1800225"/>
            </a:xfrm>
            <a:custGeom>
              <a:avLst/>
              <a:gdLst/>
              <a:ahLst/>
              <a:cxnLst/>
              <a:rect l="l" t="t" r="r" b="b"/>
              <a:pathLst>
                <a:path w="6600825" h="1800225" extrusionOk="0">
                  <a:moveTo>
                    <a:pt x="0" y="1800225"/>
                  </a:moveTo>
                  <a:lnTo>
                    <a:pt x="6600825" y="1800225"/>
                  </a:lnTo>
                  <a:lnTo>
                    <a:pt x="6600825" y="0"/>
                  </a:lnTo>
                  <a:lnTo>
                    <a:pt x="0" y="0"/>
                  </a:lnTo>
                  <a:lnTo>
                    <a:pt x="0" y="1800225"/>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76" name="Google Shape;776;g3292fd40077_1_468"/>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780"/>
        <p:cNvGrpSpPr/>
        <p:nvPr/>
      </p:nvGrpSpPr>
      <p:grpSpPr>
        <a:xfrm>
          <a:off x="0" y="0"/>
          <a:ext cx="0" cy="0"/>
          <a:chOff x="0" y="0"/>
          <a:chExt cx="0" cy="0"/>
        </a:xfrm>
      </p:grpSpPr>
      <p:sp>
        <p:nvSpPr>
          <p:cNvPr id="781" name="Google Shape;781;g3292fd40077_1_487"/>
          <p:cNvSpPr txBox="1">
            <a:spLocks noGrp="1"/>
          </p:cNvSpPr>
          <p:nvPr>
            <p:ph type="title"/>
          </p:nvPr>
        </p:nvSpPr>
        <p:spPr>
          <a:xfrm>
            <a:off x="284056" y="166624"/>
            <a:ext cx="11525673" cy="1301876"/>
          </a:xfrm>
          <a:prstGeom prst="rect">
            <a:avLst/>
          </a:prstGeom>
          <a:noFill/>
          <a:ln>
            <a:noFill/>
          </a:ln>
        </p:spPr>
        <p:txBody>
          <a:bodyPr spcFirstLastPara="1" wrap="square" lIns="0" tIns="310875" rIns="0" bIns="0" anchor="t" anchorCtr="0">
            <a:spAutoFit/>
          </a:bodyPr>
          <a:lstStyle/>
          <a:p>
            <a:pPr marL="3626484" lvl="0" indent="0" algn="l" rtl="0">
              <a:lnSpc>
                <a:spcPct val="100000"/>
              </a:lnSpc>
              <a:spcBef>
                <a:spcPts val="0"/>
              </a:spcBef>
              <a:spcAft>
                <a:spcPts val="0"/>
              </a:spcAft>
              <a:buNone/>
            </a:pPr>
            <a:r>
              <a:rPr lang="en-US"/>
              <a:t>Losses</a:t>
            </a:r>
            <a:endParaRPr/>
          </a:p>
        </p:txBody>
      </p:sp>
      <p:sp>
        <p:nvSpPr>
          <p:cNvPr id="782" name="Google Shape;782;g3292fd40077_1_487"/>
          <p:cNvSpPr txBox="1"/>
          <p:nvPr/>
        </p:nvSpPr>
        <p:spPr>
          <a:xfrm>
            <a:off x="715433" y="1606930"/>
            <a:ext cx="10494433" cy="4550410"/>
          </a:xfrm>
          <a:prstGeom prst="rect">
            <a:avLst/>
          </a:prstGeom>
          <a:noFill/>
          <a:ln>
            <a:noFill/>
          </a:ln>
        </p:spPr>
        <p:txBody>
          <a:bodyPr spcFirstLastPara="1" wrap="square" lIns="0" tIns="33650" rIns="0" bIns="0" anchor="t" anchorCtr="0">
            <a:spAutoFit/>
          </a:bodyPr>
          <a:lstStyle/>
          <a:p>
            <a:pPr marL="355600" marR="549275" lvl="0" indent="-343535" algn="l" rtl="0">
              <a:lnSpc>
                <a:spcPct val="119656"/>
              </a:lnSpc>
              <a:spcBef>
                <a:spcPts val="0"/>
              </a:spcBef>
              <a:spcAft>
                <a:spcPts val="0"/>
              </a:spcAft>
              <a:buSzPts val="3200"/>
              <a:buFont typeface="Arial"/>
              <a:buChar char="•"/>
            </a:pPr>
            <a:r>
              <a:rPr lang="en-US" sz="3200">
                <a:latin typeface="Calibri"/>
                <a:ea typeface="Calibri"/>
                <a:cs typeface="Calibri"/>
                <a:sym typeface="Calibri"/>
              </a:rPr>
              <a:t>Cross-entropy loss is just one possible loss function</a:t>
            </a:r>
            <a:endParaRPr sz="3200">
              <a:latin typeface="Calibri"/>
              <a:ea typeface="Calibri"/>
              <a:cs typeface="Calibri"/>
              <a:sym typeface="Calibri"/>
            </a:endParaRPr>
          </a:p>
          <a:p>
            <a:pPr marL="755015" marR="52705" lvl="1" indent="-285115" algn="l" rtl="0">
              <a:lnSpc>
                <a:spcPct val="102499"/>
              </a:lnSpc>
              <a:spcBef>
                <a:spcPts val="530"/>
              </a:spcBef>
              <a:spcAft>
                <a:spcPts val="0"/>
              </a:spcAft>
              <a:buSzPts val="2750"/>
              <a:buFont typeface="Arial"/>
              <a:buChar char="–"/>
            </a:pPr>
            <a:r>
              <a:rPr lang="en-US" sz="2750">
                <a:latin typeface="Calibri"/>
                <a:ea typeface="Calibri"/>
                <a:cs typeface="Calibri"/>
                <a:sym typeface="Calibri"/>
              </a:rPr>
              <a:t>One nice property is that it reinterprets scores as 	probabilities, which have a natural meaning</a:t>
            </a:r>
            <a:endParaRPr sz="2750">
              <a:latin typeface="Calibri"/>
              <a:ea typeface="Calibri"/>
              <a:cs typeface="Calibri"/>
              <a:sym typeface="Calibri"/>
            </a:endParaRPr>
          </a:p>
          <a:p>
            <a:pPr marL="0" lvl="1" indent="0" algn="l" rtl="0">
              <a:lnSpc>
                <a:spcPct val="100000"/>
              </a:lnSpc>
              <a:spcBef>
                <a:spcPts val="2190"/>
              </a:spcBef>
              <a:spcAft>
                <a:spcPts val="0"/>
              </a:spcAft>
              <a:buSzPts val="2750"/>
              <a:buFont typeface="Arial"/>
              <a:buNone/>
            </a:pPr>
            <a:endParaRPr sz="2750">
              <a:latin typeface="Calibri"/>
              <a:ea typeface="Calibri"/>
              <a:cs typeface="Calibri"/>
              <a:sym typeface="Calibri"/>
            </a:endParaRPr>
          </a:p>
          <a:p>
            <a:pPr marL="355600" marR="5080" lvl="0" indent="-343535" algn="l" rtl="0">
              <a:lnSpc>
                <a:spcPct val="119656"/>
              </a:lnSpc>
              <a:spcBef>
                <a:spcPts val="0"/>
              </a:spcBef>
              <a:spcAft>
                <a:spcPts val="0"/>
              </a:spcAft>
              <a:buSzPts val="3200"/>
              <a:buFont typeface="Arial"/>
              <a:buChar char="•"/>
            </a:pPr>
            <a:r>
              <a:rPr lang="en-US" sz="3200">
                <a:latin typeface="Calibri"/>
                <a:ea typeface="Calibri"/>
                <a:cs typeface="Calibri"/>
                <a:sym typeface="Calibri"/>
              </a:rPr>
              <a:t>SVM (max-margin) loss functions also used to be popular</a:t>
            </a:r>
            <a:endParaRPr sz="3200">
              <a:latin typeface="Calibri"/>
              <a:ea typeface="Calibri"/>
              <a:cs typeface="Calibri"/>
              <a:sym typeface="Calibri"/>
            </a:endParaRPr>
          </a:p>
          <a:p>
            <a:pPr marL="755015" marR="64135" lvl="1" indent="-285115" algn="l" rtl="0">
              <a:lnSpc>
                <a:spcPct val="102299"/>
              </a:lnSpc>
              <a:spcBef>
                <a:spcPts val="540"/>
              </a:spcBef>
              <a:spcAft>
                <a:spcPts val="0"/>
              </a:spcAft>
              <a:buSzPts val="2750"/>
              <a:buFont typeface="Arial"/>
              <a:buChar char="–"/>
            </a:pPr>
            <a:r>
              <a:rPr lang="en-US" sz="2750">
                <a:latin typeface="Calibri"/>
                <a:ea typeface="Calibri"/>
                <a:cs typeface="Calibri"/>
                <a:sym typeface="Calibri"/>
              </a:rPr>
              <a:t>But currently, cross-entropy is the most common 	classification loss</a:t>
            </a:r>
            <a:endParaRPr sz="2750">
              <a:latin typeface="Calibri"/>
              <a:ea typeface="Calibri"/>
              <a:cs typeface="Calibri"/>
              <a:sym typeface="Calibri"/>
            </a:endParaRPr>
          </a:p>
        </p:txBody>
      </p:sp>
      <p:sp>
        <p:nvSpPr>
          <p:cNvPr id="783" name="Google Shape;783;g3292fd40077_1_487"/>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787"/>
        <p:cNvGrpSpPr/>
        <p:nvPr/>
      </p:nvGrpSpPr>
      <p:grpSpPr>
        <a:xfrm>
          <a:off x="0" y="0"/>
          <a:ext cx="0" cy="0"/>
          <a:chOff x="0" y="0"/>
          <a:chExt cx="0" cy="0"/>
        </a:xfrm>
      </p:grpSpPr>
      <p:sp>
        <p:nvSpPr>
          <p:cNvPr id="788" name="Google Shape;788;g3292fd40077_1_492"/>
          <p:cNvSpPr txBox="1">
            <a:spLocks noGrp="1"/>
          </p:cNvSpPr>
          <p:nvPr>
            <p:ph type="title"/>
          </p:nvPr>
        </p:nvSpPr>
        <p:spPr>
          <a:xfrm>
            <a:off x="4631604" y="262255"/>
            <a:ext cx="2929467" cy="70104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a:t>Summary</a:t>
            </a:r>
            <a:endParaRPr/>
          </a:p>
        </p:txBody>
      </p:sp>
      <p:sp>
        <p:nvSpPr>
          <p:cNvPr id="789" name="Google Shape;789;g3292fd40077_1_492"/>
          <p:cNvSpPr txBox="1"/>
          <p:nvPr/>
        </p:nvSpPr>
        <p:spPr>
          <a:xfrm>
            <a:off x="715433" y="1044940"/>
            <a:ext cx="9412393" cy="3082925"/>
          </a:xfrm>
          <a:prstGeom prst="rect">
            <a:avLst/>
          </a:prstGeom>
          <a:noFill/>
          <a:ln>
            <a:noFill/>
          </a:ln>
        </p:spPr>
        <p:txBody>
          <a:bodyPr spcFirstLastPara="1" wrap="square" lIns="0" tIns="120650" rIns="0" bIns="0" anchor="t" anchorCtr="0">
            <a:spAutoFit/>
          </a:bodyPr>
          <a:lstStyle/>
          <a:p>
            <a:pPr marL="355600" lvl="0" indent="-342900" algn="l" rtl="0">
              <a:lnSpc>
                <a:spcPct val="100000"/>
              </a:lnSpc>
              <a:spcBef>
                <a:spcPts val="0"/>
              </a:spcBef>
              <a:spcAft>
                <a:spcPts val="0"/>
              </a:spcAft>
              <a:buSzPts val="3200"/>
              <a:buFont typeface="Arial"/>
              <a:buChar char="•"/>
            </a:pPr>
            <a:r>
              <a:rPr lang="en-US" sz="3200">
                <a:latin typeface="Calibri"/>
                <a:ea typeface="Calibri"/>
                <a:cs typeface="Calibri"/>
                <a:sym typeface="Calibri"/>
              </a:rPr>
              <a:t>Have score function and loss function</a:t>
            </a:r>
            <a:endParaRPr sz="3200">
              <a:latin typeface="Calibri"/>
              <a:ea typeface="Calibri"/>
              <a:cs typeface="Calibri"/>
              <a:sym typeface="Calibri"/>
            </a:endParaRPr>
          </a:p>
          <a:p>
            <a:pPr marL="755015" marR="164465" lvl="1" indent="-285115" algn="l" rtl="0">
              <a:lnSpc>
                <a:spcPct val="102400"/>
              </a:lnSpc>
              <a:spcBef>
                <a:spcPts val="660"/>
              </a:spcBef>
              <a:spcAft>
                <a:spcPts val="0"/>
              </a:spcAft>
              <a:buSzPts val="2750"/>
              <a:buFont typeface="Arial"/>
              <a:buChar char="–"/>
            </a:pPr>
            <a:r>
              <a:rPr lang="en-US" sz="2750">
                <a:latin typeface="Calibri"/>
                <a:ea typeface="Calibri"/>
                <a:cs typeface="Calibri"/>
                <a:sym typeface="Calibri"/>
              </a:rPr>
              <a:t>Currently, score function is based on linear 	classifier</a:t>
            </a:r>
            <a:endParaRPr sz="2750">
              <a:latin typeface="Calibri"/>
              <a:ea typeface="Calibri"/>
              <a:cs typeface="Calibri"/>
              <a:sym typeface="Calibri"/>
            </a:endParaRPr>
          </a:p>
          <a:p>
            <a:pPr marL="755015" marR="5080" lvl="1" indent="-285115" algn="l" rtl="0">
              <a:lnSpc>
                <a:spcPct val="100000"/>
              </a:lnSpc>
              <a:spcBef>
                <a:spcPts val="755"/>
              </a:spcBef>
              <a:spcAft>
                <a:spcPts val="0"/>
              </a:spcAft>
              <a:buSzPts val="2750"/>
              <a:buFont typeface="Arial"/>
              <a:buChar char="–"/>
            </a:pPr>
            <a:r>
              <a:rPr lang="en-US" sz="2750">
                <a:latin typeface="Calibri"/>
                <a:ea typeface="Calibri"/>
                <a:cs typeface="Calibri"/>
                <a:sym typeface="Calibri"/>
              </a:rPr>
              <a:t>Next, will generalize to convolutional neural 	networks</a:t>
            </a:r>
            <a:endParaRPr sz="2750">
              <a:latin typeface="Calibri"/>
              <a:ea typeface="Calibri"/>
              <a:cs typeface="Calibri"/>
              <a:sym typeface="Calibri"/>
            </a:endParaRPr>
          </a:p>
          <a:p>
            <a:pPr marL="355600" lvl="0" indent="-342900" algn="l" rtl="0">
              <a:lnSpc>
                <a:spcPct val="100000"/>
              </a:lnSpc>
              <a:spcBef>
                <a:spcPts val="760"/>
              </a:spcBef>
              <a:spcAft>
                <a:spcPts val="0"/>
              </a:spcAft>
              <a:buSzPts val="3200"/>
              <a:buFont typeface="Arial"/>
              <a:buChar char="•"/>
            </a:pPr>
            <a:r>
              <a:rPr lang="en-US" sz="3200">
                <a:latin typeface="Calibri"/>
                <a:ea typeface="Calibri"/>
                <a:cs typeface="Calibri"/>
                <a:sym typeface="Calibri"/>
              </a:rPr>
              <a:t>Find W and b to minimize loss</a:t>
            </a:r>
            <a:endParaRPr sz="3200">
              <a:latin typeface="Calibri"/>
              <a:ea typeface="Calibri"/>
              <a:cs typeface="Calibri"/>
              <a:sym typeface="Calibri"/>
            </a:endParaRPr>
          </a:p>
        </p:txBody>
      </p:sp>
      <p:pic>
        <p:nvPicPr>
          <p:cNvPr id="790" name="Google Shape;790;g3292fd40077_1_492"/>
          <p:cNvPicPr preferRelativeResize="0"/>
          <p:nvPr/>
        </p:nvPicPr>
        <p:blipFill rotWithShape="1">
          <a:blip r:embed="rId3">
            <a:alphaModFix/>
          </a:blip>
          <a:srcRect/>
          <a:stretch/>
        </p:blipFill>
        <p:spPr>
          <a:xfrm>
            <a:off x="1775480" y="4589689"/>
            <a:ext cx="4791965" cy="919842"/>
          </a:xfrm>
          <a:prstGeom prst="rect">
            <a:avLst/>
          </a:prstGeom>
          <a:noFill/>
          <a:ln>
            <a:noFill/>
          </a:ln>
        </p:spPr>
      </p:pic>
      <p:sp>
        <p:nvSpPr>
          <p:cNvPr id="791" name="Google Shape;791;g3292fd40077_1_492"/>
          <p:cNvSpPr txBox="1"/>
          <p:nvPr/>
        </p:nvSpPr>
        <p:spPr>
          <a:xfrm>
            <a:off x="9192000" y="0"/>
            <a:ext cx="30000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800">
                <a:solidFill>
                  <a:srgbClr val="000000"/>
                </a:solidFill>
              </a:rPr>
              <a:t>CV </a:t>
            </a:r>
            <a:r>
              <a:rPr lang="en-US" sz="800"/>
              <a:t>9</a:t>
            </a:r>
            <a:r>
              <a:rPr lang="en-US" sz="800">
                <a:solidFill>
                  <a:srgbClr val="000000"/>
                </a:solidFill>
              </a:rPr>
              <a:t>: </a:t>
            </a:r>
            <a:r>
              <a:rPr lang="en-US" sz="800"/>
              <a:t>Image Classification</a:t>
            </a:r>
            <a:endParaRPr sz="800">
              <a:solidFill>
                <a:srgbClr val="0000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60</a:t>
            </a:fld>
            <a:endParaRPr/>
          </a:p>
        </p:txBody>
      </p:sp>
      <p:sp>
        <p:nvSpPr>
          <p:cNvPr id="797" name="Google Shape;797;p67"/>
          <p:cNvSpPr txBox="1">
            <a:spLocks noGrp="1"/>
          </p:cNvSpPr>
          <p:nvPr>
            <p:ph type="body" idx="1"/>
          </p:nvPr>
        </p:nvSpPr>
        <p:spPr>
          <a:xfrm>
            <a:off x="282100" y="1186776"/>
            <a:ext cx="11262900" cy="2493900"/>
          </a:xfrm>
          <a:prstGeom prst="rect">
            <a:avLst/>
          </a:prstGeom>
          <a:noFill/>
          <a:ln>
            <a:noFill/>
          </a:ln>
        </p:spPr>
        <p:txBody>
          <a:bodyPr spcFirstLastPara="1" wrap="square" lIns="91425" tIns="45700" rIns="91425" bIns="45700" anchor="t" anchorCtr="0">
            <a:normAutofit fontScale="70000" lnSpcReduction="20000"/>
          </a:bodyPr>
          <a:lstStyle/>
          <a:p>
            <a:pPr marL="457200" lvl="0" indent="-322897" algn="l" rtl="0">
              <a:lnSpc>
                <a:spcPct val="100000"/>
              </a:lnSpc>
              <a:spcBef>
                <a:spcPts val="1000"/>
              </a:spcBef>
              <a:spcAft>
                <a:spcPts val="0"/>
              </a:spcAft>
              <a:buClr>
                <a:schemeClr val="dk1"/>
              </a:buClr>
              <a:buSzPct val="100000"/>
              <a:buFont typeface="Proxima Nova"/>
              <a:buChar char="•"/>
            </a:pPr>
            <a:r>
              <a:rPr lang="en-US" sz="2700" i="1" u="sng">
                <a:highlight>
                  <a:srgbClr val="93C47D"/>
                </a:highlight>
                <a:latin typeface="Proxima Nova"/>
                <a:ea typeface="Proxima Nova"/>
                <a:cs typeface="Proxima Nova"/>
                <a:sym typeface="Proxima Nova"/>
              </a:rPr>
              <a:t>Additional Readings and References</a:t>
            </a:r>
            <a:r>
              <a:rPr lang="en-US" sz="2700" i="1" u="sng">
                <a:latin typeface="Proxima Nova"/>
                <a:ea typeface="Proxima Nova"/>
                <a:cs typeface="Proxima Nova"/>
                <a:sym typeface="Proxima Nova"/>
              </a:rPr>
              <a:t>: </a:t>
            </a:r>
            <a:endParaRPr sz="2700" i="1" u="sng">
              <a:latin typeface="Proxima Nova"/>
              <a:ea typeface="Proxima Nova"/>
              <a:cs typeface="Proxima Nova"/>
              <a:sym typeface="Proxima Nova"/>
            </a:endParaRPr>
          </a:p>
          <a:p>
            <a:pPr marL="1371600" lvl="0" indent="-228600" algn="l" rtl="0">
              <a:lnSpc>
                <a:spcPct val="90000"/>
              </a:lnSpc>
              <a:spcBef>
                <a:spcPts val="0"/>
              </a:spcBef>
              <a:spcAft>
                <a:spcPts val="0"/>
              </a:spcAft>
              <a:buSzPct val="100000"/>
              <a:buFont typeface="Proxima Nova"/>
              <a:buNone/>
            </a:pPr>
            <a:endParaRPr sz="2000">
              <a:latin typeface="Proxima Nova"/>
              <a:ea typeface="Proxima Nova"/>
              <a:cs typeface="Proxima Nova"/>
              <a:sym typeface="Proxima Nova"/>
            </a:endParaRPr>
          </a:p>
          <a:p>
            <a:pPr marL="457200" lvl="0" indent="0" algn="l" rtl="0">
              <a:lnSpc>
                <a:spcPct val="90000"/>
              </a:lnSpc>
              <a:spcBef>
                <a:spcPts val="0"/>
              </a:spcBef>
              <a:spcAft>
                <a:spcPts val="0"/>
              </a:spcAft>
              <a:buNone/>
            </a:pPr>
            <a:endParaRPr sz="2000">
              <a:latin typeface="Proxima Nova"/>
              <a:ea typeface="Proxima Nova"/>
              <a:cs typeface="Proxima Nova"/>
              <a:sym typeface="Proxima Nova"/>
            </a:endParaRPr>
          </a:p>
          <a:p>
            <a:pPr marL="457200" lvl="0" indent="-340360" algn="l" rtl="0">
              <a:spcBef>
                <a:spcPts val="0"/>
              </a:spcBef>
              <a:spcAft>
                <a:spcPts val="0"/>
              </a:spcAft>
              <a:buClr>
                <a:srgbClr val="000000"/>
              </a:buClr>
              <a:buSzPct val="100000"/>
              <a:buChar char="●"/>
            </a:pPr>
            <a:r>
              <a:rPr lang="en-US" sz="3200">
                <a:solidFill>
                  <a:srgbClr val="000000"/>
                </a:solidFill>
              </a:rPr>
              <a:t>Stanford CS231N</a:t>
            </a:r>
            <a:endParaRPr sz="3200">
              <a:solidFill>
                <a:srgbClr val="000000"/>
              </a:solidFill>
            </a:endParaRPr>
          </a:p>
          <a:p>
            <a:pPr marL="469900" lvl="0" indent="0" algn="l" rtl="0">
              <a:spcBef>
                <a:spcPts val="740"/>
              </a:spcBef>
              <a:spcAft>
                <a:spcPts val="0"/>
              </a:spcAft>
              <a:buNone/>
            </a:pPr>
            <a:r>
              <a:rPr lang="en-US" sz="2750" u="sng">
                <a:solidFill>
                  <a:schemeClr val="hlink"/>
                </a:solidFill>
                <a:latin typeface="Arial"/>
                <a:ea typeface="Arial"/>
                <a:cs typeface="Arial"/>
                <a:sym typeface="Arial"/>
                <a:hlinkClick r:id="rId3"/>
              </a:rPr>
              <a:t>– </a:t>
            </a:r>
            <a:r>
              <a:rPr lang="en-US" sz="2750" u="sng">
                <a:solidFill>
                  <a:schemeClr val="hlink"/>
                </a:solidFill>
                <a:hlinkClick r:id="rId3"/>
              </a:rPr>
              <a:t>http://cs231n.stanford.edu/</a:t>
            </a:r>
            <a:endParaRPr sz="2750">
              <a:solidFill>
                <a:srgbClr val="000000"/>
              </a:solidFill>
            </a:endParaRPr>
          </a:p>
          <a:p>
            <a:pPr marL="457200" lvl="0" indent="-298450" algn="l" rtl="0">
              <a:lnSpc>
                <a:spcPct val="90000"/>
              </a:lnSpc>
              <a:spcBef>
                <a:spcPts val="0"/>
              </a:spcBef>
              <a:spcAft>
                <a:spcPts val="0"/>
              </a:spcAft>
              <a:buSzPct val="100000"/>
              <a:buFont typeface="Proxima Nova"/>
              <a:buChar char="●"/>
            </a:pPr>
            <a:endParaRPr sz="2000">
              <a:latin typeface="Proxima Nova"/>
              <a:ea typeface="Proxima Nova"/>
              <a:cs typeface="Proxima Nova"/>
              <a:sym typeface="Proxima Nova"/>
            </a:endParaRPr>
          </a:p>
          <a:p>
            <a:pPr marL="457200" lvl="0" indent="0" algn="l" rtl="0">
              <a:lnSpc>
                <a:spcPct val="90000"/>
              </a:lnSpc>
              <a:spcBef>
                <a:spcPts val="0"/>
              </a:spcBef>
              <a:spcAft>
                <a:spcPts val="0"/>
              </a:spcAft>
              <a:buNone/>
            </a:pPr>
            <a:r>
              <a:rPr lang="en-US" sz="2000" u="sng">
                <a:solidFill>
                  <a:schemeClr val="hlink"/>
                </a:solidFill>
                <a:latin typeface="Proxima Nova"/>
                <a:ea typeface="Proxima Nova"/>
                <a:cs typeface="Proxima Nova"/>
                <a:sym typeface="Proxima Nova"/>
                <a:hlinkClick r:id="rId4"/>
              </a:rPr>
              <a:t>https://www.cs.toronto.edu/~kriz/cifar.html</a:t>
            </a:r>
            <a:r>
              <a:rPr lang="en-US" sz="2000">
                <a:latin typeface="Proxima Nova"/>
                <a:ea typeface="Proxima Nova"/>
                <a:cs typeface="Proxima Nova"/>
                <a:sym typeface="Proxima Nova"/>
              </a:rPr>
              <a:t> </a:t>
            </a:r>
            <a:endParaRPr sz="2000">
              <a:latin typeface="Proxima Nova"/>
              <a:ea typeface="Proxima Nova"/>
              <a:cs typeface="Proxima Nova"/>
              <a:sym typeface="Proxima Nova"/>
            </a:endParaRPr>
          </a:p>
          <a:p>
            <a:pPr marL="457200" lvl="0" indent="0" algn="l" rtl="0">
              <a:lnSpc>
                <a:spcPct val="90000"/>
              </a:lnSpc>
              <a:spcBef>
                <a:spcPts val="0"/>
              </a:spcBef>
              <a:spcAft>
                <a:spcPts val="0"/>
              </a:spcAft>
              <a:buNone/>
            </a:pPr>
            <a:endParaRPr sz="2000">
              <a:latin typeface="Proxima Nova"/>
              <a:ea typeface="Proxima Nova"/>
              <a:cs typeface="Proxima Nova"/>
              <a:sym typeface="Proxima Nova"/>
            </a:endParaRPr>
          </a:p>
          <a:p>
            <a:pPr marL="457200" lvl="0" indent="0" algn="l" rtl="0">
              <a:lnSpc>
                <a:spcPct val="90000"/>
              </a:lnSpc>
              <a:spcBef>
                <a:spcPts val="0"/>
              </a:spcBef>
              <a:spcAft>
                <a:spcPts val="0"/>
              </a:spcAft>
              <a:buNone/>
            </a:pPr>
            <a:endParaRPr sz="2000">
              <a:latin typeface="Proxima Nova"/>
              <a:ea typeface="Proxima Nova"/>
              <a:cs typeface="Proxima Nova"/>
              <a:sym typeface="Proxima Nova"/>
            </a:endParaRPr>
          </a:p>
          <a:p>
            <a:pPr marL="457200" lvl="0" indent="0" algn="l" rtl="0">
              <a:lnSpc>
                <a:spcPct val="90000"/>
              </a:lnSpc>
              <a:spcBef>
                <a:spcPts val="0"/>
              </a:spcBef>
              <a:spcAft>
                <a:spcPts val="0"/>
              </a:spcAft>
              <a:buNone/>
            </a:pPr>
            <a:endParaRPr sz="2000">
              <a:latin typeface="Proxima Nova"/>
              <a:ea typeface="Proxima Nova"/>
              <a:cs typeface="Proxima Nova"/>
              <a:sym typeface="Proxima Nova"/>
            </a:endParaRPr>
          </a:p>
          <a:p>
            <a:pPr marL="457200" lvl="0" indent="0" algn="l" rtl="0">
              <a:lnSpc>
                <a:spcPct val="90000"/>
              </a:lnSpc>
              <a:spcBef>
                <a:spcPts val="0"/>
              </a:spcBef>
              <a:spcAft>
                <a:spcPts val="0"/>
              </a:spcAft>
              <a:buNone/>
            </a:pPr>
            <a:r>
              <a:rPr lang="en-US" sz="2000">
                <a:latin typeface="Proxima Nova"/>
                <a:ea typeface="Proxima Nova"/>
                <a:cs typeface="Proxima Nova"/>
                <a:sym typeface="Proxima Nova"/>
              </a:rPr>
              <a:t>Hands on</a:t>
            </a:r>
            <a:endParaRPr sz="2000">
              <a:latin typeface="Proxima Nova"/>
              <a:ea typeface="Proxima Nova"/>
              <a:cs typeface="Proxima Nova"/>
              <a:sym typeface="Proxima Nova"/>
            </a:endParaRPr>
          </a:p>
          <a:p>
            <a:pPr marL="457200" lvl="0" indent="0" algn="l" rtl="0">
              <a:lnSpc>
                <a:spcPct val="90000"/>
              </a:lnSpc>
              <a:spcBef>
                <a:spcPts val="0"/>
              </a:spcBef>
              <a:spcAft>
                <a:spcPts val="0"/>
              </a:spcAft>
              <a:buNone/>
            </a:pPr>
            <a:r>
              <a:rPr lang="en-US" sz="2000" u="sng">
                <a:solidFill>
                  <a:schemeClr val="hlink"/>
                </a:solidFill>
                <a:latin typeface="Proxima Nova"/>
                <a:ea typeface="Proxima Nova"/>
                <a:cs typeface="Proxima Nova"/>
                <a:sym typeface="Proxima Nova"/>
                <a:hlinkClick r:id="rId5"/>
              </a:rPr>
              <a:t>https://github.com/mithunkumarsr/LearnComputerVisionWithMithun/blob/main/CV9_Image_Classification.ipynb</a:t>
            </a:r>
            <a:r>
              <a:rPr lang="en-US" sz="2000">
                <a:latin typeface="Proxima Nova"/>
                <a:ea typeface="Proxima Nova"/>
                <a:cs typeface="Proxima Nova"/>
                <a:sym typeface="Proxima Nova"/>
              </a:rPr>
              <a:t> </a:t>
            </a:r>
            <a:endParaRPr sz="2000">
              <a:latin typeface="Proxima Nova"/>
              <a:ea typeface="Proxima Nova"/>
              <a:cs typeface="Proxima Nova"/>
              <a:sym typeface="Proxima Nova"/>
            </a:endParaRPr>
          </a:p>
          <a:p>
            <a:pPr marL="1016000" lvl="0" indent="0" algn="l" rtl="0">
              <a:lnSpc>
                <a:spcPct val="90000"/>
              </a:lnSpc>
              <a:spcBef>
                <a:spcPts val="0"/>
              </a:spcBef>
              <a:spcAft>
                <a:spcPts val="0"/>
              </a:spcAft>
              <a:buSzPct val="100000"/>
              <a:buNone/>
            </a:pPr>
            <a:endParaRPr sz="2000">
              <a:latin typeface="Proxima Nova"/>
              <a:ea typeface="Proxima Nova"/>
              <a:cs typeface="Proxima Nova"/>
              <a:sym typeface="Proxima Nova"/>
            </a:endParaRPr>
          </a:p>
          <a:p>
            <a:pPr marL="1371600" lvl="0" indent="-228600" algn="l" rtl="0">
              <a:lnSpc>
                <a:spcPct val="90000"/>
              </a:lnSpc>
              <a:spcBef>
                <a:spcPts val="0"/>
              </a:spcBef>
              <a:spcAft>
                <a:spcPts val="0"/>
              </a:spcAft>
              <a:buSzPct val="100000"/>
              <a:buFont typeface="Proxima Nova"/>
              <a:buNone/>
            </a:pPr>
            <a:endParaRPr sz="2000">
              <a:latin typeface="Proxima Nova"/>
              <a:ea typeface="Proxima Nova"/>
              <a:cs typeface="Proxima Nova"/>
              <a:sym typeface="Proxima Nova"/>
            </a:endParaRPr>
          </a:p>
          <a:p>
            <a:pPr marL="50800" lvl="0" indent="0" algn="l" rtl="0">
              <a:lnSpc>
                <a:spcPct val="100000"/>
              </a:lnSpc>
              <a:spcBef>
                <a:spcPts val="1000"/>
              </a:spcBef>
              <a:spcAft>
                <a:spcPts val="0"/>
              </a:spcAft>
              <a:buSzPct val="140000"/>
              <a:buNone/>
            </a:pPr>
            <a:endParaRPr sz="2000">
              <a:latin typeface="Proxima Nova"/>
              <a:ea typeface="Proxima Nova"/>
              <a:cs typeface="Proxima Nova"/>
              <a:sym typeface="Proxima Nov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g24320ba2c05_0_0"/>
          <p:cNvSpPr txBox="1">
            <a:spLocks noGrp="1"/>
          </p:cNvSpPr>
          <p:nvPr>
            <p:ph type="title"/>
          </p:nvPr>
        </p:nvSpPr>
        <p:spPr>
          <a:xfrm>
            <a:off x="4657724" y="2809875"/>
            <a:ext cx="6696000" cy="1909800"/>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chemeClr val="dk1"/>
              </a:buClr>
              <a:buSzPts val="3600"/>
              <a:buFont typeface="Calibri"/>
              <a:buNone/>
            </a:pPr>
            <a:br>
              <a:rPr lang="en-US" sz="3600"/>
            </a:br>
            <a:r>
              <a:rPr lang="en-US" sz="3600"/>
              <a:t>Thank you</a:t>
            </a:r>
            <a:endParaRPr sz="3600"/>
          </a:p>
        </p:txBody>
      </p:sp>
      <p:sp>
        <p:nvSpPr>
          <p:cNvPr id="803" name="Google Shape;803;g24320ba2c05_0_0"/>
          <p:cNvSpPr txBox="1">
            <a:spLocks noGrp="1"/>
          </p:cNvSpPr>
          <p:nvPr>
            <p:ph type="sldNum" idx="12"/>
          </p:nvPr>
        </p:nvSpPr>
        <p:spPr>
          <a:xfrm>
            <a:off x="9658350" y="6356350"/>
            <a:ext cx="1695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900"/>
              <a:buNone/>
            </a:pPr>
            <a:fld id="{00000000-1234-1234-1234-123412341234}" type="slidenum">
              <a:rPr lang="en-US"/>
              <a:t>61</a:t>
            </a:fld>
            <a:endParaRPr/>
          </a:p>
        </p:txBody>
      </p:sp>
    </p:spTree>
  </p:cSld>
  <p:clrMapOvr>
    <a:masterClrMapping/>
  </p:clrMapOvr>
</p:sld>
</file>

<file path=ppt/theme/theme1.xml><?xml version="1.0" encoding="utf-8"?>
<a:theme xmlns:a="http://schemas.openxmlformats.org/drawingml/2006/main" name="Office Theme">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56</TotalTime>
  <Words>2248</Words>
  <Application>Microsoft Office PowerPoint</Application>
  <PresentationFormat>Widescreen</PresentationFormat>
  <Paragraphs>281</Paragraphs>
  <Slides>61</Slides>
  <Notes>59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61</vt:i4>
      </vt:variant>
    </vt:vector>
  </HeadingPairs>
  <TitlesOfParts>
    <vt:vector size="69" baseType="lpstr">
      <vt:lpstr>Calibri</vt:lpstr>
      <vt:lpstr>Proxima Nova</vt:lpstr>
      <vt:lpstr>Noto Sans Symbols</vt:lpstr>
      <vt:lpstr>Segoe UI</vt:lpstr>
      <vt:lpstr>Times New Roman</vt:lpstr>
      <vt:lpstr>Arial</vt:lpstr>
      <vt:lpstr>Office Theme</vt:lpstr>
      <vt:lpstr>Office Theme</vt:lpstr>
      <vt:lpstr>Aakash Goel https://www.linkedin.com/in/goelaakash123/</vt:lpstr>
      <vt:lpstr> Topics</vt:lpstr>
      <vt:lpstr>Motivation – Why Image Classification ?</vt:lpstr>
      <vt:lpstr>Image Classification: A core task in Computer Vision</vt:lpstr>
      <vt:lpstr>Image classification demo</vt:lpstr>
      <vt:lpstr>Image Classification</vt:lpstr>
      <vt:lpstr>Image Classification: Problem</vt:lpstr>
      <vt:lpstr>PowerPoint Presentation</vt:lpstr>
      <vt:lpstr>Data-driven approach</vt:lpstr>
      <vt:lpstr>Data-driven approach</vt:lpstr>
      <vt:lpstr>PowerPoint Presentation</vt:lpstr>
      <vt:lpstr>PowerPoint Presentation</vt:lpstr>
      <vt:lpstr>Bag of Words - classic approach</vt:lpstr>
      <vt:lpstr>Classifiers</vt:lpstr>
      <vt:lpstr>First: Nearest Neighbor (NN) Classifier</vt:lpstr>
      <vt:lpstr>CIFAR-10 and NN results</vt:lpstr>
      <vt:lpstr>CIFAR-10 and NN results</vt:lpstr>
      <vt:lpstr>k-nearest neighbor</vt:lpstr>
      <vt:lpstr>PowerPoint Presentation</vt:lpstr>
      <vt:lpstr>PowerPoint Presentation</vt:lpstr>
      <vt:lpstr>How to find the most similar training image? What is the distance metric?</vt:lpstr>
      <vt:lpstr>Choice of distance metric</vt:lpstr>
      <vt:lpstr>PowerPoint Presentation</vt:lpstr>
      <vt:lpstr>Hyperparameters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Recap: How to pick hyperparameters?</vt:lpstr>
      <vt:lpstr>kNN -- Complexity and Storage</vt:lpstr>
      <vt:lpstr>PowerPoint Presentation</vt:lpstr>
      <vt:lpstr>k-Nearest Neighbors: Summary</vt:lpstr>
      <vt:lpstr>Linear classifiers</vt:lpstr>
      <vt:lpstr>Score function</vt:lpstr>
      <vt:lpstr>Score function: f</vt:lpstr>
      <vt:lpstr>Parametric approach: Linear classifier</vt:lpstr>
      <vt:lpstr>Parametric approach: Linear classifier</vt:lpstr>
      <vt:lpstr>Linear Classifier</vt:lpstr>
      <vt:lpstr>PowerPoint Presentation</vt:lpstr>
      <vt:lpstr>Interpretation: Template matching</vt:lpstr>
      <vt:lpstr>Geometric Interpretation</vt:lpstr>
      <vt:lpstr>Linear classifiers</vt:lpstr>
      <vt:lpstr>PowerPoint Presentation</vt:lpstr>
      <vt:lpstr>PowerPoint Presentation</vt:lpstr>
      <vt:lpstr>PowerPoint Presentation</vt:lpstr>
      <vt:lpstr>Recap</vt:lpstr>
      <vt:lpstr>Linear classification</vt:lpstr>
      <vt:lpstr>PowerPoint Presentation</vt:lpstr>
      <vt:lpstr>Loss function, cost/objective function</vt:lpstr>
      <vt:lpstr>Simpler example: binary classification</vt:lpstr>
      <vt:lpstr>Linear classifiers</vt:lpstr>
      <vt:lpstr>What is a good loss function?</vt:lpstr>
      <vt:lpstr>Softmax classifier</vt:lpstr>
      <vt:lpstr>Cross-entropy loss</vt:lpstr>
      <vt:lpstr>Losses</vt:lpstr>
      <vt:lpstr>Summary</vt:lpstr>
      <vt:lpstr>PowerPoint Presentation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Vimal S P</dc:creator>
  <cp:lastModifiedBy>Aakash Goel (MSTIC DS&amp;AI)</cp:lastModifiedBy>
  <cp:revision>12</cp:revision>
  <dcterms:created xsi:type="dcterms:W3CDTF">2023-01-18T09:26:06Z</dcterms:created>
  <dcterms:modified xsi:type="dcterms:W3CDTF">2025-07-12T20:16:24Z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