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5" r:id="rId2"/>
    <p:sldMasterId id="2147483671" r:id="rId3"/>
  </p:sldMasterIdLst>
  <p:notesMasterIdLst>
    <p:notesMasterId r:id="rId61"/>
  </p:notesMasterIdLst>
  <p:sldIdLst>
    <p:sldId id="319"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Lst>
  <p:sldSz cx="12192000" cy="6858000"/>
  <p:notesSz cx="6858000" cy="9144000"/>
  <p:embeddedFontLst>
    <p:embeddedFont>
      <p:font typeface="Cambria Math" panose="02040503050406030204" pitchFamily="18" charset="0"/>
      <p:regular r:id="rId62"/>
    </p:embeddedFont>
    <p:embeddedFont>
      <p:font typeface="Proxima Nova" panose="020B0604020202020204" charset="0"/>
      <p:regular r:id="rId63"/>
      <p:bold r:id="rId64"/>
      <p:italic r:id="rId65"/>
      <p:boldItalic r:id="rId66"/>
    </p:embeddedFont>
    <p:embeddedFont>
      <p:font typeface="Roboto" panose="02000000000000000000" pitchFamily="2" charset="0"/>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2" roundtripDataSignature="AMtx7mh7kYYxNPnhGf8Bk5ToQ7qv4tJD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860" y="268"/>
      </p:cViewPr>
      <p:guideLst/>
    </p:cSldViewPr>
  </p:slideViewPr>
  <p:notesTextViewPr>
    <p:cViewPr>
      <p:scale>
        <a:sx n="1" d="1"/>
        <a:sy n="1" d="1"/>
      </p:scale>
      <p:origin x="0" y="-3644"/>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2.fntdata"/><Relationship Id="rId68" Type="http://schemas.openxmlformats.org/officeDocument/2006/relationships/font" Target="fonts/font7.fntdata"/><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font" Target="fonts/font5.fntdata"/><Relationship Id="rId74"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notesMaster" Target="notesMasters/notesMaster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font" Target="fonts/font3.fntdata"/><Relationship Id="rId69" Type="http://schemas.openxmlformats.org/officeDocument/2006/relationships/font" Target="fonts/font8.fntdata"/><Relationship Id="rId8" Type="http://schemas.openxmlformats.org/officeDocument/2006/relationships/slide" Target="slides/slide5.xml"/><Relationship Id="rId51" Type="http://schemas.openxmlformats.org/officeDocument/2006/relationships/slide" Target="slides/slide48.xml"/><Relationship Id="rId72" Type="http://customschemas.google.com/relationships/presentationmetadata" Target="meta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font" Target="fonts/font6.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font" Target="fonts/font4.fntdata"/><Relationship Id="rId73"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tableStyles" Target="tableStyles.xml"/><Relationship Id="rId7"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62a763626f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g262a763626f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63d97e1ce3_0_5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241" name="Google Shape;241;g263d97e1ce3_0_5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0" i="0" u="none" strike="noStrike" cap="none" dirty="0">
                    <a:solidFill>
                      <a:schemeClr val="dk1"/>
                    </a:solidFill>
                    <a:effectLst/>
                    <a:highlight>
                      <a:srgbClr val="FFFFFF"/>
                    </a:highlight>
                    <a:latin typeface="Calibri"/>
                    <a:ea typeface="Calibri"/>
                    <a:cs typeface="Calibri"/>
                    <a:sym typeface="Calibri"/>
                  </a:rPr>
                  <a:t>This slide is a review of the Encoder-Decoder architecture, which is a fundamental concept in sequence-to-sequence (Seq2Seq) models. These models are widely used in tasks like language translation, where you need to convert a sequence of words in one language to a sequence in another language.</a:t>
                </a:r>
              </a:p>
              <a:p>
                <a:r>
                  <a:rPr lang="en-US" sz="1200" b="1" i="0" u="none" strike="noStrike" cap="none" dirty="0">
                    <a:solidFill>
                      <a:schemeClr val="dk1"/>
                    </a:solidFill>
                    <a:effectLst/>
                    <a:highlight>
                      <a:srgbClr val="FFFFFF"/>
                    </a:highlight>
                    <a:latin typeface="Calibri"/>
                    <a:ea typeface="Calibri"/>
                    <a:cs typeface="Calibri"/>
                    <a:sym typeface="Calibri"/>
                  </a:rPr>
                  <a:t>Components:</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1" i="0" u="none" strike="noStrike" cap="none" dirty="0">
                    <a:solidFill>
                      <a:schemeClr val="dk1"/>
                    </a:solidFill>
                    <a:effectLst/>
                    <a:highlight>
                      <a:srgbClr val="FFFFFF"/>
                    </a:highlight>
                    <a:latin typeface="Calibri"/>
                    <a:ea typeface="Calibri"/>
                    <a:cs typeface="Calibri"/>
                    <a:sym typeface="Calibri"/>
                  </a:rPr>
                  <a:t>Encoder:</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Think of the encoder as a kind of translator that reads and understands the input sequence. For example, if the input is a sentence in English, the encoder processes each word one by one, from </a:t>
                </a:r>
                <a14:m>
                  <m:oMath xmlns:m="http://schemas.openxmlformats.org/officeDocument/2006/math">
                    <m:sSub>
                      <m:sSubPr>
                        <m:ctrlPr>
                          <a:rPr lang="ar-AE" sz="1200" b="0" i="0"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𝑥</m:t>
                        </m:r>
                      </m:e>
                      <m:sub>
                        <m:r>
                          <a:rPr lang="ar-AE" sz="1200" b="0" i="0" u="none" strike="noStrike" cap="none">
                            <a:solidFill>
                              <a:schemeClr val="dk1"/>
                            </a:solidFill>
                            <a:highlight>
                              <a:srgbClr val="FFFFFF"/>
                            </a:highlight>
                            <a:latin typeface="Calibri"/>
                            <a:ea typeface="Calibri"/>
                            <a:cs typeface="Calibri"/>
                            <a:sym typeface="Calibri"/>
                          </a:rPr>
                          <m:t>1</m:t>
                        </m:r>
                      </m:sub>
                    </m:sSub>
                  </m:oMath>
                </a14:m>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to </a:t>
                </a:r>
                <a14:m>
                  <m:oMath xmlns:m="http://schemas.openxmlformats.org/officeDocument/2006/math">
                    <m:sSub>
                      <m:sSubPr>
                        <m:ctrlPr>
                          <a:rPr lang="ar-AE" sz="1200" b="0" i="0"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𝑥</m:t>
                        </m:r>
                      </m:e>
                      <m:sub>
                        <m:r>
                          <a:rPr lang="ar-AE" sz="1200" b="0" i="1" u="none" strike="noStrike" cap="none">
                            <a:solidFill>
                              <a:schemeClr val="dk1"/>
                            </a:solidFill>
                            <a:highlight>
                              <a:srgbClr val="FFFFFF"/>
                            </a:highlight>
                            <a:latin typeface="Calibri"/>
                            <a:ea typeface="Calibri"/>
                            <a:cs typeface="Calibri"/>
                            <a:sym typeface="Calibri"/>
                          </a:rPr>
                          <m:t>𝑛</m:t>
                        </m:r>
                      </m:sub>
                    </m:sSub>
                  </m:oMath>
                </a14:m>
                <a:r>
                  <a:rPr lang="ar-AE" sz="1200" b="0" i="0" u="none" strike="noStrike" cap="none" dirty="0">
                    <a:solidFill>
                      <a:schemeClr val="dk1"/>
                    </a:solidFill>
                    <a:effectLst/>
                    <a:highlight>
                      <a:srgbClr val="FFFFFF"/>
                    </a:highlight>
                    <a:latin typeface="Calibri"/>
                    <a:ea typeface="Calibri"/>
                    <a:cs typeface="Calibri"/>
                    <a:sym typeface="Calibri"/>
                  </a:rPr>
                  <a:t>.</a:t>
                </a:r>
              </a:p>
              <a:p>
                <a:pPr lvl="1"/>
                <a:r>
                  <a:rPr lang="en-US" sz="1200" b="0" i="0" u="none" strike="noStrike" cap="none" dirty="0">
                    <a:solidFill>
                      <a:schemeClr val="dk1"/>
                    </a:solidFill>
                    <a:effectLst/>
                    <a:highlight>
                      <a:srgbClr val="FFFFFF"/>
                    </a:highlight>
                    <a:latin typeface="Calibri"/>
                    <a:ea typeface="Calibri"/>
                    <a:cs typeface="Calibri"/>
                    <a:sym typeface="Calibri"/>
                  </a:rPr>
                  <a:t>As it reads each word, it builds up an internal understanding or representation of the entire sentence. This is often referred to as the "hidden state."</a:t>
                </a:r>
              </a:p>
              <a:p>
                <a:r>
                  <a:rPr lang="en-US" sz="1200" b="1" i="0" u="none" strike="noStrike" cap="none" dirty="0">
                    <a:solidFill>
                      <a:schemeClr val="dk1"/>
                    </a:solidFill>
                    <a:effectLst/>
                    <a:highlight>
                      <a:srgbClr val="FFFFFF"/>
                    </a:highlight>
                    <a:latin typeface="Calibri"/>
                    <a:ea typeface="Calibri"/>
                    <a:cs typeface="Calibri"/>
                    <a:sym typeface="Calibri"/>
                  </a:rPr>
                  <a:t>Context Vector (c):</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Once the encoder has processed the entire input sequence, it summarizes all that information into a single vector, known as the context vector.</a:t>
                </a:r>
              </a:p>
              <a:p>
                <a:pPr lvl="1"/>
                <a:r>
                  <a:rPr lang="en-US" sz="1200" b="0" i="0" u="none" strike="noStrike" cap="none" dirty="0">
                    <a:solidFill>
                      <a:schemeClr val="dk1"/>
                    </a:solidFill>
                    <a:effectLst/>
                    <a:highlight>
                      <a:srgbClr val="FFFFFF"/>
                    </a:highlight>
                    <a:latin typeface="Calibri"/>
                    <a:ea typeface="Calibri"/>
                    <a:cs typeface="Calibri"/>
                    <a:sym typeface="Calibri"/>
                  </a:rPr>
                  <a:t>You can think of this context vector as a compact summary or essence of the input sequence. It captures the meaning of the input in a way that can be used by the decoder.</a:t>
                </a:r>
              </a:p>
              <a:p>
                <a:r>
                  <a:rPr lang="en-US" sz="1200" b="1" i="0" u="none" strike="noStrike" cap="none" dirty="0">
                    <a:solidFill>
                      <a:schemeClr val="dk1"/>
                    </a:solidFill>
                    <a:effectLst/>
                    <a:highlight>
                      <a:srgbClr val="FFFFFF"/>
                    </a:highlight>
                    <a:latin typeface="Calibri"/>
                    <a:ea typeface="Calibri"/>
                    <a:cs typeface="Calibri"/>
                    <a:sym typeface="Calibri"/>
                  </a:rPr>
                  <a:t>Decoder:</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decoder's job is to take this context vector and generate the output sequence, one element at a time. For instance, if we're translating from English to French, the decoder will produce the French sentence, starting with </a:t>
                </a:r>
                <a14:m>
                  <m:oMath xmlns:m="http://schemas.openxmlformats.org/officeDocument/2006/math">
                    <m:sSub>
                      <m:sSubPr>
                        <m:ctrlPr>
                          <a:rPr lang="ar-AE" sz="1200" b="0" i="0"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𝑦</m:t>
                        </m:r>
                      </m:e>
                      <m:sub>
                        <m:r>
                          <a:rPr lang="ar-AE" sz="1200" b="0" i="0" u="none" strike="noStrike" cap="none">
                            <a:solidFill>
                              <a:schemeClr val="dk1"/>
                            </a:solidFill>
                            <a:highlight>
                              <a:srgbClr val="FFFFFF"/>
                            </a:highlight>
                            <a:latin typeface="Calibri"/>
                            <a:ea typeface="Calibri"/>
                            <a:cs typeface="Calibri"/>
                            <a:sym typeface="Calibri"/>
                          </a:rPr>
                          <m:t>1</m:t>
                        </m:r>
                      </m:sub>
                    </m:sSub>
                  </m:oMath>
                </a14:m>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then </a:t>
                </a:r>
                <a14:m>
                  <m:oMath xmlns:m="http://schemas.openxmlformats.org/officeDocument/2006/math">
                    <m:sSub>
                      <m:sSubPr>
                        <m:ctrlPr>
                          <a:rPr lang="ar-AE" sz="1200" b="0" i="0"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𝑦</m:t>
                        </m:r>
                      </m:e>
                      <m:sub>
                        <m:r>
                          <a:rPr lang="ar-AE" sz="1200" b="0" i="0" u="none" strike="noStrike" cap="none">
                            <a:solidFill>
                              <a:schemeClr val="dk1"/>
                            </a:solidFill>
                            <a:highlight>
                              <a:srgbClr val="FFFFFF"/>
                            </a:highlight>
                            <a:latin typeface="Calibri"/>
                            <a:ea typeface="Calibri"/>
                            <a:cs typeface="Calibri"/>
                            <a:sym typeface="Calibri"/>
                          </a:rPr>
                          <m:t>2</m:t>
                        </m:r>
                      </m:sub>
                    </m:sSub>
                  </m:oMath>
                </a14:m>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and so on, until </a:t>
                </a:r>
                <a14:m>
                  <m:oMath xmlns:m="http://schemas.openxmlformats.org/officeDocument/2006/math">
                    <m:sSub>
                      <m:sSubPr>
                        <m:ctrlPr>
                          <a:rPr lang="ar-AE" sz="1200" b="0" i="0"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𝑦</m:t>
                        </m:r>
                      </m:e>
                      <m:sub>
                        <m:r>
                          <a:rPr lang="ar-AE" sz="1200" b="0" i="1" u="none" strike="noStrike" cap="none">
                            <a:solidFill>
                              <a:schemeClr val="dk1"/>
                            </a:solidFill>
                            <a:highlight>
                              <a:srgbClr val="FFFFFF"/>
                            </a:highlight>
                            <a:latin typeface="Calibri"/>
                            <a:ea typeface="Calibri"/>
                            <a:cs typeface="Calibri"/>
                            <a:sym typeface="Calibri"/>
                          </a:rPr>
                          <m:t>𝑚</m:t>
                        </m:r>
                      </m:sub>
                    </m:sSub>
                  </m:oMath>
                </a14:m>
                <a:r>
                  <a:rPr lang="ar-AE" sz="1200" b="0" i="0" u="none" strike="noStrike" cap="none" dirty="0">
                    <a:solidFill>
                      <a:schemeClr val="dk1"/>
                    </a:solidFill>
                    <a:effectLst/>
                    <a:highlight>
                      <a:srgbClr val="FFFFFF"/>
                    </a:highlight>
                    <a:latin typeface="Calibri"/>
                    <a:ea typeface="Calibri"/>
                    <a:cs typeface="Calibri"/>
                    <a:sym typeface="Calibri"/>
                  </a:rPr>
                  <a:t>.</a:t>
                </a:r>
              </a:p>
              <a:p>
                <a:pPr lvl="1"/>
                <a:r>
                  <a:rPr lang="en-US" sz="1200" b="0" i="0" u="none" strike="noStrike" cap="none" dirty="0">
                    <a:solidFill>
                      <a:schemeClr val="dk1"/>
                    </a:solidFill>
                    <a:effectLst/>
                    <a:highlight>
                      <a:srgbClr val="FFFFFF"/>
                    </a:highlight>
                    <a:latin typeface="Calibri"/>
                    <a:ea typeface="Calibri"/>
                    <a:cs typeface="Calibri"/>
                    <a:sym typeface="Calibri"/>
                  </a:rPr>
                  <a:t>The decoder uses the context vector to ensure that the output sequence is coherent and relevant to the input.</a:t>
                </a:r>
              </a:p>
              <a:p>
                <a:r>
                  <a:rPr lang="en-US" sz="1200" b="1" i="0" u="none" strike="noStrike" cap="none" dirty="0">
                    <a:solidFill>
                      <a:schemeClr val="dk1"/>
                    </a:solidFill>
                    <a:effectLst/>
                    <a:highlight>
                      <a:srgbClr val="FFFFFF"/>
                    </a:highlight>
                    <a:latin typeface="Calibri"/>
                    <a:ea typeface="Calibri"/>
                    <a:cs typeface="Calibri"/>
                    <a:sym typeface="Calibri"/>
                  </a:rPr>
                  <a:t>Note:</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0" i="0" u="none" strike="noStrike" cap="none" dirty="0">
                    <a:solidFill>
                      <a:schemeClr val="dk1"/>
                    </a:solidFill>
                    <a:effectLst/>
                    <a:highlight>
                      <a:srgbClr val="FFFFFF"/>
                    </a:highlight>
                    <a:latin typeface="Calibri"/>
                    <a:ea typeface="Calibri"/>
                    <a:cs typeface="Calibri"/>
                    <a:sym typeface="Calibri"/>
                  </a:rPr>
                  <a:t>The context vector is crucial because it acts as a bridge between the input and output sequences. It is derived from the hidden representations of the input and can be used by the decoder in various ways to generate the output.</a:t>
                </a:r>
              </a:p>
              <a:p>
                <a:br>
                  <a:rPr lang="en-US" dirty="0">
                    <a:highlight>
                      <a:srgbClr val="FFFFFF"/>
                    </a:highlight>
                  </a:rPr>
                </a:br>
                <a:endParaRPr lang="en-US" dirty="0">
                  <a:highlight>
                    <a:srgbClr val="FFFFFF"/>
                  </a:highlight>
                </a:endParaRPr>
              </a:p>
              <a:p>
                <a:r>
                  <a:rPr lang="en-US" sz="1200" b="0" i="0" u="none" strike="noStrike" cap="none" dirty="0">
                    <a:solidFill>
                      <a:schemeClr val="dk1"/>
                    </a:solidFill>
                    <a:effectLst/>
                    <a:highlight>
                      <a:srgbClr val="FFFFFF"/>
                    </a:highlight>
                    <a:latin typeface="Calibri"/>
                    <a:ea typeface="Calibri"/>
                    <a:cs typeface="Calibri"/>
                    <a:sym typeface="Calibri"/>
                  </a:rPr>
                  <a:t>By understanding this architecture, we can appreciate how Seq2Seq models handle complex tasks like translation by breaking them down into understandable steps: encoding the input, summarizing it, and then decoding it into the desired output. This sets the stage for understanding more advanced concepts like attention and transformers, which build upon this foundational idea.</a:t>
                </a:r>
              </a:p>
            </p:txBody>
          </p:sp>
        </mc:Choice>
        <mc:Fallback>
          <p:sp>
            <p:nvSpPr>
              <p:cNvPr id="241" name="Google Shape;241;g263d97e1ce3_0_5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0" i="0" u="none" strike="noStrike" cap="none" dirty="0">
                    <a:solidFill>
                      <a:schemeClr val="dk1"/>
                    </a:solidFill>
                    <a:effectLst/>
                    <a:highlight>
                      <a:srgbClr val="FFFFFF"/>
                    </a:highlight>
                    <a:latin typeface="Calibri"/>
                    <a:ea typeface="Calibri"/>
                    <a:cs typeface="Calibri"/>
                    <a:sym typeface="Calibri"/>
                  </a:rPr>
                  <a:t>This slide is a review of the Encoder-Decoder architecture, which is a fundamental concept in sequence-to-sequence (Seq2Seq) models. These models are widely used in tasks like language translation, where you need to convert a sequence of words in one language to a sequence in another language.</a:t>
                </a:r>
              </a:p>
              <a:p>
                <a:r>
                  <a:rPr lang="en-US" sz="1200" b="1" i="0" u="none" strike="noStrike" cap="none" dirty="0">
                    <a:solidFill>
                      <a:schemeClr val="dk1"/>
                    </a:solidFill>
                    <a:effectLst/>
                    <a:highlight>
                      <a:srgbClr val="FFFFFF"/>
                    </a:highlight>
                    <a:latin typeface="Calibri"/>
                    <a:ea typeface="Calibri"/>
                    <a:cs typeface="Calibri"/>
                    <a:sym typeface="Calibri"/>
                  </a:rPr>
                  <a:t>Components:</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1" i="0" u="none" strike="noStrike" cap="none" dirty="0">
                    <a:solidFill>
                      <a:schemeClr val="dk1"/>
                    </a:solidFill>
                    <a:effectLst/>
                    <a:highlight>
                      <a:srgbClr val="FFFFFF"/>
                    </a:highlight>
                    <a:latin typeface="Calibri"/>
                    <a:ea typeface="Calibri"/>
                    <a:cs typeface="Calibri"/>
                    <a:sym typeface="Calibri"/>
                  </a:rPr>
                  <a:t>Encoder:</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Think of the encoder as a kind of translator that reads and understands the input sequence. For example, if the input is a sentence in English, the encoder processes each word one by one, from </a:t>
                </a:r>
                <a:r>
                  <a:rPr lang="ar-AE" sz="1200" b="0" i="0" u="none" strike="noStrike" cap="none">
                    <a:solidFill>
                      <a:schemeClr val="dk1"/>
                    </a:solidFill>
                    <a:highlight>
                      <a:srgbClr val="FFFFFF"/>
                    </a:highlight>
                    <a:latin typeface="Calibri"/>
                    <a:ea typeface="Calibri"/>
                    <a:cs typeface="Calibri"/>
                    <a:sym typeface="Calibri"/>
                  </a:rPr>
                  <a:t>𝑥_1</a:t>
                </a:r>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to </a:t>
                </a:r>
                <a:r>
                  <a:rPr lang="ar-AE" sz="1200" b="0" i="0" u="none" strike="noStrike" cap="none">
                    <a:solidFill>
                      <a:schemeClr val="dk1"/>
                    </a:solidFill>
                    <a:highlight>
                      <a:srgbClr val="FFFFFF"/>
                    </a:highlight>
                    <a:latin typeface="Calibri"/>
                    <a:ea typeface="Calibri"/>
                    <a:cs typeface="Calibri"/>
                    <a:sym typeface="Calibri"/>
                  </a:rPr>
                  <a:t>𝑥_𝑛</a:t>
                </a:r>
                <a:r>
                  <a:rPr lang="ar-AE" sz="1200" b="0" i="0" u="none" strike="noStrike" cap="none" dirty="0">
                    <a:solidFill>
                      <a:schemeClr val="dk1"/>
                    </a:solidFill>
                    <a:effectLst/>
                    <a:highlight>
                      <a:srgbClr val="FFFFFF"/>
                    </a:highlight>
                    <a:latin typeface="Calibri"/>
                    <a:ea typeface="Calibri"/>
                    <a:cs typeface="Calibri"/>
                    <a:sym typeface="Calibri"/>
                  </a:rPr>
                  <a:t>.</a:t>
                </a:r>
              </a:p>
              <a:p>
                <a:pPr lvl="1"/>
                <a:r>
                  <a:rPr lang="en-US" sz="1200" b="0" i="0" u="none" strike="noStrike" cap="none" dirty="0">
                    <a:solidFill>
                      <a:schemeClr val="dk1"/>
                    </a:solidFill>
                    <a:effectLst/>
                    <a:highlight>
                      <a:srgbClr val="FFFFFF"/>
                    </a:highlight>
                    <a:latin typeface="Calibri"/>
                    <a:ea typeface="Calibri"/>
                    <a:cs typeface="Calibri"/>
                    <a:sym typeface="Calibri"/>
                  </a:rPr>
                  <a:t>As it reads each word, it builds up an internal understanding or representation of the entire sentence. This is often referred to as the "hidden state."</a:t>
                </a:r>
              </a:p>
              <a:p>
                <a:r>
                  <a:rPr lang="en-US" sz="1200" b="1" i="0" u="none" strike="noStrike" cap="none" dirty="0">
                    <a:solidFill>
                      <a:schemeClr val="dk1"/>
                    </a:solidFill>
                    <a:effectLst/>
                    <a:highlight>
                      <a:srgbClr val="FFFFFF"/>
                    </a:highlight>
                    <a:latin typeface="Calibri"/>
                    <a:ea typeface="Calibri"/>
                    <a:cs typeface="Calibri"/>
                    <a:sym typeface="Calibri"/>
                  </a:rPr>
                  <a:t>Context Vector (c):</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Once the encoder has processed the entire input sequence, it summarizes all that information into a single vector, known as the context vector.</a:t>
                </a:r>
              </a:p>
              <a:p>
                <a:pPr lvl="1"/>
                <a:r>
                  <a:rPr lang="en-US" sz="1200" b="0" i="0" u="none" strike="noStrike" cap="none" dirty="0">
                    <a:solidFill>
                      <a:schemeClr val="dk1"/>
                    </a:solidFill>
                    <a:effectLst/>
                    <a:highlight>
                      <a:srgbClr val="FFFFFF"/>
                    </a:highlight>
                    <a:latin typeface="Calibri"/>
                    <a:ea typeface="Calibri"/>
                    <a:cs typeface="Calibri"/>
                    <a:sym typeface="Calibri"/>
                  </a:rPr>
                  <a:t>You can think of this context vector as a compact summary or essence of the input sequence. It captures the meaning of the input in a way that can be used by the decoder.</a:t>
                </a:r>
              </a:p>
              <a:p>
                <a:r>
                  <a:rPr lang="en-US" sz="1200" b="1" i="0" u="none" strike="noStrike" cap="none" dirty="0">
                    <a:solidFill>
                      <a:schemeClr val="dk1"/>
                    </a:solidFill>
                    <a:effectLst/>
                    <a:highlight>
                      <a:srgbClr val="FFFFFF"/>
                    </a:highlight>
                    <a:latin typeface="Calibri"/>
                    <a:ea typeface="Calibri"/>
                    <a:cs typeface="Calibri"/>
                    <a:sym typeface="Calibri"/>
                  </a:rPr>
                  <a:t>Decoder:</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decoder's job is to take this context vector and generate the output sequence, one element at a time. For instance, if we're translating from English to French, the decoder will produce the French sentence, starting with </a:t>
                </a:r>
                <a:r>
                  <a:rPr lang="ar-AE" sz="1200" b="0" i="0" u="none" strike="noStrike" cap="none">
                    <a:solidFill>
                      <a:schemeClr val="dk1"/>
                    </a:solidFill>
                    <a:highlight>
                      <a:srgbClr val="FFFFFF"/>
                    </a:highlight>
                    <a:latin typeface="Calibri"/>
                    <a:ea typeface="Calibri"/>
                    <a:cs typeface="Calibri"/>
                    <a:sym typeface="Calibri"/>
                  </a:rPr>
                  <a:t>𝑦_1</a:t>
                </a:r>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then </a:t>
                </a:r>
                <a:r>
                  <a:rPr lang="ar-AE" sz="1200" b="0" i="0" u="none" strike="noStrike" cap="none">
                    <a:solidFill>
                      <a:schemeClr val="dk1"/>
                    </a:solidFill>
                    <a:highlight>
                      <a:srgbClr val="FFFFFF"/>
                    </a:highlight>
                    <a:latin typeface="Calibri"/>
                    <a:ea typeface="Calibri"/>
                    <a:cs typeface="Calibri"/>
                    <a:sym typeface="Calibri"/>
                  </a:rPr>
                  <a:t>𝑦_2</a:t>
                </a:r>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and so on, until </a:t>
                </a:r>
                <a:r>
                  <a:rPr lang="ar-AE" sz="1200" b="0" i="0" u="none" strike="noStrike" cap="none">
                    <a:solidFill>
                      <a:schemeClr val="dk1"/>
                    </a:solidFill>
                    <a:highlight>
                      <a:srgbClr val="FFFFFF"/>
                    </a:highlight>
                    <a:latin typeface="Calibri"/>
                    <a:ea typeface="Calibri"/>
                    <a:cs typeface="Calibri"/>
                    <a:sym typeface="Calibri"/>
                  </a:rPr>
                  <a:t>𝑦_𝑚</a:t>
                </a:r>
                <a:r>
                  <a:rPr lang="ar-AE" sz="1200" b="0" i="0" u="none" strike="noStrike" cap="none" dirty="0">
                    <a:solidFill>
                      <a:schemeClr val="dk1"/>
                    </a:solidFill>
                    <a:effectLst/>
                    <a:highlight>
                      <a:srgbClr val="FFFFFF"/>
                    </a:highlight>
                    <a:latin typeface="Calibri"/>
                    <a:ea typeface="Calibri"/>
                    <a:cs typeface="Calibri"/>
                    <a:sym typeface="Calibri"/>
                  </a:rPr>
                  <a:t>.</a:t>
                </a:r>
              </a:p>
              <a:p>
                <a:pPr lvl="1"/>
                <a:r>
                  <a:rPr lang="en-US" sz="1200" b="0" i="0" u="none" strike="noStrike" cap="none" dirty="0">
                    <a:solidFill>
                      <a:schemeClr val="dk1"/>
                    </a:solidFill>
                    <a:effectLst/>
                    <a:highlight>
                      <a:srgbClr val="FFFFFF"/>
                    </a:highlight>
                    <a:latin typeface="Calibri"/>
                    <a:ea typeface="Calibri"/>
                    <a:cs typeface="Calibri"/>
                    <a:sym typeface="Calibri"/>
                  </a:rPr>
                  <a:t>The decoder uses the context vector to ensure that the output sequence is coherent and relevant to the input.</a:t>
                </a:r>
              </a:p>
              <a:p>
                <a:r>
                  <a:rPr lang="en-US" sz="1200" b="1" i="0" u="none" strike="noStrike" cap="none" dirty="0">
                    <a:solidFill>
                      <a:schemeClr val="dk1"/>
                    </a:solidFill>
                    <a:effectLst/>
                    <a:highlight>
                      <a:srgbClr val="FFFFFF"/>
                    </a:highlight>
                    <a:latin typeface="Calibri"/>
                    <a:ea typeface="Calibri"/>
                    <a:cs typeface="Calibri"/>
                    <a:sym typeface="Calibri"/>
                  </a:rPr>
                  <a:t>Note:</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0" i="0" u="none" strike="noStrike" cap="none" dirty="0">
                    <a:solidFill>
                      <a:schemeClr val="dk1"/>
                    </a:solidFill>
                    <a:effectLst/>
                    <a:highlight>
                      <a:srgbClr val="FFFFFF"/>
                    </a:highlight>
                    <a:latin typeface="Calibri"/>
                    <a:ea typeface="Calibri"/>
                    <a:cs typeface="Calibri"/>
                    <a:sym typeface="Calibri"/>
                  </a:rPr>
                  <a:t>The context vector is crucial because it acts as a bridge between the input and output sequences. It is derived from the hidden representations of the input and can be used by the decoder in various ways to generate the output.</a:t>
                </a:r>
              </a:p>
              <a:p>
                <a:br>
                  <a:rPr lang="en-US" dirty="0">
                    <a:highlight>
                      <a:srgbClr val="FFFFFF"/>
                    </a:highlight>
                  </a:rPr>
                </a:br>
                <a:endParaRPr lang="en-US" dirty="0">
                  <a:highlight>
                    <a:srgbClr val="FFFFFF"/>
                  </a:highlight>
                </a:endParaRPr>
              </a:p>
              <a:p>
                <a:r>
                  <a:rPr lang="en-US" sz="1200" b="0" i="0" u="none" strike="noStrike" cap="none" dirty="0">
                    <a:solidFill>
                      <a:schemeClr val="dk1"/>
                    </a:solidFill>
                    <a:effectLst/>
                    <a:highlight>
                      <a:srgbClr val="FFFFFF"/>
                    </a:highlight>
                    <a:latin typeface="Calibri"/>
                    <a:ea typeface="Calibri"/>
                    <a:cs typeface="Calibri"/>
                    <a:sym typeface="Calibri"/>
                  </a:rPr>
                  <a:t>By understanding this architecture, we can appreciate how Seq2Seq models handle complex tasks like translation by breaking them down into understandable steps: encoding the input, summarizing it, and then decoding it into the desired output. This sets the stage for understanding more advanced concepts like attention and transformers, which build upon this foundational idea.</a:t>
                </a:r>
              </a:p>
            </p:txBody>
          </p:sp>
        </mc:Fallback>
      </mc:AlternateContent>
      <p:sp>
        <p:nvSpPr>
          <p:cNvPr id="242" name="Google Shape;242;g263d97e1ce3_0_5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2b8b5137f2c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253" name="Google Shape;253;g2b8b5137f2c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0" i="0" u="none" strike="noStrike" cap="none" dirty="0">
                    <a:solidFill>
                      <a:schemeClr val="dk1"/>
                    </a:solidFill>
                    <a:effectLst/>
                    <a:highlight>
                      <a:srgbClr val="FFFFFF"/>
                    </a:highlight>
                    <a:latin typeface="Calibri"/>
                    <a:ea typeface="Calibri"/>
                    <a:cs typeface="Calibri"/>
                    <a:sym typeface="Calibri"/>
                  </a:rPr>
                  <a:t>In this slide, we see a practical example of how the Encoder-Decoder architecture processes a sequence of words from a source language (English) and translates it into a target language (Spanish).</a:t>
                </a:r>
              </a:p>
              <a:p>
                <a:r>
                  <a:rPr lang="en-US" sz="1200" b="1" i="0" u="none" strike="noStrike" cap="none" dirty="0">
                    <a:solidFill>
                      <a:schemeClr val="dk1"/>
                    </a:solidFill>
                    <a:effectLst/>
                    <a:highlight>
                      <a:srgbClr val="FFFFFF"/>
                    </a:highlight>
                    <a:latin typeface="Calibri"/>
                    <a:ea typeface="Calibri"/>
                    <a:cs typeface="Calibri"/>
                    <a:sym typeface="Calibri"/>
                  </a:rPr>
                  <a:t>Process Breakdown:</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1" i="0" u="none" strike="noStrike" cap="none" dirty="0">
                    <a:solidFill>
                      <a:schemeClr val="dk1"/>
                    </a:solidFill>
                    <a:effectLst/>
                    <a:highlight>
                      <a:srgbClr val="FFFFFF"/>
                    </a:highlight>
                    <a:latin typeface="Calibri"/>
                    <a:ea typeface="Calibri"/>
                    <a:cs typeface="Calibri"/>
                    <a:sym typeface="Calibri"/>
                  </a:rPr>
                  <a:t>Source Text Encoding:</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input sentence "the green witch arrived" is processed word by word by the encoder.</a:t>
                </a:r>
              </a:p>
              <a:p>
                <a:pPr lvl="1"/>
                <a:r>
                  <a:rPr lang="en-US" sz="1200" b="0" i="0" u="none" strike="noStrike" cap="none" dirty="0">
                    <a:solidFill>
                      <a:schemeClr val="dk1"/>
                    </a:solidFill>
                    <a:effectLst/>
                    <a:highlight>
                      <a:srgbClr val="FFFFFF"/>
                    </a:highlight>
                    <a:latin typeface="Calibri"/>
                    <a:ea typeface="Calibri"/>
                    <a:cs typeface="Calibri"/>
                    <a:sym typeface="Calibri"/>
                  </a:rPr>
                  <a:t>Each word is first converted into a numerical representation through an embedding layer, which helps the model understand the semantic meaning of the words.</a:t>
                </a:r>
              </a:p>
              <a:p>
                <a:pPr lvl="1"/>
                <a:r>
                  <a:rPr lang="en-US" sz="1200" b="0" i="0" u="none" strike="noStrike" cap="none" dirty="0">
                    <a:solidFill>
                      <a:schemeClr val="dk1"/>
                    </a:solidFill>
                    <a:effectLst/>
                    <a:highlight>
                      <a:srgbClr val="FFFFFF"/>
                    </a:highlight>
                    <a:latin typeface="Calibri"/>
                    <a:ea typeface="Calibri"/>
                    <a:cs typeface="Calibri"/>
                    <a:sym typeface="Calibri"/>
                  </a:rPr>
                  <a:t>These embeddings are then passed through a series of hidden layers, which build up the internal representation of the sentence. This is shown by the sequence of blue boxes.</a:t>
                </a:r>
              </a:p>
              <a:p>
                <a:pPr lvl="1"/>
                <a:r>
                  <a:rPr lang="en-US" sz="1200" b="0" i="0" u="none" strike="noStrike" cap="none" dirty="0">
                    <a:solidFill>
                      <a:schemeClr val="dk1"/>
                    </a:solidFill>
                    <a:effectLst/>
                    <a:highlight>
                      <a:srgbClr val="FFFFFF"/>
                    </a:highlight>
                    <a:latin typeface="Calibri"/>
                    <a:ea typeface="Calibri"/>
                    <a:cs typeface="Calibri"/>
                    <a:sym typeface="Calibri"/>
                  </a:rPr>
                  <a:t>The final hidden state, </a:t>
                </a:r>
                <a14:m>
                  <m:oMath xmlns:m="http://schemas.openxmlformats.org/officeDocument/2006/math">
                    <m:sSub>
                      <m:sSubPr>
                        <m:ctrlPr>
                          <a:rPr lang="ar-AE" sz="1200" b="0" i="0"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h</m:t>
                        </m:r>
                      </m:e>
                      <m:sub>
                        <m:r>
                          <a:rPr lang="ar-AE" sz="1200" b="0" i="1" u="none" strike="noStrike" cap="none">
                            <a:solidFill>
                              <a:schemeClr val="dk1"/>
                            </a:solidFill>
                            <a:highlight>
                              <a:srgbClr val="FFFFFF"/>
                            </a:highlight>
                            <a:latin typeface="Calibri"/>
                            <a:ea typeface="Calibri"/>
                            <a:cs typeface="Calibri"/>
                            <a:sym typeface="Calibri"/>
                          </a:rPr>
                          <m:t>𝑛</m:t>
                        </m:r>
                      </m:sub>
                    </m:sSub>
                  </m:oMath>
                </a14:m>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captures the essence of the entire input sentence. This is the context vector we discussed earlier.</a:t>
                </a:r>
              </a:p>
              <a:p>
                <a:r>
                  <a:rPr lang="en-US" sz="1200" b="1" i="0" u="none" strike="noStrike" cap="none" dirty="0">
                    <a:solidFill>
                      <a:schemeClr val="dk1"/>
                    </a:solidFill>
                    <a:effectLst/>
                    <a:highlight>
                      <a:srgbClr val="FFFFFF"/>
                    </a:highlight>
                    <a:latin typeface="Calibri"/>
                    <a:ea typeface="Calibri"/>
                    <a:cs typeface="Calibri"/>
                    <a:sym typeface="Calibri"/>
                  </a:rPr>
                  <a:t>Context Vector:</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context vector </a:t>
                </a:r>
                <a14:m>
                  <m:oMath xmlns:m="http://schemas.openxmlformats.org/officeDocument/2006/math">
                    <m:sSub>
                      <m:sSubPr>
                        <m:ctrlPr>
                          <a:rPr lang="ar-AE" sz="1200" b="0" i="0"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h</m:t>
                        </m:r>
                      </m:e>
                      <m:sub>
                        <m:r>
                          <a:rPr lang="ar-AE" sz="1200" b="0" i="1" u="none" strike="noStrike" cap="none">
                            <a:solidFill>
                              <a:schemeClr val="dk1"/>
                            </a:solidFill>
                            <a:highlight>
                              <a:srgbClr val="FFFFFF"/>
                            </a:highlight>
                            <a:latin typeface="Calibri"/>
                            <a:ea typeface="Calibri"/>
                            <a:cs typeface="Calibri"/>
                            <a:sym typeface="Calibri"/>
                          </a:rPr>
                          <m:t>𝑛</m:t>
                        </m:r>
                      </m:sub>
                    </m:sSub>
                  </m:oMath>
                </a14:m>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is crucial because it contains all the information the decoder needs to start generating the target text.</a:t>
                </a:r>
              </a:p>
              <a:p>
                <a:pPr lvl="1"/>
                <a:r>
                  <a:rPr lang="en-US" sz="1200" b="0" i="0" u="none" strike="noStrike" cap="none" dirty="0">
                    <a:solidFill>
                      <a:schemeClr val="dk1"/>
                    </a:solidFill>
                    <a:effectLst/>
                    <a:highlight>
                      <a:srgbClr val="FFFFFF"/>
                    </a:highlight>
                    <a:latin typeface="Calibri"/>
                    <a:ea typeface="Calibri"/>
                    <a:cs typeface="Calibri"/>
                    <a:sym typeface="Calibri"/>
                  </a:rPr>
                  <a:t>Unlike simpler models, this architecture makes the context vector available to more than just the first decoder hidden state. This ensures that the influence of the context vector doesn't diminish as the output sequence is generated.</a:t>
                </a:r>
              </a:p>
              <a:p>
                <a:r>
                  <a:rPr lang="en-US" sz="1200" b="1" i="0" u="none" strike="noStrike" cap="none" dirty="0">
                    <a:solidFill>
                      <a:schemeClr val="dk1"/>
                    </a:solidFill>
                    <a:effectLst/>
                    <a:highlight>
                      <a:srgbClr val="FFFFFF"/>
                    </a:highlight>
                    <a:latin typeface="Calibri"/>
                    <a:ea typeface="Calibri"/>
                    <a:cs typeface="Calibri"/>
                    <a:sym typeface="Calibri"/>
                  </a:rPr>
                  <a:t>Target Text Decoding:</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decoder begins with a special start token &lt;s&gt;, which signals the beginning of the output sequence.</a:t>
                </a:r>
              </a:p>
              <a:p>
                <a:pPr lvl="1"/>
                <a:r>
                  <a:rPr lang="en-US" sz="1200" b="0" i="0" u="none" strike="noStrike" cap="none" dirty="0">
                    <a:solidFill>
                      <a:schemeClr val="dk1"/>
                    </a:solidFill>
                    <a:effectLst/>
                    <a:highlight>
                      <a:srgbClr val="FFFFFF"/>
                    </a:highlight>
                    <a:latin typeface="Calibri"/>
                    <a:ea typeface="Calibri"/>
                    <a:cs typeface="Calibri"/>
                    <a:sym typeface="Calibri"/>
                  </a:rPr>
                  <a:t>Using the context vector and the start token, the decoder generates the first word of the target sentence, "</a:t>
                </a:r>
                <a:r>
                  <a:rPr lang="en-US" sz="1200" b="0" i="0" u="none" strike="noStrike" cap="none" dirty="0" err="1">
                    <a:solidFill>
                      <a:schemeClr val="dk1"/>
                    </a:solidFill>
                    <a:effectLst/>
                    <a:highlight>
                      <a:srgbClr val="FFFFFF"/>
                    </a:highlight>
                    <a:latin typeface="Calibri"/>
                    <a:ea typeface="Calibri"/>
                    <a:cs typeface="Calibri"/>
                    <a:sym typeface="Calibri"/>
                  </a:rPr>
                  <a:t>llegó</a:t>
                </a:r>
                <a:r>
                  <a:rPr lang="en-US" sz="1200" b="0" i="0" u="none" strike="noStrike" cap="none" dirty="0">
                    <a:solidFill>
                      <a:schemeClr val="dk1"/>
                    </a:solidFill>
                    <a:effectLst/>
                    <a:highlight>
                      <a:srgbClr val="FFFFFF"/>
                    </a:highlight>
                    <a:latin typeface="Calibri"/>
                    <a:ea typeface="Calibri"/>
                    <a:cs typeface="Calibri"/>
                    <a:sym typeface="Calibri"/>
                  </a:rPr>
                  <a:t>".</a:t>
                </a:r>
              </a:p>
              <a:p>
                <a:pPr lvl="1"/>
                <a:r>
                  <a:rPr lang="en-US" sz="1200" b="0" i="0" u="none" strike="noStrike" cap="none" dirty="0">
                    <a:solidFill>
                      <a:schemeClr val="dk1"/>
                    </a:solidFill>
                    <a:effectLst/>
                    <a:highlight>
                      <a:srgbClr val="FFFFFF"/>
                    </a:highlight>
                    <a:latin typeface="Calibri"/>
                    <a:ea typeface="Calibri"/>
                    <a:cs typeface="Calibri"/>
                    <a:sym typeface="Calibri"/>
                  </a:rPr>
                  <a:t>This process continues, with each generated word being fed back into the decoder to help generate the next word, until the entire sentence "</a:t>
                </a:r>
                <a:r>
                  <a:rPr lang="en-US" sz="1200" b="0" i="0" u="none" strike="noStrike" cap="none" dirty="0" err="1">
                    <a:solidFill>
                      <a:schemeClr val="dk1"/>
                    </a:solidFill>
                    <a:effectLst/>
                    <a:highlight>
                      <a:srgbClr val="FFFFFF"/>
                    </a:highlight>
                    <a:latin typeface="Calibri"/>
                    <a:ea typeface="Calibri"/>
                    <a:cs typeface="Calibri"/>
                    <a:sym typeface="Calibri"/>
                  </a:rPr>
                  <a:t>llegó</a:t>
                </a:r>
                <a:r>
                  <a:rPr lang="en-US" sz="1200" b="0" i="0" u="none" strike="noStrike" cap="none" dirty="0">
                    <a:solidFill>
                      <a:schemeClr val="dk1"/>
                    </a:solidFill>
                    <a:effectLst/>
                    <a:highlight>
                      <a:srgbClr val="FFFFFF"/>
                    </a:highlight>
                    <a:latin typeface="Calibri"/>
                    <a:ea typeface="Calibri"/>
                    <a:cs typeface="Calibri"/>
                    <a:sym typeface="Calibri"/>
                  </a:rPr>
                  <a:t> la bruja </a:t>
                </a:r>
                <a:r>
                  <a:rPr lang="en-US" sz="1200" b="0" i="0" u="none" strike="noStrike" cap="none" dirty="0" err="1">
                    <a:solidFill>
                      <a:schemeClr val="dk1"/>
                    </a:solidFill>
                    <a:effectLst/>
                    <a:highlight>
                      <a:srgbClr val="FFFFFF"/>
                    </a:highlight>
                    <a:latin typeface="Calibri"/>
                    <a:ea typeface="Calibri"/>
                    <a:cs typeface="Calibri"/>
                    <a:sym typeface="Calibri"/>
                  </a:rPr>
                  <a:t>verde</a:t>
                </a:r>
                <a:r>
                  <a:rPr lang="en-US" sz="1200" b="0" i="0" u="none" strike="noStrike" cap="none" dirty="0">
                    <a:solidFill>
                      <a:schemeClr val="dk1"/>
                    </a:solidFill>
                    <a:effectLst/>
                    <a:highlight>
                      <a:srgbClr val="FFFFFF"/>
                    </a:highlight>
                    <a:latin typeface="Calibri"/>
                    <a:ea typeface="Calibri"/>
                    <a:cs typeface="Calibri"/>
                    <a:sym typeface="Calibri"/>
                  </a:rPr>
                  <a:t>" is produced.</a:t>
                </a:r>
              </a:p>
              <a:p>
                <a:pPr lvl="1"/>
                <a:r>
                  <a:rPr lang="en-US" sz="1200" b="0" i="0" u="none" strike="noStrike" cap="none" dirty="0">
                    <a:solidFill>
                      <a:schemeClr val="dk1"/>
                    </a:solidFill>
                    <a:effectLst/>
                    <a:highlight>
                      <a:srgbClr val="FFFFFF"/>
                    </a:highlight>
                    <a:latin typeface="Calibri"/>
                    <a:ea typeface="Calibri"/>
                    <a:cs typeface="Calibri"/>
                    <a:sym typeface="Calibri"/>
                  </a:rPr>
                  <a:t>The process ends with a special end token &lt;/s&gt;, indicating the completion of the translation.</a:t>
                </a:r>
              </a:p>
              <a:p>
                <a:r>
                  <a:rPr lang="en-US" sz="1200" b="1" i="0" u="none" strike="noStrike" cap="none" dirty="0">
                    <a:solidFill>
                      <a:schemeClr val="dk1"/>
                    </a:solidFill>
                    <a:effectLst/>
                    <a:highlight>
                      <a:srgbClr val="FFFFFF"/>
                    </a:highlight>
                    <a:latin typeface="Calibri"/>
                    <a:ea typeface="Calibri"/>
                    <a:cs typeface="Calibri"/>
                    <a:sym typeface="Calibri"/>
                  </a:rPr>
                  <a:t>Key Insight:</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0" i="0" u="none" strike="noStrike" cap="none" dirty="0">
                    <a:solidFill>
                      <a:schemeClr val="dk1"/>
                    </a:solidFill>
                    <a:effectLst/>
                    <a:highlight>
                      <a:srgbClr val="FFFFFF"/>
                    </a:highlight>
                    <a:latin typeface="Calibri"/>
                    <a:ea typeface="Calibri"/>
                    <a:cs typeface="Calibri"/>
                    <a:sym typeface="Calibri"/>
                  </a:rPr>
                  <a:t>By making the context vector available throughout the decoding process, the model maintains a strong connection to the original input, ensuring that the translation remains accurate and contextually relevant.</a:t>
                </a:r>
              </a:p>
              <a:p>
                <a:br>
                  <a:rPr lang="en-US" dirty="0">
                    <a:highlight>
                      <a:srgbClr val="FFFFFF"/>
                    </a:highlight>
                  </a:rPr>
                </a:br>
                <a:endParaRPr lang="en-US" dirty="0">
                  <a:highlight>
                    <a:srgbClr val="FFFFFF"/>
                  </a:highlight>
                </a:endParaRPr>
              </a:p>
              <a:p>
                <a:r>
                  <a:rPr lang="en-US" sz="1200" b="0" i="0" u="none" strike="noStrike" cap="none" dirty="0">
                    <a:solidFill>
                      <a:schemeClr val="dk1"/>
                    </a:solidFill>
                    <a:effectLst/>
                    <a:highlight>
                      <a:srgbClr val="FFFFFF"/>
                    </a:highlight>
                    <a:latin typeface="Calibri"/>
                    <a:ea typeface="Calibri"/>
                    <a:cs typeface="Calibri"/>
                    <a:sym typeface="Calibri"/>
                  </a:rPr>
                  <a:t>This slide illustrates how the Encoder-Decoder architecture effectively handles the translation task by maintaining a continuous flow of information from the input to the output, ensuring that the generated text is both coherent and faithful to the source. This sets the stage for understanding how attention mechanisms can further enhance this process by allowing the model to focus on specific parts of the input when generating each word of the output.</a:t>
                </a:r>
              </a:p>
              <a:p>
                <a:pPr marL="0" lvl="0" indent="0" algn="l" rtl="0">
                  <a:lnSpc>
                    <a:spcPct val="100000"/>
                  </a:lnSpc>
                  <a:spcBef>
                    <a:spcPts val="0"/>
                  </a:spcBef>
                  <a:spcAft>
                    <a:spcPts val="0"/>
                  </a:spcAft>
                  <a:buSzPts val="1400"/>
                  <a:buNone/>
                </a:pPr>
                <a:endParaRPr sz="1050" dirty="0">
                  <a:highlight>
                    <a:srgbClr val="FFFFFF"/>
                  </a:highlight>
                  <a:latin typeface="Arial"/>
                  <a:ea typeface="Arial"/>
                  <a:cs typeface="Arial"/>
                  <a:sym typeface="Arial"/>
                </a:endParaRPr>
              </a:p>
            </p:txBody>
          </p:sp>
        </mc:Choice>
        <mc:Fallback>
          <p:sp>
            <p:nvSpPr>
              <p:cNvPr id="253" name="Google Shape;253;g2b8b5137f2c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0" i="0" u="none" strike="noStrike" cap="none" dirty="0">
                    <a:solidFill>
                      <a:schemeClr val="dk1"/>
                    </a:solidFill>
                    <a:effectLst/>
                    <a:highlight>
                      <a:srgbClr val="FFFFFF"/>
                    </a:highlight>
                    <a:latin typeface="Calibri"/>
                    <a:ea typeface="Calibri"/>
                    <a:cs typeface="Calibri"/>
                    <a:sym typeface="Calibri"/>
                  </a:rPr>
                  <a:t>In this slide, we see a practical example of how the Encoder-Decoder architecture processes a sequence of words from a source language (English) and translates it into a target language (Spanish).</a:t>
                </a:r>
              </a:p>
              <a:p>
                <a:r>
                  <a:rPr lang="en-US" sz="1200" b="1" i="0" u="none" strike="noStrike" cap="none" dirty="0">
                    <a:solidFill>
                      <a:schemeClr val="dk1"/>
                    </a:solidFill>
                    <a:effectLst/>
                    <a:highlight>
                      <a:srgbClr val="FFFFFF"/>
                    </a:highlight>
                    <a:latin typeface="Calibri"/>
                    <a:ea typeface="Calibri"/>
                    <a:cs typeface="Calibri"/>
                    <a:sym typeface="Calibri"/>
                  </a:rPr>
                  <a:t>Process Breakdown:</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1" i="0" u="none" strike="noStrike" cap="none" dirty="0">
                    <a:solidFill>
                      <a:schemeClr val="dk1"/>
                    </a:solidFill>
                    <a:effectLst/>
                    <a:highlight>
                      <a:srgbClr val="FFFFFF"/>
                    </a:highlight>
                    <a:latin typeface="Calibri"/>
                    <a:ea typeface="Calibri"/>
                    <a:cs typeface="Calibri"/>
                    <a:sym typeface="Calibri"/>
                  </a:rPr>
                  <a:t>Source Text Encoding:</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input sentence "the green witch arrived" is processed word by word by the encoder.</a:t>
                </a:r>
              </a:p>
              <a:p>
                <a:pPr lvl="1"/>
                <a:r>
                  <a:rPr lang="en-US" sz="1200" b="0" i="0" u="none" strike="noStrike" cap="none" dirty="0">
                    <a:solidFill>
                      <a:schemeClr val="dk1"/>
                    </a:solidFill>
                    <a:effectLst/>
                    <a:highlight>
                      <a:srgbClr val="FFFFFF"/>
                    </a:highlight>
                    <a:latin typeface="Calibri"/>
                    <a:ea typeface="Calibri"/>
                    <a:cs typeface="Calibri"/>
                    <a:sym typeface="Calibri"/>
                  </a:rPr>
                  <a:t>Each word is first converted into a numerical representation through an embedding layer, which helps the model understand the semantic meaning of the words.</a:t>
                </a:r>
              </a:p>
              <a:p>
                <a:pPr lvl="1"/>
                <a:r>
                  <a:rPr lang="en-US" sz="1200" b="0" i="0" u="none" strike="noStrike" cap="none" dirty="0">
                    <a:solidFill>
                      <a:schemeClr val="dk1"/>
                    </a:solidFill>
                    <a:effectLst/>
                    <a:highlight>
                      <a:srgbClr val="FFFFFF"/>
                    </a:highlight>
                    <a:latin typeface="Calibri"/>
                    <a:ea typeface="Calibri"/>
                    <a:cs typeface="Calibri"/>
                    <a:sym typeface="Calibri"/>
                  </a:rPr>
                  <a:t>These embeddings are then passed through a series of hidden layers, which build up the internal representation of the sentence. This is shown by the sequence of blue boxes.</a:t>
                </a:r>
              </a:p>
              <a:p>
                <a:pPr lvl="1"/>
                <a:r>
                  <a:rPr lang="en-US" sz="1200" b="0" i="0" u="none" strike="noStrike" cap="none" dirty="0">
                    <a:solidFill>
                      <a:schemeClr val="dk1"/>
                    </a:solidFill>
                    <a:effectLst/>
                    <a:highlight>
                      <a:srgbClr val="FFFFFF"/>
                    </a:highlight>
                    <a:latin typeface="Calibri"/>
                    <a:ea typeface="Calibri"/>
                    <a:cs typeface="Calibri"/>
                    <a:sym typeface="Calibri"/>
                  </a:rPr>
                  <a:t>The final hidden state, </a:t>
                </a:r>
                <a:r>
                  <a:rPr lang="ar-AE" sz="1200" b="0" i="0" u="none" strike="noStrike" cap="none">
                    <a:solidFill>
                      <a:schemeClr val="dk1"/>
                    </a:solidFill>
                    <a:highlight>
                      <a:srgbClr val="FFFFFF"/>
                    </a:highlight>
                    <a:latin typeface="Calibri"/>
                    <a:ea typeface="Calibri"/>
                    <a:cs typeface="Calibri"/>
                    <a:sym typeface="Calibri"/>
                  </a:rPr>
                  <a:t>ℎ_𝑛</a:t>
                </a:r>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captures the essence of the entire input sentence. This is the context vector we discussed earlier.</a:t>
                </a:r>
              </a:p>
              <a:p>
                <a:r>
                  <a:rPr lang="en-US" sz="1200" b="1" i="0" u="none" strike="noStrike" cap="none" dirty="0">
                    <a:solidFill>
                      <a:schemeClr val="dk1"/>
                    </a:solidFill>
                    <a:effectLst/>
                    <a:highlight>
                      <a:srgbClr val="FFFFFF"/>
                    </a:highlight>
                    <a:latin typeface="Calibri"/>
                    <a:ea typeface="Calibri"/>
                    <a:cs typeface="Calibri"/>
                    <a:sym typeface="Calibri"/>
                  </a:rPr>
                  <a:t>Context Vector:</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context vector </a:t>
                </a:r>
                <a:r>
                  <a:rPr lang="ar-AE" sz="1200" b="0" i="0" u="none" strike="noStrike" cap="none">
                    <a:solidFill>
                      <a:schemeClr val="dk1"/>
                    </a:solidFill>
                    <a:highlight>
                      <a:srgbClr val="FFFFFF"/>
                    </a:highlight>
                    <a:latin typeface="Calibri"/>
                    <a:ea typeface="Calibri"/>
                    <a:cs typeface="Calibri"/>
                    <a:sym typeface="Calibri"/>
                  </a:rPr>
                  <a:t>ℎ_𝑛</a:t>
                </a:r>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is crucial because it contains all the information the decoder needs to start generating the target text.</a:t>
                </a:r>
              </a:p>
              <a:p>
                <a:pPr lvl="1"/>
                <a:r>
                  <a:rPr lang="en-US" sz="1200" b="0" i="0" u="none" strike="noStrike" cap="none" dirty="0">
                    <a:solidFill>
                      <a:schemeClr val="dk1"/>
                    </a:solidFill>
                    <a:effectLst/>
                    <a:highlight>
                      <a:srgbClr val="FFFFFF"/>
                    </a:highlight>
                    <a:latin typeface="Calibri"/>
                    <a:ea typeface="Calibri"/>
                    <a:cs typeface="Calibri"/>
                    <a:sym typeface="Calibri"/>
                  </a:rPr>
                  <a:t>Unlike simpler models, this architecture makes the context vector available to more than just the first decoder hidden state. This ensures that the influence of the context vector doesn't diminish as the output sequence is generated.</a:t>
                </a:r>
              </a:p>
              <a:p>
                <a:r>
                  <a:rPr lang="en-US" sz="1200" b="1" i="0" u="none" strike="noStrike" cap="none" dirty="0">
                    <a:solidFill>
                      <a:schemeClr val="dk1"/>
                    </a:solidFill>
                    <a:effectLst/>
                    <a:highlight>
                      <a:srgbClr val="FFFFFF"/>
                    </a:highlight>
                    <a:latin typeface="Calibri"/>
                    <a:ea typeface="Calibri"/>
                    <a:cs typeface="Calibri"/>
                    <a:sym typeface="Calibri"/>
                  </a:rPr>
                  <a:t>Target Text Decoding:</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decoder begins with a special start token &lt;s&gt;, which signals the beginning of the output sequence.</a:t>
                </a:r>
              </a:p>
              <a:p>
                <a:pPr lvl="1"/>
                <a:r>
                  <a:rPr lang="en-US" sz="1200" b="0" i="0" u="none" strike="noStrike" cap="none" dirty="0">
                    <a:solidFill>
                      <a:schemeClr val="dk1"/>
                    </a:solidFill>
                    <a:effectLst/>
                    <a:highlight>
                      <a:srgbClr val="FFFFFF"/>
                    </a:highlight>
                    <a:latin typeface="Calibri"/>
                    <a:ea typeface="Calibri"/>
                    <a:cs typeface="Calibri"/>
                    <a:sym typeface="Calibri"/>
                  </a:rPr>
                  <a:t>Using the context vector and the start token, the decoder generates the first word of the target sentence, "</a:t>
                </a:r>
                <a:r>
                  <a:rPr lang="en-US" sz="1200" b="0" i="0" u="none" strike="noStrike" cap="none" dirty="0" err="1">
                    <a:solidFill>
                      <a:schemeClr val="dk1"/>
                    </a:solidFill>
                    <a:effectLst/>
                    <a:highlight>
                      <a:srgbClr val="FFFFFF"/>
                    </a:highlight>
                    <a:latin typeface="Calibri"/>
                    <a:ea typeface="Calibri"/>
                    <a:cs typeface="Calibri"/>
                    <a:sym typeface="Calibri"/>
                  </a:rPr>
                  <a:t>llegó</a:t>
                </a:r>
                <a:r>
                  <a:rPr lang="en-US" sz="1200" b="0" i="0" u="none" strike="noStrike" cap="none" dirty="0">
                    <a:solidFill>
                      <a:schemeClr val="dk1"/>
                    </a:solidFill>
                    <a:effectLst/>
                    <a:highlight>
                      <a:srgbClr val="FFFFFF"/>
                    </a:highlight>
                    <a:latin typeface="Calibri"/>
                    <a:ea typeface="Calibri"/>
                    <a:cs typeface="Calibri"/>
                    <a:sym typeface="Calibri"/>
                  </a:rPr>
                  <a:t>".</a:t>
                </a:r>
              </a:p>
              <a:p>
                <a:pPr lvl="1"/>
                <a:r>
                  <a:rPr lang="en-US" sz="1200" b="0" i="0" u="none" strike="noStrike" cap="none" dirty="0">
                    <a:solidFill>
                      <a:schemeClr val="dk1"/>
                    </a:solidFill>
                    <a:effectLst/>
                    <a:highlight>
                      <a:srgbClr val="FFFFFF"/>
                    </a:highlight>
                    <a:latin typeface="Calibri"/>
                    <a:ea typeface="Calibri"/>
                    <a:cs typeface="Calibri"/>
                    <a:sym typeface="Calibri"/>
                  </a:rPr>
                  <a:t>This process continues, with each generated word being fed back into the decoder to help generate the next word, until the entire sentence "</a:t>
                </a:r>
                <a:r>
                  <a:rPr lang="en-US" sz="1200" b="0" i="0" u="none" strike="noStrike" cap="none" dirty="0" err="1">
                    <a:solidFill>
                      <a:schemeClr val="dk1"/>
                    </a:solidFill>
                    <a:effectLst/>
                    <a:highlight>
                      <a:srgbClr val="FFFFFF"/>
                    </a:highlight>
                    <a:latin typeface="Calibri"/>
                    <a:ea typeface="Calibri"/>
                    <a:cs typeface="Calibri"/>
                    <a:sym typeface="Calibri"/>
                  </a:rPr>
                  <a:t>llegó</a:t>
                </a:r>
                <a:r>
                  <a:rPr lang="en-US" sz="1200" b="0" i="0" u="none" strike="noStrike" cap="none" dirty="0">
                    <a:solidFill>
                      <a:schemeClr val="dk1"/>
                    </a:solidFill>
                    <a:effectLst/>
                    <a:highlight>
                      <a:srgbClr val="FFFFFF"/>
                    </a:highlight>
                    <a:latin typeface="Calibri"/>
                    <a:ea typeface="Calibri"/>
                    <a:cs typeface="Calibri"/>
                    <a:sym typeface="Calibri"/>
                  </a:rPr>
                  <a:t> la bruja </a:t>
                </a:r>
                <a:r>
                  <a:rPr lang="en-US" sz="1200" b="0" i="0" u="none" strike="noStrike" cap="none" dirty="0" err="1">
                    <a:solidFill>
                      <a:schemeClr val="dk1"/>
                    </a:solidFill>
                    <a:effectLst/>
                    <a:highlight>
                      <a:srgbClr val="FFFFFF"/>
                    </a:highlight>
                    <a:latin typeface="Calibri"/>
                    <a:ea typeface="Calibri"/>
                    <a:cs typeface="Calibri"/>
                    <a:sym typeface="Calibri"/>
                  </a:rPr>
                  <a:t>verde</a:t>
                </a:r>
                <a:r>
                  <a:rPr lang="en-US" sz="1200" b="0" i="0" u="none" strike="noStrike" cap="none" dirty="0">
                    <a:solidFill>
                      <a:schemeClr val="dk1"/>
                    </a:solidFill>
                    <a:effectLst/>
                    <a:highlight>
                      <a:srgbClr val="FFFFFF"/>
                    </a:highlight>
                    <a:latin typeface="Calibri"/>
                    <a:ea typeface="Calibri"/>
                    <a:cs typeface="Calibri"/>
                    <a:sym typeface="Calibri"/>
                  </a:rPr>
                  <a:t>" is produced.</a:t>
                </a:r>
              </a:p>
              <a:p>
                <a:pPr lvl="1"/>
                <a:r>
                  <a:rPr lang="en-US" sz="1200" b="0" i="0" u="none" strike="noStrike" cap="none" dirty="0">
                    <a:solidFill>
                      <a:schemeClr val="dk1"/>
                    </a:solidFill>
                    <a:effectLst/>
                    <a:highlight>
                      <a:srgbClr val="FFFFFF"/>
                    </a:highlight>
                    <a:latin typeface="Calibri"/>
                    <a:ea typeface="Calibri"/>
                    <a:cs typeface="Calibri"/>
                    <a:sym typeface="Calibri"/>
                  </a:rPr>
                  <a:t>The process ends with a special end token &lt;/s&gt;, indicating the completion of the translation.</a:t>
                </a:r>
              </a:p>
              <a:p>
                <a:r>
                  <a:rPr lang="en-US" sz="1200" b="1" i="0" u="none" strike="noStrike" cap="none" dirty="0">
                    <a:solidFill>
                      <a:schemeClr val="dk1"/>
                    </a:solidFill>
                    <a:effectLst/>
                    <a:highlight>
                      <a:srgbClr val="FFFFFF"/>
                    </a:highlight>
                    <a:latin typeface="Calibri"/>
                    <a:ea typeface="Calibri"/>
                    <a:cs typeface="Calibri"/>
                    <a:sym typeface="Calibri"/>
                  </a:rPr>
                  <a:t>Key Insight:</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0" i="0" u="none" strike="noStrike" cap="none" dirty="0">
                    <a:solidFill>
                      <a:schemeClr val="dk1"/>
                    </a:solidFill>
                    <a:effectLst/>
                    <a:highlight>
                      <a:srgbClr val="FFFFFF"/>
                    </a:highlight>
                    <a:latin typeface="Calibri"/>
                    <a:ea typeface="Calibri"/>
                    <a:cs typeface="Calibri"/>
                    <a:sym typeface="Calibri"/>
                  </a:rPr>
                  <a:t>By making the context vector available throughout the decoding process, the model maintains a strong connection to the original input, ensuring that the translation remains accurate and contextually relevant.</a:t>
                </a:r>
              </a:p>
              <a:p>
                <a:br>
                  <a:rPr lang="en-US" dirty="0">
                    <a:highlight>
                      <a:srgbClr val="FFFFFF"/>
                    </a:highlight>
                  </a:rPr>
                </a:br>
                <a:endParaRPr lang="en-US" dirty="0">
                  <a:highlight>
                    <a:srgbClr val="FFFFFF"/>
                  </a:highlight>
                </a:endParaRPr>
              </a:p>
              <a:p>
                <a:r>
                  <a:rPr lang="en-US" sz="1200" b="0" i="0" u="none" strike="noStrike" cap="none" dirty="0">
                    <a:solidFill>
                      <a:schemeClr val="dk1"/>
                    </a:solidFill>
                    <a:effectLst/>
                    <a:highlight>
                      <a:srgbClr val="FFFFFF"/>
                    </a:highlight>
                    <a:latin typeface="Calibri"/>
                    <a:ea typeface="Calibri"/>
                    <a:cs typeface="Calibri"/>
                    <a:sym typeface="Calibri"/>
                  </a:rPr>
                  <a:t>This slide illustrates how the Encoder-Decoder architecture effectively handles the translation task by maintaining a continuous flow of information from the input to the output, ensuring that the generated text is both coherent and faithful to the source. This sets the stage for understanding how attention mechanisms can further enhance this process by allowing the model to focus on specific parts of the input when generating each word of the output.</a:t>
                </a:r>
              </a:p>
              <a:p>
                <a:pPr marL="0" lvl="0" indent="0" algn="l" rtl="0">
                  <a:lnSpc>
                    <a:spcPct val="100000"/>
                  </a:lnSpc>
                  <a:spcBef>
                    <a:spcPts val="0"/>
                  </a:spcBef>
                  <a:spcAft>
                    <a:spcPts val="0"/>
                  </a:spcAft>
                  <a:buSzPts val="1400"/>
                  <a:buNone/>
                </a:pPr>
                <a:endParaRPr sz="1050" dirty="0">
                  <a:highlight>
                    <a:srgbClr val="FFFFFF"/>
                  </a:highlight>
                  <a:latin typeface="Arial"/>
                  <a:ea typeface="Arial"/>
                  <a:cs typeface="Arial"/>
                  <a:sym typeface="Arial"/>
                </a:endParaRPr>
              </a:p>
            </p:txBody>
          </p:sp>
        </mc:Fallback>
      </mc:AlternateContent>
      <p:sp>
        <p:nvSpPr>
          <p:cNvPr id="254" name="Google Shape;254;g2b8b5137f2c_0_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b8b5137f2c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262" name="Google Shape;262;g2b8b5137f2c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0" i="0" u="none" strike="noStrike" cap="none" dirty="0">
                    <a:solidFill>
                      <a:schemeClr val="dk1"/>
                    </a:solidFill>
                    <a:effectLst/>
                    <a:highlight>
                      <a:srgbClr val="FFFFFF"/>
                    </a:highlight>
                    <a:latin typeface="Calibri"/>
                    <a:ea typeface="Calibri"/>
                    <a:cs typeface="Calibri"/>
                    <a:sym typeface="Calibri"/>
                  </a:rPr>
                  <a:t>In this diagram, we see a more abstract representation of the Encoder-Decoder process, highlighting the role of the context vector and the sequence of operations involved in translating from a source to a target sequence.</a:t>
                </a:r>
              </a:p>
              <a:p>
                <a:r>
                  <a:rPr lang="en-US" sz="1200" b="1" i="0" u="none" strike="noStrike" cap="none" dirty="0">
                    <a:solidFill>
                      <a:schemeClr val="dk1"/>
                    </a:solidFill>
                    <a:effectLst/>
                    <a:highlight>
                      <a:srgbClr val="FFFFFF"/>
                    </a:highlight>
                    <a:latin typeface="Calibri"/>
                    <a:ea typeface="Calibri"/>
                    <a:cs typeface="Calibri"/>
                    <a:sym typeface="Calibri"/>
                  </a:rPr>
                  <a:t>Key Elements:</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1" i="0" u="none" strike="noStrike" cap="none" dirty="0">
                    <a:solidFill>
                      <a:schemeClr val="dk1"/>
                    </a:solidFill>
                    <a:effectLst/>
                    <a:highlight>
                      <a:srgbClr val="FFFFFF"/>
                    </a:highlight>
                    <a:latin typeface="Calibri"/>
                    <a:ea typeface="Calibri"/>
                    <a:cs typeface="Calibri"/>
                    <a:sym typeface="Calibri"/>
                  </a:rPr>
                  <a:t>Encoder:</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encoder processes the input sequence </a:t>
                </a:r>
                <a14:m>
                  <m:oMath xmlns:m="http://schemas.openxmlformats.org/officeDocument/2006/math">
                    <m:sSub>
                      <m:sSubPr>
                        <m:ctrlPr>
                          <a:rPr lang="ar-AE" sz="1200" b="0" i="0"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𝑥</m:t>
                        </m:r>
                      </m:e>
                      <m:sub>
                        <m:r>
                          <a:rPr lang="ar-AE" sz="1200" b="0" i="0" u="none" strike="noStrike" cap="none">
                            <a:solidFill>
                              <a:schemeClr val="dk1"/>
                            </a:solidFill>
                            <a:highlight>
                              <a:srgbClr val="FFFFFF"/>
                            </a:highlight>
                            <a:latin typeface="Calibri"/>
                            <a:ea typeface="Calibri"/>
                            <a:cs typeface="Calibri"/>
                            <a:sym typeface="Calibri"/>
                          </a:rPr>
                          <m:t>1</m:t>
                        </m:r>
                      </m:sub>
                    </m:sSub>
                    <m:r>
                      <a:rPr lang="ar-AE" sz="1200" b="0" i="0" u="none" strike="noStrike" cap="none">
                        <a:solidFill>
                          <a:schemeClr val="dk1"/>
                        </a:solidFill>
                        <a:highlight>
                          <a:srgbClr val="FFFFFF"/>
                        </a:highlight>
                        <a:latin typeface="Calibri"/>
                        <a:ea typeface="Calibri"/>
                        <a:cs typeface="Calibri"/>
                        <a:sym typeface="Calibri"/>
                      </a:rPr>
                      <m:t>,</m:t>
                    </m:r>
                    <m:sSub>
                      <m:sSubPr>
                        <m:ctrlPr>
                          <a:rPr lang="ar-AE" sz="1200" b="0" i="1"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𝑥</m:t>
                        </m:r>
                      </m:e>
                      <m:sub>
                        <m:r>
                          <a:rPr lang="ar-AE" sz="1200" b="0" i="0" u="none" strike="noStrike" cap="none">
                            <a:solidFill>
                              <a:schemeClr val="dk1"/>
                            </a:solidFill>
                            <a:highlight>
                              <a:srgbClr val="FFFFFF"/>
                            </a:highlight>
                            <a:latin typeface="Calibri"/>
                            <a:ea typeface="Calibri"/>
                            <a:cs typeface="Calibri"/>
                            <a:sym typeface="Calibri"/>
                          </a:rPr>
                          <m:t>2</m:t>
                        </m:r>
                      </m:sub>
                    </m:sSub>
                    <m:r>
                      <a:rPr lang="ar-AE" sz="1200" b="0" i="0" u="none" strike="noStrike" cap="none">
                        <a:solidFill>
                          <a:schemeClr val="dk1"/>
                        </a:solidFill>
                        <a:highlight>
                          <a:srgbClr val="FFFFFF"/>
                        </a:highlight>
                        <a:latin typeface="Calibri"/>
                        <a:ea typeface="Calibri"/>
                        <a:cs typeface="Calibri"/>
                        <a:sym typeface="Calibri"/>
                      </a:rPr>
                      <m:t>,…,</m:t>
                    </m:r>
                    <m:sSub>
                      <m:sSubPr>
                        <m:ctrlPr>
                          <a:rPr lang="ar-AE" sz="1200" b="0" i="1"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𝑥</m:t>
                        </m:r>
                      </m:e>
                      <m:sub>
                        <m:r>
                          <a:rPr lang="ar-AE" sz="1200" b="0" i="1" u="none" strike="noStrike" cap="none">
                            <a:solidFill>
                              <a:schemeClr val="dk1"/>
                            </a:solidFill>
                            <a:highlight>
                              <a:srgbClr val="FFFFFF"/>
                            </a:highlight>
                            <a:latin typeface="Calibri"/>
                            <a:ea typeface="Calibri"/>
                            <a:cs typeface="Calibri"/>
                            <a:sym typeface="Calibri"/>
                          </a:rPr>
                          <m:t>𝑛</m:t>
                        </m:r>
                      </m:sub>
                    </m:sSub>
                  </m:oMath>
                </a14:m>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through an embedding layer and several hidden layers, similar to what we saw in the previous slide.</a:t>
                </a:r>
              </a:p>
              <a:p>
                <a:pPr lvl="1"/>
                <a:r>
                  <a:rPr lang="en-US" sz="1200" b="0" i="0" u="none" strike="noStrike" cap="none" dirty="0">
                    <a:solidFill>
                      <a:schemeClr val="dk1"/>
                    </a:solidFill>
                    <a:effectLst/>
                    <a:highlight>
                      <a:srgbClr val="FFFFFF"/>
                    </a:highlight>
                    <a:latin typeface="Calibri"/>
                    <a:ea typeface="Calibri"/>
                    <a:cs typeface="Calibri"/>
                    <a:sym typeface="Calibri"/>
                  </a:rPr>
                  <a:t>Each word in the input sequence is transformed into a hidden state, with the final hidden state </a:t>
                </a:r>
                <a14:m>
                  <m:oMath xmlns:m="http://schemas.openxmlformats.org/officeDocument/2006/math">
                    <m:sSub>
                      <m:sSubPr>
                        <m:ctrlPr>
                          <a:rPr lang="ar-AE" sz="1200" b="0" i="0"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h</m:t>
                        </m:r>
                      </m:e>
                      <m:sub>
                        <m:r>
                          <a:rPr lang="ar-AE" sz="1200" b="0" i="1" u="none" strike="noStrike" cap="none">
                            <a:solidFill>
                              <a:schemeClr val="dk1"/>
                            </a:solidFill>
                            <a:highlight>
                              <a:srgbClr val="FFFFFF"/>
                            </a:highlight>
                            <a:latin typeface="Calibri"/>
                            <a:ea typeface="Calibri"/>
                            <a:cs typeface="Calibri"/>
                            <a:sym typeface="Calibri"/>
                          </a:rPr>
                          <m:t>𝑛</m:t>
                        </m:r>
                      </m:sub>
                    </m:sSub>
                  </m:oMath>
                </a14:m>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being particularly important. This final state is often referred to as the context vector </a:t>
                </a:r>
                <a14:m>
                  <m:oMath xmlns:m="http://schemas.openxmlformats.org/officeDocument/2006/math">
                    <m:r>
                      <a:rPr lang="en-US" sz="1200" b="0" i="1" u="none" strike="noStrike" cap="none">
                        <a:solidFill>
                          <a:schemeClr val="dk1"/>
                        </a:solidFill>
                        <a:highlight>
                          <a:srgbClr val="FFFFFF"/>
                        </a:highlight>
                        <a:latin typeface="Calibri"/>
                        <a:ea typeface="Calibri"/>
                        <a:cs typeface="Calibri"/>
                        <a:sym typeface="Calibri"/>
                      </a:rPr>
                      <m:t>𝑐</m:t>
                    </m:r>
                  </m:oMath>
                </a14:m>
                <a:r>
                  <a:rPr lang="en-US" sz="1200" b="0" i="0" u="none" strike="noStrike" cap="none" dirty="0">
                    <a:solidFill>
                      <a:schemeClr val="dk1"/>
                    </a:solidFill>
                    <a:effectLst/>
                    <a:highlight>
                      <a:srgbClr val="FFFFFF"/>
                    </a:highlight>
                    <a:latin typeface="Calibri"/>
                    <a:ea typeface="Calibri"/>
                    <a:cs typeface="Calibri"/>
                    <a:sym typeface="Calibri"/>
                  </a:rPr>
                  <a:t>.</a:t>
                </a:r>
              </a:p>
              <a:p>
                <a:r>
                  <a:rPr lang="en-US" sz="1200" b="1" i="0" u="none" strike="noStrike" cap="none" dirty="0">
                    <a:solidFill>
                      <a:schemeClr val="dk1"/>
                    </a:solidFill>
                    <a:effectLst/>
                    <a:highlight>
                      <a:srgbClr val="FFFFFF"/>
                    </a:highlight>
                    <a:latin typeface="Calibri"/>
                    <a:ea typeface="Calibri"/>
                    <a:cs typeface="Calibri"/>
                    <a:sym typeface="Calibri"/>
                  </a:rPr>
                  <a:t>Context Vector:</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context vector </a:t>
                </a:r>
                <a14:m>
                  <m:oMath xmlns:m="http://schemas.openxmlformats.org/officeDocument/2006/math">
                    <m:r>
                      <a:rPr lang="en-US" sz="1200" b="0" i="1" u="none" strike="noStrike" cap="none">
                        <a:solidFill>
                          <a:schemeClr val="dk1"/>
                        </a:solidFill>
                        <a:highlight>
                          <a:srgbClr val="FFFFFF"/>
                        </a:highlight>
                        <a:latin typeface="Calibri"/>
                        <a:ea typeface="Calibri"/>
                        <a:cs typeface="Calibri"/>
                        <a:sym typeface="Calibri"/>
                      </a:rPr>
                      <m:t>𝑐</m:t>
                    </m:r>
                  </m:oMath>
                </a14:m>
                <a:r>
                  <a:rPr lang="en-US" sz="1200" b="0" i="0" u="none" strike="noStrike" cap="none" dirty="0">
                    <a:solidFill>
                      <a:schemeClr val="dk1"/>
                    </a:solidFill>
                    <a:effectLst/>
                    <a:highlight>
                      <a:srgbClr val="FFFFFF"/>
                    </a:highlight>
                    <a:latin typeface="Calibri"/>
                    <a:ea typeface="Calibri"/>
                    <a:cs typeface="Calibri"/>
                    <a:sym typeface="Calibri"/>
                  </a:rPr>
                  <a:t> is derived from the last hidden state of the encoder, </a:t>
                </a:r>
                <a14:m>
                  <m:oMath xmlns:m="http://schemas.openxmlformats.org/officeDocument/2006/math">
                    <m:sSub>
                      <m:sSubPr>
                        <m:ctrlPr>
                          <a:rPr lang="ar-AE" sz="1200" b="0" i="0"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h</m:t>
                        </m:r>
                      </m:e>
                      <m:sub>
                        <m:r>
                          <a:rPr lang="ar-AE" sz="1200" b="0" i="1" u="none" strike="noStrike" cap="none">
                            <a:solidFill>
                              <a:schemeClr val="dk1"/>
                            </a:solidFill>
                            <a:highlight>
                              <a:srgbClr val="FFFFFF"/>
                            </a:highlight>
                            <a:latin typeface="Calibri"/>
                            <a:ea typeface="Calibri"/>
                            <a:cs typeface="Calibri"/>
                            <a:sym typeface="Calibri"/>
                          </a:rPr>
                          <m:t>𝑛</m:t>
                        </m:r>
                      </m:sub>
                    </m:sSub>
                  </m:oMath>
                </a14:m>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and is crucial for the decoder's operation.</a:t>
                </a:r>
              </a:p>
              <a:p>
                <a:pPr lvl="1"/>
                <a:r>
                  <a:rPr lang="en-US" sz="1200" b="0" i="0" u="none" strike="noStrike" cap="none" dirty="0">
                    <a:solidFill>
                      <a:schemeClr val="dk1"/>
                    </a:solidFill>
                    <a:effectLst/>
                    <a:highlight>
                      <a:srgbClr val="FFFFFF"/>
                    </a:highlight>
                    <a:latin typeface="Calibri"/>
                    <a:ea typeface="Calibri"/>
                    <a:cs typeface="Calibri"/>
                    <a:sym typeface="Calibri"/>
                  </a:rPr>
                  <a:t>This vector acts as a summary of the entire input sequence, capturing its essential information and meaning.</a:t>
                </a:r>
              </a:p>
              <a:p>
                <a:r>
                  <a:rPr lang="en-US" sz="1200" b="1" i="0" u="none" strike="noStrike" cap="none" dirty="0">
                    <a:solidFill>
                      <a:schemeClr val="dk1"/>
                    </a:solidFill>
                    <a:effectLst/>
                    <a:highlight>
                      <a:srgbClr val="FFFFFF"/>
                    </a:highlight>
                    <a:latin typeface="Calibri"/>
                    <a:ea typeface="Calibri"/>
                    <a:cs typeface="Calibri"/>
                    <a:sym typeface="Calibri"/>
                  </a:rPr>
                  <a:t>Decoder:</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decoder starts with a special start token &lt;s&gt;, which signals the beginning of the output sequence.</a:t>
                </a:r>
              </a:p>
              <a:p>
                <a:pPr lvl="1"/>
                <a:r>
                  <a:rPr lang="en-US" sz="1200" b="0" i="0" u="none" strike="noStrike" cap="none" dirty="0">
                    <a:solidFill>
                      <a:schemeClr val="dk1"/>
                    </a:solidFill>
                    <a:effectLst/>
                    <a:highlight>
                      <a:srgbClr val="FFFFFF"/>
                    </a:highlight>
                    <a:latin typeface="Calibri"/>
                    <a:ea typeface="Calibri"/>
                    <a:cs typeface="Calibri"/>
                    <a:sym typeface="Calibri"/>
                  </a:rPr>
                  <a:t>It uses the context vector </a:t>
                </a:r>
                <a14:m>
                  <m:oMath xmlns:m="http://schemas.openxmlformats.org/officeDocument/2006/math">
                    <m:r>
                      <a:rPr lang="en-US" sz="1200" b="0" i="1" u="none" strike="noStrike" cap="none">
                        <a:solidFill>
                          <a:schemeClr val="dk1"/>
                        </a:solidFill>
                        <a:highlight>
                          <a:srgbClr val="FFFFFF"/>
                        </a:highlight>
                        <a:latin typeface="Calibri"/>
                        <a:ea typeface="Calibri"/>
                        <a:cs typeface="Calibri"/>
                        <a:sym typeface="Calibri"/>
                      </a:rPr>
                      <m:t>𝑐</m:t>
                    </m:r>
                  </m:oMath>
                </a14:m>
                <a:r>
                  <a:rPr lang="en-US" sz="1200" b="0" i="0" u="none" strike="noStrike" cap="none" dirty="0">
                    <a:solidFill>
                      <a:schemeClr val="dk1"/>
                    </a:solidFill>
                    <a:effectLst/>
                    <a:highlight>
                      <a:srgbClr val="FFFFFF"/>
                    </a:highlight>
                    <a:latin typeface="Calibri"/>
                    <a:ea typeface="Calibri"/>
                    <a:cs typeface="Calibri"/>
                    <a:sym typeface="Calibri"/>
                  </a:rPr>
                  <a:t> to initialize its first hidden state </a:t>
                </a:r>
                <a14:m>
                  <m:oMath xmlns:m="http://schemas.openxmlformats.org/officeDocument/2006/math">
                    <m:sSubSup>
                      <m:sSubSupPr>
                        <m:ctrlPr>
                          <a:rPr lang="ar-AE" sz="1200" b="0" i="0" u="none" strike="noStrike" cap="none">
                            <a:solidFill>
                              <a:schemeClr val="dk1"/>
                            </a:solidFill>
                            <a:highlight>
                              <a:srgbClr val="FFFFFF"/>
                            </a:highlight>
                            <a:latin typeface="Calibri"/>
                            <a:ea typeface="Calibri"/>
                            <a:cs typeface="Calibri"/>
                            <a:sym typeface="Calibri"/>
                          </a:rPr>
                        </m:ctrlPr>
                      </m:sSubSupPr>
                      <m:e>
                        <m:r>
                          <a:rPr lang="ar-AE" sz="1200" b="0" i="1" u="none" strike="noStrike" cap="none">
                            <a:solidFill>
                              <a:schemeClr val="dk1"/>
                            </a:solidFill>
                            <a:highlight>
                              <a:srgbClr val="FFFFFF"/>
                            </a:highlight>
                            <a:latin typeface="Calibri"/>
                            <a:ea typeface="Calibri"/>
                            <a:cs typeface="Calibri"/>
                            <a:sym typeface="Calibri"/>
                          </a:rPr>
                          <m:t>h</m:t>
                        </m:r>
                      </m:e>
                      <m:sub>
                        <m:r>
                          <a:rPr lang="ar-AE" sz="1200" b="0" i="0" u="none" strike="noStrike" cap="none">
                            <a:solidFill>
                              <a:schemeClr val="dk1"/>
                            </a:solidFill>
                            <a:highlight>
                              <a:srgbClr val="FFFFFF"/>
                            </a:highlight>
                            <a:latin typeface="Calibri"/>
                            <a:ea typeface="Calibri"/>
                            <a:cs typeface="Calibri"/>
                            <a:sym typeface="Calibri"/>
                          </a:rPr>
                          <m:t>0</m:t>
                        </m:r>
                      </m:sub>
                      <m:sup>
                        <m:r>
                          <a:rPr lang="ar-AE" sz="1200" b="0" i="1" u="none" strike="noStrike" cap="none">
                            <a:solidFill>
                              <a:schemeClr val="dk1"/>
                            </a:solidFill>
                            <a:highlight>
                              <a:srgbClr val="FFFFFF"/>
                            </a:highlight>
                            <a:latin typeface="Calibri"/>
                            <a:ea typeface="Calibri"/>
                            <a:cs typeface="Calibri"/>
                            <a:sym typeface="Calibri"/>
                          </a:rPr>
                          <m:t>𝑑</m:t>
                        </m:r>
                      </m:sup>
                    </m:sSubSup>
                  </m:oMath>
                </a14:m>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ensuring that the output generation is informed by the input sequence.</a:t>
                </a:r>
              </a:p>
              <a:p>
                <a:pPr lvl="1"/>
                <a:r>
                  <a:rPr lang="en-US" sz="1200" b="0" i="0" u="none" strike="noStrike" cap="none" dirty="0">
                    <a:solidFill>
                      <a:schemeClr val="dk1"/>
                    </a:solidFill>
                    <a:effectLst/>
                    <a:highlight>
                      <a:srgbClr val="FFFFFF"/>
                    </a:highlight>
                    <a:latin typeface="Calibri"/>
                    <a:ea typeface="Calibri"/>
                    <a:cs typeface="Calibri"/>
                    <a:sym typeface="Calibri"/>
                  </a:rPr>
                  <a:t>The decoder then generates each word of the target sequence </a:t>
                </a:r>
                <a14:m>
                  <m:oMath xmlns:m="http://schemas.openxmlformats.org/officeDocument/2006/math">
                    <m:sSub>
                      <m:sSubPr>
                        <m:ctrlPr>
                          <a:rPr lang="ar-AE" sz="1200" b="0" i="0"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𝑦</m:t>
                        </m:r>
                      </m:e>
                      <m:sub>
                        <m:r>
                          <a:rPr lang="ar-AE" sz="1200" b="0" i="0" u="none" strike="noStrike" cap="none">
                            <a:solidFill>
                              <a:schemeClr val="dk1"/>
                            </a:solidFill>
                            <a:highlight>
                              <a:srgbClr val="FFFFFF"/>
                            </a:highlight>
                            <a:latin typeface="Calibri"/>
                            <a:ea typeface="Calibri"/>
                            <a:cs typeface="Calibri"/>
                            <a:sym typeface="Calibri"/>
                          </a:rPr>
                          <m:t>1</m:t>
                        </m:r>
                      </m:sub>
                    </m:sSub>
                    <m:r>
                      <a:rPr lang="ar-AE" sz="1200" b="0" i="0" u="none" strike="noStrike" cap="none">
                        <a:solidFill>
                          <a:schemeClr val="dk1"/>
                        </a:solidFill>
                        <a:highlight>
                          <a:srgbClr val="FFFFFF"/>
                        </a:highlight>
                        <a:latin typeface="Calibri"/>
                        <a:ea typeface="Calibri"/>
                        <a:cs typeface="Calibri"/>
                        <a:sym typeface="Calibri"/>
                      </a:rPr>
                      <m:t>,</m:t>
                    </m:r>
                    <m:sSub>
                      <m:sSubPr>
                        <m:ctrlPr>
                          <a:rPr lang="ar-AE" sz="1200" b="0" i="1"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𝑦</m:t>
                        </m:r>
                      </m:e>
                      <m:sub>
                        <m:r>
                          <a:rPr lang="ar-AE" sz="1200" b="0" i="0" u="none" strike="noStrike" cap="none">
                            <a:solidFill>
                              <a:schemeClr val="dk1"/>
                            </a:solidFill>
                            <a:highlight>
                              <a:srgbClr val="FFFFFF"/>
                            </a:highlight>
                            <a:latin typeface="Calibri"/>
                            <a:ea typeface="Calibri"/>
                            <a:cs typeface="Calibri"/>
                            <a:sym typeface="Calibri"/>
                          </a:rPr>
                          <m:t>2</m:t>
                        </m:r>
                      </m:sub>
                    </m:sSub>
                    <m:r>
                      <a:rPr lang="ar-AE" sz="1200" b="0" i="0" u="none" strike="noStrike" cap="none">
                        <a:solidFill>
                          <a:schemeClr val="dk1"/>
                        </a:solidFill>
                        <a:highlight>
                          <a:srgbClr val="FFFFFF"/>
                        </a:highlight>
                        <a:latin typeface="Calibri"/>
                        <a:ea typeface="Calibri"/>
                        <a:cs typeface="Calibri"/>
                        <a:sym typeface="Calibri"/>
                      </a:rPr>
                      <m:t>,…,</m:t>
                    </m:r>
                    <m:sSub>
                      <m:sSubPr>
                        <m:ctrlPr>
                          <a:rPr lang="ar-AE" sz="1200" b="0" i="1"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𝑦</m:t>
                        </m:r>
                      </m:e>
                      <m:sub>
                        <m:r>
                          <a:rPr lang="ar-AE" sz="1200" b="0" i="1" u="none" strike="noStrike" cap="none">
                            <a:solidFill>
                              <a:schemeClr val="dk1"/>
                            </a:solidFill>
                            <a:highlight>
                              <a:srgbClr val="FFFFFF"/>
                            </a:highlight>
                            <a:latin typeface="Calibri"/>
                            <a:ea typeface="Calibri"/>
                            <a:cs typeface="Calibri"/>
                            <a:sym typeface="Calibri"/>
                          </a:rPr>
                          <m:t>𝑚</m:t>
                        </m:r>
                      </m:sub>
                    </m:sSub>
                  </m:oMath>
                </a14:m>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one by one, using its own hidden states and the context vector to maintain coherence and relevance to the input.</a:t>
                </a:r>
              </a:p>
              <a:p>
                <a:pPr lvl="1"/>
                <a:r>
                  <a:rPr lang="en-US" sz="1200" b="0" i="0" u="none" strike="noStrike" cap="none" dirty="0">
                    <a:solidFill>
                      <a:schemeClr val="dk1"/>
                    </a:solidFill>
                    <a:effectLst/>
                    <a:highlight>
                      <a:srgbClr val="FFFFFF"/>
                    </a:highlight>
                    <a:latin typeface="Calibri"/>
                    <a:ea typeface="Calibri"/>
                    <a:cs typeface="Calibri"/>
                    <a:sym typeface="Calibri"/>
                  </a:rPr>
                  <a:t>The process concludes with a special end token &lt;/s&gt;, indicating the end of the output sequence.</a:t>
                </a:r>
              </a:p>
              <a:p>
                <a:r>
                  <a:rPr lang="en-US" sz="1200" b="1" i="0" u="none" strike="noStrike" cap="none" dirty="0">
                    <a:solidFill>
                      <a:schemeClr val="dk1"/>
                    </a:solidFill>
                    <a:effectLst/>
                    <a:highlight>
                      <a:srgbClr val="FFFFFF"/>
                    </a:highlight>
                    <a:latin typeface="Calibri"/>
                    <a:ea typeface="Calibri"/>
                    <a:cs typeface="Calibri"/>
                    <a:sym typeface="Calibri"/>
                  </a:rPr>
                  <a:t>Additional Insight:</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0" i="0" u="none" strike="noStrike" cap="none" dirty="0">
                    <a:solidFill>
                      <a:schemeClr val="dk1"/>
                    </a:solidFill>
                    <a:effectLst/>
                    <a:highlight>
                      <a:srgbClr val="FFFFFF"/>
                    </a:highlight>
                    <a:latin typeface="Calibri"/>
                    <a:ea typeface="Calibri"/>
                    <a:cs typeface="Calibri"/>
                    <a:sym typeface="Calibri"/>
                  </a:rPr>
                  <a:t>The note at the bottom of the slide mentions that source and target sentences are concatenated with a separator token. This is a technique used in some models to clearly delineate the input and output sequences, ensuring that the model understands where one ends and the other begins.</a:t>
                </a:r>
              </a:p>
              <a:p>
                <a:r>
                  <a:rPr lang="en-US" sz="1200" b="0" i="0" u="none" strike="noStrike" cap="none" dirty="0">
                    <a:solidFill>
                      <a:schemeClr val="dk1"/>
                    </a:solidFill>
                    <a:effectLst/>
                    <a:highlight>
                      <a:srgbClr val="FFFFFF"/>
                    </a:highlight>
                    <a:latin typeface="Calibri"/>
                    <a:ea typeface="Calibri"/>
                    <a:cs typeface="Calibri"/>
                    <a:sym typeface="Calibri"/>
                  </a:rPr>
                  <a:t>The decoder's reliance on the context vector from the encoder's last hidden state highlights the importance of this vector in maintaining the connection between the input and output sequences.</a:t>
                </a:r>
              </a:p>
            </p:txBody>
          </p:sp>
        </mc:Choice>
        <mc:Fallback>
          <p:sp>
            <p:nvSpPr>
              <p:cNvPr id="262" name="Google Shape;262;g2b8b5137f2c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0" i="0" u="none" strike="noStrike" cap="none" dirty="0">
                    <a:solidFill>
                      <a:schemeClr val="dk1"/>
                    </a:solidFill>
                    <a:effectLst/>
                    <a:highlight>
                      <a:srgbClr val="FFFFFF"/>
                    </a:highlight>
                    <a:latin typeface="Calibri"/>
                    <a:ea typeface="Calibri"/>
                    <a:cs typeface="Calibri"/>
                    <a:sym typeface="Calibri"/>
                  </a:rPr>
                  <a:t>In this diagram, we see a more abstract representation of the Encoder-Decoder process, highlighting the role of the context vector and the sequence of operations involved in translating from a source to a target sequence.</a:t>
                </a:r>
              </a:p>
              <a:p>
                <a:r>
                  <a:rPr lang="en-US" sz="1200" b="1" i="0" u="none" strike="noStrike" cap="none" dirty="0">
                    <a:solidFill>
                      <a:schemeClr val="dk1"/>
                    </a:solidFill>
                    <a:effectLst/>
                    <a:highlight>
                      <a:srgbClr val="FFFFFF"/>
                    </a:highlight>
                    <a:latin typeface="Calibri"/>
                    <a:ea typeface="Calibri"/>
                    <a:cs typeface="Calibri"/>
                    <a:sym typeface="Calibri"/>
                  </a:rPr>
                  <a:t>Key Elements:</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1" i="0" u="none" strike="noStrike" cap="none" dirty="0">
                    <a:solidFill>
                      <a:schemeClr val="dk1"/>
                    </a:solidFill>
                    <a:effectLst/>
                    <a:highlight>
                      <a:srgbClr val="FFFFFF"/>
                    </a:highlight>
                    <a:latin typeface="Calibri"/>
                    <a:ea typeface="Calibri"/>
                    <a:cs typeface="Calibri"/>
                    <a:sym typeface="Calibri"/>
                  </a:rPr>
                  <a:t>Encoder:</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encoder processes the input sequence </a:t>
                </a:r>
                <a:r>
                  <a:rPr lang="ar-AE" sz="1200" b="0" i="0" u="none" strike="noStrike" cap="none">
                    <a:solidFill>
                      <a:schemeClr val="dk1"/>
                    </a:solidFill>
                    <a:highlight>
                      <a:srgbClr val="FFFFFF"/>
                    </a:highlight>
                    <a:latin typeface="Calibri"/>
                    <a:ea typeface="Calibri"/>
                    <a:cs typeface="Calibri"/>
                    <a:sym typeface="Calibri"/>
                  </a:rPr>
                  <a:t>𝑥_1,𝑥_2,…,𝑥_𝑛</a:t>
                </a:r>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through an embedding layer and several hidden layers, similar to what we saw in the previous slide.</a:t>
                </a:r>
              </a:p>
              <a:p>
                <a:pPr lvl="1"/>
                <a:r>
                  <a:rPr lang="en-US" sz="1200" b="0" i="0" u="none" strike="noStrike" cap="none" dirty="0">
                    <a:solidFill>
                      <a:schemeClr val="dk1"/>
                    </a:solidFill>
                    <a:effectLst/>
                    <a:highlight>
                      <a:srgbClr val="FFFFFF"/>
                    </a:highlight>
                    <a:latin typeface="Calibri"/>
                    <a:ea typeface="Calibri"/>
                    <a:cs typeface="Calibri"/>
                    <a:sym typeface="Calibri"/>
                  </a:rPr>
                  <a:t>Each word in the input sequence is transformed into a hidden state, with the final hidden state </a:t>
                </a:r>
                <a:r>
                  <a:rPr lang="ar-AE" sz="1200" b="0" i="0" u="none" strike="noStrike" cap="none">
                    <a:solidFill>
                      <a:schemeClr val="dk1"/>
                    </a:solidFill>
                    <a:highlight>
                      <a:srgbClr val="FFFFFF"/>
                    </a:highlight>
                    <a:latin typeface="Calibri"/>
                    <a:ea typeface="Calibri"/>
                    <a:cs typeface="Calibri"/>
                    <a:sym typeface="Calibri"/>
                  </a:rPr>
                  <a:t>ℎ_𝑛</a:t>
                </a:r>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being particularly important. This final state is often referred to as the context vector </a:t>
                </a:r>
                <a:r>
                  <a:rPr lang="en-US" sz="1200" b="0" i="0" u="none" strike="noStrike" cap="none">
                    <a:solidFill>
                      <a:schemeClr val="dk1"/>
                    </a:solidFill>
                    <a:highlight>
                      <a:srgbClr val="FFFFFF"/>
                    </a:highlight>
                    <a:latin typeface="Calibri"/>
                    <a:ea typeface="Calibri"/>
                    <a:cs typeface="Calibri"/>
                    <a:sym typeface="Calibri"/>
                  </a:rPr>
                  <a:t>𝑐</a:t>
                </a:r>
                <a:r>
                  <a:rPr lang="en-US" sz="1200" b="0" i="0" u="none" strike="noStrike" cap="none" dirty="0">
                    <a:solidFill>
                      <a:schemeClr val="dk1"/>
                    </a:solidFill>
                    <a:effectLst/>
                    <a:highlight>
                      <a:srgbClr val="FFFFFF"/>
                    </a:highlight>
                    <a:latin typeface="Calibri"/>
                    <a:ea typeface="Calibri"/>
                    <a:cs typeface="Calibri"/>
                    <a:sym typeface="Calibri"/>
                  </a:rPr>
                  <a:t>.</a:t>
                </a:r>
              </a:p>
              <a:p>
                <a:r>
                  <a:rPr lang="en-US" sz="1200" b="1" i="0" u="none" strike="noStrike" cap="none" dirty="0">
                    <a:solidFill>
                      <a:schemeClr val="dk1"/>
                    </a:solidFill>
                    <a:effectLst/>
                    <a:highlight>
                      <a:srgbClr val="FFFFFF"/>
                    </a:highlight>
                    <a:latin typeface="Calibri"/>
                    <a:ea typeface="Calibri"/>
                    <a:cs typeface="Calibri"/>
                    <a:sym typeface="Calibri"/>
                  </a:rPr>
                  <a:t>Context Vector:</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context vector </a:t>
                </a:r>
                <a:r>
                  <a:rPr lang="en-US" sz="1200" b="0" i="0" u="none" strike="noStrike" cap="none">
                    <a:solidFill>
                      <a:schemeClr val="dk1"/>
                    </a:solidFill>
                    <a:highlight>
                      <a:srgbClr val="FFFFFF"/>
                    </a:highlight>
                    <a:latin typeface="Calibri"/>
                    <a:ea typeface="Calibri"/>
                    <a:cs typeface="Calibri"/>
                    <a:sym typeface="Calibri"/>
                  </a:rPr>
                  <a:t>𝑐</a:t>
                </a:r>
                <a:r>
                  <a:rPr lang="en-US" sz="1200" b="0" i="0" u="none" strike="noStrike" cap="none" dirty="0">
                    <a:solidFill>
                      <a:schemeClr val="dk1"/>
                    </a:solidFill>
                    <a:effectLst/>
                    <a:highlight>
                      <a:srgbClr val="FFFFFF"/>
                    </a:highlight>
                    <a:latin typeface="Calibri"/>
                    <a:ea typeface="Calibri"/>
                    <a:cs typeface="Calibri"/>
                    <a:sym typeface="Calibri"/>
                  </a:rPr>
                  <a:t> is derived from the last hidden state of the encoder, </a:t>
                </a:r>
                <a:r>
                  <a:rPr lang="ar-AE" sz="1200" b="0" i="0" u="none" strike="noStrike" cap="none">
                    <a:solidFill>
                      <a:schemeClr val="dk1"/>
                    </a:solidFill>
                    <a:highlight>
                      <a:srgbClr val="FFFFFF"/>
                    </a:highlight>
                    <a:latin typeface="Calibri"/>
                    <a:ea typeface="Calibri"/>
                    <a:cs typeface="Calibri"/>
                    <a:sym typeface="Calibri"/>
                  </a:rPr>
                  <a:t>ℎ_𝑛</a:t>
                </a:r>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and is crucial for the decoder's operation.</a:t>
                </a:r>
              </a:p>
              <a:p>
                <a:pPr lvl="1"/>
                <a:r>
                  <a:rPr lang="en-US" sz="1200" b="0" i="0" u="none" strike="noStrike" cap="none" dirty="0">
                    <a:solidFill>
                      <a:schemeClr val="dk1"/>
                    </a:solidFill>
                    <a:effectLst/>
                    <a:highlight>
                      <a:srgbClr val="FFFFFF"/>
                    </a:highlight>
                    <a:latin typeface="Calibri"/>
                    <a:ea typeface="Calibri"/>
                    <a:cs typeface="Calibri"/>
                    <a:sym typeface="Calibri"/>
                  </a:rPr>
                  <a:t>This vector acts as a summary of the entire input sequence, capturing its essential information and meaning.</a:t>
                </a:r>
              </a:p>
              <a:p>
                <a:r>
                  <a:rPr lang="en-US" sz="1200" b="1" i="0" u="none" strike="noStrike" cap="none" dirty="0">
                    <a:solidFill>
                      <a:schemeClr val="dk1"/>
                    </a:solidFill>
                    <a:effectLst/>
                    <a:highlight>
                      <a:srgbClr val="FFFFFF"/>
                    </a:highlight>
                    <a:latin typeface="Calibri"/>
                    <a:ea typeface="Calibri"/>
                    <a:cs typeface="Calibri"/>
                    <a:sym typeface="Calibri"/>
                  </a:rPr>
                  <a:t>Decoder:</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decoder starts with a special start token &lt;s&gt;, which signals the beginning of the output sequence.</a:t>
                </a:r>
              </a:p>
              <a:p>
                <a:pPr lvl="1"/>
                <a:r>
                  <a:rPr lang="en-US" sz="1200" b="0" i="0" u="none" strike="noStrike" cap="none" dirty="0">
                    <a:solidFill>
                      <a:schemeClr val="dk1"/>
                    </a:solidFill>
                    <a:effectLst/>
                    <a:highlight>
                      <a:srgbClr val="FFFFFF"/>
                    </a:highlight>
                    <a:latin typeface="Calibri"/>
                    <a:ea typeface="Calibri"/>
                    <a:cs typeface="Calibri"/>
                    <a:sym typeface="Calibri"/>
                  </a:rPr>
                  <a:t>It uses the context vector </a:t>
                </a:r>
                <a:r>
                  <a:rPr lang="en-US" sz="1200" b="0" i="0" u="none" strike="noStrike" cap="none">
                    <a:solidFill>
                      <a:schemeClr val="dk1"/>
                    </a:solidFill>
                    <a:highlight>
                      <a:srgbClr val="FFFFFF"/>
                    </a:highlight>
                    <a:latin typeface="Calibri"/>
                    <a:ea typeface="Calibri"/>
                    <a:cs typeface="Calibri"/>
                    <a:sym typeface="Calibri"/>
                  </a:rPr>
                  <a:t>𝑐</a:t>
                </a:r>
                <a:r>
                  <a:rPr lang="en-US" sz="1200" b="0" i="0" u="none" strike="noStrike" cap="none" dirty="0">
                    <a:solidFill>
                      <a:schemeClr val="dk1"/>
                    </a:solidFill>
                    <a:effectLst/>
                    <a:highlight>
                      <a:srgbClr val="FFFFFF"/>
                    </a:highlight>
                    <a:latin typeface="Calibri"/>
                    <a:ea typeface="Calibri"/>
                    <a:cs typeface="Calibri"/>
                    <a:sym typeface="Calibri"/>
                  </a:rPr>
                  <a:t> to initialize its first hidden state </a:t>
                </a:r>
                <a:r>
                  <a:rPr lang="ar-AE" sz="1200" b="0" i="0" u="none" strike="noStrike" cap="none">
                    <a:solidFill>
                      <a:schemeClr val="dk1"/>
                    </a:solidFill>
                    <a:highlight>
                      <a:srgbClr val="FFFFFF"/>
                    </a:highlight>
                    <a:latin typeface="Calibri"/>
                    <a:ea typeface="Calibri"/>
                    <a:cs typeface="Calibri"/>
                    <a:sym typeface="Calibri"/>
                  </a:rPr>
                  <a:t>ℎ_0^𝑑</a:t>
                </a:r>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ensuring that the output generation is informed by the input sequence.</a:t>
                </a:r>
              </a:p>
              <a:p>
                <a:pPr lvl="1"/>
                <a:r>
                  <a:rPr lang="en-US" sz="1200" b="0" i="0" u="none" strike="noStrike" cap="none" dirty="0">
                    <a:solidFill>
                      <a:schemeClr val="dk1"/>
                    </a:solidFill>
                    <a:effectLst/>
                    <a:highlight>
                      <a:srgbClr val="FFFFFF"/>
                    </a:highlight>
                    <a:latin typeface="Calibri"/>
                    <a:ea typeface="Calibri"/>
                    <a:cs typeface="Calibri"/>
                    <a:sym typeface="Calibri"/>
                  </a:rPr>
                  <a:t>The decoder then generates each word of the target sequence </a:t>
                </a:r>
                <a:r>
                  <a:rPr lang="ar-AE" sz="1200" b="0" i="0" u="none" strike="noStrike" cap="none">
                    <a:solidFill>
                      <a:schemeClr val="dk1"/>
                    </a:solidFill>
                    <a:highlight>
                      <a:srgbClr val="FFFFFF"/>
                    </a:highlight>
                    <a:latin typeface="Calibri"/>
                    <a:ea typeface="Calibri"/>
                    <a:cs typeface="Calibri"/>
                    <a:sym typeface="Calibri"/>
                  </a:rPr>
                  <a:t>𝑦_1,𝑦_2,…,𝑦_𝑚</a:t>
                </a:r>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one by one, using its own hidden states and the context vector to maintain coherence and relevance to the input.</a:t>
                </a:r>
              </a:p>
              <a:p>
                <a:pPr lvl="1"/>
                <a:r>
                  <a:rPr lang="en-US" sz="1200" b="0" i="0" u="none" strike="noStrike" cap="none" dirty="0">
                    <a:solidFill>
                      <a:schemeClr val="dk1"/>
                    </a:solidFill>
                    <a:effectLst/>
                    <a:highlight>
                      <a:srgbClr val="FFFFFF"/>
                    </a:highlight>
                    <a:latin typeface="Calibri"/>
                    <a:ea typeface="Calibri"/>
                    <a:cs typeface="Calibri"/>
                    <a:sym typeface="Calibri"/>
                  </a:rPr>
                  <a:t>The process concludes with a special end token &lt;/s&gt;, indicating the end of the output sequence.</a:t>
                </a:r>
              </a:p>
              <a:p>
                <a:r>
                  <a:rPr lang="en-US" sz="1200" b="1" i="0" u="none" strike="noStrike" cap="none" dirty="0">
                    <a:solidFill>
                      <a:schemeClr val="dk1"/>
                    </a:solidFill>
                    <a:effectLst/>
                    <a:highlight>
                      <a:srgbClr val="FFFFFF"/>
                    </a:highlight>
                    <a:latin typeface="Calibri"/>
                    <a:ea typeface="Calibri"/>
                    <a:cs typeface="Calibri"/>
                    <a:sym typeface="Calibri"/>
                  </a:rPr>
                  <a:t>Additional Insight:</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0" i="0" u="none" strike="noStrike" cap="none" dirty="0">
                    <a:solidFill>
                      <a:schemeClr val="dk1"/>
                    </a:solidFill>
                    <a:effectLst/>
                    <a:highlight>
                      <a:srgbClr val="FFFFFF"/>
                    </a:highlight>
                    <a:latin typeface="Calibri"/>
                    <a:ea typeface="Calibri"/>
                    <a:cs typeface="Calibri"/>
                    <a:sym typeface="Calibri"/>
                  </a:rPr>
                  <a:t>The note at the bottom of the slide mentions that source and target sentences are concatenated with a separator token. This is a technique used in some models to clearly delineate the input and output sequences, ensuring that the model understands where one ends and the other begins.</a:t>
                </a:r>
              </a:p>
              <a:p>
                <a:r>
                  <a:rPr lang="en-US" sz="1200" b="0" i="0" u="none" strike="noStrike" cap="none" dirty="0">
                    <a:solidFill>
                      <a:schemeClr val="dk1"/>
                    </a:solidFill>
                    <a:effectLst/>
                    <a:highlight>
                      <a:srgbClr val="FFFFFF"/>
                    </a:highlight>
                    <a:latin typeface="Calibri"/>
                    <a:ea typeface="Calibri"/>
                    <a:cs typeface="Calibri"/>
                    <a:sym typeface="Calibri"/>
                  </a:rPr>
                  <a:t>The decoder's reliance on the context vector from the encoder's last hidden state highlights the importance of this vector in maintaining the connection between the input and output sequences.</a:t>
                </a:r>
              </a:p>
            </p:txBody>
          </p:sp>
        </mc:Fallback>
      </mc:AlternateContent>
      <p:sp>
        <p:nvSpPr>
          <p:cNvPr id="263" name="Google Shape;263;g2b8b5137f2c_0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2b8b5137f2c_0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271" name="Google Shape;271;g2b8b5137f2c_0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0" i="0" u="none" strike="noStrike" cap="none" dirty="0">
                    <a:solidFill>
                      <a:schemeClr val="dk1"/>
                    </a:solidFill>
                    <a:effectLst/>
                    <a:highlight>
                      <a:srgbClr val="FFFFFF"/>
                    </a:highlight>
                    <a:latin typeface="Calibri"/>
                    <a:ea typeface="Calibri"/>
                    <a:cs typeface="Calibri"/>
                    <a:sym typeface="Calibri"/>
                  </a:rPr>
                  <a:t>In this slide, we see how the Encoder-Decoder architecture is trained to improve its translation accuracy by comparing its predictions to the correct target sequence.</a:t>
                </a:r>
              </a:p>
              <a:p>
                <a:r>
                  <a:rPr lang="en-US" sz="1200" b="1" i="0" u="none" strike="noStrike" cap="none" dirty="0">
                    <a:solidFill>
                      <a:schemeClr val="dk1"/>
                    </a:solidFill>
                    <a:effectLst/>
                    <a:highlight>
                      <a:srgbClr val="FFFFFF"/>
                    </a:highlight>
                    <a:latin typeface="Calibri"/>
                    <a:ea typeface="Calibri"/>
                    <a:cs typeface="Calibri"/>
                    <a:sym typeface="Calibri"/>
                  </a:rPr>
                  <a:t>Training Process:</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1" i="0" u="none" strike="noStrike" cap="none" dirty="0">
                    <a:solidFill>
                      <a:schemeClr val="dk1"/>
                    </a:solidFill>
                    <a:effectLst/>
                    <a:highlight>
                      <a:srgbClr val="FFFFFF"/>
                    </a:highlight>
                    <a:latin typeface="Calibri"/>
                    <a:ea typeface="Calibri"/>
                    <a:cs typeface="Calibri"/>
                    <a:sym typeface="Calibri"/>
                  </a:rPr>
                  <a:t>Encoder:</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encoder processes the input sequence "the green witch arrived" as before, generating a context vector that summarizes the input.</a:t>
                </a:r>
              </a:p>
              <a:p>
                <a:r>
                  <a:rPr lang="en-US" sz="1200" b="1" i="0" u="none" strike="noStrike" cap="none" dirty="0">
                    <a:solidFill>
                      <a:schemeClr val="dk1"/>
                    </a:solidFill>
                    <a:effectLst/>
                    <a:highlight>
                      <a:srgbClr val="FFFFFF"/>
                    </a:highlight>
                    <a:latin typeface="Calibri"/>
                    <a:ea typeface="Calibri"/>
                    <a:cs typeface="Calibri"/>
                    <a:sym typeface="Calibri"/>
                  </a:rPr>
                  <a:t>Decoder with Teacher Forcing:</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During training, instead of using the decoder's own predictions to generate the next word, we use the actual target words (gold answers) from the training data. This is known as "teacher forcing."</a:t>
                </a:r>
              </a:p>
              <a:p>
                <a:pPr lvl="1"/>
                <a:r>
                  <a:rPr lang="en-US" sz="1200" b="0" i="0" u="none" strike="noStrike" cap="none" dirty="0">
                    <a:solidFill>
                      <a:schemeClr val="dk1"/>
                    </a:solidFill>
                    <a:effectLst/>
                    <a:highlight>
                      <a:srgbClr val="FFFFFF"/>
                    </a:highlight>
                    <a:latin typeface="Calibri"/>
                    <a:ea typeface="Calibri"/>
                    <a:cs typeface="Calibri"/>
                    <a:sym typeface="Calibri"/>
                  </a:rPr>
                  <a:t>For example, after generating "</a:t>
                </a:r>
                <a:r>
                  <a:rPr lang="en-US" sz="1200" b="0" i="0" u="none" strike="noStrike" cap="none" dirty="0" err="1">
                    <a:solidFill>
                      <a:schemeClr val="dk1"/>
                    </a:solidFill>
                    <a:effectLst/>
                    <a:highlight>
                      <a:srgbClr val="FFFFFF"/>
                    </a:highlight>
                    <a:latin typeface="Calibri"/>
                    <a:ea typeface="Calibri"/>
                    <a:cs typeface="Calibri"/>
                    <a:sym typeface="Calibri"/>
                  </a:rPr>
                  <a:t>llegó</a:t>
                </a:r>
                <a:r>
                  <a:rPr lang="en-US" sz="1200" b="0" i="0" u="none" strike="noStrike" cap="none" dirty="0">
                    <a:solidFill>
                      <a:schemeClr val="dk1"/>
                    </a:solidFill>
                    <a:effectLst/>
                    <a:highlight>
                      <a:srgbClr val="FFFFFF"/>
                    </a:highlight>
                    <a:latin typeface="Calibri"/>
                    <a:ea typeface="Calibri"/>
                    <a:cs typeface="Calibri"/>
                    <a:sym typeface="Calibri"/>
                  </a:rPr>
                  <a:t>," instead of using the model's prediction for the next word, we feed the correct next word "la" into the decoder.</a:t>
                </a:r>
              </a:p>
              <a:p>
                <a:r>
                  <a:rPr lang="en-US" sz="1200" b="1" i="0" u="none" strike="noStrike" cap="none" dirty="0" err="1">
                    <a:solidFill>
                      <a:schemeClr val="dk1"/>
                    </a:solidFill>
                    <a:effectLst/>
                    <a:highlight>
                      <a:srgbClr val="FFFFFF"/>
                    </a:highlight>
                    <a:latin typeface="Calibri"/>
                    <a:ea typeface="Calibri"/>
                    <a:cs typeface="Calibri"/>
                    <a:sym typeface="Calibri"/>
                  </a:rPr>
                  <a:t>Softmax</a:t>
                </a:r>
                <a:r>
                  <a:rPr lang="en-US" sz="1200" b="1" i="0" u="none" strike="noStrike" cap="none" dirty="0">
                    <a:solidFill>
                      <a:schemeClr val="dk1"/>
                    </a:solidFill>
                    <a:effectLst/>
                    <a:highlight>
                      <a:srgbClr val="FFFFFF"/>
                    </a:highlight>
                    <a:latin typeface="Calibri"/>
                    <a:ea typeface="Calibri"/>
                    <a:cs typeface="Calibri"/>
                    <a:sym typeface="Calibri"/>
                  </a:rPr>
                  <a:t> and Loss Calculation:</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decoder outputs a probability distribution over possible words for each position in the target sequence using a </a:t>
                </a:r>
                <a:r>
                  <a:rPr lang="en-US" sz="1200" b="0" i="0" u="none" strike="noStrike" cap="none" dirty="0" err="1">
                    <a:solidFill>
                      <a:schemeClr val="dk1"/>
                    </a:solidFill>
                    <a:effectLst/>
                    <a:highlight>
                      <a:srgbClr val="FFFFFF"/>
                    </a:highlight>
                    <a:latin typeface="Calibri"/>
                    <a:ea typeface="Calibri"/>
                    <a:cs typeface="Calibri"/>
                    <a:sym typeface="Calibri"/>
                  </a:rPr>
                  <a:t>softmax</a:t>
                </a:r>
                <a:r>
                  <a:rPr lang="en-US" sz="1200" b="0" i="0" u="none" strike="noStrike" cap="none" dirty="0">
                    <a:solidFill>
                      <a:schemeClr val="dk1"/>
                    </a:solidFill>
                    <a:effectLst/>
                    <a:highlight>
                      <a:srgbClr val="FFFFFF"/>
                    </a:highlight>
                    <a:latin typeface="Calibri"/>
                    <a:ea typeface="Calibri"/>
                    <a:cs typeface="Calibri"/>
                    <a:sym typeface="Calibri"/>
                  </a:rPr>
                  <a:t> layer.</a:t>
                </a:r>
              </a:p>
              <a:p>
                <a:pPr lvl="1"/>
                <a:r>
                  <a:rPr lang="en-US" sz="1200" b="0" i="0" u="none" strike="noStrike" cap="none" dirty="0">
                    <a:solidFill>
                      <a:schemeClr val="dk1"/>
                    </a:solidFill>
                    <a:effectLst/>
                    <a:highlight>
                      <a:srgbClr val="FFFFFF"/>
                    </a:highlight>
                    <a:latin typeface="Calibri"/>
                    <a:ea typeface="Calibri"/>
                    <a:cs typeface="Calibri"/>
                    <a:sym typeface="Calibri"/>
                  </a:rPr>
                  <a:t>The predicted word </a:t>
                </a:r>
                <a14:m>
                  <m:oMath xmlns:m="http://schemas.openxmlformats.org/officeDocument/2006/math">
                    <m:sSub>
                      <m:sSubPr>
                        <m:ctrlPr>
                          <a:rPr lang="ar-AE" sz="1200" b="0" i="0" u="none" strike="noStrike" cap="none">
                            <a:solidFill>
                              <a:schemeClr val="dk1"/>
                            </a:solidFill>
                            <a:highlight>
                              <a:srgbClr val="FFFFFF"/>
                            </a:highlight>
                            <a:latin typeface="Calibri"/>
                            <a:ea typeface="Calibri"/>
                            <a:cs typeface="Calibri"/>
                            <a:sym typeface="Calibri"/>
                          </a:rPr>
                        </m:ctrlPr>
                      </m:sSubPr>
                      <m:e>
                        <m:acc>
                          <m:accPr>
                            <m:chr m:val="̂"/>
                            <m:ctrlPr>
                              <a:rPr lang="ar-AE" sz="1200" b="0" i="0" u="none" strike="noStrike" cap="none">
                                <a:solidFill>
                                  <a:schemeClr val="dk1"/>
                                </a:solidFill>
                                <a:highlight>
                                  <a:srgbClr val="FFFFFF"/>
                                </a:highlight>
                                <a:latin typeface="Calibri"/>
                                <a:ea typeface="Calibri"/>
                                <a:cs typeface="Calibri"/>
                                <a:sym typeface="Calibri"/>
                              </a:rPr>
                            </m:ctrlPr>
                          </m:accPr>
                          <m:e>
                            <m:r>
                              <a:rPr lang="ar-AE" sz="1200" b="0" i="1" u="none" strike="noStrike" cap="none">
                                <a:solidFill>
                                  <a:schemeClr val="dk1"/>
                                </a:solidFill>
                                <a:highlight>
                                  <a:srgbClr val="FFFFFF"/>
                                </a:highlight>
                                <a:latin typeface="Calibri"/>
                                <a:ea typeface="Calibri"/>
                                <a:cs typeface="Calibri"/>
                                <a:sym typeface="Calibri"/>
                              </a:rPr>
                              <m:t>𝑦</m:t>
                            </m:r>
                          </m:e>
                        </m:acc>
                      </m:e>
                      <m:sub>
                        <m:r>
                          <a:rPr lang="ar-AE" sz="1200" b="0" i="1" u="none" strike="noStrike" cap="none">
                            <a:solidFill>
                              <a:schemeClr val="dk1"/>
                            </a:solidFill>
                            <a:highlight>
                              <a:srgbClr val="FFFFFF"/>
                            </a:highlight>
                            <a:latin typeface="Calibri"/>
                            <a:ea typeface="Calibri"/>
                            <a:cs typeface="Calibri"/>
                            <a:sym typeface="Calibri"/>
                          </a:rPr>
                          <m:t>𝑡</m:t>
                        </m:r>
                      </m:sub>
                    </m:sSub>
                  </m:oMath>
                </a14:m>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is compared to the actual word </a:t>
                </a:r>
                <a14:m>
                  <m:oMath xmlns:m="http://schemas.openxmlformats.org/officeDocument/2006/math">
                    <m:sSub>
                      <m:sSubPr>
                        <m:ctrlPr>
                          <a:rPr lang="ar-AE" sz="1200" b="0" i="0"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𝑦</m:t>
                        </m:r>
                      </m:e>
                      <m:sub>
                        <m:r>
                          <a:rPr lang="ar-AE" sz="1200" b="0" i="1" u="none" strike="noStrike" cap="none">
                            <a:solidFill>
                              <a:schemeClr val="dk1"/>
                            </a:solidFill>
                            <a:highlight>
                              <a:srgbClr val="FFFFFF"/>
                            </a:highlight>
                            <a:latin typeface="Calibri"/>
                            <a:ea typeface="Calibri"/>
                            <a:cs typeface="Calibri"/>
                            <a:sym typeface="Calibri"/>
                          </a:rPr>
                          <m:t>𝑡</m:t>
                        </m:r>
                      </m:sub>
                    </m:sSub>
                  </m:oMath>
                </a14:m>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using a loss function. Here, the cross-entropy loss is used, which measures how well the predicted probability distribution matches the true distribution.</a:t>
                </a:r>
              </a:p>
              <a:p>
                <a:pPr lvl="1"/>
                <a:r>
                  <a:rPr lang="en-US" sz="1200" b="0" i="0" u="none" strike="noStrike" cap="none" dirty="0">
                    <a:solidFill>
                      <a:schemeClr val="dk1"/>
                    </a:solidFill>
                    <a:effectLst/>
                    <a:highlight>
                      <a:srgbClr val="FFFFFF"/>
                    </a:highlight>
                    <a:latin typeface="Calibri"/>
                    <a:ea typeface="Calibri"/>
                    <a:cs typeface="Calibri"/>
                    <a:sym typeface="Calibri"/>
                  </a:rPr>
                  <a:t>For each word, the loss is calculated as </a:t>
                </a:r>
                <a14:m>
                  <m:oMath xmlns:m="http://schemas.openxmlformats.org/officeDocument/2006/math">
                    <m:r>
                      <a:rPr lang="en-US" sz="1200" b="0" i="0" u="none" strike="noStrike" cap="none">
                        <a:solidFill>
                          <a:schemeClr val="dk1"/>
                        </a:solidFill>
                        <a:highlight>
                          <a:srgbClr val="FFFFFF"/>
                        </a:highlight>
                        <a:latin typeface="Calibri"/>
                        <a:ea typeface="Calibri"/>
                        <a:cs typeface="Calibri"/>
                        <a:sym typeface="Calibri"/>
                      </a:rPr>
                      <m:t>−</m:t>
                    </m:r>
                    <m:func>
                      <m:funcPr>
                        <m:ctrlPr>
                          <a:rPr lang="ar-AE" sz="1200" b="0" i="1" u="none" strike="noStrike" cap="none">
                            <a:solidFill>
                              <a:schemeClr val="dk1"/>
                            </a:solidFill>
                            <a:highlight>
                              <a:srgbClr val="FFFFFF"/>
                            </a:highlight>
                            <a:latin typeface="Calibri"/>
                            <a:ea typeface="Calibri"/>
                            <a:cs typeface="Calibri"/>
                            <a:sym typeface="Calibri"/>
                          </a:rPr>
                        </m:ctrlPr>
                      </m:funcPr>
                      <m:fName>
                        <m:r>
                          <m:rPr>
                            <m:sty m:val="p"/>
                          </m:rPr>
                          <a:rPr lang="en-US" sz="1200" b="0" i="0" u="none" strike="noStrike" cap="none">
                            <a:solidFill>
                              <a:schemeClr val="dk1"/>
                            </a:solidFill>
                            <a:highlight>
                              <a:srgbClr val="FFFFFF"/>
                            </a:highlight>
                            <a:latin typeface="Calibri"/>
                            <a:ea typeface="Calibri"/>
                            <a:cs typeface="Calibri"/>
                            <a:sym typeface="Calibri"/>
                          </a:rPr>
                          <m:t>log</m:t>
                        </m:r>
                      </m:fName>
                      <m:e>
                        <m:r>
                          <a:rPr lang="ar-AE" sz="1200" b="0" i="1" u="none" strike="noStrike" cap="none">
                            <a:solidFill>
                              <a:schemeClr val="dk1"/>
                            </a:solidFill>
                            <a:highlight>
                              <a:srgbClr val="FFFFFF"/>
                            </a:highlight>
                            <a:latin typeface="Calibri"/>
                            <a:ea typeface="Calibri"/>
                            <a:cs typeface="Calibri"/>
                            <a:sym typeface="Calibri"/>
                          </a:rPr>
                          <m:t>𝑃</m:t>
                        </m:r>
                      </m:e>
                    </m:func>
                    <m:d>
                      <m:dPr>
                        <m:ctrlPr>
                          <a:rPr lang="ar-AE" sz="1200" b="0" i="1" u="none" strike="noStrike" cap="none">
                            <a:solidFill>
                              <a:schemeClr val="dk1"/>
                            </a:solidFill>
                            <a:highlight>
                              <a:srgbClr val="FFFFFF"/>
                            </a:highlight>
                            <a:latin typeface="Calibri"/>
                            <a:ea typeface="Calibri"/>
                            <a:cs typeface="Calibri"/>
                            <a:sym typeface="Calibri"/>
                          </a:rPr>
                        </m:ctrlPr>
                      </m:dPr>
                      <m:e>
                        <m:sSub>
                          <m:sSubPr>
                            <m:ctrlPr>
                              <a:rPr lang="ar-AE" sz="1200" b="0" i="1"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𝑦</m:t>
                            </m:r>
                          </m:e>
                          <m:sub>
                            <m:r>
                              <a:rPr lang="ar-AE" sz="1200" b="0" i="1" u="none" strike="noStrike" cap="none">
                                <a:solidFill>
                                  <a:schemeClr val="dk1"/>
                                </a:solidFill>
                                <a:highlight>
                                  <a:srgbClr val="FFFFFF"/>
                                </a:highlight>
                                <a:latin typeface="Calibri"/>
                                <a:ea typeface="Calibri"/>
                                <a:cs typeface="Calibri"/>
                                <a:sym typeface="Calibri"/>
                              </a:rPr>
                              <m:t>𝑡</m:t>
                            </m:r>
                          </m:sub>
                        </m:sSub>
                      </m:e>
                    </m:d>
                  </m:oMath>
                </a14:m>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where </a:t>
                </a:r>
                <a14:m>
                  <m:oMath xmlns:m="http://schemas.openxmlformats.org/officeDocument/2006/math">
                    <m:r>
                      <a:rPr lang="en-US" sz="1200" b="0" i="1" u="none" strike="noStrike" cap="none">
                        <a:solidFill>
                          <a:schemeClr val="dk1"/>
                        </a:solidFill>
                        <a:highlight>
                          <a:srgbClr val="FFFFFF"/>
                        </a:highlight>
                        <a:latin typeface="Calibri"/>
                        <a:ea typeface="Calibri"/>
                        <a:cs typeface="Calibri"/>
                        <a:sym typeface="Calibri"/>
                      </a:rPr>
                      <m:t>𝑃</m:t>
                    </m:r>
                    <m:d>
                      <m:dPr>
                        <m:ctrlPr>
                          <a:rPr lang="ar-AE" sz="1200" b="0" i="1" u="none" strike="noStrike" cap="none">
                            <a:solidFill>
                              <a:schemeClr val="dk1"/>
                            </a:solidFill>
                            <a:highlight>
                              <a:srgbClr val="FFFFFF"/>
                            </a:highlight>
                            <a:latin typeface="Calibri"/>
                            <a:ea typeface="Calibri"/>
                            <a:cs typeface="Calibri"/>
                            <a:sym typeface="Calibri"/>
                          </a:rPr>
                        </m:ctrlPr>
                      </m:dPr>
                      <m:e>
                        <m:sSub>
                          <m:sSubPr>
                            <m:ctrlPr>
                              <a:rPr lang="ar-AE" sz="1200" b="0" i="1" u="none" strike="noStrike" cap="none">
                                <a:solidFill>
                                  <a:schemeClr val="dk1"/>
                                </a:solidFill>
                                <a:highlight>
                                  <a:srgbClr val="FFFFFF"/>
                                </a:highlight>
                                <a:latin typeface="Calibri"/>
                                <a:ea typeface="Calibri"/>
                                <a:cs typeface="Calibri"/>
                                <a:sym typeface="Calibri"/>
                              </a:rPr>
                            </m:ctrlPr>
                          </m:sSubPr>
                          <m:e>
                            <m:r>
                              <a:rPr lang="ar-AE" sz="1200" b="0" i="1" u="none" strike="noStrike" cap="none">
                                <a:solidFill>
                                  <a:schemeClr val="dk1"/>
                                </a:solidFill>
                                <a:highlight>
                                  <a:srgbClr val="FFFFFF"/>
                                </a:highlight>
                                <a:latin typeface="Calibri"/>
                                <a:ea typeface="Calibri"/>
                                <a:cs typeface="Calibri"/>
                                <a:sym typeface="Calibri"/>
                              </a:rPr>
                              <m:t>𝑦</m:t>
                            </m:r>
                          </m:e>
                          <m:sub>
                            <m:r>
                              <a:rPr lang="ar-AE" sz="1200" b="0" i="1" u="none" strike="noStrike" cap="none">
                                <a:solidFill>
                                  <a:schemeClr val="dk1"/>
                                </a:solidFill>
                                <a:highlight>
                                  <a:srgbClr val="FFFFFF"/>
                                </a:highlight>
                                <a:latin typeface="Calibri"/>
                                <a:ea typeface="Calibri"/>
                                <a:cs typeface="Calibri"/>
                                <a:sym typeface="Calibri"/>
                              </a:rPr>
                              <m:t>𝑡</m:t>
                            </m:r>
                          </m:sub>
                        </m:sSub>
                      </m:e>
                    </m:d>
                  </m:oMath>
                </a14:m>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is the probability assigned to the correct word by the model.</a:t>
                </a:r>
              </a:p>
              <a:p>
                <a:r>
                  <a:rPr lang="en-US" sz="1200" b="1" i="0" u="none" strike="noStrike" cap="none" dirty="0">
                    <a:solidFill>
                      <a:schemeClr val="dk1"/>
                    </a:solidFill>
                    <a:effectLst/>
                    <a:highlight>
                      <a:srgbClr val="FFFFFF"/>
                    </a:highlight>
                    <a:latin typeface="Calibri"/>
                    <a:ea typeface="Calibri"/>
                    <a:cs typeface="Calibri"/>
                    <a:sym typeface="Calibri"/>
                  </a:rPr>
                  <a:t>Total Loss:</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total loss for the sequence is the average of the per-word losses. This loss is used to update the model's parameters, helping it learn to make better predictions.</a:t>
                </a:r>
              </a:p>
              <a:p>
                <a:r>
                  <a:rPr lang="en-US" sz="1200" b="1" i="0" u="none" strike="noStrike" cap="none" dirty="0">
                    <a:solidFill>
                      <a:schemeClr val="dk1"/>
                    </a:solidFill>
                    <a:effectLst/>
                    <a:highlight>
                      <a:srgbClr val="FFFFFF"/>
                    </a:highlight>
                    <a:latin typeface="Calibri"/>
                    <a:ea typeface="Calibri"/>
                    <a:cs typeface="Calibri"/>
                    <a:sym typeface="Calibri"/>
                  </a:rPr>
                  <a:t>Key Insight:</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0" i="0" u="none" strike="noStrike" cap="none" dirty="0">
                    <a:solidFill>
                      <a:schemeClr val="dk1"/>
                    </a:solidFill>
                    <a:effectLst/>
                    <a:highlight>
                      <a:srgbClr val="FFFFFF"/>
                    </a:highlight>
                    <a:latin typeface="Calibri"/>
                    <a:ea typeface="Calibri"/>
                    <a:cs typeface="Calibri"/>
                    <a:sym typeface="Calibri"/>
                  </a:rPr>
                  <a:t>Teacher forcing helps the model learn more effectively by providing it with the correct context at each step, rather than relying on its potentially incorrect predictions.</a:t>
                </a:r>
              </a:p>
              <a:p>
                <a:r>
                  <a:rPr lang="en-US" sz="1200" b="0" i="0" u="none" strike="noStrike" cap="none" dirty="0">
                    <a:solidFill>
                      <a:schemeClr val="dk1"/>
                    </a:solidFill>
                    <a:effectLst/>
                    <a:highlight>
                      <a:srgbClr val="FFFFFF"/>
                    </a:highlight>
                    <a:latin typeface="Calibri"/>
                    <a:ea typeface="Calibri"/>
                    <a:cs typeface="Calibri"/>
                    <a:sym typeface="Calibri"/>
                  </a:rPr>
                  <a:t>The loss function provides a quantitative measure of how well the model is performing, guiding the training process to minimize errors.</a:t>
                </a:r>
              </a:p>
              <a:p>
                <a:br>
                  <a:rPr lang="en-US" dirty="0">
                    <a:highlight>
                      <a:srgbClr val="FFFFFF"/>
                    </a:highlight>
                  </a:rPr>
                </a:br>
                <a:endParaRPr lang="en-US" dirty="0">
                  <a:highlight>
                    <a:srgbClr val="FFFFFF"/>
                  </a:highlight>
                </a:endParaRPr>
              </a:p>
              <a:p>
                <a:r>
                  <a:rPr lang="en-US" sz="1200" b="0" i="0" u="none" strike="noStrike" cap="none" dirty="0">
                    <a:solidFill>
                      <a:schemeClr val="dk1"/>
                    </a:solidFill>
                    <a:effectLst/>
                    <a:highlight>
                      <a:srgbClr val="FFFFFF"/>
                    </a:highlight>
                    <a:latin typeface="Calibri"/>
                    <a:ea typeface="Calibri"/>
                    <a:cs typeface="Calibri"/>
                    <a:sym typeface="Calibri"/>
                  </a:rPr>
                  <a:t>This slide highlights the importance of teacher forcing in training Seq2Seq models, ensuring that they learn from the correct sequences and improve their translation capabilities. Understanding this process is crucial for appreciating how models are optimized and how techniques like attention can further enhance their performance by allowing them to focus on relevant parts of the input during decoding.</a:t>
                </a:r>
              </a:p>
              <a:p>
                <a:pPr marL="0" lvl="0" indent="0" algn="l" rtl="0">
                  <a:lnSpc>
                    <a:spcPct val="100000"/>
                  </a:lnSpc>
                  <a:spcBef>
                    <a:spcPts val="0"/>
                  </a:spcBef>
                  <a:spcAft>
                    <a:spcPts val="0"/>
                  </a:spcAft>
                  <a:buSzPts val="1400"/>
                  <a:buNone/>
                </a:pPr>
                <a:endParaRPr sz="1050" dirty="0">
                  <a:highlight>
                    <a:srgbClr val="FFFFFF"/>
                  </a:highlight>
                  <a:latin typeface="Arial"/>
                  <a:ea typeface="Arial"/>
                  <a:cs typeface="Arial"/>
                  <a:sym typeface="Arial"/>
                </a:endParaRPr>
              </a:p>
            </p:txBody>
          </p:sp>
        </mc:Choice>
        <mc:Fallback>
          <p:sp>
            <p:nvSpPr>
              <p:cNvPr id="271" name="Google Shape;271;g2b8b5137f2c_0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0" i="0" u="none" strike="noStrike" cap="none" dirty="0">
                    <a:solidFill>
                      <a:schemeClr val="dk1"/>
                    </a:solidFill>
                    <a:effectLst/>
                    <a:highlight>
                      <a:srgbClr val="FFFFFF"/>
                    </a:highlight>
                    <a:latin typeface="Calibri"/>
                    <a:ea typeface="Calibri"/>
                    <a:cs typeface="Calibri"/>
                    <a:sym typeface="Calibri"/>
                  </a:rPr>
                  <a:t>In this slide, we see how the Encoder-Decoder architecture is trained to improve its translation accuracy by comparing its predictions to the correct target sequence.</a:t>
                </a:r>
              </a:p>
              <a:p>
                <a:r>
                  <a:rPr lang="en-US" sz="1200" b="1" i="0" u="none" strike="noStrike" cap="none" dirty="0">
                    <a:solidFill>
                      <a:schemeClr val="dk1"/>
                    </a:solidFill>
                    <a:effectLst/>
                    <a:highlight>
                      <a:srgbClr val="FFFFFF"/>
                    </a:highlight>
                    <a:latin typeface="Calibri"/>
                    <a:ea typeface="Calibri"/>
                    <a:cs typeface="Calibri"/>
                    <a:sym typeface="Calibri"/>
                  </a:rPr>
                  <a:t>Training Process:</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1" i="0" u="none" strike="noStrike" cap="none" dirty="0">
                    <a:solidFill>
                      <a:schemeClr val="dk1"/>
                    </a:solidFill>
                    <a:effectLst/>
                    <a:highlight>
                      <a:srgbClr val="FFFFFF"/>
                    </a:highlight>
                    <a:latin typeface="Calibri"/>
                    <a:ea typeface="Calibri"/>
                    <a:cs typeface="Calibri"/>
                    <a:sym typeface="Calibri"/>
                  </a:rPr>
                  <a:t>Encoder:</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encoder processes the input sequence "the green witch arrived" as before, generating a context vector that summarizes the input.</a:t>
                </a:r>
              </a:p>
              <a:p>
                <a:r>
                  <a:rPr lang="en-US" sz="1200" b="1" i="0" u="none" strike="noStrike" cap="none" dirty="0">
                    <a:solidFill>
                      <a:schemeClr val="dk1"/>
                    </a:solidFill>
                    <a:effectLst/>
                    <a:highlight>
                      <a:srgbClr val="FFFFFF"/>
                    </a:highlight>
                    <a:latin typeface="Calibri"/>
                    <a:ea typeface="Calibri"/>
                    <a:cs typeface="Calibri"/>
                    <a:sym typeface="Calibri"/>
                  </a:rPr>
                  <a:t>Decoder with Teacher Forcing:</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During training, instead of using the decoder's own predictions to generate the next word, we use the actual target words (gold answers) from the training data. This is known as "teacher forcing."</a:t>
                </a:r>
              </a:p>
              <a:p>
                <a:pPr lvl="1"/>
                <a:r>
                  <a:rPr lang="en-US" sz="1200" b="0" i="0" u="none" strike="noStrike" cap="none" dirty="0">
                    <a:solidFill>
                      <a:schemeClr val="dk1"/>
                    </a:solidFill>
                    <a:effectLst/>
                    <a:highlight>
                      <a:srgbClr val="FFFFFF"/>
                    </a:highlight>
                    <a:latin typeface="Calibri"/>
                    <a:ea typeface="Calibri"/>
                    <a:cs typeface="Calibri"/>
                    <a:sym typeface="Calibri"/>
                  </a:rPr>
                  <a:t>For example, after generating "</a:t>
                </a:r>
                <a:r>
                  <a:rPr lang="en-US" sz="1200" b="0" i="0" u="none" strike="noStrike" cap="none" dirty="0" err="1">
                    <a:solidFill>
                      <a:schemeClr val="dk1"/>
                    </a:solidFill>
                    <a:effectLst/>
                    <a:highlight>
                      <a:srgbClr val="FFFFFF"/>
                    </a:highlight>
                    <a:latin typeface="Calibri"/>
                    <a:ea typeface="Calibri"/>
                    <a:cs typeface="Calibri"/>
                    <a:sym typeface="Calibri"/>
                  </a:rPr>
                  <a:t>llegó</a:t>
                </a:r>
                <a:r>
                  <a:rPr lang="en-US" sz="1200" b="0" i="0" u="none" strike="noStrike" cap="none" dirty="0">
                    <a:solidFill>
                      <a:schemeClr val="dk1"/>
                    </a:solidFill>
                    <a:effectLst/>
                    <a:highlight>
                      <a:srgbClr val="FFFFFF"/>
                    </a:highlight>
                    <a:latin typeface="Calibri"/>
                    <a:ea typeface="Calibri"/>
                    <a:cs typeface="Calibri"/>
                    <a:sym typeface="Calibri"/>
                  </a:rPr>
                  <a:t>," instead of using the model's prediction for the next word, we feed the correct next word "la" into the decoder.</a:t>
                </a:r>
              </a:p>
              <a:p>
                <a:r>
                  <a:rPr lang="en-US" sz="1200" b="1" i="0" u="none" strike="noStrike" cap="none" dirty="0" err="1">
                    <a:solidFill>
                      <a:schemeClr val="dk1"/>
                    </a:solidFill>
                    <a:effectLst/>
                    <a:highlight>
                      <a:srgbClr val="FFFFFF"/>
                    </a:highlight>
                    <a:latin typeface="Calibri"/>
                    <a:ea typeface="Calibri"/>
                    <a:cs typeface="Calibri"/>
                    <a:sym typeface="Calibri"/>
                  </a:rPr>
                  <a:t>Softmax</a:t>
                </a:r>
                <a:r>
                  <a:rPr lang="en-US" sz="1200" b="1" i="0" u="none" strike="noStrike" cap="none" dirty="0">
                    <a:solidFill>
                      <a:schemeClr val="dk1"/>
                    </a:solidFill>
                    <a:effectLst/>
                    <a:highlight>
                      <a:srgbClr val="FFFFFF"/>
                    </a:highlight>
                    <a:latin typeface="Calibri"/>
                    <a:ea typeface="Calibri"/>
                    <a:cs typeface="Calibri"/>
                    <a:sym typeface="Calibri"/>
                  </a:rPr>
                  <a:t> and Loss Calculation:</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decoder outputs a probability distribution over possible words for each position in the target sequence using a </a:t>
                </a:r>
                <a:r>
                  <a:rPr lang="en-US" sz="1200" b="0" i="0" u="none" strike="noStrike" cap="none" dirty="0" err="1">
                    <a:solidFill>
                      <a:schemeClr val="dk1"/>
                    </a:solidFill>
                    <a:effectLst/>
                    <a:highlight>
                      <a:srgbClr val="FFFFFF"/>
                    </a:highlight>
                    <a:latin typeface="Calibri"/>
                    <a:ea typeface="Calibri"/>
                    <a:cs typeface="Calibri"/>
                    <a:sym typeface="Calibri"/>
                  </a:rPr>
                  <a:t>softmax</a:t>
                </a:r>
                <a:r>
                  <a:rPr lang="en-US" sz="1200" b="0" i="0" u="none" strike="noStrike" cap="none" dirty="0">
                    <a:solidFill>
                      <a:schemeClr val="dk1"/>
                    </a:solidFill>
                    <a:effectLst/>
                    <a:highlight>
                      <a:srgbClr val="FFFFFF"/>
                    </a:highlight>
                    <a:latin typeface="Calibri"/>
                    <a:ea typeface="Calibri"/>
                    <a:cs typeface="Calibri"/>
                    <a:sym typeface="Calibri"/>
                  </a:rPr>
                  <a:t> layer.</a:t>
                </a:r>
              </a:p>
              <a:p>
                <a:pPr lvl="1"/>
                <a:r>
                  <a:rPr lang="en-US" sz="1200" b="0" i="0" u="none" strike="noStrike" cap="none" dirty="0">
                    <a:solidFill>
                      <a:schemeClr val="dk1"/>
                    </a:solidFill>
                    <a:effectLst/>
                    <a:highlight>
                      <a:srgbClr val="FFFFFF"/>
                    </a:highlight>
                    <a:latin typeface="Calibri"/>
                    <a:ea typeface="Calibri"/>
                    <a:cs typeface="Calibri"/>
                    <a:sym typeface="Calibri"/>
                  </a:rPr>
                  <a:t>The predicted word </a:t>
                </a:r>
                <a:r>
                  <a:rPr lang="ar-AE" sz="1200" b="0" i="0" u="none" strike="noStrike" cap="none">
                    <a:solidFill>
                      <a:schemeClr val="dk1"/>
                    </a:solidFill>
                    <a:highlight>
                      <a:srgbClr val="FFFFFF"/>
                    </a:highlight>
                    <a:latin typeface="Calibri"/>
                    <a:ea typeface="Calibri"/>
                    <a:cs typeface="Calibri"/>
                    <a:sym typeface="Calibri"/>
                  </a:rPr>
                  <a:t>𝑦 ̂_𝑡</a:t>
                </a:r>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is compared to the actual word </a:t>
                </a:r>
                <a:r>
                  <a:rPr lang="ar-AE" sz="1200" b="0" i="0" u="none" strike="noStrike" cap="none">
                    <a:solidFill>
                      <a:schemeClr val="dk1"/>
                    </a:solidFill>
                    <a:highlight>
                      <a:srgbClr val="FFFFFF"/>
                    </a:highlight>
                    <a:latin typeface="Calibri"/>
                    <a:ea typeface="Calibri"/>
                    <a:cs typeface="Calibri"/>
                    <a:sym typeface="Calibri"/>
                  </a:rPr>
                  <a:t>𝑦_𝑡</a:t>
                </a:r>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using a loss function. Here, the cross-entropy loss is used, which measures how well the predicted probability distribution matches the true distribution.</a:t>
                </a:r>
              </a:p>
              <a:p>
                <a:pPr lvl="1"/>
                <a:r>
                  <a:rPr lang="en-US" sz="1200" b="0" i="0" u="none" strike="noStrike" cap="none" dirty="0">
                    <a:solidFill>
                      <a:schemeClr val="dk1"/>
                    </a:solidFill>
                    <a:effectLst/>
                    <a:highlight>
                      <a:srgbClr val="FFFFFF"/>
                    </a:highlight>
                    <a:latin typeface="Calibri"/>
                    <a:ea typeface="Calibri"/>
                    <a:cs typeface="Calibri"/>
                    <a:sym typeface="Calibri"/>
                  </a:rPr>
                  <a:t>For each word, the loss is calculated as </a:t>
                </a:r>
                <a:r>
                  <a:rPr lang="en-US" sz="1200" b="0" i="0" u="none" strike="noStrike" cap="none">
                    <a:solidFill>
                      <a:schemeClr val="dk1"/>
                    </a:solidFill>
                    <a:highlight>
                      <a:srgbClr val="FFFFFF"/>
                    </a:highlight>
                    <a:latin typeface="Calibri"/>
                    <a:ea typeface="Calibri"/>
                    <a:cs typeface="Calibri"/>
                    <a:sym typeface="Calibri"/>
                  </a:rPr>
                  <a:t>−log</a:t>
                </a:r>
                <a:r>
                  <a:rPr lang="ar-AE" sz="1200" b="0" i="0" u="none" strike="noStrike" cap="none">
                    <a:solidFill>
                      <a:schemeClr val="dk1"/>
                    </a:solidFill>
                    <a:highlight>
                      <a:srgbClr val="FFFFFF"/>
                    </a:highlight>
                    <a:latin typeface="Calibri"/>
                    <a:ea typeface="Calibri"/>
                    <a:cs typeface="Calibri"/>
                    <a:sym typeface="Calibri"/>
                  </a:rPr>
                  <a:t>⁡𝑃 (𝑦_𝑡 )</a:t>
                </a:r>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where </a:t>
                </a:r>
                <a:r>
                  <a:rPr lang="en-US" sz="1200" b="0" i="0" u="none" strike="noStrike" cap="none">
                    <a:solidFill>
                      <a:schemeClr val="dk1"/>
                    </a:solidFill>
                    <a:highlight>
                      <a:srgbClr val="FFFFFF"/>
                    </a:highlight>
                    <a:latin typeface="Calibri"/>
                    <a:ea typeface="Calibri"/>
                    <a:cs typeface="Calibri"/>
                    <a:sym typeface="Calibri"/>
                  </a:rPr>
                  <a:t>𝑃</a:t>
                </a:r>
                <a:r>
                  <a:rPr lang="ar-AE" sz="1200" b="0" i="0" u="none" strike="noStrike" cap="none">
                    <a:solidFill>
                      <a:schemeClr val="dk1"/>
                    </a:solidFill>
                    <a:highlight>
                      <a:srgbClr val="FFFFFF"/>
                    </a:highlight>
                    <a:latin typeface="Calibri"/>
                    <a:ea typeface="Calibri"/>
                    <a:cs typeface="Calibri"/>
                    <a:sym typeface="Calibri"/>
                  </a:rPr>
                  <a:t>(𝑦_𝑡 )</a:t>
                </a:r>
                <a:r>
                  <a:rPr lang="ar-AE" sz="1200" b="0" i="0" u="none" strike="noStrike" cap="none" dirty="0">
                    <a:solidFill>
                      <a:schemeClr val="dk1"/>
                    </a:solidFill>
                    <a:effectLst/>
                    <a:highlight>
                      <a:srgbClr val="FFFFFF"/>
                    </a:highlight>
                    <a:latin typeface="Calibri"/>
                    <a:ea typeface="Calibri"/>
                    <a:cs typeface="Calibri"/>
                    <a:sym typeface="Calibri"/>
                  </a:rPr>
                  <a:t> </a:t>
                </a:r>
                <a:r>
                  <a:rPr lang="en-US" sz="1200" b="0" i="0" u="none" strike="noStrike" cap="none" dirty="0">
                    <a:solidFill>
                      <a:schemeClr val="dk1"/>
                    </a:solidFill>
                    <a:effectLst/>
                    <a:highlight>
                      <a:srgbClr val="FFFFFF"/>
                    </a:highlight>
                    <a:latin typeface="Calibri"/>
                    <a:ea typeface="Calibri"/>
                    <a:cs typeface="Calibri"/>
                    <a:sym typeface="Calibri"/>
                  </a:rPr>
                  <a:t>is the probability assigned to the correct word by the model.</a:t>
                </a:r>
              </a:p>
              <a:p>
                <a:r>
                  <a:rPr lang="en-US" sz="1200" b="1" i="0" u="none" strike="noStrike" cap="none" dirty="0">
                    <a:solidFill>
                      <a:schemeClr val="dk1"/>
                    </a:solidFill>
                    <a:effectLst/>
                    <a:highlight>
                      <a:srgbClr val="FFFFFF"/>
                    </a:highlight>
                    <a:latin typeface="Calibri"/>
                    <a:ea typeface="Calibri"/>
                    <a:cs typeface="Calibri"/>
                    <a:sym typeface="Calibri"/>
                  </a:rPr>
                  <a:t>Total Loss:</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total loss for the sequence is the average of the per-word losses. This loss is used to update the model's parameters, helping it learn to make better predictions.</a:t>
                </a:r>
              </a:p>
              <a:p>
                <a:r>
                  <a:rPr lang="en-US" sz="1200" b="1" i="0" u="none" strike="noStrike" cap="none" dirty="0">
                    <a:solidFill>
                      <a:schemeClr val="dk1"/>
                    </a:solidFill>
                    <a:effectLst/>
                    <a:highlight>
                      <a:srgbClr val="FFFFFF"/>
                    </a:highlight>
                    <a:latin typeface="Calibri"/>
                    <a:ea typeface="Calibri"/>
                    <a:cs typeface="Calibri"/>
                    <a:sym typeface="Calibri"/>
                  </a:rPr>
                  <a:t>Key Insight:</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0" i="0" u="none" strike="noStrike" cap="none" dirty="0">
                    <a:solidFill>
                      <a:schemeClr val="dk1"/>
                    </a:solidFill>
                    <a:effectLst/>
                    <a:highlight>
                      <a:srgbClr val="FFFFFF"/>
                    </a:highlight>
                    <a:latin typeface="Calibri"/>
                    <a:ea typeface="Calibri"/>
                    <a:cs typeface="Calibri"/>
                    <a:sym typeface="Calibri"/>
                  </a:rPr>
                  <a:t>Teacher forcing helps the model learn more effectively by providing it with the correct context at each step, rather than relying on its potentially incorrect predictions.</a:t>
                </a:r>
              </a:p>
              <a:p>
                <a:r>
                  <a:rPr lang="en-US" sz="1200" b="0" i="0" u="none" strike="noStrike" cap="none" dirty="0">
                    <a:solidFill>
                      <a:schemeClr val="dk1"/>
                    </a:solidFill>
                    <a:effectLst/>
                    <a:highlight>
                      <a:srgbClr val="FFFFFF"/>
                    </a:highlight>
                    <a:latin typeface="Calibri"/>
                    <a:ea typeface="Calibri"/>
                    <a:cs typeface="Calibri"/>
                    <a:sym typeface="Calibri"/>
                  </a:rPr>
                  <a:t>The loss function provides a quantitative measure of how well the model is performing, guiding the training process to minimize errors.</a:t>
                </a:r>
              </a:p>
              <a:p>
                <a:br>
                  <a:rPr lang="en-US" dirty="0">
                    <a:highlight>
                      <a:srgbClr val="FFFFFF"/>
                    </a:highlight>
                  </a:rPr>
                </a:br>
                <a:endParaRPr lang="en-US" dirty="0">
                  <a:highlight>
                    <a:srgbClr val="FFFFFF"/>
                  </a:highlight>
                </a:endParaRPr>
              </a:p>
              <a:p>
                <a:r>
                  <a:rPr lang="en-US" sz="1200" b="0" i="0" u="none" strike="noStrike" cap="none" dirty="0">
                    <a:solidFill>
                      <a:schemeClr val="dk1"/>
                    </a:solidFill>
                    <a:effectLst/>
                    <a:highlight>
                      <a:srgbClr val="FFFFFF"/>
                    </a:highlight>
                    <a:latin typeface="Calibri"/>
                    <a:ea typeface="Calibri"/>
                    <a:cs typeface="Calibri"/>
                    <a:sym typeface="Calibri"/>
                  </a:rPr>
                  <a:t>This slide highlights the importance of teacher forcing in training Seq2Seq models, ensuring that they learn from the correct sequences and improve their translation capabilities. Understanding this process is crucial for appreciating how models are optimized and how techniques like attention can further enhance their performance by allowing them to focus on relevant parts of the input during decoding.</a:t>
                </a:r>
              </a:p>
              <a:p>
                <a:pPr marL="0" lvl="0" indent="0" algn="l" rtl="0">
                  <a:lnSpc>
                    <a:spcPct val="100000"/>
                  </a:lnSpc>
                  <a:spcBef>
                    <a:spcPts val="0"/>
                  </a:spcBef>
                  <a:spcAft>
                    <a:spcPts val="0"/>
                  </a:spcAft>
                  <a:buSzPts val="1400"/>
                  <a:buNone/>
                </a:pPr>
                <a:endParaRPr sz="1050" dirty="0">
                  <a:highlight>
                    <a:srgbClr val="FFFFFF"/>
                  </a:highlight>
                  <a:latin typeface="Arial"/>
                  <a:ea typeface="Arial"/>
                  <a:cs typeface="Arial"/>
                  <a:sym typeface="Arial"/>
                </a:endParaRPr>
              </a:p>
            </p:txBody>
          </p:sp>
        </mc:Fallback>
      </mc:AlternateContent>
      <p:sp>
        <p:nvSpPr>
          <p:cNvPr id="272" name="Google Shape;272;g2b8b5137f2c_0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b8b5137f2c_0_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g2b8b5137f2c_0_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0" i="0" u="none" strike="noStrike" cap="none" dirty="0">
                <a:solidFill>
                  <a:schemeClr val="dk1"/>
                </a:solidFill>
                <a:effectLst/>
                <a:highlight>
                  <a:srgbClr val="FFFFFF"/>
                </a:highlight>
                <a:latin typeface="Calibri"/>
                <a:ea typeface="Calibri"/>
                <a:cs typeface="Calibri"/>
                <a:sym typeface="Calibri"/>
              </a:rPr>
              <a:t>In the traditional Encoder-Decoder architecture, the context vector acts as a bottleneck, which can limit the model's ability to effectively translate complex or lengthy sequences.</a:t>
            </a:r>
          </a:p>
          <a:p>
            <a:r>
              <a:rPr lang="en-US" sz="1200" b="1" i="0" u="none" strike="noStrike" cap="none" dirty="0">
                <a:solidFill>
                  <a:schemeClr val="dk1"/>
                </a:solidFill>
                <a:effectLst/>
                <a:highlight>
                  <a:srgbClr val="FFFFFF"/>
                </a:highlight>
                <a:latin typeface="Calibri"/>
                <a:ea typeface="Calibri"/>
                <a:cs typeface="Calibri"/>
                <a:sym typeface="Calibri"/>
              </a:rPr>
              <a:t>Understanding the Bottleneck:</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1" i="0" u="none" strike="noStrike" cap="none" dirty="0">
                <a:solidFill>
                  <a:schemeClr val="dk1"/>
                </a:solidFill>
                <a:effectLst/>
                <a:highlight>
                  <a:srgbClr val="FFFFFF"/>
                </a:highlight>
                <a:latin typeface="Calibri"/>
                <a:ea typeface="Calibri"/>
                <a:cs typeface="Calibri"/>
                <a:sym typeface="Calibri"/>
              </a:rPr>
              <a:t>Encoder:</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encoder processes the input sequence and compresses all the information into a single context vector, represented by the final hidden state.</a:t>
            </a:r>
          </a:p>
          <a:p>
            <a:r>
              <a:rPr lang="en-US" sz="1200" b="1" i="0" u="none" strike="noStrike" cap="none" dirty="0">
                <a:solidFill>
                  <a:schemeClr val="dk1"/>
                </a:solidFill>
                <a:effectLst/>
                <a:highlight>
                  <a:srgbClr val="FFFFFF"/>
                </a:highlight>
                <a:latin typeface="Calibri"/>
                <a:ea typeface="Calibri"/>
                <a:cs typeface="Calibri"/>
                <a:sym typeface="Calibri"/>
              </a:rPr>
              <a:t>Bottleneck:</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This context vector is the only source of information for the decoder. It must encapsulate the entire meaning of the input sequence.</a:t>
            </a:r>
          </a:p>
          <a:p>
            <a:pPr lvl="1"/>
            <a:r>
              <a:rPr lang="en-US" sz="1200" b="0" i="0" u="none" strike="noStrike" cap="none" dirty="0">
                <a:solidFill>
                  <a:schemeClr val="dk1"/>
                </a:solidFill>
                <a:effectLst/>
                <a:highlight>
                  <a:srgbClr val="FFFFFF"/>
                </a:highlight>
                <a:latin typeface="Calibri"/>
                <a:ea typeface="Calibri"/>
                <a:cs typeface="Calibri"/>
                <a:sym typeface="Calibri"/>
              </a:rPr>
              <a:t>The term "bottleneck" is used because this single vector can become a limiting factor. It forces all the rich and detailed information from the input to be squeezed into a compact form, which can lead to loss of important details, especially for long or complex sentences.</a:t>
            </a:r>
          </a:p>
          <a:p>
            <a:r>
              <a:rPr lang="en-US" sz="1200" b="1" i="0" u="none" strike="noStrike" cap="none" dirty="0">
                <a:solidFill>
                  <a:schemeClr val="dk1"/>
                </a:solidFill>
                <a:effectLst/>
                <a:highlight>
                  <a:srgbClr val="FFFFFF"/>
                </a:highlight>
                <a:latin typeface="Calibri"/>
                <a:ea typeface="Calibri"/>
                <a:cs typeface="Calibri"/>
                <a:sym typeface="Calibri"/>
              </a:rPr>
              <a:t>Decoder:</a:t>
            </a:r>
            <a:endParaRPr lang="en-US" sz="1200" b="0" i="0" u="none" strike="noStrike" cap="none" dirty="0">
              <a:solidFill>
                <a:schemeClr val="dk1"/>
              </a:solidFill>
              <a:effectLst/>
              <a:highlight>
                <a:srgbClr val="FFFFFF"/>
              </a:highlight>
              <a:latin typeface="Calibri"/>
              <a:ea typeface="Calibri"/>
              <a:cs typeface="Calibri"/>
              <a:sym typeface="Calibri"/>
            </a:endParaRPr>
          </a:p>
          <a:p>
            <a:pPr lvl="1"/>
            <a:r>
              <a:rPr lang="en-US" sz="1200" b="0" i="0" u="none" strike="noStrike" cap="none" dirty="0">
                <a:solidFill>
                  <a:schemeClr val="dk1"/>
                </a:solidFill>
                <a:effectLst/>
                <a:highlight>
                  <a:srgbClr val="FFFFFF"/>
                </a:highlight>
                <a:latin typeface="Calibri"/>
                <a:ea typeface="Calibri"/>
                <a:cs typeface="Calibri"/>
                <a:sym typeface="Calibri"/>
              </a:rPr>
              <a:t>The decoder relies solely on this context vector to generate the output sequence. If the context vector is not sufficiently informative, the quality of the translation can suffer.</a:t>
            </a:r>
          </a:p>
          <a:p>
            <a:r>
              <a:rPr lang="en-US" sz="1200" b="1" i="0" u="none" strike="noStrike" cap="none" dirty="0">
                <a:solidFill>
                  <a:schemeClr val="dk1"/>
                </a:solidFill>
                <a:effectLst/>
                <a:highlight>
                  <a:srgbClr val="FFFFFF"/>
                </a:highlight>
                <a:latin typeface="Calibri"/>
                <a:ea typeface="Calibri"/>
                <a:cs typeface="Calibri"/>
                <a:sym typeface="Calibri"/>
              </a:rPr>
              <a:t>Key Insight:</a:t>
            </a:r>
            <a:endParaRPr lang="en-US" sz="1200" b="0" i="0" u="none" strike="noStrike" cap="none" dirty="0">
              <a:solidFill>
                <a:schemeClr val="dk1"/>
              </a:solidFill>
              <a:effectLst/>
              <a:highlight>
                <a:srgbClr val="FFFFFF"/>
              </a:highlight>
              <a:latin typeface="Calibri"/>
              <a:ea typeface="Calibri"/>
              <a:cs typeface="Calibri"/>
              <a:sym typeface="Calibri"/>
            </a:endParaRPr>
          </a:p>
          <a:p>
            <a:r>
              <a:rPr lang="en-US" sz="1200" b="0" i="0" u="none" strike="noStrike" cap="none" dirty="0">
                <a:solidFill>
                  <a:schemeClr val="dk1"/>
                </a:solidFill>
                <a:effectLst/>
                <a:highlight>
                  <a:srgbClr val="FFFFFF"/>
                </a:highlight>
                <a:latin typeface="Calibri"/>
                <a:ea typeface="Calibri"/>
                <a:cs typeface="Calibri"/>
                <a:sym typeface="Calibri"/>
              </a:rPr>
              <a:t>The bottleneck problem highlights a fundamental challenge in the traditional Encoder-Decoder setup: the difficulty of capturing all necessary information in a single vector.</a:t>
            </a:r>
          </a:p>
          <a:p>
            <a:r>
              <a:rPr lang="en-US" sz="1200" b="0" i="0" u="none" strike="noStrike" cap="none" dirty="0">
                <a:solidFill>
                  <a:schemeClr val="dk1"/>
                </a:solidFill>
                <a:effectLst/>
                <a:highlight>
                  <a:srgbClr val="FFFFFF"/>
                </a:highlight>
                <a:latin typeface="Calibri"/>
                <a:ea typeface="Calibri"/>
                <a:cs typeface="Calibri"/>
                <a:sym typeface="Calibri"/>
              </a:rPr>
              <a:t>This limitation is particularly pronounced in tasks involving long sequences, where the context vector may not adequately represent all the nuances of the input.</a:t>
            </a:r>
          </a:p>
          <a:p>
            <a:br>
              <a:rPr lang="en-US" dirty="0">
                <a:highlight>
                  <a:srgbClr val="FFFFFF"/>
                </a:highlight>
              </a:rPr>
            </a:br>
            <a:endParaRPr lang="en-US" dirty="0">
              <a:highlight>
                <a:srgbClr val="FFFFFF"/>
              </a:highlight>
            </a:endParaRPr>
          </a:p>
          <a:p>
            <a:r>
              <a:rPr lang="en-US" sz="1200" b="0" i="0" u="none" strike="noStrike" cap="none" dirty="0">
                <a:solidFill>
                  <a:schemeClr val="dk1"/>
                </a:solidFill>
                <a:effectLst/>
                <a:highlight>
                  <a:srgbClr val="FFFFFF"/>
                </a:highlight>
                <a:latin typeface="Calibri"/>
                <a:ea typeface="Calibri"/>
                <a:cs typeface="Calibri"/>
                <a:sym typeface="Calibri"/>
              </a:rPr>
              <a:t>This slide sets the stage for introducing attention mechanisms, which address the bottleneck issue by allowing the model to dynamically focus on different parts of the input sequence during decoding. Attention provides a way to bypass the bottleneck by enabling the decoder to access the full range of encoder states, thereby improving the model's ability to handle complex translations. Understanding this limitation helps appreciate the advancements brought by attention and transformers in sequence-to-sequence tasks.</a:t>
            </a:r>
          </a:p>
          <a:p>
            <a:pPr marL="0" lvl="0" indent="0" algn="l" rtl="0">
              <a:lnSpc>
                <a:spcPct val="100000"/>
              </a:lnSpc>
              <a:spcBef>
                <a:spcPts val="0"/>
              </a:spcBef>
              <a:spcAft>
                <a:spcPts val="0"/>
              </a:spcAft>
              <a:buSzPts val="1400"/>
              <a:buNone/>
            </a:pPr>
            <a:endParaRPr sz="1050" dirty="0">
              <a:highlight>
                <a:srgbClr val="FFFFFF"/>
              </a:highlight>
              <a:latin typeface="Arial"/>
              <a:ea typeface="Arial"/>
              <a:cs typeface="Arial"/>
              <a:sym typeface="Arial"/>
            </a:endParaRPr>
          </a:p>
        </p:txBody>
      </p:sp>
      <p:sp>
        <p:nvSpPr>
          <p:cNvPr id="281" name="Google Shape;281;g2b8b5137f2c_0_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2b8b5137f2c_0_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289" name="Google Shape;289;g2b8b5137f2c_0_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0" i="0" u="none" strike="noStrike" cap="none" dirty="0">
                    <a:solidFill>
                      <a:schemeClr val="dk1"/>
                    </a:solidFill>
                    <a:effectLst/>
                    <a:latin typeface="Calibri"/>
                    <a:ea typeface="Calibri"/>
                    <a:cs typeface="Calibri"/>
                    <a:sym typeface="Calibri"/>
                  </a:rPr>
                  <a:t>Attention mechanisms enhance the Seq2Seq model by providing a more flexible and dynamic way to use the information from the encoder, rather than relying solely on a static context vector.</a:t>
                </a:r>
              </a:p>
              <a:p>
                <a:r>
                  <a:rPr lang="en-US" sz="1200" b="1" i="0" u="none" strike="noStrike" cap="none" dirty="0">
                    <a:solidFill>
                      <a:schemeClr val="dk1"/>
                    </a:solidFill>
                    <a:effectLst/>
                    <a:latin typeface="Calibri"/>
                    <a:ea typeface="Calibri"/>
                    <a:cs typeface="Calibri"/>
                    <a:sym typeface="Calibri"/>
                  </a:rPr>
                  <a:t>Key Concepts: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Static Context Vector: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In the traditional setup without attention, the decoder uses the same static context vector </a:t>
                </a:r>
                <a14:m>
                  <m:oMath xmlns:m="http://schemas.openxmlformats.org/officeDocument/2006/math">
                    <m:r>
                      <a:rPr lang="en-US" sz="1200" b="0" i="1" u="none" strike="noStrike" cap="none">
                        <a:solidFill>
                          <a:schemeClr val="dk1"/>
                        </a:solidFill>
                        <a:latin typeface="Calibri"/>
                        <a:ea typeface="Calibri"/>
                        <a:cs typeface="Calibri"/>
                        <a:sym typeface="Calibri"/>
                      </a:rPr>
                      <m:t>𝑐</m:t>
                    </m:r>
                  </m:oMath>
                </a14:m>
                <a:r>
                  <a:rPr lang="en-US" sz="1200" b="0" i="0" u="none" strike="noStrike" cap="none" dirty="0">
                    <a:solidFill>
                      <a:schemeClr val="dk1"/>
                    </a:solidFill>
                    <a:effectLst/>
                    <a:latin typeface="Calibri"/>
                    <a:ea typeface="Calibri"/>
                    <a:cs typeface="Calibri"/>
                    <a:sym typeface="Calibri"/>
                  </a:rPr>
                  <a:t> for generating each word in the output sequence.</a:t>
                </a:r>
              </a:p>
              <a:p>
                <a:pPr lvl="1"/>
                <a:r>
                  <a:rPr lang="en-US" sz="1200" b="0" i="0" u="none" strike="noStrike" cap="none" dirty="0">
                    <a:solidFill>
                      <a:schemeClr val="dk1"/>
                    </a:solidFill>
                    <a:effectLst/>
                    <a:latin typeface="Calibri"/>
                    <a:ea typeface="Calibri"/>
                    <a:cs typeface="Calibri"/>
                    <a:sym typeface="Calibri"/>
                  </a:rPr>
                  <a:t>This vector is a fixed summary of all the encoder's hidden states, which can limit the model's ability to capture detailed information, especially for long sequences.</a:t>
                </a:r>
              </a:p>
              <a:p>
                <a:r>
                  <a:rPr lang="en-US" sz="1200" b="1" i="0" u="none" strike="noStrike" cap="none" dirty="0">
                    <a:solidFill>
                      <a:schemeClr val="dk1"/>
                    </a:solidFill>
                    <a:effectLst/>
                    <a:latin typeface="Calibri"/>
                    <a:ea typeface="Calibri"/>
                    <a:cs typeface="Calibri"/>
                    <a:sym typeface="Calibri"/>
                  </a:rPr>
                  <a:t>Attention Mechanism:</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Attention allows the decoder to access different parts of the encoder's hidden states dynamically, rather than relying on a single static vector.</a:t>
                </a:r>
              </a:p>
              <a:p>
                <a:pPr lvl="1"/>
                <a:r>
                  <a:rPr lang="en-US" sz="1200" b="0" i="0" u="none" strike="noStrike" cap="none" dirty="0">
                    <a:solidFill>
                      <a:schemeClr val="dk1"/>
                    </a:solidFill>
                    <a:effectLst/>
                    <a:latin typeface="Calibri"/>
                    <a:ea typeface="Calibri"/>
                    <a:cs typeface="Calibri"/>
                    <a:sym typeface="Calibri"/>
                  </a:rPr>
                  <a:t>For each output word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the decoder can focus on different parts of the input sequence, effectively creating a context that is tailored to the specific word being generated.</a:t>
                </a:r>
              </a:p>
              <a:p>
                <a:r>
                  <a:rPr lang="en-US" sz="1200" b="1" i="0" u="none" strike="noStrike" cap="none" dirty="0">
                    <a:solidFill>
                      <a:schemeClr val="dk1"/>
                    </a:solidFill>
                    <a:effectLst/>
                    <a:latin typeface="Calibri"/>
                    <a:ea typeface="Calibri"/>
                    <a:cs typeface="Calibri"/>
                    <a:sym typeface="Calibri"/>
                  </a:rPr>
                  <a:t>Decoder State Update: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equation </a:t>
                </a:r>
                <a14:m>
                  <m:oMath xmlns:m="http://schemas.openxmlformats.org/officeDocument/2006/math">
                    <m:sSubSup>
                      <m:sSubSupPr>
                        <m:ctrlPr>
                          <a:rPr lang="ar-AE" sz="1200" b="0" i="0"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𝑡</m:t>
                        </m:r>
                      </m:sub>
                      <m:sup>
                        <m:r>
                          <a:rPr lang="ar-AE" sz="1200" b="0" i="1" u="none" strike="noStrike" cap="none">
                            <a:solidFill>
                              <a:schemeClr val="dk1"/>
                            </a:solidFill>
                            <a:latin typeface="Calibri"/>
                            <a:ea typeface="Calibri"/>
                            <a:cs typeface="Calibri"/>
                            <a:sym typeface="Calibri"/>
                          </a:rPr>
                          <m:t>𝑑</m:t>
                        </m:r>
                      </m:sup>
                    </m:sSubSup>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𝑔</m:t>
                    </m:r>
                    <m:d>
                      <m:dPr>
                        <m:sepChr m:val=","/>
                        <m:ctrlPr>
                          <a:rPr lang="ar-AE" sz="1200" b="0" i="1" u="none" strike="noStrike" cap="none">
                            <a:solidFill>
                              <a:schemeClr val="dk1"/>
                            </a:solidFill>
                            <a:latin typeface="Calibri"/>
                            <a:ea typeface="Calibri"/>
                            <a:cs typeface="Calibri"/>
                            <a:sym typeface="Calibri"/>
                          </a:rPr>
                        </m:ctrlPr>
                      </m:dPr>
                      <m:e>
                        <m:sSub>
                          <m:sSubPr>
                            <m:ctrlPr>
                              <a:rPr lang="ar-AE" sz="1200" b="0" i="1" u="none" strike="noStrike" cap="none">
                                <a:solidFill>
                                  <a:schemeClr val="dk1"/>
                                </a:solidFill>
                                <a:latin typeface="Calibri"/>
                                <a:ea typeface="Calibri"/>
                                <a:cs typeface="Calibri"/>
                                <a:sym typeface="Calibri"/>
                              </a:rPr>
                            </m:ctrlPr>
                          </m:sSubPr>
                          <m:e>
                            <m:acc>
                              <m:accPr>
                                <m:chr m:val="̂"/>
                                <m:ctrlPr>
                                  <a:rPr lang="ar-AE" sz="1200" b="0" i="1" u="none" strike="noStrike" cap="none">
                                    <a:solidFill>
                                      <a:schemeClr val="dk1"/>
                                    </a:solidFill>
                                    <a:latin typeface="Calibri"/>
                                    <a:ea typeface="Calibri"/>
                                    <a:cs typeface="Calibri"/>
                                    <a:sym typeface="Calibri"/>
                                  </a:rPr>
                                </m:ctrlPr>
                              </m:accPr>
                              <m:e>
                                <m:r>
                                  <a:rPr lang="ar-AE" sz="1200" b="0" i="1" u="none" strike="noStrike" cap="none">
                                    <a:solidFill>
                                      <a:schemeClr val="dk1"/>
                                    </a:solidFill>
                                    <a:latin typeface="Calibri"/>
                                    <a:ea typeface="Calibri"/>
                                    <a:cs typeface="Calibri"/>
                                    <a:sym typeface="Calibri"/>
                                  </a:rPr>
                                  <m:t>𝑦</m:t>
                                </m:r>
                              </m:e>
                            </m:acc>
                          </m:e>
                          <m:sub>
                            <m:r>
                              <a:rPr lang="ar-AE" sz="1200" b="0" i="1" u="none" strike="noStrike" cap="none">
                                <a:solidFill>
                                  <a:schemeClr val="dk1"/>
                                </a:solidFill>
                                <a:latin typeface="Calibri"/>
                                <a:ea typeface="Calibri"/>
                                <a:cs typeface="Calibri"/>
                                <a:sym typeface="Calibri"/>
                              </a:rPr>
                              <m:t>𝑡</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Sub>
                      </m:e>
                      <m:e>
                        <m:sSubSup>
                          <m:sSubSupPr>
                            <m:ctrlPr>
                              <a:rPr lang="ar-AE" sz="1200" b="0" i="1"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𝑡</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up>
                            <m:r>
                              <a:rPr lang="ar-AE" sz="1200" b="0" i="1" u="none" strike="noStrike" cap="none">
                                <a:solidFill>
                                  <a:schemeClr val="dk1"/>
                                </a:solidFill>
                                <a:latin typeface="Calibri"/>
                                <a:ea typeface="Calibri"/>
                                <a:cs typeface="Calibri"/>
                                <a:sym typeface="Calibri"/>
                              </a:rPr>
                              <m:t>𝑑</m:t>
                            </m:r>
                          </m:sup>
                        </m:sSubSup>
                      </m:e>
                      <m:e>
                        <m:r>
                          <a:rPr lang="ar-AE" sz="1200" b="0" i="1" u="none" strike="noStrike" cap="none">
                            <a:solidFill>
                              <a:schemeClr val="dk1"/>
                            </a:solidFill>
                            <a:latin typeface="Calibri"/>
                            <a:ea typeface="Calibri"/>
                            <a:cs typeface="Calibri"/>
                            <a:sym typeface="Calibri"/>
                          </a:rPr>
                          <m:t>𝑐</m:t>
                        </m:r>
                      </m:e>
                    </m:d>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represents how the decoder's hidden state is updated at each time step.</a:t>
                </a:r>
              </a:p>
              <a:p>
                <a:pPr lvl="1"/>
                <a:r>
                  <a:rPr lang="en-US" sz="1200" b="0" i="0" u="none" strike="noStrike" cap="none" dirty="0">
                    <a:solidFill>
                      <a:schemeClr val="dk1"/>
                    </a:solidFill>
                    <a:effectLst/>
                    <a:latin typeface="Calibri"/>
                    <a:ea typeface="Calibri"/>
                    <a:cs typeface="Calibri"/>
                    <a:sym typeface="Calibri"/>
                  </a:rPr>
                  <a:t>Here, </a:t>
                </a:r>
                <a14:m>
                  <m:oMath xmlns:m="http://schemas.openxmlformats.org/officeDocument/2006/math">
                    <m:r>
                      <a:rPr lang="en-US" sz="1200" b="0" i="1" u="none" strike="noStrike" cap="none">
                        <a:solidFill>
                          <a:schemeClr val="dk1"/>
                        </a:solidFill>
                        <a:latin typeface="Calibri"/>
                        <a:ea typeface="Calibri"/>
                        <a:cs typeface="Calibri"/>
                        <a:sym typeface="Calibri"/>
                      </a:rPr>
                      <m:t>𝑔</m:t>
                    </m:r>
                  </m:oMath>
                </a14:m>
                <a:r>
                  <a:rPr lang="en-US" sz="1200" b="0" i="0" u="none" strike="noStrike" cap="none" dirty="0">
                    <a:solidFill>
                      <a:schemeClr val="dk1"/>
                    </a:solidFill>
                    <a:effectLst/>
                    <a:latin typeface="Calibri"/>
                    <a:ea typeface="Calibri"/>
                    <a:cs typeface="Calibri"/>
                    <a:sym typeface="Calibri"/>
                  </a:rPr>
                  <a:t> is a function that combines the previous output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acc>
                          <m:accPr>
                            <m:chr m:val="̂"/>
                            <m:ctrlPr>
                              <a:rPr lang="ar-AE" sz="1200" b="0" i="0" u="none" strike="noStrike" cap="none">
                                <a:solidFill>
                                  <a:schemeClr val="dk1"/>
                                </a:solidFill>
                                <a:latin typeface="Calibri"/>
                                <a:ea typeface="Calibri"/>
                                <a:cs typeface="Calibri"/>
                                <a:sym typeface="Calibri"/>
                              </a:rPr>
                            </m:ctrlPr>
                          </m:accPr>
                          <m:e>
                            <m:r>
                              <a:rPr lang="ar-AE" sz="1200" b="0" i="1" u="none" strike="noStrike" cap="none">
                                <a:solidFill>
                                  <a:schemeClr val="dk1"/>
                                </a:solidFill>
                                <a:latin typeface="Calibri"/>
                                <a:ea typeface="Calibri"/>
                                <a:cs typeface="Calibri"/>
                                <a:sym typeface="Calibri"/>
                              </a:rPr>
                              <m:t>𝑦</m:t>
                            </m:r>
                          </m:e>
                        </m:acc>
                      </m:e>
                      <m:sub>
                        <m:r>
                          <a:rPr lang="ar-AE" sz="1200" b="0" i="1" u="none" strike="noStrike" cap="none">
                            <a:solidFill>
                              <a:schemeClr val="dk1"/>
                            </a:solidFill>
                            <a:latin typeface="Calibri"/>
                            <a:ea typeface="Calibri"/>
                            <a:cs typeface="Calibri"/>
                            <a:sym typeface="Calibri"/>
                          </a:rPr>
                          <m:t>𝑡</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the previous hidden state </a:t>
                </a:r>
                <a14:m>
                  <m:oMath xmlns:m="http://schemas.openxmlformats.org/officeDocument/2006/math">
                    <m:sSubSup>
                      <m:sSubSupPr>
                        <m:ctrlPr>
                          <a:rPr lang="ar-AE" sz="1200" b="0" i="0"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𝑡</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up>
                        <m:r>
                          <a:rPr lang="ar-AE" sz="1200" b="0" i="1" u="none" strike="noStrike" cap="none">
                            <a:solidFill>
                              <a:schemeClr val="dk1"/>
                            </a:solidFill>
                            <a:latin typeface="Calibri"/>
                            <a:ea typeface="Calibri"/>
                            <a:cs typeface="Calibri"/>
                            <a:sym typeface="Calibri"/>
                          </a:rPr>
                          <m:t>𝑑</m:t>
                        </m:r>
                      </m:sup>
                    </m:sSubSup>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the context vector </a:t>
                </a:r>
                <a14:m>
                  <m:oMath xmlns:m="http://schemas.openxmlformats.org/officeDocument/2006/math">
                    <m:r>
                      <a:rPr lang="en-US" sz="1200" b="0" i="1" u="none" strike="noStrike" cap="none">
                        <a:solidFill>
                          <a:schemeClr val="dk1"/>
                        </a:solidFill>
                        <a:latin typeface="Calibri"/>
                        <a:ea typeface="Calibri"/>
                        <a:cs typeface="Calibri"/>
                        <a:sym typeface="Calibri"/>
                      </a:rPr>
                      <m:t>𝑐</m:t>
                    </m:r>
                  </m:oMath>
                </a14:m>
                <a:r>
                  <a:rPr lang="en-US" sz="1200" b="0" i="0" u="none" strike="noStrike" cap="none" dirty="0">
                    <a:solidFill>
                      <a:schemeClr val="dk1"/>
                    </a:solidFill>
                    <a:effectLst/>
                    <a:latin typeface="Calibri"/>
                    <a:ea typeface="Calibri"/>
                    <a:cs typeface="Calibri"/>
                    <a:sym typeface="Calibri"/>
                  </a:rPr>
                  <a:t> to produce the current hidden state </a:t>
                </a:r>
                <a14:m>
                  <m:oMath xmlns:m="http://schemas.openxmlformats.org/officeDocument/2006/math">
                    <m:sSubSup>
                      <m:sSubSupPr>
                        <m:ctrlPr>
                          <a:rPr lang="ar-AE" sz="1200" b="0" i="0"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𝑡</m:t>
                        </m:r>
                      </m:sub>
                      <m:sup>
                        <m:r>
                          <a:rPr lang="ar-AE" sz="1200" b="0" i="1" u="none" strike="noStrike" cap="none">
                            <a:solidFill>
                              <a:schemeClr val="dk1"/>
                            </a:solidFill>
                            <a:latin typeface="Calibri"/>
                            <a:ea typeface="Calibri"/>
                            <a:cs typeface="Calibri"/>
                            <a:sym typeface="Calibri"/>
                          </a:rPr>
                          <m:t>𝑑</m:t>
                        </m:r>
                      </m:sup>
                    </m:sSubSup>
                  </m:oMath>
                </a14:m>
                <a:r>
                  <a:rPr lang="ar-AE"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With attention, the context vector </a:t>
                </a:r>
                <a14:m>
                  <m:oMath xmlns:m="http://schemas.openxmlformats.org/officeDocument/2006/math">
                    <m:r>
                      <a:rPr lang="en-US" sz="1200" b="0" i="1" u="none" strike="noStrike" cap="none">
                        <a:solidFill>
                          <a:schemeClr val="dk1"/>
                        </a:solidFill>
                        <a:latin typeface="Calibri"/>
                        <a:ea typeface="Calibri"/>
                        <a:cs typeface="Calibri"/>
                        <a:sym typeface="Calibri"/>
                      </a:rPr>
                      <m:t>𝑐</m:t>
                    </m:r>
                  </m:oMath>
                </a14:m>
                <a:r>
                  <a:rPr lang="en-US" sz="1200" b="0" i="0" u="none" strike="noStrike" cap="none" dirty="0">
                    <a:solidFill>
                      <a:schemeClr val="dk1"/>
                    </a:solidFill>
                    <a:effectLst/>
                    <a:latin typeface="Calibri"/>
                    <a:ea typeface="Calibri"/>
                    <a:cs typeface="Calibri"/>
                    <a:sym typeface="Calibri"/>
                  </a:rPr>
                  <a:t> can be dynamically adjusted for each time step, allowing the model to focus on the most relevant parts of the input sequence.</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Attention mechanisms provide a way to overcome the bottleneck problem by allowing the decoder to access a richer set of information from the encoder.</a:t>
                </a:r>
              </a:p>
              <a:p>
                <a:r>
                  <a:rPr lang="en-US" sz="1200" b="0" i="0" u="none" strike="noStrike" cap="none" dirty="0">
                    <a:solidFill>
                      <a:schemeClr val="dk1"/>
                    </a:solidFill>
                    <a:effectLst/>
                    <a:latin typeface="Calibri"/>
                    <a:ea typeface="Calibri"/>
                    <a:cs typeface="Calibri"/>
                    <a:sym typeface="Calibri"/>
                  </a:rPr>
                  <a:t>This dynamic focus improves the model's ability to generate accurate and contextually relevant translations, especially for complex or lengthy sequences.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sets the foundation for understanding how attention mechanisms revolutionize Seq2Seq models by enabling them to handle more complex tasks with greater accuracy. It paves the way for exploring more advanced architectures like Transformers, which rely heavily on attention to achieve state-of-the-art performance in various natural language processing tasks.</a:t>
                </a:r>
              </a:p>
              <a:p>
                <a:pPr marL="0" lvl="0" indent="0" algn="l" rtl="0">
                  <a:lnSpc>
                    <a:spcPct val="100000"/>
                  </a:lnSpc>
                  <a:spcBef>
                    <a:spcPts val="0"/>
                  </a:spcBef>
                  <a:spcAft>
                    <a:spcPts val="0"/>
                  </a:spcAft>
                  <a:buSzPts val="1400"/>
                  <a:buNone/>
                </a:pPr>
                <a:endParaRPr dirty="0"/>
              </a:p>
            </p:txBody>
          </p:sp>
        </mc:Choice>
        <mc:Fallback>
          <p:sp>
            <p:nvSpPr>
              <p:cNvPr id="289" name="Google Shape;289;g2b8b5137f2c_0_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0" i="0" u="none" strike="noStrike" cap="none" dirty="0">
                    <a:solidFill>
                      <a:schemeClr val="dk1"/>
                    </a:solidFill>
                    <a:effectLst/>
                    <a:latin typeface="Calibri"/>
                    <a:ea typeface="Calibri"/>
                    <a:cs typeface="Calibri"/>
                    <a:sym typeface="Calibri"/>
                  </a:rPr>
                  <a:t>Attention mechanisms enhance the Seq2Seq model by providing a more flexible and dynamic way to use the information from the encoder, rather than relying solely on a static context vector.</a:t>
                </a:r>
              </a:p>
              <a:p>
                <a:r>
                  <a:rPr lang="en-US" sz="1200" b="1" i="0" u="none" strike="noStrike" cap="none" dirty="0">
                    <a:solidFill>
                      <a:schemeClr val="dk1"/>
                    </a:solidFill>
                    <a:effectLst/>
                    <a:latin typeface="Calibri"/>
                    <a:ea typeface="Calibri"/>
                    <a:cs typeface="Calibri"/>
                    <a:sym typeface="Calibri"/>
                  </a:rPr>
                  <a:t>Key Concepts: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Static Context Vector: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In the traditional setup without attention, the decoder uses the same static context vector </a:t>
                </a:r>
                <a:r>
                  <a:rPr lang="en-US" sz="1200" b="0" i="0" u="none" strike="noStrike" cap="none">
                    <a:solidFill>
                      <a:schemeClr val="dk1"/>
                    </a:solidFill>
                    <a:latin typeface="Calibri"/>
                    <a:ea typeface="Calibri"/>
                    <a:cs typeface="Calibri"/>
                    <a:sym typeface="Calibri"/>
                  </a:rPr>
                  <a:t>𝑐</a:t>
                </a:r>
                <a:r>
                  <a:rPr lang="en-US" sz="1200" b="0" i="0" u="none" strike="noStrike" cap="none" dirty="0">
                    <a:solidFill>
                      <a:schemeClr val="dk1"/>
                    </a:solidFill>
                    <a:effectLst/>
                    <a:latin typeface="Calibri"/>
                    <a:ea typeface="Calibri"/>
                    <a:cs typeface="Calibri"/>
                    <a:sym typeface="Calibri"/>
                  </a:rPr>
                  <a:t> for generating each word in the output sequence.</a:t>
                </a:r>
              </a:p>
              <a:p>
                <a:pPr lvl="1"/>
                <a:r>
                  <a:rPr lang="en-US" sz="1200" b="0" i="0" u="none" strike="noStrike" cap="none" dirty="0">
                    <a:solidFill>
                      <a:schemeClr val="dk1"/>
                    </a:solidFill>
                    <a:effectLst/>
                    <a:latin typeface="Calibri"/>
                    <a:ea typeface="Calibri"/>
                    <a:cs typeface="Calibri"/>
                    <a:sym typeface="Calibri"/>
                  </a:rPr>
                  <a:t>This vector is a fixed summary of all the encoder's hidden states, which can limit the model's ability to capture detailed information, especially for long sequences.</a:t>
                </a:r>
              </a:p>
              <a:p>
                <a:r>
                  <a:rPr lang="en-US" sz="1200" b="1" i="0" u="none" strike="noStrike" cap="none" dirty="0">
                    <a:solidFill>
                      <a:schemeClr val="dk1"/>
                    </a:solidFill>
                    <a:effectLst/>
                    <a:latin typeface="Calibri"/>
                    <a:ea typeface="Calibri"/>
                    <a:cs typeface="Calibri"/>
                    <a:sym typeface="Calibri"/>
                  </a:rPr>
                  <a:t>Attention Mechanism:</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Attention allows the decoder to access different parts of the encoder's hidden states dynamically, rather than relying on a single static vector.</a:t>
                </a:r>
              </a:p>
              <a:p>
                <a:pPr lvl="1"/>
                <a:r>
                  <a:rPr lang="en-US" sz="1200" b="0" i="0" u="none" strike="noStrike" cap="none" dirty="0">
                    <a:solidFill>
                      <a:schemeClr val="dk1"/>
                    </a:solidFill>
                    <a:effectLst/>
                    <a:latin typeface="Calibri"/>
                    <a:ea typeface="Calibri"/>
                    <a:cs typeface="Calibri"/>
                    <a:sym typeface="Calibri"/>
                  </a:rPr>
                  <a:t>For each output word </a:t>
                </a:r>
                <a:r>
                  <a:rPr lang="ar-AE" sz="1200" b="0" i="0" u="none" strike="noStrike" cap="none">
                    <a:solidFill>
                      <a:schemeClr val="dk1"/>
                    </a:solidFill>
                    <a:latin typeface="Calibri"/>
                    <a:ea typeface="Calibri"/>
                    <a:cs typeface="Calibri"/>
                    <a:sym typeface="Calibri"/>
                  </a:rPr>
                  <a:t>𝑦_𝑖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the decoder can focus on different parts of the input sequence, effectively creating a context that is tailored to the specific word being generated.</a:t>
                </a:r>
              </a:p>
              <a:p>
                <a:r>
                  <a:rPr lang="en-US" sz="1200" b="1" i="0" u="none" strike="noStrike" cap="none" dirty="0">
                    <a:solidFill>
                      <a:schemeClr val="dk1"/>
                    </a:solidFill>
                    <a:effectLst/>
                    <a:latin typeface="Calibri"/>
                    <a:ea typeface="Calibri"/>
                    <a:cs typeface="Calibri"/>
                    <a:sym typeface="Calibri"/>
                  </a:rPr>
                  <a:t>Decoder State Update: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equation </a:t>
                </a:r>
                <a:r>
                  <a:rPr lang="ar-AE" sz="1200" b="0" i="0" u="none" strike="noStrike" cap="none">
                    <a:solidFill>
                      <a:schemeClr val="dk1"/>
                    </a:solidFill>
                    <a:latin typeface="Calibri"/>
                    <a:ea typeface="Calibri"/>
                    <a:cs typeface="Calibri"/>
                    <a:sym typeface="Calibri"/>
                  </a:rPr>
                  <a:t>ℎ_𝑡^𝑑=𝑔(𝑦 ̂_(𝑡−1)ⓜ,ℎ_(𝑡−1)^𝑑ⓜ,𝑐)</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represents how the decoder's hidden state is updated at each time step.</a:t>
                </a:r>
              </a:p>
              <a:p>
                <a:pPr lvl="1"/>
                <a:r>
                  <a:rPr lang="en-US" sz="1200" b="0" i="0" u="none" strike="noStrike" cap="none" dirty="0">
                    <a:solidFill>
                      <a:schemeClr val="dk1"/>
                    </a:solidFill>
                    <a:effectLst/>
                    <a:latin typeface="Calibri"/>
                    <a:ea typeface="Calibri"/>
                    <a:cs typeface="Calibri"/>
                    <a:sym typeface="Calibri"/>
                  </a:rPr>
                  <a:t>Here, </a:t>
                </a:r>
                <a:r>
                  <a:rPr lang="en-US" sz="1200" b="0" i="0" u="none" strike="noStrike" cap="none">
                    <a:solidFill>
                      <a:schemeClr val="dk1"/>
                    </a:solidFill>
                    <a:latin typeface="Calibri"/>
                    <a:ea typeface="Calibri"/>
                    <a:cs typeface="Calibri"/>
                    <a:sym typeface="Calibri"/>
                  </a:rPr>
                  <a:t>𝑔</a:t>
                </a:r>
                <a:r>
                  <a:rPr lang="en-US" sz="1200" b="0" i="0" u="none" strike="noStrike" cap="none" dirty="0">
                    <a:solidFill>
                      <a:schemeClr val="dk1"/>
                    </a:solidFill>
                    <a:effectLst/>
                    <a:latin typeface="Calibri"/>
                    <a:ea typeface="Calibri"/>
                    <a:cs typeface="Calibri"/>
                    <a:sym typeface="Calibri"/>
                  </a:rPr>
                  <a:t> is a function that combines the previous output </a:t>
                </a:r>
                <a:r>
                  <a:rPr lang="ar-AE" sz="1200" b="0" i="0" u="none" strike="noStrike" cap="none">
                    <a:solidFill>
                      <a:schemeClr val="dk1"/>
                    </a:solidFill>
                    <a:latin typeface="Calibri"/>
                    <a:ea typeface="Calibri"/>
                    <a:cs typeface="Calibri"/>
                    <a:sym typeface="Calibri"/>
                  </a:rPr>
                  <a:t>𝑦 ̂_(𝑡−1)</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the previous hidden state </a:t>
                </a:r>
                <a:r>
                  <a:rPr lang="ar-AE" sz="1200" b="0" i="0" u="none" strike="noStrike" cap="none">
                    <a:solidFill>
                      <a:schemeClr val="dk1"/>
                    </a:solidFill>
                    <a:latin typeface="Calibri"/>
                    <a:ea typeface="Calibri"/>
                    <a:cs typeface="Calibri"/>
                    <a:sym typeface="Calibri"/>
                  </a:rPr>
                  <a:t>ℎ_(𝑡−1)^𝑑</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the context vector </a:t>
                </a:r>
                <a:r>
                  <a:rPr lang="en-US" sz="1200" b="0" i="0" u="none" strike="noStrike" cap="none">
                    <a:solidFill>
                      <a:schemeClr val="dk1"/>
                    </a:solidFill>
                    <a:latin typeface="Calibri"/>
                    <a:ea typeface="Calibri"/>
                    <a:cs typeface="Calibri"/>
                    <a:sym typeface="Calibri"/>
                  </a:rPr>
                  <a:t>𝑐</a:t>
                </a:r>
                <a:r>
                  <a:rPr lang="en-US" sz="1200" b="0" i="0" u="none" strike="noStrike" cap="none" dirty="0">
                    <a:solidFill>
                      <a:schemeClr val="dk1"/>
                    </a:solidFill>
                    <a:effectLst/>
                    <a:latin typeface="Calibri"/>
                    <a:ea typeface="Calibri"/>
                    <a:cs typeface="Calibri"/>
                    <a:sym typeface="Calibri"/>
                  </a:rPr>
                  <a:t> to produce the current hidden state </a:t>
                </a:r>
                <a:r>
                  <a:rPr lang="ar-AE" sz="1200" b="0" i="0" u="none" strike="noStrike" cap="none">
                    <a:solidFill>
                      <a:schemeClr val="dk1"/>
                    </a:solidFill>
                    <a:latin typeface="Calibri"/>
                    <a:ea typeface="Calibri"/>
                    <a:cs typeface="Calibri"/>
                    <a:sym typeface="Calibri"/>
                  </a:rPr>
                  <a:t>ℎ_𝑡^𝑑</a:t>
                </a:r>
                <a:r>
                  <a:rPr lang="ar-AE"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With attention, the context vector </a:t>
                </a:r>
                <a:r>
                  <a:rPr lang="en-US" sz="1200" b="0" i="0" u="none" strike="noStrike" cap="none">
                    <a:solidFill>
                      <a:schemeClr val="dk1"/>
                    </a:solidFill>
                    <a:latin typeface="Calibri"/>
                    <a:ea typeface="Calibri"/>
                    <a:cs typeface="Calibri"/>
                    <a:sym typeface="Calibri"/>
                  </a:rPr>
                  <a:t>𝑐</a:t>
                </a:r>
                <a:r>
                  <a:rPr lang="en-US" sz="1200" b="0" i="0" u="none" strike="noStrike" cap="none" dirty="0">
                    <a:solidFill>
                      <a:schemeClr val="dk1"/>
                    </a:solidFill>
                    <a:effectLst/>
                    <a:latin typeface="Calibri"/>
                    <a:ea typeface="Calibri"/>
                    <a:cs typeface="Calibri"/>
                    <a:sym typeface="Calibri"/>
                  </a:rPr>
                  <a:t> can be dynamically adjusted for each time step, allowing the model to focus on the most relevant parts of the input sequence.</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Attention mechanisms provide a way to overcome the bottleneck problem by allowing the decoder to access a richer set of information from the encoder.</a:t>
                </a:r>
              </a:p>
              <a:p>
                <a:r>
                  <a:rPr lang="en-US" sz="1200" b="0" i="0" u="none" strike="noStrike" cap="none" dirty="0">
                    <a:solidFill>
                      <a:schemeClr val="dk1"/>
                    </a:solidFill>
                    <a:effectLst/>
                    <a:latin typeface="Calibri"/>
                    <a:ea typeface="Calibri"/>
                    <a:cs typeface="Calibri"/>
                    <a:sym typeface="Calibri"/>
                  </a:rPr>
                  <a:t>This dynamic focus improves the model's ability to generate accurate and contextually relevant translations, especially for complex or lengthy sequences.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sets the foundation for understanding how attention mechanisms revolutionize Seq2Seq models by enabling them to handle more complex tasks with greater accuracy. It paves the way for exploring more advanced architectures like Transformers, which rely heavily on attention to achieve state-of-the-art performance in various natural language processing tasks.</a:t>
                </a:r>
              </a:p>
              <a:p>
                <a:pPr marL="0" lvl="0" indent="0" algn="l" rtl="0">
                  <a:lnSpc>
                    <a:spcPct val="100000"/>
                  </a:lnSpc>
                  <a:spcBef>
                    <a:spcPts val="0"/>
                  </a:spcBef>
                  <a:spcAft>
                    <a:spcPts val="0"/>
                  </a:spcAft>
                  <a:buSzPts val="1400"/>
                  <a:buNone/>
                </a:pPr>
                <a:endParaRPr dirty="0"/>
              </a:p>
            </p:txBody>
          </p:sp>
        </mc:Fallback>
      </mc:AlternateContent>
      <p:sp>
        <p:nvSpPr>
          <p:cNvPr id="290" name="Google Shape;290;g2b8b5137f2c_0_6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2b8b5137f2c_0_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299" name="Google Shape;299;g2b8b5137f2c_0_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0" i="0" u="none" strike="noStrike" cap="none" dirty="0">
                    <a:solidFill>
                      <a:schemeClr val="dk1"/>
                    </a:solidFill>
                    <a:effectLst/>
                    <a:latin typeface="Calibri"/>
                    <a:ea typeface="Calibri"/>
                    <a:cs typeface="Calibri"/>
                    <a:sym typeface="Calibri"/>
                  </a:rPr>
                  <a:t>The slide contrasts two scenarios: one without attention and one with attention, using a sentence with potential ambiguity to demonstrate the benefits of attention.</a:t>
                </a:r>
              </a:p>
              <a:p>
                <a:r>
                  <a:rPr lang="en-US" sz="1200" b="1" i="0" u="none" strike="noStrike" cap="none" dirty="0">
                    <a:solidFill>
                      <a:schemeClr val="dk1"/>
                    </a:solidFill>
                    <a:effectLst/>
                    <a:latin typeface="Calibri"/>
                    <a:ea typeface="Calibri"/>
                    <a:cs typeface="Calibri"/>
                    <a:sym typeface="Calibri"/>
                  </a:rPr>
                  <a:t>Without Attention: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Static Context Vector: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decoder uses the same static context vector </a:t>
                </a:r>
                <a14:m>
                  <m:oMath xmlns:m="http://schemas.openxmlformats.org/officeDocument/2006/math">
                    <m:r>
                      <a:rPr lang="en-US" sz="1200" b="0" i="1" u="none" strike="noStrike" cap="none">
                        <a:solidFill>
                          <a:schemeClr val="dk1"/>
                        </a:solidFill>
                        <a:latin typeface="Calibri"/>
                        <a:ea typeface="Calibri"/>
                        <a:cs typeface="Calibri"/>
                        <a:sym typeface="Calibri"/>
                      </a:rPr>
                      <m:t>𝑐</m:t>
                    </m:r>
                  </m:oMath>
                </a14:m>
                <a:r>
                  <a:rPr lang="en-US" sz="1200" b="0" i="0" u="none" strike="noStrike" cap="none" dirty="0">
                    <a:solidFill>
                      <a:schemeClr val="dk1"/>
                    </a:solidFill>
                    <a:effectLst/>
                    <a:latin typeface="Calibri"/>
                    <a:ea typeface="Calibri"/>
                    <a:cs typeface="Calibri"/>
                    <a:sym typeface="Calibri"/>
                  </a:rPr>
                  <a:t> for generating each word in the output sequence.</a:t>
                </a:r>
              </a:p>
              <a:p>
                <a:pPr lvl="1"/>
                <a:r>
                  <a:rPr lang="en-US" sz="1200" b="0" i="0" u="none" strike="noStrike" cap="none" dirty="0">
                    <a:solidFill>
                      <a:schemeClr val="dk1"/>
                    </a:solidFill>
                    <a:effectLst/>
                    <a:latin typeface="Calibri"/>
                    <a:ea typeface="Calibri"/>
                    <a:cs typeface="Calibri"/>
                    <a:sym typeface="Calibri"/>
                  </a:rPr>
                  <a:t>This approach can struggle with sentences that have ambiguous or context-dependent meanings, as it cannot dynamically adjust its focus based on the specific word being generated.</a:t>
                </a:r>
              </a:p>
              <a:p>
                <a:r>
                  <a:rPr lang="en-US" sz="1200" b="1" i="0" u="none" strike="noStrike" cap="none" dirty="0">
                    <a:solidFill>
                      <a:schemeClr val="dk1"/>
                    </a:solidFill>
                    <a:effectLst/>
                    <a:latin typeface="Calibri"/>
                    <a:ea typeface="Calibri"/>
                    <a:cs typeface="Calibri"/>
                    <a:sym typeface="Calibri"/>
                  </a:rPr>
                  <a:t>Example Sentence: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Consider the sentence: "He went to the bank to find his bank account was empty and then he went to the river bank and cried."</a:t>
                </a:r>
              </a:p>
              <a:p>
                <a:pPr lvl="1"/>
                <a:r>
                  <a:rPr lang="en-US" sz="1200" b="0" i="0" u="none" strike="noStrike" cap="none" dirty="0">
                    <a:solidFill>
                      <a:schemeClr val="dk1"/>
                    </a:solidFill>
                    <a:effectLst/>
                    <a:latin typeface="Calibri"/>
                    <a:ea typeface="Calibri"/>
                    <a:cs typeface="Calibri"/>
                    <a:sym typeface="Calibri"/>
                  </a:rPr>
                  <a:t>Without attention, the model might have difficulty distinguishing between the two meanings of "bank" (financial institution vs. riverbank) because it relies on a single, unchanging context vector.</a:t>
                </a:r>
              </a:p>
              <a:p>
                <a:r>
                  <a:rPr lang="en-US" sz="1200" b="1" i="0" u="none" strike="noStrike" cap="none" dirty="0">
                    <a:solidFill>
                      <a:schemeClr val="dk1"/>
                    </a:solidFill>
                    <a:effectLst/>
                    <a:latin typeface="Calibri"/>
                    <a:ea typeface="Calibri"/>
                    <a:cs typeface="Calibri"/>
                    <a:sym typeface="Calibri"/>
                  </a:rPr>
                  <a:t>With Attention: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Dynamic Context Vector: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With attention, the decoder can use a different context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𝑐</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for each word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allowing it to focus on the most relevant parts of the input sequence.</a:t>
                </a:r>
              </a:p>
              <a:p>
                <a:pPr lvl="1"/>
                <a:r>
                  <a:rPr lang="en-US" sz="1200" b="0" i="0" u="none" strike="noStrike" cap="none" dirty="0">
                    <a:solidFill>
                      <a:schemeClr val="dk1"/>
                    </a:solidFill>
                    <a:effectLst/>
                    <a:latin typeface="Calibri"/>
                    <a:ea typeface="Calibri"/>
                    <a:cs typeface="Calibri"/>
                    <a:sym typeface="Calibri"/>
                  </a:rPr>
                  <a:t>This dynamic adjustment helps the model resolve ambiguities and generate more accurate translations.</a:t>
                </a:r>
              </a:p>
              <a:p>
                <a:r>
                  <a:rPr lang="en-US" sz="1200" b="1" i="0" u="none" strike="noStrike" cap="none" dirty="0">
                    <a:solidFill>
                      <a:schemeClr val="dk1"/>
                    </a:solidFill>
                    <a:effectLst/>
                    <a:latin typeface="Calibri"/>
                    <a:ea typeface="Calibri"/>
                    <a:cs typeface="Calibri"/>
                    <a:sym typeface="Calibri"/>
                  </a:rPr>
                  <a:t>Example Sentence: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In the same sentence, attention allows the model to focus on the appropriate parts of the input when generating each word. For instance, when generating the word "bank" in the context of "river bank," the model can focus on the surrounding words that indicate the geographical meaning.</a:t>
                </a:r>
              </a:p>
              <a:p>
                <a:r>
                  <a:rPr lang="en-US" sz="1200" b="1" i="0" u="none" strike="noStrike" cap="none" dirty="0">
                    <a:solidFill>
                      <a:schemeClr val="dk1"/>
                    </a:solidFill>
                    <a:effectLst/>
                    <a:latin typeface="Calibri"/>
                    <a:ea typeface="Calibri"/>
                    <a:cs typeface="Calibri"/>
                    <a:sym typeface="Calibri"/>
                  </a:rPr>
                  <a:t>Decoder State Update: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equation </a:t>
                </a:r>
                <a14:m>
                  <m:oMath xmlns:m="http://schemas.openxmlformats.org/officeDocument/2006/math">
                    <m:sSubSup>
                      <m:sSubSupPr>
                        <m:ctrlPr>
                          <a:rPr lang="ar-AE" sz="1200" b="0" i="0"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𝑖</m:t>
                        </m:r>
                      </m:sub>
                      <m:sup>
                        <m:r>
                          <a:rPr lang="ar-AE" sz="1200" b="0" i="1" u="none" strike="noStrike" cap="none">
                            <a:solidFill>
                              <a:schemeClr val="dk1"/>
                            </a:solidFill>
                            <a:latin typeface="Calibri"/>
                            <a:ea typeface="Calibri"/>
                            <a:cs typeface="Calibri"/>
                            <a:sym typeface="Calibri"/>
                          </a:rPr>
                          <m:t>𝑑</m:t>
                        </m:r>
                      </m:sup>
                    </m:sSubSup>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𝑔</m:t>
                    </m:r>
                    <m:d>
                      <m:dPr>
                        <m:sepChr m:val=","/>
                        <m:ctrlPr>
                          <a:rPr lang="ar-AE" sz="1200" b="0" i="1" u="none" strike="noStrike" cap="none">
                            <a:solidFill>
                              <a:schemeClr val="dk1"/>
                            </a:solidFill>
                            <a:latin typeface="Calibri"/>
                            <a:ea typeface="Calibri"/>
                            <a:cs typeface="Calibri"/>
                            <a:sym typeface="Calibri"/>
                          </a:rPr>
                        </m:ctrlPr>
                      </m:dPr>
                      <m:e>
                        <m:sSub>
                          <m:sSubPr>
                            <m:ctrlPr>
                              <a:rPr lang="ar-AE" sz="1200" b="0" i="1" u="none" strike="noStrike" cap="none">
                                <a:solidFill>
                                  <a:schemeClr val="dk1"/>
                                </a:solidFill>
                                <a:latin typeface="Calibri"/>
                                <a:ea typeface="Calibri"/>
                                <a:cs typeface="Calibri"/>
                                <a:sym typeface="Calibri"/>
                              </a:rPr>
                            </m:ctrlPr>
                          </m:sSubPr>
                          <m:e>
                            <m:acc>
                              <m:accPr>
                                <m:chr m:val="̂"/>
                                <m:ctrlPr>
                                  <a:rPr lang="ar-AE" sz="1200" b="0" i="1" u="none" strike="noStrike" cap="none">
                                    <a:solidFill>
                                      <a:schemeClr val="dk1"/>
                                    </a:solidFill>
                                    <a:latin typeface="Calibri"/>
                                    <a:ea typeface="Calibri"/>
                                    <a:cs typeface="Calibri"/>
                                    <a:sym typeface="Calibri"/>
                                  </a:rPr>
                                </m:ctrlPr>
                              </m:accPr>
                              <m:e>
                                <m:r>
                                  <a:rPr lang="ar-AE" sz="1200" b="0" i="1" u="none" strike="noStrike" cap="none">
                                    <a:solidFill>
                                      <a:schemeClr val="dk1"/>
                                    </a:solidFill>
                                    <a:latin typeface="Calibri"/>
                                    <a:ea typeface="Calibri"/>
                                    <a:cs typeface="Calibri"/>
                                    <a:sym typeface="Calibri"/>
                                  </a:rPr>
                                  <m:t>𝑦</m:t>
                                </m:r>
                              </m:e>
                            </m:acc>
                          </m:e>
                          <m:sub>
                            <m:r>
                              <a:rPr lang="ar-AE" sz="1200" b="0" i="1" u="none" strike="noStrike" cap="none">
                                <a:solidFill>
                                  <a:schemeClr val="dk1"/>
                                </a:solidFill>
                                <a:latin typeface="Calibri"/>
                                <a:ea typeface="Calibri"/>
                                <a:cs typeface="Calibri"/>
                                <a:sym typeface="Calibri"/>
                              </a:rPr>
                              <m:t>𝑖</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Sub>
                      </m:e>
                      <m:e>
                        <m:sSubSup>
                          <m:sSubSupPr>
                            <m:ctrlPr>
                              <a:rPr lang="ar-AE" sz="1200" b="0" i="1"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𝑖</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up>
                            <m:r>
                              <a:rPr lang="ar-AE" sz="1200" b="0" i="1" u="none" strike="noStrike" cap="none">
                                <a:solidFill>
                                  <a:schemeClr val="dk1"/>
                                </a:solidFill>
                                <a:latin typeface="Calibri"/>
                                <a:ea typeface="Calibri"/>
                                <a:cs typeface="Calibri"/>
                                <a:sym typeface="Calibri"/>
                              </a:rPr>
                              <m:t>𝑑</m:t>
                            </m:r>
                          </m:sup>
                        </m:sSubSup>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𝑐</m:t>
                            </m:r>
                          </m:e>
                          <m:sub>
                            <m:r>
                              <a:rPr lang="ar-AE" sz="1200" b="0" i="1" u="none" strike="noStrike" cap="none">
                                <a:solidFill>
                                  <a:schemeClr val="dk1"/>
                                </a:solidFill>
                                <a:latin typeface="Calibri"/>
                                <a:ea typeface="Calibri"/>
                                <a:cs typeface="Calibri"/>
                                <a:sym typeface="Calibri"/>
                              </a:rPr>
                              <m:t>𝑖</m:t>
                            </m:r>
                          </m:sub>
                        </m:sSub>
                      </m:e>
                    </m:d>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shows how the decoder's hidden state is updated using a dynamic context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𝑐</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which is tailored to each word being generated.</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Attention mechanisms enable the model to dynamically adjust its focus, improving its ability to handle complex sentences with multiple meanings or dependencies.</a:t>
                </a:r>
              </a:p>
              <a:p>
                <a:r>
                  <a:rPr lang="en-US" sz="1200" b="0" i="0" u="none" strike="noStrike" cap="none" dirty="0">
                    <a:solidFill>
                      <a:schemeClr val="dk1"/>
                    </a:solidFill>
                    <a:effectLst/>
                    <a:latin typeface="Calibri"/>
                    <a:ea typeface="Calibri"/>
                    <a:cs typeface="Calibri"/>
                    <a:sym typeface="Calibri"/>
                  </a:rPr>
                  <a:t>This flexibility is crucial for generating accurate and contextually appropriate translations, especially in languages with rich semantic structures.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effectively demonstrates how attention mechanisms enhance the Seq2Seq model's capabilities by allowing it to dynamically focus on relevant parts of the input sequence. This sets the stage for understanding how transformers, which rely heavily on attention, achieve state-of-the-art performance in various natural language processing tasks.</a:t>
                </a:r>
              </a:p>
              <a:p>
                <a:pPr marL="0" lvl="0" indent="0" algn="l" rtl="0">
                  <a:lnSpc>
                    <a:spcPct val="100000"/>
                  </a:lnSpc>
                  <a:spcBef>
                    <a:spcPts val="0"/>
                  </a:spcBef>
                  <a:spcAft>
                    <a:spcPts val="0"/>
                  </a:spcAft>
                  <a:buSzPts val="1400"/>
                  <a:buNone/>
                </a:pPr>
                <a:endParaRPr dirty="0"/>
              </a:p>
            </p:txBody>
          </p:sp>
        </mc:Choice>
        <mc:Fallback>
          <p:sp>
            <p:nvSpPr>
              <p:cNvPr id="299" name="Google Shape;299;g2b8b5137f2c_0_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0" i="0" u="none" strike="noStrike" cap="none" dirty="0">
                    <a:solidFill>
                      <a:schemeClr val="dk1"/>
                    </a:solidFill>
                    <a:effectLst/>
                    <a:latin typeface="Calibri"/>
                    <a:ea typeface="Calibri"/>
                    <a:cs typeface="Calibri"/>
                    <a:sym typeface="Calibri"/>
                  </a:rPr>
                  <a:t>The slide contrasts two scenarios: one without attention and one with attention, using a sentence with potential ambiguity to demonstrate the benefits of attention.</a:t>
                </a:r>
              </a:p>
              <a:p>
                <a:r>
                  <a:rPr lang="en-US" sz="1200" b="1" i="0" u="none" strike="noStrike" cap="none" dirty="0">
                    <a:solidFill>
                      <a:schemeClr val="dk1"/>
                    </a:solidFill>
                    <a:effectLst/>
                    <a:latin typeface="Calibri"/>
                    <a:ea typeface="Calibri"/>
                    <a:cs typeface="Calibri"/>
                    <a:sym typeface="Calibri"/>
                  </a:rPr>
                  <a:t>Without Attention: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Static Context Vector: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decoder uses the same static context vector </a:t>
                </a:r>
                <a:r>
                  <a:rPr lang="en-US" sz="1200" b="0" i="0" u="none" strike="noStrike" cap="none">
                    <a:solidFill>
                      <a:schemeClr val="dk1"/>
                    </a:solidFill>
                    <a:latin typeface="Calibri"/>
                    <a:ea typeface="Calibri"/>
                    <a:cs typeface="Calibri"/>
                    <a:sym typeface="Calibri"/>
                  </a:rPr>
                  <a:t>𝑐</a:t>
                </a:r>
                <a:r>
                  <a:rPr lang="en-US" sz="1200" b="0" i="0" u="none" strike="noStrike" cap="none" dirty="0">
                    <a:solidFill>
                      <a:schemeClr val="dk1"/>
                    </a:solidFill>
                    <a:effectLst/>
                    <a:latin typeface="Calibri"/>
                    <a:ea typeface="Calibri"/>
                    <a:cs typeface="Calibri"/>
                    <a:sym typeface="Calibri"/>
                  </a:rPr>
                  <a:t> for generating each word in the output sequence.</a:t>
                </a:r>
              </a:p>
              <a:p>
                <a:pPr lvl="1"/>
                <a:r>
                  <a:rPr lang="en-US" sz="1200" b="0" i="0" u="none" strike="noStrike" cap="none" dirty="0">
                    <a:solidFill>
                      <a:schemeClr val="dk1"/>
                    </a:solidFill>
                    <a:effectLst/>
                    <a:latin typeface="Calibri"/>
                    <a:ea typeface="Calibri"/>
                    <a:cs typeface="Calibri"/>
                    <a:sym typeface="Calibri"/>
                  </a:rPr>
                  <a:t>This approach can struggle with sentences that have ambiguous or context-dependent meanings, as it cannot dynamically adjust its focus based on the specific word being generated.</a:t>
                </a:r>
              </a:p>
              <a:p>
                <a:r>
                  <a:rPr lang="en-US" sz="1200" b="1" i="0" u="none" strike="noStrike" cap="none" dirty="0">
                    <a:solidFill>
                      <a:schemeClr val="dk1"/>
                    </a:solidFill>
                    <a:effectLst/>
                    <a:latin typeface="Calibri"/>
                    <a:ea typeface="Calibri"/>
                    <a:cs typeface="Calibri"/>
                    <a:sym typeface="Calibri"/>
                  </a:rPr>
                  <a:t>Example Sentence: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Consider the sentence: "He went to the bank to find his bank account was empty and then he went to the river bank and cried."</a:t>
                </a:r>
              </a:p>
              <a:p>
                <a:pPr lvl="1"/>
                <a:r>
                  <a:rPr lang="en-US" sz="1200" b="0" i="0" u="none" strike="noStrike" cap="none" dirty="0">
                    <a:solidFill>
                      <a:schemeClr val="dk1"/>
                    </a:solidFill>
                    <a:effectLst/>
                    <a:latin typeface="Calibri"/>
                    <a:ea typeface="Calibri"/>
                    <a:cs typeface="Calibri"/>
                    <a:sym typeface="Calibri"/>
                  </a:rPr>
                  <a:t>Without attention, the model might have difficulty distinguishing between the two meanings of "bank" (financial institution vs. riverbank) because it relies on a single, unchanging context vector.</a:t>
                </a:r>
              </a:p>
              <a:p>
                <a:r>
                  <a:rPr lang="en-US" sz="1200" b="1" i="0" u="none" strike="noStrike" cap="none" dirty="0">
                    <a:solidFill>
                      <a:schemeClr val="dk1"/>
                    </a:solidFill>
                    <a:effectLst/>
                    <a:latin typeface="Calibri"/>
                    <a:ea typeface="Calibri"/>
                    <a:cs typeface="Calibri"/>
                    <a:sym typeface="Calibri"/>
                  </a:rPr>
                  <a:t>With Attention: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Dynamic Context Vector: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With attention, the decoder can use a different context vector </a:t>
                </a:r>
                <a:r>
                  <a:rPr lang="ar-AE" sz="1200" b="0" i="0" u="none" strike="noStrike" cap="none">
                    <a:solidFill>
                      <a:schemeClr val="dk1"/>
                    </a:solidFill>
                    <a:latin typeface="Calibri"/>
                    <a:ea typeface="Calibri"/>
                    <a:cs typeface="Calibri"/>
                    <a:sym typeface="Calibri"/>
                  </a:rPr>
                  <a:t>𝑐_𝑖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for each word </a:t>
                </a:r>
                <a:r>
                  <a:rPr lang="ar-AE" sz="1200" b="0" i="0" u="none" strike="noStrike" cap="none">
                    <a:solidFill>
                      <a:schemeClr val="dk1"/>
                    </a:solidFill>
                    <a:latin typeface="Calibri"/>
                    <a:ea typeface="Calibri"/>
                    <a:cs typeface="Calibri"/>
                    <a:sym typeface="Calibri"/>
                  </a:rPr>
                  <a:t>𝑦_𝑖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allowing it to focus on the most relevant parts of the input sequence.</a:t>
                </a:r>
              </a:p>
              <a:p>
                <a:pPr lvl="1"/>
                <a:r>
                  <a:rPr lang="en-US" sz="1200" b="0" i="0" u="none" strike="noStrike" cap="none" dirty="0">
                    <a:solidFill>
                      <a:schemeClr val="dk1"/>
                    </a:solidFill>
                    <a:effectLst/>
                    <a:latin typeface="Calibri"/>
                    <a:ea typeface="Calibri"/>
                    <a:cs typeface="Calibri"/>
                    <a:sym typeface="Calibri"/>
                  </a:rPr>
                  <a:t>This dynamic adjustment helps the model resolve ambiguities and generate more accurate translations.</a:t>
                </a:r>
              </a:p>
              <a:p>
                <a:r>
                  <a:rPr lang="en-US" sz="1200" b="1" i="0" u="none" strike="noStrike" cap="none" dirty="0">
                    <a:solidFill>
                      <a:schemeClr val="dk1"/>
                    </a:solidFill>
                    <a:effectLst/>
                    <a:latin typeface="Calibri"/>
                    <a:ea typeface="Calibri"/>
                    <a:cs typeface="Calibri"/>
                    <a:sym typeface="Calibri"/>
                  </a:rPr>
                  <a:t>Example Sentence: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In the same sentence, attention allows the model to focus on the appropriate parts of the input when generating each word. For instance, when generating the word "bank" in the context of "river bank," the model can focus on the surrounding words that indicate the geographical meaning.</a:t>
                </a:r>
              </a:p>
              <a:p>
                <a:r>
                  <a:rPr lang="en-US" sz="1200" b="1" i="0" u="none" strike="noStrike" cap="none" dirty="0">
                    <a:solidFill>
                      <a:schemeClr val="dk1"/>
                    </a:solidFill>
                    <a:effectLst/>
                    <a:latin typeface="Calibri"/>
                    <a:ea typeface="Calibri"/>
                    <a:cs typeface="Calibri"/>
                    <a:sym typeface="Calibri"/>
                  </a:rPr>
                  <a:t>Decoder State Update: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equation </a:t>
                </a:r>
                <a:r>
                  <a:rPr lang="ar-AE" sz="1200" b="0" i="0" u="none" strike="noStrike" cap="none">
                    <a:solidFill>
                      <a:schemeClr val="dk1"/>
                    </a:solidFill>
                    <a:latin typeface="Calibri"/>
                    <a:ea typeface="Calibri"/>
                    <a:cs typeface="Calibri"/>
                    <a:sym typeface="Calibri"/>
                  </a:rPr>
                  <a:t>ℎ_𝑖^𝑑=𝑔(𝑦 ̂_(𝑖−1)ⓜ,ℎ_(𝑖−1)^𝑑ⓜ,𝑐_𝑖 )</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shows how the decoder's hidden state is updated using a dynamic context vector </a:t>
                </a:r>
                <a:r>
                  <a:rPr lang="ar-AE" sz="1200" b="0" i="0" u="none" strike="noStrike" cap="none">
                    <a:solidFill>
                      <a:schemeClr val="dk1"/>
                    </a:solidFill>
                    <a:latin typeface="Calibri"/>
                    <a:ea typeface="Calibri"/>
                    <a:cs typeface="Calibri"/>
                    <a:sym typeface="Calibri"/>
                  </a:rPr>
                  <a:t>𝑐_𝑖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which is tailored to each word being generated.</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Attention mechanisms enable the model to dynamically adjust its focus, improving its ability to handle complex sentences with multiple meanings or dependencies.</a:t>
                </a:r>
              </a:p>
              <a:p>
                <a:r>
                  <a:rPr lang="en-US" sz="1200" b="0" i="0" u="none" strike="noStrike" cap="none" dirty="0">
                    <a:solidFill>
                      <a:schemeClr val="dk1"/>
                    </a:solidFill>
                    <a:effectLst/>
                    <a:latin typeface="Calibri"/>
                    <a:ea typeface="Calibri"/>
                    <a:cs typeface="Calibri"/>
                    <a:sym typeface="Calibri"/>
                  </a:rPr>
                  <a:t>This flexibility is crucial for generating accurate and contextually appropriate translations, especially in languages with rich semantic structures.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effectively demonstrates how attention mechanisms enhance the Seq2Seq model's capabilities by allowing it to dynamically focus on relevant parts of the input sequence. This sets the stage for understanding how transformers, which rely heavily on attention, achieve state-of-the-art performance in various natural language processing tasks.</a:t>
                </a:r>
              </a:p>
              <a:p>
                <a:pPr marL="0" lvl="0" indent="0" algn="l" rtl="0">
                  <a:lnSpc>
                    <a:spcPct val="100000"/>
                  </a:lnSpc>
                  <a:spcBef>
                    <a:spcPts val="0"/>
                  </a:spcBef>
                  <a:spcAft>
                    <a:spcPts val="0"/>
                  </a:spcAft>
                  <a:buSzPts val="1400"/>
                  <a:buNone/>
                </a:pPr>
                <a:endParaRPr dirty="0"/>
              </a:p>
            </p:txBody>
          </p:sp>
        </mc:Fallback>
      </mc:AlternateContent>
      <p:sp>
        <p:nvSpPr>
          <p:cNvPr id="300" name="Google Shape;300;g2b8b5137f2c_0_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b8b5137f2c_0_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314" name="Google Shape;314;g2b8b5137f2c_0_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Slide Explanation:</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slide contrasts the traditional static context approach with the dynamic context provided by attention, emphasizing how attention improves the model's ability to generate accurate translations.</a:t>
                </a:r>
              </a:p>
              <a:p>
                <a:r>
                  <a:rPr lang="en-US" sz="1200" b="1" i="0" u="none" strike="noStrike" cap="none" dirty="0">
                    <a:solidFill>
                      <a:schemeClr val="dk1"/>
                    </a:solidFill>
                    <a:effectLst/>
                    <a:latin typeface="Calibri"/>
                    <a:ea typeface="Calibri"/>
                    <a:cs typeface="Calibri"/>
                    <a:sym typeface="Calibri"/>
                  </a:rPr>
                  <a:t>Without Attention: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Static Context Vector: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decoder uses a single, static context vector </a:t>
                </a:r>
                <a14:m>
                  <m:oMath xmlns:m="http://schemas.openxmlformats.org/officeDocument/2006/math">
                    <m:r>
                      <a:rPr lang="en-US" sz="1200" b="0" i="1" u="none" strike="noStrike" cap="none">
                        <a:solidFill>
                          <a:schemeClr val="dk1"/>
                        </a:solidFill>
                        <a:latin typeface="Calibri"/>
                        <a:ea typeface="Calibri"/>
                        <a:cs typeface="Calibri"/>
                        <a:sym typeface="Calibri"/>
                      </a:rPr>
                      <m:t>𝑐</m:t>
                    </m:r>
                  </m:oMath>
                </a14:m>
                <a:r>
                  <a:rPr lang="en-US" sz="1200" b="0" i="0" u="none" strike="noStrike" cap="none" dirty="0">
                    <a:solidFill>
                      <a:schemeClr val="dk1"/>
                    </a:solidFill>
                    <a:effectLst/>
                    <a:latin typeface="Calibri"/>
                    <a:ea typeface="Calibri"/>
                    <a:cs typeface="Calibri"/>
                    <a:sym typeface="Calibri"/>
                  </a:rPr>
                  <a:t> for generating each word in the output sequence.</a:t>
                </a:r>
              </a:p>
              <a:p>
                <a:pPr lvl="1"/>
                <a:r>
                  <a:rPr lang="en-US" sz="1200" b="0" i="0" u="none" strike="noStrike" cap="none" dirty="0">
                    <a:solidFill>
                      <a:schemeClr val="dk1"/>
                    </a:solidFill>
                    <a:effectLst/>
                    <a:latin typeface="Calibri"/>
                    <a:ea typeface="Calibri"/>
                    <a:cs typeface="Calibri"/>
                    <a:sym typeface="Calibri"/>
                  </a:rPr>
                  <a:t>This vector is a fixed summary of all the encoder's hidden states, which can limit the model's ability to capture detailed information.</a:t>
                </a:r>
              </a:p>
              <a:p>
                <a:r>
                  <a:rPr lang="en-US" sz="1200" b="1" i="0" u="none" strike="noStrike" cap="none" dirty="0">
                    <a:solidFill>
                      <a:schemeClr val="dk1"/>
                    </a:solidFill>
                    <a:effectLst/>
                    <a:latin typeface="Calibri"/>
                    <a:ea typeface="Calibri"/>
                    <a:cs typeface="Calibri"/>
                    <a:sym typeface="Calibri"/>
                  </a:rPr>
                  <a:t>Decoder State Update: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equation </a:t>
                </a:r>
                <a14:m>
                  <m:oMath xmlns:m="http://schemas.openxmlformats.org/officeDocument/2006/math">
                    <m:sSubSup>
                      <m:sSubSupPr>
                        <m:ctrlPr>
                          <a:rPr lang="ar-AE" sz="1200" b="0" i="0"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𝑡</m:t>
                        </m:r>
                      </m:sub>
                      <m:sup>
                        <m:r>
                          <a:rPr lang="ar-AE" sz="1200" b="0" i="1" u="none" strike="noStrike" cap="none">
                            <a:solidFill>
                              <a:schemeClr val="dk1"/>
                            </a:solidFill>
                            <a:latin typeface="Calibri"/>
                            <a:ea typeface="Calibri"/>
                            <a:cs typeface="Calibri"/>
                            <a:sym typeface="Calibri"/>
                          </a:rPr>
                          <m:t>𝑑</m:t>
                        </m:r>
                      </m:sup>
                    </m:sSubSup>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𝑔</m:t>
                    </m:r>
                    <m:d>
                      <m:dPr>
                        <m:sepChr m:val=","/>
                        <m:ctrlPr>
                          <a:rPr lang="ar-AE" sz="1200" b="0" i="1" u="none" strike="noStrike" cap="none">
                            <a:solidFill>
                              <a:schemeClr val="dk1"/>
                            </a:solidFill>
                            <a:latin typeface="Calibri"/>
                            <a:ea typeface="Calibri"/>
                            <a:cs typeface="Calibri"/>
                            <a:sym typeface="Calibri"/>
                          </a:rPr>
                        </m:ctrlPr>
                      </m:dPr>
                      <m:e>
                        <m:sSub>
                          <m:sSubPr>
                            <m:ctrlPr>
                              <a:rPr lang="ar-AE" sz="1200" b="0" i="1" u="none" strike="noStrike" cap="none">
                                <a:solidFill>
                                  <a:schemeClr val="dk1"/>
                                </a:solidFill>
                                <a:latin typeface="Calibri"/>
                                <a:ea typeface="Calibri"/>
                                <a:cs typeface="Calibri"/>
                                <a:sym typeface="Calibri"/>
                              </a:rPr>
                            </m:ctrlPr>
                          </m:sSubPr>
                          <m:e>
                            <m:acc>
                              <m:accPr>
                                <m:chr m:val="̂"/>
                                <m:ctrlPr>
                                  <a:rPr lang="ar-AE" sz="1200" b="0" i="1" u="none" strike="noStrike" cap="none">
                                    <a:solidFill>
                                      <a:schemeClr val="dk1"/>
                                    </a:solidFill>
                                    <a:latin typeface="Calibri"/>
                                    <a:ea typeface="Calibri"/>
                                    <a:cs typeface="Calibri"/>
                                    <a:sym typeface="Calibri"/>
                                  </a:rPr>
                                </m:ctrlPr>
                              </m:accPr>
                              <m:e>
                                <m:r>
                                  <a:rPr lang="ar-AE" sz="1200" b="0" i="1" u="none" strike="noStrike" cap="none">
                                    <a:solidFill>
                                      <a:schemeClr val="dk1"/>
                                    </a:solidFill>
                                    <a:latin typeface="Calibri"/>
                                    <a:ea typeface="Calibri"/>
                                    <a:cs typeface="Calibri"/>
                                    <a:sym typeface="Calibri"/>
                                  </a:rPr>
                                  <m:t>𝑦</m:t>
                                </m:r>
                              </m:e>
                            </m:acc>
                          </m:e>
                          <m:sub>
                            <m:r>
                              <a:rPr lang="ar-AE" sz="1200" b="0" i="1" u="none" strike="noStrike" cap="none">
                                <a:solidFill>
                                  <a:schemeClr val="dk1"/>
                                </a:solidFill>
                                <a:latin typeface="Calibri"/>
                                <a:ea typeface="Calibri"/>
                                <a:cs typeface="Calibri"/>
                                <a:sym typeface="Calibri"/>
                              </a:rPr>
                              <m:t>𝑡</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Sub>
                      </m:e>
                      <m:e>
                        <m:sSubSup>
                          <m:sSubSupPr>
                            <m:ctrlPr>
                              <a:rPr lang="ar-AE" sz="1200" b="0" i="1"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𝑡</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up>
                            <m:r>
                              <a:rPr lang="ar-AE" sz="1200" b="0" i="1" u="none" strike="noStrike" cap="none">
                                <a:solidFill>
                                  <a:schemeClr val="dk1"/>
                                </a:solidFill>
                                <a:latin typeface="Calibri"/>
                                <a:ea typeface="Calibri"/>
                                <a:cs typeface="Calibri"/>
                                <a:sym typeface="Calibri"/>
                              </a:rPr>
                              <m:t>𝑑</m:t>
                            </m:r>
                          </m:sup>
                        </m:sSubSup>
                      </m:e>
                      <m:e>
                        <m:r>
                          <a:rPr lang="ar-AE" sz="1200" b="0" i="1" u="none" strike="noStrike" cap="none">
                            <a:solidFill>
                              <a:schemeClr val="dk1"/>
                            </a:solidFill>
                            <a:latin typeface="Calibri"/>
                            <a:ea typeface="Calibri"/>
                            <a:cs typeface="Calibri"/>
                            <a:sym typeface="Calibri"/>
                          </a:rPr>
                          <m:t>𝑐</m:t>
                        </m:r>
                      </m:e>
                    </m:d>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shows how the decoder's hidden state is updated using this static context vector.</a:t>
                </a:r>
              </a:p>
              <a:p>
                <a:r>
                  <a:rPr lang="en-US" sz="1200" b="1" i="0" u="none" strike="noStrike" cap="none" dirty="0">
                    <a:solidFill>
                      <a:schemeClr val="dk1"/>
                    </a:solidFill>
                    <a:effectLst/>
                    <a:latin typeface="Calibri"/>
                    <a:ea typeface="Calibri"/>
                    <a:cs typeface="Calibri"/>
                    <a:sym typeface="Calibri"/>
                  </a:rPr>
                  <a:t>With Attention: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Dynamic Context Vector: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With attention, the decoder uses a different context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𝑐</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for each word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allowing it to focus on the most relevant parts of the input sequence.</a:t>
                </a:r>
              </a:p>
              <a:p>
                <a:pPr lvl="1"/>
                <a:r>
                  <a:rPr lang="en-US" sz="1200" b="0" i="0" u="none" strike="noStrike" cap="none" dirty="0">
                    <a:solidFill>
                      <a:schemeClr val="dk1"/>
                    </a:solidFill>
                    <a:effectLst/>
                    <a:latin typeface="Calibri"/>
                    <a:ea typeface="Calibri"/>
                    <a:cs typeface="Calibri"/>
                    <a:sym typeface="Calibri"/>
                  </a:rPr>
                  <a:t>Each context vector is obtained by taking a weighted sum of all the encoder's hidden states. This means the model can dynamically adjust its focus based on the specific word being generated.</a:t>
                </a:r>
              </a:p>
              <a:p>
                <a:r>
                  <a:rPr lang="en-US" sz="1200" b="1" i="0" u="none" strike="noStrike" cap="none" dirty="0">
                    <a:solidFill>
                      <a:schemeClr val="dk1"/>
                    </a:solidFill>
                    <a:effectLst/>
                    <a:latin typeface="Calibri"/>
                    <a:ea typeface="Calibri"/>
                    <a:cs typeface="Calibri"/>
                    <a:sym typeface="Calibri"/>
                  </a:rPr>
                  <a:t>Attention Weights: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weights determine how much attention is paid to each part of the input sequence. They are calculated based on the relevance of each encoder hidden state to the current decoding step.</a:t>
                </a:r>
              </a:p>
              <a:p>
                <a:pPr lvl="1"/>
                <a:r>
                  <a:rPr lang="en-US" sz="1200" b="0" i="0" u="none" strike="noStrike" cap="none" dirty="0">
                    <a:solidFill>
                      <a:schemeClr val="dk1"/>
                    </a:solidFill>
                    <a:effectLst/>
                    <a:latin typeface="Calibri"/>
                    <a:ea typeface="Calibri"/>
                    <a:cs typeface="Calibri"/>
                    <a:sym typeface="Calibri"/>
                  </a:rPr>
                  <a:t>These weights allow the model to "attend to" specific parts of the source text that are most relevant for generating the current output token.</a:t>
                </a:r>
              </a:p>
              <a:p>
                <a:r>
                  <a:rPr lang="en-US" sz="1200" b="1" i="0" u="none" strike="noStrike" cap="none" dirty="0">
                    <a:solidFill>
                      <a:schemeClr val="dk1"/>
                    </a:solidFill>
                    <a:effectLst/>
                    <a:latin typeface="Calibri"/>
                    <a:ea typeface="Calibri"/>
                    <a:cs typeface="Calibri"/>
                    <a:sym typeface="Calibri"/>
                  </a:rPr>
                  <a:t>Decoder State Update: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equation </a:t>
                </a:r>
                <a14:m>
                  <m:oMath xmlns:m="http://schemas.openxmlformats.org/officeDocument/2006/math">
                    <m:sSubSup>
                      <m:sSubSupPr>
                        <m:ctrlPr>
                          <a:rPr lang="ar-AE" sz="1200" b="0" i="0"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𝑖</m:t>
                        </m:r>
                      </m:sub>
                      <m:sup>
                        <m:r>
                          <a:rPr lang="ar-AE" sz="1200" b="0" i="1" u="none" strike="noStrike" cap="none">
                            <a:solidFill>
                              <a:schemeClr val="dk1"/>
                            </a:solidFill>
                            <a:latin typeface="Calibri"/>
                            <a:ea typeface="Calibri"/>
                            <a:cs typeface="Calibri"/>
                            <a:sym typeface="Calibri"/>
                          </a:rPr>
                          <m:t>𝑑</m:t>
                        </m:r>
                      </m:sup>
                    </m:sSubSup>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𝑔</m:t>
                    </m:r>
                    <m:d>
                      <m:dPr>
                        <m:sepChr m:val=","/>
                        <m:ctrlPr>
                          <a:rPr lang="ar-AE" sz="1200" b="0" i="1" u="none" strike="noStrike" cap="none">
                            <a:solidFill>
                              <a:schemeClr val="dk1"/>
                            </a:solidFill>
                            <a:latin typeface="Calibri"/>
                            <a:ea typeface="Calibri"/>
                            <a:cs typeface="Calibri"/>
                            <a:sym typeface="Calibri"/>
                          </a:rPr>
                        </m:ctrlPr>
                      </m:dPr>
                      <m:e>
                        <m:sSub>
                          <m:sSubPr>
                            <m:ctrlPr>
                              <a:rPr lang="ar-AE" sz="1200" b="0" i="1" u="none" strike="noStrike" cap="none">
                                <a:solidFill>
                                  <a:schemeClr val="dk1"/>
                                </a:solidFill>
                                <a:latin typeface="Calibri"/>
                                <a:ea typeface="Calibri"/>
                                <a:cs typeface="Calibri"/>
                                <a:sym typeface="Calibri"/>
                              </a:rPr>
                            </m:ctrlPr>
                          </m:sSubPr>
                          <m:e>
                            <m:acc>
                              <m:accPr>
                                <m:chr m:val="̂"/>
                                <m:ctrlPr>
                                  <a:rPr lang="ar-AE" sz="1200" b="0" i="1" u="none" strike="noStrike" cap="none">
                                    <a:solidFill>
                                      <a:schemeClr val="dk1"/>
                                    </a:solidFill>
                                    <a:latin typeface="Calibri"/>
                                    <a:ea typeface="Calibri"/>
                                    <a:cs typeface="Calibri"/>
                                    <a:sym typeface="Calibri"/>
                                  </a:rPr>
                                </m:ctrlPr>
                              </m:accPr>
                              <m:e>
                                <m:r>
                                  <a:rPr lang="ar-AE" sz="1200" b="0" i="1" u="none" strike="noStrike" cap="none">
                                    <a:solidFill>
                                      <a:schemeClr val="dk1"/>
                                    </a:solidFill>
                                    <a:latin typeface="Calibri"/>
                                    <a:ea typeface="Calibri"/>
                                    <a:cs typeface="Calibri"/>
                                    <a:sym typeface="Calibri"/>
                                  </a:rPr>
                                  <m:t>𝑦</m:t>
                                </m:r>
                              </m:e>
                            </m:acc>
                          </m:e>
                          <m:sub>
                            <m:r>
                              <a:rPr lang="ar-AE" sz="1200" b="0" i="1" u="none" strike="noStrike" cap="none">
                                <a:solidFill>
                                  <a:schemeClr val="dk1"/>
                                </a:solidFill>
                                <a:latin typeface="Calibri"/>
                                <a:ea typeface="Calibri"/>
                                <a:cs typeface="Calibri"/>
                                <a:sym typeface="Calibri"/>
                              </a:rPr>
                              <m:t>𝑖</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Sub>
                      </m:e>
                      <m:e>
                        <m:sSubSup>
                          <m:sSubSupPr>
                            <m:ctrlPr>
                              <a:rPr lang="ar-AE" sz="1200" b="0" i="1"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𝑖</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up>
                            <m:r>
                              <a:rPr lang="ar-AE" sz="1200" b="0" i="1" u="none" strike="noStrike" cap="none">
                                <a:solidFill>
                                  <a:schemeClr val="dk1"/>
                                </a:solidFill>
                                <a:latin typeface="Calibri"/>
                                <a:ea typeface="Calibri"/>
                                <a:cs typeface="Calibri"/>
                                <a:sym typeface="Calibri"/>
                              </a:rPr>
                              <m:t>𝑑</m:t>
                            </m:r>
                          </m:sup>
                        </m:sSubSup>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𝑐</m:t>
                            </m:r>
                          </m:e>
                          <m:sub>
                            <m:r>
                              <a:rPr lang="ar-AE" sz="1200" b="0" i="1" u="none" strike="noStrike" cap="none">
                                <a:solidFill>
                                  <a:schemeClr val="dk1"/>
                                </a:solidFill>
                                <a:latin typeface="Calibri"/>
                                <a:ea typeface="Calibri"/>
                                <a:cs typeface="Calibri"/>
                                <a:sym typeface="Calibri"/>
                              </a:rPr>
                              <m:t>𝑖</m:t>
                            </m:r>
                          </m:sub>
                        </m:sSub>
                      </m:e>
                    </m:d>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illustrates how the decoder's hidden state is updated using the dynamic context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𝑐</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which is tailored to each word being generated.</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Attention mechanisms enable the model to dynamically adjust its focus, improving its ability to handle complex sentences with multiple meanings or dependencies.</a:t>
                </a:r>
              </a:p>
              <a:p>
                <a:r>
                  <a:rPr lang="en-US" sz="1200" b="0" i="0" u="none" strike="noStrike" cap="none" dirty="0">
                    <a:solidFill>
                      <a:schemeClr val="dk1"/>
                    </a:solidFill>
                    <a:effectLst/>
                    <a:latin typeface="Calibri"/>
                    <a:ea typeface="Calibri"/>
                    <a:cs typeface="Calibri"/>
                    <a:sym typeface="Calibri"/>
                  </a:rPr>
                  <a:t>By using a weighted sum of encoder hidden states, the model can create a context that is specific to each output word, enhancing translation accuracy and contextual relevance.</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effectively demonstrates how attention mechanisms enhance the Seq2Seq model's capabilities by allowing it to dynamically focus on relevant parts of the input sequence. This understanding is crucial for appreciating how transformers, which rely heavily on attention, achieve state-of-the-art performance in various natural language processing tasks.</a:t>
                </a:r>
              </a:p>
              <a:p>
                <a:pPr marL="0" lvl="0" indent="0" algn="l" rtl="0">
                  <a:lnSpc>
                    <a:spcPct val="100000"/>
                  </a:lnSpc>
                  <a:spcBef>
                    <a:spcPts val="0"/>
                  </a:spcBef>
                  <a:spcAft>
                    <a:spcPts val="0"/>
                  </a:spcAft>
                  <a:buSzPts val="1400"/>
                  <a:buNone/>
                </a:pPr>
                <a:endParaRPr dirty="0"/>
              </a:p>
            </p:txBody>
          </p:sp>
        </mc:Choice>
        <mc:Fallback>
          <p:sp>
            <p:nvSpPr>
              <p:cNvPr id="314" name="Google Shape;314;g2b8b5137f2c_0_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Slide Explanation:</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slide contrasts the traditional static context approach with the dynamic context provided by attention, emphasizing how attention improves the model's ability to generate accurate translations.</a:t>
                </a:r>
              </a:p>
              <a:p>
                <a:r>
                  <a:rPr lang="en-US" sz="1200" b="1" i="0" u="none" strike="noStrike" cap="none" dirty="0">
                    <a:solidFill>
                      <a:schemeClr val="dk1"/>
                    </a:solidFill>
                    <a:effectLst/>
                    <a:latin typeface="Calibri"/>
                    <a:ea typeface="Calibri"/>
                    <a:cs typeface="Calibri"/>
                    <a:sym typeface="Calibri"/>
                  </a:rPr>
                  <a:t>Without Attention: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Static Context Vector: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decoder uses a single, static context vector </a:t>
                </a:r>
                <a:r>
                  <a:rPr lang="en-US" sz="1200" b="0" i="0" u="none" strike="noStrike" cap="none">
                    <a:solidFill>
                      <a:schemeClr val="dk1"/>
                    </a:solidFill>
                    <a:latin typeface="Calibri"/>
                    <a:ea typeface="Calibri"/>
                    <a:cs typeface="Calibri"/>
                    <a:sym typeface="Calibri"/>
                  </a:rPr>
                  <a:t>𝑐</a:t>
                </a:r>
                <a:r>
                  <a:rPr lang="en-US" sz="1200" b="0" i="0" u="none" strike="noStrike" cap="none" dirty="0">
                    <a:solidFill>
                      <a:schemeClr val="dk1"/>
                    </a:solidFill>
                    <a:effectLst/>
                    <a:latin typeface="Calibri"/>
                    <a:ea typeface="Calibri"/>
                    <a:cs typeface="Calibri"/>
                    <a:sym typeface="Calibri"/>
                  </a:rPr>
                  <a:t> for generating each word in the output sequence.</a:t>
                </a:r>
              </a:p>
              <a:p>
                <a:pPr lvl="1"/>
                <a:r>
                  <a:rPr lang="en-US" sz="1200" b="0" i="0" u="none" strike="noStrike" cap="none" dirty="0">
                    <a:solidFill>
                      <a:schemeClr val="dk1"/>
                    </a:solidFill>
                    <a:effectLst/>
                    <a:latin typeface="Calibri"/>
                    <a:ea typeface="Calibri"/>
                    <a:cs typeface="Calibri"/>
                    <a:sym typeface="Calibri"/>
                  </a:rPr>
                  <a:t>This vector is a fixed summary of all the encoder's hidden states, which can limit the model's ability to capture detailed information.</a:t>
                </a:r>
              </a:p>
              <a:p>
                <a:r>
                  <a:rPr lang="en-US" sz="1200" b="1" i="0" u="none" strike="noStrike" cap="none" dirty="0">
                    <a:solidFill>
                      <a:schemeClr val="dk1"/>
                    </a:solidFill>
                    <a:effectLst/>
                    <a:latin typeface="Calibri"/>
                    <a:ea typeface="Calibri"/>
                    <a:cs typeface="Calibri"/>
                    <a:sym typeface="Calibri"/>
                  </a:rPr>
                  <a:t>Decoder State Update: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equation </a:t>
                </a:r>
                <a:r>
                  <a:rPr lang="ar-AE" sz="1200" b="0" i="0" u="none" strike="noStrike" cap="none">
                    <a:solidFill>
                      <a:schemeClr val="dk1"/>
                    </a:solidFill>
                    <a:latin typeface="Calibri"/>
                    <a:ea typeface="Calibri"/>
                    <a:cs typeface="Calibri"/>
                    <a:sym typeface="Calibri"/>
                  </a:rPr>
                  <a:t>ℎ_𝑡^𝑑=𝑔(𝑦 ̂_(𝑡−1)ⓜ,ℎ_(𝑡−1)^𝑑ⓜ,𝑐)</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shows how the decoder's hidden state is updated using this static context vector.</a:t>
                </a:r>
              </a:p>
              <a:p>
                <a:r>
                  <a:rPr lang="en-US" sz="1200" b="1" i="0" u="none" strike="noStrike" cap="none" dirty="0">
                    <a:solidFill>
                      <a:schemeClr val="dk1"/>
                    </a:solidFill>
                    <a:effectLst/>
                    <a:latin typeface="Calibri"/>
                    <a:ea typeface="Calibri"/>
                    <a:cs typeface="Calibri"/>
                    <a:sym typeface="Calibri"/>
                  </a:rPr>
                  <a:t>With Attention: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Dynamic Context Vector: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With attention, the decoder uses a different context vector </a:t>
                </a:r>
                <a:r>
                  <a:rPr lang="ar-AE" sz="1200" b="0" i="0" u="none" strike="noStrike" cap="none">
                    <a:solidFill>
                      <a:schemeClr val="dk1"/>
                    </a:solidFill>
                    <a:latin typeface="Calibri"/>
                    <a:ea typeface="Calibri"/>
                    <a:cs typeface="Calibri"/>
                    <a:sym typeface="Calibri"/>
                  </a:rPr>
                  <a:t>𝑐_𝑖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for each word </a:t>
                </a:r>
                <a:r>
                  <a:rPr lang="ar-AE" sz="1200" b="0" i="0" u="none" strike="noStrike" cap="none">
                    <a:solidFill>
                      <a:schemeClr val="dk1"/>
                    </a:solidFill>
                    <a:latin typeface="Calibri"/>
                    <a:ea typeface="Calibri"/>
                    <a:cs typeface="Calibri"/>
                    <a:sym typeface="Calibri"/>
                  </a:rPr>
                  <a:t>𝑦_𝑖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allowing it to focus on the most relevant parts of the input sequence.</a:t>
                </a:r>
              </a:p>
              <a:p>
                <a:pPr lvl="1"/>
                <a:r>
                  <a:rPr lang="en-US" sz="1200" b="0" i="0" u="none" strike="noStrike" cap="none" dirty="0">
                    <a:solidFill>
                      <a:schemeClr val="dk1"/>
                    </a:solidFill>
                    <a:effectLst/>
                    <a:latin typeface="Calibri"/>
                    <a:ea typeface="Calibri"/>
                    <a:cs typeface="Calibri"/>
                    <a:sym typeface="Calibri"/>
                  </a:rPr>
                  <a:t>Each context vector is obtained by taking a weighted sum of all the encoder's hidden states. This means the model can dynamically adjust its focus based on the specific word being generated.</a:t>
                </a:r>
              </a:p>
              <a:p>
                <a:r>
                  <a:rPr lang="en-US" sz="1200" b="1" i="0" u="none" strike="noStrike" cap="none" dirty="0">
                    <a:solidFill>
                      <a:schemeClr val="dk1"/>
                    </a:solidFill>
                    <a:effectLst/>
                    <a:latin typeface="Calibri"/>
                    <a:ea typeface="Calibri"/>
                    <a:cs typeface="Calibri"/>
                    <a:sym typeface="Calibri"/>
                  </a:rPr>
                  <a:t>Attention Weights: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weights determine how much attention is paid to each part of the input sequence. They are calculated based on the relevance of each encoder hidden state to the current decoding step.</a:t>
                </a:r>
              </a:p>
              <a:p>
                <a:pPr lvl="1"/>
                <a:r>
                  <a:rPr lang="en-US" sz="1200" b="0" i="0" u="none" strike="noStrike" cap="none" dirty="0">
                    <a:solidFill>
                      <a:schemeClr val="dk1"/>
                    </a:solidFill>
                    <a:effectLst/>
                    <a:latin typeface="Calibri"/>
                    <a:ea typeface="Calibri"/>
                    <a:cs typeface="Calibri"/>
                    <a:sym typeface="Calibri"/>
                  </a:rPr>
                  <a:t>These weights allow the model to "attend to" specific parts of the source text that are most relevant for generating the current output token.</a:t>
                </a:r>
              </a:p>
              <a:p>
                <a:r>
                  <a:rPr lang="en-US" sz="1200" b="1" i="0" u="none" strike="noStrike" cap="none" dirty="0">
                    <a:solidFill>
                      <a:schemeClr val="dk1"/>
                    </a:solidFill>
                    <a:effectLst/>
                    <a:latin typeface="Calibri"/>
                    <a:ea typeface="Calibri"/>
                    <a:cs typeface="Calibri"/>
                    <a:sym typeface="Calibri"/>
                  </a:rPr>
                  <a:t>Decoder State Update: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equation </a:t>
                </a:r>
                <a:r>
                  <a:rPr lang="ar-AE" sz="1200" b="0" i="0" u="none" strike="noStrike" cap="none">
                    <a:solidFill>
                      <a:schemeClr val="dk1"/>
                    </a:solidFill>
                    <a:latin typeface="Calibri"/>
                    <a:ea typeface="Calibri"/>
                    <a:cs typeface="Calibri"/>
                    <a:sym typeface="Calibri"/>
                  </a:rPr>
                  <a:t>ℎ_𝑖^𝑑=𝑔(𝑦 ̂_(𝑖−1)ⓜ,ℎ_(𝑖−1)^𝑑ⓜ,𝑐_𝑖 )</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illustrates how the decoder's hidden state is updated using the dynamic context vector </a:t>
                </a:r>
                <a:r>
                  <a:rPr lang="ar-AE" sz="1200" b="0" i="0" u="none" strike="noStrike" cap="none">
                    <a:solidFill>
                      <a:schemeClr val="dk1"/>
                    </a:solidFill>
                    <a:latin typeface="Calibri"/>
                    <a:ea typeface="Calibri"/>
                    <a:cs typeface="Calibri"/>
                    <a:sym typeface="Calibri"/>
                  </a:rPr>
                  <a:t>𝑐_𝑖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which is tailored to each word being generated.</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Attention mechanisms enable the model to dynamically adjust its focus, improving its ability to handle complex sentences with multiple meanings or dependencies.</a:t>
                </a:r>
              </a:p>
              <a:p>
                <a:r>
                  <a:rPr lang="en-US" sz="1200" b="0" i="0" u="none" strike="noStrike" cap="none" dirty="0">
                    <a:solidFill>
                      <a:schemeClr val="dk1"/>
                    </a:solidFill>
                    <a:effectLst/>
                    <a:latin typeface="Calibri"/>
                    <a:ea typeface="Calibri"/>
                    <a:cs typeface="Calibri"/>
                    <a:sym typeface="Calibri"/>
                  </a:rPr>
                  <a:t>By using a weighted sum of encoder hidden states, the model can create a context that is specific to each output word, enhancing translation accuracy and contextual relevance.</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effectively demonstrates how attention mechanisms enhance the Seq2Seq model's capabilities by allowing it to dynamically focus on relevant parts of the input sequence. This understanding is crucial for appreciating how transformers, which rely heavily on attention, achieve state-of-the-art performance in various natural language processing tasks.</a:t>
                </a:r>
              </a:p>
              <a:p>
                <a:pPr marL="0" lvl="0" indent="0" algn="l" rtl="0">
                  <a:lnSpc>
                    <a:spcPct val="100000"/>
                  </a:lnSpc>
                  <a:spcBef>
                    <a:spcPts val="0"/>
                  </a:spcBef>
                  <a:spcAft>
                    <a:spcPts val="0"/>
                  </a:spcAft>
                  <a:buSzPts val="1400"/>
                  <a:buNone/>
                </a:pPr>
                <a:endParaRPr dirty="0"/>
              </a:p>
            </p:txBody>
          </p:sp>
        </mc:Fallback>
      </mc:AlternateContent>
      <p:sp>
        <p:nvSpPr>
          <p:cNvPr id="315" name="Google Shape;315;g2b8b5137f2c_0_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2b8b5137f2c_0_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331" name="Google Shape;331;g2b8b5137f2c_0_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0" i="0" u="none" strike="noStrike" cap="none" dirty="0">
                    <a:solidFill>
                      <a:schemeClr val="dk1"/>
                    </a:solidFill>
                    <a:effectLst/>
                    <a:latin typeface="Calibri"/>
                    <a:ea typeface="Calibri"/>
                    <a:cs typeface="Calibri"/>
                    <a:sym typeface="Calibri"/>
                  </a:rPr>
                  <a:t>The attention mechanism involves calculating scores and weights to determine the relevance of each encoder hidden state to the current decoding step.</a:t>
                </a:r>
              </a:p>
              <a:p>
                <a:r>
                  <a:rPr lang="en-US" sz="1200" b="1" i="0" u="none" strike="noStrike" cap="none" dirty="0">
                    <a:solidFill>
                      <a:schemeClr val="dk1"/>
                    </a:solidFill>
                    <a:effectLst/>
                    <a:latin typeface="Calibri"/>
                    <a:ea typeface="Calibri"/>
                    <a:cs typeface="Calibri"/>
                    <a:sym typeface="Calibri"/>
                  </a:rPr>
                  <a:t>Step 1: Calculate Relevance Scores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Objective:</a:t>
                </a:r>
                <a:r>
                  <a:rPr lang="en-US" sz="1200" b="0" i="0" u="none" strike="noStrike" cap="none" dirty="0">
                    <a:solidFill>
                      <a:schemeClr val="dk1"/>
                    </a:solidFill>
                    <a:effectLst/>
                    <a:latin typeface="Calibri"/>
                    <a:ea typeface="Calibri"/>
                    <a:cs typeface="Calibri"/>
                    <a:sym typeface="Calibri"/>
                  </a:rPr>
                  <a:t> Determine how relevant each encoder hidden state </a:t>
                </a:r>
                <a14:m>
                  <m:oMath xmlns:m="http://schemas.openxmlformats.org/officeDocument/2006/math">
                    <m:sSubSup>
                      <m:sSubSupPr>
                        <m:ctrlPr>
                          <a:rPr lang="ar-AE" sz="1200" b="0" i="1" u="none" strike="noStrike" cap="none">
                            <a:solidFill>
                              <a:schemeClr val="dk1"/>
                            </a:solidFill>
                            <a:latin typeface="Cambria Math" panose="02040503050406030204" pitchFamily="18" charset="0"/>
                            <a:ea typeface="Calibri"/>
                            <a:cs typeface="Calibri"/>
                            <a:sym typeface="Calibri"/>
                          </a:rPr>
                        </m:ctrlPr>
                      </m:sSubSupPr>
                      <m:e>
                        <m:r>
                          <a:rPr lang="ar-AE" sz="1200" b="0" i="1" u="none" strike="noStrike" cap="none">
                            <a:solidFill>
                              <a:schemeClr val="dk1"/>
                            </a:solidFill>
                            <a:latin typeface="Cambria Math" panose="02040503050406030204" pitchFamily="18" charset="0"/>
                            <a:ea typeface="Calibri"/>
                            <a:cs typeface="Calibri"/>
                            <a:sym typeface="Calibri"/>
                          </a:rPr>
                          <m:t>h</m:t>
                        </m:r>
                      </m:e>
                      <m:sub>
                        <m:r>
                          <a:rPr lang="ar-AE" sz="1200" b="0" i="1" u="none" strike="noStrike" cap="none">
                            <a:solidFill>
                              <a:schemeClr val="dk1"/>
                            </a:solidFill>
                            <a:latin typeface="Cambria Math" panose="02040503050406030204" pitchFamily="18" charset="0"/>
                            <a:ea typeface="Calibri"/>
                            <a:cs typeface="Calibri"/>
                            <a:sym typeface="Calibri"/>
                          </a:rPr>
                          <m:t>𝑗</m:t>
                        </m:r>
                      </m:sub>
                      <m:sup>
                        <m:r>
                          <a:rPr lang="ar-AE" sz="1200" b="0" i="1" u="none" strike="noStrike" cap="none">
                            <a:solidFill>
                              <a:schemeClr val="dk1"/>
                            </a:solidFill>
                            <a:latin typeface="Cambria Math" panose="02040503050406030204" pitchFamily="18" charset="0"/>
                            <a:ea typeface="Calibri"/>
                            <a:cs typeface="Calibri"/>
                            <a:sym typeface="Calibri"/>
                          </a:rPr>
                          <m:t>𝑒</m:t>
                        </m:r>
                      </m:sup>
                    </m:sSubSup>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to the current decoder hidden state </a:t>
                </a:r>
                <a14:m>
                  <m:oMath xmlns:m="http://schemas.openxmlformats.org/officeDocument/2006/math">
                    <m:sSubSup>
                      <m:sSubSupPr>
                        <m:ctrlPr>
                          <a:rPr lang="ar-AE" sz="1200" b="0" i="1" u="none" strike="noStrike" cap="none">
                            <a:solidFill>
                              <a:schemeClr val="dk1"/>
                            </a:solidFill>
                            <a:latin typeface="Cambria Math" panose="02040503050406030204" pitchFamily="18" charset="0"/>
                            <a:ea typeface="Calibri"/>
                            <a:cs typeface="Calibri"/>
                            <a:sym typeface="Calibri"/>
                          </a:rPr>
                        </m:ctrlPr>
                      </m:sSubSupPr>
                      <m:e>
                        <m:r>
                          <a:rPr lang="ar-AE" sz="1200" b="0" i="1" u="none" strike="noStrike" cap="none">
                            <a:solidFill>
                              <a:schemeClr val="dk1"/>
                            </a:solidFill>
                            <a:latin typeface="Cambria Math" panose="02040503050406030204" pitchFamily="18" charset="0"/>
                            <a:ea typeface="Calibri"/>
                            <a:cs typeface="Calibri"/>
                            <a:sym typeface="Calibri"/>
                          </a:rPr>
                          <m:t>h</m:t>
                        </m:r>
                      </m:e>
                      <m:sub>
                        <m:r>
                          <a:rPr lang="ar-AE" sz="1200" b="0" i="1" u="none" strike="noStrike" cap="none">
                            <a:solidFill>
                              <a:schemeClr val="dk1"/>
                            </a:solidFill>
                            <a:latin typeface="Cambria Math" panose="02040503050406030204" pitchFamily="18" charset="0"/>
                            <a:ea typeface="Calibri"/>
                            <a:cs typeface="Calibri"/>
                            <a:sym typeface="Calibri"/>
                          </a:rPr>
                          <m:t>𝑖</m:t>
                        </m:r>
                        <m:r>
                          <a:rPr lang="ar-AE" sz="1200" b="0" i="0" u="none" strike="noStrike" cap="none">
                            <a:solidFill>
                              <a:schemeClr val="dk1"/>
                            </a:solidFill>
                            <a:latin typeface="Cambria Math" panose="02040503050406030204" pitchFamily="18" charset="0"/>
                            <a:ea typeface="Calibri"/>
                            <a:cs typeface="Calibri"/>
                            <a:sym typeface="Calibri"/>
                          </a:rPr>
                          <m:t>−</m:t>
                        </m:r>
                        <m:r>
                          <a:rPr lang="ar-AE" sz="1200" b="0" i="0" u="none" strike="noStrike" cap="none">
                            <a:solidFill>
                              <a:schemeClr val="dk1"/>
                            </a:solidFill>
                            <a:latin typeface="Cambria Math" panose="02040503050406030204" pitchFamily="18" charset="0"/>
                            <a:ea typeface="Calibri"/>
                            <a:cs typeface="Calibri"/>
                            <a:sym typeface="Calibri"/>
                          </a:rPr>
                          <m:t>1</m:t>
                        </m:r>
                      </m:sub>
                      <m:sup>
                        <m:r>
                          <a:rPr lang="ar-AE" sz="1200" b="0" i="1" u="none" strike="noStrike" cap="none">
                            <a:solidFill>
                              <a:schemeClr val="dk1"/>
                            </a:solidFill>
                            <a:latin typeface="Cambria Math" panose="02040503050406030204" pitchFamily="18" charset="0"/>
                            <a:ea typeface="Calibri"/>
                            <a:cs typeface="Calibri"/>
                            <a:sym typeface="Calibri"/>
                          </a:rPr>
                          <m:t>𝑑</m:t>
                        </m:r>
                      </m:sup>
                    </m:sSubSup>
                  </m:oMath>
                </a14:m>
                <a:r>
                  <a:rPr lang="ar-AE" sz="1200" b="0" i="0" u="none" strike="noStrike" cap="none" dirty="0">
                    <a:solidFill>
                      <a:schemeClr val="dk1"/>
                    </a:solidFill>
                    <a:effectLst/>
                    <a:latin typeface="Calibri"/>
                    <a:ea typeface="Calibri"/>
                    <a:cs typeface="Calibri"/>
                    <a:sym typeface="Calibri"/>
                  </a:rPr>
                  <a:t>.</a:t>
                </a:r>
              </a:p>
              <a:p>
                <a:r>
                  <a:rPr lang="en-US" sz="1200" b="1" i="0" u="none" strike="noStrike" cap="none" dirty="0">
                    <a:solidFill>
                      <a:schemeClr val="dk1"/>
                    </a:solidFill>
                    <a:effectLst/>
                    <a:latin typeface="Calibri"/>
                    <a:ea typeface="Calibri"/>
                    <a:cs typeface="Calibri"/>
                    <a:sym typeface="Calibri"/>
                  </a:rPr>
                  <a:t>Score Calculation: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score is a measure of similarity between the decoder's previous hidden state and each encoder hidden state.</a:t>
                </a:r>
              </a:p>
              <a:p>
                <a:pPr lvl="1"/>
                <a:r>
                  <a:rPr lang="en-US" sz="1200" b="1" i="0" u="none" strike="noStrike" cap="none" dirty="0">
                    <a:solidFill>
                      <a:schemeClr val="dk1"/>
                    </a:solidFill>
                    <a:effectLst/>
                    <a:latin typeface="Calibri"/>
                    <a:ea typeface="Calibri"/>
                    <a:cs typeface="Calibri"/>
                    <a:sym typeface="Calibri"/>
                  </a:rPr>
                  <a:t>Dot Product Attention:</a:t>
                </a:r>
                <a:r>
                  <a:rPr lang="en-US" sz="1200" b="0" i="0" u="none" strike="noStrike" cap="none" dirty="0">
                    <a:solidFill>
                      <a:schemeClr val="dk1"/>
                    </a:solidFill>
                    <a:effectLst/>
                    <a:latin typeface="Calibri"/>
                    <a:ea typeface="Calibri"/>
                    <a:cs typeface="Calibri"/>
                    <a:sym typeface="Calibri"/>
                  </a:rPr>
                  <a:t> This is a common method for calculating the score, where the score is the dot product of </a:t>
                </a:r>
                <a14:m>
                  <m:oMath xmlns:m="http://schemas.openxmlformats.org/officeDocument/2006/math">
                    <m:sSubSup>
                      <m:sSubSupPr>
                        <m:ctrlPr>
                          <a:rPr lang="ar-AE" sz="1200" b="0" i="1" u="none" strike="noStrike" cap="none">
                            <a:solidFill>
                              <a:schemeClr val="dk1"/>
                            </a:solidFill>
                            <a:latin typeface="Cambria Math" panose="02040503050406030204" pitchFamily="18" charset="0"/>
                            <a:ea typeface="Calibri"/>
                            <a:cs typeface="Calibri"/>
                            <a:sym typeface="Calibri"/>
                          </a:rPr>
                        </m:ctrlPr>
                      </m:sSubSupPr>
                      <m:e>
                        <m:r>
                          <a:rPr lang="ar-AE" sz="1200" b="0" i="1" u="none" strike="noStrike" cap="none">
                            <a:solidFill>
                              <a:schemeClr val="dk1"/>
                            </a:solidFill>
                            <a:latin typeface="Cambria Math" panose="02040503050406030204" pitchFamily="18" charset="0"/>
                            <a:ea typeface="Calibri"/>
                            <a:cs typeface="Calibri"/>
                            <a:sym typeface="Calibri"/>
                          </a:rPr>
                          <m:t>h</m:t>
                        </m:r>
                      </m:e>
                      <m:sub>
                        <m:r>
                          <a:rPr lang="ar-AE" sz="1200" b="0" i="1" u="none" strike="noStrike" cap="none">
                            <a:solidFill>
                              <a:schemeClr val="dk1"/>
                            </a:solidFill>
                            <a:latin typeface="Cambria Math" panose="02040503050406030204" pitchFamily="18" charset="0"/>
                            <a:ea typeface="Calibri"/>
                            <a:cs typeface="Calibri"/>
                            <a:sym typeface="Calibri"/>
                          </a:rPr>
                          <m:t>𝑖</m:t>
                        </m:r>
                        <m:r>
                          <a:rPr lang="ar-AE" sz="1200" b="0" i="0" u="none" strike="noStrike" cap="none">
                            <a:solidFill>
                              <a:schemeClr val="dk1"/>
                            </a:solidFill>
                            <a:latin typeface="Cambria Math" panose="02040503050406030204" pitchFamily="18" charset="0"/>
                            <a:ea typeface="Calibri"/>
                            <a:cs typeface="Calibri"/>
                            <a:sym typeface="Calibri"/>
                          </a:rPr>
                          <m:t>−</m:t>
                        </m:r>
                        <m:r>
                          <a:rPr lang="ar-AE" sz="1200" b="0" i="0" u="none" strike="noStrike" cap="none">
                            <a:solidFill>
                              <a:schemeClr val="dk1"/>
                            </a:solidFill>
                            <a:latin typeface="Cambria Math" panose="02040503050406030204" pitchFamily="18" charset="0"/>
                            <a:ea typeface="Calibri"/>
                            <a:cs typeface="Calibri"/>
                            <a:sym typeface="Calibri"/>
                          </a:rPr>
                          <m:t>1</m:t>
                        </m:r>
                      </m:sub>
                      <m:sup>
                        <m:r>
                          <a:rPr lang="ar-AE" sz="1200" b="0" i="1" u="none" strike="noStrike" cap="none">
                            <a:solidFill>
                              <a:schemeClr val="dk1"/>
                            </a:solidFill>
                            <a:latin typeface="Cambria Math" panose="02040503050406030204" pitchFamily="18" charset="0"/>
                            <a:ea typeface="Calibri"/>
                            <a:cs typeface="Calibri"/>
                            <a:sym typeface="Calibri"/>
                          </a:rPr>
                          <m:t>𝑑</m:t>
                        </m:r>
                      </m:sup>
                    </m:sSubSup>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a:t>
                </a:r>
                <a14:m>
                  <m:oMath xmlns:m="http://schemas.openxmlformats.org/officeDocument/2006/math">
                    <m:sSubSup>
                      <m:sSubSupPr>
                        <m:ctrlPr>
                          <a:rPr lang="ar-AE" sz="1200" b="0" i="1" u="none" strike="noStrike" cap="none">
                            <a:solidFill>
                              <a:schemeClr val="dk1"/>
                            </a:solidFill>
                            <a:latin typeface="Cambria Math" panose="02040503050406030204" pitchFamily="18" charset="0"/>
                            <a:ea typeface="Calibri"/>
                            <a:cs typeface="Calibri"/>
                            <a:sym typeface="Calibri"/>
                          </a:rPr>
                        </m:ctrlPr>
                      </m:sSubSupPr>
                      <m:e>
                        <m:r>
                          <a:rPr lang="ar-AE" sz="1200" b="0" i="1" u="none" strike="noStrike" cap="none">
                            <a:solidFill>
                              <a:schemeClr val="dk1"/>
                            </a:solidFill>
                            <a:latin typeface="Cambria Math" panose="02040503050406030204" pitchFamily="18" charset="0"/>
                            <a:ea typeface="Calibri"/>
                            <a:cs typeface="Calibri"/>
                            <a:sym typeface="Calibri"/>
                          </a:rPr>
                          <m:t>h</m:t>
                        </m:r>
                      </m:e>
                      <m:sub>
                        <m:r>
                          <a:rPr lang="ar-AE" sz="1200" b="0" i="1" u="none" strike="noStrike" cap="none">
                            <a:solidFill>
                              <a:schemeClr val="dk1"/>
                            </a:solidFill>
                            <a:latin typeface="Cambria Math" panose="02040503050406030204" pitchFamily="18" charset="0"/>
                            <a:ea typeface="Calibri"/>
                            <a:cs typeface="Calibri"/>
                            <a:sym typeface="Calibri"/>
                          </a:rPr>
                          <m:t>𝑗</m:t>
                        </m:r>
                      </m:sub>
                      <m:sup>
                        <m:r>
                          <a:rPr lang="ar-AE" sz="1200" b="0" i="1" u="none" strike="noStrike" cap="none">
                            <a:solidFill>
                              <a:schemeClr val="dk1"/>
                            </a:solidFill>
                            <a:latin typeface="Cambria Math" panose="02040503050406030204" pitchFamily="18" charset="0"/>
                            <a:ea typeface="Calibri"/>
                            <a:cs typeface="Calibri"/>
                            <a:sym typeface="Calibri"/>
                          </a:rPr>
                          <m:t>𝑒</m:t>
                        </m:r>
                      </m:sup>
                    </m:sSubSup>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Mathematically, it's expressed as:</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r>
                        <m:rPr>
                          <m:nor/>
                        </m:rPr>
                        <a:rPr lang="en-US" b="0"/>
                        <m:t>score</m:t>
                      </m:r>
                      <m:d>
                        <m:dPr>
                          <m:sepChr m:val=","/>
                          <m:ctrlPr>
                            <a:rPr lang="ar-AE" sz="1200" b="0" i="1" u="none" strike="noStrike" cap="none">
                              <a:solidFill>
                                <a:schemeClr val="dk1"/>
                              </a:solidFill>
                              <a:latin typeface="Cambria Math" panose="02040503050406030204" pitchFamily="18" charset="0"/>
                              <a:ea typeface="Calibri"/>
                              <a:cs typeface="Calibri"/>
                              <a:sym typeface="Calibri"/>
                            </a:rPr>
                          </m:ctrlPr>
                        </m:dPr>
                        <m:e>
                          <m:sSubSup>
                            <m:sSubSupPr>
                              <m:ctrlPr>
                                <a:rPr lang="ar-AE" sz="1200" b="0" i="1" u="none" strike="noStrike" cap="none">
                                  <a:solidFill>
                                    <a:schemeClr val="dk1"/>
                                  </a:solidFill>
                                  <a:latin typeface="Cambria Math" panose="02040503050406030204" pitchFamily="18" charset="0"/>
                                  <a:ea typeface="Calibri"/>
                                  <a:cs typeface="Calibri"/>
                                  <a:sym typeface="Calibri"/>
                                </a:rPr>
                              </m:ctrlPr>
                            </m:sSubSupPr>
                            <m:e>
                              <m:r>
                                <a:rPr lang="ar-AE" b="0" i="1">
                                  <a:latin typeface="Cambria Math" panose="02040503050406030204" pitchFamily="18" charset="0"/>
                                </a:rPr>
                                <m:t>h</m:t>
                              </m:r>
                            </m:e>
                            <m:sub>
                              <m:r>
                                <a:rPr lang="ar-AE" b="0" i="1">
                                  <a:latin typeface="Cambria Math" panose="02040503050406030204" pitchFamily="18" charset="0"/>
                                </a:rPr>
                                <m:t>𝑖</m:t>
                              </m:r>
                              <m:r>
                                <a:rPr lang="ar-AE" sz="1200" b="0" i="0" u="none" strike="noStrike" cap="none">
                                  <a:solidFill>
                                    <a:schemeClr val="dk1"/>
                                  </a:solidFill>
                                  <a:latin typeface="Cambria Math" panose="02040503050406030204" pitchFamily="18" charset="0"/>
                                  <a:ea typeface="Calibri"/>
                                  <a:cs typeface="Calibri"/>
                                  <a:sym typeface="Calibri"/>
                                </a:rPr>
                                <m:t>−</m:t>
                              </m:r>
                              <m:r>
                                <a:rPr lang="ar-AE" sz="1200" b="0" i="0" u="none" strike="noStrike" cap="none">
                                  <a:solidFill>
                                    <a:schemeClr val="dk1"/>
                                  </a:solidFill>
                                  <a:latin typeface="Cambria Math" panose="02040503050406030204" pitchFamily="18" charset="0"/>
                                  <a:ea typeface="Calibri"/>
                                  <a:cs typeface="Calibri"/>
                                  <a:sym typeface="Calibri"/>
                                </a:rPr>
                                <m:t>1</m:t>
                              </m:r>
                            </m:sub>
                            <m:sup>
                              <m:r>
                                <a:rPr lang="ar-AE" sz="1200" b="0" i="1" u="none" strike="noStrike" cap="none">
                                  <a:solidFill>
                                    <a:schemeClr val="dk1"/>
                                  </a:solidFill>
                                  <a:latin typeface="Cambria Math" panose="02040503050406030204" pitchFamily="18" charset="0"/>
                                  <a:ea typeface="Calibri"/>
                                  <a:cs typeface="Calibri"/>
                                  <a:sym typeface="Calibri"/>
                                </a:rPr>
                                <m:t>𝑑</m:t>
                              </m:r>
                            </m:sup>
                          </m:sSubSup>
                        </m:e>
                        <m:e>
                          <m:sSubSup>
                            <m:sSubSupPr>
                              <m:ctrlPr>
                                <a:rPr lang="ar-AE" sz="1200" b="0" i="1" u="none" strike="noStrike" cap="none">
                                  <a:solidFill>
                                    <a:schemeClr val="dk1"/>
                                  </a:solidFill>
                                  <a:latin typeface="Cambria Math" panose="02040503050406030204" pitchFamily="18" charset="0"/>
                                  <a:ea typeface="Calibri"/>
                                  <a:cs typeface="Calibri"/>
                                  <a:sym typeface="Calibri"/>
                                </a:rPr>
                              </m:ctrlPr>
                            </m:sSubSupPr>
                            <m:e>
                              <m:r>
                                <a:rPr lang="ar-AE" sz="1200" b="0" i="1" u="none" strike="noStrike" cap="none">
                                  <a:solidFill>
                                    <a:schemeClr val="dk1"/>
                                  </a:solidFill>
                                  <a:latin typeface="Cambria Math" panose="02040503050406030204" pitchFamily="18" charset="0"/>
                                  <a:ea typeface="Calibri"/>
                                  <a:cs typeface="Calibri"/>
                                  <a:sym typeface="Calibri"/>
                                </a:rPr>
                                <m:t>h</m:t>
                              </m:r>
                            </m:e>
                            <m:sub>
                              <m:r>
                                <a:rPr lang="ar-AE" sz="1200" b="0" i="1" u="none" strike="noStrike" cap="none">
                                  <a:solidFill>
                                    <a:schemeClr val="dk1"/>
                                  </a:solidFill>
                                  <a:latin typeface="Cambria Math" panose="02040503050406030204" pitchFamily="18" charset="0"/>
                                  <a:ea typeface="Calibri"/>
                                  <a:cs typeface="Calibri"/>
                                  <a:sym typeface="Calibri"/>
                                </a:rPr>
                                <m:t>𝑗</m:t>
                              </m:r>
                            </m:sub>
                            <m:sup>
                              <m:r>
                                <a:rPr lang="ar-AE" sz="1200" b="0" i="1" u="none" strike="noStrike" cap="none">
                                  <a:solidFill>
                                    <a:schemeClr val="dk1"/>
                                  </a:solidFill>
                                  <a:latin typeface="Cambria Math" panose="02040503050406030204" pitchFamily="18" charset="0"/>
                                  <a:ea typeface="Calibri"/>
                                  <a:cs typeface="Calibri"/>
                                  <a:sym typeface="Calibri"/>
                                </a:rPr>
                                <m:t>𝑒</m:t>
                              </m:r>
                            </m:sup>
                          </m:sSubSup>
                        </m:e>
                      </m:d>
                      <m:r>
                        <a:rPr lang="ar-AE" sz="1200" b="0" i="0" u="none" strike="noStrike" cap="none">
                          <a:solidFill>
                            <a:schemeClr val="dk1"/>
                          </a:solidFill>
                          <a:latin typeface="Cambria Math" panose="02040503050406030204" pitchFamily="18" charset="0"/>
                          <a:ea typeface="Calibri"/>
                          <a:cs typeface="Calibri"/>
                          <a:sym typeface="Calibri"/>
                        </a:rPr>
                        <m:t>=</m:t>
                      </m:r>
                      <m:sSubSup>
                        <m:sSubSupPr>
                          <m:ctrlPr>
                            <a:rPr lang="ar-AE" sz="1200" b="0" i="1" u="none" strike="noStrike" cap="none">
                              <a:solidFill>
                                <a:schemeClr val="dk1"/>
                              </a:solidFill>
                              <a:latin typeface="Cambria Math" panose="02040503050406030204" pitchFamily="18" charset="0"/>
                              <a:ea typeface="Calibri"/>
                              <a:cs typeface="Calibri"/>
                              <a:sym typeface="Calibri"/>
                            </a:rPr>
                          </m:ctrlPr>
                        </m:sSubSupPr>
                        <m:e>
                          <m:r>
                            <a:rPr lang="ar-AE" sz="1200" b="0" i="1" u="none" strike="noStrike" cap="none">
                              <a:solidFill>
                                <a:schemeClr val="dk1"/>
                              </a:solidFill>
                              <a:latin typeface="Cambria Math" panose="02040503050406030204" pitchFamily="18" charset="0"/>
                              <a:ea typeface="Calibri"/>
                              <a:cs typeface="Calibri"/>
                              <a:sym typeface="Calibri"/>
                            </a:rPr>
                            <m:t>h</m:t>
                          </m:r>
                        </m:e>
                        <m:sub>
                          <m:r>
                            <a:rPr lang="ar-AE" sz="1200" b="0" i="1" u="none" strike="noStrike" cap="none">
                              <a:solidFill>
                                <a:schemeClr val="dk1"/>
                              </a:solidFill>
                              <a:latin typeface="Cambria Math" panose="02040503050406030204" pitchFamily="18" charset="0"/>
                              <a:ea typeface="Calibri"/>
                              <a:cs typeface="Calibri"/>
                              <a:sym typeface="Calibri"/>
                            </a:rPr>
                            <m:t>𝑖</m:t>
                          </m:r>
                          <m:r>
                            <a:rPr lang="ar-AE" sz="1200" b="0" i="0" u="none" strike="noStrike" cap="none">
                              <a:solidFill>
                                <a:schemeClr val="dk1"/>
                              </a:solidFill>
                              <a:latin typeface="Cambria Math" panose="02040503050406030204" pitchFamily="18" charset="0"/>
                              <a:ea typeface="Calibri"/>
                              <a:cs typeface="Calibri"/>
                              <a:sym typeface="Calibri"/>
                            </a:rPr>
                            <m:t>−</m:t>
                          </m:r>
                          <m:r>
                            <a:rPr lang="ar-AE" sz="1200" b="0" i="0" u="none" strike="noStrike" cap="none">
                              <a:solidFill>
                                <a:schemeClr val="dk1"/>
                              </a:solidFill>
                              <a:latin typeface="Cambria Math" panose="02040503050406030204" pitchFamily="18" charset="0"/>
                              <a:ea typeface="Calibri"/>
                              <a:cs typeface="Calibri"/>
                              <a:sym typeface="Calibri"/>
                            </a:rPr>
                            <m:t>1</m:t>
                          </m:r>
                        </m:sub>
                        <m:sup>
                          <m:r>
                            <a:rPr lang="ar-AE" sz="1200" b="0" i="1" u="none" strike="noStrike" cap="none">
                              <a:solidFill>
                                <a:schemeClr val="dk1"/>
                              </a:solidFill>
                              <a:latin typeface="Cambria Math" panose="02040503050406030204" pitchFamily="18" charset="0"/>
                              <a:ea typeface="Calibri"/>
                              <a:cs typeface="Calibri"/>
                              <a:sym typeface="Calibri"/>
                            </a:rPr>
                            <m:t>𝑑</m:t>
                          </m:r>
                        </m:sup>
                      </m:sSubSup>
                      <m:r>
                        <a:rPr lang="ar-AE" sz="1200" b="0" i="0" u="none" strike="noStrike" cap="none">
                          <a:solidFill>
                            <a:schemeClr val="dk1"/>
                          </a:solidFill>
                          <a:latin typeface="Cambria Math" panose="02040503050406030204" pitchFamily="18" charset="0"/>
                          <a:ea typeface="Calibri"/>
                          <a:cs typeface="Calibri"/>
                          <a:sym typeface="Calibri"/>
                        </a:rPr>
                        <m:t>⋅</m:t>
                      </m:r>
                      <m:sSubSup>
                        <m:sSubSupPr>
                          <m:ctrlPr>
                            <a:rPr lang="ar-AE" sz="1200" b="0" i="1" u="none" strike="noStrike" cap="none">
                              <a:solidFill>
                                <a:schemeClr val="dk1"/>
                              </a:solidFill>
                              <a:latin typeface="Cambria Math" panose="02040503050406030204" pitchFamily="18" charset="0"/>
                              <a:ea typeface="Calibri"/>
                              <a:cs typeface="Calibri"/>
                              <a:sym typeface="Calibri"/>
                            </a:rPr>
                          </m:ctrlPr>
                        </m:sSubSupPr>
                        <m:e>
                          <m:r>
                            <a:rPr lang="ar-AE" sz="1200" b="0" i="1" u="none" strike="noStrike" cap="none">
                              <a:solidFill>
                                <a:schemeClr val="dk1"/>
                              </a:solidFill>
                              <a:latin typeface="Cambria Math" panose="02040503050406030204" pitchFamily="18" charset="0"/>
                              <a:ea typeface="Calibri"/>
                              <a:cs typeface="Calibri"/>
                              <a:sym typeface="Calibri"/>
                            </a:rPr>
                            <m:t>h</m:t>
                          </m:r>
                        </m:e>
                        <m:sub>
                          <m:r>
                            <a:rPr lang="ar-AE" sz="1200" b="0" i="1" u="none" strike="noStrike" cap="none">
                              <a:solidFill>
                                <a:schemeClr val="dk1"/>
                              </a:solidFill>
                              <a:latin typeface="Cambria Math" panose="02040503050406030204" pitchFamily="18" charset="0"/>
                              <a:ea typeface="Calibri"/>
                              <a:cs typeface="Calibri"/>
                              <a:sym typeface="Calibri"/>
                            </a:rPr>
                            <m:t>𝑗</m:t>
                          </m:r>
                        </m:sub>
                        <m:sup>
                          <m:r>
                            <a:rPr lang="ar-AE" sz="1200" b="0" i="1" u="none" strike="noStrike" cap="none">
                              <a:solidFill>
                                <a:schemeClr val="dk1"/>
                              </a:solidFill>
                              <a:latin typeface="Cambria Math" panose="02040503050406030204" pitchFamily="18" charset="0"/>
                              <a:ea typeface="Calibri"/>
                              <a:cs typeface="Calibri"/>
                              <a:sym typeface="Calibri"/>
                            </a:rPr>
                            <m:t>𝑒</m:t>
                          </m:r>
                        </m:sup>
                      </m:sSubSup>
                    </m:oMath>
                  </m:oMathPara>
                </a14:m>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dot product effectively measures how aligned or similar the two vectors are, indicating how much attention should be paid to each encoder state.</a:t>
                </a:r>
              </a:p>
              <a:p>
                <a:r>
                  <a:rPr lang="en-US" sz="1200" b="1" i="0" u="none" strike="noStrike" cap="none" dirty="0">
                    <a:solidFill>
                      <a:schemeClr val="dk1"/>
                    </a:solidFill>
                    <a:effectLst/>
                    <a:latin typeface="Calibri"/>
                    <a:ea typeface="Calibri"/>
                    <a:cs typeface="Calibri"/>
                    <a:sym typeface="Calibri"/>
                  </a:rPr>
                  <a:t>Step 2: Normalize Scores to Get Weights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Objective:</a:t>
                </a:r>
                <a:r>
                  <a:rPr lang="en-US" sz="1200" b="0" i="0" u="none" strike="noStrike" cap="none" dirty="0">
                    <a:solidFill>
                      <a:schemeClr val="dk1"/>
                    </a:solidFill>
                    <a:effectLst/>
                    <a:latin typeface="Calibri"/>
                    <a:ea typeface="Calibri"/>
                    <a:cs typeface="Calibri"/>
                    <a:sym typeface="Calibri"/>
                  </a:rPr>
                  <a:t> Convert the raw scores into a set of weights that sum to 1, indicating the relative importance of each encoder hidden state.</a:t>
                </a:r>
              </a:p>
              <a:p>
                <a:r>
                  <a:rPr lang="en-US" sz="1200" b="1" i="0" u="none" strike="noStrike" cap="none" dirty="0" err="1">
                    <a:solidFill>
                      <a:schemeClr val="dk1"/>
                    </a:solidFill>
                    <a:effectLst/>
                    <a:latin typeface="Calibri"/>
                    <a:ea typeface="Calibri"/>
                    <a:cs typeface="Calibri"/>
                    <a:sym typeface="Calibri"/>
                  </a:rPr>
                  <a:t>Softmax</a:t>
                </a:r>
                <a:r>
                  <a:rPr lang="en-US" sz="1200" b="1" i="0" u="none" strike="noStrike" cap="none" dirty="0">
                    <a:solidFill>
                      <a:schemeClr val="dk1"/>
                    </a:solidFill>
                    <a:effectLst/>
                    <a:latin typeface="Calibri"/>
                    <a:ea typeface="Calibri"/>
                    <a:cs typeface="Calibri"/>
                    <a:sym typeface="Calibri"/>
                  </a:rPr>
                  <a:t> Normalization: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scores are passed through a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to produce a vector of attention weights </a:t>
                </a:r>
                <a14:m>
                  <m:oMath xmlns:m="http://schemas.openxmlformats.org/officeDocument/2006/math">
                    <m:sSub>
                      <m:sSubPr>
                        <m:ctrlPr>
                          <a:rPr lang="ar-AE" sz="1200" b="0" i="1" u="none" strike="noStrike" cap="none">
                            <a:solidFill>
                              <a:schemeClr val="dk1"/>
                            </a:solidFill>
                            <a:latin typeface="Cambria Math" panose="02040503050406030204" pitchFamily="18" charset="0"/>
                            <a:ea typeface="Calibri"/>
                            <a:cs typeface="Calibri"/>
                            <a:sym typeface="Calibri"/>
                          </a:rPr>
                        </m:ctrlPr>
                      </m:sSubPr>
                      <m:e>
                        <m:r>
                          <a:rPr lang="ar-AE" sz="1200" b="0" i="1" u="none" strike="noStrike" cap="none">
                            <a:solidFill>
                              <a:schemeClr val="dk1"/>
                            </a:solidFill>
                            <a:latin typeface="Cambria Math" panose="02040503050406030204" pitchFamily="18" charset="0"/>
                            <a:ea typeface="Calibri"/>
                            <a:cs typeface="Calibri"/>
                            <a:sym typeface="Calibri"/>
                          </a:rPr>
                          <m:t>𝛼</m:t>
                        </m:r>
                      </m:e>
                      <m:sub>
                        <m:r>
                          <a:rPr lang="ar-AE" sz="1200" b="0" i="1" u="none" strike="noStrike" cap="none">
                            <a:solidFill>
                              <a:schemeClr val="dk1"/>
                            </a:solidFill>
                            <a:latin typeface="Cambria Math" panose="02040503050406030204" pitchFamily="18" charset="0"/>
                            <a:ea typeface="Calibri"/>
                            <a:cs typeface="Calibri"/>
                            <a:sym typeface="Calibri"/>
                          </a:rPr>
                          <m:t>𝑖</m:t>
                        </m:r>
                        <m:r>
                          <a:rPr lang="ar-AE" sz="1200" b="0" i="0" u="none" strike="noStrike" cap="none">
                            <a:solidFill>
                              <a:schemeClr val="dk1"/>
                            </a:solidFill>
                            <a:latin typeface="Cambria Math" panose="02040503050406030204" pitchFamily="18" charset="0"/>
                            <a:ea typeface="Calibri"/>
                            <a:cs typeface="Calibri"/>
                            <a:sym typeface="Calibri"/>
                          </a:rPr>
                          <m:t>,</m:t>
                        </m:r>
                        <m:r>
                          <a:rPr lang="ar-AE" sz="1200" b="0" i="1" u="none" strike="noStrike" cap="none">
                            <a:solidFill>
                              <a:schemeClr val="dk1"/>
                            </a:solidFill>
                            <a:latin typeface="Cambria Math" panose="02040503050406030204" pitchFamily="18" charset="0"/>
                            <a:ea typeface="Calibri"/>
                            <a:cs typeface="Calibri"/>
                            <a:sym typeface="Calibri"/>
                          </a:rPr>
                          <m:t>𝑗</m:t>
                        </m:r>
                      </m:sub>
                    </m:sSub>
                  </m:oMath>
                </a14:m>
                <a:r>
                  <a:rPr lang="ar-AE"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ensures that the weights are positive and sum to 1, making them interpretable as probabilities.</a:t>
                </a:r>
              </a:p>
              <a:p>
                <a:pPr lvl="1"/>
                <a:r>
                  <a:rPr lang="en-US" sz="1200" b="0" i="0" u="none" strike="noStrike" cap="none" dirty="0">
                    <a:solidFill>
                      <a:schemeClr val="dk1"/>
                    </a:solidFill>
                    <a:effectLst/>
                    <a:latin typeface="Calibri"/>
                    <a:ea typeface="Calibri"/>
                    <a:cs typeface="Calibri"/>
                    <a:sym typeface="Calibri"/>
                  </a:rPr>
                  <a:t>Mathematically, the weight for each encoder state is calculated as:</a:t>
                </a:r>
                <a:br>
                  <a:rPr lang="en-US" sz="1200" b="0" i="0" u="none" strike="noStrike" cap="none" dirty="0">
                    <a:solidFill>
                      <a:schemeClr val="dk1"/>
                    </a:solidFill>
                    <a:effectLst/>
                    <a:latin typeface="Calibri"/>
                    <a:ea typeface="Calibri"/>
                    <a:cs typeface="Calibri"/>
                    <a:sym typeface="Calibri"/>
                  </a:rPr>
                </a:b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These weights indicate the proportional relevance of each encoder hidden state to the current decoder state.</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By calculating and normalizing these scores, the attention mechanism allows the model to dynamically focus on the most relevant parts of the input sequence for each word it generates.</a:t>
                </a:r>
              </a:p>
              <a:p>
                <a:r>
                  <a:rPr lang="en-US" sz="1200" b="0" i="0" u="none" strike="noStrike" cap="none" dirty="0">
                    <a:solidFill>
                      <a:schemeClr val="dk1"/>
                    </a:solidFill>
                    <a:effectLst/>
                    <a:latin typeface="Calibri"/>
                    <a:ea typeface="Calibri"/>
                    <a:cs typeface="Calibri"/>
                    <a:sym typeface="Calibri"/>
                  </a:rPr>
                  <a:t>This process enhances the model's ability to handle complex dependencies and contextual nuances in the input data.</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clear and detailed explanation of how attention mechanisms work, setting the foundation for understanding more advanced models like transformers, which use attention extensively to achieve superior performance in various tasks.</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dirty="0"/>
              </a:p>
            </p:txBody>
          </p:sp>
        </mc:Choice>
        <mc:Fallback>
          <p:sp>
            <p:nvSpPr>
              <p:cNvPr id="331" name="Google Shape;331;g2b8b5137f2c_0_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0" i="0" u="none" strike="noStrike" cap="none" dirty="0">
                    <a:solidFill>
                      <a:schemeClr val="dk1"/>
                    </a:solidFill>
                    <a:effectLst/>
                    <a:latin typeface="Calibri"/>
                    <a:ea typeface="Calibri"/>
                    <a:cs typeface="Calibri"/>
                    <a:sym typeface="Calibri"/>
                  </a:rPr>
                  <a:t>The attention mechanism involves calculating scores and weights to determine the relevance of each encoder hidden state to the current decoding step.</a:t>
                </a:r>
              </a:p>
              <a:p>
                <a:r>
                  <a:rPr lang="en-US" sz="1200" b="1" i="0" u="none" strike="noStrike" cap="none" dirty="0">
                    <a:solidFill>
                      <a:schemeClr val="dk1"/>
                    </a:solidFill>
                    <a:effectLst/>
                    <a:latin typeface="Calibri"/>
                    <a:ea typeface="Calibri"/>
                    <a:cs typeface="Calibri"/>
                    <a:sym typeface="Calibri"/>
                  </a:rPr>
                  <a:t>Step 1: Calculate Relevance Scores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Objective:</a:t>
                </a:r>
                <a:r>
                  <a:rPr lang="en-US" sz="1200" b="0" i="0" u="none" strike="noStrike" cap="none" dirty="0">
                    <a:solidFill>
                      <a:schemeClr val="dk1"/>
                    </a:solidFill>
                    <a:effectLst/>
                    <a:latin typeface="Calibri"/>
                    <a:ea typeface="Calibri"/>
                    <a:cs typeface="Calibri"/>
                    <a:sym typeface="Calibri"/>
                  </a:rPr>
                  <a:t> Determine how relevant each encoder hidden state </a:t>
                </a:r>
                <a:r>
                  <a:rPr lang="ar-AE" sz="1200" b="0" i="0" u="none" strike="noStrike" cap="none">
                    <a:solidFill>
                      <a:schemeClr val="dk1"/>
                    </a:solidFill>
                    <a:latin typeface="Cambria Math" panose="02040503050406030204" pitchFamily="18" charset="0"/>
                    <a:ea typeface="Calibri"/>
                    <a:cs typeface="Calibri"/>
                    <a:sym typeface="Calibri"/>
                  </a:rPr>
                  <a:t>ℎ_𝑗^𝑒</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to the current decoder hidden state </a:t>
                </a:r>
                <a:r>
                  <a:rPr lang="ar-AE" sz="1200" b="0" i="0" u="none" strike="noStrike" cap="none">
                    <a:solidFill>
                      <a:schemeClr val="dk1"/>
                    </a:solidFill>
                    <a:latin typeface="Cambria Math" panose="02040503050406030204" pitchFamily="18" charset="0"/>
                    <a:ea typeface="Calibri"/>
                    <a:cs typeface="Calibri"/>
                    <a:sym typeface="Calibri"/>
                  </a:rPr>
                  <a:t>ℎ_(𝑖−1)^𝑑</a:t>
                </a:r>
                <a:r>
                  <a:rPr lang="ar-AE" sz="1200" b="0" i="0" u="none" strike="noStrike" cap="none" dirty="0">
                    <a:solidFill>
                      <a:schemeClr val="dk1"/>
                    </a:solidFill>
                    <a:effectLst/>
                    <a:latin typeface="Calibri"/>
                    <a:ea typeface="Calibri"/>
                    <a:cs typeface="Calibri"/>
                    <a:sym typeface="Calibri"/>
                  </a:rPr>
                  <a:t>.</a:t>
                </a:r>
              </a:p>
              <a:p>
                <a:r>
                  <a:rPr lang="en-US" sz="1200" b="1" i="0" u="none" strike="noStrike" cap="none" dirty="0">
                    <a:solidFill>
                      <a:schemeClr val="dk1"/>
                    </a:solidFill>
                    <a:effectLst/>
                    <a:latin typeface="Calibri"/>
                    <a:ea typeface="Calibri"/>
                    <a:cs typeface="Calibri"/>
                    <a:sym typeface="Calibri"/>
                  </a:rPr>
                  <a:t>Score Calculation: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score is a measure of similarity between the decoder's previous hidden state and each encoder hidden state.</a:t>
                </a:r>
              </a:p>
              <a:p>
                <a:pPr lvl="1"/>
                <a:r>
                  <a:rPr lang="en-US" sz="1200" b="1" i="0" u="none" strike="noStrike" cap="none" dirty="0">
                    <a:solidFill>
                      <a:schemeClr val="dk1"/>
                    </a:solidFill>
                    <a:effectLst/>
                    <a:latin typeface="Calibri"/>
                    <a:ea typeface="Calibri"/>
                    <a:cs typeface="Calibri"/>
                    <a:sym typeface="Calibri"/>
                  </a:rPr>
                  <a:t>Dot Product Attention:</a:t>
                </a:r>
                <a:r>
                  <a:rPr lang="en-US" sz="1200" b="0" i="0" u="none" strike="noStrike" cap="none" dirty="0">
                    <a:solidFill>
                      <a:schemeClr val="dk1"/>
                    </a:solidFill>
                    <a:effectLst/>
                    <a:latin typeface="Calibri"/>
                    <a:ea typeface="Calibri"/>
                    <a:cs typeface="Calibri"/>
                    <a:sym typeface="Calibri"/>
                  </a:rPr>
                  <a:t> This is a common method for calculating the score, where the score is the dot product of </a:t>
                </a:r>
                <a:r>
                  <a:rPr lang="ar-AE" sz="1200" b="0" i="0" u="none" strike="noStrike" cap="none">
                    <a:solidFill>
                      <a:schemeClr val="dk1"/>
                    </a:solidFill>
                    <a:latin typeface="Cambria Math" panose="02040503050406030204" pitchFamily="18" charset="0"/>
                    <a:ea typeface="Calibri"/>
                    <a:cs typeface="Calibri"/>
                    <a:sym typeface="Calibri"/>
                  </a:rPr>
                  <a:t>ℎ_(𝑖−1)^𝑑</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a:t>
                </a:r>
                <a:r>
                  <a:rPr lang="ar-AE" sz="1200" b="0" i="0" u="none" strike="noStrike" cap="none">
                    <a:solidFill>
                      <a:schemeClr val="dk1"/>
                    </a:solidFill>
                    <a:latin typeface="Cambria Math" panose="02040503050406030204" pitchFamily="18" charset="0"/>
                    <a:ea typeface="Calibri"/>
                    <a:cs typeface="Calibri"/>
                    <a:sym typeface="Calibri"/>
                  </a:rPr>
                  <a:t>ℎ_𝑗^𝑒</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Mathematically, it's expressed as:</a:t>
                </a:r>
                <a:br>
                  <a:rPr lang="en-US" sz="1200" b="0" i="0" u="none" strike="noStrike" cap="none" dirty="0">
                    <a:solidFill>
                      <a:schemeClr val="dk1"/>
                    </a:solidFill>
                    <a:effectLst/>
                    <a:latin typeface="Calibri"/>
                    <a:ea typeface="Calibri"/>
                    <a:cs typeface="Calibri"/>
                    <a:sym typeface="Calibri"/>
                  </a:rPr>
                </a:br>
                <a:r>
                  <a:rPr lang="en-US" b="0" i="0">
                    <a:latin typeface="Cambria Math" panose="02040503050406030204" pitchFamily="18" charset="0"/>
                  </a:rPr>
                  <a:t>"score</a:t>
                </a:r>
                <a:r>
                  <a:rPr lang="ar-AE" sz="1200" b="0" i="0" u="none" strike="noStrike" cap="none">
                    <a:solidFill>
                      <a:schemeClr val="dk1"/>
                    </a:solidFill>
                    <a:latin typeface="Cambria Math" panose="02040503050406030204" pitchFamily="18" charset="0"/>
                    <a:sym typeface="Calibri"/>
                  </a:rPr>
                  <a:t>" </a:t>
                </a:r>
                <a:r>
                  <a:rPr lang="ar-AE" sz="1200" b="0" i="0" u="none" strike="noStrike" cap="none">
                    <a:solidFill>
                      <a:schemeClr val="dk1"/>
                    </a:solidFill>
                    <a:latin typeface="Cambria Math" panose="02040503050406030204" pitchFamily="18" charset="0"/>
                    <a:ea typeface="Calibri"/>
                    <a:cs typeface="Calibri"/>
                    <a:sym typeface="Calibri"/>
                  </a:rPr>
                  <a:t>(</a:t>
                </a:r>
                <a:r>
                  <a:rPr lang="ar-AE" b="0" i="0">
                    <a:latin typeface="Cambria Math" panose="02040503050406030204" pitchFamily="18" charset="0"/>
                  </a:rPr>
                  <a:t>ℎ</a:t>
                </a:r>
                <a:r>
                  <a:rPr lang="ar-AE" sz="1200" b="0" i="0" u="none" strike="noStrike" cap="none">
                    <a:solidFill>
                      <a:schemeClr val="dk1"/>
                    </a:solidFill>
                    <a:latin typeface="Cambria Math" panose="02040503050406030204" pitchFamily="18" charset="0"/>
                    <a:sym typeface="Calibri"/>
                  </a:rPr>
                  <a:t>_(</a:t>
                </a:r>
                <a:r>
                  <a:rPr lang="ar-AE" b="0" i="0">
                    <a:latin typeface="Cambria Math" panose="02040503050406030204" pitchFamily="18" charset="0"/>
                  </a:rPr>
                  <a:t>𝑖</a:t>
                </a:r>
                <a:r>
                  <a:rPr lang="ar-AE" sz="1200" b="0" i="0" u="none" strike="noStrike" cap="none">
                    <a:solidFill>
                      <a:schemeClr val="dk1"/>
                    </a:solidFill>
                    <a:latin typeface="Cambria Math" panose="02040503050406030204" pitchFamily="18" charset="0"/>
                    <a:ea typeface="Calibri"/>
                    <a:cs typeface="Calibri"/>
                    <a:sym typeface="Calibri"/>
                  </a:rPr>
                  <a:t>−1)^𝑑ⓜ,ℎ_𝑗^𝑒 )=ℎ_(𝑖−1)^𝑑⋅ℎ_𝑗^𝑒</a:t>
                </a: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dot product effectively measures how aligned or similar the two vectors are, indicating how much attention should be paid to each encoder state.</a:t>
                </a:r>
              </a:p>
              <a:p>
                <a:r>
                  <a:rPr lang="en-US" sz="1200" b="1" i="0" u="none" strike="noStrike" cap="none" dirty="0">
                    <a:solidFill>
                      <a:schemeClr val="dk1"/>
                    </a:solidFill>
                    <a:effectLst/>
                    <a:latin typeface="Calibri"/>
                    <a:ea typeface="Calibri"/>
                    <a:cs typeface="Calibri"/>
                    <a:sym typeface="Calibri"/>
                  </a:rPr>
                  <a:t>Step 2: Normalize Scores to Get Weights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Objective:</a:t>
                </a:r>
                <a:r>
                  <a:rPr lang="en-US" sz="1200" b="0" i="0" u="none" strike="noStrike" cap="none" dirty="0">
                    <a:solidFill>
                      <a:schemeClr val="dk1"/>
                    </a:solidFill>
                    <a:effectLst/>
                    <a:latin typeface="Calibri"/>
                    <a:ea typeface="Calibri"/>
                    <a:cs typeface="Calibri"/>
                    <a:sym typeface="Calibri"/>
                  </a:rPr>
                  <a:t> Convert the raw scores into a set of weights that sum to 1, indicating the relative importance of each encoder hidden state.</a:t>
                </a:r>
              </a:p>
              <a:p>
                <a:r>
                  <a:rPr lang="en-US" sz="1200" b="1" i="0" u="none" strike="noStrike" cap="none" dirty="0" err="1">
                    <a:solidFill>
                      <a:schemeClr val="dk1"/>
                    </a:solidFill>
                    <a:effectLst/>
                    <a:latin typeface="Calibri"/>
                    <a:ea typeface="Calibri"/>
                    <a:cs typeface="Calibri"/>
                    <a:sym typeface="Calibri"/>
                  </a:rPr>
                  <a:t>Softmax</a:t>
                </a:r>
                <a:r>
                  <a:rPr lang="en-US" sz="1200" b="1" i="0" u="none" strike="noStrike" cap="none" dirty="0">
                    <a:solidFill>
                      <a:schemeClr val="dk1"/>
                    </a:solidFill>
                    <a:effectLst/>
                    <a:latin typeface="Calibri"/>
                    <a:ea typeface="Calibri"/>
                    <a:cs typeface="Calibri"/>
                    <a:sym typeface="Calibri"/>
                  </a:rPr>
                  <a:t> Normalization: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scores are passed through a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to produce a vector of attention weights </a:t>
                </a:r>
                <a:r>
                  <a:rPr lang="ar-AE" sz="1200" b="0" i="0" u="none" strike="noStrike" cap="none">
                    <a:solidFill>
                      <a:schemeClr val="dk1"/>
                    </a:solidFill>
                    <a:latin typeface="Cambria Math" panose="02040503050406030204" pitchFamily="18" charset="0"/>
                    <a:ea typeface="Calibri"/>
                    <a:cs typeface="Calibri"/>
                    <a:sym typeface="Calibri"/>
                  </a:rPr>
                  <a:t>𝛼_(𝑖,𝑗)</a:t>
                </a:r>
                <a:r>
                  <a:rPr lang="ar-AE"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ensures that the weights are positive and sum to 1, making them interpretable as probabilities.</a:t>
                </a:r>
              </a:p>
              <a:p>
                <a:pPr lvl="1"/>
                <a:r>
                  <a:rPr lang="en-US" sz="1200" b="0" i="0" u="none" strike="noStrike" cap="none" dirty="0">
                    <a:solidFill>
                      <a:schemeClr val="dk1"/>
                    </a:solidFill>
                    <a:effectLst/>
                    <a:latin typeface="Calibri"/>
                    <a:ea typeface="Calibri"/>
                    <a:cs typeface="Calibri"/>
                    <a:sym typeface="Calibri"/>
                  </a:rPr>
                  <a:t>Mathematically, the weight for each encoder state is calculated as:</a:t>
                </a:r>
                <a:br>
                  <a:rPr lang="en-US" sz="1200" b="0" i="0" u="none" strike="noStrike" cap="none" dirty="0">
                    <a:solidFill>
                      <a:schemeClr val="dk1"/>
                    </a:solidFill>
                    <a:effectLst/>
                    <a:latin typeface="Calibri"/>
                    <a:ea typeface="Calibri"/>
                    <a:cs typeface="Calibri"/>
                    <a:sym typeface="Calibri"/>
                  </a:rPr>
                </a:b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These weights indicate the proportional relevance of each encoder hidden state to the current decoder state.</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By calculating and normalizing these scores, the attention mechanism allows the model to dynamically focus on the most relevant parts of the input sequence for each word it generates.</a:t>
                </a:r>
              </a:p>
              <a:p>
                <a:r>
                  <a:rPr lang="en-US" sz="1200" b="0" i="0" u="none" strike="noStrike" cap="none" dirty="0">
                    <a:solidFill>
                      <a:schemeClr val="dk1"/>
                    </a:solidFill>
                    <a:effectLst/>
                    <a:latin typeface="Calibri"/>
                    <a:ea typeface="Calibri"/>
                    <a:cs typeface="Calibri"/>
                    <a:sym typeface="Calibri"/>
                  </a:rPr>
                  <a:t>This process enhances the model's ability to handle complex dependencies and contextual nuances in the input data.</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clear and detailed explanation of how attention mechanisms work, setting the foundation for understanding more advanced models like transformers, which use attention extensively to achieve superior performance in various tasks.</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dirty="0"/>
              </a:p>
            </p:txBody>
          </p:sp>
        </mc:Fallback>
      </mc:AlternateContent>
      <p:sp>
        <p:nvSpPr>
          <p:cNvPr id="332" name="Google Shape;332;g2b8b5137f2c_0_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2b8b5137f2c_0_1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351" name="Google Shape;351;g2b8b5137f2c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Step 3: Compute the Context Vector</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Objective:</a:t>
                </a:r>
                <a:r>
                  <a:rPr lang="en-US" sz="1200" b="0" i="0" u="none" strike="noStrike" cap="none" dirty="0">
                    <a:solidFill>
                      <a:schemeClr val="dk1"/>
                    </a:solidFill>
                    <a:effectLst/>
                    <a:latin typeface="Calibri"/>
                    <a:ea typeface="Calibri"/>
                    <a:cs typeface="Calibri"/>
                    <a:sym typeface="Calibri"/>
                  </a:rPr>
                  <a:t> Use the attention weights calculated in the previous step to create a context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𝑐</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that is specific to the current decoder state.</a:t>
                </a:r>
              </a:p>
              <a:p>
                <a:r>
                  <a:rPr lang="en-US" sz="1200" b="1" i="0" u="none" strike="noStrike" cap="none" dirty="0">
                    <a:solidFill>
                      <a:schemeClr val="dk1"/>
                    </a:solidFill>
                    <a:effectLst/>
                    <a:latin typeface="Calibri"/>
                    <a:ea typeface="Calibri"/>
                    <a:cs typeface="Calibri"/>
                    <a:sym typeface="Calibri"/>
                  </a:rPr>
                  <a:t>Weighted Average: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context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𝑐</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as a weighted sum of all the encoder hidden states </a:t>
                </a:r>
                <a14:m>
                  <m:oMath xmlns:m="http://schemas.openxmlformats.org/officeDocument/2006/math">
                    <m:sSubSup>
                      <m:sSubSupPr>
                        <m:ctrlPr>
                          <a:rPr lang="ar-AE" sz="1200" b="0" i="0"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𝑗</m:t>
                        </m:r>
                      </m:sub>
                      <m:sup>
                        <m:r>
                          <a:rPr lang="ar-AE" sz="1200" b="0" i="1" u="none" strike="noStrike" cap="none">
                            <a:solidFill>
                              <a:schemeClr val="dk1"/>
                            </a:solidFill>
                            <a:latin typeface="Calibri"/>
                            <a:ea typeface="Calibri"/>
                            <a:cs typeface="Calibri"/>
                            <a:sym typeface="Calibri"/>
                          </a:rPr>
                          <m:t>𝑒</m:t>
                        </m:r>
                      </m:sup>
                    </m:sSubSup>
                  </m:oMath>
                </a14:m>
                <a:r>
                  <a:rPr lang="ar-AE"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Each encoder hidden state is multiplied by its corresponding attention weight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𝛼</m:t>
                        </m:r>
                      </m:e>
                      <m:sub>
                        <m:r>
                          <a:rPr lang="ar-AE" sz="1200" b="0" i="1" u="none" strike="noStrike" cap="none">
                            <a:solidFill>
                              <a:schemeClr val="dk1"/>
                            </a:solidFill>
                            <a:latin typeface="Calibri"/>
                            <a:ea typeface="Calibri"/>
                            <a:cs typeface="Calibri"/>
                            <a:sym typeface="Calibri"/>
                          </a:rPr>
                          <m:t>𝑖</m:t>
                        </m:r>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𝑗</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which indicates its relevance to the current decoding step.</a:t>
                </a:r>
              </a:p>
              <a:p>
                <a:pPr lvl="1"/>
                <a:r>
                  <a:rPr lang="en-US" sz="1200" b="0" i="0" u="none" strike="noStrike" cap="none" dirty="0">
                    <a:solidFill>
                      <a:schemeClr val="dk1"/>
                    </a:solidFill>
                    <a:effectLst/>
                    <a:latin typeface="Calibri"/>
                    <a:ea typeface="Calibri"/>
                    <a:cs typeface="Calibri"/>
                    <a:sym typeface="Calibri"/>
                  </a:rPr>
                  <a:t>Mathematically, the context vector is expressed as:</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𝑐</m:t>
                          </m:r>
                        </m:e>
                        <m:sub>
                          <m:r>
                            <a:rPr lang="ar-AE" sz="1200" b="0" i="1" u="none" strike="noStrike" cap="none">
                              <a:solidFill>
                                <a:schemeClr val="dk1"/>
                              </a:solidFill>
                              <a:latin typeface="Calibri"/>
                              <a:ea typeface="Calibri"/>
                              <a:cs typeface="Calibri"/>
                              <a:sym typeface="Calibri"/>
                            </a:rPr>
                            <m:t>𝑖</m:t>
                          </m:r>
                        </m:sub>
                      </m:sSub>
                      <m:r>
                        <a:rPr lang="ar-AE" sz="1200" b="0" i="0" u="none" strike="noStrike" cap="none">
                          <a:solidFill>
                            <a:schemeClr val="dk1"/>
                          </a:solidFill>
                          <a:latin typeface="Calibri"/>
                          <a:ea typeface="Calibri"/>
                          <a:cs typeface="Calibri"/>
                          <a:sym typeface="Calibri"/>
                        </a:rPr>
                        <m:t>=</m:t>
                      </m:r>
                      <m:nary>
                        <m:naryPr>
                          <m:chr m:val="∑"/>
                          <m:limLoc m:val="subSup"/>
                          <m:grow m:val="on"/>
                          <m:supHide m:val="on"/>
                          <m:ctrlPr>
                            <a:rPr lang="ar-AE" sz="1200" b="0" i="1" u="none" strike="noStrike" cap="none">
                              <a:solidFill>
                                <a:schemeClr val="dk1"/>
                              </a:solidFill>
                              <a:latin typeface="Calibri"/>
                              <a:ea typeface="Calibri"/>
                              <a:cs typeface="Calibri"/>
                              <a:sym typeface="Calibri"/>
                            </a:rPr>
                          </m:ctrlPr>
                        </m:naryPr>
                        <m:sub>
                          <m:r>
                            <a:rPr lang="ar-AE" sz="1200" b="0" i="1" u="none" strike="noStrike" cap="none">
                              <a:solidFill>
                                <a:schemeClr val="dk1"/>
                              </a:solidFill>
                              <a:latin typeface="Calibri"/>
                              <a:ea typeface="Calibri"/>
                              <a:cs typeface="Calibri"/>
                              <a:sym typeface="Calibri"/>
                            </a:rPr>
                            <m:t>𝑗</m:t>
                          </m:r>
                        </m:sub>
                        <m:sup/>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𝛼</m:t>
                              </m:r>
                            </m:e>
                            <m:sub>
                              <m:r>
                                <a:rPr lang="ar-AE" sz="1200" b="0" i="1" u="none" strike="noStrike" cap="none">
                                  <a:solidFill>
                                    <a:schemeClr val="dk1"/>
                                  </a:solidFill>
                                  <a:latin typeface="Calibri"/>
                                  <a:ea typeface="Calibri"/>
                                  <a:cs typeface="Calibri"/>
                                  <a:sym typeface="Calibri"/>
                                </a:rPr>
                                <m:t>𝑖</m:t>
                              </m:r>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𝑗</m:t>
                              </m:r>
                            </m:sub>
                          </m:sSub>
                        </m:e>
                      </m:nary>
                      <m:sSubSup>
                        <m:sSubSupPr>
                          <m:ctrlPr>
                            <a:rPr lang="ar-AE" sz="1200" b="0" i="1"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𝑗</m:t>
                          </m:r>
                        </m:sub>
                        <m:sup>
                          <m:r>
                            <a:rPr lang="ar-AE" sz="1200" b="0" i="1" u="none" strike="noStrike" cap="none">
                              <a:solidFill>
                                <a:schemeClr val="dk1"/>
                              </a:solidFill>
                              <a:latin typeface="Calibri"/>
                              <a:ea typeface="Calibri"/>
                              <a:cs typeface="Calibri"/>
                              <a:sym typeface="Calibri"/>
                            </a:rPr>
                            <m:t>𝑒</m:t>
                          </m:r>
                        </m:sup>
                      </m:sSubSup>
                    </m:oMath>
                  </m:oMathPara>
                </a14:m>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This operation effectively combines the encoder hidden states into a single vector that captures the most relevant information for generating the current output word.</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context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𝑐</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dynamic and changes for each word being generated, allowing the model to focus on different parts of the input sequence as needed.</a:t>
                </a:r>
              </a:p>
              <a:p>
                <a:r>
                  <a:rPr lang="en-US" sz="1200" b="0" i="0" u="none" strike="noStrike" cap="none" dirty="0">
                    <a:solidFill>
                      <a:schemeClr val="dk1"/>
                    </a:solidFill>
                    <a:effectLst/>
                    <a:latin typeface="Calibri"/>
                    <a:ea typeface="Calibri"/>
                    <a:cs typeface="Calibri"/>
                    <a:sym typeface="Calibri"/>
                  </a:rPr>
                  <a:t>This dynamic adjustment helps the model handle complex dependencies and contextual nuances, improving the quality and accuracy of the generated output.</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By completing this step, the attention mechanism provides the decoder with a tailored context for each word it generates, enhancing the model's ability to produce coherent and contextually appropriate translations. This understanding is essential for appreciating how attention mechanisms contribute to the success of advanced models like transformers, which leverage attention to achieve state-of-the-art performance in various tasks.</a:t>
                </a:r>
              </a:p>
              <a:p>
                <a:pPr marL="0" lvl="0" indent="0" algn="l" rtl="0">
                  <a:lnSpc>
                    <a:spcPct val="100000"/>
                  </a:lnSpc>
                  <a:spcBef>
                    <a:spcPts val="0"/>
                  </a:spcBef>
                  <a:spcAft>
                    <a:spcPts val="0"/>
                  </a:spcAft>
                  <a:buSzPts val="1400"/>
                  <a:buNone/>
                </a:pPr>
                <a:endParaRPr dirty="0"/>
              </a:p>
            </p:txBody>
          </p:sp>
        </mc:Choice>
        <mc:Fallback>
          <p:sp>
            <p:nvSpPr>
              <p:cNvPr id="351" name="Google Shape;351;g2b8b5137f2c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Step 3: Compute the Context Vector</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Objective:</a:t>
                </a:r>
                <a:r>
                  <a:rPr lang="en-US" sz="1200" b="0" i="0" u="none" strike="noStrike" cap="none" dirty="0">
                    <a:solidFill>
                      <a:schemeClr val="dk1"/>
                    </a:solidFill>
                    <a:effectLst/>
                    <a:latin typeface="Calibri"/>
                    <a:ea typeface="Calibri"/>
                    <a:cs typeface="Calibri"/>
                    <a:sym typeface="Calibri"/>
                  </a:rPr>
                  <a:t> Use the attention weights calculated in the previous step to create a context vector </a:t>
                </a:r>
                <a:r>
                  <a:rPr lang="ar-AE" sz="1200" b="0" i="0" u="none" strike="noStrike" cap="none">
                    <a:solidFill>
                      <a:schemeClr val="dk1"/>
                    </a:solidFill>
                    <a:latin typeface="Calibri"/>
                    <a:ea typeface="Calibri"/>
                    <a:cs typeface="Calibri"/>
                    <a:sym typeface="Calibri"/>
                  </a:rPr>
                  <a:t>𝑐_𝑖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that is specific to the current decoder state.</a:t>
                </a:r>
              </a:p>
              <a:p>
                <a:r>
                  <a:rPr lang="en-US" sz="1200" b="1" i="0" u="none" strike="noStrike" cap="none" dirty="0">
                    <a:solidFill>
                      <a:schemeClr val="dk1"/>
                    </a:solidFill>
                    <a:effectLst/>
                    <a:latin typeface="Calibri"/>
                    <a:ea typeface="Calibri"/>
                    <a:cs typeface="Calibri"/>
                    <a:sym typeface="Calibri"/>
                  </a:rPr>
                  <a:t>Weighted Average: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context vector </a:t>
                </a:r>
                <a:r>
                  <a:rPr lang="ar-AE" sz="1200" b="0" i="0" u="none" strike="noStrike" cap="none">
                    <a:solidFill>
                      <a:schemeClr val="dk1"/>
                    </a:solidFill>
                    <a:latin typeface="Calibri"/>
                    <a:ea typeface="Calibri"/>
                    <a:cs typeface="Calibri"/>
                    <a:sym typeface="Calibri"/>
                  </a:rPr>
                  <a:t>𝑐_𝑖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as a weighted sum of all the encoder hidden states </a:t>
                </a:r>
                <a:r>
                  <a:rPr lang="ar-AE" sz="1200" b="0" i="0" u="none" strike="noStrike" cap="none">
                    <a:solidFill>
                      <a:schemeClr val="dk1"/>
                    </a:solidFill>
                    <a:latin typeface="Calibri"/>
                    <a:ea typeface="Calibri"/>
                    <a:cs typeface="Calibri"/>
                    <a:sym typeface="Calibri"/>
                  </a:rPr>
                  <a:t>ℎ_𝑗^𝑒</a:t>
                </a:r>
                <a:r>
                  <a:rPr lang="ar-AE"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Each encoder hidden state is multiplied by its corresponding attention weight </a:t>
                </a:r>
                <a:r>
                  <a:rPr lang="ar-AE" sz="1200" b="0" i="0" u="none" strike="noStrike" cap="none">
                    <a:solidFill>
                      <a:schemeClr val="dk1"/>
                    </a:solidFill>
                    <a:latin typeface="Calibri"/>
                    <a:ea typeface="Calibri"/>
                    <a:cs typeface="Calibri"/>
                    <a:sym typeface="Calibri"/>
                  </a:rPr>
                  <a:t>𝛼_(𝑖,𝑗)</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which indicates its relevance to the current decoding step.</a:t>
                </a:r>
              </a:p>
              <a:p>
                <a:pPr lvl="1"/>
                <a:r>
                  <a:rPr lang="en-US" sz="1200" b="0" i="0" u="none" strike="noStrike" cap="none" dirty="0">
                    <a:solidFill>
                      <a:schemeClr val="dk1"/>
                    </a:solidFill>
                    <a:effectLst/>
                    <a:latin typeface="Calibri"/>
                    <a:ea typeface="Calibri"/>
                    <a:cs typeface="Calibri"/>
                    <a:sym typeface="Calibri"/>
                  </a:rPr>
                  <a:t>Mathematically, the context vector is expressed as:</a:t>
                </a:r>
                <a:br>
                  <a:rPr lang="en-US" sz="1200" b="0" i="0" u="none" strike="noStrike" cap="none" dirty="0">
                    <a:solidFill>
                      <a:schemeClr val="dk1"/>
                    </a:solidFill>
                    <a:effectLst/>
                    <a:latin typeface="Calibri"/>
                    <a:ea typeface="Calibri"/>
                    <a:cs typeface="Calibri"/>
                    <a:sym typeface="Calibri"/>
                  </a:rPr>
                </a:br>
                <a:r>
                  <a:rPr lang="ar-AE" sz="1200" b="0" i="0" u="none" strike="noStrike" cap="none">
                    <a:solidFill>
                      <a:schemeClr val="dk1"/>
                    </a:solidFill>
                    <a:latin typeface="Calibri"/>
                    <a:ea typeface="Calibri"/>
                    <a:cs typeface="Calibri"/>
                    <a:sym typeface="Calibri"/>
                  </a:rPr>
                  <a:t>𝑐_𝑖=∑130_𝑗▒𝛼_(𝑖,𝑗)  ℎ_𝑗^𝑒</a:t>
                </a: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This operation effectively combines the encoder hidden states into a single vector that captures the most relevant information for generating the current output word.</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context vector </a:t>
                </a:r>
                <a:r>
                  <a:rPr lang="ar-AE" sz="1200" b="0" i="0" u="none" strike="noStrike" cap="none">
                    <a:solidFill>
                      <a:schemeClr val="dk1"/>
                    </a:solidFill>
                    <a:latin typeface="Calibri"/>
                    <a:ea typeface="Calibri"/>
                    <a:cs typeface="Calibri"/>
                    <a:sym typeface="Calibri"/>
                  </a:rPr>
                  <a:t>𝑐_𝑖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dynamic and changes for each word being generated, allowing the model to focus on different parts of the input sequence as needed.</a:t>
                </a:r>
              </a:p>
              <a:p>
                <a:r>
                  <a:rPr lang="en-US" sz="1200" b="0" i="0" u="none" strike="noStrike" cap="none" dirty="0">
                    <a:solidFill>
                      <a:schemeClr val="dk1"/>
                    </a:solidFill>
                    <a:effectLst/>
                    <a:latin typeface="Calibri"/>
                    <a:ea typeface="Calibri"/>
                    <a:cs typeface="Calibri"/>
                    <a:sym typeface="Calibri"/>
                  </a:rPr>
                  <a:t>This dynamic adjustment helps the model handle complex dependencies and contextual nuances, improving the quality and accuracy of the generated output.</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By completing this step, the attention mechanism provides the decoder with a tailored context for each word it generates, enhancing the model's ability to produce coherent and contextually appropriate translations. This understanding is essential for appreciating how attention mechanisms contribute to the success of advanced models like transformers, which leverage attention to achieve state-of-the-art performance in various tasks.</a:t>
                </a:r>
              </a:p>
              <a:p>
                <a:pPr marL="0" lvl="0" indent="0" algn="l" rtl="0">
                  <a:lnSpc>
                    <a:spcPct val="100000"/>
                  </a:lnSpc>
                  <a:spcBef>
                    <a:spcPts val="0"/>
                  </a:spcBef>
                  <a:spcAft>
                    <a:spcPts val="0"/>
                  </a:spcAft>
                  <a:buSzPts val="1400"/>
                  <a:buNone/>
                </a:pPr>
                <a:endParaRPr dirty="0"/>
              </a:p>
            </p:txBody>
          </p:sp>
        </mc:Fallback>
      </mc:AlternateContent>
      <p:sp>
        <p:nvSpPr>
          <p:cNvPr id="352" name="Google Shape;352;g2b8b5137f2c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b8b5137f2c_0_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361" name="Google Shape;361;g2b8b5137f2c_0_1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Step 3 Recap: Compute the Context Vector</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context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𝑐</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as a weighted average of the encoder hidden states, using the attention weights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𝛼</m:t>
                        </m:r>
                      </m:e>
                      <m:sub>
                        <m:r>
                          <a:rPr lang="ar-AE" sz="1200" b="0" i="1" u="none" strike="noStrike" cap="none">
                            <a:solidFill>
                              <a:schemeClr val="dk1"/>
                            </a:solidFill>
                            <a:latin typeface="Calibri"/>
                            <a:ea typeface="Calibri"/>
                            <a:cs typeface="Calibri"/>
                            <a:sym typeface="Calibri"/>
                          </a:rPr>
                          <m:t>𝑖</m:t>
                        </m:r>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𝑗</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to focus on the most relevant parts of the input sequence for the current decoder state.</a:t>
                </a:r>
              </a:p>
              <a:p>
                <a:r>
                  <a:rPr lang="en-US" sz="1200" b="1" i="0" u="none" strike="noStrike" cap="none" dirty="0">
                    <a:solidFill>
                      <a:schemeClr val="dk1"/>
                    </a:solidFill>
                    <a:effectLst/>
                    <a:latin typeface="Calibri"/>
                    <a:ea typeface="Calibri"/>
                    <a:cs typeface="Calibri"/>
                    <a:sym typeface="Calibri"/>
                  </a:rPr>
                  <a:t>Enhancement: Parameterized Scoring Function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Objective:</a:t>
                </a:r>
                <a:r>
                  <a:rPr lang="en-US" sz="1200" b="0" i="0" u="none" strike="noStrike" cap="none" dirty="0">
                    <a:solidFill>
                      <a:schemeClr val="dk1"/>
                    </a:solidFill>
                    <a:effectLst/>
                    <a:latin typeface="Calibri"/>
                    <a:ea typeface="Calibri"/>
                    <a:cs typeface="Calibri"/>
                    <a:sym typeface="Calibri"/>
                  </a:rPr>
                  <a:t> Improve the scoring function used in Step 1 to better capture the relevance of each encoder hidden state to the current decoder state.</a:t>
                </a:r>
              </a:p>
              <a:p>
                <a:r>
                  <a:rPr lang="en-US" sz="1200" b="1" i="0" u="none" strike="noStrike" cap="none" dirty="0">
                    <a:solidFill>
                      <a:schemeClr val="dk1"/>
                    </a:solidFill>
                    <a:effectLst/>
                    <a:latin typeface="Calibri"/>
                    <a:ea typeface="Calibri"/>
                    <a:cs typeface="Calibri"/>
                    <a:sym typeface="Calibri"/>
                  </a:rPr>
                  <a:t>Parameterized Score: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Instead of using a simple dot product, the score can be parameterized with a learnable weight matrix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𝑊</m:t>
                        </m:r>
                      </m:e>
                      <m:sub>
                        <m:r>
                          <a:rPr lang="ar-AE" sz="1200" b="0" i="1" u="none" strike="noStrike" cap="none">
                            <a:solidFill>
                              <a:schemeClr val="dk1"/>
                            </a:solidFill>
                            <a:latin typeface="Calibri"/>
                            <a:ea typeface="Calibri"/>
                            <a:cs typeface="Calibri"/>
                            <a:sym typeface="Calibri"/>
                          </a:rPr>
                          <m:t>𝑠</m:t>
                        </m:r>
                      </m:sub>
                    </m:sSub>
                  </m:oMath>
                </a14:m>
                <a:r>
                  <a:rPr lang="ar-AE"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The new scoring function is expressed as:</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r>
                        <m:rPr>
                          <m:nor/>
                        </m:rPr>
                        <a:rPr lang="en-US" b="0"/>
                        <m:t>score</m:t>
                      </m:r>
                      <m:d>
                        <m:dPr>
                          <m:sepChr m:val=","/>
                          <m:ctrlPr>
                            <a:rPr lang="ar-AE" sz="1200" b="0" i="1" u="none" strike="noStrike" cap="none">
                              <a:solidFill>
                                <a:schemeClr val="dk1"/>
                              </a:solidFill>
                              <a:latin typeface="Calibri"/>
                              <a:ea typeface="Calibri"/>
                              <a:cs typeface="Calibri"/>
                              <a:sym typeface="Calibri"/>
                            </a:rPr>
                          </m:ctrlPr>
                        </m:dPr>
                        <m:e>
                          <m:sSubSup>
                            <m:sSubSupPr>
                              <m:ctrlPr>
                                <a:rPr lang="ar-AE" sz="1200" b="0" i="1" u="none" strike="noStrike" cap="none">
                                  <a:solidFill>
                                    <a:schemeClr val="dk1"/>
                                  </a:solidFill>
                                  <a:latin typeface="Calibri"/>
                                  <a:ea typeface="Calibri"/>
                                  <a:cs typeface="Calibri"/>
                                  <a:sym typeface="Calibri"/>
                                </a:rPr>
                              </m:ctrlPr>
                            </m:sSubSupPr>
                            <m:e>
                              <m:r>
                                <a:rPr lang="ar-AE" b="0" i="1"/>
                                <m:t>h</m:t>
                              </m:r>
                            </m:e>
                            <m:sub>
                              <m:r>
                                <a:rPr lang="ar-AE" b="0" i="1"/>
                                <m:t>𝑖</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up>
                              <m:r>
                                <a:rPr lang="ar-AE" sz="1200" b="0" i="1" u="none" strike="noStrike" cap="none">
                                  <a:solidFill>
                                    <a:schemeClr val="dk1"/>
                                  </a:solidFill>
                                  <a:latin typeface="Calibri"/>
                                  <a:ea typeface="Calibri"/>
                                  <a:cs typeface="Calibri"/>
                                  <a:sym typeface="Calibri"/>
                                </a:rPr>
                                <m:t>𝑑</m:t>
                              </m:r>
                            </m:sup>
                          </m:sSubSup>
                        </m:e>
                        <m:e>
                          <m:sSubSup>
                            <m:sSubSupPr>
                              <m:ctrlPr>
                                <a:rPr lang="ar-AE" sz="1200" b="0" i="1"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𝑗</m:t>
                              </m:r>
                            </m:sub>
                            <m:sup>
                              <m:r>
                                <a:rPr lang="ar-AE" sz="1200" b="0" i="1" u="none" strike="noStrike" cap="none">
                                  <a:solidFill>
                                    <a:schemeClr val="dk1"/>
                                  </a:solidFill>
                                  <a:latin typeface="Calibri"/>
                                  <a:ea typeface="Calibri"/>
                                  <a:cs typeface="Calibri"/>
                                  <a:sym typeface="Calibri"/>
                                </a:rPr>
                                <m:t>𝑒</m:t>
                              </m:r>
                            </m:sup>
                          </m:sSubSup>
                        </m:e>
                      </m:d>
                      <m:r>
                        <a:rPr lang="ar-AE" sz="1200" b="0" i="0" u="none" strike="noStrike" cap="none">
                          <a:solidFill>
                            <a:schemeClr val="dk1"/>
                          </a:solidFill>
                          <a:latin typeface="Calibri"/>
                          <a:ea typeface="Calibri"/>
                          <a:cs typeface="Calibri"/>
                          <a:sym typeface="Calibri"/>
                        </a:rPr>
                        <m:t>=</m:t>
                      </m:r>
                      <m:sSubSup>
                        <m:sSubSupPr>
                          <m:ctrlPr>
                            <a:rPr lang="ar-AE" sz="1200" b="0" i="1"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𝑖</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up>
                          <m:r>
                            <a:rPr lang="ar-AE" sz="1200" b="0" i="1" u="none" strike="noStrike" cap="none">
                              <a:solidFill>
                                <a:schemeClr val="dk1"/>
                              </a:solidFill>
                              <a:latin typeface="Calibri"/>
                              <a:ea typeface="Calibri"/>
                              <a:cs typeface="Calibri"/>
                              <a:sym typeface="Calibri"/>
                            </a:rPr>
                            <m:t>𝑑</m:t>
                          </m:r>
                        </m:sup>
                      </m:sSubSup>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𝑊</m:t>
                          </m:r>
                        </m:e>
                        <m:sub>
                          <m:r>
                            <a:rPr lang="ar-AE" sz="1200" b="0" i="1" u="none" strike="noStrike" cap="none">
                              <a:solidFill>
                                <a:schemeClr val="dk1"/>
                              </a:solidFill>
                              <a:latin typeface="Calibri"/>
                              <a:ea typeface="Calibri"/>
                              <a:cs typeface="Calibri"/>
                              <a:sym typeface="Calibri"/>
                            </a:rPr>
                            <m:t>𝑠</m:t>
                          </m:r>
                        </m:sub>
                      </m:sSub>
                      <m:sSubSup>
                        <m:sSubSupPr>
                          <m:ctrlPr>
                            <a:rPr lang="ar-AE" sz="1200" b="0" i="1"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𝑗</m:t>
                          </m:r>
                        </m:sub>
                        <m:sup>
                          <m:r>
                            <a:rPr lang="ar-AE" sz="1200" b="0" i="1" u="none" strike="noStrike" cap="none">
                              <a:solidFill>
                                <a:schemeClr val="dk1"/>
                              </a:solidFill>
                              <a:latin typeface="Calibri"/>
                              <a:ea typeface="Calibri"/>
                              <a:cs typeface="Calibri"/>
                              <a:sym typeface="Calibri"/>
                            </a:rPr>
                            <m:t>𝑒</m:t>
                          </m:r>
                        </m:sup>
                      </m:sSubSup>
                    </m:oMath>
                  </m:oMathPara>
                </a14:m>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Here,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𝑊</m:t>
                        </m:r>
                      </m:e>
                      <m:sub>
                        <m:r>
                          <a:rPr lang="ar-AE" sz="1200" b="0" i="1" u="none" strike="noStrike" cap="none">
                            <a:solidFill>
                              <a:schemeClr val="dk1"/>
                            </a:solidFill>
                            <a:latin typeface="Calibri"/>
                            <a:ea typeface="Calibri"/>
                            <a:cs typeface="Calibri"/>
                            <a:sym typeface="Calibri"/>
                          </a:rPr>
                          <m:t>𝑠</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a matrix of weights that is learned during the model's training process.</a:t>
                </a:r>
              </a:p>
              <a:p>
                <a:r>
                  <a:rPr lang="en-US" sz="1200" b="1" i="0" u="none" strike="noStrike" cap="none" dirty="0">
                    <a:solidFill>
                      <a:schemeClr val="dk1"/>
                    </a:solidFill>
                    <a:effectLst/>
                    <a:latin typeface="Calibri"/>
                    <a:ea typeface="Calibri"/>
                    <a:cs typeface="Calibri"/>
                    <a:sym typeface="Calibri"/>
                  </a:rPr>
                  <a:t>Benefits: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By introducing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𝑊</m:t>
                        </m:r>
                      </m:e>
                      <m:sub>
                        <m:r>
                          <a:rPr lang="ar-AE" sz="1200" b="0" i="1" u="none" strike="noStrike" cap="none">
                            <a:solidFill>
                              <a:schemeClr val="dk1"/>
                            </a:solidFill>
                            <a:latin typeface="Calibri"/>
                            <a:ea typeface="Calibri"/>
                            <a:cs typeface="Calibri"/>
                            <a:sym typeface="Calibri"/>
                          </a:rPr>
                          <m:t>𝑠</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the model gains the ability to learn which aspects of similarity between the decoder and encoder states are most important for the task at hand.</a:t>
                </a:r>
              </a:p>
              <a:p>
                <a:pPr lvl="1"/>
                <a:r>
                  <a:rPr lang="en-US" sz="1200" b="0" i="0" u="none" strike="noStrike" cap="none" dirty="0">
                    <a:solidFill>
                      <a:schemeClr val="dk1"/>
                    </a:solidFill>
                    <a:effectLst/>
                    <a:latin typeface="Calibri"/>
                    <a:ea typeface="Calibri"/>
                    <a:cs typeface="Calibri"/>
                    <a:sym typeface="Calibri"/>
                  </a:rPr>
                  <a:t>This makes the attention mechanism more flexible and powerful, as it can adapt to different applications and data characteristics.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Parameterizing the scoring function allows the model to learn more nuanced relationships between the encoder and decoder states, improving its ability to focus on the most relevant parts of the input sequence.</a:t>
                </a:r>
              </a:p>
              <a:p>
                <a:r>
                  <a:rPr lang="en-US" sz="1200" b="0" i="0" u="none" strike="noStrike" cap="none" dirty="0">
                    <a:solidFill>
                      <a:schemeClr val="dk1"/>
                    </a:solidFill>
                    <a:effectLst/>
                    <a:latin typeface="Calibri"/>
                    <a:ea typeface="Calibri"/>
                    <a:cs typeface="Calibri"/>
                    <a:sym typeface="Calibri"/>
                  </a:rPr>
                  <a:t>This enhancement can lead to better performance, especially in complex tasks where simple similarity measures may not capture all the necessary information.</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highlights how attention mechanisms can be further refined by introducing learnable parameters, enhancing the model's ability to generate accurate and contextually appropriate outputs. This understanding is crucial for appreciating the advancements in models like transformers, which leverage sophisticated attention mechanisms to achieve state-of-the-art results in various natural language processing tasks.</a:t>
                </a:r>
              </a:p>
              <a:p>
                <a:pPr marL="0" lvl="0" indent="0" algn="l" rtl="0">
                  <a:lnSpc>
                    <a:spcPct val="100000"/>
                  </a:lnSpc>
                  <a:spcBef>
                    <a:spcPts val="0"/>
                  </a:spcBef>
                  <a:spcAft>
                    <a:spcPts val="0"/>
                  </a:spcAft>
                  <a:buSzPts val="1400"/>
                  <a:buNone/>
                </a:pPr>
                <a:endParaRPr dirty="0"/>
              </a:p>
            </p:txBody>
          </p:sp>
        </mc:Choice>
        <mc:Fallback>
          <p:sp>
            <p:nvSpPr>
              <p:cNvPr id="361" name="Google Shape;361;g2b8b5137f2c_0_1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Step 3 Recap: Compute the Context Vector</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context vector </a:t>
                </a:r>
                <a:r>
                  <a:rPr lang="ar-AE" sz="1200" b="0" i="0" u="none" strike="noStrike" cap="none">
                    <a:solidFill>
                      <a:schemeClr val="dk1"/>
                    </a:solidFill>
                    <a:latin typeface="Calibri"/>
                    <a:ea typeface="Calibri"/>
                    <a:cs typeface="Calibri"/>
                    <a:sym typeface="Calibri"/>
                  </a:rPr>
                  <a:t>𝑐_𝑖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as a weighted average of the encoder hidden states, using the attention weights </a:t>
                </a:r>
                <a:r>
                  <a:rPr lang="ar-AE" sz="1200" b="0" i="0" u="none" strike="noStrike" cap="none">
                    <a:solidFill>
                      <a:schemeClr val="dk1"/>
                    </a:solidFill>
                    <a:latin typeface="Calibri"/>
                    <a:ea typeface="Calibri"/>
                    <a:cs typeface="Calibri"/>
                    <a:sym typeface="Calibri"/>
                  </a:rPr>
                  <a:t>𝛼_(𝑖,𝑗)</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to focus on the most relevant parts of the input sequence for the current decoder state.</a:t>
                </a:r>
              </a:p>
              <a:p>
                <a:r>
                  <a:rPr lang="en-US" sz="1200" b="1" i="0" u="none" strike="noStrike" cap="none" dirty="0">
                    <a:solidFill>
                      <a:schemeClr val="dk1"/>
                    </a:solidFill>
                    <a:effectLst/>
                    <a:latin typeface="Calibri"/>
                    <a:ea typeface="Calibri"/>
                    <a:cs typeface="Calibri"/>
                    <a:sym typeface="Calibri"/>
                  </a:rPr>
                  <a:t>Enhancement: Parameterized Scoring Function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Objective:</a:t>
                </a:r>
                <a:r>
                  <a:rPr lang="en-US" sz="1200" b="0" i="0" u="none" strike="noStrike" cap="none" dirty="0">
                    <a:solidFill>
                      <a:schemeClr val="dk1"/>
                    </a:solidFill>
                    <a:effectLst/>
                    <a:latin typeface="Calibri"/>
                    <a:ea typeface="Calibri"/>
                    <a:cs typeface="Calibri"/>
                    <a:sym typeface="Calibri"/>
                  </a:rPr>
                  <a:t> Improve the scoring function used in Step 1 to better capture the relevance of each encoder hidden state to the current decoder state.</a:t>
                </a:r>
              </a:p>
              <a:p>
                <a:r>
                  <a:rPr lang="en-US" sz="1200" b="1" i="0" u="none" strike="noStrike" cap="none" dirty="0">
                    <a:solidFill>
                      <a:schemeClr val="dk1"/>
                    </a:solidFill>
                    <a:effectLst/>
                    <a:latin typeface="Calibri"/>
                    <a:ea typeface="Calibri"/>
                    <a:cs typeface="Calibri"/>
                    <a:sym typeface="Calibri"/>
                  </a:rPr>
                  <a:t>Parameterized Score: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Instead of using a simple dot product, the score can be parameterized with a learnable weight matrix </a:t>
                </a:r>
                <a:r>
                  <a:rPr lang="ar-AE" sz="1200" b="0" i="0" u="none" strike="noStrike" cap="none">
                    <a:solidFill>
                      <a:schemeClr val="dk1"/>
                    </a:solidFill>
                    <a:latin typeface="Calibri"/>
                    <a:ea typeface="Calibri"/>
                    <a:cs typeface="Calibri"/>
                    <a:sym typeface="Calibri"/>
                  </a:rPr>
                  <a:t>𝑊_𝑠</a:t>
                </a:r>
                <a:r>
                  <a:rPr lang="ar-AE"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The new scoring function is expressed as:</a:t>
                </a:r>
                <a:br>
                  <a:rPr lang="en-US" sz="1200" b="0" i="0" u="none" strike="noStrike" cap="none" dirty="0">
                    <a:solidFill>
                      <a:schemeClr val="dk1"/>
                    </a:solidFill>
                    <a:effectLst/>
                    <a:latin typeface="Calibri"/>
                    <a:ea typeface="Calibri"/>
                    <a:cs typeface="Calibri"/>
                    <a:sym typeface="Calibri"/>
                  </a:rPr>
                </a:br>
                <a:r>
                  <a:rPr lang="en-US" b="0" i="0">
                    <a:latin typeface="Cambria Math" panose="02040503050406030204" pitchFamily="18" charset="0"/>
                  </a:rPr>
                  <a:t>"score</a:t>
                </a:r>
                <a:r>
                  <a:rPr lang="ar-AE" sz="1200" b="0" i="0" u="none" strike="noStrike" cap="none">
                    <a:solidFill>
                      <a:schemeClr val="dk1"/>
                    </a:solidFill>
                    <a:sym typeface="Calibri"/>
                  </a:rPr>
                  <a:t>" </a:t>
                </a:r>
                <a:r>
                  <a:rPr lang="ar-AE" sz="1200" b="0" i="0" u="none" strike="noStrike" cap="none">
                    <a:solidFill>
                      <a:schemeClr val="dk1"/>
                    </a:solidFill>
                    <a:latin typeface="Calibri"/>
                    <a:ea typeface="Calibri"/>
                    <a:cs typeface="Calibri"/>
                    <a:sym typeface="Calibri"/>
                  </a:rPr>
                  <a:t>(</a:t>
                </a:r>
                <a:r>
                  <a:rPr lang="ar-AE" b="0" i="0"/>
                  <a:t>ℎ</a:t>
                </a:r>
                <a:r>
                  <a:rPr lang="ar-AE" sz="1200" b="0" i="0" u="none" strike="noStrike" cap="none">
                    <a:solidFill>
                      <a:schemeClr val="dk1"/>
                    </a:solidFill>
                    <a:sym typeface="Calibri"/>
                  </a:rPr>
                  <a:t>_(</a:t>
                </a:r>
                <a:r>
                  <a:rPr lang="ar-AE" b="0" i="0"/>
                  <a:t>𝑖</a:t>
                </a:r>
                <a:r>
                  <a:rPr lang="ar-AE" sz="1200" b="0" i="0" u="none" strike="noStrike" cap="none">
                    <a:solidFill>
                      <a:schemeClr val="dk1"/>
                    </a:solidFill>
                    <a:latin typeface="Calibri"/>
                    <a:ea typeface="Calibri"/>
                    <a:cs typeface="Calibri"/>
                    <a:sym typeface="Calibri"/>
                  </a:rPr>
                  <a:t>−1)^𝑑ⓜ,ℎ_𝑗^𝑒 )=ℎ_(𝑖−1)^𝑑 𝑊_𝑠 ℎ_𝑗^𝑒</a:t>
                </a: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Here, </a:t>
                </a:r>
                <a:r>
                  <a:rPr lang="ar-AE" sz="1200" b="0" i="0" u="none" strike="noStrike" cap="none">
                    <a:solidFill>
                      <a:schemeClr val="dk1"/>
                    </a:solidFill>
                    <a:latin typeface="Calibri"/>
                    <a:ea typeface="Calibri"/>
                    <a:cs typeface="Calibri"/>
                    <a:sym typeface="Calibri"/>
                  </a:rPr>
                  <a:t>𝑊_𝑠</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a matrix of weights that is learned during the model's training process.</a:t>
                </a:r>
              </a:p>
              <a:p>
                <a:r>
                  <a:rPr lang="en-US" sz="1200" b="1" i="0" u="none" strike="noStrike" cap="none" dirty="0">
                    <a:solidFill>
                      <a:schemeClr val="dk1"/>
                    </a:solidFill>
                    <a:effectLst/>
                    <a:latin typeface="Calibri"/>
                    <a:ea typeface="Calibri"/>
                    <a:cs typeface="Calibri"/>
                    <a:sym typeface="Calibri"/>
                  </a:rPr>
                  <a:t>Benefits: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By introducing </a:t>
                </a:r>
                <a:r>
                  <a:rPr lang="ar-AE" sz="1200" b="0" i="0" u="none" strike="noStrike" cap="none">
                    <a:solidFill>
                      <a:schemeClr val="dk1"/>
                    </a:solidFill>
                    <a:latin typeface="Calibri"/>
                    <a:ea typeface="Calibri"/>
                    <a:cs typeface="Calibri"/>
                    <a:sym typeface="Calibri"/>
                  </a:rPr>
                  <a:t>𝑊_𝑠</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the model gains the ability to learn which aspects of similarity between the decoder and encoder states are most important for the task at hand.</a:t>
                </a:r>
              </a:p>
              <a:p>
                <a:pPr lvl="1"/>
                <a:r>
                  <a:rPr lang="en-US" sz="1200" b="0" i="0" u="none" strike="noStrike" cap="none" dirty="0">
                    <a:solidFill>
                      <a:schemeClr val="dk1"/>
                    </a:solidFill>
                    <a:effectLst/>
                    <a:latin typeface="Calibri"/>
                    <a:ea typeface="Calibri"/>
                    <a:cs typeface="Calibri"/>
                    <a:sym typeface="Calibri"/>
                  </a:rPr>
                  <a:t>This makes the attention mechanism more flexible and powerful, as it can adapt to different applications and data characteristics.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Parameterizing the scoring function allows the model to learn more nuanced relationships between the encoder and decoder states, improving its ability to focus on the most relevant parts of the input sequence.</a:t>
                </a:r>
              </a:p>
              <a:p>
                <a:r>
                  <a:rPr lang="en-US" sz="1200" b="0" i="0" u="none" strike="noStrike" cap="none" dirty="0">
                    <a:solidFill>
                      <a:schemeClr val="dk1"/>
                    </a:solidFill>
                    <a:effectLst/>
                    <a:latin typeface="Calibri"/>
                    <a:ea typeface="Calibri"/>
                    <a:cs typeface="Calibri"/>
                    <a:sym typeface="Calibri"/>
                  </a:rPr>
                  <a:t>This enhancement can lead to better performance, especially in complex tasks where simple similarity measures may not capture all the necessary information.</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highlights how attention mechanisms can be further refined by introducing learnable parameters, enhancing the model's ability to generate accurate and contextually appropriate outputs. This understanding is crucial for appreciating the advancements in models like transformers, which leverage sophisticated attention mechanisms to achieve state-of-the-art results in various natural language processing tasks.</a:t>
                </a:r>
              </a:p>
              <a:p>
                <a:pPr marL="0" lvl="0" indent="0" algn="l" rtl="0">
                  <a:lnSpc>
                    <a:spcPct val="100000"/>
                  </a:lnSpc>
                  <a:spcBef>
                    <a:spcPts val="0"/>
                  </a:spcBef>
                  <a:spcAft>
                    <a:spcPts val="0"/>
                  </a:spcAft>
                  <a:buSzPts val="1400"/>
                  <a:buNone/>
                </a:pPr>
                <a:endParaRPr dirty="0"/>
              </a:p>
            </p:txBody>
          </p:sp>
        </mc:Fallback>
      </mc:AlternateContent>
      <p:sp>
        <p:nvSpPr>
          <p:cNvPr id="362" name="Google Shape;362;g2b8b5137f2c_0_1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2b8b5137f2c_0_1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376" name="Google Shape;376;g2b8b5137f2c_0_1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Slide Explanation:</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diagram shows the flow of information from the encoder to the decoder, highlighting how attention weights are used to compute a dynamic context vector for each decoding step.</a:t>
                </a:r>
              </a:p>
              <a:p>
                <a:r>
                  <a:rPr lang="en-US" sz="1200" b="1" i="0" u="none" strike="noStrike" cap="none" dirty="0">
                    <a:solidFill>
                      <a:schemeClr val="dk1"/>
                    </a:solidFill>
                    <a:effectLst/>
                    <a:latin typeface="Calibri"/>
                    <a:ea typeface="Calibri"/>
                    <a:cs typeface="Calibri"/>
                    <a:sym typeface="Calibri"/>
                  </a:rPr>
                  <a:t>Encoder:</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encoder processes the input sequence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0" u="none" strike="noStrike" cap="none">
                            <a:solidFill>
                              <a:schemeClr val="dk1"/>
                            </a:solidFill>
                            <a:latin typeface="Calibri"/>
                            <a:ea typeface="Calibri"/>
                            <a:cs typeface="Calibri"/>
                            <a:sym typeface="Calibri"/>
                          </a:rPr>
                          <m:t>1</m:t>
                        </m:r>
                      </m:sub>
                    </m:sSub>
                    <m:r>
                      <a:rPr lang="ar-AE" sz="1200" b="0" i="0" u="none" strike="noStrike" cap="none">
                        <a:solidFill>
                          <a:schemeClr val="dk1"/>
                        </a:solidFill>
                        <a:latin typeface="Calibri"/>
                        <a:ea typeface="Calibri"/>
                        <a:cs typeface="Calibri"/>
                        <a:sym typeface="Calibri"/>
                      </a:rPr>
                      <m:t>,</m:t>
                    </m:r>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0" u="none" strike="noStrike" cap="none">
                            <a:solidFill>
                              <a:schemeClr val="dk1"/>
                            </a:solidFill>
                            <a:latin typeface="Calibri"/>
                            <a:ea typeface="Calibri"/>
                            <a:cs typeface="Calibri"/>
                            <a:sym typeface="Calibri"/>
                          </a:rPr>
                          <m:t>2</m:t>
                        </m:r>
                      </m:sub>
                    </m:sSub>
                    <m:r>
                      <a:rPr lang="ar-AE" sz="1200" b="0" i="0" u="none" strike="noStrike" cap="none">
                        <a:solidFill>
                          <a:schemeClr val="dk1"/>
                        </a:solidFill>
                        <a:latin typeface="Calibri"/>
                        <a:ea typeface="Calibri"/>
                        <a:cs typeface="Calibri"/>
                        <a:sym typeface="Calibri"/>
                      </a:rPr>
                      <m:t>,…,</m:t>
                    </m:r>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𝑛</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generates a series of hidden states </a:t>
                </a:r>
                <a14:m>
                  <m:oMath xmlns:m="http://schemas.openxmlformats.org/officeDocument/2006/math">
                    <m:sSubSup>
                      <m:sSubSupPr>
                        <m:ctrlPr>
                          <a:rPr lang="ar-AE" sz="1200" b="0" i="0"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0" u="none" strike="noStrike" cap="none">
                            <a:solidFill>
                              <a:schemeClr val="dk1"/>
                            </a:solidFill>
                            <a:latin typeface="Calibri"/>
                            <a:ea typeface="Calibri"/>
                            <a:cs typeface="Calibri"/>
                            <a:sym typeface="Calibri"/>
                          </a:rPr>
                          <m:t>1</m:t>
                        </m:r>
                      </m:sub>
                      <m:sup>
                        <m:r>
                          <a:rPr lang="ar-AE" sz="1200" b="0" i="1" u="none" strike="noStrike" cap="none">
                            <a:solidFill>
                              <a:schemeClr val="dk1"/>
                            </a:solidFill>
                            <a:latin typeface="Calibri"/>
                            <a:ea typeface="Calibri"/>
                            <a:cs typeface="Calibri"/>
                            <a:sym typeface="Calibri"/>
                          </a:rPr>
                          <m:t>𝑒</m:t>
                        </m:r>
                      </m:sup>
                    </m:sSubSup>
                    <m:r>
                      <a:rPr lang="ar-AE" sz="1200" b="0" i="0" u="none" strike="noStrike" cap="none">
                        <a:solidFill>
                          <a:schemeClr val="dk1"/>
                        </a:solidFill>
                        <a:latin typeface="Calibri"/>
                        <a:ea typeface="Calibri"/>
                        <a:cs typeface="Calibri"/>
                        <a:sym typeface="Calibri"/>
                      </a:rPr>
                      <m:t>,</m:t>
                    </m:r>
                    <m:sSubSup>
                      <m:sSubSupPr>
                        <m:ctrlPr>
                          <a:rPr lang="ar-AE" sz="1200" b="0" i="1"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0" u="none" strike="noStrike" cap="none">
                            <a:solidFill>
                              <a:schemeClr val="dk1"/>
                            </a:solidFill>
                            <a:latin typeface="Calibri"/>
                            <a:ea typeface="Calibri"/>
                            <a:cs typeface="Calibri"/>
                            <a:sym typeface="Calibri"/>
                          </a:rPr>
                          <m:t>2</m:t>
                        </m:r>
                      </m:sub>
                      <m:sup>
                        <m:r>
                          <a:rPr lang="ar-AE" sz="1200" b="0" i="1" u="none" strike="noStrike" cap="none">
                            <a:solidFill>
                              <a:schemeClr val="dk1"/>
                            </a:solidFill>
                            <a:latin typeface="Calibri"/>
                            <a:ea typeface="Calibri"/>
                            <a:cs typeface="Calibri"/>
                            <a:sym typeface="Calibri"/>
                          </a:rPr>
                          <m:t>𝑒</m:t>
                        </m:r>
                      </m:sup>
                    </m:sSubSup>
                    <m:r>
                      <a:rPr lang="ar-AE" sz="1200" b="0" i="0" u="none" strike="noStrike" cap="none">
                        <a:solidFill>
                          <a:schemeClr val="dk1"/>
                        </a:solidFill>
                        <a:latin typeface="Calibri"/>
                        <a:ea typeface="Calibri"/>
                        <a:cs typeface="Calibri"/>
                        <a:sym typeface="Calibri"/>
                      </a:rPr>
                      <m:t>,…,</m:t>
                    </m:r>
                    <m:sSubSup>
                      <m:sSubSupPr>
                        <m:ctrlPr>
                          <a:rPr lang="ar-AE" sz="1200" b="0" i="1"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𝑛</m:t>
                        </m:r>
                      </m:sub>
                      <m:sup>
                        <m:r>
                          <a:rPr lang="ar-AE" sz="1200" b="0" i="1" u="none" strike="noStrike" cap="none">
                            <a:solidFill>
                              <a:schemeClr val="dk1"/>
                            </a:solidFill>
                            <a:latin typeface="Calibri"/>
                            <a:ea typeface="Calibri"/>
                            <a:cs typeface="Calibri"/>
                            <a:sym typeface="Calibri"/>
                          </a:rPr>
                          <m:t>𝑒</m:t>
                        </m:r>
                      </m:sup>
                    </m:sSubSup>
                  </m:oMath>
                </a14:m>
                <a:r>
                  <a:rPr lang="ar-AE" sz="1200" b="0" i="0" u="none" strike="noStrike" cap="none" dirty="0">
                    <a:solidFill>
                      <a:schemeClr val="dk1"/>
                    </a:solidFill>
                    <a:effectLst/>
                    <a:latin typeface="Calibri"/>
                    <a:ea typeface="Calibri"/>
                    <a:cs typeface="Calibri"/>
                    <a:sym typeface="Calibri"/>
                  </a:rPr>
                  <a:t>.</a:t>
                </a:r>
              </a:p>
              <a:p>
                <a:r>
                  <a:rPr lang="en-US" sz="1200" b="0" i="0" u="none" strike="noStrike" cap="none" dirty="0">
                    <a:solidFill>
                      <a:schemeClr val="dk1"/>
                    </a:solidFill>
                    <a:effectLst/>
                    <a:latin typeface="Calibri"/>
                    <a:ea typeface="Calibri"/>
                    <a:cs typeface="Calibri"/>
                    <a:sym typeface="Calibri"/>
                  </a:rPr>
                  <a:t>These hidden states capture the information from the input sequence and are used by the attention mechanism to create context vectors.</a:t>
                </a:r>
              </a:p>
              <a:p>
                <a:r>
                  <a:rPr lang="en-US" sz="1200" b="1" i="0" u="none" strike="noStrike" cap="none" dirty="0">
                    <a:solidFill>
                      <a:schemeClr val="dk1"/>
                    </a:solidFill>
                    <a:effectLst/>
                    <a:latin typeface="Calibri"/>
                    <a:ea typeface="Calibri"/>
                    <a:cs typeface="Calibri"/>
                    <a:sym typeface="Calibri"/>
                  </a:rPr>
                  <a:t>Attention Weights: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Attention weights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𝛼</m:t>
                        </m:r>
                      </m:e>
                      <m:sub>
                        <m:r>
                          <a:rPr lang="ar-AE" sz="1200" b="0" i="1" u="none" strike="noStrike" cap="none">
                            <a:solidFill>
                              <a:schemeClr val="dk1"/>
                            </a:solidFill>
                            <a:latin typeface="Calibri"/>
                            <a:ea typeface="Calibri"/>
                            <a:cs typeface="Calibri"/>
                            <a:sym typeface="Calibri"/>
                          </a:rPr>
                          <m:t>𝑖𝑗</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are calculated for each encoder hidden state </a:t>
                </a:r>
                <a14:m>
                  <m:oMath xmlns:m="http://schemas.openxmlformats.org/officeDocument/2006/math">
                    <m:sSubSup>
                      <m:sSubSupPr>
                        <m:ctrlPr>
                          <a:rPr lang="ar-AE" sz="1200" b="0" i="0"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𝑗</m:t>
                        </m:r>
                      </m:sub>
                      <m:sup>
                        <m:r>
                          <a:rPr lang="ar-AE" sz="1200" b="0" i="1" u="none" strike="noStrike" cap="none">
                            <a:solidFill>
                              <a:schemeClr val="dk1"/>
                            </a:solidFill>
                            <a:latin typeface="Calibri"/>
                            <a:ea typeface="Calibri"/>
                            <a:cs typeface="Calibri"/>
                            <a:sym typeface="Calibri"/>
                          </a:rPr>
                          <m:t>𝑒</m:t>
                        </m:r>
                      </m:sup>
                    </m:sSubSup>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with respect to the current decoder state </a:t>
                </a:r>
                <a14:m>
                  <m:oMath xmlns:m="http://schemas.openxmlformats.org/officeDocument/2006/math">
                    <m:sSubSup>
                      <m:sSubSupPr>
                        <m:ctrlPr>
                          <a:rPr lang="ar-AE" sz="1200" b="0" i="0"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𝑖</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up>
                        <m:r>
                          <a:rPr lang="ar-AE" sz="1200" b="0" i="1" u="none" strike="noStrike" cap="none">
                            <a:solidFill>
                              <a:schemeClr val="dk1"/>
                            </a:solidFill>
                            <a:latin typeface="Calibri"/>
                            <a:ea typeface="Calibri"/>
                            <a:cs typeface="Calibri"/>
                            <a:sym typeface="Calibri"/>
                          </a:rPr>
                          <m:t>𝑑</m:t>
                        </m:r>
                      </m:sup>
                    </m:sSubSup>
                  </m:oMath>
                </a14:m>
                <a:r>
                  <a:rPr lang="ar-AE" sz="1200" b="0" i="0" u="none" strike="noStrike" cap="none" dirty="0">
                    <a:solidFill>
                      <a:schemeClr val="dk1"/>
                    </a:solidFill>
                    <a:effectLst/>
                    <a:latin typeface="Calibri"/>
                    <a:ea typeface="Calibri"/>
                    <a:cs typeface="Calibri"/>
                    <a:sym typeface="Calibri"/>
                  </a:rPr>
                  <a:t>.</a:t>
                </a:r>
              </a:p>
              <a:p>
                <a:r>
                  <a:rPr lang="en-US" sz="1200" b="0" i="0" u="none" strike="noStrike" cap="none" dirty="0">
                    <a:solidFill>
                      <a:schemeClr val="dk1"/>
                    </a:solidFill>
                    <a:effectLst/>
                    <a:latin typeface="Calibri"/>
                    <a:ea typeface="Calibri"/>
                    <a:cs typeface="Calibri"/>
                    <a:sym typeface="Calibri"/>
                  </a:rPr>
                  <a:t>These weights indicate the relevance of each encoder hidden state to the current decoding step.</a:t>
                </a:r>
              </a:p>
              <a:p>
                <a:r>
                  <a:rPr lang="en-US" sz="1200" b="0" i="0" u="none" strike="noStrike" cap="none" dirty="0">
                    <a:solidFill>
                      <a:schemeClr val="dk1"/>
                    </a:solidFill>
                    <a:effectLst/>
                    <a:latin typeface="Calibri"/>
                    <a:ea typeface="Calibri"/>
                    <a:cs typeface="Calibri"/>
                    <a:sym typeface="Calibri"/>
                  </a:rPr>
                  <a:t>In the diagram, example weights are shown as 0.4, 0.3, 0.1, and 0.2, representing the focus on different parts of the input sequence.</a:t>
                </a:r>
              </a:p>
              <a:p>
                <a:r>
                  <a:rPr lang="en-US" sz="1200" b="1" i="0" u="none" strike="noStrike" cap="none" dirty="0">
                    <a:solidFill>
                      <a:schemeClr val="dk1"/>
                    </a:solidFill>
                    <a:effectLst/>
                    <a:latin typeface="Calibri"/>
                    <a:ea typeface="Calibri"/>
                    <a:cs typeface="Calibri"/>
                    <a:sym typeface="Calibri"/>
                  </a:rPr>
                  <a:t>Context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𝑐</m:t>
                        </m:r>
                      </m:e>
                      <m:sub>
                        <m:r>
                          <a:rPr lang="ar-AE" sz="1200" b="0" i="1" u="none" strike="noStrike" cap="none">
                            <a:solidFill>
                              <a:schemeClr val="dk1"/>
                            </a:solidFill>
                            <a:latin typeface="Calibri"/>
                            <a:ea typeface="Calibri"/>
                            <a:cs typeface="Calibri"/>
                            <a:sym typeface="Calibri"/>
                          </a:rPr>
                          <m:t>𝑖</m:t>
                        </m:r>
                      </m:sub>
                    </m:sSub>
                  </m:oMath>
                </a14:m>
                <a:r>
                  <a:rPr lang="ar-AE" sz="1200" b="1" i="0" u="none" strike="noStrike" cap="none" dirty="0">
                    <a:solidFill>
                      <a:schemeClr val="dk1"/>
                    </a:solidFill>
                    <a:effectLst/>
                    <a:latin typeface="Calibri"/>
                    <a:ea typeface="Calibri"/>
                    <a:cs typeface="Calibri"/>
                    <a:sym typeface="Calibri"/>
                  </a:rPr>
                  <a:t>:</a:t>
                </a:r>
                <a:endParaRPr lang="ar-AE"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context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𝑐</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as a weighted sum of the encoder hidden states, using the attention weights:</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𝑐</m:t>
                          </m:r>
                        </m:e>
                        <m:sub>
                          <m:r>
                            <a:rPr lang="ar-AE" sz="1200" b="0" i="1" u="none" strike="noStrike" cap="none">
                              <a:solidFill>
                                <a:schemeClr val="dk1"/>
                              </a:solidFill>
                              <a:latin typeface="Calibri"/>
                              <a:ea typeface="Calibri"/>
                              <a:cs typeface="Calibri"/>
                              <a:sym typeface="Calibri"/>
                            </a:rPr>
                            <m:t>𝑖</m:t>
                          </m:r>
                        </m:sub>
                      </m:sSub>
                      <m:r>
                        <a:rPr lang="ar-AE" sz="1200" b="0" i="0" u="none" strike="noStrike" cap="none">
                          <a:solidFill>
                            <a:schemeClr val="dk1"/>
                          </a:solidFill>
                          <a:latin typeface="Calibri"/>
                          <a:ea typeface="Calibri"/>
                          <a:cs typeface="Calibri"/>
                          <a:sym typeface="Calibri"/>
                        </a:rPr>
                        <m:t>=</m:t>
                      </m:r>
                      <m:nary>
                        <m:naryPr>
                          <m:chr m:val="∑"/>
                          <m:limLoc m:val="subSup"/>
                          <m:grow m:val="on"/>
                          <m:supHide m:val="on"/>
                          <m:ctrlPr>
                            <a:rPr lang="ar-AE" sz="1200" b="0" i="1" u="none" strike="noStrike" cap="none">
                              <a:solidFill>
                                <a:schemeClr val="dk1"/>
                              </a:solidFill>
                              <a:latin typeface="Calibri"/>
                              <a:ea typeface="Calibri"/>
                              <a:cs typeface="Calibri"/>
                              <a:sym typeface="Calibri"/>
                            </a:rPr>
                          </m:ctrlPr>
                        </m:naryPr>
                        <m:sub>
                          <m:r>
                            <a:rPr lang="ar-AE" sz="1200" b="0" i="1" u="none" strike="noStrike" cap="none">
                              <a:solidFill>
                                <a:schemeClr val="dk1"/>
                              </a:solidFill>
                              <a:latin typeface="Calibri"/>
                              <a:ea typeface="Calibri"/>
                              <a:cs typeface="Calibri"/>
                              <a:sym typeface="Calibri"/>
                            </a:rPr>
                            <m:t>𝑗</m:t>
                          </m:r>
                        </m:sub>
                        <m:sup/>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𝛼</m:t>
                              </m:r>
                            </m:e>
                            <m:sub>
                              <m:r>
                                <a:rPr lang="ar-AE" sz="1200" b="0" i="1" u="none" strike="noStrike" cap="none">
                                  <a:solidFill>
                                    <a:schemeClr val="dk1"/>
                                  </a:solidFill>
                                  <a:latin typeface="Calibri"/>
                                  <a:ea typeface="Calibri"/>
                                  <a:cs typeface="Calibri"/>
                                  <a:sym typeface="Calibri"/>
                                </a:rPr>
                                <m:t>𝑖𝑗</m:t>
                              </m:r>
                            </m:sub>
                          </m:sSub>
                        </m:e>
                      </m:nary>
                      <m:sSubSup>
                        <m:sSubSupPr>
                          <m:ctrlPr>
                            <a:rPr lang="ar-AE" sz="1200" b="0" i="1"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𝑗</m:t>
                          </m:r>
                        </m:sub>
                        <m:sup>
                          <m:r>
                            <a:rPr lang="ar-AE" sz="1200" b="0" i="1" u="none" strike="noStrike" cap="none">
                              <a:solidFill>
                                <a:schemeClr val="dk1"/>
                              </a:solidFill>
                              <a:latin typeface="Calibri"/>
                              <a:ea typeface="Calibri"/>
                              <a:cs typeface="Calibri"/>
                              <a:sym typeface="Calibri"/>
                            </a:rPr>
                            <m:t>𝑒</m:t>
                          </m:r>
                        </m:sup>
                      </m:sSubSup>
                    </m:oMath>
                  </m:oMathPara>
                </a14:m>
                <a:endParaRPr lang="ar-AE"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This vector provides the decoder with a tailored summary of the input sequence, focusing on the most relevant information for generating the current output word.</a:t>
                </a:r>
              </a:p>
              <a:p>
                <a:r>
                  <a:rPr lang="en-US" sz="1200" b="1" i="0" u="none" strike="noStrike" cap="none" dirty="0">
                    <a:solidFill>
                      <a:schemeClr val="dk1"/>
                    </a:solidFill>
                    <a:effectLst/>
                    <a:latin typeface="Calibri"/>
                    <a:ea typeface="Calibri"/>
                    <a:cs typeface="Calibri"/>
                    <a:sym typeface="Calibri"/>
                  </a:rPr>
                  <a:t>Decoder:</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decoder uses the context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𝑐</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along with its previous hidden state </a:t>
                </a:r>
                <a14:m>
                  <m:oMath xmlns:m="http://schemas.openxmlformats.org/officeDocument/2006/math">
                    <m:sSubSup>
                      <m:sSubSupPr>
                        <m:ctrlPr>
                          <a:rPr lang="ar-AE" sz="1200" b="0" i="0"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𝑖</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up>
                        <m:r>
                          <a:rPr lang="ar-AE" sz="1200" b="0" i="1" u="none" strike="noStrike" cap="none">
                            <a:solidFill>
                              <a:schemeClr val="dk1"/>
                            </a:solidFill>
                            <a:latin typeface="Calibri"/>
                            <a:ea typeface="Calibri"/>
                            <a:cs typeface="Calibri"/>
                            <a:sym typeface="Calibri"/>
                          </a:rPr>
                          <m:t>𝑑</m:t>
                        </m:r>
                      </m:sup>
                    </m:sSubSup>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the previously generated word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acc>
                          <m:accPr>
                            <m:chr m:val="̂"/>
                            <m:ctrlPr>
                              <a:rPr lang="ar-AE" sz="1200" b="0" i="0" u="none" strike="noStrike" cap="none">
                                <a:solidFill>
                                  <a:schemeClr val="dk1"/>
                                </a:solidFill>
                                <a:latin typeface="Calibri"/>
                                <a:ea typeface="Calibri"/>
                                <a:cs typeface="Calibri"/>
                                <a:sym typeface="Calibri"/>
                              </a:rPr>
                            </m:ctrlPr>
                          </m:accPr>
                          <m:e>
                            <m:r>
                              <a:rPr lang="ar-AE" sz="1200" b="0" i="1" u="none" strike="noStrike" cap="none">
                                <a:solidFill>
                                  <a:schemeClr val="dk1"/>
                                </a:solidFill>
                                <a:latin typeface="Calibri"/>
                                <a:ea typeface="Calibri"/>
                                <a:cs typeface="Calibri"/>
                                <a:sym typeface="Calibri"/>
                              </a:rPr>
                              <m:t>𝑦</m:t>
                            </m:r>
                          </m:e>
                        </m:acc>
                      </m:e>
                      <m:sub>
                        <m:r>
                          <a:rPr lang="ar-AE" sz="1200" b="0" i="1" u="none" strike="noStrike" cap="none">
                            <a:solidFill>
                              <a:schemeClr val="dk1"/>
                            </a:solidFill>
                            <a:latin typeface="Calibri"/>
                            <a:ea typeface="Calibri"/>
                            <a:cs typeface="Calibri"/>
                            <a:sym typeface="Calibri"/>
                          </a:rPr>
                          <m:t>𝑖</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to compute the current hidden state </a:t>
                </a:r>
                <a14:m>
                  <m:oMath xmlns:m="http://schemas.openxmlformats.org/officeDocument/2006/math">
                    <m:sSubSup>
                      <m:sSubSupPr>
                        <m:ctrlPr>
                          <a:rPr lang="ar-AE" sz="1200" b="0" i="0"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𝑖</m:t>
                        </m:r>
                      </m:sub>
                      <m:sup>
                        <m:r>
                          <a:rPr lang="ar-AE" sz="1200" b="0" i="1" u="none" strike="noStrike" cap="none">
                            <a:solidFill>
                              <a:schemeClr val="dk1"/>
                            </a:solidFill>
                            <a:latin typeface="Calibri"/>
                            <a:ea typeface="Calibri"/>
                            <a:cs typeface="Calibri"/>
                            <a:sym typeface="Calibri"/>
                          </a:rPr>
                          <m:t>𝑑</m:t>
                        </m:r>
                      </m:sup>
                    </m:sSubSup>
                  </m:oMath>
                </a14:m>
                <a:r>
                  <a:rPr lang="ar-AE" sz="1200" b="0" i="0" u="none" strike="noStrike" cap="none" dirty="0">
                    <a:solidFill>
                      <a:schemeClr val="dk1"/>
                    </a:solidFill>
                    <a:effectLst/>
                    <a:latin typeface="Calibri"/>
                    <a:ea typeface="Calibri"/>
                    <a:cs typeface="Calibri"/>
                    <a:sym typeface="Calibri"/>
                  </a:rPr>
                  <a:t>:</a:t>
                </a:r>
                <a:br>
                  <a:rPr lang="ar-AE"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sSubSup>
                        <m:sSubSupPr>
                          <m:ctrlPr>
                            <a:rPr lang="ar-AE" sz="1200" b="0" i="0"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𝑖</m:t>
                          </m:r>
                        </m:sub>
                        <m:sup>
                          <m:r>
                            <a:rPr lang="ar-AE" sz="1200" b="0" i="1" u="none" strike="noStrike" cap="none">
                              <a:solidFill>
                                <a:schemeClr val="dk1"/>
                              </a:solidFill>
                              <a:latin typeface="Calibri"/>
                              <a:ea typeface="Calibri"/>
                              <a:cs typeface="Calibri"/>
                              <a:sym typeface="Calibri"/>
                            </a:rPr>
                            <m:t>𝑑</m:t>
                          </m:r>
                        </m:sup>
                      </m:sSubSup>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𝑔</m:t>
                      </m:r>
                      <m:d>
                        <m:dPr>
                          <m:sepChr m:val=","/>
                          <m:ctrlPr>
                            <a:rPr lang="ar-AE" sz="1200" b="0" i="1" u="none" strike="noStrike" cap="none">
                              <a:solidFill>
                                <a:schemeClr val="dk1"/>
                              </a:solidFill>
                              <a:latin typeface="Calibri"/>
                              <a:ea typeface="Calibri"/>
                              <a:cs typeface="Calibri"/>
                              <a:sym typeface="Calibri"/>
                            </a:rPr>
                          </m:ctrlPr>
                        </m:dPr>
                        <m:e>
                          <m:sSub>
                            <m:sSubPr>
                              <m:ctrlPr>
                                <a:rPr lang="ar-AE" sz="1200" b="0" i="1" u="none" strike="noStrike" cap="none">
                                  <a:solidFill>
                                    <a:schemeClr val="dk1"/>
                                  </a:solidFill>
                                  <a:latin typeface="Calibri"/>
                                  <a:ea typeface="Calibri"/>
                                  <a:cs typeface="Calibri"/>
                                  <a:sym typeface="Calibri"/>
                                </a:rPr>
                              </m:ctrlPr>
                            </m:sSubPr>
                            <m:e>
                              <m:acc>
                                <m:accPr>
                                  <m:chr m:val="̂"/>
                                  <m:ctrlPr>
                                    <a:rPr lang="ar-AE" sz="1200" b="0" i="1" u="none" strike="noStrike" cap="none">
                                      <a:solidFill>
                                        <a:schemeClr val="dk1"/>
                                      </a:solidFill>
                                      <a:latin typeface="Calibri"/>
                                      <a:ea typeface="Calibri"/>
                                      <a:cs typeface="Calibri"/>
                                      <a:sym typeface="Calibri"/>
                                    </a:rPr>
                                  </m:ctrlPr>
                                </m:accPr>
                                <m:e>
                                  <m:r>
                                    <a:rPr lang="ar-AE" sz="1200" b="0" i="1" u="none" strike="noStrike" cap="none">
                                      <a:solidFill>
                                        <a:schemeClr val="dk1"/>
                                      </a:solidFill>
                                      <a:latin typeface="Calibri"/>
                                      <a:ea typeface="Calibri"/>
                                      <a:cs typeface="Calibri"/>
                                      <a:sym typeface="Calibri"/>
                                    </a:rPr>
                                    <m:t>𝑦</m:t>
                                  </m:r>
                                </m:e>
                              </m:acc>
                            </m:e>
                            <m:sub>
                              <m:r>
                                <a:rPr lang="ar-AE" sz="1200" b="0" i="1" u="none" strike="noStrike" cap="none">
                                  <a:solidFill>
                                    <a:schemeClr val="dk1"/>
                                  </a:solidFill>
                                  <a:latin typeface="Calibri"/>
                                  <a:ea typeface="Calibri"/>
                                  <a:cs typeface="Calibri"/>
                                  <a:sym typeface="Calibri"/>
                                </a:rPr>
                                <m:t>𝑖</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Sub>
                        </m:e>
                        <m:e>
                          <m:sSubSup>
                            <m:sSubSupPr>
                              <m:ctrlPr>
                                <a:rPr lang="ar-AE" sz="1200" b="0" i="1"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h</m:t>
                              </m:r>
                            </m:e>
                            <m:sub>
                              <m:r>
                                <a:rPr lang="ar-AE" sz="1200" b="0" i="1" u="none" strike="noStrike" cap="none">
                                  <a:solidFill>
                                    <a:schemeClr val="dk1"/>
                                  </a:solidFill>
                                  <a:latin typeface="Calibri"/>
                                  <a:ea typeface="Calibri"/>
                                  <a:cs typeface="Calibri"/>
                                  <a:sym typeface="Calibri"/>
                                </a:rPr>
                                <m:t>𝑖</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up>
                              <m:r>
                                <a:rPr lang="ar-AE" sz="1200" b="0" i="1" u="none" strike="noStrike" cap="none">
                                  <a:solidFill>
                                    <a:schemeClr val="dk1"/>
                                  </a:solidFill>
                                  <a:latin typeface="Calibri"/>
                                  <a:ea typeface="Calibri"/>
                                  <a:cs typeface="Calibri"/>
                                  <a:sym typeface="Calibri"/>
                                </a:rPr>
                                <m:t>𝑑</m:t>
                              </m:r>
                            </m:sup>
                          </m:sSubSup>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𝑐</m:t>
                              </m:r>
                            </m:e>
                            <m:sub>
                              <m:r>
                                <a:rPr lang="ar-AE" sz="1200" b="0" i="1" u="none" strike="noStrike" cap="none">
                                  <a:solidFill>
                                    <a:schemeClr val="dk1"/>
                                  </a:solidFill>
                                  <a:latin typeface="Calibri"/>
                                  <a:ea typeface="Calibri"/>
                                  <a:cs typeface="Calibri"/>
                                  <a:sym typeface="Calibri"/>
                                </a:rPr>
                                <m:t>𝑖</m:t>
                              </m:r>
                            </m:sub>
                          </m:sSub>
                        </m:e>
                      </m:d>
                    </m:oMath>
                  </m:oMathPara>
                </a14:m>
                <a:endParaRPr lang="ar-AE"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This process allows the decoder to generate the next word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in the output sequence, informed by the dynamically computed context.</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attention mechanism enables the model to dynamically focus on different parts of the input sequence for each word it generates, improving its ability to handle complex dependencies and contextual nuances.</a:t>
                </a:r>
              </a:p>
              <a:p>
                <a:r>
                  <a:rPr lang="en-US" sz="1200" b="0" i="0" u="none" strike="noStrike" cap="none" dirty="0">
                    <a:solidFill>
                      <a:schemeClr val="dk1"/>
                    </a:solidFill>
                    <a:effectLst/>
                    <a:latin typeface="Calibri"/>
                    <a:ea typeface="Calibri"/>
                    <a:cs typeface="Calibri"/>
                    <a:sym typeface="Calibri"/>
                  </a:rPr>
                  <a:t>This dynamic focus is crucial for generating accurate and contextually appropriate translations, especially in tasks involving long or complex sequences.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effectively illustrates the inner workings of the attention mechanism, providing a clear understanding of how it enhances the Seq2Seq model's capabilities. This understanding is foundational for appreciating the advancements in models like transformers, which leverage attention to achieve state-of-the-art performance in various natural language processing tasks.</a:t>
                </a:r>
              </a:p>
              <a:p>
                <a:pPr marL="0" lvl="0" indent="0" algn="l" rtl="0">
                  <a:lnSpc>
                    <a:spcPct val="100000"/>
                  </a:lnSpc>
                  <a:spcBef>
                    <a:spcPts val="0"/>
                  </a:spcBef>
                  <a:spcAft>
                    <a:spcPts val="0"/>
                  </a:spcAft>
                  <a:buSzPts val="1400"/>
                  <a:buNone/>
                </a:pPr>
                <a:endParaRPr dirty="0"/>
              </a:p>
            </p:txBody>
          </p:sp>
        </mc:Choice>
        <mc:Fallback>
          <p:sp>
            <p:nvSpPr>
              <p:cNvPr id="376" name="Google Shape;376;g2b8b5137f2c_0_1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Slide Explanation:</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diagram shows the flow of information from the encoder to the decoder, highlighting how attention weights are used to compute a dynamic context vector for each decoding step.</a:t>
                </a:r>
              </a:p>
              <a:p>
                <a:r>
                  <a:rPr lang="en-US" sz="1200" b="1" i="0" u="none" strike="noStrike" cap="none" dirty="0">
                    <a:solidFill>
                      <a:schemeClr val="dk1"/>
                    </a:solidFill>
                    <a:effectLst/>
                    <a:latin typeface="Calibri"/>
                    <a:ea typeface="Calibri"/>
                    <a:cs typeface="Calibri"/>
                    <a:sym typeface="Calibri"/>
                  </a:rPr>
                  <a:t>Encoder:</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encoder processes the input sequence </a:t>
                </a:r>
                <a:r>
                  <a:rPr lang="ar-AE" sz="1200" b="0" i="0" u="none" strike="noStrike" cap="none">
                    <a:solidFill>
                      <a:schemeClr val="dk1"/>
                    </a:solidFill>
                    <a:latin typeface="Calibri"/>
                    <a:ea typeface="Calibri"/>
                    <a:cs typeface="Calibri"/>
                    <a:sym typeface="Calibri"/>
                  </a:rPr>
                  <a:t>𝑥_1,𝑥_2,…,𝑥_𝑛</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generates a series of hidden states </a:t>
                </a:r>
                <a:r>
                  <a:rPr lang="ar-AE" sz="1200" b="0" i="0" u="none" strike="noStrike" cap="none">
                    <a:solidFill>
                      <a:schemeClr val="dk1"/>
                    </a:solidFill>
                    <a:latin typeface="Calibri"/>
                    <a:ea typeface="Calibri"/>
                    <a:cs typeface="Calibri"/>
                    <a:sym typeface="Calibri"/>
                  </a:rPr>
                  <a:t>ℎ_1^𝑒,ℎ_2^𝑒,…,ℎ_𝑛^𝑒</a:t>
                </a:r>
                <a:r>
                  <a:rPr lang="ar-AE" sz="1200" b="0" i="0" u="none" strike="noStrike" cap="none" dirty="0">
                    <a:solidFill>
                      <a:schemeClr val="dk1"/>
                    </a:solidFill>
                    <a:effectLst/>
                    <a:latin typeface="Calibri"/>
                    <a:ea typeface="Calibri"/>
                    <a:cs typeface="Calibri"/>
                    <a:sym typeface="Calibri"/>
                  </a:rPr>
                  <a:t>.</a:t>
                </a:r>
              </a:p>
              <a:p>
                <a:r>
                  <a:rPr lang="en-US" sz="1200" b="0" i="0" u="none" strike="noStrike" cap="none" dirty="0">
                    <a:solidFill>
                      <a:schemeClr val="dk1"/>
                    </a:solidFill>
                    <a:effectLst/>
                    <a:latin typeface="Calibri"/>
                    <a:ea typeface="Calibri"/>
                    <a:cs typeface="Calibri"/>
                    <a:sym typeface="Calibri"/>
                  </a:rPr>
                  <a:t>These hidden states capture the information from the input sequence and are used by the attention mechanism to create context vectors.</a:t>
                </a:r>
              </a:p>
              <a:p>
                <a:r>
                  <a:rPr lang="en-US" sz="1200" b="1" i="0" u="none" strike="noStrike" cap="none" dirty="0">
                    <a:solidFill>
                      <a:schemeClr val="dk1"/>
                    </a:solidFill>
                    <a:effectLst/>
                    <a:latin typeface="Calibri"/>
                    <a:ea typeface="Calibri"/>
                    <a:cs typeface="Calibri"/>
                    <a:sym typeface="Calibri"/>
                  </a:rPr>
                  <a:t>Attention Weights: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Attention weights </a:t>
                </a:r>
                <a:r>
                  <a:rPr lang="ar-AE" sz="1200" b="0" i="0" u="none" strike="noStrike" cap="none">
                    <a:solidFill>
                      <a:schemeClr val="dk1"/>
                    </a:solidFill>
                    <a:latin typeface="Calibri"/>
                    <a:ea typeface="Calibri"/>
                    <a:cs typeface="Calibri"/>
                    <a:sym typeface="Calibri"/>
                  </a:rPr>
                  <a:t>𝛼_𝑖𝑗</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are calculated for each encoder hidden state </a:t>
                </a:r>
                <a:r>
                  <a:rPr lang="ar-AE" sz="1200" b="0" i="0" u="none" strike="noStrike" cap="none">
                    <a:solidFill>
                      <a:schemeClr val="dk1"/>
                    </a:solidFill>
                    <a:latin typeface="Calibri"/>
                    <a:ea typeface="Calibri"/>
                    <a:cs typeface="Calibri"/>
                    <a:sym typeface="Calibri"/>
                  </a:rPr>
                  <a:t>ℎ_𝑗^𝑒</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with respect to the current decoder state </a:t>
                </a:r>
                <a:r>
                  <a:rPr lang="ar-AE" sz="1200" b="0" i="0" u="none" strike="noStrike" cap="none">
                    <a:solidFill>
                      <a:schemeClr val="dk1"/>
                    </a:solidFill>
                    <a:latin typeface="Calibri"/>
                    <a:ea typeface="Calibri"/>
                    <a:cs typeface="Calibri"/>
                    <a:sym typeface="Calibri"/>
                  </a:rPr>
                  <a:t>ℎ_(𝑖−1)^𝑑</a:t>
                </a:r>
                <a:r>
                  <a:rPr lang="ar-AE" sz="1200" b="0" i="0" u="none" strike="noStrike" cap="none" dirty="0">
                    <a:solidFill>
                      <a:schemeClr val="dk1"/>
                    </a:solidFill>
                    <a:effectLst/>
                    <a:latin typeface="Calibri"/>
                    <a:ea typeface="Calibri"/>
                    <a:cs typeface="Calibri"/>
                    <a:sym typeface="Calibri"/>
                  </a:rPr>
                  <a:t>.</a:t>
                </a:r>
              </a:p>
              <a:p>
                <a:r>
                  <a:rPr lang="en-US" sz="1200" b="0" i="0" u="none" strike="noStrike" cap="none" dirty="0">
                    <a:solidFill>
                      <a:schemeClr val="dk1"/>
                    </a:solidFill>
                    <a:effectLst/>
                    <a:latin typeface="Calibri"/>
                    <a:ea typeface="Calibri"/>
                    <a:cs typeface="Calibri"/>
                    <a:sym typeface="Calibri"/>
                  </a:rPr>
                  <a:t>These weights indicate the relevance of each encoder hidden state to the current decoding step.</a:t>
                </a:r>
              </a:p>
              <a:p>
                <a:r>
                  <a:rPr lang="en-US" sz="1200" b="0" i="0" u="none" strike="noStrike" cap="none" dirty="0">
                    <a:solidFill>
                      <a:schemeClr val="dk1"/>
                    </a:solidFill>
                    <a:effectLst/>
                    <a:latin typeface="Calibri"/>
                    <a:ea typeface="Calibri"/>
                    <a:cs typeface="Calibri"/>
                    <a:sym typeface="Calibri"/>
                  </a:rPr>
                  <a:t>In the diagram, example weights are shown as 0.4, 0.3, 0.1, and 0.2, representing the focus on different parts of the input sequence.</a:t>
                </a:r>
              </a:p>
              <a:p>
                <a:r>
                  <a:rPr lang="en-US" sz="1200" b="1" i="0" u="none" strike="noStrike" cap="none" dirty="0">
                    <a:solidFill>
                      <a:schemeClr val="dk1"/>
                    </a:solidFill>
                    <a:effectLst/>
                    <a:latin typeface="Calibri"/>
                    <a:ea typeface="Calibri"/>
                    <a:cs typeface="Calibri"/>
                    <a:sym typeface="Calibri"/>
                  </a:rPr>
                  <a:t>Context Vector </a:t>
                </a:r>
                <a:r>
                  <a:rPr lang="ar-AE" sz="1200" b="0" i="0" u="none" strike="noStrike" cap="none">
                    <a:solidFill>
                      <a:schemeClr val="dk1"/>
                    </a:solidFill>
                    <a:latin typeface="Calibri"/>
                    <a:ea typeface="Calibri"/>
                    <a:cs typeface="Calibri"/>
                    <a:sym typeface="Calibri"/>
                  </a:rPr>
                  <a:t>𝑐_𝑖</a:t>
                </a:r>
                <a:r>
                  <a:rPr lang="ar-AE" sz="1200" b="1" i="0" u="none" strike="noStrike" cap="none" dirty="0">
                    <a:solidFill>
                      <a:schemeClr val="dk1"/>
                    </a:solidFill>
                    <a:effectLst/>
                    <a:latin typeface="Calibri"/>
                    <a:ea typeface="Calibri"/>
                    <a:cs typeface="Calibri"/>
                    <a:sym typeface="Calibri"/>
                  </a:rPr>
                  <a:t>:</a:t>
                </a:r>
                <a:endParaRPr lang="ar-AE"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context vector </a:t>
                </a:r>
                <a:r>
                  <a:rPr lang="ar-AE" sz="1200" b="0" i="0" u="none" strike="noStrike" cap="none">
                    <a:solidFill>
                      <a:schemeClr val="dk1"/>
                    </a:solidFill>
                    <a:latin typeface="Calibri"/>
                    <a:ea typeface="Calibri"/>
                    <a:cs typeface="Calibri"/>
                    <a:sym typeface="Calibri"/>
                  </a:rPr>
                  <a:t>𝑐_𝑖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as a weighted sum of the encoder hidden states, using the attention weights:</a:t>
                </a:r>
                <a:br>
                  <a:rPr lang="en-US" sz="1200" b="0" i="0" u="none" strike="noStrike" cap="none" dirty="0">
                    <a:solidFill>
                      <a:schemeClr val="dk1"/>
                    </a:solidFill>
                    <a:effectLst/>
                    <a:latin typeface="Calibri"/>
                    <a:ea typeface="Calibri"/>
                    <a:cs typeface="Calibri"/>
                    <a:sym typeface="Calibri"/>
                  </a:rPr>
                </a:br>
                <a:r>
                  <a:rPr lang="ar-AE" sz="1200" b="0" i="0" u="none" strike="noStrike" cap="none">
                    <a:solidFill>
                      <a:schemeClr val="dk1"/>
                    </a:solidFill>
                    <a:latin typeface="Calibri"/>
                    <a:ea typeface="Calibri"/>
                    <a:cs typeface="Calibri"/>
                    <a:sym typeface="Calibri"/>
                  </a:rPr>
                  <a:t>𝑐_𝑖=∑130_𝑗▒𝛼_𝑖𝑗  ℎ_𝑗^𝑒</a:t>
                </a:r>
                <a:endParaRPr lang="ar-AE"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This vector provides the decoder with a tailored summary of the input sequence, focusing on the most relevant information for generating the current output word.</a:t>
                </a:r>
              </a:p>
              <a:p>
                <a:r>
                  <a:rPr lang="en-US" sz="1200" b="1" i="0" u="none" strike="noStrike" cap="none" dirty="0">
                    <a:solidFill>
                      <a:schemeClr val="dk1"/>
                    </a:solidFill>
                    <a:effectLst/>
                    <a:latin typeface="Calibri"/>
                    <a:ea typeface="Calibri"/>
                    <a:cs typeface="Calibri"/>
                    <a:sym typeface="Calibri"/>
                  </a:rPr>
                  <a:t>Decoder:</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decoder uses the context vector </a:t>
                </a:r>
                <a:r>
                  <a:rPr lang="ar-AE" sz="1200" b="0" i="0" u="none" strike="noStrike" cap="none">
                    <a:solidFill>
                      <a:schemeClr val="dk1"/>
                    </a:solidFill>
                    <a:latin typeface="Calibri"/>
                    <a:ea typeface="Calibri"/>
                    <a:cs typeface="Calibri"/>
                    <a:sym typeface="Calibri"/>
                  </a:rPr>
                  <a:t>𝑐_𝑖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along with its previous hidden state </a:t>
                </a:r>
                <a:r>
                  <a:rPr lang="ar-AE" sz="1200" b="0" i="0" u="none" strike="noStrike" cap="none">
                    <a:solidFill>
                      <a:schemeClr val="dk1"/>
                    </a:solidFill>
                    <a:latin typeface="Calibri"/>
                    <a:ea typeface="Calibri"/>
                    <a:cs typeface="Calibri"/>
                    <a:sym typeface="Calibri"/>
                  </a:rPr>
                  <a:t>ℎ_(𝑖−1)^𝑑</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the previously generated word </a:t>
                </a:r>
                <a:r>
                  <a:rPr lang="ar-AE" sz="1200" b="0" i="0" u="none" strike="noStrike" cap="none">
                    <a:solidFill>
                      <a:schemeClr val="dk1"/>
                    </a:solidFill>
                    <a:latin typeface="Calibri"/>
                    <a:ea typeface="Calibri"/>
                    <a:cs typeface="Calibri"/>
                    <a:sym typeface="Calibri"/>
                  </a:rPr>
                  <a:t>𝑦 ̂_(𝑖−1)</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to compute the current hidden state </a:t>
                </a:r>
                <a:r>
                  <a:rPr lang="ar-AE" sz="1200" b="0" i="0" u="none" strike="noStrike" cap="none">
                    <a:solidFill>
                      <a:schemeClr val="dk1"/>
                    </a:solidFill>
                    <a:latin typeface="Calibri"/>
                    <a:ea typeface="Calibri"/>
                    <a:cs typeface="Calibri"/>
                    <a:sym typeface="Calibri"/>
                  </a:rPr>
                  <a:t>ℎ_𝑖^𝑑</a:t>
                </a:r>
                <a:r>
                  <a:rPr lang="ar-AE" sz="1200" b="0" i="0" u="none" strike="noStrike" cap="none" dirty="0">
                    <a:solidFill>
                      <a:schemeClr val="dk1"/>
                    </a:solidFill>
                    <a:effectLst/>
                    <a:latin typeface="Calibri"/>
                    <a:ea typeface="Calibri"/>
                    <a:cs typeface="Calibri"/>
                    <a:sym typeface="Calibri"/>
                  </a:rPr>
                  <a:t>:</a:t>
                </a:r>
                <a:br>
                  <a:rPr lang="ar-AE" sz="1200" b="0" i="0" u="none" strike="noStrike" cap="none" dirty="0">
                    <a:solidFill>
                      <a:schemeClr val="dk1"/>
                    </a:solidFill>
                    <a:effectLst/>
                    <a:latin typeface="Calibri"/>
                    <a:ea typeface="Calibri"/>
                    <a:cs typeface="Calibri"/>
                    <a:sym typeface="Calibri"/>
                  </a:rPr>
                </a:br>
                <a:r>
                  <a:rPr lang="ar-AE" sz="1200" b="0" i="0" u="none" strike="noStrike" cap="none">
                    <a:solidFill>
                      <a:schemeClr val="dk1"/>
                    </a:solidFill>
                    <a:latin typeface="Calibri"/>
                    <a:ea typeface="Calibri"/>
                    <a:cs typeface="Calibri"/>
                    <a:sym typeface="Calibri"/>
                  </a:rPr>
                  <a:t>ℎ_𝑖^𝑑=𝑔(𝑦 ̂_(𝑖−1)ⓜ,ℎ_(𝑖−1)^𝑑ⓜ,𝑐_𝑖 )</a:t>
                </a:r>
                <a:endParaRPr lang="ar-AE"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This process allows the decoder to generate the next word </a:t>
                </a:r>
                <a:r>
                  <a:rPr lang="ar-AE" sz="1200" b="0" i="0" u="none" strike="noStrike" cap="none">
                    <a:solidFill>
                      <a:schemeClr val="dk1"/>
                    </a:solidFill>
                    <a:latin typeface="Calibri"/>
                    <a:ea typeface="Calibri"/>
                    <a:cs typeface="Calibri"/>
                    <a:sym typeface="Calibri"/>
                  </a:rPr>
                  <a:t>𝑦_𝑖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in the output sequence, informed by the dynamically computed context.</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attention mechanism enables the model to dynamically focus on different parts of the input sequence for each word it generates, improving its ability to handle complex dependencies and contextual nuances.</a:t>
                </a:r>
              </a:p>
              <a:p>
                <a:r>
                  <a:rPr lang="en-US" sz="1200" b="0" i="0" u="none" strike="noStrike" cap="none" dirty="0">
                    <a:solidFill>
                      <a:schemeClr val="dk1"/>
                    </a:solidFill>
                    <a:effectLst/>
                    <a:latin typeface="Calibri"/>
                    <a:ea typeface="Calibri"/>
                    <a:cs typeface="Calibri"/>
                    <a:sym typeface="Calibri"/>
                  </a:rPr>
                  <a:t>This dynamic focus is crucial for generating accurate and contextually appropriate translations, especially in tasks involving long or complex sequences.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effectively illustrates the inner workings of the attention mechanism, providing a clear understanding of how it enhances the Seq2Seq model's capabilities. This understanding is foundational for appreciating the advancements in models like transformers, which leverage attention to achieve state-of-the-art performance in various natural language processing tasks.</a:t>
                </a:r>
              </a:p>
              <a:p>
                <a:pPr marL="0" lvl="0" indent="0" algn="l" rtl="0">
                  <a:lnSpc>
                    <a:spcPct val="100000"/>
                  </a:lnSpc>
                  <a:spcBef>
                    <a:spcPts val="0"/>
                  </a:spcBef>
                  <a:spcAft>
                    <a:spcPts val="0"/>
                  </a:spcAft>
                  <a:buSzPts val="1400"/>
                  <a:buNone/>
                </a:pPr>
                <a:endParaRPr dirty="0"/>
              </a:p>
            </p:txBody>
          </p:sp>
        </mc:Fallback>
      </mc:AlternateContent>
      <p:sp>
        <p:nvSpPr>
          <p:cNvPr id="377" name="Google Shape;377;g2b8b5137f2c_0_1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2b8b5137f2c_0_1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386" name="Google Shape;386;g2b8b5137f2c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Key Points about Transformers: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Introduction and Impact:</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transformer model was introduced in 2017 at the NIPS conference by Vaswani et al. in the paper titled "Attention Is All You Need."</a:t>
                </a:r>
              </a:p>
              <a:p>
                <a:pPr lvl="1"/>
                <a:r>
                  <a:rPr lang="en-US" sz="1200" b="0" i="0" u="none" strike="noStrike" cap="none" dirty="0">
                    <a:solidFill>
                      <a:schemeClr val="dk1"/>
                    </a:solidFill>
                    <a:effectLst/>
                    <a:latin typeface="Calibri"/>
                    <a:ea typeface="Calibri"/>
                    <a:cs typeface="Calibri"/>
                    <a:sym typeface="Calibri"/>
                  </a:rPr>
                  <a:t>This model has significantly influenced the field of NLP and beyond, setting new standards for performance and efficiency.</a:t>
                </a:r>
              </a:p>
              <a:p>
                <a:r>
                  <a:rPr lang="en-US" sz="1200" b="1" i="0" u="none" strike="noStrike" cap="none" dirty="0">
                    <a:solidFill>
                      <a:schemeClr val="dk1"/>
                    </a:solidFill>
                    <a:effectLst/>
                    <a:latin typeface="Calibri"/>
                    <a:ea typeface="Calibri"/>
                    <a:cs typeface="Calibri"/>
                    <a:sym typeface="Calibri"/>
                  </a:rPr>
                  <a:t>Mapping Sequences: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Transformers map sequences of input vectors </a:t>
                </a:r>
                <a14:m>
                  <m:oMath xmlns:m="http://schemas.openxmlformats.org/officeDocument/2006/math">
                    <m:d>
                      <m:dPr>
                        <m:sepChr m:val=","/>
                        <m:ctrlPr>
                          <a:rPr lang="ar-AE" sz="1200" b="0" i="0" u="none" strike="noStrike" cap="none">
                            <a:solidFill>
                              <a:schemeClr val="dk1"/>
                            </a:solidFill>
                            <a:latin typeface="Calibri"/>
                            <a:ea typeface="Calibri"/>
                            <a:cs typeface="Calibri"/>
                            <a:sym typeface="Calibri"/>
                          </a:rPr>
                        </m:ctrlPr>
                      </m:dPr>
                      <m:e>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0" u="none" strike="noStrike" cap="none">
                                <a:solidFill>
                                  <a:schemeClr val="dk1"/>
                                </a:solidFill>
                                <a:latin typeface="Calibri"/>
                                <a:ea typeface="Calibri"/>
                                <a:cs typeface="Calibri"/>
                                <a:sym typeface="Calibri"/>
                              </a:rPr>
                              <m:t>1</m:t>
                            </m:r>
                          </m:sub>
                        </m:sSub>
                      </m:e>
                      <m:e>
                        <m:r>
                          <a:rPr lang="ar-AE" sz="1200" b="0" i="0" u="none" strike="noStrike" cap="none">
                            <a:solidFill>
                              <a:schemeClr val="dk1"/>
                            </a:solidFill>
                            <a:latin typeface="Calibri"/>
                            <a:ea typeface="Calibri"/>
                            <a:cs typeface="Calibri"/>
                            <a:sym typeface="Calibri"/>
                          </a:rPr>
                          <m:t>…</m:t>
                        </m:r>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𝑛</m:t>
                            </m:r>
                          </m:sub>
                        </m:sSub>
                      </m:e>
                    </m:d>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to sequences of output vectors </a:t>
                </a:r>
                <a14:m>
                  <m:oMath xmlns:m="http://schemas.openxmlformats.org/officeDocument/2006/math">
                    <m:d>
                      <m:dPr>
                        <m:sepChr m:val=","/>
                        <m:ctrlPr>
                          <a:rPr lang="ar-AE" sz="1200" b="0" i="0" u="none" strike="noStrike" cap="none">
                            <a:solidFill>
                              <a:schemeClr val="dk1"/>
                            </a:solidFill>
                            <a:latin typeface="Calibri"/>
                            <a:ea typeface="Calibri"/>
                            <a:cs typeface="Calibri"/>
                            <a:sym typeface="Calibri"/>
                          </a:rPr>
                        </m:ctrlPr>
                      </m:dPr>
                      <m:e>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0" u="none" strike="noStrike" cap="none">
                                <a:solidFill>
                                  <a:schemeClr val="dk1"/>
                                </a:solidFill>
                                <a:latin typeface="Calibri"/>
                                <a:ea typeface="Calibri"/>
                                <a:cs typeface="Calibri"/>
                                <a:sym typeface="Calibri"/>
                              </a:rPr>
                              <m:t>1</m:t>
                            </m:r>
                          </m:sub>
                        </m:sSub>
                      </m:e>
                      <m:e>
                        <m:r>
                          <a:rPr lang="ar-AE" sz="1200" b="0" i="0" u="none" strike="noStrike" cap="none">
                            <a:solidFill>
                              <a:schemeClr val="dk1"/>
                            </a:solidFill>
                            <a:latin typeface="Calibri"/>
                            <a:ea typeface="Calibri"/>
                            <a:cs typeface="Calibri"/>
                            <a:sym typeface="Calibri"/>
                          </a:rPr>
                          <m:t>…</m:t>
                        </m:r>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𝑛</m:t>
                            </m:r>
                          </m:sub>
                        </m:sSub>
                      </m:e>
                    </m:d>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of the same length.</a:t>
                </a:r>
              </a:p>
              <a:p>
                <a:pPr lvl="1"/>
                <a:r>
                  <a:rPr lang="en-US" sz="1200" b="0" i="0" u="none" strike="noStrike" cap="none" dirty="0">
                    <a:solidFill>
                      <a:schemeClr val="dk1"/>
                    </a:solidFill>
                    <a:effectLst/>
                    <a:latin typeface="Calibri"/>
                    <a:ea typeface="Calibri"/>
                    <a:cs typeface="Calibri"/>
                    <a:sym typeface="Calibri"/>
                  </a:rPr>
                  <a:t>This mapping is achieved through a series of transformations that involve attention mechanisms.</a:t>
                </a:r>
              </a:p>
              <a:p>
                <a:r>
                  <a:rPr lang="en-US" sz="1200" b="1" i="0" u="none" strike="noStrike" cap="none" dirty="0">
                    <a:solidFill>
                      <a:schemeClr val="dk1"/>
                    </a:solidFill>
                    <a:effectLst/>
                    <a:latin typeface="Calibri"/>
                    <a:ea typeface="Calibri"/>
                    <a:cs typeface="Calibri"/>
                    <a:sym typeface="Calibri"/>
                  </a:rPr>
                  <a:t>Transformer Blocks and Self-Attention: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architecture is composed of multiple transformer blocks, with self-attention layers being a key component.</a:t>
                </a:r>
              </a:p>
              <a:p>
                <a:pPr lvl="1"/>
                <a:r>
                  <a:rPr lang="en-US" sz="1200" b="1" i="0" u="none" strike="noStrike" cap="none" dirty="0">
                    <a:solidFill>
                      <a:schemeClr val="dk1"/>
                    </a:solidFill>
                    <a:effectLst/>
                    <a:latin typeface="Calibri"/>
                    <a:ea typeface="Calibri"/>
                    <a:cs typeface="Calibri"/>
                    <a:sym typeface="Calibri"/>
                  </a:rPr>
                  <a:t>Self-Attention:</a:t>
                </a:r>
                <a:r>
                  <a:rPr lang="en-US" sz="1200" b="0" i="0" u="none" strike="noStrike" cap="none" dirty="0">
                    <a:solidFill>
                      <a:schemeClr val="dk1"/>
                    </a:solidFill>
                    <a:effectLst/>
                    <a:latin typeface="Calibri"/>
                    <a:ea typeface="Calibri"/>
                    <a:cs typeface="Calibri"/>
                    <a:sym typeface="Calibri"/>
                  </a:rPr>
                  <a:t> This mechanism allows the model to consider the entire input sequence when processing each element, enabling it to capture dependencies and relationships across the sequence.</a:t>
                </a:r>
              </a:p>
              <a:p>
                <a:pPr lvl="1"/>
                <a:r>
                  <a:rPr lang="en-US" sz="1200" b="0" i="0" u="none" strike="noStrike" cap="none" dirty="0">
                    <a:solidFill>
                      <a:schemeClr val="dk1"/>
                    </a:solidFill>
                    <a:effectLst/>
                    <a:latin typeface="Calibri"/>
                    <a:ea typeface="Calibri"/>
                    <a:cs typeface="Calibri"/>
                    <a:sym typeface="Calibri"/>
                  </a:rPr>
                  <a:t>Self-attention provides the ability to directly extract and use information from arbitrarily large contexts, which is crucial for understanding complex sequences.</a:t>
                </a:r>
              </a:p>
              <a:p>
                <a:r>
                  <a:rPr lang="en-US" sz="1200" b="1" i="0" u="none" strike="noStrike" cap="none" dirty="0">
                    <a:solidFill>
                      <a:schemeClr val="dk1"/>
                    </a:solidFill>
                    <a:effectLst/>
                    <a:latin typeface="Calibri"/>
                    <a:ea typeface="Calibri"/>
                    <a:cs typeface="Calibri"/>
                    <a:sym typeface="Calibri"/>
                  </a:rPr>
                  <a:t>Efficiency and Scalability:</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Unlike traditional models like LSTMs, transformers are not based on recurrent connections. This design choice allows for parallel processing of input sequences.</a:t>
                </a:r>
              </a:p>
              <a:p>
                <a:pPr lvl="1"/>
                <a:r>
                  <a:rPr lang="en-US" sz="1200" b="0" i="0" u="none" strike="noStrike" cap="none" dirty="0">
                    <a:solidFill>
                      <a:schemeClr val="dk1"/>
                    </a:solidFill>
                    <a:effectLst/>
                    <a:latin typeface="Calibri"/>
                    <a:ea typeface="Calibri"/>
                    <a:cs typeface="Calibri"/>
                    <a:sym typeface="Calibri"/>
                  </a:rPr>
                  <a:t>The lack of recurrence makes transformers highly efficient and scalable, as they can leverage parallel computation to process sequences more quickly and effectively.</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introduction of transformers marked a paradigm shift in sequence processing, offering a more efficient and powerful alternative to recurrent models.</a:t>
                </a:r>
              </a:p>
              <a:p>
                <a:r>
                  <a:rPr lang="en-US" sz="1200" b="0" i="0" u="none" strike="noStrike" cap="none" dirty="0">
                    <a:solidFill>
                      <a:schemeClr val="dk1"/>
                    </a:solidFill>
                    <a:effectLst/>
                    <a:latin typeface="Calibri"/>
                    <a:ea typeface="Calibri"/>
                    <a:cs typeface="Calibri"/>
                    <a:sym typeface="Calibri"/>
                  </a:rPr>
                  <a:t>By focusing on attention mechanisms, transformers can handle long-range dependencies and complex relationships within sequences, leading to superior performance in a wide range of tasks.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highlights the transformative impact of the transformer architecture, setting the stage for understanding how it has become the foundation for many state-of-the-art models in NLP, such as BERT, GPT, and others. The efficiency and effectiveness of transformers have made them a cornerstone of modern AI research and applications.</a:t>
                </a:r>
              </a:p>
            </p:txBody>
          </p:sp>
        </mc:Choice>
        <mc:Fallback>
          <p:sp>
            <p:nvSpPr>
              <p:cNvPr id="386" name="Google Shape;386;g2b8b5137f2c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Key Points about Transformers: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Introduction and Impact:</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transformer model was introduced in 2017 at the NIPS conference by Vaswani et al. in the paper titled "Attention Is All You Need."</a:t>
                </a:r>
              </a:p>
              <a:p>
                <a:pPr lvl="1"/>
                <a:r>
                  <a:rPr lang="en-US" sz="1200" b="0" i="0" u="none" strike="noStrike" cap="none" dirty="0">
                    <a:solidFill>
                      <a:schemeClr val="dk1"/>
                    </a:solidFill>
                    <a:effectLst/>
                    <a:latin typeface="Calibri"/>
                    <a:ea typeface="Calibri"/>
                    <a:cs typeface="Calibri"/>
                    <a:sym typeface="Calibri"/>
                  </a:rPr>
                  <a:t>This model has significantly influenced the field of NLP and beyond, setting new standards for performance and efficiency.</a:t>
                </a:r>
              </a:p>
              <a:p>
                <a:r>
                  <a:rPr lang="en-US" sz="1200" b="1" i="0" u="none" strike="noStrike" cap="none" dirty="0">
                    <a:solidFill>
                      <a:schemeClr val="dk1"/>
                    </a:solidFill>
                    <a:effectLst/>
                    <a:latin typeface="Calibri"/>
                    <a:ea typeface="Calibri"/>
                    <a:cs typeface="Calibri"/>
                    <a:sym typeface="Calibri"/>
                  </a:rPr>
                  <a:t>Mapping Sequences: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Transformers map sequences of input vectors </a:t>
                </a:r>
                <a:r>
                  <a:rPr lang="ar-AE" sz="1200" b="0" i="0" u="none" strike="noStrike" cap="none">
                    <a:solidFill>
                      <a:schemeClr val="dk1"/>
                    </a:solidFill>
                    <a:latin typeface="Calibri"/>
                    <a:ea typeface="Calibri"/>
                    <a:cs typeface="Calibri"/>
                    <a:sym typeface="Calibri"/>
                  </a:rPr>
                  <a:t>(𝑥_1ⓜ,…ⓜ,𝑥_𝑛 )</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to sequences of output vectors </a:t>
                </a:r>
                <a:r>
                  <a:rPr lang="ar-AE" sz="1200" b="0" i="0" u="none" strike="noStrike" cap="none">
                    <a:solidFill>
                      <a:schemeClr val="dk1"/>
                    </a:solidFill>
                    <a:latin typeface="Calibri"/>
                    <a:ea typeface="Calibri"/>
                    <a:cs typeface="Calibri"/>
                    <a:sym typeface="Calibri"/>
                  </a:rPr>
                  <a:t>(𝑦_1ⓜ,…ⓜ,𝑦_𝑛 )</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of the same length.</a:t>
                </a:r>
              </a:p>
              <a:p>
                <a:pPr lvl="1"/>
                <a:r>
                  <a:rPr lang="en-US" sz="1200" b="0" i="0" u="none" strike="noStrike" cap="none" dirty="0">
                    <a:solidFill>
                      <a:schemeClr val="dk1"/>
                    </a:solidFill>
                    <a:effectLst/>
                    <a:latin typeface="Calibri"/>
                    <a:ea typeface="Calibri"/>
                    <a:cs typeface="Calibri"/>
                    <a:sym typeface="Calibri"/>
                  </a:rPr>
                  <a:t>This mapping is achieved through a series of transformations that involve attention mechanisms.</a:t>
                </a:r>
              </a:p>
              <a:p>
                <a:r>
                  <a:rPr lang="en-US" sz="1200" b="1" i="0" u="none" strike="noStrike" cap="none" dirty="0">
                    <a:solidFill>
                      <a:schemeClr val="dk1"/>
                    </a:solidFill>
                    <a:effectLst/>
                    <a:latin typeface="Calibri"/>
                    <a:ea typeface="Calibri"/>
                    <a:cs typeface="Calibri"/>
                    <a:sym typeface="Calibri"/>
                  </a:rPr>
                  <a:t>Transformer Blocks and Self-Attention: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architecture is composed of multiple transformer blocks, with self-attention layers being a key component.</a:t>
                </a:r>
              </a:p>
              <a:p>
                <a:pPr lvl="1"/>
                <a:r>
                  <a:rPr lang="en-US" sz="1200" b="1" i="0" u="none" strike="noStrike" cap="none" dirty="0">
                    <a:solidFill>
                      <a:schemeClr val="dk1"/>
                    </a:solidFill>
                    <a:effectLst/>
                    <a:latin typeface="Calibri"/>
                    <a:ea typeface="Calibri"/>
                    <a:cs typeface="Calibri"/>
                    <a:sym typeface="Calibri"/>
                  </a:rPr>
                  <a:t>Self-Attention:</a:t>
                </a:r>
                <a:r>
                  <a:rPr lang="en-US" sz="1200" b="0" i="0" u="none" strike="noStrike" cap="none" dirty="0">
                    <a:solidFill>
                      <a:schemeClr val="dk1"/>
                    </a:solidFill>
                    <a:effectLst/>
                    <a:latin typeface="Calibri"/>
                    <a:ea typeface="Calibri"/>
                    <a:cs typeface="Calibri"/>
                    <a:sym typeface="Calibri"/>
                  </a:rPr>
                  <a:t> This mechanism allows the model to consider the entire input sequence when processing each element, enabling it to capture dependencies and relationships across the sequence.</a:t>
                </a:r>
              </a:p>
              <a:p>
                <a:pPr lvl="1"/>
                <a:r>
                  <a:rPr lang="en-US" sz="1200" b="0" i="0" u="none" strike="noStrike" cap="none" dirty="0">
                    <a:solidFill>
                      <a:schemeClr val="dk1"/>
                    </a:solidFill>
                    <a:effectLst/>
                    <a:latin typeface="Calibri"/>
                    <a:ea typeface="Calibri"/>
                    <a:cs typeface="Calibri"/>
                    <a:sym typeface="Calibri"/>
                  </a:rPr>
                  <a:t>Self-attention provides the ability to directly extract and use information from arbitrarily large contexts, which is crucial for understanding complex sequences.</a:t>
                </a:r>
              </a:p>
              <a:p>
                <a:r>
                  <a:rPr lang="en-US" sz="1200" b="1" i="0" u="none" strike="noStrike" cap="none" dirty="0">
                    <a:solidFill>
                      <a:schemeClr val="dk1"/>
                    </a:solidFill>
                    <a:effectLst/>
                    <a:latin typeface="Calibri"/>
                    <a:ea typeface="Calibri"/>
                    <a:cs typeface="Calibri"/>
                    <a:sym typeface="Calibri"/>
                  </a:rPr>
                  <a:t>Efficiency and Scalability:</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Unlike traditional models like LSTMs, transformers are not based on recurrent connections. This design choice allows for parallel processing of input sequences.</a:t>
                </a:r>
              </a:p>
              <a:p>
                <a:pPr lvl="1"/>
                <a:r>
                  <a:rPr lang="en-US" sz="1200" b="0" i="0" u="none" strike="noStrike" cap="none" dirty="0">
                    <a:solidFill>
                      <a:schemeClr val="dk1"/>
                    </a:solidFill>
                    <a:effectLst/>
                    <a:latin typeface="Calibri"/>
                    <a:ea typeface="Calibri"/>
                    <a:cs typeface="Calibri"/>
                    <a:sym typeface="Calibri"/>
                  </a:rPr>
                  <a:t>The lack of recurrence makes transformers highly efficient and scalable, as they can leverage parallel computation to process sequences more quickly and effectively.</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introduction of transformers marked a paradigm shift in sequence processing, offering a more efficient and powerful alternative to recurrent models.</a:t>
                </a:r>
              </a:p>
              <a:p>
                <a:r>
                  <a:rPr lang="en-US" sz="1200" b="0" i="0" u="none" strike="noStrike" cap="none" dirty="0">
                    <a:solidFill>
                      <a:schemeClr val="dk1"/>
                    </a:solidFill>
                    <a:effectLst/>
                    <a:latin typeface="Calibri"/>
                    <a:ea typeface="Calibri"/>
                    <a:cs typeface="Calibri"/>
                    <a:sym typeface="Calibri"/>
                  </a:rPr>
                  <a:t>By focusing on attention mechanisms, transformers can handle long-range dependencies and complex relationships within sequences, leading to superior performance in a wide range of tasks.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highlights the transformative impact of the transformer architecture, setting the stage for understanding how it has become the foundation for many state-of-the-art models in NLP, such as BERT, GPT, and others. The efficiency and effectiveness of transformers have made them a cornerstone of modern AI research and applications.</a:t>
                </a:r>
              </a:p>
            </p:txBody>
          </p:sp>
        </mc:Fallback>
      </mc:AlternateContent>
      <p:sp>
        <p:nvSpPr>
          <p:cNvPr id="387" name="Google Shape;387;g2b8b5137f2c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2b8b5137f2c_0_1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4" name="Google Shape;394;g2b8b5137f2c_0_1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Attention: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General Concept:</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Attention refers to the ability of a model to compare an item of interest to a collection of other items, determining their relevance in the current context.</a:t>
            </a:r>
          </a:p>
          <a:p>
            <a:pPr lvl="1"/>
            <a:r>
              <a:rPr lang="en-US" sz="1200" b="0" i="0" u="none" strike="noStrike" cap="none" dirty="0">
                <a:solidFill>
                  <a:schemeClr val="dk1"/>
                </a:solidFill>
                <a:effectLst/>
                <a:latin typeface="Calibri"/>
                <a:ea typeface="Calibri"/>
                <a:cs typeface="Calibri"/>
                <a:sym typeface="Calibri"/>
              </a:rPr>
              <a:t>This mechanism allows the model to focus on the most important parts of the input when making predictions or generating outputs.</a:t>
            </a:r>
          </a:p>
          <a:p>
            <a:r>
              <a:rPr lang="en-US" sz="1200" b="1" i="0" u="none" strike="noStrike" cap="none" dirty="0">
                <a:solidFill>
                  <a:schemeClr val="dk1"/>
                </a:solidFill>
                <a:effectLst/>
                <a:latin typeface="Calibri"/>
                <a:ea typeface="Calibri"/>
                <a:cs typeface="Calibri"/>
                <a:sym typeface="Calibri"/>
              </a:rPr>
              <a:t>Self-Attention: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Specific to Transformers: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Self-attention is a specific type of attention where the set of comparisons is made within a given sequence.</a:t>
            </a:r>
          </a:p>
          <a:p>
            <a:pPr lvl="1"/>
            <a:r>
              <a:rPr lang="en-US" sz="1200" b="0" i="0" u="none" strike="noStrike" cap="none" dirty="0">
                <a:solidFill>
                  <a:schemeClr val="dk1"/>
                </a:solidFill>
                <a:effectLst/>
                <a:latin typeface="Calibri"/>
                <a:ea typeface="Calibri"/>
                <a:cs typeface="Calibri"/>
                <a:sym typeface="Calibri"/>
              </a:rPr>
              <a:t>Each element in the sequence is compared to every other element, allowing the model to understand the relationships and dependencies between them.</a:t>
            </a:r>
          </a:p>
          <a:p>
            <a:r>
              <a:rPr lang="en-US" sz="1200" b="1" i="0" u="none" strike="noStrike" cap="none" dirty="0">
                <a:solidFill>
                  <a:schemeClr val="dk1"/>
                </a:solidFill>
                <a:effectLst/>
                <a:latin typeface="Calibri"/>
                <a:ea typeface="Calibri"/>
                <a:cs typeface="Calibri"/>
                <a:sym typeface="Calibri"/>
              </a:rPr>
              <a:t>Process:</a:t>
            </a:r>
            <a:endParaRPr lang="en-US" sz="1200" b="0" i="0" u="none" strike="noStrike" cap="none" dirty="0">
              <a:solidFill>
                <a:schemeClr val="dk1"/>
              </a:solidFill>
              <a:effectLst/>
              <a:latin typeface="Calibri"/>
              <a:ea typeface="Calibri"/>
              <a:cs typeface="Calibri"/>
              <a:sym typeface="Calibri"/>
            </a:endParaRPr>
          </a:p>
          <a:p>
            <a:pPr lvl="1"/>
            <a:r>
              <a:rPr lang="en-US" sz="1200" b="1" i="0" u="none" strike="noStrike" cap="none" dirty="0">
                <a:solidFill>
                  <a:schemeClr val="dk1"/>
                </a:solidFill>
                <a:effectLst/>
                <a:latin typeface="Calibri"/>
                <a:ea typeface="Calibri"/>
                <a:cs typeface="Calibri"/>
                <a:sym typeface="Calibri"/>
              </a:rPr>
              <a:t>Comparisons:</a:t>
            </a:r>
            <a:r>
              <a:rPr lang="en-US" sz="1200" b="0" i="0" u="none" strike="noStrike" cap="none" dirty="0">
                <a:solidFill>
                  <a:schemeClr val="dk1"/>
                </a:solidFill>
                <a:effectLst/>
                <a:latin typeface="Calibri"/>
                <a:ea typeface="Calibri"/>
                <a:cs typeface="Calibri"/>
                <a:sym typeface="Calibri"/>
              </a:rPr>
              <a:t> For each element in the sequence, the model computes a set of comparisons to all other elements. This involves calculating attention scores that indicate the relevance of each element to the current one.</a:t>
            </a:r>
          </a:p>
          <a:p>
            <a:pPr lvl="1"/>
            <a:r>
              <a:rPr lang="en-US" sz="1200" b="1" i="0" u="none" strike="noStrike" cap="none" dirty="0">
                <a:solidFill>
                  <a:schemeClr val="dk1"/>
                </a:solidFill>
                <a:effectLst/>
                <a:latin typeface="Calibri"/>
                <a:ea typeface="Calibri"/>
                <a:cs typeface="Calibri"/>
                <a:sym typeface="Calibri"/>
              </a:rPr>
              <a:t>Output Computation:</a:t>
            </a:r>
            <a:r>
              <a:rPr lang="en-US" sz="1200" b="0" i="0" u="none" strike="noStrike" cap="none" dirty="0">
                <a:solidFill>
                  <a:schemeClr val="dk1"/>
                </a:solidFill>
                <a:effectLst/>
                <a:latin typeface="Calibri"/>
                <a:ea typeface="Calibri"/>
                <a:cs typeface="Calibri"/>
                <a:sym typeface="Calibri"/>
              </a:rPr>
              <a:t> These comparisons are used to compute an output for the current input element. The output is a weighted sum of the other elements, where the weights are determined by the attention scores.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Self-attention enables the model to capture long-range dependencies and contextual information within a sequence, which is crucial for understanding complex data.</a:t>
            </a:r>
          </a:p>
          <a:p>
            <a:r>
              <a:rPr lang="en-US" sz="1200" b="0" i="0" u="none" strike="noStrike" cap="none" dirty="0">
                <a:solidFill>
                  <a:schemeClr val="dk1"/>
                </a:solidFill>
                <a:effectLst/>
                <a:latin typeface="Calibri"/>
                <a:ea typeface="Calibri"/>
                <a:cs typeface="Calibri"/>
                <a:sym typeface="Calibri"/>
              </a:rPr>
              <a:t>By allowing each element to attend to every other element, self-attention provides a flexible and powerful way to process sequences, making it a key component of the transformer architecture.</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highlights the importance of self-attention in transformers, explaining how it allows the model to dynamically focus on relevant parts of the input sequence. This understanding is foundational for appreciating how transformers achieve state-of-the-art performance in various natural language processing tasks by effectively modeling complex dependencies and relationships.</a:t>
            </a:r>
          </a:p>
          <a:p>
            <a:pPr marL="0" lvl="0" indent="0" algn="l" rtl="0">
              <a:lnSpc>
                <a:spcPct val="100000"/>
              </a:lnSpc>
              <a:spcBef>
                <a:spcPts val="0"/>
              </a:spcBef>
              <a:spcAft>
                <a:spcPts val="0"/>
              </a:spcAft>
              <a:buSzPts val="1400"/>
              <a:buNone/>
            </a:pPr>
            <a:endParaRPr dirty="0"/>
          </a:p>
        </p:txBody>
      </p:sp>
      <p:sp>
        <p:nvSpPr>
          <p:cNvPr id="395" name="Google Shape;395;g2b8b5137f2c_0_1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f031668344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g2f031668344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Self-Attention in Action:</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diagram shows a sentence: "The animal didn't cross the street because it was too tired."</a:t>
            </a:r>
          </a:p>
          <a:p>
            <a:r>
              <a:rPr lang="en-US" sz="1200" b="0" i="0" u="none" strike="noStrike" cap="none" dirty="0">
                <a:solidFill>
                  <a:schemeClr val="dk1"/>
                </a:solidFill>
                <a:effectLst/>
                <a:latin typeface="Calibri"/>
                <a:ea typeface="Calibri"/>
                <a:cs typeface="Calibri"/>
                <a:sym typeface="Calibri"/>
              </a:rPr>
              <a:t>The focus is on the word "it" in the sentence, and the self-attention mechanism is used to determine which other words in the sentence are most relevant to "it."</a:t>
            </a:r>
          </a:p>
          <a:p>
            <a:r>
              <a:rPr lang="en-US" sz="1200" b="1" i="0" u="none" strike="noStrike" cap="none" dirty="0">
                <a:solidFill>
                  <a:schemeClr val="dk1"/>
                </a:solidFill>
                <a:effectLst/>
                <a:latin typeface="Calibri"/>
                <a:ea typeface="Calibri"/>
                <a:cs typeface="Calibri"/>
                <a:sym typeface="Calibri"/>
              </a:rPr>
              <a:t>Attention Distribution: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Layer 5 and Layer 6:</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diagram illustrates how attention is distributed across different layers of the transformer.</a:t>
            </a:r>
          </a:p>
          <a:p>
            <a:pPr lvl="1"/>
            <a:r>
              <a:rPr lang="en-US" sz="1200" b="0" i="0" u="none" strike="noStrike" cap="none" dirty="0">
                <a:solidFill>
                  <a:schemeClr val="dk1"/>
                </a:solidFill>
                <a:effectLst/>
                <a:latin typeface="Calibri"/>
                <a:ea typeface="Calibri"/>
                <a:cs typeface="Calibri"/>
                <a:sym typeface="Calibri"/>
              </a:rPr>
              <a:t>In Layer 5, the word "it" attends to the word "animal" with a strong attention weight, indicating that the model recognizes "animal" as the antecedent of "it."</a:t>
            </a:r>
          </a:p>
          <a:p>
            <a:pPr lvl="1"/>
            <a:r>
              <a:rPr lang="en-US" sz="1200" b="0" i="0" u="none" strike="noStrike" cap="none" dirty="0">
                <a:solidFill>
                  <a:schemeClr val="dk1"/>
                </a:solidFill>
                <a:effectLst/>
                <a:latin typeface="Calibri"/>
                <a:ea typeface="Calibri"/>
                <a:cs typeface="Calibri"/>
                <a:sym typeface="Calibri"/>
              </a:rPr>
              <a:t>In Layer 6, the attention distribution might shift slightly, but the focus remains on understanding the relationship between "it" and other relevant words like "animal" and "street."</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Contextual Understanding: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Self-attention allows the model to dynamically focus on different parts of the input sequence, capturing dependencies and relationships that are crucial for understanding context.</a:t>
            </a:r>
          </a:p>
          <a:p>
            <a:pPr lvl="1"/>
            <a:r>
              <a:rPr lang="en-US" sz="1200" b="0" i="0" u="none" strike="noStrike" cap="none" dirty="0">
                <a:solidFill>
                  <a:schemeClr val="dk1"/>
                </a:solidFill>
                <a:effectLst/>
                <a:latin typeface="Calibri"/>
                <a:ea typeface="Calibri"/>
                <a:cs typeface="Calibri"/>
                <a:sym typeface="Calibri"/>
              </a:rPr>
              <a:t>In this example, the model uses self-attention to correctly associate "it" with "animal," demonstrating its ability to resolve pronoun references and understand sentence structure.</a:t>
            </a:r>
          </a:p>
          <a:p>
            <a:r>
              <a:rPr lang="en-US" sz="1200" b="1" i="0" u="none" strike="noStrike" cap="none" dirty="0">
                <a:solidFill>
                  <a:schemeClr val="dk1"/>
                </a:solidFill>
                <a:effectLst/>
                <a:latin typeface="Calibri"/>
                <a:ea typeface="Calibri"/>
                <a:cs typeface="Calibri"/>
                <a:sym typeface="Calibri"/>
              </a:rPr>
              <a:t>Layered Processing: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use of multiple layers allows the model to refine its understanding at each step, progressively building a more accurate representation of the input sequence.</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effectively demonstrates the power of self-attention in transformers, showing how it enables the model to capture complex dependencies and contextual information. This capability is a key reason why transformers have become the foundation for many state-of-the-art models in natural language processing, allowing them to handle tasks that require deep understanding of language and context.</a:t>
            </a:r>
          </a:p>
          <a:p>
            <a:pPr marL="0" lvl="0" indent="0" algn="l" rtl="0">
              <a:lnSpc>
                <a:spcPct val="100000"/>
              </a:lnSpc>
              <a:spcBef>
                <a:spcPts val="0"/>
              </a:spcBef>
              <a:spcAft>
                <a:spcPts val="0"/>
              </a:spcAft>
              <a:buSzPts val="1400"/>
              <a:buNone/>
            </a:pPr>
            <a:endParaRPr dirty="0"/>
          </a:p>
        </p:txBody>
      </p:sp>
      <p:sp>
        <p:nvSpPr>
          <p:cNvPr id="403" name="Google Shape;403;g2f031668344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2b8b5137f2c_0_1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410" name="Google Shape;410;g2b8b5137f2c_0_1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Self-Attention Layer:</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self-attention layer processes a sequence of input vectors </a:t>
                </a:r>
                <a14:m>
                  <m:oMath xmlns:m="http://schemas.openxmlformats.org/officeDocument/2006/math">
                    <m:d>
                      <m:dPr>
                        <m:sepChr m:val=","/>
                        <m:ctrlPr>
                          <a:rPr lang="ar-AE" sz="1200" b="0" i="0" u="none" strike="noStrike" cap="none">
                            <a:solidFill>
                              <a:schemeClr val="dk1"/>
                            </a:solidFill>
                            <a:latin typeface="Calibri"/>
                            <a:ea typeface="Calibri"/>
                            <a:cs typeface="Calibri"/>
                            <a:sym typeface="Calibri"/>
                          </a:rPr>
                        </m:ctrlPr>
                      </m:dPr>
                      <m:e>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0" u="none" strike="noStrike" cap="none">
                                <a:solidFill>
                                  <a:schemeClr val="dk1"/>
                                </a:solidFill>
                                <a:latin typeface="Calibri"/>
                                <a:ea typeface="Calibri"/>
                                <a:cs typeface="Calibri"/>
                                <a:sym typeface="Calibri"/>
                              </a:rPr>
                              <m:t>1</m:t>
                            </m:r>
                          </m:sub>
                        </m:sSub>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0" u="none" strike="noStrike" cap="none">
                                <a:solidFill>
                                  <a:schemeClr val="dk1"/>
                                </a:solidFill>
                                <a:latin typeface="Calibri"/>
                                <a:ea typeface="Calibri"/>
                                <a:cs typeface="Calibri"/>
                                <a:sym typeface="Calibri"/>
                              </a:rPr>
                              <m:t>2</m:t>
                            </m:r>
                          </m:sub>
                        </m:sSub>
                      </m:e>
                      <m:e>
                        <m:r>
                          <a:rPr lang="ar-AE" sz="1200" b="0" i="0" u="none" strike="noStrike" cap="none">
                            <a:solidFill>
                              <a:schemeClr val="dk1"/>
                            </a:solidFill>
                            <a:latin typeface="Calibri"/>
                            <a:ea typeface="Calibri"/>
                            <a:cs typeface="Calibri"/>
                            <a:sym typeface="Calibri"/>
                          </a:rPr>
                          <m:t>…</m:t>
                        </m:r>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0" u="none" strike="noStrike" cap="none">
                                <a:solidFill>
                                  <a:schemeClr val="dk1"/>
                                </a:solidFill>
                                <a:latin typeface="Calibri"/>
                                <a:ea typeface="Calibri"/>
                                <a:cs typeface="Calibri"/>
                                <a:sym typeface="Calibri"/>
                              </a:rPr>
                              <m:t>5</m:t>
                            </m:r>
                          </m:sub>
                        </m:sSub>
                      </m:e>
                    </m:d>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produces a sequence of output vectors </a:t>
                </a:r>
                <a14:m>
                  <m:oMath xmlns:m="http://schemas.openxmlformats.org/officeDocument/2006/math">
                    <m:d>
                      <m:dPr>
                        <m:sepChr m:val=","/>
                        <m:ctrlPr>
                          <a:rPr lang="ar-AE" sz="1200" b="0" i="0" u="none" strike="noStrike" cap="none">
                            <a:solidFill>
                              <a:schemeClr val="dk1"/>
                            </a:solidFill>
                            <a:latin typeface="Calibri"/>
                            <a:ea typeface="Calibri"/>
                            <a:cs typeface="Calibri"/>
                            <a:sym typeface="Calibri"/>
                          </a:rPr>
                        </m:ctrlPr>
                      </m:dPr>
                      <m:e>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0" u="none" strike="noStrike" cap="none">
                                <a:solidFill>
                                  <a:schemeClr val="dk1"/>
                                </a:solidFill>
                                <a:latin typeface="Calibri"/>
                                <a:ea typeface="Calibri"/>
                                <a:cs typeface="Calibri"/>
                                <a:sym typeface="Calibri"/>
                              </a:rPr>
                              <m:t>1</m:t>
                            </m:r>
                          </m:sub>
                        </m:sSub>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0" u="none" strike="noStrike" cap="none">
                                <a:solidFill>
                                  <a:schemeClr val="dk1"/>
                                </a:solidFill>
                                <a:latin typeface="Calibri"/>
                                <a:ea typeface="Calibri"/>
                                <a:cs typeface="Calibri"/>
                                <a:sym typeface="Calibri"/>
                              </a:rPr>
                              <m:t>2</m:t>
                            </m:r>
                          </m:sub>
                        </m:sSub>
                      </m:e>
                      <m:e>
                        <m:r>
                          <a:rPr lang="ar-AE" sz="1200" b="0" i="0" u="none" strike="noStrike" cap="none">
                            <a:solidFill>
                              <a:schemeClr val="dk1"/>
                            </a:solidFill>
                            <a:latin typeface="Calibri"/>
                            <a:ea typeface="Calibri"/>
                            <a:cs typeface="Calibri"/>
                            <a:sym typeface="Calibri"/>
                          </a:rPr>
                          <m:t>…</m:t>
                        </m:r>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0" u="none" strike="noStrike" cap="none">
                                <a:solidFill>
                                  <a:schemeClr val="dk1"/>
                                </a:solidFill>
                                <a:latin typeface="Calibri"/>
                                <a:ea typeface="Calibri"/>
                                <a:cs typeface="Calibri"/>
                                <a:sym typeface="Calibri"/>
                              </a:rPr>
                              <m:t>5</m:t>
                            </m:r>
                          </m:sub>
                        </m:sSub>
                      </m:e>
                    </m:d>
                  </m:oMath>
                </a14:m>
                <a:r>
                  <a:rPr lang="ar-AE" sz="1200" b="0" i="0" u="none" strike="noStrike" cap="none" dirty="0">
                    <a:solidFill>
                      <a:schemeClr val="dk1"/>
                    </a:solidFill>
                    <a:effectLst/>
                    <a:latin typeface="Calibri"/>
                    <a:ea typeface="Calibri"/>
                    <a:cs typeface="Calibri"/>
                    <a:sym typeface="Calibri"/>
                  </a:rPr>
                  <a:t>.</a:t>
                </a:r>
              </a:p>
              <a:p>
                <a:r>
                  <a:rPr lang="en-US" sz="1200" b="0" i="0" u="none" strike="noStrike" cap="none" dirty="0">
                    <a:solidFill>
                      <a:schemeClr val="dk1"/>
                    </a:solidFill>
                    <a:effectLst/>
                    <a:latin typeface="Calibri"/>
                    <a:ea typeface="Calibri"/>
                    <a:cs typeface="Calibri"/>
                    <a:sym typeface="Calibri"/>
                  </a:rPr>
                  <a:t>Each output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by attending to all input vectors up to and including the current one, allowing the model to capture dependencies and relationships within the sequence.</a:t>
                </a:r>
              </a:p>
              <a:p>
                <a:r>
                  <a:rPr lang="en-US" sz="1200" b="1" i="0" u="none" strike="noStrike" cap="none" dirty="0">
                    <a:solidFill>
                      <a:schemeClr val="dk1"/>
                    </a:solidFill>
                    <a:effectLst/>
                    <a:latin typeface="Calibri"/>
                    <a:ea typeface="Calibri"/>
                    <a:cs typeface="Calibri"/>
                    <a:sym typeface="Calibri"/>
                  </a:rPr>
                  <a:t>Parallel Computation:</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Unlike RNNs, where computations are sequential and depend on previous steps, the self-attention mechanism allows for parallel processing.</a:t>
                </a:r>
              </a:p>
              <a:p>
                <a:r>
                  <a:rPr lang="en-US" sz="1200" b="0" i="0" u="none" strike="noStrike" cap="none" dirty="0">
                    <a:solidFill>
                      <a:schemeClr val="dk1"/>
                    </a:solidFill>
                    <a:effectLst/>
                    <a:latin typeface="Calibri"/>
                    <a:ea typeface="Calibri"/>
                    <a:cs typeface="Calibri"/>
                    <a:sym typeface="Calibri"/>
                  </a:rPr>
                  <a:t>Each element in the sequence can be processed independently, enabling efficient computation and scalability.</a:t>
                </a:r>
              </a:p>
              <a:p>
                <a:r>
                  <a:rPr lang="en-US" sz="1200" b="1" i="0" u="none" strike="noStrike" cap="none" dirty="0">
                    <a:solidFill>
                      <a:schemeClr val="dk1"/>
                    </a:solidFill>
                    <a:effectLst/>
                    <a:latin typeface="Calibri"/>
                    <a:ea typeface="Calibri"/>
                    <a:cs typeface="Calibri"/>
                    <a:sym typeface="Calibri"/>
                  </a:rPr>
                  <a:t>Attention Score Calculation: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Score Function: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attention score between two input vectors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𝑗</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calculated using the dot product:</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r>
                        <m:rPr>
                          <m:nor/>
                        </m:rPr>
                        <a:rPr lang="en-US" b="0"/>
                        <m:t>score</m:t>
                      </m:r>
                      <m:d>
                        <m:dPr>
                          <m:sepChr m:val=","/>
                          <m:ctrlPr>
                            <a:rPr lang="ar-AE" sz="1200" b="0" i="1" u="none" strike="noStrike" cap="none">
                              <a:solidFill>
                                <a:schemeClr val="dk1"/>
                              </a:solidFill>
                              <a:latin typeface="Calibri"/>
                              <a:ea typeface="Calibri"/>
                              <a:cs typeface="Calibri"/>
                              <a:sym typeface="Calibri"/>
                            </a:rPr>
                          </m:ctrlPr>
                        </m:dPr>
                        <m:e>
                          <m:sSub>
                            <m:sSubPr>
                              <m:ctrlPr>
                                <a:rPr lang="ar-AE" sz="1200" b="0" i="1" u="none" strike="noStrike" cap="none">
                                  <a:solidFill>
                                    <a:schemeClr val="dk1"/>
                                  </a:solidFill>
                                  <a:latin typeface="Calibri"/>
                                  <a:ea typeface="Calibri"/>
                                  <a:cs typeface="Calibri"/>
                                  <a:sym typeface="Calibri"/>
                                </a:rPr>
                              </m:ctrlPr>
                            </m:sSubPr>
                            <m:e>
                              <m:r>
                                <a:rPr lang="ar-AE" b="0" i="1"/>
                                <m:t>𝑥</m:t>
                              </m:r>
                            </m:e>
                            <m:sub>
                              <m:r>
                                <a:rPr lang="ar-AE" b="0" i="1"/>
                                <m:t>𝑖</m:t>
                              </m:r>
                            </m:sub>
                          </m:sSub>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𝑗</m:t>
                              </m:r>
                            </m:sub>
                          </m:sSub>
                        </m:e>
                      </m:d>
                      <m:r>
                        <a:rPr lang="ar-AE" sz="1200" b="0" i="0" u="none" strike="noStrike" cap="none">
                          <a:solidFill>
                            <a:schemeClr val="dk1"/>
                          </a:solidFill>
                          <a:latin typeface="Calibri"/>
                          <a:ea typeface="Calibri"/>
                          <a:cs typeface="Calibri"/>
                          <a:sym typeface="Calibri"/>
                        </a:rPr>
                        <m:t>=</m:t>
                      </m:r>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𝑖</m:t>
                          </m:r>
                        </m:sub>
                      </m:sSub>
                      <m:r>
                        <a:rPr lang="ar-AE" sz="1200" b="0" i="0" u="none" strike="noStrike" cap="none">
                          <a:solidFill>
                            <a:schemeClr val="dk1"/>
                          </a:solidFill>
                          <a:latin typeface="Calibri"/>
                          <a:ea typeface="Calibri"/>
                          <a:cs typeface="Calibri"/>
                          <a:sym typeface="Calibri"/>
                        </a:rPr>
                        <m:t>⋅</m:t>
                      </m:r>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𝑗</m:t>
                          </m:r>
                        </m:sub>
                      </m:sSub>
                    </m:oMath>
                  </m:oMathPara>
                </a14:m>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This score measures the similarity or relevance between the two vectors.</a:t>
                </a:r>
              </a:p>
              <a:p>
                <a:r>
                  <a:rPr lang="en-US" sz="1200" b="1" i="0" u="none" strike="noStrike" cap="none" dirty="0">
                    <a:solidFill>
                      <a:schemeClr val="dk1"/>
                    </a:solidFill>
                    <a:effectLst/>
                    <a:latin typeface="Calibri"/>
                    <a:ea typeface="Calibri"/>
                    <a:cs typeface="Calibri"/>
                    <a:sym typeface="Calibri"/>
                  </a:rPr>
                  <a:t>Attention Weights: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scores are normalized using 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to produce attention weights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𝛼</m:t>
                        </m:r>
                      </m:e>
                      <m:sub>
                        <m:r>
                          <a:rPr lang="ar-AE" sz="1200" b="0" i="1" u="none" strike="noStrike" cap="none">
                            <a:solidFill>
                              <a:schemeClr val="dk1"/>
                            </a:solidFill>
                            <a:latin typeface="Calibri"/>
                            <a:ea typeface="Calibri"/>
                            <a:cs typeface="Calibri"/>
                            <a:sym typeface="Calibri"/>
                          </a:rPr>
                          <m:t>𝑖𝑗</m:t>
                        </m:r>
                      </m:sub>
                    </m:sSub>
                  </m:oMath>
                </a14:m>
                <a:r>
                  <a:rPr lang="ar-AE" sz="1200" b="0" i="0" u="none" strike="noStrike" cap="none" dirty="0">
                    <a:solidFill>
                      <a:schemeClr val="dk1"/>
                    </a:solidFill>
                    <a:effectLst/>
                    <a:latin typeface="Calibri"/>
                    <a:ea typeface="Calibri"/>
                    <a:cs typeface="Calibri"/>
                    <a:sym typeface="Calibri"/>
                  </a:rPr>
                  <a:t>:</a:t>
                </a:r>
                <a:br>
                  <a:rPr lang="ar-AE" sz="1200" b="0" i="0" u="none" strike="noStrike" cap="none" dirty="0">
                    <a:solidFill>
                      <a:schemeClr val="dk1"/>
                    </a:solidFill>
                    <a:effectLst/>
                    <a:latin typeface="Calibri"/>
                    <a:ea typeface="Calibri"/>
                    <a:cs typeface="Calibri"/>
                    <a:sym typeface="Calibri"/>
                  </a:rPr>
                </a:b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These weights indicate the importance of each input vector in computing the output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a:t>
                </a:r>
              </a:p>
              <a:p>
                <a:r>
                  <a:rPr lang="en-US" sz="1200" b="1" i="0" u="none" strike="noStrike" cap="none" dirty="0">
                    <a:solidFill>
                      <a:schemeClr val="dk1"/>
                    </a:solidFill>
                    <a:effectLst/>
                    <a:latin typeface="Calibri"/>
                    <a:ea typeface="Calibri"/>
                    <a:cs typeface="Calibri"/>
                    <a:sym typeface="Calibri"/>
                  </a:rPr>
                  <a:t>Output Computation:</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Each output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as a weighted sum of the input vectors:</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𝑖</m:t>
                          </m:r>
                        </m:sub>
                      </m:sSub>
                      <m:r>
                        <a:rPr lang="ar-AE" sz="1200" b="0" i="0" u="none" strike="noStrike" cap="none">
                          <a:solidFill>
                            <a:schemeClr val="dk1"/>
                          </a:solidFill>
                          <a:latin typeface="Calibri"/>
                          <a:ea typeface="Calibri"/>
                          <a:cs typeface="Calibri"/>
                          <a:sym typeface="Calibri"/>
                        </a:rPr>
                        <m:t>=</m:t>
                      </m:r>
                      <m:nary>
                        <m:naryPr>
                          <m:chr m:val="∑"/>
                          <m:limLoc m:val="subSup"/>
                          <m:grow m:val="on"/>
                          <m:supHide m:val="on"/>
                          <m:ctrlPr>
                            <a:rPr lang="ar-AE" sz="1200" b="0" i="1" u="none" strike="noStrike" cap="none">
                              <a:solidFill>
                                <a:schemeClr val="dk1"/>
                              </a:solidFill>
                              <a:latin typeface="Calibri"/>
                              <a:ea typeface="Calibri"/>
                              <a:cs typeface="Calibri"/>
                              <a:sym typeface="Calibri"/>
                            </a:rPr>
                          </m:ctrlPr>
                        </m:naryPr>
                        <m:sub>
                          <m:r>
                            <a:rPr lang="ar-AE" sz="1200" b="0" i="1" u="none" strike="noStrike" cap="none">
                              <a:solidFill>
                                <a:schemeClr val="dk1"/>
                              </a:solidFill>
                              <a:latin typeface="Calibri"/>
                              <a:ea typeface="Calibri"/>
                              <a:cs typeface="Calibri"/>
                              <a:sym typeface="Calibri"/>
                            </a:rPr>
                            <m:t>𝑗</m:t>
                          </m:r>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𝑖</m:t>
                          </m:r>
                        </m:sub>
                        <m:sup/>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𝛼</m:t>
                              </m:r>
                            </m:e>
                            <m:sub>
                              <m:r>
                                <a:rPr lang="ar-AE" sz="1200" b="0" i="1" u="none" strike="noStrike" cap="none">
                                  <a:solidFill>
                                    <a:schemeClr val="dk1"/>
                                  </a:solidFill>
                                  <a:latin typeface="Calibri"/>
                                  <a:ea typeface="Calibri"/>
                                  <a:cs typeface="Calibri"/>
                                  <a:sym typeface="Calibri"/>
                                </a:rPr>
                                <m:t>𝑖𝑗</m:t>
                              </m:r>
                            </m:sub>
                          </m:sSub>
                        </m:e>
                      </m:nary>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𝑗</m:t>
                          </m:r>
                        </m:sub>
                      </m:sSub>
                    </m:oMath>
                  </m:oMathPara>
                </a14:m>
                <a:endParaRPr lang="ar-AE"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This operation allows the model to integrate information from the entire sequence, focusing on the most relevant parts for each output.</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Self-attention enables the model to capture complex dependencies and contextual information within sequences, making it highly effective for tasks that require understanding of long-range relationships.</a:t>
                </a:r>
              </a:p>
              <a:p>
                <a:r>
                  <a:rPr lang="en-US" sz="1200" b="0" i="0" u="none" strike="noStrike" cap="none" dirty="0">
                    <a:solidFill>
                      <a:schemeClr val="dk1"/>
                    </a:solidFill>
                    <a:effectLst/>
                    <a:latin typeface="Calibri"/>
                    <a:ea typeface="Calibri"/>
                    <a:cs typeface="Calibri"/>
                    <a:sym typeface="Calibri"/>
                  </a:rPr>
                  <a:t>The ability to process sequences in parallel makes transformers more efficient and scalable than traditional recurrent models, contributing to their widespread adoption in NLP and other fields.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These slides provide a comprehensive view of how self-attention works within transformers, highlighting its advantages in terms of efficiency and capability to model complex dependencies. This understanding is crucial for appreciating the transformative impact of transformers on modern AI research and applications.</a:t>
                </a:r>
              </a:p>
              <a:p>
                <a:pPr marL="0" lvl="0" indent="0" algn="l" rtl="0">
                  <a:lnSpc>
                    <a:spcPct val="100000"/>
                  </a:lnSpc>
                  <a:spcBef>
                    <a:spcPts val="0"/>
                  </a:spcBef>
                  <a:spcAft>
                    <a:spcPts val="0"/>
                  </a:spcAft>
                  <a:buSzPts val="1400"/>
                  <a:buNone/>
                </a:pPr>
                <a:endParaRPr dirty="0"/>
              </a:p>
            </p:txBody>
          </p:sp>
        </mc:Choice>
        <mc:Fallback>
          <p:sp>
            <p:nvSpPr>
              <p:cNvPr id="410" name="Google Shape;410;g2b8b5137f2c_0_1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Self-Attention Layer:</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self-attention layer processes a sequence of input vectors </a:t>
                </a:r>
                <a:r>
                  <a:rPr lang="ar-AE" sz="1200" b="0" i="0" u="none" strike="noStrike" cap="none">
                    <a:solidFill>
                      <a:schemeClr val="dk1"/>
                    </a:solidFill>
                    <a:latin typeface="Calibri"/>
                    <a:ea typeface="Calibri"/>
                    <a:cs typeface="Calibri"/>
                    <a:sym typeface="Calibri"/>
                  </a:rPr>
                  <a:t>(𝑥_1ⓜ,𝑥_2ⓜ,…ⓜ,𝑥_5 )</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produces a sequence of output vectors </a:t>
                </a:r>
                <a:r>
                  <a:rPr lang="ar-AE" sz="1200" b="0" i="0" u="none" strike="noStrike" cap="none">
                    <a:solidFill>
                      <a:schemeClr val="dk1"/>
                    </a:solidFill>
                    <a:latin typeface="Calibri"/>
                    <a:ea typeface="Calibri"/>
                    <a:cs typeface="Calibri"/>
                    <a:sym typeface="Calibri"/>
                  </a:rPr>
                  <a:t>(𝑦_1ⓜ,𝑦_2ⓜ,…ⓜ,𝑦_5 )</a:t>
                </a:r>
                <a:r>
                  <a:rPr lang="ar-AE" sz="1200" b="0" i="0" u="none" strike="noStrike" cap="none" dirty="0">
                    <a:solidFill>
                      <a:schemeClr val="dk1"/>
                    </a:solidFill>
                    <a:effectLst/>
                    <a:latin typeface="Calibri"/>
                    <a:ea typeface="Calibri"/>
                    <a:cs typeface="Calibri"/>
                    <a:sym typeface="Calibri"/>
                  </a:rPr>
                  <a:t>.</a:t>
                </a:r>
              </a:p>
              <a:p>
                <a:r>
                  <a:rPr lang="en-US" sz="1200" b="0" i="0" u="none" strike="noStrike" cap="none" dirty="0">
                    <a:solidFill>
                      <a:schemeClr val="dk1"/>
                    </a:solidFill>
                    <a:effectLst/>
                    <a:latin typeface="Calibri"/>
                    <a:ea typeface="Calibri"/>
                    <a:cs typeface="Calibri"/>
                    <a:sym typeface="Calibri"/>
                  </a:rPr>
                  <a:t>Each output vector </a:t>
                </a:r>
                <a:r>
                  <a:rPr lang="ar-AE" sz="1200" b="0" i="0" u="none" strike="noStrike" cap="none">
                    <a:solidFill>
                      <a:schemeClr val="dk1"/>
                    </a:solidFill>
                    <a:latin typeface="Calibri"/>
                    <a:ea typeface="Calibri"/>
                    <a:cs typeface="Calibri"/>
                    <a:sym typeface="Calibri"/>
                  </a:rPr>
                  <a:t>𝑦_𝑖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by attending to all input vectors up to and including the current one, allowing the model to capture dependencies and relationships within the sequence.</a:t>
                </a:r>
              </a:p>
              <a:p>
                <a:r>
                  <a:rPr lang="en-US" sz="1200" b="1" i="0" u="none" strike="noStrike" cap="none" dirty="0">
                    <a:solidFill>
                      <a:schemeClr val="dk1"/>
                    </a:solidFill>
                    <a:effectLst/>
                    <a:latin typeface="Calibri"/>
                    <a:ea typeface="Calibri"/>
                    <a:cs typeface="Calibri"/>
                    <a:sym typeface="Calibri"/>
                  </a:rPr>
                  <a:t>Parallel Computation:</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Unlike RNNs, where computations are sequential and depend on previous steps, the self-attention mechanism allows for parallel processing.</a:t>
                </a:r>
              </a:p>
              <a:p>
                <a:r>
                  <a:rPr lang="en-US" sz="1200" b="0" i="0" u="none" strike="noStrike" cap="none" dirty="0">
                    <a:solidFill>
                      <a:schemeClr val="dk1"/>
                    </a:solidFill>
                    <a:effectLst/>
                    <a:latin typeface="Calibri"/>
                    <a:ea typeface="Calibri"/>
                    <a:cs typeface="Calibri"/>
                    <a:sym typeface="Calibri"/>
                  </a:rPr>
                  <a:t>Each element in the sequence can be processed independently, enabling efficient computation and scalability.</a:t>
                </a:r>
              </a:p>
              <a:p>
                <a:r>
                  <a:rPr lang="en-US" sz="1200" b="1" i="0" u="none" strike="noStrike" cap="none" dirty="0">
                    <a:solidFill>
                      <a:schemeClr val="dk1"/>
                    </a:solidFill>
                    <a:effectLst/>
                    <a:latin typeface="Calibri"/>
                    <a:ea typeface="Calibri"/>
                    <a:cs typeface="Calibri"/>
                    <a:sym typeface="Calibri"/>
                  </a:rPr>
                  <a:t>Attention Score Calculation: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Score Function: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attention score between two input vectors </a:t>
                </a:r>
                <a:r>
                  <a:rPr lang="ar-AE" sz="1200" b="0" i="0" u="none" strike="noStrike" cap="none">
                    <a:solidFill>
                      <a:schemeClr val="dk1"/>
                    </a:solidFill>
                    <a:latin typeface="Calibri"/>
                    <a:ea typeface="Calibri"/>
                    <a:cs typeface="Calibri"/>
                    <a:sym typeface="Calibri"/>
                  </a:rPr>
                  <a:t>𝑥_𝑖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a:t>
                </a:r>
                <a:r>
                  <a:rPr lang="ar-AE" sz="1200" b="0" i="0" u="none" strike="noStrike" cap="none">
                    <a:solidFill>
                      <a:schemeClr val="dk1"/>
                    </a:solidFill>
                    <a:latin typeface="Calibri"/>
                    <a:ea typeface="Calibri"/>
                    <a:cs typeface="Calibri"/>
                    <a:sym typeface="Calibri"/>
                  </a:rPr>
                  <a:t>𝑥_𝑗</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calculated using the dot product:</a:t>
                </a:r>
                <a:br>
                  <a:rPr lang="en-US" sz="1200" b="0" i="0" u="none" strike="noStrike" cap="none" dirty="0">
                    <a:solidFill>
                      <a:schemeClr val="dk1"/>
                    </a:solidFill>
                    <a:effectLst/>
                    <a:latin typeface="Calibri"/>
                    <a:ea typeface="Calibri"/>
                    <a:cs typeface="Calibri"/>
                    <a:sym typeface="Calibri"/>
                  </a:rPr>
                </a:br>
                <a:r>
                  <a:rPr lang="en-US" b="0" i="0">
                    <a:latin typeface="Cambria Math" panose="02040503050406030204" pitchFamily="18" charset="0"/>
                  </a:rPr>
                  <a:t>"score</a:t>
                </a:r>
                <a:r>
                  <a:rPr lang="ar-AE" sz="1200" b="0" i="0" u="none" strike="noStrike" cap="none">
                    <a:solidFill>
                      <a:schemeClr val="dk1"/>
                    </a:solidFill>
                    <a:sym typeface="Calibri"/>
                  </a:rPr>
                  <a:t>" </a:t>
                </a:r>
                <a:r>
                  <a:rPr lang="ar-AE" sz="1200" b="0" i="0" u="none" strike="noStrike" cap="none">
                    <a:solidFill>
                      <a:schemeClr val="dk1"/>
                    </a:solidFill>
                    <a:latin typeface="Calibri"/>
                    <a:ea typeface="Calibri"/>
                    <a:cs typeface="Calibri"/>
                    <a:sym typeface="Calibri"/>
                  </a:rPr>
                  <a:t>(</a:t>
                </a:r>
                <a:r>
                  <a:rPr lang="ar-AE" b="0" i="0"/>
                  <a:t>𝑥</a:t>
                </a:r>
                <a:r>
                  <a:rPr lang="ar-AE" sz="1200" b="0" i="0" u="none" strike="noStrike" cap="none">
                    <a:solidFill>
                      <a:schemeClr val="dk1"/>
                    </a:solidFill>
                    <a:sym typeface="Calibri"/>
                  </a:rPr>
                  <a:t>_</a:t>
                </a:r>
                <a:r>
                  <a:rPr lang="ar-AE" b="0" i="0"/>
                  <a:t>𝑖</a:t>
                </a:r>
                <a:r>
                  <a:rPr lang="ar-AE" sz="1200" b="0" i="0" u="none" strike="noStrike" cap="none">
                    <a:solidFill>
                      <a:schemeClr val="dk1"/>
                    </a:solidFill>
                    <a:sym typeface="Calibri"/>
                  </a:rPr>
                  <a:t>ⓜ,</a:t>
                </a:r>
                <a:r>
                  <a:rPr lang="ar-AE" sz="1200" b="0" i="0" u="none" strike="noStrike" cap="none">
                    <a:solidFill>
                      <a:schemeClr val="dk1"/>
                    </a:solidFill>
                    <a:latin typeface="Calibri"/>
                    <a:ea typeface="Calibri"/>
                    <a:cs typeface="Calibri"/>
                    <a:sym typeface="Calibri"/>
                  </a:rPr>
                  <a:t>𝑥_𝑗 )=𝑥_𝑖⋅𝑥_𝑗</a:t>
                </a: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This score measures the similarity or relevance between the two vectors.</a:t>
                </a:r>
              </a:p>
              <a:p>
                <a:r>
                  <a:rPr lang="en-US" sz="1200" b="1" i="0" u="none" strike="noStrike" cap="none" dirty="0">
                    <a:solidFill>
                      <a:schemeClr val="dk1"/>
                    </a:solidFill>
                    <a:effectLst/>
                    <a:latin typeface="Calibri"/>
                    <a:ea typeface="Calibri"/>
                    <a:cs typeface="Calibri"/>
                    <a:sym typeface="Calibri"/>
                  </a:rPr>
                  <a:t>Attention Weights: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scores are normalized using 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to produce attention weights </a:t>
                </a:r>
                <a:r>
                  <a:rPr lang="ar-AE" sz="1200" b="0" i="0" u="none" strike="noStrike" cap="none">
                    <a:solidFill>
                      <a:schemeClr val="dk1"/>
                    </a:solidFill>
                    <a:latin typeface="Calibri"/>
                    <a:ea typeface="Calibri"/>
                    <a:cs typeface="Calibri"/>
                    <a:sym typeface="Calibri"/>
                  </a:rPr>
                  <a:t>𝛼_𝑖𝑗</a:t>
                </a:r>
                <a:r>
                  <a:rPr lang="ar-AE" sz="1200" b="0" i="0" u="none" strike="noStrike" cap="none" dirty="0">
                    <a:solidFill>
                      <a:schemeClr val="dk1"/>
                    </a:solidFill>
                    <a:effectLst/>
                    <a:latin typeface="Calibri"/>
                    <a:ea typeface="Calibri"/>
                    <a:cs typeface="Calibri"/>
                    <a:sym typeface="Calibri"/>
                  </a:rPr>
                  <a:t>:</a:t>
                </a:r>
                <a:br>
                  <a:rPr lang="ar-AE" sz="1200" b="0" i="0" u="none" strike="noStrike" cap="none" dirty="0">
                    <a:solidFill>
                      <a:schemeClr val="dk1"/>
                    </a:solidFill>
                    <a:effectLst/>
                    <a:latin typeface="Calibri"/>
                    <a:ea typeface="Calibri"/>
                    <a:cs typeface="Calibri"/>
                    <a:sym typeface="Calibri"/>
                  </a:rPr>
                </a:b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These weights indicate the importance of each input vector in computing the output vector </a:t>
                </a:r>
                <a:r>
                  <a:rPr lang="ar-AE" sz="1200" b="0" i="0" u="none" strike="noStrike" cap="none">
                    <a:solidFill>
                      <a:schemeClr val="dk1"/>
                    </a:solidFill>
                    <a:latin typeface="Calibri"/>
                    <a:ea typeface="Calibri"/>
                    <a:cs typeface="Calibri"/>
                    <a:sym typeface="Calibri"/>
                  </a:rPr>
                  <a:t>𝑦_𝑖</a:t>
                </a:r>
                <a:r>
                  <a:rPr lang="ar-AE" sz="1200" b="0" i="0" u="none" strike="noStrike" cap="none" dirty="0">
                    <a:solidFill>
                      <a:schemeClr val="dk1"/>
                    </a:solidFill>
                    <a:effectLst/>
                    <a:latin typeface="Calibri"/>
                    <a:ea typeface="Calibri"/>
                    <a:cs typeface="Calibri"/>
                    <a:sym typeface="Calibri"/>
                  </a:rPr>
                  <a:t>.</a:t>
                </a:r>
              </a:p>
              <a:p>
                <a:r>
                  <a:rPr lang="en-US" sz="1200" b="1" i="0" u="none" strike="noStrike" cap="none" dirty="0">
                    <a:solidFill>
                      <a:schemeClr val="dk1"/>
                    </a:solidFill>
                    <a:effectLst/>
                    <a:latin typeface="Calibri"/>
                    <a:ea typeface="Calibri"/>
                    <a:cs typeface="Calibri"/>
                    <a:sym typeface="Calibri"/>
                  </a:rPr>
                  <a:t>Output Computation:</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Each output vector </a:t>
                </a:r>
                <a:r>
                  <a:rPr lang="ar-AE" sz="1200" b="0" i="0" u="none" strike="noStrike" cap="none">
                    <a:solidFill>
                      <a:schemeClr val="dk1"/>
                    </a:solidFill>
                    <a:latin typeface="Calibri"/>
                    <a:ea typeface="Calibri"/>
                    <a:cs typeface="Calibri"/>
                    <a:sym typeface="Calibri"/>
                  </a:rPr>
                  <a:t>𝑦_𝑖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as a weighted sum of the input vectors:</a:t>
                </a:r>
                <a:br>
                  <a:rPr lang="en-US" sz="1200" b="0" i="0" u="none" strike="noStrike" cap="none" dirty="0">
                    <a:solidFill>
                      <a:schemeClr val="dk1"/>
                    </a:solidFill>
                    <a:effectLst/>
                    <a:latin typeface="Calibri"/>
                    <a:ea typeface="Calibri"/>
                    <a:cs typeface="Calibri"/>
                    <a:sym typeface="Calibri"/>
                  </a:rPr>
                </a:br>
                <a:r>
                  <a:rPr lang="ar-AE" sz="1200" b="0" i="0" u="none" strike="noStrike" cap="none">
                    <a:solidFill>
                      <a:schemeClr val="dk1"/>
                    </a:solidFill>
                    <a:latin typeface="Calibri"/>
                    <a:ea typeface="Calibri"/>
                    <a:cs typeface="Calibri"/>
                    <a:sym typeface="Calibri"/>
                  </a:rPr>
                  <a:t>𝑦_𝑖=∑130_(𝑗≤𝑖)▒𝛼_𝑖𝑗  𝑥_𝑗</a:t>
                </a:r>
                <a:endParaRPr lang="ar-AE"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This operation allows the model to integrate information from the entire sequence, focusing on the most relevant parts for each output.</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Self-attention enables the model to capture complex dependencies and contextual information within sequences, making it highly effective for tasks that require understanding of long-range relationships.</a:t>
                </a:r>
              </a:p>
              <a:p>
                <a:r>
                  <a:rPr lang="en-US" sz="1200" b="0" i="0" u="none" strike="noStrike" cap="none" dirty="0">
                    <a:solidFill>
                      <a:schemeClr val="dk1"/>
                    </a:solidFill>
                    <a:effectLst/>
                    <a:latin typeface="Calibri"/>
                    <a:ea typeface="Calibri"/>
                    <a:cs typeface="Calibri"/>
                    <a:sym typeface="Calibri"/>
                  </a:rPr>
                  <a:t>The ability to process sequences in parallel makes transformers more efficient and scalable than traditional recurrent models, contributing to their widespread adoption in NLP and other fields.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These slides provide a comprehensive view of how self-attention works within transformers, highlighting its advantages in terms of efficiency and capability to model complex dependencies. This understanding is crucial for appreciating the transformative impact of transformers on modern AI research and applications.</a:t>
                </a:r>
              </a:p>
              <a:p>
                <a:pPr marL="0" lvl="0" indent="0" algn="l" rtl="0">
                  <a:lnSpc>
                    <a:spcPct val="100000"/>
                  </a:lnSpc>
                  <a:spcBef>
                    <a:spcPts val="0"/>
                  </a:spcBef>
                  <a:spcAft>
                    <a:spcPts val="0"/>
                  </a:spcAft>
                  <a:buSzPts val="1400"/>
                  <a:buNone/>
                </a:pPr>
                <a:endParaRPr dirty="0"/>
              </a:p>
            </p:txBody>
          </p:sp>
        </mc:Fallback>
      </mc:AlternateContent>
      <p:sp>
        <p:nvSpPr>
          <p:cNvPr id="411" name="Google Shape;411;g2b8b5137f2c_0_1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2b8b5137f2c_0_1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419" name="Google Shape;419;g2b8b5137f2c_0_1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Self-Attention Layer:</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self-attention layer processes a sequence of input vectors </a:t>
                </a:r>
                <a14:m>
                  <m:oMath xmlns:m="http://schemas.openxmlformats.org/officeDocument/2006/math">
                    <m:d>
                      <m:dPr>
                        <m:sepChr m:val=","/>
                        <m:ctrlPr>
                          <a:rPr lang="ar-AE" sz="1200" b="0" i="0" u="none" strike="noStrike" cap="none">
                            <a:solidFill>
                              <a:schemeClr val="dk1"/>
                            </a:solidFill>
                            <a:latin typeface="Calibri"/>
                            <a:ea typeface="Calibri"/>
                            <a:cs typeface="Calibri"/>
                            <a:sym typeface="Calibri"/>
                          </a:rPr>
                        </m:ctrlPr>
                      </m:dPr>
                      <m:e>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0" u="none" strike="noStrike" cap="none">
                                <a:solidFill>
                                  <a:schemeClr val="dk1"/>
                                </a:solidFill>
                                <a:latin typeface="Calibri"/>
                                <a:ea typeface="Calibri"/>
                                <a:cs typeface="Calibri"/>
                                <a:sym typeface="Calibri"/>
                              </a:rPr>
                              <m:t>1</m:t>
                            </m:r>
                          </m:sub>
                        </m:sSub>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0" u="none" strike="noStrike" cap="none">
                                <a:solidFill>
                                  <a:schemeClr val="dk1"/>
                                </a:solidFill>
                                <a:latin typeface="Calibri"/>
                                <a:ea typeface="Calibri"/>
                                <a:cs typeface="Calibri"/>
                                <a:sym typeface="Calibri"/>
                              </a:rPr>
                              <m:t>2</m:t>
                            </m:r>
                          </m:sub>
                        </m:sSub>
                      </m:e>
                      <m:e>
                        <m:r>
                          <a:rPr lang="ar-AE" sz="1200" b="0" i="0" u="none" strike="noStrike" cap="none">
                            <a:solidFill>
                              <a:schemeClr val="dk1"/>
                            </a:solidFill>
                            <a:latin typeface="Calibri"/>
                            <a:ea typeface="Calibri"/>
                            <a:cs typeface="Calibri"/>
                            <a:sym typeface="Calibri"/>
                          </a:rPr>
                          <m:t>…</m:t>
                        </m:r>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0" u="none" strike="noStrike" cap="none">
                                <a:solidFill>
                                  <a:schemeClr val="dk1"/>
                                </a:solidFill>
                                <a:latin typeface="Calibri"/>
                                <a:ea typeface="Calibri"/>
                                <a:cs typeface="Calibri"/>
                                <a:sym typeface="Calibri"/>
                              </a:rPr>
                              <m:t>5</m:t>
                            </m:r>
                          </m:sub>
                        </m:sSub>
                      </m:e>
                    </m:d>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produces a sequence of output vectors </a:t>
                </a:r>
                <a14:m>
                  <m:oMath xmlns:m="http://schemas.openxmlformats.org/officeDocument/2006/math">
                    <m:d>
                      <m:dPr>
                        <m:sepChr m:val=","/>
                        <m:ctrlPr>
                          <a:rPr lang="ar-AE" sz="1200" b="0" i="0" u="none" strike="noStrike" cap="none">
                            <a:solidFill>
                              <a:schemeClr val="dk1"/>
                            </a:solidFill>
                            <a:latin typeface="Calibri"/>
                            <a:ea typeface="Calibri"/>
                            <a:cs typeface="Calibri"/>
                            <a:sym typeface="Calibri"/>
                          </a:rPr>
                        </m:ctrlPr>
                      </m:dPr>
                      <m:e>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0" u="none" strike="noStrike" cap="none">
                                <a:solidFill>
                                  <a:schemeClr val="dk1"/>
                                </a:solidFill>
                                <a:latin typeface="Calibri"/>
                                <a:ea typeface="Calibri"/>
                                <a:cs typeface="Calibri"/>
                                <a:sym typeface="Calibri"/>
                              </a:rPr>
                              <m:t>1</m:t>
                            </m:r>
                          </m:sub>
                        </m:sSub>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0" u="none" strike="noStrike" cap="none">
                                <a:solidFill>
                                  <a:schemeClr val="dk1"/>
                                </a:solidFill>
                                <a:latin typeface="Calibri"/>
                                <a:ea typeface="Calibri"/>
                                <a:cs typeface="Calibri"/>
                                <a:sym typeface="Calibri"/>
                              </a:rPr>
                              <m:t>2</m:t>
                            </m:r>
                          </m:sub>
                        </m:sSub>
                      </m:e>
                      <m:e>
                        <m:r>
                          <a:rPr lang="ar-AE" sz="1200" b="0" i="0" u="none" strike="noStrike" cap="none">
                            <a:solidFill>
                              <a:schemeClr val="dk1"/>
                            </a:solidFill>
                            <a:latin typeface="Calibri"/>
                            <a:ea typeface="Calibri"/>
                            <a:cs typeface="Calibri"/>
                            <a:sym typeface="Calibri"/>
                          </a:rPr>
                          <m:t>…</m:t>
                        </m:r>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0" u="none" strike="noStrike" cap="none">
                                <a:solidFill>
                                  <a:schemeClr val="dk1"/>
                                </a:solidFill>
                                <a:latin typeface="Calibri"/>
                                <a:ea typeface="Calibri"/>
                                <a:cs typeface="Calibri"/>
                                <a:sym typeface="Calibri"/>
                              </a:rPr>
                              <m:t>5</m:t>
                            </m:r>
                          </m:sub>
                        </m:sSub>
                      </m:e>
                    </m:d>
                  </m:oMath>
                </a14:m>
                <a:r>
                  <a:rPr lang="ar-AE" sz="1200" b="0" i="0" u="none" strike="noStrike" cap="none" dirty="0">
                    <a:solidFill>
                      <a:schemeClr val="dk1"/>
                    </a:solidFill>
                    <a:effectLst/>
                    <a:latin typeface="Calibri"/>
                    <a:ea typeface="Calibri"/>
                    <a:cs typeface="Calibri"/>
                    <a:sym typeface="Calibri"/>
                  </a:rPr>
                  <a:t>.</a:t>
                </a:r>
              </a:p>
              <a:p>
                <a:r>
                  <a:rPr lang="en-US" sz="1200" b="0" i="0" u="none" strike="noStrike" cap="none" dirty="0">
                    <a:solidFill>
                      <a:schemeClr val="dk1"/>
                    </a:solidFill>
                    <a:effectLst/>
                    <a:latin typeface="Calibri"/>
                    <a:ea typeface="Calibri"/>
                    <a:cs typeface="Calibri"/>
                    <a:sym typeface="Calibri"/>
                  </a:rPr>
                  <a:t>Each output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by attending to all input vectors up to and including the current one, allowing the model to capture dependencies and relationships within the sequence.</a:t>
                </a:r>
              </a:p>
              <a:p>
                <a:r>
                  <a:rPr lang="en-US" sz="1200" b="1" i="0" u="none" strike="noStrike" cap="none" dirty="0">
                    <a:solidFill>
                      <a:schemeClr val="dk1"/>
                    </a:solidFill>
                    <a:effectLst/>
                    <a:latin typeface="Calibri"/>
                    <a:ea typeface="Calibri"/>
                    <a:cs typeface="Calibri"/>
                    <a:sym typeface="Calibri"/>
                  </a:rPr>
                  <a:t>Parallel Computation:</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Unlike RNNs, where computations are sequential and depend on previous steps, the self-attention mechanism allows for parallel processing.</a:t>
                </a:r>
              </a:p>
              <a:p>
                <a:r>
                  <a:rPr lang="en-US" sz="1200" b="0" i="0" u="none" strike="noStrike" cap="none" dirty="0">
                    <a:solidFill>
                      <a:schemeClr val="dk1"/>
                    </a:solidFill>
                    <a:effectLst/>
                    <a:latin typeface="Calibri"/>
                    <a:ea typeface="Calibri"/>
                    <a:cs typeface="Calibri"/>
                    <a:sym typeface="Calibri"/>
                  </a:rPr>
                  <a:t>Each element in the sequence can be processed independently, enabling efficient computation and scalability.</a:t>
                </a:r>
              </a:p>
              <a:p>
                <a:r>
                  <a:rPr lang="en-US" sz="1200" b="1" i="0" u="none" strike="noStrike" cap="none" dirty="0">
                    <a:solidFill>
                      <a:schemeClr val="dk1"/>
                    </a:solidFill>
                    <a:effectLst/>
                    <a:latin typeface="Calibri"/>
                    <a:ea typeface="Calibri"/>
                    <a:cs typeface="Calibri"/>
                    <a:sym typeface="Calibri"/>
                  </a:rPr>
                  <a:t>Attention Score Calculation: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Score Function: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attention score between two input vectors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𝑗</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calculated using the dot product:</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r>
                        <m:rPr>
                          <m:nor/>
                        </m:rPr>
                        <a:rPr lang="en-US" b="0"/>
                        <m:t>score</m:t>
                      </m:r>
                      <m:d>
                        <m:dPr>
                          <m:sepChr m:val=","/>
                          <m:ctrlPr>
                            <a:rPr lang="ar-AE" sz="1200" b="0" i="1" u="none" strike="noStrike" cap="none">
                              <a:solidFill>
                                <a:schemeClr val="dk1"/>
                              </a:solidFill>
                              <a:latin typeface="Calibri"/>
                              <a:ea typeface="Calibri"/>
                              <a:cs typeface="Calibri"/>
                              <a:sym typeface="Calibri"/>
                            </a:rPr>
                          </m:ctrlPr>
                        </m:dPr>
                        <m:e>
                          <m:sSub>
                            <m:sSubPr>
                              <m:ctrlPr>
                                <a:rPr lang="ar-AE" sz="1200" b="0" i="1" u="none" strike="noStrike" cap="none">
                                  <a:solidFill>
                                    <a:schemeClr val="dk1"/>
                                  </a:solidFill>
                                  <a:latin typeface="Calibri"/>
                                  <a:ea typeface="Calibri"/>
                                  <a:cs typeface="Calibri"/>
                                  <a:sym typeface="Calibri"/>
                                </a:rPr>
                              </m:ctrlPr>
                            </m:sSubPr>
                            <m:e>
                              <m:r>
                                <a:rPr lang="ar-AE" b="0" i="1"/>
                                <m:t>𝑥</m:t>
                              </m:r>
                            </m:e>
                            <m:sub>
                              <m:r>
                                <a:rPr lang="ar-AE" b="0" i="1"/>
                                <m:t>𝑖</m:t>
                              </m:r>
                            </m:sub>
                          </m:sSub>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𝑗</m:t>
                              </m:r>
                            </m:sub>
                          </m:sSub>
                        </m:e>
                      </m:d>
                      <m:r>
                        <a:rPr lang="ar-AE" sz="1200" b="0" i="0" u="none" strike="noStrike" cap="none">
                          <a:solidFill>
                            <a:schemeClr val="dk1"/>
                          </a:solidFill>
                          <a:latin typeface="Calibri"/>
                          <a:ea typeface="Calibri"/>
                          <a:cs typeface="Calibri"/>
                          <a:sym typeface="Calibri"/>
                        </a:rPr>
                        <m:t>=</m:t>
                      </m:r>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𝑖</m:t>
                          </m:r>
                        </m:sub>
                      </m:sSub>
                      <m:r>
                        <a:rPr lang="ar-AE" sz="1200" b="0" i="0" u="none" strike="noStrike" cap="none">
                          <a:solidFill>
                            <a:schemeClr val="dk1"/>
                          </a:solidFill>
                          <a:latin typeface="Calibri"/>
                          <a:ea typeface="Calibri"/>
                          <a:cs typeface="Calibri"/>
                          <a:sym typeface="Calibri"/>
                        </a:rPr>
                        <m:t>⋅</m:t>
                      </m:r>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𝑗</m:t>
                          </m:r>
                        </m:sub>
                      </m:sSub>
                    </m:oMath>
                  </m:oMathPara>
                </a14:m>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This score measures the similarity or relevance between the two vectors.</a:t>
                </a:r>
              </a:p>
              <a:p>
                <a:r>
                  <a:rPr lang="en-US" sz="1200" b="1" i="0" u="none" strike="noStrike" cap="none" dirty="0">
                    <a:solidFill>
                      <a:schemeClr val="dk1"/>
                    </a:solidFill>
                    <a:effectLst/>
                    <a:latin typeface="Calibri"/>
                    <a:ea typeface="Calibri"/>
                    <a:cs typeface="Calibri"/>
                    <a:sym typeface="Calibri"/>
                  </a:rPr>
                  <a:t>Attention Weights: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scores are normalized using 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to produce attention weights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𝛼</m:t>
                        </m:r>
                      </m:e>
                      <m:sub>
                        <m:r>
                          <a:rPr lang="ar-AE" sz="1200" b="0" i="1" u="none" strike="noStrike" cap="none">
                            <a:solidFill>
                              <a:schemeClr val="dk1"/>
                            </a:solidFill>
                            <a:latin typeface="Calibri"/>
                            <a:ea typeface="Calibri"/>
                            <a:cs typeface="Calibri"/>
                            <a:sym typeface="Calibri"/>
                          </a:rPr>
                          <m:t>𝑖𝑗</m:t>
                        </m:r>
                      </m:sub>
                    </m:sSub>
                  </m:oMath>
                </a14:m>
                <a:r>
                  <a:rPr lang="ar-AE" sz="1200" b="0" i="0" u="none" strike="noStrike" cap="none" dirty="0">
                    <a:solidFill>
                      <a:schemeClr val="dk1"/>
                    </a:solidFill>
                    <a:effectLst/>
                    <a:latin typeface="Calibri"/>
                    <a:ea typeface="Calibri"/>
                    <a:cs typeface="Calibri"/>
                    <a:sym typeface="Calibri"/>
                  </a:rPr>
                  <a:t>:</a:t>
                </a:r>
                <a:br>
                  <a:rPr lang="ar-AE" sz="1200" b="0" i="0" u="none" strike="noStrike" cap="none" dirty="0">
                    <a:solidFill>
                      <a:schemeClr val="dk1"/>
                    </a:solidFill>
                    <a:effectLst/>
                    <a:latin typeface="Calibri"/>
                    <a:ea typeface="Calibri"/>
                    <a:cs typeface="Calibri"/>
                    <a:sym typeface="Calibri"/>
                  </a:rPr>
                </a:b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These weights indicate the importance of each input vector in computing the output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a:t>
                </a:r>
              </a:p>
              <a:p>
                <a:r>
                  <a:rPr lang="en-US" sz="1200" b="1" i="0" u="none" strike="noStrike" cap="none" dirty="0">
                    <a:solidFill>
                      <a:schemeClr val="dk1"/>
                    </a:solidFill>
                    <a:effectLst/>
                    <a:latin typeface="Calibri"/>
                    <a:ea typeface="Calibri"/>
                    <a:cs typeface="Calibri"/>
                    <a:sym typeface="Calibri"/>
                  </a:rPr>
                  <a:t>Output Computation:</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Each output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as a weighted sum of the input vectors:</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𝑖</m:t>
                          </m:r>
                        </m:sub>
                      </m:sSub>
                      <m:r>
                        <a:rPr lang="ar-AE" sz="1200" b="0" i="0" u="none" strike="noStrike" cap="none">
                          <a:solidFill>
                            <a:schemeClr val="dk1"/>
                          </a:solidFill>
                          <a:latin typeface="Calibri"/>
                          <a:ea typeface="Calibri"/>
                          <a:cs typeface="Calibri"/>
                          <a:sym typeface="Calibri"/>
                        </a:rPr>
                        <m:t>=</m:t>
                      </m:r>
                      <m:nary>
                        <m:naryPr>
                          <m:chr m:val="∑"/>
                          <m:limLoc m:val="subSup"/>
                          <m:grow m:val="on"/>
                          <m:supHide m:val="on"/>
                          <m:ctrlPr>
                            <a:rPr lang="ar-AE" sz="1200" b="0" i="1" u="none" strike="noStrike" cap="none">
                              <a:solidFill>
                                <a:schemeClr val="dk1"/>
                              </a:solidFill>
                              <a:latin typeface="Calibri"/>
                              <a:ea typeface="Calibri"/>
                              <a:cs typeface="Calibri"/>
                              <a:sym typeface="Calibri"/>
                            </a:rPr>
                          </m:ctrlPr>
                        </m:naryPr>
                        <m:sub>
                          <m:r>
                            <a:rPr lang="ar-AE" sz="1200" b="0" i="1" u="none" strike="noStrike" cap="none">
                              <a:solidFill>
                                <a:schemeClr val="dk1"/>
                              </a:solidFill>
                              <a:latin typeface="Calibri"/>
                              <a:ea typeface="Calibri"/>
                              <a:cs typeface="Calibri"/>
                              <a:sym typeface="Calibri"/>
                            </a:rPr>
                            <m:t>𝑗</m:t>
                          </m:r>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𝑖</m:t>
                          </m:r>
                        </m:sub>
                        <m:sup/>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𝛼</m:t>
                              </m:r>
                            </m:e>
                            <m:sub>
                              <m:r>
                                <a:rPr lang="ar-AE" sz="1200" b="0" i="1" u="none" strike="noStrike" cap="none">
                                  <a:solidFill>
                                    <a:schemeClr val="dk1"/>
                                  </a:solidFill>
                                  <a:latin typeface="Calibri"/>
                                  <a:ea typeface="Calibri"/>
                                  <a:cs typeface="Calibri"/>
                                  <a:sym typeface="Calibri"/>
                                </a:rPr>
                                <m:t>𝑖𝑗</m:t>
                              </m:r>
                            </m:sub>
                          </m:sSub>
                        </m:e>
                      </m:nary>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𝑗</m:t>
                          </m:r>
                        </m:sub>
                      </m:sSub>
                    </m:oMath>
                  </m:oMathPara>
                </a14:m>
                <a:endParaRPr lang="ar-AE"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This operation allows the model to integrate information from the entire sequence, focusing on the most relevant parts for each output.</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Self-attention enables the model to capture complex dependencies and contextual information within sequences, making it highly effective for tasks that require understanding of long-range relationships.</a:t>
                </a:r>
              </a:p>
              <a:p>
                <a:r>
                  <a:rPr lang="en-US" sz="1200" b="0" i="0" u="none" strike="noStrike" cap="none" dirty="0">
                    <a:solidFill>
                      <a:schemeClr val="dk1"/>
                    </a:solidFill>
                    <a:effectLst/>
                    <a:latin typeface="Calibri"/>
                    <a:ea typeface="Calibri"/>
                    <a:cs typeface="Calibri"/>
                    <a:sym typeface="Calibri"/>
                  </a:rPr>
                  <a:t>The ability to process sequences in parallel makes transformers more efficient and scalable than traditional recurrent models, contributing to their widespread adoption in NLP and other fields.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These slides provide a comprehensive view of how self-attention works within transformers, highlighting its advantages in terms of efficiency and capability to model complex dependencies. This understanding is crucial for appreciating the transformative impact of transformers on modern AI research and applications.</a:t>
                </a:r>
              </a:p>
              <a:p>
                <a:pPr marL="0" lvl="0" indent="0" algn="l" rtl="0">
                  <a:lnSpc>
                    <a:spcPct val="100000"/>
                  </a:lnSpc>
                  <a:spcBef>
                    <a:spcPts val="0"/>
                  </a:spcBef>
                  <a:spcAft>
                    <a:spcPts val="0"/>
                  </a:spcAft>
                  <a:buSzPts val="1400"/>
                  <a:buNone/>
                </a:pPr>
                <a:endParaRPr dirty="0"/>
              </a:p>
            </p:txBody>
          </p:sp>
        </mc:Choice>
        <mc:Fallback>
          <p:sp>
            <p:nvSpPr>
              <p:cNvPr id="419" name="Google Shape;419;g2b8b5137f2c_0_1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Self-Attention Layer:</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self-attention layer processes a sequence of input vectors </a:t>
                </a:r>
                <a:r>
                  <a:rPr lang="ar-AE" sz="1200" b="0" i="0" u="none" strike="noStrike" cap="none">
                    <a:solidFill>
                      <a:schemeClr val="dk1"/>
                    </a:solidFill>
                    <a:latin typeface="Calibri"/>
                    <a:ea typeface="Calibri"/>
                    <a:cs typeface="Calibri"/>
                    <a:sym typeface="Calibri"/>
                  </a:rPr>
                  <a:t>(𝑥_1ⓜ,𝑥_2ⓜ,…ⓜ,𝑥_5 )</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produces a sequence of output vectors </a:t>
                </a:r>
                <a:r>
                  <a:rPr lang="ar-AE" sz="1200" b="0" i="0" u="none" strike="noStrike" cap="none">
                    <a:solidFill>
                      <a:schemeClr val="dk1"/>
                    </a:solidFill>
                    <a:latin typeface="Calibri"/>
                    <a:ea typeface="Calibri"/>
                    <a:cs typeface="Calibri"/>
                    <a:sym typeface="Calibri"/>
                  </a:rPr>
                  <a:t>(𝑦_1ⓜ,𝑦_2ⓜ,…ⓜ,𝑦_5 )</a:t>
                </a:r>
                <a:r>
                  <a:rPr lang="ar-AE" sz="1200" b="0" i="0" u="none" strike="noStrike" cap="none" dirty="0">
                    <a:solidFill>
                      <a:schemeClr val="dk1"/>
                    </a:solidFill>
                    <a:effectLst/>
                    <a:latin typeface="Calibri"/>
                    <a:ea typeface="Calibri"/>
                    <a:cs typeface="Calibri"/>
                    <a:sym typeface="Calibri"/>
                  </a:rPr>
                  <a:t>.</a:t>
                </a:r>
              </a:p>
              <a:p>
                <a:r>
                  <a:rPr lang="en-US" sz="1200" b="0" i="0" u="none" strike="noStrike" cap="none" dirty="0">
                    <a:solidFill>
                      <a:schemeClr val="dk1"/>
                    </a:solidFill>
                    <a:effectLst/>
                    <a:latin typeface="Calibri"/>
                    <a:ea typeface="Calibri"/>
                    <a:cs typeface="Calibri"/>
                    <a:sym typeface="Calibri"/>
                  </a:rPr>
                  <a:t>Each output vector </a:t>
                </a:r>
                <a:r>
                  <a:rPr lang="ar-AE" sz="1200" b="0" i="0" u="none" strike="noStrike" cap="none">
                    <a:solidFill>
                      <a:schemeClr val="dk1"/>
                    </a:solidFill>
                    <a:latin typeface="Calibri"/>
                    <a:ea typeface="Calibri"/>
                    <a:cs typeface="Calibri"/>
                    <a:sym typeface="Calibri"/>
                  </a:rPr>
                  <a:t>𝑦_𝑖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by attending to all input vectors up to and including the current one, allowing the model to capture dependencies and relationships within the sequence.</a:t>
                </a:r>
              </a:p>
              <a:p>
                <a:r>
                  <a:rPr lang="en-US" sz="1200" b="1" i="0" u="none" strike="noStrike" cap="none" dirty="0">
                    <a:solidFill>
                      <a:schemeClr val="dk1"/>
                    </a:solidFill>
                    <a:effectLst/>
                    <a:latin typeface="Calibri"/>
                    <a:ea typeface="Calibri"/>
                    <a:cs typeface="Calibri"/>
                    <a:sym typeface="Calibri"/>
                  </a:rPr>
                  <a:t>Parallel Computation:</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Unlike RNNs, where computations are sequential and depend on previous steps, the self-attention mechanism allows for parallel processing.</a:t>
                </a:r>
              </a:p>
              <a:p>
                <a:r>
                  <a:rPr lang="en-US" sz="1200" b="0" i="0" u="none" strike="noStrike" cap="none" dirty="0">
                    <a:solidFill>
                      <a:schemeClr val="dk1"/>
                    </a:solidFill>
                    <a:effectLst/>
                    <a:latin typeface="Calibri"/>
                    <a:ea typeface="Calibri"/>
                    <a:cs typeface="Calibri"/>
                    <a:sym typeface="Calibri"/>
                  </a:rPr>
                  <a:t>Each element in the sequence can be processed independently, enabling efficient computation and scalability.</a:t>
                </a:r>
              </a:p>
              <a:p>
                <a:r>
                  <a:rPr lang="en-US" sz="1200" b="1" i="0" u="none" strike="noStrike" cap="none" dirty="0">
                    <a:solidFill>
                      <a:schemeClr val="dk1"/>
                    </a:solidFill>
                    <a:effectLst/>
                    <a:latin typeface="Calibri"/>
                    <a:ea typeface="Calibri"/>
                    <a:cs typeface="Calibri"/>
                    <a:sym typeface="Calibri"/>
                  </a:rPr>
                  <a:t>Attention Score Calculation: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Score Function: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attention score between two input vectors </a:t>
                </a:r>
                <a:r>
                  <a:rPr lang="ar-AE" sz="1200" b="0" i="0" u="none" strike="noStrike" cap="none">
                    <a:solidFill>
                      <a:schemeClr val="dk1"/>
                    </a:solidFill>
                    <a:latin typeface="Calibri"/>
                    <a:ea typeface="Calibri"/>
                    <a:cs typeface="Calibri"/>
                    <a:sym typeface="Calibri"/>
                  </a:rPr>
                  <a:t>𝑥_𝑖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a:t>
                </a:r>
                <a:r>
                  <a:rPr lang="ar-AE" sz="1200" b="0" i="0" u="none" strike="noStrike" cap="none">
                    <a:solidFill>
                      <a:schemeClr val="dk1"/>
                    </a:solidFill>
                    <a:latin typeface="Calibri"/>
                    <a:ea typeface="Calibri"/>
                    <a:cs typeface="Calibri"/>
                    <a:sym typeface="Calibri"/>
                  </a:rPr>
                  <a:t>𝑥_𝑗</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calculated using the dot product:</a:t>
                </a:r>
                <a:br>
                  <a:rPr lang="en-US" sz="1200" b="0" i="0" u="none" strike="noStrike" cap="none" dirty="0">
                    <a:solidFill>
                      <a:schemeClr val="dk1"/>
                    </a:solidFill>
                    <a:effectLst/>
                    <a:latin typeface="Calibri"/>
                    <a:ea typeface="Calibri"/>
                    <a:cs typeface="Calibri"/>
                    <a:sym typeface="Calibri"/>
                  </a:rPr>
                </a:br>
                <a:r>
                  <a:rPr lang="en-US" b="0" i="0">
                    <a:latin typeface="Cambria Math" panose="02040503050406030204" pitchFamily="18" charset="0"/>
                  </a:rPr>
                  <a:t>"score</a:t>
                </a:r>
                <a:r>
                  <a:rPr lang="ar-AE" sz="1200" b="0" i="0" u="none" strike="noStrike" cap="none">
                    <a:solidFill>
                      <a:schemeClr val="dk1"/>
                    </a:solidFill>
                    <a:sym typeface="Calibri"/>
                  </a:rPr>
                  <a:t>" </a:t>
                </a:r>
                <a:r>
                  <a:rPr lang="ar-AE" sz="1200" b="0" i="0" u="none" strike="noStrike" cap="none">
                    <a:solidFill>
                      <a:schemeClr val="dk1"/>
                    </a:solidFill>
                    <a:latin typeface="Calibri"/>
                    <a:ea typeface="Calibri"/>
                    <a:cs typeface="Calibri"/>
                    <a:sym typeface="Calibri"/>
                  </a:rPr>
                  <a:t>(</a:t>
                </a:r>
                <a:r>
                  <a:rPr lang="ar-AE" b="0" i="0"/>
                  <a:t>𝑥</a:t>
                </a:r>
                <a:r>
                  <a:rPr lang="ar-AE" sz="1200" b="0" i="0" u="none" strike="noStrike" cap="none">
                    <a:solidFill>
                      <a:schemeClr val="dk1"/>
                    </a:solidFill>
                    <a:sym typeface="Calibri"/>
                  </a:rPr>
                  <a:t>_</a:t>
                </a:r>
                <a:r>
                  <a:rPr lang="ar-AE" b="0" i="0"/>
                  <a:t>𝑖</a:t>
                </a:r>
                <a:r>
                  <a:rPr lang="ar-AE" sz="1200" b="0" i="0" u="none" strike="noStrike" cap="none">
                    <a:solidFill>
                      <a:schemeClr val="dk1"/>
                    </a:solidFill>
                    <a:sym typeface="Calibri"/>
                  </a:rPr>
                  <a:t>ⓜ,</a:t>
                </a:r>
                <a:r>
                  <a:rPr lang="ar-AE" sz="1200" b="0" i="0" u="none" strike="noStrike" cap="none">
                    <a:solidFill>
                      <a:schemeClr val="dk1"/>
                    </a:solidFill>
                    <a:latin typeface="Calibri"/>
                    <a:ea typeface="Calibri"/>
                    <a:cs typeface="Calibri"/>
                    <a:sym typeface="Calibri"/>
                  </a:rPr>
                  <a:t>𝑥_𝑗 )=𝑥_𝑖⋅𝑥_𝑗</a:t>
                </a: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This score measures the similarity or relevance between the two vectors.</a:t>
                </a:r>
              </a:p>
              <a:p>
                <a:r>
                  <a:rPr lang="en-US" sz="1200" b="1" i="0" u="none" strike="noStrike" cap="none" dirty="0">
                    <a:solidFill>
                      <a:schemeClr val="dk1"/>
                    </a:solidFill>
                    <a:effectLst/>
                    <a:latin typeface="Calibri"/>
                    <a:ea typeface="Calibri"/>
                    <a:cs typeface="Calibri"/>
                    <a:sym typeface="Calibri"/>
                  </a:rPr>
                  <a:t>Attention Weights: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scores are normalized using 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to produce attention weights </a:t>
                </a:r>
                <a:r>
                  <a:rPr lang="ar-AE" sz="1200" b="0" i="0" u="none" strike="noStrike" cap="none">
                    <a:solidFill>
                      <a:schemeClr val="dk1"/>
                    </a:solidFill>
                    <a:latin typeface="Calibri"/>
                    <a:ea typeface="Calibri"/>
                    <a:cs typeface="Calibri"/>
                    <a:sym typeface="Calibri"/>
                  </a:rPr>
                  <a:t>𝛼_𝑖𝑗</a:t>
                </a:r>
                <a:r>
                  <a:rPr lang="ar-AE" sz="1200" b="0" i="0" u="none" strike="noStrike" cap="none" dirty="0">
                    <a:solidFill>
                      <a:schemeClr val="dk1"/>
                    </a:solidFill>
                    <a:effectLst/>
                    <a:latin typeface="Calibri"/>
                    <a:ea typeface="Calibri"/>
                    <a:cs typeface="Calibri"/>
                    <a:sym typeface="Calibri"/>
                  </a:rPr>
                  <a:t>:</a:t>
                </a:r>
                <a:br>
                  <a:rPr lang="ar-AE" sz="1200" b="0" i="0" u="none" strike="noStrike" cap="none" dirty="0">
                    <a:solidFill>
                      <a:schemeClr val="dk1"/>
                    </a:solidFill>
                    <a:effectLst/>
                    <a:latin typeface="Calibri"/>
                    <a:ea typeface="Calibri"/>
                    <a:cs typeface="Calibri"/>
                    <a:sym typeface="Calibri"/>
                  </a:rPr>
                </a:b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These weights indicate the importance of each input vector in computing the output vector </a:t>
                </a:r>
                <a:r>
                  <a:rPr lang="ar-AE" sz="1200" b="0" i="0" u="none" strike="noStrike" cap="none">
                    <a:solidFill>
                      <a:schemeClr val="dk1"/>
                    </a:solidFill>
                    <a:latin typeface="Calibri"/>
                    <a:ea typeface="Calibri"/>
                    <a:cs typeface="Calibri"/>
                    <a:sym typeface="Calibri"/>
                  </a:rPr>
                  <a:t>𝑦_𝑖</a:t>
                </a:r>
                <a:r>
                  <a:rPr lang="ar-AE" sz="1200" b="0" i="0" u="none" strike="noStrike" cap="none" dirty="0">
                    <a:solidFill>
                      <a:schemeClr val="dk1"/>
                    </a:solidFill>
                    <a:effectLst/>
                    <a:latin typeface="Calibri"/>
                    <a:ea typeface="Calibri"/>
                    <a:cs typeface="Calibri"/>
                    <a:sym typeface="Calibri"/>
                  </a:rPr>
                  <a:t>.</a:t>
                </a:r>
              </a:p>
              <a:p>
                <a:r>
                  <a:rPr lang="en-US" sz="1200" b="1" i="0" u="none" strike="noStrike" cap="none" dirty="0">
                    <a:solidFill>
                      <a:schemeClr val="dk1"/>
                    </a:solidFill>
                    <a:effectLst/>
                    <a:latin typeface="Calibri"/>
                    <a:ea typeface="Calibri"/>
                    <a:cs typeface="Calibri"/>
                    <a:sym typeface="Calibri"/>
                  </a:rPr>
                  <a:t>Output Computation:</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Each output vector </a:t>
                </a:r>
                <a:r>
                  <a:rPr lang="ar-AE" sz="1200" b="0" i="0" u="none" strike="noStrike" cap="none">
                    <a:solidFill>
                      <a:schemeClr val="dk1"/>
                    </a:solidFill>
                    <a:latin typeface="Calibri"/>
                    <a:ea typeface="Calibri"/>
                    <a:cs typeface="Calibri"/>
                    <a:sym typeface="Calibri"/>
                  </a:rPr>
                  <a:t>𝑦_𝑖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as a weighted sum of the input vectors:</a:t>
                </a:r>
                <a:br>
                  <a:rPr lang="en-US" sz="1200" b="0" i="0" u="none" strike="noStrike" cap="none" dirty="0">
                    <a:solidFill>
                      <a:schemeClr val="dk1"/>
                    </a:solidFill>
                    <a:effectLst/>
                    <a:latin typeface="Calibri"/>
                    <a:ea typeface="Calibri"/>
                    <a:cs typeface="Calibri"/>
                    <a:sym typeface="Calibri"/>
                  </a:rPr>
                </a:br>
                <a:r>
                  <a:rPr lang="ar-AE" sz="1200" b="0" i="0" u="none" strike="noStrike" cap="none">
                    <a:solidFill>
                      <a:schemeClr val="dk1"/>
                    </a:solidFill>
                    <a:latin typeface="Calibri"/>
                    <a:ea typeface="Calibri"/>
                    <a:cs typeface="Calibri"/>
                    <a:sym typeface="Calibri"/>
                  </a:rPr>
                  <a:t>𝑦_𝑖=∑130_(𝑗≤𝑖)▒𝛼_𝑖𝑗  𝑥_𝑗</a:t>
                </a:r>
                <a:endParaRPr lang="ar-AE"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This operation allows the model to integrate information from the entire sequence, focusing on the most relevant parts for each output.</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Self-attention enables the model to capture complex dependencies and contextual information within sequences, making it highly effective for tasks that require understanding of long-range relationships.</a:t>
                </a:r>
              </a:p>
              <a:p>
                <a:r>
                  <a:rPr lang="en-US" sz="1200" b="0" i="0" u="none" strike="noStrike" cap="none" dirty="0">
                    <a:solidFill>
                      <a:schemeClr val="dk1"/>
                    </a:solidFill>
                    <a:effectLst/>
                    <a:latin typeface="Calibri"/>
                    <a:ea typeface="Calibri"/>
                    <a:cs typeface="Calibri"/>
                    <a:sym typeface="Calibri"/>
                  </a:rPr>
                  <a:t>The ability to process sequences in parallel makes transformers more efficient and scalable than traditional recurrent models, contributing to their widespread adoption in NLP and other fields.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These slides provide a comprehensive view of how self-attention works within transformers, highlighting its advantages in terms of efficiency and capability to model complex dependencies. This understanding is crucial for appreciating the transformative impact of transformers on modern AI research and applications.</a:t>
                </a:r>
              </a:p>
              <a:p>
                <a:pPr marL="0" lvl="0" indent="0" algn="l" rtl="0">
                  <a:lnSpc>
                    <a:spcPct val="100000"/>
                  </a:lnSpc>
                  <a:spcBef>
                    <a:spcPts val="0"/>
                  </a:spcBef>
                  <a:spcAft>
                    <a:spcPts val="0"/>
                  </a:spcAft>
                  <a:buSzPts val="1400"/>
                  <a:buNone/>
                </a:pPr>
                <a:endParaRPr dirty="0"/>
              </a:p>
            </p:txBody>
          </p:sp>
        </mc:Fallback>
      </mc:AlternateContent>
      <p:sp>
        <p:nvSpPr>
          <p:cNvPr id="420" name="Google Shape;420;g2b8b5137f2c_0_1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b8b5137f2c_0_1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g2b8b5137f2c_0_1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g2b8b5137f2c_0_1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2b8b5137f2c_0_1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440" name="Google Shape;440;g2b8b5137f2c_0_1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Self-Attention Components: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Query, Key, and Value: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input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transformed into three different vectors: query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𝑞</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key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𝑘</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value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𝑣</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These transformations are achieved using learnable weight matrices </a:t>
                </a:r>
                <a14:m>
                  <m:oMath xmlns:m="http://schemas.openxmlformats.org/officeDocument/2006/math">
                    <m:sSup>
                      <m:sSupPr>
                        <m:ctrlPr>
                          <a:rPr lang="ar-AE" sz="1200" b="0" i="0"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𝑄</m:t>
                        </m:r>
                      </m:sup>
                    </m:sSup>
                  </m:oMath>
                </a14:m>
                <a:r>
                  <a:rPr lang="ar-AE" sz="1200" b="0" i="0" u="none" strike="noStrike" cap="none" dirty="0">
                    <a:solidFill>
                      <a:schemeClr val="dk1"/>
                    </a:solidFill>
                    <a:effectLst/>
                    <a:latin typeface="Calibri"/>
                    <a:ea typeface="Calibri"/>
                    <a:cs typeface="Calibri"/>
                    <a:sym typeface="Calibri"/>
                  </a:rPr>
                  <a:t>, </a:t>
                </a:r>
                <a14:m>
                  <m:oMath xmlns:m="http://schemas.openxmlformats.org/officeDocument/2006/math">
                    <m:sSup>
                      <m:sSupPr>
                        <m:ctrlPr>
                          <a:rPr lang="ar-AE" sz="1200" b="0" i="0"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𝐾</m:t>
                        </m:r>
                      </m:sup>
                    </m:sSup>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a:t>
                </a:r>
                <a14:m>
                  <m:oMath xmlns:m="http://schemas.openxmlformats.org/officeDocument/2006/math">
                    <m:sSup>
                      <m:sSupPr>
                        <m:ctrlPr>
                          <a:rPr lang="ar-AE" sz="1200" b="0" i="0"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𝑉</m:t>
                        </m:r>
                      </m:sup>
                    </m:sSup>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respectively.</a:t>
                </a:r>
              </a:p>
              <a:p>
                <a:r>
                  <a:rPr lang="en-US" sz="1200" b="1" i="0" u="none" strike="noStrike" cap="none" dirty="0">
                    <a:solidFill>
                      <a:schemeClr val="dk1"/>
                    </a:solidFill>
                    <a:effectLst/>
                    <a:latin typeface="Calibri"/>
                    <a:ea typeface="Calibri"/>
                    <a:cs typeface="Calibri"/>
                    <a:sym typeface="Calibri"/>
                  </a:rPr>
                  <a:t>Mathematical Transformations:</a:t>
                </a:r>
                <a:endParaRPr lang="en-US" sz="1200" b="0" i="0" u="none" strike="noStrike" cap="none" dirty="0">
                  <a:solidFill>
                    <a:schemeClr val="dk1"/>
                  </a:solidFill>
                  <a:effectLst/>
                  <a:latin typeface="Calibri"/>
                  <a:ea typeface="Calibri"/>
                  <a:cs typeface="Calibri"/>
                  <a:sym typeface="Calibri"/>
                </a:endParaRPr>
              </a:p>
              <a:p>
                <a:pPr lvl="1"/>
                <a:r>
                  <a:rPr lang="en-US" sz="1200" b="1" i="0" u="none" strike="noStrike" cap="none" dirty="0">
                    <a:solidFill>
                      <a:schemeClr val="dk1"/>
                    </a:solidFill>
                    <a:effectLst/>
                    <a:latin typeface="Calibri"/>
                    <a:ea typeface="Calibri"/>
                    <a:cs typeface="Calibri"/>
                    <a:sym typeface="Calibri"/>
                  </a:rPr>
                  <a:t>Query:</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𝑞</m:t>
                          </m:r>
                        </m:e>
                        <m:sub>
                          <m:r>
                            <a:rPr lang="ar-AE" sz="1200" b="0" i="1" u="none" strike="noStrike" cap="none">
                              <a:solidFill>
                                <a:schemeClr val="dk1"/>
                              </a:solidFill>
                              <a:latin typeface="Calibri"/>
                              <a:ea typeface="Calibri"/>
                              <a:cs typeface="Calibri"/>
                              <a:sym typeface="Calibri"/>
                            </a:rPr>
                            <m:t>𝑖</m:t>
                          </m:r>
                        </m:sub>
                      </m:sSub>
                      <m:r>
                        <a:rPr lang="ar-AE" sz="1200" b="0" i="0" u="none" strike="noStrike" cap="none">
                          <a:solidFill>
                            <a:schemeClr val="dk1"/>
                          </a:solidFill>
                          <a:latin typeface="Calibri"/>
                          <a:ea typeface="Calibri"/>
                          <a:cs typeface="Calibri"/>
                          <a:sym typeface="Calibri"/>
                        </a:rPr>
                        <m:t>=</m:t>
                      </m:r>
                      <m:sSup>
                        <m:sSupPr>
                          <m:ctrlPr>
                            <a:rPr lang="ar-AE" sz="1200" b="0" i="1"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𝑄</m:t>
                          </m:r>
                        </m:sup>
                      </m:sSup>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𝑖</m:t>
                          </m:r>
                        </m:sub>
                      </m:sSub>
                    </m:oMath>
                  </m:oMathPara>
                </a14:m>
                <a:endParaRPr lang="ar-AE" sz="1200" b="0" i="0" u="none" strike="noStrike" cap="none" dirty="0">
                  <a:solidFill>
                    <a:schemeClr val="dk1"/>
                  </a:solidFill>
                  <a:effectLst/>
                  <a:latin typeface="Calibri"/>
                  <a:ea typeface="Calibri"/>
                  <a:cs typeface="Calibri"/>
                  <a:sym typeface="Calibri"/>
                </a:endParaRPr>
              </a:p>
              <a:p>
                <a:pPr lvl="2"/>
                <a:r>
                  <a:rPr lang="en-US" sz="1200" b="0" i="0" u="none" strike="noStrike" cap="none" dirty="0">
                    <a:solidFill>
                      <a:schemeClr val="dk1"/>
                    </a:solidFill>
                    <a:effectLst/>
                    <a:latin typeface="Calibri"/>
                    <a:ea typeface="Calibri"/>
                    <a:cs typeface="Calibri"/>
                    <a:sym typeface="Calibri"/>
                  </a:rPr>
                  <a:t>The query vector represents the current focus of attention when comparing the input to other elements in the sequence.</a:t>
                </a:r>
              </a:p>
              <a:p>
                <a:pPr lvl="1"/>
                <a:r>
                  <a:rPr lang="en-US" sz="1200" b="1" i="0" u="none" strike="noStrike" cap="none" dirty="0">
                    <a:solidFill>
                      <a:schemeClr val="dk1"/>
                    </a:solidFill>
                    <a:effectLst/>
                    <a:latin typeface="Calibri"/>
                    <a:ea typeface="Calibri"/>
                    <a:cs typeface="Calibri"/>
                    <a:sym typeface="Calibri"/>
                  </a:rPr>
                  <a:t>Key:</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𝑘</m:t>
                          </m:r>
                        </m:e>
                        <m:sub>
                          <m:r>
                            <a:rPr lang="ar-AE" sz="1200" b="0" i="1" u="none" strike="noStrike" cap="none">
                              <a:solidFill>
                                <a:schemeClr val="dk1"/>
                              </a:solidFill>
                              <a:latin typeface="Calibri"/>
                              <a:ea typeface="Calibri"/>
                              <a:cs typeface="Calibri"/>
                              <a:sym typeface="Calibri"/>
                            </a:rPr>
                            <m:t>𝑖</m:t>
                          </m:r>
                        </m:sub>
                      </m:sSub>
                      <m:r>
                        <a:rPr lang="ar-AE" sz="1200" b="0" i="0" u="none" strike="noStrike" cap="none">
                          <a:solidFill>
                            <a:schemeClr val="dk1"/>
                          </a:solidFill>
                          <a:latin typeface="Calibri"/>
                          <a:ea typeface="Calibri"/>
                          <a:cs typeface="Calibri"/>
                          <a:sym typeface="Calibri"/>
                        </a:rPr>
                        <m:t>=</m:t>
                      </m:r>
                      <m:sSup>
                        <m:sSupPr>
                          <m:ctrlPr>
                            <a:rPr lang="ar-AE" sz="1200" b="0" i="1"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𝐾</m:t>
                          </m:r>
                        </m:sup>
                      </m:sSup>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𝑖</m:t>
                          </m:r>
                        </m:sub>
                      </m:sSub>
                    </m:oMath>
                  </m:oMathPara>
                </a14:m>
                <a:endParaRPr lang="ar-AE" sz="1200" b="0" i="0" u="none" strike="noStrike" cap="none" dirty="0">
                  <a:solidFill>
                    <a:schemeClr val="dk1"/>
                  </a:solidFill>
                  <a:effectLst/>
                  <a:latin typeface="Calibri"/>
                  <a:ea typeface="Calibri"/>
                  <a:cs typeface="Calibri"/>
                  <a:sym typeface="Calibri"/>
                </a:endParaRPr>
              </a:p>
              <a:p>
                <a:pPr lvl="2"/>
                <a:r>
                  <a:rPr lang="en-US" sz="1200" b="0" i="0" u="none" strike="noStrike" cap="none" dirty="0">
                    <a:solidFill>
                      <a:schemeClr val="dk1"/>
                    </a:solidFill>
                    <a:effectLst/>
                    <a:latin typeface="Calibri"/>
                    <a:ea typeface="Calibri"/>
                    <a:cs typeface="Calibri"/>
                    <a:sym typeface="Calibri"/>
                  </a:rPr>
                  <a:t>The key vector is used to compare the current input with other inputs, helping determine the relevance of each element.</a:t>
                </a:r>
              </a:p>
              <a:p>
                <a:pPr lvl="1"/>
                <a:r>
                  <a:rPr lang="en-US" sz="1200" b="1" i="0" u="none" strike="noStrike" cap="none" dirty="0">
                    <a:solidFill>
                      <a:schemeClr val="dk1"/>
                    </a:solidFill>
                    <a:effectLst/>
                    <a:latin typeface="Calibri"/>
                    <a:ea typeface="Calibri"/>
                    <a:cs typeface="Calibri"/>
                    <a:sym typeface="Calibri"/>
                  </a:rPr>
                  <a:t>Value:</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𝑣</m:t>
                          </m:r>
                        </m:e>
                        <m:sub>
                          <m:r>
                            <a:rPr lang="ar-AE" sz="1200" b="0" i="1" u="none" strike="noStrike" cap="none">
                              <a:solidFill>
                                <a:schemeClr val="dk1"/>
                              </a:solidFill>
                              <a:latin typeface="Calibri"/>
                              <a:ea typeface="Calibri"/>
                              <a:cs typeface="Calibri"/>
                              <a:sym typeface="Calibri"/>
                            </a:rPr>
                            <m:t>𝑖</m:t>
                          </m:r>
                        </m:sub>
                      </m:sSub>
                      <m:r>
                        <a:rPr lang="ar-AE" sz="1200" b="0" i="0" u="none" strike="noStrike" cap="none">
                          <a:solidFill>
                            <a:schemeClr val="dk1"/>
                          </a:solidFill>
                          <a:latin typeface="Calibri"/>
                          <a:ea typeface="Calibri"/>
                          <a:cs typeface="Calibri"/>
                          <a:sym typeface="Calibri"/>
                        </a:rPr>
                        <m:t>=</m:t>
                      </m:r>
                      <m:sSup>
                        <m:sSupPr>
                          <m:ctrlPr>
                            <a:rPr lang="ar-AE" sz="1200" b="0" i="1"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𝑉</m:t>
                          </m:r>
                        </m:sup>
                      </m:sSup>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𝑖</m:t>
                          </m:r>
                        </m:sub>
                      </m:sSub>
                    </m:oMath>
                  </m:oMathPara>
                </a14:m>
                <a:endParaRPr lang="ar-AE" sz="1200" b="0" i="0" u="none" strike="noStrike" cap="none" dirty="0">
                  <a:solidFill>
                    <a:schemeClr val="dk1"/>
                  </a:solidFill>
                  <a:effectLst/>
                  <a:latin typeface="Calibri"/>
                  <a:ea typeface="Calibri"/>
                  <a:cs typeface="Calibri"/>
                  <a:sym typeface="Calibri"/>
                </a:endParaRPr>
              </a:p>
              <a:p>
                <a:pPr lvl="2"/>
                <a:r>
                  <a:rPr lang="en-US" sz="1200" b="0" i="0" u="none" strike="noStrike" cap="none" dirty="0">
                    <a:solidFill>
                      <a:schemeClr val="dk1"/>
                    </a:solidFill>
                    <a:effectLst/>
                    <a:latin typeface="Calibri"/>
                    <a:ea typeface="Calibri"/>
                    <a:cs typeface="Calibri"/>
                    <a:sym typeface="Calibri"/>
                  </a:rPr>
                  <a:t>The value vector is used to compute the output for the current focus of attention, incorporating the information deemed relevant by the attention mechanism.</a:t>
                </a:r>
              </a:p>
              <a:p>
                <a:r>
                  <a:rPr lang="en-US" sz="1200" b="1" i="0" u="none" strike="noStrike" cap="none" dirty="0">
                    <a:solidFill>
                      <a:schemeClr val="dk1"/>
                    </a:solidFill>
                    <a:effectLst/>
                    <a:latin typeface="Calibri"/>
                    <a:ea typeface="Calibri"/>
                    <a:cs typeface="Calibri"/>
                    <a:sym typeface="Calibri"/>
                  </a:rPr>
                  <a:t>Roles in Self-Attention:</a:t>
                </a:r>
                <a:endParaRPr lang="en-US" sz="1200" b="0" i="0" u="none" strike="noStrike" cap="none" dirty="0">
                  <a:solidFill>
                    <a:schemeClr val="dk1"/>
                  </a:solidFill>
                  <a:effectLst/>
                  <a:latin typeface="Calibri"/>
                  <a:ea typeface="Calibri"/>
                  <a:cs typeface="Calibri"/>
                  <a:sym typeface="Calibri"/>
                </a:endParaRPr>
              </a:p>
              <a:p>
                <a:pPr lvl="1"/>
                <a:r>
                  <a:rPr lang="en-US" sz="1200" b="1" i="0" u="none" strike="noStrike" cap="none" dirty="0">
                    <a:solidFill>
                      <a:schemeClr val="dk1"/>
                    </a:solidFill>
                    <a:effectLst/>
                    <a:latin typeface="Calibri"/>
                    <a:ea typeface="Calibri"/>
                    <a:cs typeface="Calibri"/>
                    <a:sym typeface="Calibri"/>
                  </a:rPr>
                  <a:t>Query (Q):</a:t>
                </a:r>
                <a:r>
                  <a:rPr lang="en-US" sz="1200" b="0" i="0" u="none" strike="noStrike" cap="none" dirty="0">
                    <a:solidFill>
                      <a:schemeClr val="dk1"/>
                    </a:solidFill>
                    <a:effectLst/>
                    <a:latin typeface="Calibri"/>
                    <a:ea typeface="Calibri"/>
                    <a:cs typeface="Calibri"/>
                    <a:sym typeface="Calibri"/>
                  </a:rPr>
                  <a:t> Acts as the current focus of attention, determining which parts of the input sequence are most relevant.</a:t>
                </a:r>
              </a:p>
              <a:p>
                <a:pPr lvl="1"/>
                <a:r>
                  <a:rPr lang="en-US" sz="1200" b="1" i="0" u="none" strike="noStrike" cap="none" dirty="0">
                    <a:solidFill>
                      <a:schemeClr val="dk1"/>
                    </a:solidFill>
                    <a:effectLst/>
                    <a:latin typeface="Calibri"/>
                    <a:ea typeface="Calibri"/>
                    <a:cs typeface="Calibri"/>
                    <a:sym typeface="Calibri"/>
                  </a:rPr>
                  <a:t>Key (K):</a:t>
                </a:r>
                <a:r>
                  <a:rPr lang="en-US" sz="1200" b="0" i="0" u="none" strike="noStrike" cap="none" dirty="0">
                    <a:solidFill>
                      <a:schemeClr val="dk1"/>
                    </a:solidFill>
                    <a:effectLst/>
                    <a:latin typeface="Calibri"/>
                    <a:ea typeface="Calibri"/>
                    <a:cs typeface="Calibri"/>
                    <a:sym typeface="Calibri"/>
                  </a:rPr>
                  <a:t> Provides a basis for comparison, allowing the model to evaluate the relevance of each input element.</a:t>
                </a:r>
              </a:p>
              <a:p>
                <a:pPr lvl="1"/>
                <a:r>
                  <a:rPr lang="en-US" sz="1200" b="1" i="0" u="none" strike="noStrike" cap="none" dirty="0">
                    <a:solidFill>
                      <a:schemeClr val="dk1"/>
                    </a:solidFill>
                    <a:effectLst/>
                    <a:latin typeface="Calibri"/>
                    <a:ea typeface="Calibri"/>
                    <a:cs typeface="Calibri"/>
                    <a:sym typeface="Calibri"/>
                  </a:rPr>
                  <a:t>Value (V):</a:t>
                </a:r>
                <a:r>
                  <a:rPr lang="en-US" sz="1200" b="0" i="0" u="none" strike="noStrike" cap="none" dirty="0">
                    <a:solidFill>
                      <a:schemeClr val="dk1"/>
                    </a:solidFill>
                    <a:effectLst/>
                    <a:latin typeface="Calibri"/>
                    <a:ea typeface="Calibri"/>
                    <a:cs typeface="Calibri"/>
                    <a:sym typeface="Calibri"/>
                  </a:rPr>
                  <a:t> Contains the information that will be used to compute the final output, weighted by the attention scores.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transformation of input vectors into queries, keys, and values allows the self-attention mechanism to efficiently compute attention scores and outputs.</a:t>
                </a:r>
              </a:p>
              <a:p>
                <a:r>
                  <a:rPr lang="en-US" sz="1200" b="0" i="0" u="none" strike="noStrike" cap="none" dirty="0">
                    <a:solidFill>
                      <a:schemeClr val="dk1"/>
                    </a:solidFill>
                    <a:effectLst/>
                    <a:latin typeface="Calibri"/>
                    <a:ea typeface="Calibri"/>
                    <a:cs typeface="Calibri"/>
                    <a:sym typeface="Calibri"/>
                  </a:rPr>
                  <a:t>By using learnable weight matrices, the model can adapt these transformations to optimize performance for specific tasks and datasets.</a:t>
                </a:r>
              </a:p>
              <a:p>
                <a:r>
                  <a:rPr lang="en-US" sz="1200" b="1" i="0" u="none" strike="noStrike" cap="none" dirty="0">
                    <a:solidFill>
                      <a:schemeClr val="dk1"/>
                    </a:solidFill>
                    <a:effectLst/>
                    <a:latin typeface="Calibri"/>
                    <a:ea typeface="Calibri"/>
                    <a:cs typeface="Calibri"/>
                    <a:sym typeface="Calibri"/>
                  </a:rPr>
                  <a:t>Historical Context: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In the original transformer model by Vaswani et al. (2017), the dimensionality </a:t>
                </a:r>
                <a14:m>
                  <m:oMath xmlns:m="http://schemas.openxmlformats.org/officeDocument/2006/math">
                    <m:r>
                      <a:rPr lang="en-US" sz="1200" b="0" i="1" u="none" strike="noStrike" cap="none">
                        <a:solidFill>
                          <a:schemeClr val="dk1"/>
                        </a:solidFill>
                        <a:latin typeface="Calibri"/>
                        <a:ea typeface="Calibri"/>
                        <a:cs typeface="Calibri"/>
                        <a:sym typeface="Calibri"/>
                      </a:rPr>
                      <m:t>𝑑</m:t>
                    </m:r>
                  </m:oMath>
                </a14:m>
                <a:r>
                  <a:rPr lang="en-US" sz="1200" b="0" i="0" u="none" strike="noStrike" cap="none" dirty="0">
                    <a:solidFill>
                      <a:schemeClr val="dk1"/>
                    </a:solidFill>
                    <a:effectLst/>
                    <a:latin typeface="Calibri"/>
                    <a:ea typeface="Calibri"/>
                    <a:cs typeface="Calibri"/>
                    <a:sym typeface="Calibri"/>
                  </a:rPr>
                  <a:t> of these vectors was set to 1024, reflecting the model's capacity to capture complex patterns and relationships.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foundational understanding of how self-attention operates within transformers, highlighting the importance of queries, keys, and values in computing attention. This understanding is crucial for appreciating the flexibility and power of transformers in handling a wide range of natural language processing tasks.</a:t>
                </a:r>
              </a:p>
              <a:p>
                <a:pPr marL="0" lvl="0" indent="0" algn="l" rtl="0">
                  <a:lnSpc>
                    <a:spcPct val="100000"/>
                  </a:lnSpc>
                  <a:spcBef>
                    <a:spcPts val="0"/>
                  </a:spcBef>
                  <a:spcAft>
                    <a:spcPts val="0"/>
                  </a:spcAft>
                  <a:buSzPts val="1400"/>
                  <a:buNone/>
                </a:pPr>
                <a:endParaRPr dirty="0"/>
              </a:p>
            </p:txBody>
          </p:sp>
        </mc:Choice>
        <mc:Fallback>
          <p:sp>
            <p:nvSpPr>
              <p:cNvPr id="440" name="Google Shape;440;g2b8b5137f2c_0_1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Self-Attention Components: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Query, Key, and Value: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input vector </a:t>
                </a:r>
                <a:r>
                  <a:rPr lang="ar-AE" sz="1200" b="0" i="0" u="none" strike="noStrike" cap="none">
                    <a:solidFill>
                      <a:schemeClr val="dk1"/>
                    </a:solidFill>
                    <a:latin typeface="Calibri"/>
                    <a:ea typeface="Calibri"/>
                    <a:cs typeface="Calibri"/>
                    <a:sym typeface="Calibri"/>
                  </a:rPr>
                  <a:t>𝑥_𝑖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transformed into three different vectors: query </a:t>
                </a:r>
                <a:r>
                  <a:rPr lang="ar-AE" sz="1200" b="0" i="0" u="none" strike="noStrike" cap="none">
                    <a:solidFill>
                      <a:schemeClr val="dk1"/>
                    </a:solidFill>
                    <a:latin typeface="Calibri"/>
                    <a:ea typeface="Calibri"/>
                    <a:cs typeface="Calibri"/>
                    <a:sym typeface="Calibri"/>
                  </a:rPr>
                  <a:t>𝑞_𝑖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key </a:t>
                </a:r>
                <a:r>
                  <a:rPr lang="ar-AE" sz="1200" b="0" i="0" u="none" strike="noStrike" cap="none">
                    <a:solidFill>
                      <a:schemeClr val="dk1"/>
                    </a:solidFill>
                    <a:latin typeface="Calibri"/>
                    <a:ea typeface="Calibri"/>
                    <a:cs typeface="Calibri"/>
                    <a:sym typeface="Calibri"/>
                  </a:rPr>
                  <a:t>𝑘_𝑖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value </a:t>
                </a:r>
                <a:r>
                  <a:rPr lang="ar-AE" sz="1200" b="0" i="0" u="none" strike="noStrike" cap="none">
                    <a:solidFill>
                      <a:schemeClr val="dk1"/>
                    </a:solidFill>
                    <a:latin typeface="Calibri"/>
                    <a:ea typeface="Calibri"/>
                    <a:cs typeface="Calibri"/>
                    <a:sym typeface="Calibri"/>
                  </a:rPr>
                  <a:t>𝑣_𝑖</a:t>
                </a:r>
                <a:r>
                  <a:rPr lang="ar-AE"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These transformations are achieved using learnable weight matrices </a:t>
                </a:r>
                <a:r>
                  <a:rPr lang="ar-AE" sz="1200" b="0" i="0" u="none" strike="noStrike" cap="none">
                    <a:solidFill>
                      <a:schemeClr val="dk1"/>
                    </a:solidFill>
                    <a:latin typeface="Calibri"/>
                    <a:ea typeface="Calibri"/>
                    <a:cs typeface="Calibri"/>
                    <a:sym typeface="Calibri"/>
                  </a:rPr>
                  <a:t>𝑊^𝑄</a:t>
                </a:r>
                <a:r>
                  <a:rPr lang="ar-AE" sz="1200" b="0" i="0" u="none" strike="noStrike" cap="none" dirty="0">
                    <a:solidFill>
                      <a:schemeClr val="dk1"/>
                    </a:solidFill>
                    <a:effectLst/>
                    <a:latin typeface="Calibri"/>
                    <a:ea typeface="Calibri"/>
                    <a:cs typeface="Calibri"/>
                    <a:sym typeface="Calibri"/>
                  </a:rPr>
                  <a:t>, </a:t>
                </a:r>
                <a:r>
                  <a:rPr lang="ar-AE" sz="1200" b="0" i="0" u="none" strike="noStrike" cap="none">
                    <a:solidFill>
                      <a:schemeClr val="dk1"/>
                    </a:solidFill>
                    <a:latin typeface="Calibri"/>
                    <a:ea typeface="Calibri"/>
                    <a:cs typeface="Calibri"/>
                    <a:sym typeface="Calibri"/>
                  </a:rPr>
                  <a:t>𝑊^𝐾</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a:t>
                </a:r>
                <a:r>
                  <a:rPr lang="ar-AE" sz="1200" b="0" i="0" u="none" strike="noStrike" cap="none">
                    <a:solidFill>
                      <a:schemeClr val="dk1"/>
                    </a:solidFill>
                    <a:latin typeface="Calibri"/>
                    <a:ea typeface="Calibri"/>
                    <a:cs typeface="Calibri"/>
                    <a:sym typeface="Calibri"/>
                  </a:rPr>
                  <a:t>𝑊^𝑉</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respectively.</a:t>
                </a:r>
              </a:p>
              <a:p>
                <a:r>
                  <a:rPr lang="en-US" sz="1200" b="1" i="0" u="none" strike="noStrike" cap="none" dirty="0">
                    <a:solidFill>
                      <a:schemeClr val="dk1"/>
                    </a:solidFill>
                    <a:effectLst/>
                    <a:latin typeface="Calibri"/>
                    <a:ea typeface="Calibri"/>
                    <a:cs typeface="Calibri"/>
                    <a:sym typeface="Calibri"/>
                  </a:rPr>
                  <a:t>Mathematical Transformations:</a:t>
                </a:r>
                <a:endParaRPr lang="en-US" sz="1200" b="0" i="0" u="none" strike="noStrike" cap="none" dirty="0">
                  <a:solidFill>
                    <a:schemeClr val="dk1"/>
                  </a:solidFill>
                  <a:effectLst/>
                  <a:latin typeface="Calibri"/>
                  <a:ea typeface="Calibri"/>
                  <a:cs typeface="Calibri"/>
                  <a:sym typeface="Calibri"/>
                </a:endParaRPr>
              </a:p>
              <a:p>
                <a:pPr lvl="1"/>
                <a:r>
                  <a:rPr lang="en-US" sz="1200" b="1" i="0" u="none" strike="noStrike" cap="none" dirty="0">
                    <a:solidFill>
                      <a:schemeClr val="dk1"/>
                    </a:solidFill>
                    <a:effectLst/>
                    <a:latin typeface="Calibri"/>
                    <a:ea typeface="Calibri"/>
                    <a:cs typeface="Calibri"/>
                    <a:sym typeface="Calibri"/>
                  </a:rPr>
                  <a:t>Query:</a:t>
                </a:r>
                <a:br>
                  <a:rPr lang="en-US" sz="1200" b="0" i="0" u="none" strike="noStrike" cap="none" dirty="0">
                    <a:solidFill>
                      <a:schemeClr val="dk1"/>
                    </a:solidFill>
                    <a:effectLst/>
                    <a:latin typeface="Calibri"/>
                    <a:ea typeface="Calibri"/>
                    <a:cs typeface="Calibri"/>
                    <a:sym typeface="Calibri"/>
                  </a:rPr>
                </a:br>
                <a:r>
                  <a:rPr lang="ar-AE" sz="1200" b="0" i="0" u="none" strike="noStrike" cap="none">
                    <a:solidFill>
                      <a:schemeClr val="dk1"/>
                    </a:solidFill>
                    <a:latin typeface="Calibri"/>
                    <a:ea typeface="Calibri"/>
                    <a:cs typeface="Calibri"/>
                    <a:sym typeface="Calibri"/>
                  </a:rPr>
                  <a:t>𝑞_𝑖=𝑊^𝑄 𝑥_𝑖</a:t>
                </a:r>
                <a:endParaRPr lang="ar-AE" sz="1200" b="0" i="0" u="none" strike="noStrike" cap="none" dirty="0">
                  <a:solidFill>
                    <a:schemeClr val="dk1"/>
                  </a:solidFill>
                  <a:effectLst/>
                  <a:latin typeface="Calibri"/>
                  <a:ea typeface="Calibri"/>
                  <a:cs typeface="Calibri"/>
                  <a:sym typeface="Calibri"/>
                </a:endParaRPr>
              </a:p>
              <a:p>
                <a:pPr lvl="2"/>
                <a:r>
                  <a:rPr lang="en-US" sz="1200" b="0" i="0" u="none" strike="noStrike" cap="none" dirty="0">
                    <a:solidFill>
                      <a:schemeClr val="dk1"/>
                    </a:solidFill>
                    <a:effectLst/>
                    <a:latin typeface="Calibri"/>
                    <a:ea typeface="Calibri"/>
                    <a:cs typeface="Calibri"/>
                    <a:sym typeface="Calibri"/>
                  </a:rPr>
                  <a:t>The query vector represents the current focus of attention when comparing the input to other elements in the sequence.</a:t>
                </a:r>
              </a:p>
              <a:p>
                <a:pPr lvl="1"/>
                <a:r>
                  <a:rPr lang="en-US" sz="1200" b="1" i="0" u="none" strike="noStrike" cap="none" dirty="0">
                    <a:solidFill>
                      <a:schemeClr val="dk1"/>
                    </a:solidFill>
                    <a:effectLst/>
                    <a:latin typeface="Calibri"/>
                    <a:ea typeface="Calibri"/>
                    <a:cs typeface="Calibri"/>
                    <a:sym typeface="Calibri"/>
                  </a:rPr>
                  <a:t>Key:</a:t>
                </a:r>
                <a:br>
                  <a:rPr lang="en-US" sz="1200" b="0" i="0" u="none" strike="noStrike" cap="none" dirty="0">
                    <a:solidFill>
                      <a:schemeClr val="dk1"/>
                    </a:solidFill>
                    <a:effectLst/>
                    <a:latin typeface="Calibri"/>
                    <a:ea typeface="Calibri"/>
                    <a:cs typeface="Calibri"/>
                    <a:sym typeface="Calibri"/>
                  </a:rPr>
                </a:br>
                <a:r>
                  <a:rPr lang="ar-AE" sz="1200" b="0" i="0" u="none" strike="noStrike" cap="none">
                    <a:solidFill>
                      <a:schemeClr val="dk1"/>
                    </a:solidFill>
                    <a:latin typeface="Calibri"/>
                    <a:ea typeface="Calibri"/>
                    <a:cs typeface="Calibri"/>
                    <a:sym typeface="Calibri"/>
                  </a:rPr>
                  <a:t>𝑘_𝑖=𝑊^𝐾 𝑥_𝑖</a:t>
                </a:r>
                <a:endParaRPr lang="ar-AE" sz="1200" b="0" i="0" u="none" strike="noStrike" cap="none" dirty="0">
                  <a:solidFill>
                    <a:schemeClr val="dk1"/>
                  </a:solidFill>
                  <a:effectLst/>
                  <a:latin typeface="Calibri"/>
                  <a:ea typeface="Calibri"/>
                  <a:cs typeface="Calibri"/>
                  <a:sym typeface="Calibri"/>
                </a:endParaRPr>
              </a:p>
              <a:p>
                <a:pPr lvl="2"/>
                <a:r>
                  <a:rPr lang="en-US" sz="1200" b="0" i="0" u="none" strike="noStrike" cap="none" dirty="0">
                    <a:solidFill>
                      <a:schemeClr val="dk1"/>
                    </a:solidFill>
                    <a:effectLst/>
                    <a:latin typeface="Calibri"/>
                    <a:ea typeface="Calibri"/>
                    <a:cs typeface="Calibri"/>
                    <a:sym typeface="Calibri"/>
                  </a:rPr>
                  <a:t>The key vector is used to compare the current input with other inputs, helping determine the relevance of each element.</a:t>
                </a:r>
              </a:p>
              <a:p>
                <a:pPr lvl="1"/>
                <a:r>
                  <a:rPr lang="en-US" sz="1200" b="1" i="0" u="none" strike="noStrike" cap="none" dirty="0">
                    <a:solidFill>
                      <a:schemeClr val="dk1"/>
                    </a:solidFill>
                    <a:effectLst/>
                    <a:latin typeface="Calibri"/>
                    <a:ea typeface="Calibri"/>
                    <a:cs typeface="Calibri"/>
                    <a:sym typeface="Calibri"/>
                  </a:rPr>
                  <a:t>Value:</a:t>
                </a:r>
                <a:br>
                  <a:rPr lang="en-US" sz="1200" b="0" i="0" u="none" strike="noStrike" cap="none" dirty="0">
                    <a:solidFill>
                      <a:schemeClr val="dk1"/>
                    </a:solidFill>
                    <a:effectLst/>
                    <a:latin typeface="Calibri"/>
                    <a:ea typeface="Calibri"/>
                    <a:cs typeface="Calibri"/>
                    <a:sym typeface="Calibri"/>
                  </a:rPr>
                </a:br>
                <a:r>
                  <a:rPr lang="ar-AE" sz="1200" b="0" i="0" u="none" strike="noStrike" cap="none">
                    <a:solidFill>
                      <a:schemeClr val="dk1"/>
                    </a:solidFill>
                    <a:latin typeface="Calibri"/>
                    <a:ea typeface="Calibri"/>
                    <a:cs typeface="Calibri"/>
                    <a:sym typeface="Calibri"/>
                  </a:rPr>
                  <a:t>𝑣_𝑖=𝑊^𝑉 𝑥_𝑖</a:t>
                </a:r>
                <a:endParaRPr lang="ar-AE" sz="1200" b="0" i="0" u="none" strike="noStrike" cap="none" dirty="0">
                  <a:solidFill>
                    <a:schemeClr val="dk1"/>
                  </a:solidFill>
                  <a:effectLst/>
                  <a:latin typeface="Calibri"/>
                  <a:ea typeface="Calibri"/>
                  <a:cs typeface="Calibri"/>
                  <a:sym typeface="Calibri"/>
                </a:endParaRPr>
              </a:p>
              <a:p>
                <a:pPr lvl="2"/>
                <a:r>
                  <a:rPr lang="en-US" sz="1200" b="0" i="0" u="none" strike="noStrike" cap="none" dirty="0">
                    <a:solidFill>
                      <a:schemeClr val="dk1"/>
                    </a:solidFill>
                    <a:effectLst/>
                    <a:latin typeface="Calibri"/>
                    <a:ea typeface="Calibri"/>
                    <a:cs typeface="Calibri"/>
                    <a:sym typeface="Calibri"/>
                  </a:rPr>
                  <a:t>The value vector is used to compute the output for the current focus of attention, incorporating the information deemed relevant by the attention mechanism.</a:t>
                </a:r>
              </a:p>
              <a:p>
                <a:r>
                  <a:rPr lang="en-US" sz="1200" b="1" i="0" u="none" strike="noStrike" cap="none" dirty="0">
                    <a:solidFill>
                      <a:schemeClr val="dk1"/>
                    </a:solidFill>
                    <a:effectLst/>
                    <a:latin typeface="Calibri"/>
                    <a:ea typeface="Calibri"/>
                    <a:cs typeface="Calibri"/>
                    <a:sym typeface="Calibri"/>
                  </a:rPr>
                  <a:t>Roles in Self-Attention:</a:t>
                </a:r>
                <a:endParaRPr lang="en-US" sz="1200" b="0" i="0" u="none" strike="noStrike" cap="none" dirty="0">
                  <a:solidFill>
                    <a:schemeClr val="dk1"/>
                  </a:solidFill>
                  <a:effectLst/>
                  <a:latin typeface="Calibri"/>
                  <a:ea typeface="Calibri"/>
                  <a:cs typeface="Calibri"/>
                  <a:sym typeface="Calibri"/>
                </a:endParaRPr>
              </a:p>
              <a:p>
                <a:pPr lvl="1"/>
                <a:r>
                  <a:rPr lang="en-US" sz="1200" b="1" i="0" u="none" strike="noStrike" cap="none" dirty="0">
                    <a:solidFill>
                      <a:schemeClr val="dk1"/>
                    </a:solidFill>
                    <a:effectLst/>
                    <a:latin typeface="Calibri"/>
                    <a:ea typeface="Calibri"/>
                    <a:cs typeface="Calibri"/>
                    <a:sym typeface="Calibri"/>
                  </a:rPr>
                  <a:t>Query (Q):</a:t>
                </a:r>
                <a:r>
                  <a:rPr lang="en-US" sz="1200" b="0" i="0" u="none" strike="noStrike" cap="none" dirty="0">
                    <a:solidFill>
                      <a:schemeClr val="dk1"/>
                    </a:solidFill>
                    <a:effectLst/>
                    <a:latin typeface="Calibri"/>
                    <a:ea typeface="Calibri"/>
                    <a:cs typeface="Calibri"/>
                    <a:sym typeface="Calibri"/>
                  </a:rPr>
                  <a:t> Acts as the current focus of attention, determining which parts of the input sequence are most relevant.</a:t>
                </a:r>
              </a:p>
              <a:p>
                <a:pPr lvl="1"/>
                <a:r>
                  <a:rPr lang="en-US" sz="1200" b="1" i="0" u="none" strike="noStrike" cap="none" dirty="0">
                    <a:solidFill>
                      <a:schemeClr val="dk1"/>
                    </a:solidFill>
                    <a:effectLst/>
                    <a:latin typeface="Calibri"/>
                    <a:ea typeface="Calibri"/>
                    <a:cs typeface="Calibri"/>
                    <a:sym typeface="Calibri"/>
                  </a:rPr>
                  <a:t>Key (K):</a:t>
                </a:r>
                <a:r>
                  <a:rPr lang="en-US" sz="1200" b="0" i="0" u="none" strike="noStrike" cap="none" dirty="0">
                    <a:solidFill>
                      <a:schemeClr val="dk1"/>
                    </a:solidFill>
                    <a:effectLst/>
                    <a:latin typeface="Calibri"/>
                    <a:ea typeface="Calibri"/>
                    <a:cs typeface="Calibri"/>
                    <a:sym typeface="Calibri"/>
                  </a:rPr>
                  <a:t> Provides a basis for comparison, allowing the model to evaluate the relevance of each input element.</a:t>
                </a:r>
              </a:p>
              <a:p>
                <a:pPr lvl="1"/>
                <a:r>
                  <a:rPr lang="en-US" sz="1200" b="1" i="0" u="none" strike="noStrike" cap="none" dirty="0">
                    <a:solidFill>
                      <a:schemeClr val="dk1"/>
                    </a:solidFill>
                    <a:effectLst/>
                    <a:latin typeface="Calibri"/>
                    <a:ea typeface="Calibri"/>
                    <a:cs typeface="Calibri"/>
                    <a:sym typeface="Calibri"/>
                  </a:rPr>
                  <a:t>Value (V):</a:t>
                </a:r>
                <a:r>
                  <a:rPr lang="en-US" sz="1200" b="0" i="0" u="none" strike="noStrike" cap="none" dirty="0">
                    <a:solidFill>
                      <a:schemeClr val="dk1"/>
                    </a:solidFill>
                    <a:effectLst/>
                    <a:latin typeface="Calibri"/>
                    <a:ea typeface="Calibri"/>
                    <a:cs typeface="Calibri"/>
                    <a:sym typeface="Calibri"/>
                  </a:rPr>
                  <a:t> Contains the information that will be used to compute the final output, weighted by the attention scores.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transformation of input vectors into queries, keys, and values allows the self-attention mechanism to efficiently compute attention scores and outputs.</a:t>
                </a:r>
              </a:p>
              <a:p>
                <a:r>
                  <a:rPr lang="en-US" sz="1200" b="0" i="0" u="none" strike="noStrike" cap="none" dirty="0">
                    <a:solidFill>
                      <a:schemeClr val="dk1"/>
                    </a:solidFill>
                    <a:effectLst/>
                    <a:latin typeface="Calibri"/>
                    <a:ea typeface="Calibri"/>
                    <a:cs typeface="Calibri"/>
                    <a:sym typeface="Calibri"/>
                  </a:rPr>
                  <a:t>By using learnable weight matrices, the model can adapt these transformations to optimize performance for specific tasks and datasets.</a:t>
                </a:r>
              </a:p>
              <a:p>
                <a:r>
                  <a:rPr lang="en-US" sz="1200" b="1" i="0" u="none" strike="noStrike" cap="none" dirty="0">
                    <a:solidFill>
                      <a:schemeClr val="dk1"/>
                    </a:solidFill>
                    <a:effectLst/>
                    <a:latin typeface="Calibri"/>
                    <a:ea typeface="Calibri"/>
                    <a:cs typeface="Calibri"/>
                    <a:sym typeface="Calibri"/>
                  </a:rPr>
                  <a:t>Historical Context: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In the original transformer model by Vaswani et al. (2017), the dimensionality </a:t>
                </a:r>
                <a:r>
                  <a:rPr lang="en-US" sz="1200" b="0" i="0" u="none" strike="noStrike" cap="none">
                    <a:solidFill>
                      <a:schemeClr val="dk1"/>
                    </a:solidFill>
                    <a:latin typeface="Calibri"/>
                    <a:ea typeface="Calibri"/>
                    <a:cs typeface="Calibri"/>
                    <a:sym typeface="Calibri"/>
                  </a:rPr>
                  <a:t>𝑑</a:t>
                </a:r>
                <a:r>
                  <a:rPr lang="en-US" sz="1200" b="0" i="0" u="none" strike="noStrike" cap="none" dirty="0">
                    <a:solidFill>
                      <a:schemeClr val="dk1"/>
                    </a:solidFill>
                    <a:effectLst/>
                    <a:latin typeface="Calibri"/>
                    <a:ea typeface="Calibri"/>
                    <a:cs typeface="Calibri"/>
                    <a:sym typeface="Calibri"/>
                  </a:rPr>
                  <a:t> of these vectors was set to 1024, reflecting the model's capacity to capture complex patterns and relationships.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foundational understanding of how self-attention operates within transformers, highlighting the importance of queries, keys, and values in computing attention. This understanding is crucial for appreciating the flexibility and power of transformers in handling a wide range of natural language processing tasks.</a:t>
                </a:r>
              </a:p>
              <a:p>
                <a:pPr marL="0" lvl="0" indent="0" algn="l" rtl="0">
                  <a:lnSpc>
                    <a:spcPct val="100000"/>
                  </a:lnSpc>
                  <a:spcBef>
                    <a:spcPts val="0"/>
                  </a:spcBef>
                  <a:spcAft>
                    <a:spcPts val="0"/>
                  </a:spcAft>
                  <a:buSzPts val="1400"/>
                  <a:buNone/>
                </a:pPr>
                <a:endParaRPr dirty="0"/>
              </a:p>
            </p:txBody>
          </p:sp>
        </mc:Fallback>
      </mc:AlternateContent>
      <p:sp>
        <p:nvSpPr>
          <p:cNvPr id="441" name="Google Shape;441;g2b8b5137f2c_0_19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b8b5137f2c_0_2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471" name="Google Shape;471;g2b8b5137f2c_0_2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Self-Attention Components: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Query, Key, and Value Transformations: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input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transformed into a query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𝑞</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key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𝑘</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value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𝑣</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using learnable weight matrices </a:t>
                </a:r>
                <a14:m>
                  <m:oMath xmlns:m="http://schemas.openxmlformats.org/officeDocument/2006/math">
                    <m:sSup>
                      <m:sSupPr>
                        <m:ctrlPr>
                          <a:rPr lang="ar-AE" sz="1200" b="0" i="0"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𝑄</m:t>
                        </m:r>
                      </m:sup>
                    </m:sSup>
                  </m:oMath>
                </a14:m>
                <a:r>
                  <a:rPr lang="ar-AE" sz="1200" b="0" i="0" u="none" strike="noStrike" cap="none" dirty="0">
                    <a:solidFill>
                      <a:schemeClr val="dk1"/>
                    </a:solidFill>
                    <a:effectLst/>
                    <a:latin typeface="Calibri"/>
                    <a:ea typeface="Calibri"/>
                    <a:cs typeface="Calibri"/>
                    <a:sym typeface="Calibri"/>
                  </a:rPr>
                  <a:t>, </a:t>
                </a:r>
                <a14:m>
                  <m:oMath xmlns:m="http://schemas.openxmlformats.org/officeDocument/2006/math">
                    <m:sSup>
                      <m:sSupPr>
                        <m:ctrlPr>
                          <a:rPr lang="ar-AE" sz="1200" b="0" i="0"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𝐾</m:t>
                        </m:r>
                      </m:sup>
                    </m:sSup>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a:t>
                </a:r>
                <a14:m>
                  <m:oMath xmlns:m="http://schemas.openxmlformats.org/officeDocument/2006/math">
                    <m:sSup>
                      <m:sSupPr>
                        <m:ctrlPr>
                          <a:rPr lang="ar-AE" sz="1200" b="0" i="0"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𝑉</m:t>
                        </m:r>
                      </m:sup>
                    </m:sSup>
                  </m:oMath>
                </a14:m>
                <a:r>
                  <a:rPr lang="ar-AE" sz="1200" b="0" i="0" u="none" strike="noStrike" cap="none" dirty="0">
                    <a:solidFill>
                      <a:schemeClr val="dk1"/>
                    </a:solidFill>
                    <a:effectLst/>
                    <a:latin typeface="Calibri"/>
                    <a:ea typeface="Calibri"/>
                    <a:cs typeface="Calibri"/>
                    <a:sym typeface="Calibri"/>
                  </a:rPr>
                  <a:t>:</a:t>
                </a:r>
                <a:br>
                  <a:rPr lang="ar-AE"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𝑞</m:t>
                          </m:r>
                        </m:e>
                        <m:sub>
                          <m:r>
                            <a:rPr lang="ar-AE" sz="1200" b="0" i="1" u="none" strike="noStrike" cap="none">
                              <a:solidFill>
                                <a:schemeClr val="dk1"/>
                              </a:solidFill>
                              <a:latin typeface="Calibri"/>
                              <a:ea typeface="Calibri"/>
                              <a:cs typeface="Calibri"/>
                              <a:sym typeface="Calibri"/>
                            </a:rPr>
                            <m:t>𝑖</m:t>
                          </m:r>
                        </m:sub>
                      </m:sSub>
                      <m:r>
                        <a:rPr lang="ar-AE" sz="1200" b="0" i="0" u="none" strike="noStrike" cap="none">
                          <a:solidFill>
                            <a:schemeClr val="dk1"/>
                          </a:solidFill>
                          <a:latin typeface="Calibri"/>
                          <a:ea typeface="Calibri"/>
                          <a:cs typeface="Calibri"/>
                          <a:sym typeface="Calibri"/>
                        </a:rPr>
                        <m:t>=</m:t>
                      </m:r>
                      <m:sSup>
                        <m:sSupPr>
                          <m:ctrlPr>
                            <a:rPr lang="ar-AE" sz="1200" b="0" i="1"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𝑄</m:t>
                          </m:r>
                        </m:sup>
                      </m:sSup>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𝑖</m:t>
                          </m:r>
                        </m:sub>
                      </m:sSub>
                      <m:r>
                        <a:rPr lang="ar-AE" sz="1200" b="0" i="0" u="none" strike="noStrike" cap="none">
                          <a:solidFill>
                            <a:schemeClr val="dk1"/>
                          </a:solidFill>
                          <a:latin typeface="Calibri"/>
                          <a:ea typeface="Calibri"/>
                          <a:cs typeface="Calibri"/>
                          <a:sym typeface="Calibri"/>
                        </a:rPr>
                        <m:t>, </m:t>
                      </m:r>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𝑘</m:t>
                          </m:r>
                        </m:e>
                        <m:sub>
                          <m:r>
                            <a:rPr lang="ar-AE" sz="1200" b="0" i="1" u="none" strike="noStrike" cap="none">
                              <a:solidFill>
                                <a:schemeClr val="dk1"/>
                              </a:solidFill>
                              <a:latin typeface="Calibri"/>
                              <a:ea typeface="Calibri"/>
                              <a:cs typeface="Calibri"/>
                              <a:sym typeface="Calibri"/>
                            </a:rPr>
                            <m:t>𝑖</m:t>
                          </m:r>
                        </m:sub>
                      </m:sSub>
                      <m:r>
                        <a:rPr lang="ar-AE" sz="1200" b="0" i="0" u="none" strike="noStrike" cap="none">
                          <a:solidFill>
                            <a:schemeClr val="dk1"/>
                          </a:solidFill>
                          <a:latin typeface="Calibri"/>
                          <a:ea typeface="Calibri"/>
                          <a:cs typeface="Calibri"/>
                          <a:sym typeface="Calibri"/>
                        </a:rPr>
                        <m:t>=</m:t>
                      </m:r>
                      <m:sSup>
                        <m:sSupPr>
                          <m:ctrlPr>
                            <a:rPr lang="ar-AE" sz="1200" b="0" i="1"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𝐾</m:t>
                          </m:r>
                        </m:sup>
                      </m:sSup>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𝑖</m:t>
                          </m:r>
                        </m:sub>
                      </m:sSub>
                      <m:r>
                        <a:rPr lang="ar-AE" sz="1200" b="0" i="0" u="none" strike="noStrike" cap="none">
                          <a:solidFill>
                            <a:schemeClr val="dk1"/>
                          </a:solidFill>
                          <a:latin typeface="Calibri"/>
                          <a:ea typeface="Calibri"/>
                          <a:cs typeface="Calibri"/>
                          <a:sym typeface="Calibri"/>
                        </a:rPr>
                        <m:t>, </m:t>
                      </m:r>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𝑣</m:t>
                          </m:r>
                        </m:e>
                        <m:sub>
                          <m:r>
                            <a:rPr lang="ar-AE" sz="1200" b="0" i="1" u="none" strike="noStrike" cap="none">
                              <a:solidFill>
                                <a:schemeClr val="dk1"/>
                              </a:solidFill>
                              <a:latin typeface="Calibri"/>
                              <a:ea typeface="Calibri"/>
                              <a:cs typeface="Calibri"/>
                              <a:sym typeface="Calibri"/>
                            </a:rPr>
                            <m:t>𝑖</m:t>
                          </m:r>
                        </m:sub>
                      </m:sSub>
                      <m:r>
                        <a:rPr lang="ar-AE" sz="1200" b="0" i="0" u="none" strike="noStrike" cap="none">
                          <a:solidFill>
                            <a:schemeClr val="dk1"/>
                          </a:solidFill>
                          <a:latin typeface="Calibri"/>
                          <a:ea typeface="Calibri"/>
                          <a:cs typeface="Calibri"/>
                          <a:sym typeface="Calibri"/>
                        </a:rPr>
                        <m:t>=</m:t>
                      </m:r>
                      <m:sSup>
                        <m:sSupPr>
                          <m:ctrlPr>
                            <a:rPr lang="ar-AE" sz="1200" b="0" i="1"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𝑉</m:t>
                          </m:r>
                        </m:sup>
                      </m:sSup>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𝑖</m:t>
                          </m:r>
                        </m:sub>
                      </m:sSub>
                    </m:oMath>
                  </m:oMathPara>
                </a14:m>
                <a:endParaRPr lang="ar-AE"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Scaled Dot-Product Attention: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Attention Score Calculation: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attention score between two input vectors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𝑗</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calculated using the dot product of their query and key vectors, scaled by the square root of the dimensionality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𝑑</m:t>
                        </m:r>
                      </m:e>
                      <m:sub>
                        <m:r>
                          <a:rPr lang="ar-AE" sz="1200" b="0" i="1" u="none" strike="noStrike" cap="none">
                            <a:solidFill>
                              <a:schemeClr val="dk1"/>
                            </a:solidFill>
                            <a:latin typeface="Calibri"/>
                            <a:ea typeface="Calibri"/>
                            <a:cs typeface="Calibri"/>
                            <a:sym typeface="Calibri"/>
                          </a:rPr>
                          <m:t>𝑘</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of the key vectors:</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r>
                        <m:rPr>
                          <m:nor/>
                        </m:rPr>
                        <a:rPr lang="en-US" b="0"/>
                        <m:t>score</m:t>
                      </m:r>
                      <m:d>
                        <m:dPr>
                          <m:sepChr m:val=","/>
                          <m:ctrlPr>
                            <a:rPr lang="ar-AE" sz="1200" b="0" i="1" u="none" strike="noStrike" cap="none">
                              <a:solidFill>
                                <a:schemeClr val="dk1"/>
                              </a:solidFill>
                              <a:latin typeface="Calibri"/>
                              <a:ea typeface="Calibri"/>
                              <a:cs typeface="Calibri"/>
                              <a:sym typeface="Calibri"/>
                            </a:rPr>
                          </m:ctrlPr>
                        </m:dPr>
                        <m:e>
                          <m:sSub>
                            <m:sSubPr>
                              <m:ctrlPr>
                                <a:rPr lang="ar-AE" sz="1200" b="0" i="1" u="none" strike="noStrike" cap="none">
                                  <a:solidFill>
                                    <a:schemeClr val="dk1"/>
                                  </a:solidFill>
                                  <a:latin typeface="Calibri"/>
                                  <a:ea typeface="Calibri"/>
                                  <a:cs typeface="Calibri"/>
                                  <a:sym typeface="Calibri"/>
                                </a:rPr>
                              </m:ctrlPr>
                            </m:sSubPr>
                            <m:e>
                              <m:r>
                                <a:rPr lang="ar-AE" b="0" i="1"/>
                                <m:t>𝑥</m:t>
                              </m:r>
                            </m:e>
                            <m:sub>
                              <m:r>
                                <a:rPr lang="ar-AE" b="0" i="1"/>
                                <m:t>𝑖</m:t>
                              </m:r>
                            </m:sub>
                          </m:sSub>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𝑗</m:t>
                              </m:r>
                            </m:sub>
                          </m:sSub>
                        </m:e>
                      </m:d>
                      <m:r>
                        <a:rPr lang="ar-AE" sz="1200" b="0" i="0" u="none" strike="noStrike" cap="none">
                          <a:solidFill>
                            <a:schemeClr val="dk1"/>
                          </a:solidFill>
                          <a:latin typeface="Calibri"/>
                          <a:ea typeface="Calibri"/>
                          <a:cs typeface="Calibri"/>
                          <a:sym typeface="Calibri"/>
                        </a:rPr>
                        <m:t>=</m:t>
                      </m:r>
                      <m:f>
                        <m:fPr>
                          <m:ctrlPr>
                            <a:rPr lang="ar-AE" sz="1200" b="0" i="1" u="none" strike="noStrike" cap="none">
                              <a:solidFill>
                                <a:schemeClr val="dk1"/>
                              </a:solidFill>
                              <a:latin typeface="Calibri"/>
                              <a:ea typeface="Calibri"/>
                              <a:cs typeface="Calibri"/>
                              <a:sym typeface="Calibri"/>
                            </a:rPr>
                          </m:ctrlPr>
                        </m:fPr>
                        <m:num>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𝑞</m:t>
                              </m:r>
                            </m:e>
                            <m:sub>
                              <m:r>
                                <a:rPr lang="ar-AE" sz="1200" b="0" i="1" u="none" strike="noStrike" cap="none">
                                  <a:solidFill>
                                    <a:schemeClr val="dk1"/>
                                  </a:solidFill>
                                  <a:latin typeface="Calibri"/>
                                  <a:ea typeface="Calibri"/>
                                  <a:cs typeface="Calibri"/>
                                  <a:sym typeface="Calibri"/>
                                </a:rPr>
                                <m:t>𝑖</m:t>
                              </m:r>
                            </m:sub>
                          </m:sSub>
                          <m:r>
                            <a:rPr lang="ar-AE" sz="1200" b="0" i="0" u="none" strike="noStrike" cap="none">
                              <a:solidFill>
                                <a:schemeClr val="dk1"/>
                              </a:solidFill>
                              <a:latin typeface="Calibri"/>
                              <a:ea typeface="Calibri"/>
                              <a:cs typeface="Calibri"/>
                              <a:sym typeface="Calibri"/>
                            </a:rPr>
                            <m:t>⋅</m:t>
                          </m:r>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𝑘</m:t>
                              </m:r>
                            </m:e>
                            <m:sub>
                              <m:r>
                                <a:rPr lang="ar-AE" sz="1200" b="0" i="1" u="none" strike="noStrike" cap="none">
                                  <a:solidFill>
                                    <a:schemeClr val="dk1"/>
                                  </a:solidFill>
                                  <a:latin typeface="Calibri"/>
                                  <a:ea typeface="Calibri"/>
                                  <a:cs typeface="Calibri"/>
                                  <a:sym typeface="Calibri"/>
                                </a:rPr>
                                <m:t>𝑗</m:t>
                              </m:r>
                            </m:sub>
                          </m:sSub>
                        </m:num>
                        <m:den>
                          <m:rad>
                            <m:radPr>
                              <m:degHide m:val="on"/>
                              <m:ctrlPr>
                                <a:rPr lang="ar-AE" sz="1200" b="0" i="1" u="none" strike="noStrike" cap="none">
                                  <a:solidFill>
                                    <a:schemeClr val="dk1"/>
                                  </a:solidFill>
                                  <a:latin typeface="Calibri"/>
                                  <a:ea typeface="Calibri"/>
                                  <a:cs typeface="Calibri"/>
                                  <a:sym typeface="Calibri"/>
                                </a:rPr>
                              </m:ctrlPr>
                            </m:radPr>
                            <m:deg/>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𝑑</m:t>
                                  </m:r>
                                </m:e>
                                <m:sub>
                                  <m:r>
                                    <a:rPr lang="ar-AE" sz="1200" b="0" i="1" u="none" strike="noStrike" cap="none">
                                      <a:solidFill>
                                        <a:schemeClr val="dk1"/>
                                      </a:solidFill>
                                      <a:latin typeface="Calibri"/>
                                      <a:ea typeface="Calibri"/>
                                      <a:cs typeface="Calibri"/>
                                      <a:sym typeface="Calibri"/>
                                    </a:rPr>
                                    <m:t>𝑘</m:t>
                                  </m:r>
                                </m:sub>
                              </m:sSub>
                            </m:e>
                          </m:rad>
                        </m:den>
                      </m:f>
                    </m:oMath>
                  </m:oMathPara>
                </a14:m>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Scaling by </a:t>
                </a:r>
                <a14:m>
                  <m:oMath xmlns:m="http://schemas.openxmlformats.org/officeDocument/2006/math">
                    <m:rad>
                      <m:radPr>
                        <m:degHide m:val="on"/>
                        <m:ctrlPr>
                          <a:rPr lang="ar-AE" sz="1200" b="0" i="0" u="none" strike="noStrike" cap="none">
                            <a:solidFill>
                              <a:schemeClr val="dk1"/>
                            </a:solidFill>
                            <a:latin typeface="Calibri"/>
                            <a:ea typeface="Calibri"/>
                            <a:cs typeface="Calibri"/>
                            <a:sym typeface="Calibri"/>
                          </a:rPr>
                        </m:ctrlPr>
                      </m:radPr>
                      <m:deg/>
                      <m:e>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𝑑</m:t>
                            </m:r>
                          </m:e>
                          <m:sub>
                            <m:r>
                              <a:rPr lang="ar-AE" sz="1200" b="0" i="1" u="none" strike="noStrike" cap="none">
                                <a:solidFill>
                                  <a:schemeClr val="dk1"/>
                                </a:solidFill>
                                <a:latin typeface="Calibri"/>
                                <a:ea typeface="Calibri"/>
                                <a:cs typeface="Calibri"/>
                                <a:sym typeface="Calibri"/>
                              </a:rPr>
                              <m:t>𝑘</m:t>
                            </m:r>
                          </m:sub>
                        </m:sSub>
                      </m:e>
                    </m:rad>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helps prevent the dot product from becoming too large, which can lead to small gradients and slow learning.</a:t>
                </a:r>
              </a:p>
              <a:p>
                <a:r>
                  <a:rPr lang="en-US" sz="1200" b="1" i="0" u="none" strike="noStrike" cap="none" dirty="0">
                    <a:solidFill>
                      <a:schemeClr val="dk1"/>
                    </a:solidFill>
                    <a:effectLst/>
                    <a:latin typeface="Calibri"/>
                    <a:ea typeface="Calibri"/>
                    <a:cs typeface="Calibri"/>
                    <a:sym typeface="Calibri"/>
                  </a:rPr>
                  <a:t>Attention Weights: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scores are normalized using 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to produce attention weights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𝛼</m:t>
                        </m:r>
                      </m:e>
                      <m:sub>
                        <m:r>
                          <a:rPr lang="ar-AE" sz="1200" b="0" i="1" u="none" strike="noStrike" cap="none">
                            <a:solidFill>
                              <a:schemeClr val="dk1"/>
                            </a:solidFill>
                            <a:latin typeface="Calibri"/>
                            <a:ea typeface="Calibri"/>
                            <a:cs typeface="Calibri"/>
                            <a:sym typeface="Calibri"/>
                          </a:rPr>
                          <m:t>𝑖𝑗</m:t>
                        </m:r>
                      </m:sub>
                    </m:sSub>
                  </m:oMath>
                </a14:m>
                <a:r>
                  <a:rPr lang="ar-AE" sz="1200" b="0" i="0" u="none" strike="noStrike" cap="none" dirty="0">
                    <a:solidFill>
                      <a:schemeClr val="dk1"/>
                    </a:solidFill>
                    <a:effectLst/>
                    <a:latin typeface="Calibri"/>
                    <a:ea typeface="Calibri"/>
                    <a:cs typeface="Calibri"/>
                    <a:sym typeface="Calibri"/>
                  </a:rPr>
                  <a:t>:</a:t>
                </a:r>
                <a:br>
                  <a:rPr lang="ar-AE" sz="1200" b="0" i="0" u="none" strike="noStrike" cap="none" dirty="0">
                    <a:solidFill>
                      <a:schemeClr val="dk1"/>
                    </a:solidFill>
                    <a:effectLst/>
                    <a:latin typeface="Calibri"/>
                    <a:ea typeface="Calibri"/>
                    <a:cs typeface="Calibri"/>
                    <a:sym typeface="Calibri"/>
                  </a:rPr>
                </a:b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These weights determine the importance of each input vector in computing the output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a:t>
                </a:r>
              </a:p>
              <a:p>
                <a:r>
                  <a:rPr lang="en-US" sz="1200" b="1" i="0" u="none" strike="noStrike" cap="none" dirty="0">
                    <a:solidFill>
                      <a:schemeClr val="dk1"/>
                    </a:solidFill>
                    <a:effectLst/>
                    <a:latin typeface="Calibri"/>
                    <a:ea typeface="Calibri"/>
                    <a:cs typeface="Calibri"/>
                    <a:sym typeface="Calibri"/>
                  </a:rPr>
                  <a:t>Output Computation: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Weighted Sum of Values: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output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as a weighted sum of the value vectors, using the attention weights:</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𝑖</m:t>
                          </m:r>
                        </m:sub>
                      </m:sSub>
                      <m:r>
                        <a:rPr lang="ar-AE" sz="1200" b="0" i="0" u="none" strike="noStrike" cap="none">
                          <a:solidFill>
                            <a:schemeClr val="dk1"/>
                          </a:solidFill>
                          <a:latin typeface="Calibri"/>
                          <a:ea typeface="Calibri"/>
                          <a:cs typeface="Calibri"/>
                          <a:sym typeface="Calibri"/>
                        </a:rPr>
                        <m:t>=</m:t>
                      </m:r>
                      <m:nary>
                        <m:naryPr>
                          <m:chr m:val="∑"/>
                          <m:limLoc m:val="subSup"/>
                          <m:grow m:val="on"/>
                          <m:supHide m:val="on"/>
                          <m:ctrlPr>
                            <a:rPr lang="ar-AE" sz="1200" b="0" i="1" u="none" strike="noStrike" cap="none">
                              <a:solidFill>
                                <a:schemeClr val="dk1"/>
                              </a:solidFill>
                              <a:latin typeface="Calibri"/>
                              <a:ea typeface="Calibri"/>
                              <a:cs typeface="Calibri"/>
                              <a:sym typeface="Calibri"/>
                            </a:rPr>
                          </m:ctrlPr>
                        </m:naryPr>
                        <m:sub>
                          <m:r>
                            <a:rPr lang="ar-AE" sz="1200" b="0" i="1" u="none" strike="noStrike" cap="none">
                              <a:solidFill>
                                <a:schemeClr val="dk1"/>
                              </a:solidFill>
                              <a:latin typeface="Calibri"/>
                              <a:ea typeface="Calibri"/>
                              <a:cs typeface="Calibri"/>
                              <a:sym typeface="Calibri"/>
                            </a:rPr>
                            <m:t>𝑗</m:t>
                          </m:r>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𝑖</m:t>
                          </m:r>
                        </m:sub>
                        <m:sup/>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𝛼</m:t>
                              </m:r>
                            </m:e>
                            <m:sub>
                              <m:r>
                                <a:rPr lang="ar-AE" sz="1200" b="0" i="1" u="none" strike="noStrike" cap="none">
                                  <a:solidFill>
                                    <a:schemeClr val="dk1"/>
                                  </a:solidFill>
                                  <a:latin typeface="Calibri"/>
                                  <a:ea typeface="Calibri"/>
                                  <a:cs typeface="Calibri"/>
                                  <a:sym typeface="Calibri"/>
                                </a:rPr>
                                <m:t>𝑖𝑗</m:t>
                              </m:r>
                            </m:sub>
                          </m:sSub>
                        </m:e>
                      </m:nary>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𝑣</m:t>
                          </m:r>
                        </m:e>
                        <m:sub>
                          <m:r>
                            <a:rPr lang="ar-AE" sz="1200" b="0" i="1" u="none" strike="noStrike" cap="none">
                              <a:solidFill>
                                <a:schemeClr val="dk1"/>
                              </a:solidFill>
                              <a:latin typeface="Calibri"/>
                              <a:ea typeface="Calibri"/>
                              <a:cs typeface="Calibri"/>
                              <a:sym typeface="Calibri"/>
                            </a:rPr>
                            <m:t>𝑗</m:t>
                          </m:r>
                        </m:sub>
                      </m:sSub>
                    </m:oMath>
                  </m:oMathPara>
                </a14:m>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This operation integrates information from the entire sequence, focusing on the most relevant parts for each output.</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use of scaled dot-product attention allows the model to efficiently compute attention scores and outputs, capturing complex dependencies and relationships within sequences.</a:t>
                </a:r>
              </a:p>
              <a:p>
                <a:r>
                  <a:rPr lang="en-US" sz="1200" b="0" i="0" u="none" strike="noStrike" cap="none" dirty="0">
                    <a:solidFill>
                      <a:schemeClr val="dk1"/>
                    </a:solidFill>
                    <a:effectLst/>
                    <a:latin typeface="Calibri"/>
                    <a:ea typeface="Calibri"/>
                    <a:cs typeface="Calibri"/>
                    <a:sym typeface="Calibri"/>
                  </a:rPr>
                  <a:t>By transforming input vectors into queries, keys, and values, the model can dynamically adjust its focus, improving its ability to handle a wide range of tasks.</a:t>
                </a:r>
              </a:p>
              <a:p>
                <a:r>
                  <a:rPr lang="en-US" sz="1200" b="1" i="0" u="none" strike="noStrike" cap="none" dirty="0">
                    <a:solidFill>
                      <a:schemeClr val="dk1"/>
                    </a:solidFill>
                    <a:effectLst/>
                    <a:latin typeface="Calibri"/>
                    <a:ea typeface="Calibri"/>
                    <a:cs typeface="Calibri"/>
                    <a:sym typeface="Calibri"/>
                  </a:rPr>
                  <a:t>Historical Context: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In the original transformer model by Vaswani et al. (2017), the dimensionality </a:t>
                </a:r>
                <a14:m>
                  <m:oMath xmlns:m="http://schemas.openxmlformats.org/officeDocument/2006/math">
                    <m:r>
                      <a:rPr lang="en-US" sz="1200" b="0" i="1" u="none" strike="noStrike" cap="none">
                        <a:solidFill>
                          <a:schemeClr val="dk1"/>
                        </a:solidFill>
                        <a:latin typeface="Calibri"/>
                        <a:ea typeface="Calibri"/>
                        <a:cs typeface="Calibri"/>
                        <a:sym typeface="Calibri"/>
                      </a:rPr>
                      <m:t>𝑑</m:t>
                    </m:r>
                  </m:oMath>
                </a14:m>
                <a:r>
                  <a:rPr lang="en-US" sz="1200" b="0" i="0" u="none" strike="noStrike" cap="none" dirty="0">
                    <a:solidFill>
                      <a:schemeClr val="dk1"/>
                    </a:solidFill>
                    <a:effectLst/>
                    <a:latin typeface="Calibri"/>
                    <a:ea typeface="Calibri"/>
                    <a:cs typeface="Calibri"/>
                    <a:sym typeface="Calibri"/>
                  </a:rPr>
                  <a:t> was set to 1024, reflecting the model's capacity to capture detailed patterns and relationships.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detailed understanding of how self-attention operates within transformers, highlighting the importance of scaled dot-product attention in achieving efficient and effective sequence processing. This understanding is crucial for appreciating the transformative impact of transformers on modern AI research and applications.</a:t>
                </a:r>
              </a:p>
              <a:p>
                <a:pPr marL="0" lvl="0" indent="0" algn="l" rtl="0">
                  <a:lnSpc>
                    <a:spcPct val="100000"/>
                  </a:lnSpc>
                  <a:spcBef>
                    <a:spcPts val="0"/>
                  </a:spcBef>
                  <a:spcAft>
                    <a:spcPts val="0"/>
                  </a:spcAft>
                  <a:buSzPts val="1400"/>
                  <a:buNone/>
                </a:pPr>
                <a:endParaRPr dirty="0"/>
              </a:p>
            </p:txBody>
          </p:sp>
        </mc:Choice>
        <mc:Fallback>
          <p:sp>
            <p:nvSpPr>
              <p:cNvPr id="471" name="Google Shape;471;g2b8b5137f2c_0_2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Self-Attention Components: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Query, Key, and Value Transformations: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input vector </a:t>
                </a:r>
                <a:r>
                  <a:rPr lang="ar-AE" sz="1200" b="0" i="0" u="none" strike="noStrike" cap="none">
                    <a:solidFill>
                      <a:schemeClr val="dk1"/>
                    </a:solidFill>
                    <a:latin typeface="Calibri"/>
                    <a:ea typeface="Calibri"/>
                    <a:cs typeface="Calibri"/>
                    <a:sym typeface="Calibri"/>
                  </a:rPr>
                  <a:t>𝑥_𝑖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transformed into a query </a:t>
                </a:r>
                <a:r>
                  <a:rPr lang="ar-AE" sz="1200" b="0" i="0" u="none" strike="noStrike" cap="none">
                    <a:solidFill>
                      <a:schemeClr val="dk1"/>
                    </a:solidFill>
                    <a:latin typeface="Calibri"/>
                    <a:ea typeface="Calibri"/>
                    <a:cs typeface="Calibri"/>
                    <a:sym typeface="Calibri"/>
                  </a:rPr>
                  <a:t>𝑞_𝑖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key </a:t>
                </a:r>
                <a:r>
                  <a:rPr lang="ar-AE" sz="1200" b="0" i="0" u="none" strike="noStrike" cap="none">
                    <a:solidFill>
                      <a:schemeClr val="dk1"/>
                    </a:solidFill>
                    <a:latin typeface="Calibri"/>
                    <a:ea typeface="Calibri"/>
                    <a:cs typeface="Calibri"/>
                    <a:sym typeface="Calibri"/>
                  </a:rPr>
                  <a:t>𝑘_𝑖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value </a:t>
                </a:r>
                <a:r>
                  <a:rPr lang="ar-AE" sz="1200" b="0" i="0" u="none" strike="noStrike" cap="none">
                    <a:solidFill>
                      <a:schemeClr val="dk1"/>
                    </a:solidFill>
                    <a:latin typeface="Calibri"/>
                    <a:ea typeface="Calibri"/>
                    <a:cs typeface="Calibri"/>
                    <a:sym typeface="Calibri"/>
                  </a:rPr>
                  <a:t>𝑣_𝑖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using learnable weight matrices </a:t>
                </a:r>
                <a:r>
                  <a:rPr lang="ar-AE" sz="1200" b="0" i="0" u="none" strike="noStrike" cap="none">
                    <a:solidFill>
                      <a:schemeClr val="dk1"/>
                    </a:solidFill>
                    <a:latin typeface="Calibri"/>
                    <a:ea typeface="Calibri"/>
                    <a:cs typeface="Calibri"/>
                    <a:sym typeface="Calibri"/>
                  </a:rPr>
                  <a:t>𝑊^𝑄</a:t>
                </a:r>
                <a:r>
                  <a:rPr lang="ar-AE" sz="1200" b="0" i="0" u="none" strike="noStrike" cap="none" dirty="0">
                    <a:solidFill>
                      <a:schemeClr val="dk1"/>
                    </a:solidFill>
                    <a:effectLst/>
                    <a:latin typeface="Calibri"/>
                    <a:ea typeface="Calibri"/>
                    <a:cs typeface="Calibri"/>
                    <a:sym typeface="Calibri"/>
                  </a:rPr>
                  <a:t>, </a:t>
                </a:r>
                <a:r>
                  <a:rPr lang="ar-AE" sz="1200" b="0" i="0" u="none" strike="noStrike" cap="none">
                    <a:solidFill>
                      <a:schemeClr val="dk1"/>
                    </a:solidFill>
                    <a:latin typeface="Calibri"/>
                    <a:ea typeface="Calibri"/>
                    <a:cs typeface="Calibri"/>
                    <a:sym typeface="Calibri"/>
                  </a:rPr>
                  <a:t>𝑊^𝐾</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a:t>
                </a:r>
                <a:r>
                  <a:rPr lang="ar-AE" sz="1200" b="0" i="0" u="none" strike="noStrike" cap="none">
                    <a:solidFill>
                      <a:schemeClr val="dk1"/>
                    </a:solidFill>
                    <a:latin typeface="Calibri"/>
                    <a:ea typeface="Calibri"/>
                    <a:cs typeface="Calibri"/>
                    <a:sym typeface="Calibri"/>
                  </a:rPr>
                  <a:t>𝑊^𝑉</a:t>
                </a:r>
                <a:r>
                  <a:rPr lang="ar-AE" sz="1200" b="0" i="0" u="none" strike="noStrike" cap="none" dirty="0">
                    <a:solidFill>
                      <a:schemeClr val="dk1"/>
                    </a:solidFill>
                    <a:effectLst/>
                    <a:latin typeface="Calibri"/>
                    <a:ea typeface="Calibri"/>
                    <a:cs typeface="Calibri"/>
                    <a:sym typeface="Calibri"/>
                  </a:rPr>
                  <a:t>:</a:t>
                </a:r>
                <a:br>
                  <a:rPr lang="ar-AE" sz="1200" b="0" i="0" u="none" strike="noStrike" cap="none" dirty="0">
                    <a:solidFill>
                      <a:schemeClr val="dk1"/>
                    </a:solidFill>
                    <a:effectLst/>
                    <a:latin typeface="Calibri"/>
                    <a:ea typeface="Calibri"/>
                    <a:cs typeface="Calibri"/>
                    <a:sym typeface="Calibri"/>
                  </a:rPr>
                </a:br>
                <a:r>
                  <a:rPr lang="ar-AE" sz="1200" b="0" i="0" u="none" strike="noStrike" cap="none">
                    <a:solidFill>
                      <a:schemeClr val="dk1"/>
                    </a:solidFill>
                    <a:latin typeface="Calibri"/>
                    <a:ea typeface="Calibri"/>
                    <a:cs typeface="Calibri"/>
                    <a:sym typeface="Calibri"/>
                  </a:rPr>
                  <a:t>𝑞_𝑖=𝑊^𝑄 𝑥_𝑖, 𝑘_𝑖=𝑊^𝐾 𝑥_𝑖, 𝑣_𝑖=𝑊^𝑉 𝑥_𝑖</a:t>
                </a:r>
                <a:endParaRPr lang="ar-AE"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Scaled Dot-Product Attention: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Attention Score Calculation: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attention score between two input vectors </a:t>
                </a:r>
                <a:r>
                  <a:rPr lang="ar-AE" sz="1200" b="0" i="0" u="none" strike="noStrike" cap="none">
                    <a:solidFill>
                      <a:schemeClr val="dk1"/>
                    </a:solidFill>
                    <a:latin typeface="Calibri"/>
                    <a:ea typeface="Calibri"/>
                    <a:cs typeface="Calibri"/>
                    <a:sym typeface="Calibri"/>
                  </a:rPr>
                  <a:t>𝑥_𝑖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a:t>
                </a:r>
                <a:r>
                  <a:rPr lang="ar-AE" sz="1200" b="0" i="0" u="none" strike="noStrike" cap="none">
                    <a:solidFill>
                      <a:schemeClr val="dk1"/>
                    </a:solidFill>
                    <a:latin typeface="Calibri"/>
                    <a:ea typeface="Calibri"/>
                    <a:cs typeface="Calibri"/>
                    <a:sym typeface="Calibri"/>
                  </a:rPr>
                  <a:t>𝑥_𝑗</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calculated using the dot product of their query and key vectors, scaled by the square root of the dimensionality </a:t>
                </a:r>
                <a:r>
                  <a:rPr lang="ar-AE" sz="1200" b="0" i="0" u="none" strike="noStrike" cap="none">
                    <a:solidFill>
                      <a:schemeClr val="dk1"/>
                    </a:solidFill>
                    <a:latin typeface="Calibri"/>
                    <a:ea typeface="Calibri"/>
                    <a:cs typeface="Calibri"/>
                    <a:sym typeface="Calibri"/>
                  </a:rPr>
                  <a:t>𝑑_𝑘</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of the key vectors:</a:t>
                </a:r>
                <a:br>
                  <a:rPr lang="en-US" sz="1200" b="0" i="0" u="none" strike="noStrike" cap="none" dirty="0">
                    <a:solidFill>
                      <a:schemeClr val="dk1"/>
                    </a:solidFill>
                    <a:effectLst/>
                    <a:latin typeface="Calibri"/>
                    <a:ea typeface="Calibri"/>
                    <a:cs typeface="Calibri"/>
                    <a:sym typeface="Calibri"/>
                  </a:rPr>
                </a:br>
                <a:r>
                  <a:rPr lang="en-US" b="0" i="0">
                    <a:latin typeface="Cambria Math" panose="02040503050406030204" pitchFamily="18" charset="0"/>
                  </a:rPr>
                  <a:t>"score</a:t>
                </a:r>
                <a:r>
                  <a:rPr lang="ar-AE" sz="1200" b="0" i="0" u="none" strike="noStrike" cap="none">
                    <a:solidFill>
                      <a:schemeClr val="dk1"/>
                    </a:solidFill>
                    <a:sym typeface="Calibri"/>
                  </a:rPr>
                  <a:t>" </a:t>
                </a:r>
                <a:r>
                  <a:rPr lang="ar-AE" sz="1200" b="0" i="0" u="none" strike="noStrike" cap="none">
                    <a:solidFill>
                      <a:schemeClr val="dk1"/>
                    </a:solidFill>
                    <a:latin typeface="Calibri"/>
                    <a:ea typeface="Calibri"/>
                    <a:cs typeface="Calibri"/>
                    <a:sym typeface="Calibri"/>
                  </a:rPr>
                  <a:t>(</a:t>
                </a:r>
                <a:r>
                  <a:rPr lang="ar-AE" b="0" i="0"/>
                  <a:t>𝑥</a:t>
                </a:r>
                <a:r>
                  <a:rPr lang="ar-AE" sz="1200" b="0" i="0" u="none" strike="noStrike" cap="none">
                    <a:solidFill>
                      <a:schemeClr val="dk1"/>
                    </a:solidFill>
                    <a:sym typeface="Calibri"/>
                  </a:rPr>
                  <a:t>_</a:t>
                </a:r>
                <a:r>
                  <a:rPr lang="ar-AE" b="0" i="0"/>
                  <a:t>𝑖</a:t>
                </a:r>
                <a:r>
                  <a:rPr lang="ar-AE" sz="1200" b="0" i="0" u="none" strike="noStrike" cap="none">
                    <a:solidFill>
                      <a:schemeClr val="dk1"/>
                    </a:solidFill>
                    <a:sym typeface="Calibri"/>
                  </a:rPr>
                  <a:t>ⓜ,</a:t>
                </a:r>
                <a:r>
                  <a:rPr lang="ar-AE" sz="1200" b="0" i="0" u="none" strike="noStrike" cap="none">
                    <a:solidFill>
                      <a:schemeClr val="dk1"/>
                    </a:solidFill>
                    <a:latin typeface="Calibri"/>
                    <a:ea typeface="Calibri"/>
                    <a:cs typeface="Calibri"/>
                    <a:sym typeface="Calibri"/>
                  </a:rPr>
                  <a:t>𝑥_𝑗 )=(𝑞_𝑖⋅𝑘_𝑗)/√(𝑑_𝑘 )</a:t>
                </a: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Scaling by </a:t>
                </a:r>
                <a:r>
                  <a:rPr lang="ar-AE" sz="1200" b="0" i="0" u="none" strike="noStrike" cap="none">
                    <a:solidFill>
                      <a:schemeClr val="dk1"/>
                    </a:solidFill>
                    <a:latin typeface="Calibri"/>
                    <a:ea typeface="Calibri"/>
                    <a:cs typeface="Calibri"/>
                    <a:sym typeface="Calibri"/>
                  </a:rPr>
                  <a:t>√(𝑑_𝑘 )</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helps prevent the dot product from becoming too large, which can lead to small gradients and slow learning.</a:t>
                </a:r>
              </a:p>
              <a:p>
                <a:r>
                  <a:rPr lang="en-US" sz="1200" b="1" i="0" u="none" strike="noStrike" cap="none" dirty="0">
                    <a:solidFill>
                      <a:schemeClr val="dk1"/>
                    </a:solidFill>
                    <a:effectLst/>
                    <a:latin typeface="Calibri"/>
                    <a:ea typeface="Calibri"/>
                    <a:cs typeface="Calibri"/>
                    <a:sym typeface="Calibri"/>
                  </a:rPr>
                  <a:t>Attention Weights: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scores are normalized using 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to produce attention weights </a:t>
                </a:r>
                <a:r>
                  <a:rPr lang="ar-AE" sz="1200" b="0" i="0" u="none" strike="noStrike" cap="none">
                    <a:solidFill>
                      <a:schemeClr val="dk1"/>
                    </a:solidFill>
                    <a:latin typeface="Calibri"/>
                    <a:ea typeface="Calibri"/>
                    <a:cs typeface="Calibri"/>
                    <a:sym typeface="Calibri"/>
                  </a:rPr>
                  <a:t>𝛼_𝑖𝑗</a:t>
                </a:r>
                <a:r>
                  <a:rPr lang="ar-AE" sz="1200" b="0" i="0" u="none" strike="noStrike" cap="none" dirty="0">
                    <a:solidFill>
                      <a:schemeClr val="dk1"/>
                    </a:solidFill>
                    <a:effectLst/>
                    <a:latin typeface="Calibri"/>
                    <a:ea typeface="Calibri"/>
                    <a:cs typeface="Calibri"/>
                    <a:sym typeface="Calibri"/>
                  </a:rPr>
                  <a:t>:</a:t>
                </a:r>
                <a:br>
                  <a:rPr lang="ar-AE" sz="1200" b="0" i="0" u="none" strike="noStrike" cap="none" dirty="0">
                    <a:solidFill>
                      <a:schemeClr val="dk1"/>
                    </a:solidFill>
                    <a:effectLst/>
                    <a:latin typeface="Calibri"/>
                    <a:ea typeface="Calibri"/>
                    <a:cs typeface="Calibri"/>
                    <a:sym typeface="Calibri"/>
                  </a:rPr>
                </a:b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These weights determine the importance of each input vector in computing the output vector </a:t>
                </a:r>
                <a:r>
                  <a:rPr lang="ar-AE" sz="1200" b="0" i="0" u="none" strike="noStrike" cap="none">
                    <a:solidFill>
                      <a:schemeClr val="dk1"/>
                    </a:solidFill>
                    <a:latin typeface="Calibri"/>
                    <a:ea typeface="Calibri"/>
                    <a:cs typeface="Calibri"/>
                    <a:sym typeface="Calibri"/>
                  </a:rPr>
                  <a:t>𝑦_𝑖</a:t>
                </a:r>
                <a:r>
                  <a:rPr lang="ar-AE" sz="1200" b="0" i="0" u="none" strike="noStrike" cap="none" dirty="0">
                    <a:solidFill>
                      <a:schemeClr val="dk1"/>
                    </a:solidFill>
                    <a:effectLst/>
                    <a:latin typeface="Calibri"/>
                    <a:ea typeface="Calibri"/>
                    <a:cs typeface="Calibri"/>
                    <a:sym typeface="Calibri"/>
                  </a:rPr>
                  <a:t>.</a:t>
                </a:r>
              </a:p>
              <a:p>
                <a:r>
                  <a:rPr lang="en-US" sz="1200" b="1" i="0" u="none" strike="noStrike" cap="none" dirty="0">
                    <a:solidFill>
                      <a:schemeClr val="dk1"/>
                    </a:solidFill>
                    <a:effectLst/>
                    <a:latin typeface="Calibri"/>
                    <a:ea typeface="Calibri"/>
                    <a:cs typeface="Calibri"/>
                    <a:sym typeface="Calibri"/>
                  </a:rPr>
                  <a:t>Output Computation: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Weighted Sum of Values: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output vector </a:t>
                </a:r>
                <a:r>
                  <a:rPr lang="ar-AE" sz="1200" b="0" i="0" u="none" strike="noStrike" cap="none">
                    <a:solidFill>
                      <a:schemeClr val="dk1"/>
                    </a:solidFill>
                    <a:latin typeface="Calibri"/>
                    <a:ea typeface="Calibri"/>
                    <a:cs typeface="Calibri"/>
                    <a:sym typeface="Calibri"/>
                  </a:rPr>
                  <a:t>𝑦_𝑖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as a weighted sum of the value vectors, using the attention weights:</a:t>
                </a:r>
                <a:br>
                  <a:rPr lang="en-US" sz="1200" b="0" i="0" u="none" strike="noStrike" cap="none" dirty="0">
                    <a:solidFill>
                      <a:schemeClr val="dk1"/>
                    </a:solidFill>
                    <a:effectLst/>
                    <a:latin typeface="Calibri"/>
                    <a:ea typeface="Calibri"/>
                    <a:cs typeface="Calibri"/>
                    <a:sym typeface="Calibri"/>
                  </a:rPr>
                </a:br>
                <a:r>
                  <a:rPr lang="ar-AE" sz="1200" b="0" i="0" u="none" strike="noStrike" cap="none">
                    <a:solidFill>
                      <a:schemeClr val="dk1"/>
                    </a:solidFill>
                    <a:latin typeface="Calibri"/>
                    <a:ea typeface="Calibri"/>
                    <a:cs typeface="Calibri"/>
                    <a:sym typeface="Calibri"/>
                  </a:rPr>
                  <a:t>𝑦_𝑖=∑130_(𝑗≤𝑖)▒𝛼_𝑖𝑗  𝑣_𝑗</a:t>
                </a: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This operation integrates information from the entire sequence, focusing on the most relevant parts for each output.</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use of scaled dot-product attention allows the model to efficiently compute attention scores and outputs, capturing complex dependencies and relationships within sequences.</a:t>
                </a:r>
              </a:p>
              <a:p>
                <a:r>
                  <a:rPr lang="en-US" sz="1200" b="0" i="0" u="none" strike="noStrike" cap="none" dirty="0">
                    <a:solidFill>
                      <a:schemeClr val="dk1"/>
                    </a:solidFill>
                    <a:effectLst/>
                    <a:latin typeface="Calibri"/>
                    <a:ea typeface="Calibri"/>
                    <a:cs typeface="Calibri"/>
                    <a:sym typeface="Calibri"/>
                  </a:rPr>
                  <a:t>By transforming input vectors into queries, keys, and values, the model can dynamically adjust its focus, improving its ability to handle a wide range of tasks.</a:t>
                </a:r>
              </a:p>
              <a:p>
                <a:r>
                  <a:rPr lang="en-US" sz="1200" b="1" i="0" u="none" strike="noStrike" cap="none" dirty="0">
                    <a:solidFill>
                      <a:schemeClr val="dk1"/>
                    </a:solidFill>
                    <a:effectLst/>
                    <a:latin typeface="Calibri"/>
                    <a:ea typeface="Calibri"/>
                    <a:cs typeface="Calibri"/>
                    <a:sym typeface="Calibri"/>
                  </a:rPr>
                  <a:t>Historical Context: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In the original transformer model by Vaswani et al. (2017), the dimensionality </a:t>
                </a:r>
                <a:r>
                  <a:rPr lang="en-US" sz="1200" b="0" i="0" u="none" strike="noStrike" cap="none">
                    <a:solidFill>
                      <a:schemeClr val="dk1"/>
                    </a:solidFill>
                    <a:latin typeface="Calibri"/>
                    <a:ea typeface="Calibri"/>
                    <a:cs typeface="Calibri"/>
                    <a:sym typeface="Calibri"/>
                  </a:rPr>
                  <a:t>𝑑</a:t>
                </a:r>
                <a:r>
                  <a:rPr lang="en-US" sz="1200" b="0" i="0" u="none" strike="noStrike" cap="none" dirty="0">
                    <a:solidFill>
                      <a:schemeClr val="dk1"/>
                    </a:solidFill>
                    <a:effectLst/>
                    <a:latin typeface="Calibri"/>
                    <a:ea typeface="Calibri"/>
                    <a:cs typeface="Calibri"/>
                    <a:sym typeface="Calibri"/>
                  </a:rPr>
                  <a:t> was set to 1024, reflecting the model's capacity to capture detailed patterns and relationships.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detailed understanding of how self-attention operates within transformers, highlighting the importance of scaled dot-product attention in achieving efficient and effective sequence processing. This understanding is crucial for appreciating the transformative impact of transformers on modern AI research and applications.</a:t>
                </a:r>
              </a:p>
              <a:p>
                <a:pPr marL="0" lvl="0" indent="0" algn="l" rtl="0">
                  <a:lnSpc>
                    <a:spcPct val="100000"/>
                  </a:lnSpc>
                  <a:spcBef>
                    <a:spcPts val="0"/>
                  </a:spcBef>
                  <a:spcAft>
                    <a:spcPts val="0"/>
                  </a:spcAft>
                  <a:buSzPts val="1400"/>
                  <a:buNone/>
                </a:pPr>
                <a:endParaRPr dirty="0"/>
              </a:p>
            </p:txBody>
          </p:sp>
        </mc:Fallback>
      </mc:AlternateContent>
      <p:sp>
        <p:nvSpPr>
          <p:cNvPr id="472" name="Google Shape;472;g2b8b5137f2c_0_2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b8b5137f2c_0_2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494" name="Google Shape;494;g2b8b5137f2c_0_2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Self-Attention Process: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Independent Computation: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output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independently, allowing for parallel processing of the entire sequence.</a:t>
                </a:r>
              </a:p>
              <a:p>
                <a:pPr lvl="1"/>
                <a:r>
                  <a:rPr lang="en-US" sz="1200" b="0" i="0" u="none" strike="noStrike" cap="none" dirty="0">
                    <a:solidFill>
                      <a:schemeClr val="dk1"/>
                    </a:solidFill>
                    <a:effectLst/>
                    <a:latin typeface="Calibri"/>
                    <a:ea typeface="Calibri"/>
                    <a:cs typeface="Calibri"/>
                    <a:sym typeface="Calibri"/>
                  </a:rPr>
                  <a:t>This independence is a key advantage of transformers over recurrent models, which require sequential processing.</a:t>
                </a:r>
              </a:p>
              <a:p>
                <a:r>
                  <a:rPr lang="en-US" sz="1200" b="1" i="0" u="none" strike="noStrike" cap="none" dirty="0">
                    <a:solidFill>
                      <a:schemeClr val="dk1"/>
                    </a:solidFill>
                    <a:effectLst/>
                    <a:latin typeface="Calibri"/>
                    <a:ea typeface="Calibri"/>
                    <a:cs typeface="Calibri"/>
                    <a:sym typeface="Calibri"/>
                  </a:rPr>
                  <a:t>Causal Self-Attention: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diagram shows the calculation of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0" u="none" strike="noStrike" cap="none">
                            <a:solidFill>
                              <a:schemeClr val="dk1"/>
                            </a:solidFill>
                            <a:latin typeface="Calibri"/>
                            <a:ea typeface="Calibri"/>
                            <a:cs typeface="Calibri"/>
                            <a:sym typeface="Calibri"/>
                          </a:rPr>
                          <m:t>3</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the third element in the sequence, using causal self-attention.</a:t>
                </a:r>
              </a:p>
              <a:p>
                <a:pPr lvl="1"/>
                <a:r>
                  <a:rPr lang="en-US" sz="1200" b="0" i="0" u="none" strike="noStrike" cap="none" dirty="0">
                    <a:solidFill>
                      <a:schemeClr val="dk1"/>
                    </a:solidFill>
                    <a:effectLst/>
                    <a:latin typeface="Calibri"/>
                    <a:ea typeface="Calibri"/>
                    <a:cs typeface="Calibri"/>
                    <a:sym typeface="Calibri"/>
                  </a:rPr>
                  <a:t>Causal self-attention ensures that each output only attends to previous and current inputs, maintaining the left-to-right order necessary for tasks like language modeling.</a:t>
                </a:r>
              </a:p>
              <a:p>
                <a:r>
                  <a:rPr lang="en-US" sz="1200" b="1" i="0" u="none" strike="noStrike" cap="none" dirty="0">
                    <a:solidFill>
                      <a:schemeClr val="dk1"/>
                    </a:solidFill>
                    <a:effectLst/>
                    <a:latin typeface="Calibri"/>
                    <a:ea typeface="Calibri"/>
                    <a:cs typeface="Calibri"/>
                    <a:sym typeface="Calibri"/>
                  </a:rPr>
                  <a:t>Steps in the Diagram:</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Generate Key, Query, and Value Vectors: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For each input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generate the corresponding key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𝑘</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query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𝑞</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value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𝑣</m:t>
                        </m:r>
                      </m:e>
                      <m:sub>
                        <m:r>
                          <a:rPr lang="ar-AE" sz="1200" b="0" i="1" u="none" strike="noStrike" cap="none">
                            <a:solidFill>
                              <a:schemeClr val="dk1"/>
                            </a:solidFill>
                            <a:latin typeface="Calibri"/>
                            <a:ea typeface="Calibri"/>
                            <a:cs typeface="Calibri"/>
                            <a:sym typeface="Calibri"/>
                          </a:rPr>
                          <m:t>𝑖</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vectors using learnable weight matrices.</a:t>
                </a:r>
              </a:p>
              <a:p>
                <a:r>
                  <a:rPr lang="en-US" sz="1200" b="1" i="0" u="none" strike="noStrike" cap="none" dirty="0">
                    <a:solidFill>
                      <a:schemeClr val="dk1"/>
                    </a:solidFill>
                    <a:effectLst/>
                    <a:latin typeface="Calibri"/>
                    <a:ea typeface="Calibri"/>
                    <a:cs typeface="Calibri"/>
                    <a:sym typeface="Calibri"/>
                  </a:rPr>
                  <a:t>Key/Query Comparisons: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Compute the attention scores by comparing the query vector of the current element with the key vectors of all preceding elements.</a:t>
                </a:r>
              </a:p>
              <a:p>
                <a:r>
                  <a:rPr lang="en-US" sz="1200" b="1" i="0" u="none" strike="noStrike" cap="none" dirty="0" err="1">
                    <a:solidFill>
                      <a:schemeClr val="dk1"/>
                    </a:solidFill>
                    <a:effectLst/>
                    <a:latin typeface="Calibri"/>
                    <a:ea typeface="Calibri"/>
                    <a:cs typeface="Calibri"/>
                    <a:sym typeface="Calibri"/>
                  </a:rPr>
                  <a:t>Softmax</a:t>
                </a:r>
                <a:r>
                  <a:rPr lang="en-US" sz="1200" b="1" i="0" u="none" strike="noStrike" cap="none" dirty="0">
                    <a:solidFill>
                      <a:schemeClr val="dk1"/>
                    </a:solidFill>
                    <a:effectLst/>
                    <a:latin typeface="Calibri"/>
                    <a:ea typeface="Calibri"/>
                    <a:cs typeface="Calibri"/>
                    <a:sym typeface="Calibri"/>
                  </a:rPr>
                  <a:t> Normalization: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Apply 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to the attention scores to obtain attention weights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𝛼</m:t>
                        </m:r>
                      </m:e>
                      <m:sub>
                        <m:r>
                          <a:rPr lang="ar-AE" sz="1200" b="0" i="1" u="none" strike="noStrike" cap="none">
                            <a:solidFill>
                              <a:schemeClr val="dk1"/>
                            </a:solidFill>
                            <a:latin typeface="Calibri"/>
                            <a:ea typeface="Calibri"/>
                            <a:cs typeface="Calibri"/>
                            <a:sym typeface="Calibri"/>
                          </a:rPr>
                          <m:t>𝑖</m:t>
                        </m:r>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𝑗</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which indicate the relevance of each input to the current output.</a:t>
                </a:r>
              </a:p>
              <a:p>
                <a:r>
                  <a:rPr lang="en-US" sz="1200" b="1" i="0" u="none" strike="noStrike" cap="none" dirty="0">
                    <a:solidFill>
                      <a:schemeClr val="dk1"/>
                    </a:solidFill>
                    <a:effectLst/>
                    <a:latin typeface="Calibri"/>
                    <a:ea typeface="Calibri"/>
                    <a:cs typeface="Calibri"/>
                    <a:sym typeface="Calibri"/>
                  </a:rPr>
                  <a:t>Weight and Sum Value Vectors: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Compute the output vector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0" u="none" strike="noStrike" cap="none">
                            <a:solidFill>
                              <a:schemeClr val="dk1"/>
                            </a:solidFill>
                            <a:latin typeface="Calibri"/>
                            <a:ea typeface="Calibri"/>
                            <a:cs typeface="Calibri"/>
                            <a:sym typeface="Calibri"/>
                          </a:rPr>
                          <m:t>3</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as a weighted sum of the value vectors, using the attention weights to focus on the most relevant inputs.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ability to compute each output independently and in parallel makes transformers highly efficient and scalable, enabling them to handle large sequences and complex tasks effectively.</a:t>
                </a:r>
              </a:p>
              <a:p>
                <a:r>
                  <a:rPr lang="en-US" sz="1200" b="0" i="0" u="none" strike="noStrike" cap="none" dirty="0">
                    <a:solidFill>
                      <a:schemeClr val="dk1"/>
                    </a:solidFill>
                    <a:effectLst/>
                    <a:latin typeface="Calibri"/>
                    <a:ea typeface="Calibri"/>
                    <a:cs typeface="Calibri"/>
                    <a:sym typeface="Calibri"/>
                  </a:rPr>
                  <a:t>Causal self-attention ensures that the model respects the sequential nature of certain tasks, such as language modeling, where future information should not influence current predictions.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clear visualization of the self-attention process in transformers, emphasizing the efficiency and flexibility of the architecture. Understanding this process is crucial for appreciating how transformers achieve state-of-the-art performance in various natural language processing tasks.</a:t>
                </a:r>
              </a:p>
              <a:p>
                <a:pPr marL="0" lvl="0" indent="0" algn="l" rtl="0">
                  <a:lnSpc>
                    <a:spcPct val="100000"/>
                  </a:lnSpc>
                  <a:spcBef>
                    <a:spcPts val="0"/>
                  </a:spcBef>
                  <a:spcAft>
                    <a:spcPts val="0"/>
                  </a:spcAft>
                  <a:buSzPts val="1400"/>
                  <a:buNone/>
                </a:pPr>
                <a:endParaRPr dirty="0"/>
              </a:p>
            </p:txBody>
          </p:sp>
        </mc:Choice>
        <mc:Fallback>
          <p:sp>
            <p:nvSpPr>
              <p:cNvPr id="494" name="Google Shape;494;g2b8b5137f2c_0_2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Self-Attention Process: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Independent Computation: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output vector </a:t>
                </a:r>
                <a:r>
                  <a:rPr lang="ar-AE" sz="1200" b="0" i="0" u="none" strike="noStrike" cap="none">
                    <a:solidFill>
                      <a:schemeClr val="dk1"/>
                    </a:solidFill>
                    <a:latin typeface="Calibri"/>
                    <a:ea typeface="Calibri"/>
                    <a:cs typeface="Calibri"/>
                    <a:sym typeface="Calibri"/>
                  </a:rPr>
                  <a:t>𝑦_𝑖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independently, allowing for parallel processing of the entire sequence.</a:t>
                </a:r>
              </a:p>
              <a:p>
                <a:pPr lvl="1"/>
                <a:r>
                  <a:rPr lang="en-US" sz="1200" b="0" i="0" u="none" strike="noStrike" cap="none" dirty="0">
                    <a:solidFill>
                      <a:schemeClr val="dk1"/>
                    </a:solidFill>
                    <a:effectLst/>
                    <a:latin typeface="Calibri"/>
                    <a:ea typeface="Calibri"/>
                    <a:cs typeface="Calibri"/>
                    <a:sym typeface="Calibri"/>
                  </a:rPr>
                  <a:t>This independence is a key advantage of transformers over recurrent models, which require sequential processing.</a:t>
                </a:r>
              </a:p>
              <a:p>
                <a:r>
                  <a:rPr lang="en-US" sz="1200" b="1" i="0" u="none" strike="noStrike" cap="none" dirty="0">
                    <a:solidFill>
                      <a:schemeClr val="dk1"/>
                    </a:solidFill>
                    <a:effectLst/>
                    <a:latin typeface="Calibri"/>
                    <a:ea typeface="Calibri"/>
                    <a:cs typeface="Calibri"/>
                    <a:sym typeface="Calibri"/>
                  </a:rPr>
                  <a:t>Causal Self-Attention: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diagram shows the calculation of </a:t>
                </a:r>
                <a:r>
                  <a:rPr lang="ar-AE" sz="1200" b="0" i="0" u="none" strike="noStrike" cap="none">
                    <a:solidFill>
                      <a:schemeClr val="dk1"/>
                    </a:solidFill>
                    <a:latin typeface="Calibri"/>
                    <a:ea typeface="Calibri"/>
                    <a:cs typeface="Calibri"/>
                    <a:sym typeface="Calibri"/>
                  </a:rPr>
                  <a:t>𝑦_3</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the third element in the sequence, using causal self-attention.</a:t>
                </a:r>
              </a:p>
              <a:p>
                <a:pPr lvl="1"/>
                <a:r>
                  <a:rPr lang="en-US" sz="1200" b="0" i="0" u="none" strike="noStrike" cap="none" dirty="0">
                    <a:solidFill>
                      <a:schemeClr val="dk1"/>
                    </a:solidFill>
                    <a:effectLst/>
                    <a:latin typeface="Calibri"/>
                    <a:ea typeface="Calibri"/>
                    <a:cs typeface="Calibri"/>
                    <a:sym typeface="Calibri"/>
                  </a:rPr>
                  <a:t>Causal self-attention ensures that each output only attends to previous and current inputs, maintaining the left-to-right order necessary for tasks like language modeling.</a:t>
                </a:r>
              </a:p>
              <a:p>
                <a:r>
                  <a:rPr lang="en-US" sz="1200" b="1" i="0" u="none" strike="noStrike" cap="none" dirty="0">
                    <a:solidFill>
                      <a:schemeClr val="dk1"/>
                    </a:solidFill>
                    <a:effectLst/>
                    <a:latin typeface="Calibri"/>
                    <a:ea typeface="Calibri"/>
                    <a:cs typeface="Calibri"/>
                    <a:sym typeface="Calibri"/>
                  </a:rPr>
                  <a:t>Steps in the Diagram:</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Generate Key, Query, and Value Vectors: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For each input </a:t>
                </a:r>
                <a:r>
                  <a:rPr lang="ar-AE" sz="1200" b="0" i="0" u="none" strike="noStrike" cap="none">
                    <a:solidFill>
                      <a:schemeClr val="dk1"/>
                    </a:solidFill>
                    <a:latin typeface="Calibri"/>
                    <a:ea typeface="Calibri"/>
                    <a:cs typeface="Calibri"/>
                    <a:sym typeface="Calibri"/>
                  </a:rPr>
                  <a:t>𝑥_𝑖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generate the corresponding key </a:t>
                </a:r>
                <a:r>
                  <a:rPr lang="ar-AE" sz="1200" b="0" i="0" u="none" strike="noStrike" cap="none">
                    <a:solidFill>
                      <a:schemeClr val="dk1"/>
                    </a:solidFill>
                    <a:latin typeface="Calibri"/>
                    <a:ea typeface="Calibri"/>
                    <a:cs typeface="Calibri"/>
                    <a:sym typeface="Calibri"/>
                  </a:rPr>
                  <a:t>𝑘_𝑖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query </a:t>
                </a:r>
                <a:r>
                  <a:rPr lang="ar-AE" sz="1200" b="0" i="0" u="none" strike="noStrike" cap="none">
                    <a:solidFill>
                      <a:schemeClr val="dk1"/>
                    </a:solidFill>
                    <a:latin typeface="Calibri"/>
                    <a:ea typeface="Calibri"/>
                    <a:cs typeface="Calibri"/>
                    <a:sym typeface="Calibri"/>
                  </a:rPr>
                  <a:t>𝑞_𝑖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value </a:t>
                </a:r>
                <a:r>
                  <a:rPr lang="ar-AE" sz="1200" b="0" i="0" u="none" strike="noStrike" cap="none">
                    <a:solidFill>
                      <a:schemeClr val="dk1"/>
                    </a:solidFill>
                    <a:latin typeface="Calibri"/>
                    <a:ea typeface="Calibri"/>
                    <a:cs typeface="Calibri"/>
                    <a:sym typeface="Calibri"/>
                  </a:rPr>
                  <a:t>𝑣_𝑖</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vectors using learnable weight matrices.</a:t>
                </a:r>
              </a:p>
              <a:p>
                <a:r>
                  <a:rPr lang="en-US" sz="1200" b="1" i="0" u="none" strike="noStrike" cap="none" dirty="0">
                    <a:solidFill>
                      <a:schemeClr val="dk1"/>
                    </a:solidFill>
                    <a:effectLst/>
                    <a:latin typeface="Calibri"/>
                    <a:ea typeface="Calibri"/>
                    <a:cs typeface="Calibri"/>
                    <a:sym typeface="Calibri"/>
                  </a:rPr>
                  <a:t>Key/Query Comparisons: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Compute the attention scores by comparing the query vector of the current element with the key vectors of all preceding elements.</a:t>
                </a:r>
              </a:p>
              <a:p>
                <a:r>
                  <a:rPr lang="en-US" sz="1200" b="1" i="0" u="none" strike="noStrike" cap="none" dirty="0" err="1">
                    <a:solidFill>
                      <a:schemeClr val="dk1"/>
                    </a:solidFill>
                    <a:effectLst/>
                    <a:latin typeface="Calibri"/>
                    <a:ea typeface="Calibri"/>
                    <a:cs typeface="Calibri"/>
                    <a:sym typeface="Calibri"/>
                  </a:rPr>
                  <a:t>Softmax</a:t>
                </a:r>
                <a:r>
                  <a:rPr lang="en-US" sz="1200" b="1" i="0" u="none" strike="noStrike" cap="none" dirty="0">
                    <a:solidFill>
                      <a:schemeClr val="dk1"/>
                    </a:solidFill>
                    <a:effectLst/>
                    <a:latin typeface="Calibri"/>
                    <a:ea typeface="Calibri"/>
                    <a:cs typeface="Calibri"/>
                    <a:sym typeface="Calibri"/>
                  </a:rPr>
                  <a:t> Normalization: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Apply 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to the attention scores to obtain attention weights </a:t>
                </a:r>
                <a:r>
                  <a:rPr lang="ar-AE" sz="1200" b="0" i="0" u="none" strike="noStrike" cap="none">
                    <a:solidFill>
                      <a:schemeClr val="dk1"/>
                    </a:solidFill>
                    <a:latin typeface="Calibri"/>
                    <a:ea typeface="Calibri"/>
                    <a:cs typeface="Calibri"/>
                    <a:sym typeface="Calibri"/>
                  </a:rPr>
                  <a:t>𝛼_(𝑖,𝑗)</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which indicate the relevance of each input to the current output.</a:t>
                </a:r>
              </a:p>
              <a:p>
                <a:r>
                  <a:rPr lang="en-US" sz="1200" b="1" i="0" u="none" strike="noStrike" cap="none" dirty="0">
                    <a:solidFill>
                      <a:schemeClr val="dk1"/>
                    </a:solidFill>
                    <a:effectLst/>
                    <a:latin typeface="Calibri"/>
                    <a:ea typeface="Calibri"/>
                    <a:cs typeface="Calibri"/>
                    <a:sym typeface="Calibri"/>
                  </a:rPr>
                  <a:t>Weight and Sum Value Vectors: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Compute the output vector </a:t>
                </a:r>
                <a:r>
                  <a:rPr lang="ar-AE" sz="1200" b="0" i="0" u="none" strike="noStrike" cap="none">
                    <a:solidFill>
                      <a:schemeClr val="dk1"/>
                    </a:solidFill>
                    <a:latin typeface="Calibri"/>
                    <a:ea typeface="Calibri"/>
                    <a:cs typeface="Calibri"/>
                    <a:sym typeface="Calibri"/>
                  </a:rPr>
                  <a:t>𝑦_3</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as a weighted sum of the value vectors, using the attention weights to focus on the most relevant inputs.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ability to compute each output independently and in parallel makes transformers highly efficient and scalable, enabling them to handle large sequences and complex tasks effectively.</a:t>
                </a:r>
              </a:p>
              <a:p>
                <a:r>
                  <a:rPr lang="en-US" sz="1200" b="0" i="0" u="none" strike="noStrike" cap="none" dirty="0">
                    <a:solidFill>
                      <a:schemeClr val="dk1"/>
                    </a:solidFill>
                    <a:effectLst/>
                    <a:latin typeface="Calibri"/>
                    <a:ea typeface="Calibri"/>
                    <a:cs typeface="Calibri"/>
                    <a:sym typeface="Calibri"/>
                  </a:rPr>
                  <a:t>Causal self-attention ensures that the model respects the sequential nature of certain tasks, such as language modeling, where future information should not influence current predictions.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clear visualization of the self-attention process in transformers, emphasizing the efficiency and flexibility of the architecture. Understanding this process is crucial for appreciating how transformers achieve state-of-the-art performance in various natural language processing tasks.</a:t>
                </a:r>
              </a:p>
              <a:p>
                <a:pPr marL="0" lvl="0" indent="0" algn="l" rtl="0">
                  <a:lnSpc>
                    <a:spcPct val="100000"/>
                  </a:lnSpc>
                  <a:spcBef>
                    <a:spcPts val="0"/>
                  </a:spcBef>
                  <a:spcAft>
                    <a:spcPts val="0"/>
                  </a:spcAft>
                  <a:buSzPts val="1400"/>
                  <a:buNone/>
                </a:pPr>
                <a:endParaRPr dirty="0"/>
              </a:p>
            </p:txBody>
          </p:sp>
        </mc:Fallback>
      </mc:AlternateContent>
      <p:sp>
        <p:nvSpPr>
          <p:cNvPr id="495" name="Google Shape;495;g2b8b5137f2c_0_2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2b8b5137f2c_0_2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 name="Google Shape;504;g2b8b5137f2c_0_2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5" name="Google Shape;505;g2b8b5137f2c_0_2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b8b5137f2c_0_2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514" name="Google Shape;514;g2b8b5137f2c_0_2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Self-Attention Formula:</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self-attention mechanism is computed using the formula:</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r>
                        <m:rPr>
                          <m:nor/>
                        </m:rPr>
                        <a:rPr lang="en-US" b="0"/>
                        <m:t>SelfAttention</m:t>
                      </m:r>
                      <m:d>
                        <m:dPr>
                          <m:sepChr m:val=","/>
                          <m:ctrlPr>
                            <a:rPr lang="ar-AE" sz="1200" b="0" i="1" u="none" strike="noStrike" cap="none">
                              <a:solidFill>
                                <a:schemeClr val="dk1"/>
                              </a:solidFill>
                              <a:latin typeface="Calibri"/>
                              <a:ea typeface="Calibri"/>
                              <a:cs typeface="Calibri"/>
                              <a:sym typeface="Calibri"/>
                            </a:rPr>
                          </m:ctrlPr>
                        </m:dPr>
                        <m:e>
                          <m:r>
                            <a:rPr lang="ar-AE" b="0" i="1"/>
                            <m:t>𝑄</m:t>
                          </m:r>
                        </m:e>
                        <m:e>
                          <m:r>
                            <a:rPr lang="ar-AE" b="0" i="1"/>
                            <m:t>𝐾</m:t>
                          </m:r>
                        </m:e>
                        <m:e>
                          <m:r>
                            <a:rPr lang="ar-AE" b="0" i="1"/>
                            <m:t>𝑉</m:t>
                          </m:r>
                        </m:e>
                      </m:d>
                      <m:r>
                        <a:rPr lang="ar-AE" sz="1200" b="0" i="0" u="none" strike="noStrike" cap="none">
                          <a:solidFill>
                            <a:schemeClr val="dk1"/>
                          </a:solidFill>
                          <a:latin typeface="Calibri"/>
                          <a:ea typeface="Calibri"/>
                          <a:cs typeface="Calibri"/>
                          <a:sym typeface="Calibri"/>
                        </a:rPr>
                        <m:t>=</m:t>
                      </m:r>
                      <m:r>
                        <m:rPr>
                          <m:nor/>
                        </m:rPr>
                        <a:rPr lang="en-US" sz="1200" b="0" i="1" u="none" strike="noStrike" cap="none">
                          <a:solidFill>
                            <a:schemeClr val="dk1"/>
                          </a:solidFill>
                          <a:latin typeface="Calibri"/>
                          <a:ea typeface="Calibri"/>
                          <a:cs typeface="Calibri"/>
                          <a:sym typeface="Calibri"/>
                        </a:rPr>
                        <m:t>softmax</m:t>
                      </m:r>
                      <m:d>
                        <m:dPr>
                          <m:ctrlPr>
                            <a:rPr lang="ar-AE" sz="1200" b="0" i="1" u="none" strike="noStrike" cap="none">
                              <a:solidFill>
                                <a:schemeClr val="dk1"/>
                              </a:solidFill>
                              <a:latin typeface="Calibri"/>
                              <a:ea typeface="Calibri"/>
                              <a:cs typeface="Calibri"/>
                              <a:sym typeface="Calibri"/>
                            </a:rPr>
                          </m:ctrlPr>
                        </m:dPr>
                        <m:e>
                          <m:f>
                            <m:fPr>
                              <m:ctrlPr>
                                <a:rPr lang="ar-AE" sz="1200" b="0" i="1" u="none" strike="noStrike" cap="none">
                                  <a:solidFill>
                                    <a:schemeClr val="dk1"/>
                                  </a:solidFill>
                                  <a:latin typeface="Calibri"/>
                                  <a:ea typeface="Calibri"/>
                                  <a:cs typeface="Calibri"/>
                                  <a:sym typeface="Calibri"/>
                                </a:rPr>
                              </m:ctrlPr>
                            </m:fPr>
                            <m:num>
                              <m:r>
                                <a:rPr lang="ar-AE" sz="1200" b="0" i="1" u="none" strike="noStrike" cap="none">
                                  <a:solidFill>
                                    <a:schemeClr val="dk1"/>
                                  </a:solidFill>
                                  <a:latin typeface="Calibri"/>
                                  <a:ea typeface="Calibri"/>
                                  <a:cs typeface="Calibri"/>
                                  <a:sym typeface="Calibri"/>
                                </a:rPr>
                                <m:t>𝑄</m:t>
                              </m:r>
                              <m:sSup>
                                <m:sSupPr>
                                  <m:ctrlPr>
                                    <a:rPr lang="ar-AE" sz="1200" b="0" i="1"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𝐾</m:t>
                                  </m:r>
                                </m:e>
                                <m:sup>
                                  <m:r>
                                    <a:rPr lang="ar-AE" sz="1200" b="0" i="1" u="none" strike="noStrike" cap="none">
                                      <a:solidFill>
                                        <a:schemeClr val="dk1"/>
                                      </a:solidFill>
                                      <a:latin typeface="Calibri"/>
                                      <a:ea typeface="Calibri"/>
                                      <a:cs typeface="Calibri"/>
                                      <a:sym typeface="Calibri"/>
                                    </a:rPr>
                                    <m:t>𝑇</m:t>
                                  </m:r>
                                </m:sup>
                              </m:sSup>
                            </m:num>
                            <m:den>
                              <m:rad>
                                <m:radPr>
                                  <m:degHide m:val="on"/>
                                  <m:ctrlPr>
                                    <a:rPr lang="ar-AE" sz="1200" b="0" i="1" u="none" strike="noStrike" cap="none">
                                      <a:solidFill>
                                        <a:schemeClr val="dk1"/>
                                      </a:solidFill>
                                      <a:latin typeface="Calibri"/>
                                      <a:ea typeface="Calibri"/>
                                      <a:cs typeface="Calibri"/>
                                      <a:sym typeface="Calibri"/>
                                    </a:rPr>
                                  </m:ctrlPr>
                                </m:radPr>
                                <m:deg/>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𝑑</m:t>
                                      </m:r>
                                    </m:e>
                                    <m:sub>
                                      <m:r>
                                        <a:rPr lang="ar-AE" sz="1200" b="0" i="1" u="none" strike="noStrike" cap="none">
                                          <a:solidFill>
                                            <a:schemeClr val="dk1"/>
                                          </a:solidFill>
                                          <a:latin typeface="Calibri"/>
                                          <a:ea typeface="Calibri"/>
                                          <a:cs typeface="Calibri"/>
                                          <a:sym typeface="Calibri"/>
                                        </a:rPr>
                                        <m:t>𝑘</m:t>
                                      </m:r>
                                    </m:sub>
                                  </m:sSub>
                                </m:e>
                              </m:rad>
                            </m:den>
                          </m:f>
                        </m:e>
                      </m:d>
                      <m:r>
                        <a:rPr lang="ar-AE" sz="1200" b="0" i="1" u="none" strike="noStrike" cap="none">
                          <a:solidFill>
                            <a:schemeClr val="dk1"/>
                          </a:solidFill>
                          <a:latin typeface="Calibri"/>
                          <a:ea typeface="Calibri"/>
                          <a:cs typeface="Calibri"/>
                          <a:sym typeface="Calibri"/>
                        </a:rPr>
                        <m:t>𝑉</m:t>
                      </m:r>
                    </m:oMath>
                  </m:oMathPara>
                </a14:m>
                <a:endParaRPr lang="ar-AE"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Here, </a:t>
                </a:r>
                <a14:m>
                  <m:oMath xmlns:m="http://schemas.openxmlformats.org/officeDocument/2006/math">
                    <m:r>
                      <a:rPr lang="en-US" sz="1200" b="0" i="1" u="none" strike="noStrike" cap="none">
                        <a:solidFill>
                          <a:schemeClr val="dk1"/>
                        </a:solidFill>
                        <a:latin typeface="Calibri"/>
                        <a:ea typeface="Calibri"/>
                        <a:cs typeface="Calibri"/>
                        <a:sym typeface="Calibri"/>
                      </a:rPr>
                      <m:t>𝑄</m:t>
                    </m:r>
                  </m:oMath>
                </a14:m>
                <a:r>
                  <a:rPr lang="en-US" sz="1200" b="0" i="0" u="none" strike="noStrike" cap="none" dirty="0">
                    <a:solidFill>
                      <a:schemeClr val="dk1"/>
                    </a:solidFill>
                    <a:effectLst/>
                    <a:latin typeface="Calibri"/>
                    <a:ea typeface="Calibri"/>
                    <a:cs typeface="Calibri"/>
                    <a:sym typeface="Calibri"/>
                  </a:rPr>
                  <a:t>, </a:t>
                </a:r>
                <a14:m>
                  <m:oMath xmlns:m="http://schemas.openxmlformats.org/officeDocument/2006/math">
                    <m:r>
                      <a:rPr lang="en-US" sz="1200" b="0" i="1" u="none" strike="noStrike" cap="none">
                        <a:solidFill>
                          <a:schemeClr val="dk1"/>
                        </a:solidFill>
                        <a:latin typeface="Calibri"/>
                        <a:ea typeface="Calibri"/>
                        <a:cs typeface="Calibri"/>
                        <a:sym typeface="Calibri"/>
                      </a:rPr>
                      <m:t>𝐾</m:t>
                    </m:r>
                  </m:oMath>
                </a14:m>
                <a:r>
                  <a:rPr lang="en-US" sz="1200" b="0" i="0" u="none" strike="noStrike" cap="none" dirty="0">
                    <a:solidFill>
                      <a:schemeClr val="dk1"/>
                    </a:solidFill>
                    <a:effectLst/>
                    <a:latin typeface="Calibri"/>
                    <a:ea typeface="Calibri"/>
                    <a:cs typeface="Calibri"/>
                    <a:sym typeface="Calibri"/>
                  </a:rPr>
                  <a:t>, and </a:t>
                </a:r>
                <a14:m>
                  <m:oMath xmlns:m="http://schemas.openxmlformats.org/officeDocument/2006/math">
                    <m:r>
                      <a:rPr lang="en-US" sz="1200" b="0" i="1" u="none" strike="noStrike" cap="none">
                        <a:solidFill>
                          <a:schemeClr val="dk1"/>
                        </a:solidFill>
                        <a:latin typeface="Calibri"/>
                        <a:ea typeface="Calibri"/>
                        <a:cs typeface="Calibri"/>
                        <a:sym typeface="Calibri"/>
                      </a:rPr>
                      <m:t>𝑉</m:t>
                    </m:r>
                  </m:oMath>
                </a14:m>
                <a:r>
                  <a:rPr lang="en-US" sz="1200" b="0" i="0" u="none" strike="noStrike" cap="none" dirty="0">
                    <a:solidFill>
                      <a:schemeClr val="dk1"/>
                    </a:solidFill>
                    <a:effectLst/>
                    <a:latin typeface="Calibri"/>
                    <a:ea typeface="Calibri"/>
                    <a:cs typeface="Calibri"/>
                    <a:sym typeface="Calibri"/>
                  </a:rPr>
                  <a:t> are the query, key, and value matrices, respectively, and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𝑑</m:t>
                        </m:r>
                      </m:e>
                      <m:sub>
                        <m:r>
                          <a:rPr lang="ar-AE" sz="1200" b="0" i="1" u="none" strike="noStrike" cap="none">
                            <a:solidFill>
                              <a:schemeClr val="dk1"/>
                            </a:solidFill>
                            <a:latin typeface="Calibri"/>
                            <a:ea typeface="Calibri"/>
                            <a:cs typeface="Calibri"/>
                            <a:sym typeface="Calibri"/>
                          </a:rPr>
                          <m:t>𝑘</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the dimensionality of the key vectors.</a:t>
                </a:r>
              </a:p>
              <a:p>
                <a:r>
                  <a:rPr lang="en-US" sz="1200" b="1" i="0" u="none" strike="noStrike" cap="none" dirty="0">
                    <a:solidFill>
                      <a:schemeClr val="dk1"/>
                    </a:solidFill>
                    <a:effectLst/>
                    <a:latin typeface="Calibri"/>
                    <a:ea typeface="Calibri"/>
                    <a:cs typeface="Calibri"/>
                    <a:sym typeface="Calibri"/>
                  </a:rPr>
                  <a:t>Matrix Operations: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Dot Product </a:t>
                </a:r>
                <a14:m>
                  <m:oMath xmlns:m="http://schemas.openxmlformats.org/officeDocument/2006/math">
                    <m:r>
                      <a:rPr lang="en-US" sz="1200" b="0" i="1" u="none" strike="noStrike" cap="none">
                        <a:solidFill>
                          <a:schemeClr val="dk1"/>
                        </a:solidFill>
                        <a:latin typeface="Calibri"/>
                        <a:ea typeface="Calibri"/>
                        <a:cs typeface="Calibri"/>
                        <a:sym typeface="Calibri"/>
                      </a:rPr>
                      <m:t>𝑄</m:t>
                    </m:r>
                    <m:sSup>
                      <m:sSupPr>
                        <m:ctrlPr>
                          <a:rPr lang="ar-AE" sz="1200" b="0" i="1"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𝐾</m:t>
                        </m:r>
                      </m:e>
                      <m:sup>
                        <m:r>
                          <a:rPr lang="ar-AE" sz="1200" b="0" i="1" u="none" strike="noStrike" cap="none">
                            <a:solidFill>
                              <a:schemeClr val="dk1"/>
                            </a:solidFill>
                            <a:latin typeface="Calibri"/>
                            <a:ea typeface="Calibri"/>
                            <a:cs typeface="Calibri"/>
                            <a:sym typeface="Calibri"/>
                          </a:rPr>
                          <m:t>𝑇</m:t>
                        </m:r>
                      </m:sup>
                    </m:sSup>
                  </m:oMath>
                </a14:m>
                <a:r>
                  <a:rPr lang="ar-AE" sz="1200" b="1" i="0" u="none" strike="noStrike" cap="none" dirty="0">
                    <a:solidFill>
                      <a:schemeClr val="dk1"/>
                    </a:solidFill>
                    <a:effectLst/>
                    <a:latin typeface="Calibri"/>
                    <a:ea typeface="Calibri"/>
                    <a:cs typeface="Calibri"/>
                    <a:sym typeface="Calibri"/>
                  </a:rPr>
                  <a:t>:</a:t>
                </a: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matrix </a:t>
                </a:r>
                <a14:m>
                  <m:oMath xmlns:m="http://schemas.openxmlformats.org/officeDocument/2006/math">
                    <m:r>
                      <a:rPr lang="en-US" sz="1200" b="0" i="1" u="none" strike="noStrike" cap="none">
                        <a:solidFill>
                          <a:schemeClr val="dk1"/>
                        </a:solidFill>
                        <a:latin typeface="Calibri"/>
                        <a:ea typeface="Calibri"/>
                        <a:cs typeface="Calibri"/>
                        <a:sym typeface="Calibri"/>
                      </a:rPr>
                      <m:t>𝑄</m:t>
                    </m:r>
                    <m:sSup>
                      <m:sSupPr>
                        <m:ctrlPr>
                          <a:rPr lang="ar-AE" sz="1200" b="0" i="1"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𝐾</m:t>
                        </m:r>
                      </m:e>
                      <m:sup>
                        <m:r>
                          <a:rPr lang="ar-AE" sz="1200" b="0" i="1" u="none" strike="noStrike" cap="none">
                            <a:solidFill>
                              <a:schemeClr val="dk1"/>
                            </a:solidFill>
                            <a:latin typeface="Calibri"/>
                            <a:ea typeface="Calibri"/>
                            <a:cs typeface="Calibri"/>
                            <a:sym typeface="Calibri"/>
                          </a:rPr>
                          <m:t>𝑇</m:t>
                        </m:r>
                      </m:sup>
                    </m:sSup>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by taking the dot product of the query matrix </a:t>
                </a:r>
                <a14:m>
                  <m:oMath xmlns:m="http://schemas.openxmlformats.org/officeDocument/2006/math">
                    <m:r>
                      <a:rPr lang="en-US" sz="1200" b="0" i="1" u="none" strike="noStrike" cap="none">
                        <a:solidFill>
                          <a:schemeClr val="dk1"/>
                        </a:solidFill>
                        <a:latin typeface="Calibri"/>
                        <a:ea typeface="Calibri"/>
                        <a:cs typeface="Calibri"/>
                        <a:sym typeface="Calibri"/>
                      </a:rPr>
                      <m:t>𝑄</m:t>
                    </m:r>
                  </m:oMath>
                </a14:m>
                <a:r>
                  <a:rPr lang="en-US" sz="1200" b="0" i="0" u="none" strike="noStrike" cap="none" dirty="0">
                    <a:solidFill>
                      <a:schemeClr val="dk1"/>
                    </a:solidFill>
                    <a:effectLst/>
                    <a:latin typeface="Calibri"/>
                    <a:ea typeface="Calibri"/>
                    <a:cs typeface="Calibri"/>
                    <a:sym typeface="Calibri"/>
                  </a:rPr>
                  <a:t> and the transpose of the key matrix </a:t>
                </a:r>
                <a14:m>
                  <m:oMath xmlns:m="http://schemas.openxmlformats.org/officeDocument/2006/math">
                    <m:r>
                      <a:rPr lang="en-US" sz="1200" b="0" i="1" u="none" strike="noStrike" cap="none">
                        <a:solidFill>
                          <a:schemeClr val="dk1"/>
                        </a:solidFill>
                        <a:latin typeface="Calibri"/>
                        <a:ea typeface="Calibri"/>
                        <a:cs typeface="Calibri"/>
                        <a:sym typeface="Calibri"/>
                      </a:rPr>
                      <m:t>𝐾</m:t>
                    </m:r>
                  </m:oMath>
                </a14:m>
                <a:r>
                  <a:rPr lang="en-US"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Each element </a:t>
                </a:r>
                <a14:m>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𝑞</m:t>
                        </m:r>
                      </m:e>
                      <m:sub>
                        <m:r>
                          <a:rPr lang="ar-AE" sz="1200" b="0" i="1" u="none" strike="noStrike" cap="none">
                            <a:solidFill>
                              <a:schemeClr val="dk1"/>
                            </a:solidFill>
                            <a:latin typeface="Calibri"/>
                            <a:ea typeface="Calibri"/>
                            <a:cs typeface="Calibri"/>
                            <a:sym typeface="Calibri"/>
                          </a:rPr>
                          <m:t>𝑖</m:t>
                        </m:r>
                      </m:sub>
                    </m:sSub>
                    <m:r>
                      <a:rPr lang="ar-AE" sz="1200" b="0" i="0" u="none" strike="noStrike" cap="none">
                        <a:solidFill>
                          <a:schemeClr val="dk1"/>
                        </a:solidFill>
                        <a:latin typeface="Calibri"/>
                        <a:ea typeface="Calibri"/>
                        <a:cs typeface="Calibri"/>
                        <a:sym typeface="Calibri"/>
                      </a:rPr>
                      <m:t>⋅</m:t>
                    </m:r>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𝑘</m:t>
                        </m:r>
                      </m:e>
                      <m:sub>
                        <m:r>
                          <a:rPr lang="ar-AE" sz="1200" b="0" i="1" u="none" strike="noStrike" cap="none">
                            <a:solidFill>
                              <a:schemeClr val="dk1"/>
                            </a:solidFill>
                            <a:latin typeface="Calibri"/>
                            <a:ea typeface="Calibri"/>
                            <a:cs typeface="Calibri"/>
                            <a:sym typeface="Calibri"/>
                          </a:rPr>
                          <m:t>𝑗</m:t>
                        </m:r>
                      </m:sub>
                    </m:sSub>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in the matrix represents the attention score between the </a:t>
                </a:r>
                <a14:m>
                  <m:oMath xmlns:m="http://schemas.openxmlformats.org/officeDocument/2006/math">
                    <m:r>
                      <a:rPr lang="en-US" sz="1200" b="0" i="1" u="none" strike="noStrike" cap="none">
                        <a:solidFill>
                          <a:schemeClr val="dk1"/>
                        </a:solidFill>
                        <a:latin typeface="Calibri"/>
                        <a:ea typeface="Calibri"/>
                        <a:cs typeface="Calibri"/>
                        <a:sym typeface="Calibri"/>
                      </a:rPr>
                      <m:t>𝑖</m:t>
                    </m:r>
                  </m:oMath>
                </a14:m>
                <a:r>
                  <a:rPr lang="en-US" sz="1200" b="0" i="0" u="none" strike="noStrike" cap="none" dirty="0">
                    <a:solidFill>
                      <a:schemeClr val="dk1"/>
                    </a:solidFill>
                    <a:effectLst/>
                    <a:latin typeface="Calibri"/>
                    <a:ea typeface="Calibri"/>
                    <a:cs typeface="Calibri"/>
                    <a:sym typeface="Calibri"/>
                  </a:rPr>
                  <a:t>-</a:t>
                </a:r>
                <a:r>
                  <a:rPr lang="en-US" sz="1200" b="0" i="0" u="none" strike="noStrike" cap="none" dirty="0" err="1">
                    <a:solidFill>
                      <a:schemeClr val="dk1"/>
                    </a:solidFill>
                    <a:effectLst/>
                    <a:latin typeface="Calibri"/>
                    <a:ea typeface="Calibri"/>
                    <a:cs typeface="Calibri"/>
                    <a:sym typeface="Calibri"/>
                  </a:rPr>
                  <a:t>th</a:t>
                </a:r>
                <a:r>
                  <a:rPr lang="en-US" sz="1200" b="0" i="0" u="none" strike="noStrike" cap="none" dirty="0">
                    <a:solidFill>
                      <a:schemeClr val="dk1"/>
                    </a:solidFill>
                    <a:effectLst/>
                    <a:latin typeface="Calibri"/>
                    <a:ea typeface="Calibri"/>
                    <a:cs typeface="Calibri"/>
                    <a:sym typeface="Calibri"/>
                  </a:rPr>
                  <a:t> query and the </a:t>
                </a:r>
                <a14:m>
                  <m:oMath xmlns:m="http://schemas.openxmlformats.org/officeDocument/2006/math">
                    <m:r>
                      <a:rPr lang="en-US" sz="1200" b="0" i="1" u="none" strike="noStrike" cap="none">
                        <a:solidFill>
                          <a:schemeClr val="dk1"/>
                        </a:solidFill>
                        <a:latin typeface="Calibri"/>
                        <a:ea typeface="Calibri"/>
                        <a:cs typeface="Calibri"/>
                        <a:sym typeface="Calibri"/>
                      </a:rPr>
                      <m:t>𝑗</m:t>
                    </m:r>
                  </m:oMath>
                </a14:m>
                <a:r>
                  <a:rPr lang="en-US" sz="1200" b="0" i="0" u="none" strike="noStrike" cap="none" dirty="0">
                    <a:solidFill>
                      <a:schemeClr val="dk1"/>
                    </a:solidFill>
                    <a:effectLst/>
                    <a:latin typeface="Calibri"/>
                    <a:ea typeface="Calibri"/>
                    <a:cs typeface="Calibri"/>
                    <a:sym typeface="Calibri"/>
                  </a:rPr>
                  <a:t>-</a:t>
                </a:r>
                <a:r>
                  <a:rPr lang="en-US" sz="1200" b="0" i="0" u="none" strike="noStrike" cap="none" dirty="0" err="1">
                    <a:solidFill>
                      <a:schemeClr val="dk1"/>
                    </a:solidFill>
                    <a:effectLst/>
                    <a:latin typeface="Calibri"/>
                    <a:ea typeface="Calibri"/>
                    <a:cs typeface="Calibri"/>
                    <a:sym typeface="Calibri"/>
                  </a:rPr>
                  <a:t>th</a:t>
                </a:r>
                <a:r>
                  <a:rPr lang="en-US" sz="1200" b="0" i="0" u="none" strike="noStrike" cap="none" dirty="0">
                    <a:solidFill>
                      <a:schemeClr val="dk1"/>
                    </a:solidFill>
                    <a:effectLst/>
                    <a:latin typeface="Calibri"/>
                    <a:ea typeface="Calibri"/>
                    <a:cs typeface="Calibri"/>
                    <a:sym typeface="Calibri"/>
                  </a:rPr>
                  <a:t> key.</a:t>
                </a:r>
              </a:p>
              <a:p>
                <a:r>
                  <a:rPr lang="en-US" sz="1200" b="1" i="0" u="none" strike="noStrike" cap="none" dirty="0">
                    <a:solidFill>
                      <a:schemeClr val="dk1"/>
                    </a:solidFill>
                    <a:effectLst/>
                    <a:latin typeface="Calibri"/>
                    <a:ea typeface="Calibri"/>
                    <a:cs typeface="Calibri"/>
                    <a:sym typeface="Calibri"/>
                  </a:rPr>
                  <a:t>Scaling: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scores are scaled by </a:t>
                </a:r>
                <a14:m>
                  <m:oMath xmlns:m="http://schemas.openxmlformats.org/officeDocument/2006/math">
                    <m:rad>
                      <m:radPr>
                        <m:degHide m:val="on"/>
                        <m:ctrlPr>
                          <a:rPr lang="ar-AE" sz="1200" b="0" i="0" u="none" strike="noStrike" cap="none">
                            <a:solidFill>
                              <a:schemeClr val="dk1"/>
                            </a:solidFill>
                            <a:latin typeface="Calibri"/>
                            <a:ea typeface="Calibri"/>
                            <a:cs typeface="Calibri"/>
                            <a:sym typeface="Calibri"/>
                          </a:rPr>
                        </m:ctrlPr>
                      </m:radPr>
                      <m:deg/>
                      <m:e>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𝑑</m:t>
                            </m:r>
                          </m:e>
                          <m:sub>
                            <m:r>
                              <a:rPr lang="ar-AE" sz="1200" b="0" i="1" u="none" strike="noStrike" cap="none">
                                <a:solidFill>
                                  <a:schemeClr val="dk1"/>
                                </a:solidFill>
                                <a:latin typeface="Calibri"/>
                                <a:ea typeface="Calibri"/>
                                <a:cs typeface="Calibri"/>
                                <a:sym typeface="Calibri"/>
                              </a:rPr>
                              <m:t>𝑘</m:t>
                            </m:r>
                          </m:sub>
                        </m:sSub>
                      </m:e>
                    </m:rad>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to prevent them from becoming too large, which can lead to small gradients and slow learning.</a:t>
                </a:r>
              </a:p>
              <a:p>
                <a:r>
                  <a:rPr lang="en-US" sz="1200" b="1" i="0" u="none" strike="noStrike" cap="none" dirty="0" err="1">
                    <a:solidFill>
                      <a:schemeClr val="dk1"/>
                    </a:solidFill>
                    <a:effectLst/>
                    <a:latin typeface="Calibri"/>
                    <a:ea typeface="Calibri"/>
                    <a:cs typeface="Calibri"/>
                    <a:sym typeface="Calibri"/>
                  </a:rPr>
                  <a:t>Softmax</a:t>
                </a:r>
                <a:r>
                  <a:rPr lang="en-US" sz="1200" b="1" i="0" u="none" strike="noStrike" cap="none" dirty="0">
                    <a:solidFill>
                      <a:schemeClr val="dk1"/>
                    </a:solidFill>
                    <a:effectLst/>
                    <a:latin typeface="Calibri"/>
                    <a:ea typeface="Calibri"/>
                    <a:cs typeface="Calibri"/>
                    <a:sym typeface="Calibri"/>
                  </a:rPr>
                  <a:t> Normalization: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scaled scores are passed through 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to produce attention weights, which sum to 1 for each query.</a:t>
                </a:r>
              </a:p>
              <a:p>
                <a:r>
                  <a:rPr lang="en-US" sz="1200" b="1" i="0" u="none" strike="noStrike" cap="none" dirty="0">
                    <a:solidFill>
                      <a:schemeClr val="dk1"/>
                    </a:solidFill>
                    <a:effectLst/>
                    <a:latin typeface="Calibri"/>
                    <a:ea typeface="Calibri"/>
                    <a:cs typeface="Calibri"/>
                    <a:sym typeface="Calibri"/>
                  </a:rPr>
                  <a:t>Weighted Sum of Values: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attention weights are used to compute a weighted sum of the value vectors, resulting in the final output of the self-attention mechanism.</a:t>
                </a:r>
              </a:p>
              <a:p>
                <a:r>
                  <a:rPr lang="en-US" sz="1200" b="1" i="0" u="none" strike="noStrike" cap="none" dirty="0">
                    <a:solidFill>
                      <a:schemeClr val="dk1"/>
                    </a:solidFill>
                    <a:effectLst/>
                    <a:latin typeface="Calibri"/>
                    <a:ea typeface="Calibri"/>
                    <a:cs typeface="Calibri"/>
                    <a:sym typeface="Calibri"/>
                  </a:rPr>
                  <a:t>Causal Attention: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Masking Future Positions: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In tasks like language modeling, where causal (left-to-right) attention is required, the upper-triangle portion of the </a:t>
                </a:r>
                <a14:m>
                  <m:oMath xmlns:m="http://schemas.openxmlformats.org/officeDocument/2006/math">
                    <m:r>
                      <a:rPr lang="en-US" sz="1200" b="0" i="1" u="none" strike="noStrike" cap="none">
                        <a:solidFill>
                          <a:schemeClr val="dk1"/>
                        </a:solidFill>
                        <a:latin typeface="Calibri"/>
                        <a:ea typeface="Calibri"/>
                        <a:cs typeface="Calibri"/>
                        <a:sym typeface="Calibri"/>
                      </a:rPr>
                      <m:t>𝑄</m:t>
                    </m:r>
                    <m:sSup>
                      <m:sSupPr>
                        <m:ctrlPr>
                          <a:rPr lang="ar-AE" sz="1200" b="0" i="1"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𝐾</m:t>
                        </m:r>
                      </m:e>
                      <m:sup>
                        <m:r>
                          <a:rPr lang="ar-AE" sz="1200" b="0" i="1" u="none" strike="noStrike" cap="none">
                            <a:solidFill>
                              <a:schemeClr val="dk1"/>
                            </a:solidFill>
                            <a:latin typeface="Calibri"/>
                            <a:ea typeface="Calibri"/>
                            <a:cs typeface="Calibri"/>
                            <a:sym typeface="Calibri"/>
                          </a:rPr>
                          <m:t>𝑇</m:t>
                        </m:r>
                      </m:sup>
                    </m:sSup>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matrix is masked (set to </a:t>
                </a:r>
                <a14:m>
                  <m:oMath xmlns:m="http://schemas.openxmlformats.org/officeDocument/2006/math">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m:t>
                    </m:r>
                  </m:oMath>
                </a14:m>
                <a:r>
                  <a:rPr lang="en-US"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This ensures that each position in the sequence only attends to previous and current positions, preventing information leakage from future tokens.</a:t>
                </a:r>
              </a:p>
              <a:p>
                <a:pPr lvl="1"/>
                <a:r>
                  <a:rPr lang="en-US" sz="1200" b="0" i="0" u="none" strike="noStrike" cap="none" dirty="0">
                    <a:solidFill>
                      <a:schemeClr val="dk1"/>
                    </a:solidFill>
                    <a:effectLst/>
                    <a:latin typeface="Calibri"/>
                    <a:ea typeface="Calibri"/>
                    <a:cs typeface="Calibri"/>
                    <a:sym typeface="Calibri"/>
                  </a:rPr>
                  <a:t>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turns these masked positions into zeros, effectively ignoring them in the attention computation.</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use of matrix operations allows for efficient computation of self-attention, leveraging the power of linear algebra to handle large sequences and complex dependencies.</a:t>
                </a:r>
              </a:p>
              <a:p>
                <a:r>
                  <a:rPr lang="en-US" sz="1200" b="0" i="0" u="none" strike="noStrike" cap="none" dirty="0">
                    <a:solidFill>
                      <a:schemeClr val="dk1"/>
                    </a:solidFill>
                    <a:effectLst/>
                    <a:latin typeface="Calibri"/>
                    <a:ea typeface="Calibri"/>
                    <a:cs typeface="Calibri"/>
                    <a:sym typeface="Calibri"/>
                  </a:rPr>
                  <a:t>Masking is a crucial technique for ensuring the correct flow of information in tasks that require sequential processing.</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detailed understanding of the self-attention computation in transformers, highlighting the importance of matrix operations and masking in achieving efficient and effective sequence processing. This understanding is essential for appreciating the design and performance advantages of transformers in handling a wide range of natural language processing tasks.</a:t>
                </a:r>
              </a:p>
              <a:p>
                <a:pPr marL="0" lvl="0" indent="0" algn="l" rtl="0">
                  <a:lnSpc>
                    <a:spcPct val="100000"/>
                  </a:lnSpc>
                  <a:spcBef>
                    <a:spcPts val="0"/>
                  </a:spcBef>
                  <a:spcAft>
                    <a:spcPts val="0"/>
                  </a:spcAft>
                  <a:buSzPts val="1400"/>
                  <a:buNone/>
                </a:pPr>
                <a:endParaRPr dirty="0"/>
              </a:p>
            </p:txBody>
          </p:sp>
        </mc:Choice>
        <mc:Fallback>
          <p:sp>
            <p:nvSpPr>
              <p:cNvPr id="514" name="Google Shape;514;g2b8b5137f2c_0_2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Self-Attention Formula:</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self-attention mechanism is computed using the formula:</a:t>
                </a:r>
                <a:br>
                  <a:rPr lang="en-US" sz="1200" b="0" i="0" u="none" strike="noStrike" cap="none" dirty="0">
                    <a:solidFill>
                      <a:schemeClr val="dk1"/>
                    </a:solidFill>
                    <a:effectLst/>
                    <a:latin typeface="Calibri"/>
                    <a:ea typeface="Calibri"/>
                    <a:cs typeface="Calibri"/>
                    <a:sym typeface="Calibri"/>
                  </a:rPr>
                </a:br>
                <a:r>
                  <a:rPr lang="en-US" b="0" i="0">
                    <a:latin typeface="Cambria Math" panose="02040503050406030204" pitchFamily="18" charset="0"/>
                  </a:rPr>
                  <a:t>"SelfAttention</a:t>
                </a:r>
                <a:r>
                  <a:rPr lang="ar-AE" sz="1200" b="0" i="0" u="none" strike="noStrike" cap="none">
                    <a:solidFill>
                      <a:schemeClr val="dk1"/>
                    </a:solidFill>
                    <a:sym typeface="Calibri"/>
                  </a:rPr>
                  <a:t>" </a:t>
                </a:r>
                <a:r>
                  <a:rPr lang="ar-AE" sz="1200" b="0" i="0" u="none" strike="noStrike" cap="none">
                    <a:solidFill>
                      <a:schemeClr val="dk1"/>
                    </a:solidFill>
                    <a:latin typeface="Calibri"/>
                    <a:ea typeface="Calibri"/>
                    <a:cs typeface="Calibri"/>
                    <a:sym typeface="Calibri"/>
                  </a:rPr>
                  <a:t>(</a:t>
                </a:r>
                <a:r>
                  <a:rPr lang="ar-AE" b="0" i="0"/>
                  <a:t>𝑄</a:t>
                </a:r>
                <a:r>
                  <a:rPr lang="ar-AE" sz="1200" b="0" i="0" u="none" strike="noStrike" cap="none">
                    <a:solidFill>
                      <a:schemeClr val="dk1"/>
                    </a:solidFill>
                    <a:sym typeface="Calibri"/>
                  </a:rPr>
                  <a:t>ⓜ,</a:t>
                </a:r>
                <a:r>
                  <a:rPr lang="ar-AE" b="0" i="0"/>
                  <a:t>𝐾</a:t>
                </a:r>
                <a:r>
                  <a:rPr lang="ar-AE" sz="1200" b="0" i="0" u="none" strike="noStrike" cap="none">
                    <a:solidFill>
                      <a:schemeClr val="dk1"/>
                    </a:solidFill>
                    <a:sym typeface="Calibri"/>
                  </a:rPr>
                  <a:t>ⓜ,</a:t>
                </a:r>
                <a:r>
                  <a:rPr lang="ar-AE" b="0" i="0"/>
                  <a:t>𝑉</a:t>
                </a:r>
                <a:r>
                  <a:rPr lang="ar-AE" sz="1200" b="0" i="0" u="none" strike="noStrike" cap="none">
                    <a:solidFill>
                      <a:schemeClr val="dk1"/>
                    </a:solidFill>
                    <a:sym typeface="Calibri"/>
                  </a:rPr>
                  <a:t>)</a:t>
                </a:r>
                <a:r>
                  <a:rPr lang="ar-AE" sz="1200" b="0" i="0" u="none" strike="noStrike" cap="none">
                    <a:solidFill>
                      <a:schemeClr val="dk1"/>
                    </a:solidFill>
                    <a:latin typeface="Calibri"/>
                    <a:ea typeface="Calibri"/>
                    <a:cs typeface="Calibri"/>
                    <a:sym typeface="Calibri"/>
                  </a:rPr>
                  <a:t>=</a:t>
                </a:r>
                <a:r>
                  <a:rPr lang="en-US" sz="1200" b="0" i="0" u="none" strike="noStrike" cap="none">
                    <a:solidFill>
                      <a:schemeClr val="dk1"/>
                    </a:solidFill>
                    <a:latin typeface="Cambria Math" panose="02040503050406030204" pitchFamily="18" charset="0"/>
                    <a:ea typeface="Calibri"/>
                    <a:cs typeface="Calibri"/>
                    <a:sym typeface="Calibri"/>
                  </a:rPr>
                  <a:t>"softmax</a:t>
                </a:r>
                <a:r>
                  <a:rPr lang="ar-AE" sz="1200" b="0" i="0" u="none" strike="noStrike" cap="none">
                    <a:solidFill>
                      <a:schemeClr val="dk1"/>
                    </a:solidFill>
                    <a:latin typeface="Calibri"/>
                    <a:ea typeface="Calibri"/>
                    <a:cs typeface="Calibri"/>
                    <a:sym typeface="Calibri"/>
                  </a:rPr>
                  <a:t>" ((𝑄𝐾^𝑇)/√(𝑑_𝑘 ))𝑉</a:t>
                </a:r>
                <a:endParaRPr lang="ar-AE"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Here, </a:t>
                </a:r>
                <a:r>
                  <a:rPr lang="en-US" sz="1200" b="0" i="0" u="none" strike="noStrike" cap="none">
                    <a:solidFill>
                      <a:schemeClr val="dk1"/>
                    </a:solidFill>
                    <a:latin typeface="Calibri"/>
                    <a:ea typeface="Calibri"/>
                    <a:cs typeface="Calibri"/>
                    <a:sym typeface="Calibri"/>
                  </a:rPr>
                  <a:t>𝑄</a:t>
                </a:r>
                <a:r>
                  <a:rPr lang="en-US" sz="1200" b="0" i="0" u="none" strike="noStrike" cap="none" dirty="0">
                    <a:solidFill>
                      <a:schemeClr val="dk1"/>
                    </a:solidFill>
                    <a:effectLst/>
                    <a:latin typeface="Calibri"/>
                    <a:ea typeface="Calibri"/>
                    <a:cs typeface="Calibri"/>
                    <a:sym typeface="Calibri"/>
                  </a:rPr>
                  <a:t>, </a:t>
                </a:r>
                <a:r>
                  <a:rPr lang="en-US" sz="1200" b="0" i="0" u="none" strike="noStrike" cap="none">
                    <a:solidFill>
                      <a:schemeClr val="dk1"/>
                    </a:solidFill>
                    <a:latin typeface="Calibri"/>
                    <a:ea typeface="Calibri"/>
                    <a:cs typeface="Calibri"/>
                    <a:sym typeface="Calibri"/>
                  </a:rPr>
                  <a:t>𝐾</a:t>
                </a:r>
                <a:r>
                  <a:rPr lang="en-US" sz="1200" b="0" i="0" u="none" strike="noStrike" cap="none" dirty="0">
                    <a:solidFill>
                      <a:schemeClr val="dk1"/>
                    </a:solidFill>
                    <a:effectLst/>
                    <a:latin typeface="Calibri"/>
                    <a:ea typeface="Calibri"/>
                    <a:cs typeface="Calibri"/>
                    <a:sym typeface="Calibri"/>
                  </a:rPr>
                  <a:t>, and </a:t>
                </a:r>
                <a:r>
                  <a:rPr lang="en-US" sz="1200" b="0" i="0" u="none" strike="noStrike" cap="none">
                    <a:solidFill>
                      <a:schemeClr val="dk1"/>
                    </a:solidFill>
                    <a:latin typeface="Calibri"/>
                    <a:ea typeface="Calibri"/>
                    <a:cs typeface="Calibri"/>
                    <a:sym typeface="Calibri"/>
                  </a:rPr>
                  <a:t>𝑉</a:t>
                </a:r>
                <a:r>
                  <a:rPr lang="en-US" sz="1200" b="0" i="0" u="none" strike="noStrike" cap="none" dirty="0">
                    <a:solidFill>
                      <a:schemeClr val="dk1"/>
                    </a:solidFill>
                    <a:effectLst/>
                    <a:latin typeface="Calibri"/>
                    <a:ea typeface="Calibri"/>
                    <a:cs typeface="Calibri"/>
                    <a:sym typeface="Calibri"/>
                  </a:rPr>
                  <a:t> are the query, key, and value matrices, respectively, and </a:t>
                </a:r>
                <a:r>
                  <a:rPr lang="ar-AE" sz="1200" b="0" i="0" u="none" strike="noStrike" cap="none">
                    <a:solidFill>
                      <a:schemeClr val="dk1"/>
                    </a:solidFill>
                    <a:latin typeface="Calibri"/>
                    <a:ea typeface="Calibri"/>
                    <a:cs typeface="Calibri"/>
                    <a:sym typeface="Calibri"/>
                  </a:rPr>
                  <a:t>𝑑_𝑘</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the dimensionality of the key vectors.</a:t>
                </a:r>
              </a:p>
              <a:p>
                <a:r>
                  <a:rPr lang="en-US" sz="1200" b="1" i="0" u="none" strike="noStrike" cap="none" dirty="0">
                    <a:solidFill>
                      <a:schemeClr val="dk1"/>
                    </a:solidFill>
                    <a:effectLst/>
                    <a:latin typeface="Calibri"/>
                    <a:ea typeface="Calibri"/>
                    <a:cs typeface="Calibri"/>
                    <a:sym typeface="Calibri"/>
                  </a:rPr>
                  <a:t>Matrix Operations: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Dot Product </a:t>
                </a:r>
                <a:r>
                  <a:rPr lang="en-US" sz="1200" b="0" i="0" u="none" strike="noStrike" cap="none">
                    <a:solidFill>
                      <a:schemeClr val="dk1"/>
                    </a:solidFill>
                    <a:latin typeface="Calibri"/>
                    <a:ea typeface="Calibri"/>
                    <a:cs typeface="Calibri"/>
                    <a:sym typeface="Calibri"/>
                  </a:rPr>
                  <a:t>𝑄</a:t>
                </a:r>
                <a:r>
                  <a:rPr lang="ar-AE" sz="1200" b="0" i="0" u="none" strike="noStrike" cap="none">
                    <a:solidFill>
                      <a:schemeClr val="dk1"/>
                    </a:solidFill>
                    <a:latin typeface="Calibri"/>
                    <a:ea typeface="Calibri"/>
                    <a:cs typeface="Calibri"/>
                    <a:sym typeface="Calibri"/>
                  </a:rPr>
                  <a:t>𝐾^𝑇</a:t>
                </a:r>
                <a:r>
                  <a:rPr lang="ar-AE" sz="1200" b="1" i="0" u="none" strike="noStrike" cap="none" dirty="0">
                    <a:solidFill>
                      <a:schemeClr val="dk1"/>
                    </a:solidFill>
                    <a:effectLst/>
                    <a:latin typeface="Calibri"/>
                    <a:ea typeface="Calibri"/>
                    <a:cs typeface="Calibri"/>
                    <a:sym typeface="Calibri"/>
                  </a:rPr>
                  <a:t>:</a:t>
                </a: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matrix </a:t>
                </a:r>
                <a:r>
                  <a:rPr lang="en-US" sz="1200" b="0" i="0" u="none" strike="noStrike" cap="none">
                    <a:solidFill>
                      <a:schemeClr val="dk1"/>
                    </a:solidFill>
                    <a:latin typeface="Calibri"/>
                    <a:ea typeface="Calibri"/>
                    <a:cs typeface="Calibri"/>
                    <a:sym typeface="Calibri"/>
                  </a:rPr>
                  <a:t>𝑄</a:t>
                </a:r>
                <a:r>
                  <a:rPr lang="ar-AE" sz="1200" b="0" i="0" u="none" strike="noStrike" cap="none">
                    <a:solidFill>
                      <a:schemeClr val="dk1"/>
                    </a:solidFill>
                    <a:latin typeface="Calibri"/>
                    <a:ea typeface="Calibri"/>
                    <a:cs typeface="Calibri"/>
                    <a:sym typeface="Calibri"/>
                  </a:rPr>
                  <a:t>𝐾^𝑇</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computed by taking the dot product of the query matrix </a:t>
                </a:r>
                <a:r>
                  <a:rPr lang="en-US" sz="1200" b="0" i="0" u="none" strike="noStrike" cap="none">
                    <a:solidFill>
                      <a:schemeClr val="dk1"/>
                    </a:solidFill>
                    <a:latin typeface="Calibri"/>
                    <a:ea typeface="Calibri"/>
                    <a:cs typeface="Calibri"/>
                    <a:sym typeface="Calibri"/>
                  </a:rPr>
                  <a:t>𝑄</a:t>
                </a:r>
                <a:r>
                  <a:rPr lang="en-US" sz="1200" b="0" i="0" u="none" strike="noStrike" cap="none" dirty="0">
                    <a:solidFill>
                      <a:schemeClr val="dk1"/>
                    </a:solidFill>
                    <a:effectLst/>
                    <a:latin typeface="Calibri"/>
                    <a:ea typeface="Calibri"/>
                    <a:cs typeface="Calibri"/>
                    <a:sym typeface="Calibri"/>
                  </a:rPr>
                  <a:t> and the transpose of the key matrix </a:t>
                </a:r>
                <a:r>
                  <a:rPr lang="en-US" sz="1200" b="0" i="0" u="none" strike="noStrike" cap="none">
                    <a:solidFill>
                      <a:schemeClr val="dk1"/>
                    </a:solidFill>
                    <a:latin typeface="Calibri"/>
                    <a:ea typeface="Calibri"/>
                    <a:cs typeface="Calibri"/>
                    <a:sym typeface="Calibri"/>
                  </a:rPr>
                  <a:t>𝐾</a:t>
                </a:r>
                <a:r>
                  <a:rPr lang="en-US"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Each element </a:t>
                </a:r>
                <a:r>
                  <a:rPr lang="ar-AE" sz="1200" b="0" i="0" u="none" strike="noStrike" cap="none">
                    <a:solidFill>
                      <a:schemeClr val="dk1"/>
                    </a:solidFill>
                    <a:latin typeface="Calibri"/>
                    <a:ea typeface="Calibri"/>
                    <a:cs typeface="Calibri"/>
                    <a:sym typeface="Calibri"/>
                  </a:rPr>
                  <a:t>𝑞_𝑖⋅𝑘_𝑗</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in the matrix represents the attention score between the </a:t>
                </a:r>
                <a:r>
                  <a:rPr lang="en-US" sz="1200" b="0" i="0" u="none" strike="noStrike" cap="none">
                    <a:solidFill>
                      <a:schemeClr val="dk1"/>
                    </a:solidFill>
                    <a:latin typeface="Calibri"/>
                    <a:ea typeface="Calibri"/>
                    <a:cs typeface="Calibri"/>
                    <a:sym typeface="Calibri"/>
                  </a:rPr>
                  <a:t>𝑖</a:t>
                </a:r>
                <a:r>
                  <a:rPr lang="en-US" sz="1200" b="0" i="0" u="none" strike="noStrike" cap="none" dirty="0">
                    <a:solidFill>
                      <a:schemeClr val="dk1"/>
                    </a:solidFill>
                    <a:effectLst/>
                    <a:latin typeface="Calibri"/>
                    <a:ea typeface="Calibri"/>
                    <a:cs typeface="Calibri"/>
                    <a:sym typeface="Calibri"/>
                  </a:rPr>
                  <a:t>-</a:t>
                </a:r>
                <a:r>
                  <a:rPr lang="en-US" sz="1200" b="0" i="0" u="none" strike="noStrike" cap="none" dirty="0" err="1">
                    <a:solidFill>
                      <a:schemeClr val="dk1"/>
                    </a:solidFill>
                    <a:effectLst/>
                    <a:latin typeface="Calibri"/>
                    <a:ea typeface="Calibri"/>
                    <a:cs typeface="Calibri"/>
                    <a:sym typeface="Calibri"/>
                  </a:rPr>
                  <a:t>th</a:t>
                </a:r>
                <a:r>
                  <a:rPr lang="en-US" sz="1200" b="0" i="0" u="none" strike="noStrike" cap="none" dirty="0">
                    <a:solidFill>
                      <a:schemeClr val="dk1"/>
                    </a:solidFill>
                    <a:effectLst/>
                    <a:latin typeface="Calibri"/>
                    <a:ea typeface="Calibri"/>
                    <a:cs typeface="Calibri"/>
                    <a:sym typeface="Calibri"/>
                  </a:rPr>
                  <a:t> query and the </a:t>
                </a:r>
                <a:r>
                  <a:rPr lang="en-US" sz="1200" b="0" i="0" u="none" strike="noStrike" cap="none">
                    <a:solidFill>
                      <a:schemeClr val="dk1"/>
                    </a:solidFill>
                    <a:latin typeface="Calibri"/>
                    <a:ea typeface="Calibri"/>
                    <a:cs typeface="Calibri"/>
                    <a:sym typeface="Calibri"/>
                  </a:rPr>
                  <a:t>𝑗</a:t>
                </a:r>
                <a:r>
                  <a:rPr lang="en-US" sz="1200" b="0" i="0" u="none" strike="noStrike" cap="none" dirty="0">
                    <a:solidFill>
                      <a:schemeClr val="dk1"/>
                    </a:solidFill>
                    <a:effectLst/>
                    <a:latin typeface="Calibri"/>
                    <a:ea typeface="Calibri"/>
                    <a:cs typeface="Calibri"/>
                    <a:sym typeface="Calibri"/>
                  </a:rPr>
                  <a:t>-</a:t>
                </a:r>
                <a:r>
                  <a:rPr lang="en-US" sz="1200" b="0" i="0" u="none" strike="noStrike" cap="none" dirty="0" err="1">
                    <a:solidFill>
                      <a:schemeClr val="dk1"/>
                    </a:solidFill>
                    <a:effectLst/>
                    <a:latin typeface="Calibri"/>
                    <a:ea typeface="Calibri"/>
                    <a:cs typeface="Calibri"/>
                    <a:sym typeface="Calibri"/>
                  </a:rPr>
                  <a:t>th</a:t>
                </a:r>
                <a:r>
                  <a:rPr lang="en-US" sz="1200" b="0" i="0" u="none" strike="noStrike" cap="none" dirty="0">
                    <a:solidFill>
                      <a:schemeClr val="dk1"/>
                    </a:solidFill>
                    <a:effectLst/>
                    <a:latin typeface="Calibri"/>
                    <a:ea typeface="Calibri"/>
                    <a:cs typeface="Calibri"/>
                    <a:sym typeface="Calibri"/>
                  </a:rPr>
                  <a:t> key.</a:t>
                </a:r>
              </a:p>
              <a:p>
                <a:r>
                  <a:rPr lang="en-US" sz="1200" b="1" i="0" u="none" strike="noStrike" cap="none" dirty="0">
                    <a:solidFill>
                      <a:schemeClr val="dk1"/>
                    </a:solidFill>
                    <a:effectLst/>
                    <a:latin typeface="Calibri"/>
                    <a:ea typeface="Calibri"/>
                    <a:cs typeface="Calibri"/>
                    <a:sym typeface="Calibri"/>
                  </a:rPr>
                  <a:t>Scaling: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scores are scaled by </a:t>
                </a:r>
                <a:r>
                  <a:rPr lang="ar-AE" sz="1200" b="0" i="0" u="none" strike="noStrike" cap="none">
                    <a:solidFill>
                      <a:schemeClr val="dk1"/>
                    </a:solidFill>
                    <a:latin typeface="Calibri"/>
                    <a:ea typeface="Calibri"/>
                    <a:cs typeface="Calibri"/>
                    <a:sym typeface="Calibri"/>
                  </a:rPr>
                  <a:t>√(𝑑_𝑘 )</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to prevent them from becoming too large, which can lead to small gradients and slow learning.</a:t>
                </a:r>
              </a:p>
              <a:p>
                <a:r>
                  <a:rPr lang="en-US" sz="1200" b="1" i="0" u="none" strike="noStrike" cap="none" dirty="0" err="1">
                    <a:solidFill>
                      <a:schemeClr val="dk1"/>
                    </a:solidFill>
                    <a:effectLst/>
                    <a:latin typeface="Calibri"/>
                    <a:ea typeface="Calibri"/>
                    <a:cs typeface="Calibri"/>
                    <a:sym typeface="Calibri"/>
                  </a:rPr>
                  <a:t>Softmax</a:t>
                </a:r>
                <a:r>
                  <a:rPr lang="en-US" sz="1200" b="1" i="0" u="none" strike="noStrike" cap="none" dirty="0">
                    <a:solidFill>
                      <a:schemeClr val="dk1"/>
                    </a:solidFill>
                    <a:effectLst/>
                    <a:latin typeface="Calibri"/>
                    <a:ea typeface="Calibri"/>
                    <a:cs typeface="Calibri"/>
                    <a:sym typeface="Calibri"/>
                  </a:rPr>
                  <a:t> Normalization: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scaled scores are passed through 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to produce attention weights, which sum to 1 for each query.</a:t>
                </a:r>
              </a:p>
              <a:p>
                <a:r>
                  <a:rPr lang="en-US" sz="1200" b="1" i="0" u="none" strike="noStrike" cap="none" dirty="0">
                    <a:solidFill>
                      <a:schemeClr val="dk1"/>
                    </a:solidFill>
                    <a:effectLst/>
                    <a:latin typeface="Calibri"/>
                    <a:ea typeface="Calibri"/>
                    <a:cs typeface="Calibri"/>
                    <a:sym typeface="Calibri"/>
                  </a:rPr>
                  <a:t>Weighted Sum of Values: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attention weights are used to compute a weighted sum of the value vectors, resulting in the final output of the self-attention mechanism.</a:t>
                </a:r>
              </a:p>
              <a:p>
                <a:r>
                  <a:rPr lang="en-US" sz="1200" b="1" i="0" u="none" strike="noStrike" cap="none" dirty="0">
                    <a:solidFill>
                      <a:schemeClr val="dk1"/>
                    </a:solidFill>
                    <a:effectLst/>
                    <a:latin typeface="Calibri"/>
                    <a:ea typeface="Calibri"/>
                    <a:cs typeface="Calibri"/>
                    <a:sym typeface="Calibri"/>
                  </a:rPr>
                  <a:t>Causal Attention: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Masking Future Positions: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In tasks like language modeling, where causal (left-to-right) attention is required, the upper-triangle portion of the </a:t>
                </a:r>
                <a:r>
                  <a:rPr lang="en-US" sz="1200" b="0" i="0" u="none" strike="noStrike" cap="none">
                    <a:solidFill>
                      <a:schemeClr val="dk1"/>
                    </a:solidFill>
                    <a:latin typeface="Calibri"/>
                    <a:ea typeface="Calibri"/>
                    <a:cs typeface="Calibri"/>
                    <a:sym typeface="Calibri"/>
                  </a:rPr>
                  <a:t>𝑄</a:t>
                </a:r>
                <a:r>
                  <a:rPr lang="ar-AE" sz="1200" b="0" i="0" u="none" strike="noStrike" cap="none">
                    <a:solidFill>
                      <a:schemeClr val="dk1"/>
                    </a:solidFill>
                    <a:latin typeface="Calibri"/>
                    <a:ea typeface="Calibri"/>
                    <a:cs typeface="Calibri"/>
                    <a:sym typeface="Calibri"/>
                  </a:rPr>
                  <a:t>𝐾^𝑇</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matrix is masked (set to </a:t>
                </a:r>
                <a:r>
                  <a:rPr lang="en-US" sz="1200" b="0" i="0" u="none" strike="noStrike" cap="none">
                    <a:solidFill>
                      <a:schemeClr val="dk1"/>
                    </a:solidFill>
                    <a:latin typeface="Calibri"/>
                    <a:ea typeface="Calibri"/>
                    <a:cs typeface="Calibri"/>
                    <a:sym typeface="Calibri"/>
                  </a:rPr>
                  <a:t>−∞</a:t>
                </a:r>
                <a:r>
                  <a:rPr lang="en-US"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This ensures that each position in the sequence only attends to previous and current positions, preventing information leakage from future tokens.</a:t>
                </a:r>
              </a:p>
              <a:p>
                <a:pPr lvl="1"/>
                <a:r>
                  <a:rPr lang="en-US" sz="1200" b="0" i="0" u="none" strike="noStrike" cap="none" dirty="0">
                    <a:solidFill>
                      <a:schemeClr val="dk1"/>
                    </a:solidFill>
                    <a:effectLst/>
                    <a:latin typeface="Calibri"/>
                    <a:ea typeface="Calibri"/>
                    <a:cs typeface="Calibri"/>
                    <a:sym typeface="Calibri"/>
                  </a:rPr>
                  <a:t>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turns these masked positions into zeros, effectively ignoring them in the attention computation.</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use of matrix operations allows for efficient computation of self-attention, leveraging the power of linear algebra to handle large sequences and complex dependencies.</a:t>
                </a:r>
              </a:p>
              <a:p>
                <a:r>
                  <a:rPr lang="en-US" sz="1200" b="0" i="0" u="none" strike="noStrike" cap="none" dirty="0">
                    <a:solidFill>
                      <a:schemeClr val="dk1"/>
                    </a:solidFill>
                    <a:effectLst/>
                    <a:latin typeface="Calibri"/>
                    <a:ea typeface="Calibri"/>
                    <a:cs typeface="Calibri"/>
                    <a:sym typeface="Calibri"/>
                  </a:rPr>
                  <a:t>Masking is a crucial technique for ensuring the correct flow of information in tasks that require sequential processing.</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detailed understanding of the self-attention computation in transformers, highlighting the importance of matrix operations and masking in achieving efficient and effective sequence processing. This understanding is essential for appreciating the design and performance advantages of transformers in handling a wide range of natural language processing tasks.</a:t>
                </a:r>
              </a:p>
              <a:p>
                <a:pPr marL="0" lvl="0" indent="0" algn="l" rtl="0">
                  <a:lnSpc>
                    <a:spcPct val="100000"/>
                  </a:lnSpc>
                  <a:spcBef>
                    <a:spcPts val="0"/>
                  </a:spcBef>
                  <a:spcAft>
                    <a:spcPts val="0"/>
                  </a:spcAft>
                  <a:buSzPts val="1400"/>
                  <a:buNone/>
                </a:pPr>
                <a:endParaRPr dirty="0"/>
              </a:p>
            </p:txBody>
          </p:sp>
        </mc:Fallback>
      </mc:AlternateContent>
      <p:sp>
        <p:nvSpPr>
          <p:cNvPr id="515" name="Google Shape;515;g2b8b5137f2c_0_26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b8b5137f2c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526" name="Google Shape;526;g2b8b5137f2c_0_2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Transformer Block Structure:</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Self-Attention Layer: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input sequence </a:t>
                </a:r>
                <a14:m>
                  <m:oMath xmlns:m="http://schemas.openxmlformats.org/officeDocument/2006/math">
                    <m:d>
                      <m:dPr>
                        <m:sepChr m:val=","/>
                        <m:ctrlPr>
                          <a:rPr lang="ar-AE" sz="1200" b="0" i="0" u="none" strike="noStrike" cap="none">
                            <a:solidFill>
                              <a:schemeClr val="dk1"/>
                            </a:solidFill>
                            <a:latin typeface="Calibri"/>
                            <a:ea typeface="Calibri"/>
                            <a:cs typeface="Calibri"/>
                            <a:sym typeface="Calibri"/>
                          </a:rPr>
                        </m:ctrlPr>
                      </m:dPr>
                      <m:e>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0" u="none" strike="noStrike" cap="none">
                                <a:solidFill>
                                  <a:schemeClr val="dk1"/>
                                </a:solidFill>
                                <a:latin typeface="Calibri"/>
                                <a:ea typeface="Calibri"/>
                                <a:cs typeface="Calibri"/>
                                <a:sym typeface="Calibri"/>
                              </a:rPr>
                              <m:t>1</m:t>
                            </m:r>
                          </m:sub>
                        </m:sSub>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0" u="none" strike="noStrike" cap="none">
                                <a:solidFill>
                                  <a:schemeClr val="dk1"/>
                                </a:solidFill>
                                <a:latin typeface="Calibri"/>
                                <a:ea typeface="Calibri"/>
                                <a:cs typeface="Calibri"/>
                                <a:sym typeface="Calibri"/>
                              </a:rPr>
                              <m:t>2</m:t>
                            </m:r>
                          </m:sub>
                        </m:sSub>
                      </m:e>
                      <m:e>
                        <m:r>
                          <a:rPr lang="ar-AE" sz="1200" b="0" i="0" u="none" strike="noStrike" cap="none">
                            <a:solidFill>
                              <a:schemeClr val="dk1"/>
                            </a:solidFill>
                            <a:latin typeface="Calibri"/>
                            <a:ea typeface="Calibri"/>
                            <a:cs typeface="Calibri"/>
                            <a:sym typeface="Calibri"/>
                          </a:rPr>
                          <m:t>…</m:t>
                        </m:r>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𝑛</m:t>
                            </m:r>
                          </m:sub>
                        </m:sSub>
                      </m:e>
                    </m:d>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first processed by the self-attention layer.</a:t>
                </a:r>
              </a:p>
              <a:p>
                <a:pPr lvl="1"/>
                <a:r>
                  <a:rPr lang="en-US" sz="1200" b="0" i="0" u="none" strike="noStrike" cap="none" dirty="0">
                    <a:solidFill>
                      <a:schemeClr val="dk1"/>
                    </a:solidFill>
                    <a:effectLst/>
                    <a:latin typeface="Calibri"/>
                    <a:ea typeface="Calibri"/>
                    <a:cs typeface="Calibri"/>
                    <a:sym typeface="Calibri"/>
                  </a:rPr>
                  <a:t>This layer computes attention scores and outputs for each input, capturing dependencies and relationships within the sequence.</a:t>
                </a:r>
              </a:p>
              <a:p>
                <a:r>
                  <a:rPr lang="en-US" sz="1200" b="1" i="0" u="none" strike="noStrike" cap="none" dirty="0">
                    <a:solidFill>
                      <a:schemeClr val="dk1"/>
                    </a:solidFill>
                    <a:effectLst/>
                    <a:latin typeface="Calibri"/>
                    <a:ea typeface="Calibri"/>
                    <a:cs typeface="Calibri"/>
                    <a:sym typeface="Calibri"/>
                  </a:rPr>
                  <a:t>Residual Connection and Layer Normalization: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 residual connection adds the original input </a:t>
                </a:r>
                <a14:m>
                  <m:oMath xmlns:m="http://schemas.openxmlformats.org/officeDocument/2006/math">
                    <m:r>
                      <a:rPr lang="en-US" sz="1200" b="0" i="1" u="none" strike="noStrike" cap="none">
                        <a:solidFill>
                          <a:schemeClr val="dk1"/>
                        </a:solidFill>
                        <a:latin typeface="Calibri"/>
                        <a:ea typeface="Calibri"/>
                        <a:cs typeface="Calibri"/>
                        <a:sym typeface="Calibri"/>
                      </a:rPr>
                      <m:t>𝑥</m:t>
                    </m:r>
                  </m:oMath>
                </a14:m>
                <a:r>
                  <a:rPr lang="en-US" sz="1200" b="0" i="0" u="none" strike="noStrike" cap="none" dirty="0">
                    <a:solidFill>
                      <a:schemeClr val="dk1"/>
                    </a:solidFill>
                    <a:effectLst/>
                    <a:latin typeface="Calibri"/>
                    <a:ea typeface="Calibri"/>
                    <a:cs typeface="Calibri"/>
                    <a:sym typeface="Calibri"/>
                  </a:rPr>
                  <a:t> to the output of the self-attention layer, helping to preserve the input information and facilitate gradient flow during training.</a:t>
                </a:r>
              </a:p>
              <a:p>
                <a:pPr lvl="1"/>
                <a:r>
                  <a:rPr lang="en-US" sz="1200" b="0" i="0" u="none" strike="noStrike" cap="none" dirty="0">
                    <a:solidFill>
                      <a:schemeClr val="dk1"/>
                    </a:solidFill>
                    <a:effectLst/>
                    <a:latin typeface="Calibri"/>
                    <a:ea typeface="Calibri"/>
                    <a:cs typeface="Calibri"/>
                    <a:sym typeface="Calibri"/>
                  </a:rPr>
                  <a:t>Layer normalization is applied to stabilize and accelerate training by normalizing the output:</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r>
                        <a:rPr lang="en-US" sz="1200" b="0" i="1" u="none" strike="noStrike" cap="none">
                          <a:solidFill>
                            <a:schemeClr val="dk1"/>
                          </a:solidFill>
                          <a:latin typeface="Calibri"/>
                          <a:ea typeface="Calibri"/>
                          <a:cs typeface="Calibri"/>
                          <a:sym typeface="Calibri"/>
                        </a:rPr>
                        <m:t>𝑧</m:t>
                      </m:r>
                      <m:r>
                        <a:rPr lang="en-US" sz="1200" b="0" i="0" u="none" strike="noStrike" cap="none">
                          <a:solidFill>
                            <a:schemeClr val="dk1"/>
                          </a:solidFill>
                          <a:latin typeface="Calibri"/>
                          <a:ea typeface="Calibri"/>
                          <a:cs typeface="Calibri"/>
                          <a:sym typeface="Calibri"/>
                        </a:rPr>
                        <m:t>=</m:t>
                      </m:r>
                      <m:r>
                        <m:rPr>
                          <m:nor/>
                        </m:rPr>
                        <a:rPr lang="en-US" sz="1200" b="0" i="1" u="none" strike="noStrike" cap="none">
                          <a:solidFill>
                            <a:schemeClr val="dk1"/>
                          </a:solidFill>
                          <a:latin typeface="Calibri"/>
                          <a:ea typeface="Calibri"/>
                          <a:cs typeface="Calibri"/>
                          <a:sym typeface="Calibri"/>
                        </a:rPr>
                        <m:t>LayerNorm</m:t>
                      </m:r>
                      <m:d>
                        <m:dPr>
                          <m:ctrlPr>
                            <a:rPr lang="ar-AE" sz="1200" b="0" i="1" u="none" strike="noStrike" cap="none">
                              <a:solidFill>
                                <a:schemeClr val="dk1"/>
                              </a:solidFill>
                              <a:latin typeface="Calibri"/>
                              <a:ea typeface="Calibri"/>
                              <a:cs typeface="Calibri"/>
                              <a:sym typeface="Calibri"/>
                            </a:rPr>
                          </m:ctrlPr>
                        </m:dPr>
                        <m:e>
                          <m:r>
                            <a:rPr lang="ar-AE" sz="1200" b="0" i="1" u="none" strike="noStrike" cap="none">
                              <a:solidFill>
                                <a:schemeClr val="dk1"/>
                              </a:solidFill>
                              <a:latin typeface="Calibri"/>
                              <a:ea typeface="Calibri"/>
                              <a:cs typeface="Calibri"/>
                              <a:sym typeface="Calibri"/>
                            </a:rPr>
                            <m:t>𝑥</m:t>
                          </m:r>
                          <m:r>
                            <a:rPr lang="ar-AE" sz="1200" b="0" i="0" u="none" strike="noStrike" cap="none">
                              <a:solidFill>
                                <a:schemeClr val="dk1"/>
                              </a:solidFill>
                              <a:latin typeface="Calibri"/>
                              <a:ea typeface="Calibri"/>
                              <a:cs typeface="Calibri"/>
                              <a:sym typeface="Calibri"/>
                            </a:rPr>
                            <m:t>+</m:t>
                          </m:r>
                          <m:r>
                            <m:rPr>
                              <m:nor/>
                            </m:rPr>
                            <a:rPr lang="en-US" sz="1200" b="0" i="1" u="none" strike="noStrike" cap="none">
                              <a:solidFill>
                                <a:schemeClr val="dk1"/>
                              </a:solidFill>
                              <a:latin typeface="Calibri"/>
                              <a:ea typeface="Calibri"/>
                              <a:cs typeface="Calibri"/>
                              <a:sym typeface="Calibri"/>
                            </a:rPr>
                            <m:t>SelfAttention</m:t>
                          </m:r>
                          <m:d>
                            <m:dPr>
                              <m:ctrlPr>
                                <a:rPr lang="ar-AE" sz="1200" b="0" i="1" u="none" strike="noStrike" cap="none">
                                  <a:solidFill>
                                    <a:schemeClr val="dk1"/>
                                  </a:solidFill>
                                  <a:latin typeface="Calibri"/>
                                  <a:ea typeface="Calibri"/>
                                  <a:cs typeface="Calibri"/>
                                  <a:sym typeface="Calibri"/>
                                </a:rPr>
                              </m:ctrlPr>
                            </m:dPr>
                            <m:e>
                              <m:r>
                                <a:rPr lang="ar-AE" sz="1200" b="0" i="1" u="none" strike="noStrike" cap="none">
                                  <a:solidFill>
                                    <a:schemeClr val="dk1"/>
                                  </a:solidFill>
                                  <a:latin typeface="Calibri"/>
                                  <a:ea typeface="Calibri"/>
                                  <a:cs typeface="Calibri"/>
                                  <a:sym typeface="Calibri"/>
                                </a:rPr>
                                <m:t>𝑥</m:t>
                              </m:r>
                            </m:e>
                          </m:d>
                        </m:e>
                      </m:d>
                    </m:oMath>
                  </m:oMathPara>
                </a14:m>
                <a:endParaRPr lang="ar-AE"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Feedforward Layer: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normalized output </a:t>
                </a:r>
                <a14:m>
                  <m:oMath xmlns:m="http://schemas.openxmlformats.org/officeDocument/2006/math">
                    <m:r>
                      <a:rPr lang="en-US" sz="1200" b="0" i="1" u="none" strike="noStrike" cap="none">
                        <a:solidFill>
                          <a:schemeClr val="dk1"/>
                        </a:solidFill>
                        <a:latin typeface="Calibri"/>
                        <a:ea typeface="Calibri"/>
                        <a:cs typeface="Calibri"/>
                        <a:sym typeface="Calibri"/>
                      </a:rPr>
                      <m:t>𝑧</m:t>
                    </m:r>
                  </m:oMath>
                </a14:m>
                <a:r>
                  <a:rPr lang="en-US" sz="1200" b="0" i="0" u="none" strike="noStrike" cap="none" dirty="0">
                    <a:solidFill>
                      <a:schemeClr val="dk1"/>
                    </a:solidFill>
                    <a:effectLst/>
                    <a:latin typeface="Calibri"/>
                    <a:ea typeface="Calibri"/>
                    <a:cs typeface="Calibri"/>
                    <a:sym typeface="Calibri"/>
                  </a:rPr>
                  <a:t> is passed through a feedforward neural network, typically consisting of two linear transformations with a </a:t>
                </a:r>
                <a:r>
                  <a:rPr lang="en-US" sz="1200" b="0" i="0" u="none" strike="noStrike" cap="none" dirty="0" err="1">
                    <a:solidFill>
                      <a:schemeClr val="dk1"/>
                    </a:solidFill>
                    <a:effectLst/>
                    <a:latin typeface="Calibri"/>
                    <a:ea typeface="Calibri"/>
                    <a:cs typeface="Calibri"/>
                    <a:sym typeface="Calibri"/>
                  </a:rPr>
                  <a:t>ReLU</a:t>
                </a:r>
                <a:r>
                  <a:rPr lang="en-US" sz="1200" b="0" i="0" u="none" strike="noStrike" cap="none" dirty="0">
                    <a:solidFill>
                      <a:schemeClr val="dk1"/>
                    </a:solidFill>
                    <a:effectLst/>
                    <a:latin typeface="Calibri"/>
                    <a:ea typeface="Calibri"/>
                    <a:cs typeface="Calibri"/>
                    <a:sym typeface="Calibri"/>
                  </a:rPr>
                  <a:t> activation in between.</a:t>
                </a:r>
              </a:p>
              <a:p>
                <a:pPr lvl="1"/>
                <a:r>
                  <a:rPr lang="en-US" sz="1200" b="0" i="0" u="none" strike="noStrike" cap="none" dirty="0">
                    <a:solidFill>
                      <a:schemeClr val="dk1"/>
                    </a:solidFill>
                    <a:effectLst/>
                    <a:latin typeface="Calibri"/>
                    <a:ea typeface="Calibri"/>
                    <a:cs typeface="Calibri"/>
                    <a:sym typeface="Calibri"/>
                  </a:rPr>
                  <a:t>This layer allows the model to learn complex transformations and representations.</a:t>
                </a:r>
              </a:p>
              <a:p>
                <a:r>
                  <a:rPr lang="en-US" sz="1200" b="1" i="0" u="none" strike="noStrike" cap="none" dirty="0">
                    <a:solidFill>
                      <a:schemeClr val="dk1"/>
                    </a:solidFill>
                    <a:effectLst/>
                    <a:latin typeface="Calibri"/>
                    <a:ea typeface="Calibri"/>
                    <a:cs typeface="Calibri"/>
                    <a:sym typeface="Calibri"/>
                  </a:rPr>
                  <a:t>Residual Connection and Layer Normalization: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Another residual connection adds the output of the feedforward layer to </a:t>
                </a:r>
                <a14:m>
                  <m:oMath xmlns:m="http://schemas.openxmlformats.org/officeDocument/2006/math">
                    <m:r>
                      <a:rPr lang="en-US" sz="1200" b="0" i="1" u="none" strike="noStrike" cap="none">
                        <a:solidFill>
                          <a:schemeClr val="dk1"/>
                        </a:solidFill>
                        <a:latin typeface="Calibri"/>
                        <a:ea typeface="Calibri"/>
                        <a:cs typeface="Calibri"/>
                        <a:sym typeface="Calibri"/>
                      </a:rPr>
                      <m:t>𝑧</m:t>
                    </m:r>
                  </m:oMath>
                </a14:m>
                <a:r>
                  <a:rPr lang="en-US" sz="1200" b="0" i="0" u="none" strike="noStrike" cap="none" dirty="0">
                    <a:solidFill>
                      <a:schemeClr val="dk1"/>
                    </a:solidFill>
                    <a:effectLst/>
                    <a:latin typeface="Calibri"/>
                    <a:ea typeface="Calibri"/>
                    <a:cs typeface="Calibri"/>
                    <a:sym typeface="Calibri"/>
                  </a:rPr>
                  <a:t>, followed by layer normalization:</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r>
                        <a:rPr lang="en-US" sz="1200" b="0" i="1" u="none" strike="noStrike" cap="none">
                          <a:solidFill>
                            <a:schemeClr val="dk1"/>
                          </a:solidFill>
                          <a:latin typeface="Calibri"/>
                          <a:ea typeface="Calibri"/>
                          <a:cs typeface="Calibri"/>
                          <a:sym typeface="Calibri"/>
                        </a:rPr>
                        <m:t>𝑦</m:t>
                      </m:r>
                      <m:r>
                        <a:rPr lang="en-US" sz="1200" b="0" i="0" u="none" strike="noStrike" cap="none">
                          <a:solidFill>
                            <a:schemeClr val="dk1"/>
                          </a:solidFill>
                          <a:latin typeface="Calibri"/>
                          <a:ea typeface="Calibri"/>
                          <a:cs typeface="Calibri"/>
                          <a:sym typeface="Calibri"/>
                        </a:rPr>
                        <m:t>=</m:t>
                      </m:r>
                      <m:r>
                        <m:rPr>
                          <m:nor/>
                        </m:rPr>
                        <a:rPr lang="en-US" sz="1200" b="0" i="1" u="none" strike="noStrike" cap="none">
                          <a:solidFill>
                            <a:schemeClr val="dk1"/>
                          </a:solidFill>
                          <a:latin typeface="Calibri"/>
                          <a:ea typeface="Calibri"/>
                          <a:cs typeface="Calibri"/>
                          <a:sym typeface="Calibri"/>
                        </a:rPr>
                        <m:t>LayerNorm</m:t>
                      </m:r>
                      <m:d>
                        <m:dPr>
                          <m:ctrlPr>
                            <a:rPr lang="ar-AE" sz="1200" b="0" i="1" u="none" strike="noStrike" cap="none">
                              <a:solidFill>
                                <a:schemeClr val="dk1"/>
                              </a:solidFill>
                              <a:latin typeface="Calibri"/>
                              <a:ea typeface="Calibri"/>
                              <a:cs typeface="Calibri"/>
                              <a:sym typeface="Calibri"/>
                            </a:rPr>
                          </m:ctrlPr>
                        </m:dPr>
                        <m:e>
                          <m:r>
                            <a:rPr lang="ar-AE" sz="1200" b="0" i="1" u="none" strike="noStrike" cap="none">
                              <a:solidFill>
                                <a:schemeClr val="dk1"/>
                              </a:solidFill>
                              <a:latin typeface="Calibri"/>
                              <a:ea typeface="Calibri"/>
                              <a:cs typeface="Calibri"/>
                              <a:sym typeface="Calibri"/>
                            </a:rPr>
                            <m:t>𝑧</m:t>
                          </m:r>
                          <m:r>
                            <a:rPr lang="ar-AE" sz="1200" b="0" i="0" u="none" strike="noStrike" cap="none">
                              <a:solidFill>
                                <a:schemeClr val="dk1"/>
                              </a:solidFill>
                              <a:latin typeface="Calibri"/>
                              <a:ea typeface="Calibri"/>
                              <a:cs typeface="Calibri"/>
                              <a:sym typeface="Calibri"/>
                            </a:rPr>
                            <m:t>+</m:t>
                          </m:r>
                          <m:r>
                            <m:rPr>
                              <m:nor/>
                            </m:rPr>
                            <a:rPr lang="en-US" sz="1200" b="0" i="1" u="none" strike="noStrike" cap="none">
                              <a:solidFill>
                                <a:schemeClr val="dk1"/>
                              </a:solidFill>
                              <a:latin typeface="Calibri"/>
                              <a:ea typeface="Calibri"/>
                              <a:cs typeface="Calibri"/>
                              <a:sym typeface="Calibri"/>
                            </a:rPr>
                            <m:t>FFN</m:t>
                          </m:r>
                          <m:d>
                            <m:dPr>
                              <m:ctrlPr>
                                <a:rPr lang="ar-AE" sz="1200" b="0" i="1" u="none" strike="noStrike" cap="none">
                                  <a:solidFill>
                                    <a:schemeClr val="dk1"/>
                                  </a:solidFill>
                                  <a:latin typeface="Calibri"/>
                                  <a:ea typeface="Calibri"/>
                                  <a:cs typeface="Calibri"/>
                                  <a:sym typeface="Calibri"/>
                                </a:rPr>
                              </m:ctrlPr>
                            </m:dPr>
                            <m:e>
                              <m:r>
                                <a:rPr lang="ar-AE" sz="1200" b="0" i="1" u="none" strike="noStrike" cap="none">
                                  <a:solidFill>
                                    <a:schemeClr val="dk1"/>
                                  </a:solidFill>
                                  <a:latin typeface="Calibri"/>
                                  <a:ea typeface="Calibri"/>
                                  <a:cs typeface="Calibri"/>
                                  <a:sym typeface="Calibri"/>
                                </a:rPr>
                                <m:t>𝑧</m:t>
                              </m:r>
                            </m:e>
                          </m:d>
                        </m:e>
                      </m:d>
                    </m:oMath>
                  </m:oMathPara>
                </a14:m>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This step ensures that the model can learn effectively by maintaining stable gradients and preserving input information.</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combination of self-attention, feedforward layers, residual connections, and layer normalization allows transformer blocks to efficiently capture and process complex patterns in the input data.</a:t>
                </a:r>
              </a:p>
              <a:p>
                <a:r>
                  <a:rPr lang="en-US" sz="1200" b="0" i="0" u="none" strike="noStrike" cap="none" dirty="0">
                    <a:solidFill>
                      <a:schemeClr val="dk1"/>
                    </a:solidFill>
                    <a:effectLst/>
                    <a:latin typeface="Calibri"/>
                    <a:ea typeface="Calibri"/>
                    <a:cs typeface="Calibri"/>
                    <a:sym typeface="Calibri"/>
                  </a:rPr>
                  <a:t>Residual connections and layer normalization are crucial for stabilizing training and enabling the model to learn deep representations.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detailed understanding of the operations within a transformer block, highlighting the architectural choices that contribute to the model's efficiency and effectiveness. Understanding these components is essential for appreciating how transformers achieve state-of-the-art performance in various natural language processing tasks.</a:t>
                </a:r>
              </a:p>
              <a:p>
                <a:pPr marL="0" lvl="0" indent="0" algn="l" rtl="0">
                  <a:lnSpc>
                    <a:spcPct val="100000"/>
                  </a:lnSpc>
                  <a:spcBef>
                    <a:spcPts val="0"/>
                  </a:spcBef>
                  <a:spcAft>
                    <a:spcPts val="0"/>
                  </a:spcAft>
                  <a:buSzPts val="1400"/>
                  <a:buNone/>
                </a:pPr>
                <a:endParaRPr dirty="0"/>
              </a:p>
            </p:txBody>
          </p:sp>
        </mc:Choice>
        <mc:Fallback>
          <p:sp>
            <p:nvSpPr>
              <p:cNvPr id="526" name="Google Shape;526;g2b8b5137f2c_0_2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Transformer Block Structure:</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Self-Attention Layer: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input sequence </a:t>
                </a:r>
                <a:r>
                  <a:rPr lang="ar-AE" sz="1200" b="0" i="0" u="none" strike="noStrike" cap="none">
                    <a:solidFill>
                      <a:schemeClr val="dk1"/>
                    </a:solidFill>
                    <a:latin typeface="Calibri"/>
                    <a:ea typeface="Calibri"/>
                    <a:cs typeface="Calibri"/>
                    <a:sym typeface="Calibri"/>
                  </a:rPr>
                  <a:t>(𝑥_1ⓜ,𝑥_2ⓜ,…ⓜ,𝑥_𝑛 )</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first processed by the self-attention layer.</a:t>
                </a:r>
              </a:p>
              <a:p>
                <a:pPr lvl="1"/>
                <a:r>
                  <a:rPr lang="en-US" sz="1200" b="0" i="0" u="none" strike="noStrike" cap="none" dirty="0">
                    <a:solidFill>
                      <a:schemeClr val="dk1"/>
                    </a:solidFill>
                    <a:effectLst/>
                    <a:latin typeface="Calibri"/>
                    <a:ea typeface="Calibri"/>
                    <a:cs typeface="Calibri"/>
                    <a:sym typeface="Calibri"/>
                  </a:rPr>
                  <a:t>This layer computes attention scores and outputs for each input, capturing dependencies and relationships within the sequence.</a:t>
                </a:r>
              </a:p>
              <a:p>
                <a:r>
                  <a:rPr lang="en-US" sz="1200" b="1" i="0" u="none" strike="noStrike" cap="none" dirty="0">
                    <a:solidFill>
                      <a:schemeClr val="dk1"/>
                    </a:solidFill>
                    <a:effectLst/>
                    <a:latin typeface="Calibri"/>
                    <a:ea typeface="Calibri"/>
                    <a:cs typeface="Calibri"/>
                    <a:sym typeface="Calibri"/>
                  </a:rPr>
                  <a:t>Residual Connection and Layer Normalization: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 residual connection adds the original input </a:t>
                </a:r>
                <a:r>
                  <a:rPr lang="en-US" sz="1200" b="0" i="0" u="none" strike="noStrike" cap="none">
                    <a:solidFill>
                      <a:schemeClr val="dk1"/>
                    </a:solidFill>
                    <a:latin typeface="Calibri"/>
                    <a:ea typeface="Calibri"/>
                    <a:cs typeface="Calibri"/>
                    <a:sym typeface="Calibri"/>
                  </a:rPr>
                  <a:t>𝑥</a:t>
                </a:r>
                <a:r>
                  <a:rPr lang="en-US" sz="1200" b="0" i="0" u="none" strike="noStrike" cap="none" dirty="0">
                    <a:solidFill>
                      <a:schemeClr val="dk1"/>
                    </a:solidFill>
                    <a:effectLst/>
                    <a:latin typeface="Calibri"/>
                    <a:ea typeface="Calibri"/>
                    <a:cs typeface="Calibri"/>
                    <a:sym typeface="Calibri"/>
                  </a:rPr>
                  <a:t> to the output of the self-attention layer, helping to preserve the input information and facilitate gradient flow during training.</a:t>
                </a:r>
              </a:p>
              <a:p>
                <a:pPr lvl="1"/>
                <a:r>
                  <a:rPr lang="en-US" sz="1200" b="0" i="0" u="none" strike="noStrike" cap="none" dirty="0">
                    <a:solidFill>
                      <a:schemeClr val="dk1"/>
                    </a:solidFill>
                    <a:effectLst/>
                    <a:latin typeface="Calibri"/>
                    <a:ea typeface="Calibri"/>
                    <a:cs typeface="Calibri"/>
                    <a:sym typeface="Calibri"/>
                  </a:rPr>
                  <a:t>Layer normalization is applied to stabilize and accelerate training by normalizing the output:</a:t>
                </a:r>
                <a:br>
                  <a:rPr lang="en-US" sz="1200" b="0" i="0" u="none" strike="noStrike" cap="none" dirty="0">
                    <a:solidFill>
                      <a:schemeClr val="dk1"/>
                    </a:solidFill>
                    <a:effectLst/>
                    <a:latin typeface="Calibri"/>
                    <a:ea typeface="Calibri"/>
                    <a:cs typeface="Calibri"/>
                    <a:sym typeface="Calibri"/>
                  </a:rPr>
                </a:br>
                <a:r>
                  <a:rPr lang="en-US" sz="1200" b="0" i="0" u="none" strike="noStrike" cap="none">
                    <a:solidFill>
                      <a:schemeClr val="dk1"/>
                    </a:solidFill>
                    <a:latin typeface="Calibri"/>
                    <a:ea typeface="Calibri"/>
                    <a:cs typeface="Calibri"/>
                    <a:sym typeface="Calibri"/>
                  </a:rPr>
                  <a:t>𝑧=</a:t>
                </a:r>
                <a:r>
                  <a:rPr lang="en-US" sz="1200" b="0" i="0" u="none" strike="noStrike" cap="none">
                    <a:solidFill>
                      <a:schemeClr val="dk1"/>
                    </a:solidFill>
                    <a:latin typeface="Cambria Math" panose="02040503050406030204" pitchFamily="18" charset="0"/>
                    <a:ea typeface="Calibri"/>
                    <a:cs typeface="Calibri"/>
                    <a:sym typeface="Calibri"/>
                  </a:rPr>
                  <a:t>"LayerNorm</a:t>
                </a:r>
                <a:r>
                  <a:rPr lang="ar-AE" sz="1200" b="0" i="0" u="none" strike="noStrike" cap="none">
                    <a:solidFill>
                      <a:schemeClr val="dk1"/>
                    </a:solidFill>
                    <a:latin typeface="Calibri"/>
                    <a:ea typeface="Calibri"/>
                    <a:cs typeface="Calibri"/>
                    <a:sym typeface="Calibri"/>
                  </a:rPr>
                  <a:t>" (𝑥+</a:t>
                </a:r>
                <a:r>
                  <a:rPr lang="en-US" sz="1200" b="0" i="0" u="none" strike="noStrike" cap="none">
                    <a:solidFill>
                      <a:schemeClr val="dk1"/>
                    </a:solidFill>
                    <a:latin typeface="Calibri"/>
                    <a:ea typeface="Calibri"/>
                    <a:cs typeface="Calibri"/>
                    <a:sym typeface="Calibri"/>
                  </a:rPr>
                  <a:t>"SelfAttention</a:t>
                </a:r>
                <a:r>
                  <a:rPr lang="ar-AE" sz="1200" b="0" i="0" u="none" strike="noStrike" cap="none">
                    <a:solidFill>
                      <a:schemeClr val="dk1"/>
                    </a:solidFill>
                    <a:latin typeface="Calibri"/>
                    <a:ea typeface="Calibri"/>
                    <a:cs typeface="Calibri"/>
                    <a:sym typeface="Calibri"/>
                  </a:rPr>
                  <a:t>" (𝑥))</a:t>
                </a:r>
                <a:endParaRPr lang="ar-AE"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Feedforward Layer: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normalized output </a:t>
                </a:r>
                <a:r>
                  <a:rPr lang="en-US" sz="1200" b="0" i="0" u="none" strike="noStrike" cap="none">
                    <a:solidFill>
                      <a:schemeClr val="dk1"/>
                    </a:solidFill>
                    <a:latin typeface="Calibri"/>
                    <a:ea typeface="Calibri"/>
                    <a:cs typeface="Calibri"/>
                    <a:sym typeface="Calibri"/>
                  </a:rPr>
                  <a:t>𝑧</a:t>
                </a:r>
                <a:r>
                  <a:rPr lang="en-US" sz="1200" b="0" i="0" u="none" strike="noStrike" cap="none" dirty="0">
                    <a:solidFill>
                      <a:schemeClr val="dk1"/>
                    </a:solidFill>
                    <a:effectLst/>
                    <a:latin typeface="Calibri"/>
                    <a:ea typeface="Calibri"/>
                    <a:cs typeface="Calibri"/>
                    <a:sym typeface="Calibri"/>
                  </a:rPr>
                  <a:t> is passed through a feedforward neural network, typically consisting of two linear transformations with a </a:t>
                </a:r>
                <a:r>
                  <a:rPr lang="en-US" sz="1200" b="0" i="0" u="none" strike="noStrike" cap="none" dirty="0" err="1">
                    <a:solidFill>
                      <a:schemeClr val="dk1"/>
                    </a:solidFill>
                    <a:effectLst/>
                    <a:latin typeface="Calibri"/>
                    <a:ea typeface="Calibri"/>
                    <a:cs typeface="Calibri"/>
                    <a:sym typeface="Calibri"/>
                  </a:rPr>
                  <a:t>ReLU</a:t>
                </a:r>
                <a:r>
                  <a:rPr lang="en-US" sz="1200" b="0" i="0" u="none" strike="noStrike" cap="none" dirty="0">
                    <a:solidFill>
                      <a:schemeClr val="dk1"/>
                    </a:solidFill>
                    <a:effectLst/>
                    <a:latin typeface="Calibri"/>
                    <a:ea typeface="Calibri"/>
                    <a:cs typeface="Calibri"/>
                    <a:sym typeface="Calibri"/>
                  </a:rPr>
                  <a:t> activation in between.</a:t>
                </a:r>
              </a:p>
              <a:p>
                <a:pPr lvl="1"/>
                <a:r>
                  <a:rPr lang="en-US" sz="1200" b="0" i="0" u="none" strike="noStrike" cap="none" dirty="0">
                    <a:solidFill>
                      <a:schemeClr val="dk1"/>
                    </a:solidFill>
                    <a:effectLst/>
                    <a:latin typeface="Calibri"/>
                    <a:ea typeface="Calibri"/>
                    <a:cs typeface="Calibri"/>
                    <a:sym typeface="Calibri"/>
                  </a:rPr>
                  <a:t>This layer allows the model to learn complex transformations and representations.</a:t>
                </a:r>
              </a:p>
              <a:p>
                <a:r>
                  <a:rPr lang="en-US" sz="1200" b="1" i="0" u="none" strike="noStrike" cap="none" dirty="0">
                    <a:solidFill>
                      <a:schemeClr val="dk1"/>
                    </a:solidFill>
                    <a:effectLst/>
                    <a:latin typeface="Calibri"/>
                    <a:ea typeface="Calibri"/>
                    <a:cs typeface="Calibri"/>
                    <a:sym typeface="Calibri"/>
                  </a:rPr>
                  <a:t>Residual Connection and Layer Normalization: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Another residual connection adds the output of the feedforward layer to </a:t>
                </a:r>
                <a:r>
                  <a:rPr lang="en-US" sz="1200" b="0" i="0" u="none" strike="noStrike" cap="none">
                    <a:solidFill>
                      <a:schemeClr val="dk1"/>
                    </a:solidFill>
                    <a:latin typeface="Calibri"/>
                    <a:ea typeface="Calibri"/>
                    <a:cs typeface="Calibri"/>
                    <a:sym typeface="Calibri"/>
                  </a:rPr>
                  <a:t>𝑧</a:t>
                </a:r>
                <a:r>
                  <a:rPr lang="en-US" sz="1200" b="0" i="0" u="none" strike="noStrike" cap="none" dirty="0">
                    <a:solidFill>
                      <a:schemeClr val="dk1"/>
                    </a:solidFill>
                    <a:effectLst/>
                    <a:latin typeface="Calibri"/>
                    <a:ea typeface="Calibri"/>
                    <a:cs typeface="Calibri"/>
                    <a:sym typeface="Calibri"/>
                  </a:rPr>
                  <a:t>, followed by layer normalization:</a:t>
                </a:r>
                <a:br>
                  <a:rPr lang="en-US" sz="1200" b="0" i="0" u="none" strike="noStrike" cap="none" dirty="0">
                    <a:solidFill>
                      <a:schemeClr val="dk1"/>
                    </a:solidFill>
                    <a:effectLst/>
                    <a:latin typeface="Calibri"/>
                    <a:ea typeface="Calibri"/>
                    <a:cs typeface="Calibri"/>
                    <a:sym typeface="Calibri"/>
                  </a:rPr>
                </a:br>
                <a:r>
                  <a:rPr lang="en-US" sz="1200" b="0" i="0" u="none" strike="noStrike" cap="none">
                    <a:solidFill>
                      <a:schemeClr val="dk1"/>
                    </a:solidFill>
                    <a:latin typeface="Calibri"/>
                    <a:ea typeface="Calibri"/>
                    <a:cs typeface="Calibri"/>
                    <a:sym typeface="Calibri"/>
                  </a:rPr>
                  <a:t>𝑦=</a:t>
                </a:r>
                <a:r>
                  <a:rPr lang="en-US" sz="1200" b="0" i="0" u="none" strike="noStrike" cap="none">
                    <a:solidFill>
                      <a:schemeClr val="dk1"/>
                    </a:solidFill>
                    <a:latin typeface="Cambria Math" panose="02040503050406030204" pitchFamily="18" charset="0"/>
                    <a:ea typeface="Calibri"/>
                    <a:cs typeface="Calibri"/>
                    <a:sym typeface="Calibri"/>
                  </a:rPr>
                  <a:t>"LayerNorm</a:t>
                </a:r>
                <a:r>
                  <a:rPr lang="ar-AE" sz="1200" b="0" i="0" u="none" strike="noStrike" cap="none">
                    <a:solidFill>
                      <a:schemeClr val="dk1"/>
                    </a:solidFill>
                    <a:latin typeface="Calibri"/>
                    <a:ea typeface="Calibri"/>
                    <a:cs typeface="Calibri"/>
                    <a:sym typeface="Calibri"/>
                  </a:rPr>
                  <a:t>" (𝑧+</a:t>
                </a:r>
                <a:r>
                  <a:rPr lang="en-US" sz="1200" b="0" i="0" u="none" strike="noStrike" cap="none">
                    <a:solidFill>
                      <a:schemeClr val="dk1"/>
                    </a:solidFill>
                    <a:latin typeface="Calibri"/>
                    <a:ea typeface="Calibri"/>
                    <a:cs typeface="Calibri"/>
                    <a:sym typeface="Calibri"/>
                  </a:rPr>
                  <a:t>"FFN</a:t>
                </a:r>
                <a:r>
                  <a:rPr lang="ar-AE" sz="1200" b="0" i="0" u="none" strike="noStrike" cap="none">
                    <a:solidFill>
                      <a:schemeClr val="dk1"/>
                    </a:solidFill>
                    <a:latin typeface="Calibri"/>
                    <a:ea typeface="Calibri"/>
                    <a:cs typeface="Calibri"/>
                    <a:sym typeface="Calibri"/>
                  </a:rPr>
                  <a:t>" (𝑧))</a:t>
                </a: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This step ensures that the model can learn effectively by maintaining stable gradients and preserving input information.</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combination of self-attention, feedforward layers, residual connections, and layer normalization allows transformer blocks to efficiently capture and process complex patterns in the input data.</a:t>
                </a:r>
              </a:p>
              <a:p>
                <a:r>
                  <a:rPr lang="en-US" sz="1200" b="0" i="0" u="none" strike="noStrike" cap="none" dirty="0">
                    <a:solidFill>
                      <a:schemeClr val="dk1"/>
                    </a:solidFill>
                    <a:effectLst/>
                    <a:latin typeface="Calibri"/>
                    <a:ea typeface="Calibri"/>
                    <a:cs typeface="Calibri"/>
                    <a:sym typeface="Calibri"/>
                  </a:rPr>
                  <a:t>Residual connections and layer normalization are crucial for stabilizing training and enabling the model to learn deep representations.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detailed understanding of the operations within a transformer block, highlighting the architectural choices that contribute to the model's efficiency and effectiveness. Understanding these components is essential for appreciating how transformers achieve state-of-the-art performance in various natural language processing tasks.</a:t>
                </a:r>
              </a:p>
              <a:p>
                <a:pPr marL="0" lvl="0" indent="0" algn="l" rtl="0">
                  <a:lnSpc>
                    <a:spcPct val="100000"/>
                  </a:lnSpc>
                  <a:spcBef>
                    <a:spcPts val="0"/>
                  </a:spcBef>
                  <a:spcAft>
                    <a:spcPts val="0"/>
                  </a:spcAft>
                  <a:buSzPts val="1400"/>
                  <a:buNone/>
                </a:pPr>
                <a:endParaRPr dirty="0"/>
              </a:p>
            </p:txBody>
          </p:sp>
        </mc:Fallback>
      </mc:AlternateContent>
      <p:sp>
        <p:nvSpPr>
          <p:cNvPr id="527" name="Google Shape;527;g2b8b5137f2c_0_2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34" name="Google Shape;534;g3292fd40077_1_49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Score Function and Loss Function: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Score Function: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score function is currently based on a linear classifier, which assigns scores to different classes based on input features.</a:t>
                </a:r>
              </a:p>
              <a:p>
                <a:pPr lvl="1"/>
                <a:r>
                  <a:rPr lang="en-US" sz="1200" b="0" i="0" u="none" strike="noStrike" cap="none" dirty="0">
                    <a:solidFill>
                      <a:schemeClr val="dk1"/>
                    </a:solidFill>
                    <a:effectLst/>
                    <a:latin typeface="Calibri"/>
                    <a:ea typeface="Calibri"/>
                    <a:cs typeface="Calibri"/>
                    <a:sym typeface="Calibri"/>
                  </a:rPr>
                  <a:t>The goal is to generalize this approach to convolutional neural networks, which can capture more complex patterns and spatial hierarchies in data.</a:t>
                </a:r>
              </a:p>
              <a:p>
                <a:r>
                  <a:rPr lang="en-US" sz="1200" b="1" i="0" u="none" strike="noStrike" cap="none" dirty="0">
                    <a:solidFill>
                      <a:schemeClr val="dk1"/>
                    </a:solidFill>
                    <a:effectLst/>
                    <a:latin typeface="Calibri"/>
                    <a:ea typeface="Calibri"/>
                    <a:cs typeface="Calibri"/>
                    <a:sym typeface="Calibri"/>
                  </a:rPr>
                  <a:t>Loss Function: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loss function presented is a combination of a cross-entropy loss and a regularization term:</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r>
                        <a:rPr lang="en-US" sz="1200" b="0" i="1" u="none" strike="noStrike" cap="none">
                          <a:solidFill>
                            <a:schemeClr val="dk1"/>
                          </a:solidFill>
                          <a:latin typeface="Calibri"/>
                          <a:ea typeface="Calibri"/>
                          <a:cs typeface="Calibri"/>
                          <a:sym typeface="Calibri"/>
                        </a:rPr>
                        <m:t>𝐿</m:t>
                      </m:r>
                      <m:r>
                        <a:rPr lang="en-US" sz="1200" b="0" i="0" u="none" strike="noStrike" cap="none">
                          <a:solidFill>
                            <a:schemeClr val="dk1"/>
                          </a:solidFill>
                          <a:latin typeface="Calibri"/>
                          <a:ea typeface="Calibri"/>
                          <a:cs typeface="Calibri"/>
                          <a:sym typeface="Calibri"/>
                        </a:rPr>
                        <m:t>=</m:t>
                      </m:r>
                      <m:f>
                        <m:fPr>
                          <m:ctrlPr>
                            <a:rPr lang="ar-AE" sz="1200" b="0" i="1" u="none" strike="noStrike" cap="none">
                              <a:solidFill>
                                <a:schemeClr val="dk1"/>
                              </a:solidFill>
                              <a:latin typeface="Calibri"/>
                              <a:ea typeface="Calibri"/>
                              <a:cs typeface="Calibri"/>
                              <a:sym typeface="Calibri"/>
                            </a:rPr>
                          </m:ctrlPr>
                        </m:fPr>
                        <m:num>
                          <m:r>
                            <a:rPr lang="ar-AE" sz="1200" b="0" i="0" u="none" strike="noStrike" cap="none">
                              <a:solidFill>
                                <a:schemeClr val="dk1"/>
                              </a:solidFill>
                              <a:latin typeface="Calibri"/>
                              <a:ea typeface="Calibri"/>
                              <a:cs typeface="Calibri"/>
                              <a:sym typeface="Calibri"/>
                            </a:rPr>
                            <m:t>1</m:t>
                          </m:r>
                        </m:num>
                        <m:den>
                          <m:r>
                            <a:rPr lang="ar-AE" sz="1200" b="0" i="1" u="none" strike="noStrike" cap="none">
                              <a:solidFill>
                                <a:schemeClr val="dk1"/>
                              </a:solidFill>
                              <a:latin typeface="Calibri"/>
                              <a:ea typeface="Calibri"/>
                              <a:cs typeface="Calibri"/>
                              <a:sym typeface="Calibri"/>
                            </a:rPr>
                            <m:t>𝑁</m:t>
                          </m:r>
                        </m:den>
                      </m:f>
                      <m:nary>
                        <m:naryPr>
                          <m:chr m:val="∑"/>
                          <m:limLoc m:val="subSup"/>
                          <m:grow m:val="on"/>
                          <m:supHide m:val="on"/>
                          <m:ctrlPr>
                            <a:rPr lang="ar-AE" sz="1200" b="0" i="1" u="none" strike="noStrike" cap="none">
                              <a:solidFill>
                                <a:schemeClr val="dk1"/>
                              </a:solidFill>
                              <a:latin typeface="Calibri"/>
                              <a:ea typeface="Calibri"/>
                              <a:cs typeface="Calibri"/>
                              <a:sym typeface="Calibri"/>
                            </a:rPr>
                          </m:ctrlPr>
                        </m:naryPr>
                        <m:sub>
                          <m:r>
                            <a:rPr lang="ar-AE" sz="1200" b="0" i="1" u="none" strike="noStrike" cap="none">
                              <a:solidFill>
                                <a:schemeClr val="dk1"/>
                              </a:solidFill>
                              <a:latin typeface="Calibri"/>
                              <a:ea typeface="Calibri"/>
                              <a:cs typeface="Calibri"/>
                              <a:sym typeface="Calibri"/>
                            </a:rPr>
                            <m:t>𝑖</m:t>
                          </m:r>
                        </m:sub>
                        <m:sup/>
                        <m:e>
                          <m:r>
                            <a:rPr lang="ar-AE" sz="1200" b="0" i="0" u="none" strike="noStrike" cap="none">
                              <a:solidFill>
                                <a:schemeClr val="dk1"/>
                              </a:solidFill>
                              <a:latin typeface="Calibri"/>
                              <a:ea typeface="Calibri"/>
                              <a:cs typeface="Calibri"/>
                              <a:sym typeface="Calibri"/>
                            </a:rPr>
                            <m:t>−</m:t>
                          </m:r>
                        </m:e>
                      </m:nary>
                      <m:func>
                        <m:funcPr>
                          <m:ctrlPr>
                            <a:rPr lang="ar-AE" sz="1200" b="0" i="1" u="none" strike="noStrike" cap="none">
                              <a:solidFill>
                                <a:schemeClr val="dk1"/>
                              </a:solidFill>
                              <a:latin typeface="Calibri"/>
                              <a:ea typeface="Calibri"/>
                              <a:cs typeface="Calibri"/>
                              <a:sym typeface="Calibri"/>
                            </a:rPr>
                          </m:ctrlPr>
                        </m:funcPr>
                        <m:fName>
                          <m:r>
                            <m:rPr>
                              <m:sty m:val="p"/>
                            </m:rPr>
                            <a:rPr lang="en-US" sz="1200" b="0" i="0" u="none" strike="noStrike" cap="none">
                              <a:solidFill>
                                <a:schemeClr val="dk1"/>
                              </a:solidFill>
                              <a:latin typeface="Calibri"/>
                              <a:ea typeface="Calibri"/>
                              <a:cs typeface="Calibri"/>
                              <a:sym typeface="Calibri"/>
                            </a:rPr>
                            <m:t>log</m:t>
                          </m:r>
                        </m:fName>
                        <m:e>
                          <m:d>
                            <m:dPr>
                              <m:ctrlPr>
                                <a:rPr lang="ar-AE" sz="1200" b="0" i="1" u="none" strike="noStrike" cap="none">
                                  <a:solidFill>
                                    <a:schemeClr val="dk1"/>
                                  </a:solidFill>
                                  <a:latin typeface="Calibri"/>
                                  <a:ea typeface="Calibri"/>
                                  <a:cs typeface="Calibri"/>
                                  <a:sym typeface="Calibri"/>
                                </a:rPr>
                              </m:ctrlPr>
                            </m:dPr>
                            <m:e>
                              <m:f>
                                <m:fPr>
                                  <m:ctrlPr>
                                    <a:rPr lang="ar-AE" sz="1200" b="0" i="1" u="none" strike="noStrike" cap="none">
                                      <a:solidFill>
                                        <a:schemeClr val="dk1"/>
                                      </a:solidFill>
                                      <a:latin typeface="Calibri"/>
                                      <a:ea typeface="Calibri"/>
                                      <a:cs typeface="Calibri"/>
                                      <a:sym typeface="Calibri"/>
                                    </a:rPr>
                                  </m:ctrlPr>
                                </m:fPr>
                                <m:num>
                                  <m:sSup>
                                    <m:sSupPr>
                                      <m:ctrlPr>
                                        <a:rPr lang="ar-AE" sz="1200" b="0" i="1"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𝑒</m:t>
                                      </m:r>
                                    </m:e>
                                    <m:sup>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𝑓</m:t>
                                          </m:r>
                                        </m:e>
                                        <m:sub>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𝑦</m:t>
                                              </m:r>
                                            </m:e>
                                            <m:sub>
                                              <m:r>
                                                <a:rPr lang="ar-AE" sz="1200" b="0" i="1" u="none" strike="noStrike" cap="none">
                                                  <a:solidFill>
                                                    <a:schemeClr val="dk1"/>
                                                  </a:solidFill>
                                                  <a:latin typeface="Calibri"/>
                                                  <a:ea typeface="Calibri"/>
                                                  <a:cs typeface="Calibri"/>
                                                  <a:sym typeface="Calibri"/>
                                                </a:rPr>
                                                <m:t>𝑖</m:t>
                                              </m:r>
                                            </m:sub>
                                          </m:sSub>
                                        </m:sub>
                                      </m:sSub>
                                    </m:sup>
                                  </m:sSup>
                                </m:num>
                                <m:den>
                                  <m:nary>
                                    <m:naryPr>
                                      <m:chr m:val="∑"/>
                                      <m:limLoc m:val="subSup"/>
                                      <m:grow m:val="on"/>
                                      <m:supHide m:val="on"/>
                                      <m:ctrlPr>
                                        <a:rPr lang="ar-AE" sz="1200" b="0" i="1" u="none" strike="noStrike" cap="none">
                                          <a:solidFill>
                                            <a:schemeClr val="dk1"/>
                                          </a:solidFill>
                                          <a:latin typeface="Calibri"/>
                                          <a:ea typeface="Calibri"/>
                                          <a:cs typeface="Calibri"/>
                                          <a:sym typeface="Calibri"/>
                                        </a:rPr>
                                      </m:ctrlPr>
                                    </m:naryPr>
                                    <m:sub>
                                      <m:r>
                                        <a:rPr lang="ar-AE" sz="1200" b="0" i="1" u="none" strike="noStrike" cap="none">
                                          <a:solidFill>
                                            <a:schemeClr val="dk1"/>
                                          </a:solidFill>
                                          <a:latin typeface="Calibri"/>
                                          <a:ea typeface="Calibri"/>
                                          <a:cs typeface="Calibri"/>
                                          <a:sym typeface="Calibri"/>
                                        </a:rPr>
                                        <m:t>𝑗</m:t>
                                      </m:r>
                                    </m:sub>
                                    <m:sup/>
                                    <m:e>
                                      <m:sSup>
                                        <m:sSupPr>
                                          <m:ctrlPr>
                                            <a:rPr lang="ar-AE" sz="1200" b="0" i="1"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𝑒</m:t>
                                          </m:r>
                                        </m:e>
                                        <m:sup>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𝑓</m:t>
                                              </m:r>
                                            </m:e>
                                            <m:sub>
                                              <m:r>
                                                <a:rPr lang="ar-AE" sz="1200" b="0" i="1" u="none" strike="noStrike" cap="none">
                                                  <a:solidFill>
                                                    <a:schemeClr val="dk1"/>
                                                  </a:solidFill>
                                                  <a:latin typeface="Calibri"/>
                                                  <a:ea typeface="Calibri"/>
                                                  <a:cs typeface="Calibri"/>
                                                  <a:sym typeface="Calibri"/>
                                                </a:rPr>
                                                <m:t>𝑗</m:t>
                                              </m:r>
                                            </m:sub>
                                          </m:sSub>
                                        </m:sup>
                                      </m:sSup>
                                    </m:e>
                                  </m:nary>
                                </m:den>
                              </m:f>
                            </m:e>
                          </m:d>
                        </m:e>
                      </m:func>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𝜆</m:t>
                      </m:r>
                      <m:nary>
                        <m:naryPr>
                          <m:chr m:val="∑"/>
                          <m:limLoc m:val="subSup"/>
                          <m:grow m:val="on"/>
                          <m:supHide m:val="on"/>
                          <m:ctrlPr>
                            <a:rPr lang="ar-AE" sz="1200" b="0" i="1" u="none" strike="noStrike" cap="none">
                              <a:solidFill>
                                <a:schemeClr val="dk1"/>
                              </a:solidFill>
                              <a:latin typeface="Calibri"/>
                              <a:ea typeface="Calibri"/>
                              <a:cs typeface="Calibri"/>
                              <a:sym typeface="Calibri"/>
                            </a:rPr>
                          </m:ctrlPr>
                        </m:naryPr>
                        <m:sub>
                          <m:r>
                            <a:rPr lang="ar-AE" sz="1200" b="0" i="1" u="none" strike="noStrike" cap="none">
                              <a:solidFill>
                                <a:schemeClr val="dk1"/>
                              </a:solidFill>
                              <a:latin typeface="Calibri"/>
                              <a:ea typeface="Calibri"/>
                              <a:cs typeface="Calibri"/>
                              <a:sym typeface="Calibri"/>
                            </a:rPr>
                            <m:t>𝑘</m:t>
                          </m:r>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𝑙</m:t>
                          </m:r>
                        </m:sub>
                        <m:sup/>
                        <m:e>
                          <m:sSubSup>
                            <m:sSubSupPr>
                              <m:ctrlPr>
                                <a:rPr lang="ar-AE" sz="1200" b="0" i="1"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𝑊</m:t>
                              </m:r>
                            </m:e>
                            <m:sub>
                              <m:r>
                                <a:rPr lang="ar-AE" sz="1200" b="0" i="1" u="none" strike="noStrike" cap="none">
                                  <a:solidFill>
                                    <a:schemeClr val="dk1"/>
                                  </a:solidFill>
                                  <a:latin typeface="Calibri"/>
                                  <a:ea typeface="Calibri"/>
                                  <a:cs typeface="Calibri"/>
                                  <a:sym typeface="Calibri"/>
                                </a:rPr>
                                <m:t>𝑘</m:t>
                              </m:r>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𝑙</m:t>
                              </m:r>
                            </m:sub>
                            <m:sup>
                              <m:r>
                                <a:rPr lang="ar-AE" sz="1200" b="0" i="0" u="none" strike="noStrike" cap="none">
                                  <a:solidFill>
                                    <a:schemeClr val="dk1"/>
                                  </a:solidFill>
                                  <a:latin typeface="Calibri"/>
                                  <a:ea typeface="Calibri"/>
                                  <a:cs typeface="Calibri"/>
                                  <a:sym typeface="Calibri"/>
                                </a:rPr>
                                <m:t>2</m:t>
                              </m:r>
                            </m:sup>
                          </m:sSubSup>
                        </m:e>
                      </m:nary>
                    </m:oMath>
                  </m:oMathPara>
                </a14:m>
                <a:endParaRPr lang="ar-AE" sz="1200" b="0" i="0" u="none" strike="noStrike" cap="none" dirty="0">
                  <a:solidFill>
                    <a:schemeClr val="dk1"/>
                  </a:solidFill>
                  <a:effectLst/>
                  <a:latin typeface="Calibri"/>
                  <a:ea typeface="Calibri"/>
                  <a:cs typeface="Calibri"/>
                  <a:sym typeface="Calibri"/>
                </a:endParaRPr>
              </a:p>
              <a:p>
                <a:pPr lvl="1"/>
                <a:r>
                  <a:rPr lang="en-US" sz="1200" b="1" i="0" u="none" strike="noStrike" cap="none" dirty="0">
                    <a:solidFill>
                      <a:schemeClr val="dk1"/>
                    </a:solidFill>
                    <a:effectLst/>
                    <a:latin typeface="Calibri"/>
                    <a:ea typeface="Calibri"/>
                    <a:cs typeface="Calibri"/>
                    <a:sym typeface="Calibri"/>
                  </a:rPr>
                  <a:t>Cross-Entropy Loss:</a:t>
                </a:r>
                <a:r>
                  <a:rPr lang="en-US" sz="1200" b="0" i="0" u="none" strike="noStrike" cap="none" dirty="0">
                    <a:solidFill>
                      <a:schemeClr val="dk1"/>
                    </a:solidFill>
                    <a:effectLst/>
                    <a:latin typeface="Calibri"/>
                    <a:ea typeface="Calibri"/>
                    <a:cs typeface="Calibri"/>
                    <a:sym typeface="Calibri"/>
                  </a:rPr>
                  <a:t> Measures the difference between the predicted probabilities and the true labels, encouraging the model to assign high probabilities to the correct classes.</a:t>
                </a:r>
              </a:p>
              <a:p>
                <a:pPr lvl="1"/>
                <a:r>
                  <a:rPr lang="en-US" sz="1200" b="1" i="0" u="none" strike="noStrike" cap="none" dirty="0">
                    <a:solidFill>
                      <a:schemeClr val="dk1"/>
                    </a:solidFill>
                    <a:effectLst/>
                    <a:latin typeface="Calibri"/>
                    <a:ea typeface="Calibri"/>
                    <a:cs typeface="Calibri"/>
                    <a:sym typeface="Calibri"/>
                  </a:rPr>
                  <a:t>Regularization Term:</a:t>
                </a:r>
                <a:r>
                  <a:rPr lang="en-US" sz="1200" b="0" i="0" u="none" strike="noStrike" cap="none" dirty="0">
                    <a:solidFill>
                      <a:schemeClr val="dk1"/>
                    </a:solidFill>
                    <a:effectLst/>
                    <a:latin typeface="Calibri"/>
                    <a:ea typeface="Calibri"/>
                    <a:cs typeface="Calibri"/>
                    <a:sym typeface="Calibri"/>
                  </a:rPr>
                  <a:t> Adds a penalty for large weights, helping to prevent overfitting by encouraging simpler models. The regularization strength is controlled by the hyperparameter </a:t>
                </a:r>
                <a14:m>
                  <m:oMath xmlns:m="http://schemas.openxmlformats.org/officeDocument/2006/math">
                    <m:r>
                      <a:rPr lang="en-US" sz="1200" b="0" i="1" u="none" strike="noStrike" cap="none">
                        <a:solidFill>
                          <a:schemeClr val="dk1"/>
                        </a:solidFill>
                        <a:latin typeface="Calibri"/>
                        <a:ea typeface="Calibri"/>
                        <a:cs typeface="Calibri"/>
                        <a:sym typeface="Calibri"/>
                      </a:rPr>
                      <m:t>𝜆</m:t>
                    </m:r>
                  </m:oMath>
                </a14:m>
                <a:r>
                  <a:rPr lang="en-US" sz="1200" b="0" i="0" u="none" strike="noStrike" cap="none" dirty="0">
                    <a:solidFill>
                      <a:schemeClr val="dk1"/>
                    </a:solidFill>
                    <a:effectLst/>
                    <a:latin typeface="Calibri"/>
                    <a:ea typeface="Calibri"/>
                    <a:cs typeface="Calibri"/>
                    <a:sym typeface="Calibri"/>
                  </a:rPr>
                  <a:t>.</a:t>
                </a:r>
              </a:p>
              <a:p>
                <a:r>
                  <a:rPr lang="en-US" sz="1200" b="1" i="0" u="none" strike="noStrike" cap="none" dirty="0">
                    <a:solidFill>
                      <a:schemeClr val="dk1"/>
                    </a:solidFill>
                    <a:effectLst/>
                    <a:latin typeface="Calibri"/>
                    <a:ea typeface="Calibri"/>
                    <a:cs typeface="Calibri"/>
                    <a:sym typeface="Calibri"/>
                  </a:rPr>
                  <a:t>Optimization Objective:</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goal is to find the weight matrix </a:t>
                </a:r>
                <a14:m>
                  <m:oMath xmlns:m="http://schemas.openxmlformats.org/officeDocument/2006/math">
                    <m:r>
                      <a:rPr lang="en-US" sz="1200" b="0" i="1" u="none" strike="noStrike" cap="none">
                        <a:solidFill>
                          <a:schemeClr val="dk1"/>
                        </a:solidFill>
                        <a:latin typeface="Calibri"/>
                        <a:ea typeface="Calibri"/>
                        <a:cs typeface="Calibri"/>
                        <a:sym typeface="Calibri"/>
                      </a:rPr>
                      <m:t>𝑊</m:t>
                    </m:r>
                  </m:oMath>
                </a14:m>
                <a:r>
                  <a:rPr lang="en-US" sz="1200" b="0" i="0" u="none" strike="noStrike" cap="none" dirty="0">
                    <a:solidFill>
                      <a:schemeClr val="dk1"/>
                    </a:solidFill>
                    <a:effectLst/>
                    <a:latin typeface="Calibri"/>
                    <a:ea typeface="Calibri"/>
                    <a:cs typeface="Calibri"/>
                    <a:sym typeface="Calibri"/>
                  </a:rPr>
                  <a:t> and bias </a:t>
                </a:r>
                <a14:m>
                  <m:oMath xmlns:m="http://schemas.openxmlformats.org/officeDocument/2006/math">
                    <m:r>
                      <a:rPr lang="en-US" sz="1200" b="0" i="1" u="none" strike="noStrike" cap="none">
                        <a:solidFill>
                          <a:schemeClr val="dk1"/>
                        </a:solidFill>
                        <a:latin typeface="Calibri"/>
                        <a:ea typeface="Calibri"/>
                        <a:cs typeface="Calibri"/>
                        <a:sym typeface="Calibri"/>
                      </a:rPr>
                      <m:t>𝑏</m:t>
                    </m:r>
                  </m:oMath>
                </a14:m>
                <a:r>
                  <a:rPr lang="en-US" sz="1200" b="0" i="0" u="none" strike="noStrike" cap="none" dirty="0">
                    <a:solidFill>
                      <a:schemeClr val="dk1"/>
                    </a:solidFill>
                    <a:effectLst/>
                    <a:latin typeface="Calibri"/>
                    <a:ea typeface="Calibri"/>
                    <a:cs typeface="Calibri"/>
                    <a:sym typeface="Calibri"/>
                  </a:rPr>
                  <a:t> that minimize the loss function </a:t>
                </a:r>
                <a14:m>
                  <m:oMath xmlns:m="http://schemas.openxmlformats.org/officeDocument/2006/math">
                    <m:r>
                      <a:rPr lang="en-US" sz="1200" b="0" i="1" u="none" strike="noStrike" cap="none">
                        <a:solidFill>
                          <a:schemeClr val="dk1"/>
                        </a:solidFill>
                        <a:latin typeface="Calibri"/>
                        <a:ea typeface="Calibri"/>
                        <a:cs typeface="Calibri"/>
                        <a:sym typeface="Calibri"/>
                      </a:rPr>
                      <m:t>𝐿</m:t>
                    </m:r>
                  </m:oMath>
                </a14:m>
                <a:r>
                  <a:rPr lang="en-US" sz="1200" b="0" i="0" u="none" strike="noStrike" cap="none" dirty="0">
                    <a:solidFill>
                      <a:schemeClr val="dk1"/>
                    </a:solidFill>
                    <a:effectLst/>
                    <a:latin typeface="Calibri"/>
                    <a:ea typeface="Calibri"/>
                    <a:cs typeface="Calibri"/>
                    <a:sym typeface="Calibri"/>
                  </a:rPr>
                  <a:t>.</a:t>
                </a:r>
              </a:p>
              <a:p>
                <a:r>
                  <a:rPr lang="en-US" sz="1200" b="0" i="0" u="none" strike="noStrike" cap="none" dirty="0">
                    <a:solidFill>
                      <a:schemeClr val="dk1"/>
                    </a:solidFill>
                    <a:effectLst/>
                    <a:latin typeface="Calibri"/>
                    <a:ea typeface="Calibri"/>
                    <a:cs typeface="Calibri"/>
                    <a:sym typeface="Calibri"/>
                  </a:rPr>
                  <a:t>This involves adjusting the model parameters to improve its performance on the training data while maintaining generalization to unseen data.</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combination of a score function and a loss function provides a framework for training machine learning models, guiding the optimization process to achieve better predictions.</a:t>
                </a:r>
              </a:p>
              <a:p>
                <a:r>
                  <a:rPr lang="en-US" sz="1200" b="0" i="0" u="none" strike="noStrike" cap="none" dirty="0">
                    <a:solidFill>
                      <a:schemeClr val="dk1"/>
                    </a:solidFill>
                    <a:effectLst/>
                    <a:latin typeface="Calibri"/>
                    <a:ea typeface="Calibri"/>
                    <a:cs typeface="Calibri"/>
                    <a:sym typeface="Calibri"/>
                  </a:rPr>
                  <a:t>Generalizing from linear classifiers to CNNs allows for more powerful models capable of handling complex data, such as images and sequences.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summarizes the foundational concepts of score and loss functions in machine learning, highlighting the importance of optimization in model training. Understanding these concepts is crucial for developing effective models that can generalize well to new data.</a:t>
                </a:r>
              </a:p>
              <a:p>
                <a:pPr marL="0" lvl="0" indent="0" algn="l" rtl="0">
                  <a:lnSpc>
                    <a:spcPct val="100000"/>
                  </a:lnSpc>
                  <a:spcBef>
                    <a:spcPts val="0"/>
                  </a:spcBef>
                  <a:spcAft>
                    <a:spcPts val="0"/>
                  </a:spcAft>
                  <a:buSzPts val="1400"/>
                  <a:buNone/>
                </a:pPr>
                <a:endParaRPr dirty="0"/>
              </a:p>
            </p:txBody>
          </p:sp>
        </mc:Choice>
        <mc:Fallback>
          <p:sp>
            <p:nvSpPr>
              <p:cNvPr id="534" name="Google Shape;534;g3292fd40077_1_49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Score Function and Loss Function: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Score Function: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score function is currently based on a linear classifier, which assigns scores to different classes based on input features.</a:t>
                </a:r>
              </a:p>
              <a:p>
                <a:pPr lvl="1"/>
                <a:r>
                  <a:rPr lang="en-US" sz="1200" b="0" i="0" u="none" strike="noStrike" cap="none" dirty="0">
                    <a:solidFill>
                      <a:schemeClr val="dk1"/>
                    </a:solidFill>
                    <a:effectLst/>
                    <a:latin typeface="Calibri"/>
                    <a:ea typeface="Calibri"/>
                    <a:cs typeface="Calibri"/>
                    <a:sym typeface="Calibri"/>
                  </a:rPr>
                  <a:t>The goal is to generalize this approach to convolutional neural networks, which can capture more complex patterns and spatial hierarchies in data.</a:t>
                </a:r>
              </a:p>
              <a:p>
                <a:r>
                  <a:rPr lang="en-US" sz="1200" b="1" i="0" u="none" strike="noStrike" cap="none" dirty="0">
                    <a:solidFill>
                      <a:schemeClr val="dk1"/>
                    </a:solidFill>
                    <a:effectLst/>
                    <a:latin typeface="Calibri"/>
                    <a:ea typeface="Calibri"/>
                    <a:cs typeface="Calibri"/>
                    <a:sym typeface="Calibri"/>
                  </a:rPr>
                  <a:t>Loss Function: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loss function presented is a combination of a cross-entropy loss and a regularization term:</a:t>
                </a:r>
                <a:br>
                  <a:rPr lang="en-US" sz="1200" b="0" i="0" u="none" strike="noStrike" cap="none" dirty="0">
                    <a:solidFill>
                      <a:schemeClr val="dk1"/>
                    </a:solidFill>
                    <a:effectLst/>
                    <a:latin typeface="Calibri"/>
                    <a:ea typeface="Calibri"/>
                    <a:cs typeface="Calibri"/>
                    <a:sym typeface="Calibri"/>
                  </a:rPr>
                </a:br>
                <a:r>
                  <a:rPr lang="en-US" sz="1200" b="0" i="0" u="none" strike="noStrike" cap="none">
                    <a:solidFill>
                      <a:schemeClr val="dk1"/>
                    </a:solidFill>
                    <a:latin typeface="Calibri"/>
                    <a:ea typeface="Calibri"/>
                    <a:cs typeface="Calibri"/>
                    <a:sym typeface="Calibri"/>
                  </a:rPr>
                  <a:t>𝐿=</a:t>
                </a:r>
                <a:r>
                  <a:rPr lang="ar-AE" sz="1200" b="0" i="0" u="none" strike="noStrike" cap="none">
                    <a:solidFill>
                      <a:schemeClr val="dk1"/>
                    </a:solidFill>
                    <a:latin typeface="Calibri"/>
                    <a:ea typeface="Calibri"/>
                    <a:cs typeface="Calibri"/>
                    <a:sym typeface="Calibri"/>
                  </a:rPr>
                  <a:t>1/𝑁 ∑130_𝑖▒− </a:t>
                </a:r>
                <a:r>
                  <a:rPr lang="en-US" sz="1200" b="0" i="0" u="none" strike="noStrike" cap="none">
                    <a:solidFill>
                      <a:schemeClr val="dk1"/>
                    </a:solidFill>
                    <a:latin typeface="Calibri"/>
                    <a:ea typeface="Calibri"/>
                    <a:cs typeface="Calibri"/>
                    <a:sym typeface="Calibri"/>
                  </a:rPr>
                  <a:t> log</a:t>
                </a:r>
                <a:r>
                  <a:rPr lang="ar-AE" sz="1200" b="0" i="0" u="none" strike="noStrike" cap="none">
                    <a:solidFill>
                      <a:schemeClr val="dk1"/>
                    </a:solidFill>
                    <a:latin typeface="Calibri"/>
                    <a:ea typeface="Calibri"/>
                    <a:cs typeface="Calibri"/>
                    <a:sym typeface="Calibri"/>
                  </a:rPr>
                  <a:t>⁡(𝑒^(𝑓_(𝑦_𝑖 ) )/(∑130_𝑗▒𝑒^(𝑓_𝑗 ) ))+𝜆∑130_(𝑘,𝑙)▒𝑊_(𝑘,𝑙)^2 </a:t>
                </a:r>
                <a:endParaRPr lang="ar-AE" sz="1200" b="0" i="0" u="none" strike="noStrike" cap="none" dirty="0">
                  <a:solidFill>
                    <a:schemeClr val="dk1"/>
                  </a:solidFill>
                  <a:effectLst/>
                  <a:latin typeface="Calibri"/>
                  <a:ea typeface="Calibri"/>
                  <a:cs typeface="Calibri"/>
                  <a:sym typeface="Calibri"/>
                </a:endParaRPr>
              </a:p>
              <a:p>
                <a:pPr lvl="1"/>
                <a:r>
                  <a:rPr lang="en-US" sz="1200" b="1" i="0" u="none" strike="noStrike" cap="none" dirty="0">
                    <a:solidFill>
                      <a:schemeClr val="dk1"/>
                    </a:solidFill>
                    <a:effectLst/>
                    <a:latin typeface="Calibri"/>
                    <a:ea typeface="Calibri"/>
                    <a:cs typeface="Calibri"/>
                    <a:sym typeface="Calibri"/>
                  </a:rPr>
                  <a:t>Cross-Entropy Loss:</a:t>
                </a:r>
                <a:r>
                  <a:rPr lang="en-US" sz="1200" b="0" i="0" u="none" strike="noStrike" cap="none" dirty="0">
                    <a:solidFill>
                      <a:schemeClr val="dk1"/>
                    </a:solidFill>
                    <a:effectLst/>
                    <a:latin typeface="Calibri"/>
                    <a:ea typeface="Calibri"/>
                    <a:cs typeface="Calibri"/>
                    <a:sym typeface="Calibri"/>
                  </a:rPr>
                  <a:t> Measures the difference between the predicted probabilities and the true labels, encouraging the model to assign high probabilities to the correct classes.</a:t>
                </a:r>
              </a:p>
              <a:p>
                <a:pPr lvl="1"/>
                <a:r>
                  <a:rPr lang="en-US" sz="1200" b="1" i="0" u="none" strike="noStrike" cap="none" dirty="0">
                    <a:solidFill>
                      <a:schemeClr val="dk1"/>
                    </a:solidFill>
                    <a:effectLst/>
                    <a:latin typeface="Calibri"/>
                    <a:ea typeface="Calibri"/>
                    <a:cs typeface="Calibri"/>
                    <a:sym typeface="Calibri"/>
                  </a:rPr>
                  <a:t>Regularization Term:</a:t>
                </a:r>
                <a:r>
                  <a:rPr lang="en-US" sz="1200" b="0" i="0" u="none" strike="noStrike" cap="none" dirty="0">
                    <a:solidFill>
                      <a:schemeClr val="dk1"/>
                    </a:solidFill>
                    <a:effectLst/>
                    <a:latin typeface="Calibri"/>
                    <a:ea typeface="Calibri"/>
                    <a:cs typeface="Calibri"/>
                    <a:sym typeface="Calibri"/>
                  </a:rPr>
                  <a:t> Adds a penalty for large weights, helping to prevent overfitting by encouraging simpler models. The regularization strength is controlled by the hyperparameter </a:t>
                </a:r>
                <a:r>
                  <a:rPr lang="en-US" sz="1200" b="0" i="0" u="none" strike="noStrike" cap="none">
                    <a:solidFill>
                      <a:schemeClr val="dk1"/>
                    </a:solidFill>
                    <a:latin typeface="Calibri"/>
                    <a:ea typeface="Calibri"/>
                    <a:cs typeface="Calibri"/>
                    <a:sym typeface="Calibri"/>
                  </a:rPr>
                  <a:t>𝜆</a:t>
                </a:r>
                <a:r>
                  <a:rPr lang="en-US" sz="1200" b="0" i="0" u="none" strike="noStrike" cap="none" dirty="0">
                    <a:solidFill>
                      <a:schemeClr val="dk1"/>
                    </a:solidFill>
                    <a:effectLst/>
                    <a:latin typeface="Calibri"/>
                    <a:ea typeface="Calibri"/>
                    <a:cs typeface="Calibri"/>
                    <a:sym typeface="Calibri"/>
                  </a:rPr>
                  <a:t>.</a:t>
                </a:r>
              </a:p>
              <a:p>
                <a:r>
                  <a:rPr lang="en-US" sz="1200" b="1" i="0" u="none" strike="noStrike" cap="none" dirty="0">
                    <a:solidFill>
                      <a:schemeClr val="dk1"/>
                    </a:solidFill>
                    <a:effectLst/>
                    <a:latin typeface="Calibri"/>
                    <a:ea typeface="Calibri"/>
                    <a:cs typeface="Calibri"/>
                    <a:sym typeface="Calibri"/>
                  </a:rPr>
                  <a:t>Optimization Objective:</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goal is to find the weight matrix </a:t>
                </a:r>
                <a:r>
                  <a:rPr lang="en-US" sz="1200" b="0" i="0" u="none" strike="noStrike" cap="none">
                    <a:solidFill>
                      <a:schemeClr val="dk1"/>
                    </a:solidFill>
                    <a:latin typeface="Calibri"/>
                    <a:ea typeface="Calibri"/>
                    <a:cs typeface="Calibri"/>
                    <a:sym typeface="Calibri"/>
                  </a:rPr>
                  <a:t>𝑊</a:t>
                </a:r>
                <a:r>
                  <a:rPr lang="en-US" sz="1200" b="0" i="0" u="none" strike="noStrike" cap="none" dirty="0">
                    <a:solidFill>
                      <a:schemeClr val="dk1"/>
                    </a:solidFill>
                    <a:effectLst/>
                    <a:latin typeface="Calibri"/>
                    <a:ea typeface="Calibri"/>
                    <a:cs typeface="Calibri"/>
                    <a:sym typeface="Calibri"/>
                  </a:rPr>
                  <a:t> and bias </a:t>
                </a:r>
                <a:r>
                  <a:rPr lang="en-US" sz="1200" b="0" i="0" u="none" strike="noStrike" cap="none">
                    <a:solidFill>
                      <a:schemeClr val="dk1"/>
                    </a:solidFill>
                    <a:latin typeface="Calibri"/>
                    <a:ea typeface="Calibri"/>
                    <a:cs typeface="Calibri"/>
                    <a:sym typeface="Calibri"/>
                  </a:rPr>
                  <a:t>𝑏</a:t>
                </a:r>
                <a:r>
                  <a:rPr lang="en-US" sz="1200" b="0" i="0" u="none" strike="noStrike" cap="none" dirty="0">
                    <a:solidFill>
                      <a:schemeClr val="dk1"/>
                    </a:solidFill>
                    <a:effectLst/>
                    <a:latin typeface="Calibri"/>
                    <a:ea typeface="Calibri"/>
                    <a:cs typeface="Calibri"/>
                    <a:sym typeface="Calibri"/>
                  </a:rPr>
                  <a:t> that minimize the loss function </a:t>
                </a:r>
                <a:r>
                  <a:rPr lang="en-US" sz="1200" b="0" i="0" u="none" strike="noStrike" cap="none">
                    <a:solidFill>
                      <a:schemeClr val="dk1"/>
                    </a:solidFill>
                    <a:latin typeface="Calibri"/>
                    <a:ea typeface="Calibri"/>
                    <a:cs typeface="Calibri"/>
                    <a:sym typeface="Calibri"/>
                  </a:rPr>
                  <a:t>𝐿</a:t>
                </a:r>
                <a:r>
                  <a:rPr lang="en-US" sz="1200" b="0" i="0" u="none" strike="noStrike" cap="none" dirty="0">
                    <a:solidFill>
                      <a:schemeClr val="dk1"/>
                    </a:solidFill>
                    <a:effectLst/>
                    <a:latin typeface="Calibri"/>
                    <a:ea typeface="Calibri"/>
                    <a:cs typeface="Calibri"/>
                    <a:sym typeface="Calibri"/>
                  </a:rPr>
                  <a:t>.</a:t>
                </a:r>
              </a:p>
              <a:p>
                <a:r>
                  <a:rPr lang="en-US" sz="1200" b="0" i="0" u="none" strike="noStrike" cap="none" dirty="0">
                    <a:solidFill>
                      <a:schemeClr val="dk1"/>
                    </a:solidFill>
                    <a:effectLst/>
                    <a:latin typeface="Calibri"/>
                    <a:ea typeface="Calibri"/>
                    <a:cs typeface="Calibri"/>
                    <a:sym typeface="Calibri"/>
                  </a:rPr>
                  <a:t>This involves adjusting the model parameters to improve its performance on the training data while maintaining generalization to unseen data.</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combination of a score function and a loss function provides a framework for training machine learning models, guiding the optimization process to achieve better predictions.</a:t>
                </a:r>
              </a:p>
              <a:p>
                <a:r>
                  <a:rPr lang="en-US" sz="1200" b="0" i="0" u="none" strike="noStrike" cap="none" dirty="0">
                    <a:solidFill>
                      <a:schemeClr val="dk1"/>
                    </a:solidFill>
                    <a:effectLst/>
                    <a:latin typeface="Calibri"/>
                    <a:ea typeface="Calibri"/>
                    <a:cs typeface="Calibri"/>
                    <a:sym typeface="Calibri"/>
                  </a:rPr>
                  <a:t>Generalizing from linear classifiers to CNNs allows for more powerful models capable of handling complex data, such as images and sequences.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summarizes the foundational concepts of score and loss functions in machine learning, highlighting the importance of optimization in model training. Understanding these concepts is crucial for developing effective models that can generalize well to new data.</a:t>
                </a:r>
              </a:p>
              <a:p>
                <a:pPr marL="0" lvl="0" indent="0" algn="l" rtl="0">
                  <a:lnSpc>
                    <a:spcPct val="100000"/>
                  </a:lnSpc>
                  <a:spcBef>
                    <a:spcPts val="0"/>
                  </a:spcBef>
                  <a:spcAft>
                    <a:spcPts val="0"/>
                  </a:spcAft>
                  <a:buSzPts val="1400"/>
                  <a:buNone/>
                </a:pPr>
                <a:endParaRPr dirty="0"/>
              </a:p>
            </p:txBody>
          </p:sp>
        </mc:Fallback>
      </mc:AlternateContent>
      <p:sp>
        <p:nvSpPr>
          <p:cNvPr id="535" name="Google Shape;535;g3292fd40077_1_49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b8b5137f2c_0_2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542" name="Google Shape;542;g2b8b5137f2c_0_2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Transformer Block Structure:</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Self-Attention Layer: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input sequence </a:t>
                </a:r>
                <a14:m>
                  <m:oMath xmlns:m="http://schemas.openxmlformats.org/officeDocument/2006/math">
                    <m:d>
                      <m:dPr>
                        <m:sepChr m:val=","/>
                        <m:ctrlPr>
                          <a:rPr lang="ar-AE" sz="1200" b="0" i="0" u="none" strike="noStrike" cap="none">
                            <a:solidFill>
                              <a:schemeClr val="dk1"/>
                            </a:solidFill>
                            <a:latin typeface="Calibri"/>
                            <a:ea typeface="Calibri"/>
                            <a:cs typeface="Calibri"/>
                            <a:sym typeface="Calibri"/>
                          </a:rPr>
                        </m:ctrlPr>
                      </m:dPr>
                      <m:e>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0" u="none" strike="noStrike" cap="none">
                                <a:solidFill>
                                  <a:schemeClr val="dk1"/>
                                </a:solidFill>
                                <a:latin typeface="Calibri"/>
                                <a:ea typeface="Calibri"/>
                                <a:cs typeface="Calibri"/>
                                <a:sym typeface="Calibri"/>
                              </a:rPr>
                              <m:t>1</m:t>
                            </m:r>
                          </m:sub>
                        </m:sSub>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0" u="none" strike="noStrike" cap="none">
                                <a:solidFill>
                                  <a:schemeClr val="dk1"/>
                                </a:solidFill>
                                <a:latin typeface="Calibri"/>
                                <a:ea typeface="Calibri"/>
                                <a:cs typeface="Calibri"/>
                                <a:sym typeface="Calibri"/>
                              </a:rPr>
                              <m:t>2</m:t>
                            </m:r>
                          </m:sub>
                        </m:sSub>
                      </m:e>
                      <m:e>
                        <m:r>
                          <a:rPr lang="ar-AE" sz="1200" b="0" i="0" u="none" strike="noStrike" cap="none">
                            <a:solidFill>
                              <a:schemeClr val="dk1"/>
                            </a:solidFill>
                            <a:latin typeface="Calibri"/>
                            <a:ea typeface="Calibri"/>
                            <a:cs typeface="Calibri"/>
                            <a:sym typeface="Calibri"/>
                          </a:rPr>
                          <m:t>…</m:t>
                        </m:r>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𝑛</m:t>
                            </m:r>
                          </m:sub>
                        </m:sSub>
                      </m:e>
                    </m:d>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first processed by the self-attention layer, which captures dependencies and relationships within the sequence.</a:t>
                </a:r>
              </a:p>
              <a:p>
                <a:r>
                  <a:rPr lang="en-US" sz="1200" b="1" i="0" u="none" strike="noStrike" cap="none" dirty="0">
                    <a:solidFill>
                      <a:schemeClr val="dk1"/>
                    </a:solidFill>
                    <a:effectLst/>
                    <a:latin typeface="Calibri"/>
                    <a:ea typeface="Calibri"/>
                    <a:cs typeface="Calibri"/>
                    <a:sym typeface="Calibri"/>
                  </a:rPr>
                  <a:t>Residual Connection and Layer Normalization: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 residual connection adds the original input </a:t>
                </a:r>
                <a14:m>
                  <m:oMath xmlns:m="http://schemas.openxmlformats.org/officeDocument/2006/math">
                    <m:r>
                      <a:rPr lang="en-US" sz="1200" b="0" i="1" u="none" strike="noStrike" cap="none">
                        <a:solidFill>
                          <a:schemeClr val="dk1"/>
                        </a:solidFill>
                        <a:latin typeface="Calibri"/>
                        <a:ea typeface="Calibri"/>
                        <a:cs typeface="Calibri"/>
                        <a:sym typeface="Calibri"/>
                      </a:rPr>
                      <m:t>𝑥</m:t>
                    </m:r>
                  </m:oMath>
                </a14:m>
                <a:r>
                  <a:rPr lang="en-US" sz="1200" b="0" i="0" u="none" strike="noStrike" cap="none" dirty="0">
                    <a:solidFill>
                      <a:schemeClr val="dk1"/>
                    </a:solidFill>
                    <a:effectLst/>
                    <a:latin typeface="Calibri"/>
                    <a:ea typeface="Calibri"/>
                    <a:cs typeface="Calibri"/>
                    <a:sym typeface="Calibri"/>
                  </a:rPr>
                  <a:t> to the output of the self-attention layer, followed by layer normalization:</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r>
                        <a:rPr lang="en-US" sz="1200" b="0" i="1" u="none" strike="noStrike" cap="none">
                          <a:solidFill>
                            <a:schemeClr val="dk1"/>
                          </a:solidFill>
                          <a:latin typeface="Calibri"/>
                          <a:ea typeface="Calibri"/>
                          <a:cs typeface="Calibri"/>
                          <a:sym typeface="Calibri"/>
                        </a:rPr>
                        <m:t>𝑧</m:t>
                      </m:r>
                      <m:r>
                        <a:rPr lang="en-US" sz="1200" b="0" i="0" u="none" strike="noStrike" cap="none">
                          <a:solidFill>
                            <a:schemeClr val="dk1"/>
                          </a:solidFill>
                          <a:latin typeface="Calibri"/>
                          <a:ea typeface="Calibri"/>
                          <a:cs typeface="Calibri"/>
                          <a:sym typeface="Calibri"/>
                        </a:rPr>
                        <m:t>=</m:t>
                      </m:r>
                      <m:r>
                        <m:rPr>
                          <m:nor/>
                        </m:rPr>
                        <a:rPr lang="en-US" sz="1200" b="0" i="1" u="none" strike="noStrike" cap="none">
                          <a:solidFill>
                            <a:schemeClr val="dk1"/>
                          </a:solidFill>
                          <a:latin typeface="Calibri"/>
                          <a:ea typeface="Calibri"/>
                          <a:cs typeface="Calibri"/>
                          <a:sym typeface="Calibri"/>
                        </a:rPr>
                        <m:t>LayerNorm</m:t>
                      </m:r>
                      <m:d>
                        <m:dPr>
                          <m:ctrlPr>
                            <a:rPr lang="ar-AE" sz="1200" b="0" i="1" u="none" strike="noStrike" cap="none">
                              <a:solidFill>
                                <a:schemeClr val="dk1"/>
                              </a:solidFill>
                              <a:latin typeface="Calibri"/>
                              <a:ea typeface="Calibri"/>
                              <a:cs typeface="Calibri"/>
                              <a:sym typeface="Calibri"/>
                            </a:rPr>
                          </m:ctrlPr>
                        </m:dPr>
                        <m:e>
                          <m:r>
                            <a:rPr lang="ar-AE" sz="1200" b="0" i="1" u="none" strike="noStrike" cap="none">
                              <a:solidFill>
                                <a:schemeClr val="dk1"/>
                              </a:solidFill>
                              <a:latin typeface="Calibri"/>
                              <a:ea typeface="Calibri"/>
                              <a:cs typeface="Calibri"/>
                              <a:sym typeface="Calibri"/>
                            </a:rPr>
                            <m:t>𝑥</m:t>
                          </m:r>
                          <m:r>
                            <a:rPr lang="ar-AE" sz="1200" b="0" i="0" u="none" strike="noStrike" cap="none">
                              <a:solidFill>
                                <a:schemeClr val="dk1"/>
                              </a:solidFill>
                              <a:latin typeface="Calibri"/>
                              <a:ea typeface="Calibri"/>
                              <a:cs typeface="Calibri"/>
                              <a:sym typeface="Calibri"/>
                            </a:rPr>
                            <m:t>+</m:t>
                          </m:r>
                          <m:r>
                            <m:rPr>
                              <m:nor/>
                            </m:rPr>
                            <a:rPr lang="en-US" sz="1200" b="0" i="1" u="none" strike="noStrike" cap="none">
                              <a:solidFill>
                                <a:schemeClr val="dk1"/>
                              </a:solidFill>
                              <a:latin typeface="Calibri"/>
                              <a:ea typeface="Calibri"/>
                              <a:cs typeface="Calibri"/>
                              <a:sym typeface="Calibri"/>
                            </a:rPr>
                            <m:t>SelfAttention</m:t>
                          </m:r>
                          <m:d>
                            <m:dPr>
                              <m:ctrlPr>
                                <a:rPr lang="ar-AE" sz="1200" b="0" i="1" u="none" strike="noStrike" cap="none">
                                  <a:solidFill>
                                    <a:schemeClr val="dk1"/>
                                  </a:solidFill>
                                  <a:latin typeface="Calibri"/>
                                  <a:ea typeface="Calibri"/>
                                  <a:cs typeface="Calibri"/>
                                  <a:sym typeface="Calibri"/>
                                </a:rPr>
                              </m:ctrlPr>
                            </m:dPr>
                            <m:e>
                              <m:r>
                                <a:rPr lang="ar-AE" sz="1200" b="0" i="1" u="none" strike="noStrike" cap="none">
                                  <a:solidFill>
                                    <a:schemeClr val="dk1"/>
                                  </a:solidFill>
                                  <a:latin typeface="Calibri"/>
                                  <a:ea typeface="Calibri"/>
                                  <a:cs typeface="Calibri"/>
                                  <a:sym typeface="Calibri"/>
                                </a:rPr>
                                <m:t>𝑥</m:t>
                              </m:r>
                            </m:e>
                          </m:d>
                        </m:e>
                      </m:d>
                    </m:oMath>
                  </m:oMathPara>
                </a14:m>
                <a:endParaRPr lang="ar-AE"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Feedforward Layer: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normalized output </a:t>
                </a:r>
                <a14:m>
                  <m:oMath xmlns:m="http://schemas.openxmlformats.org/officeDocument/2006/math">
                    <m:r>
                      <a:rPr lang="en-US" sz="1200" b="0" i="1" u="none" strike="noStrike" cap="none">
                        <a:solidFill>
                          <a:schemeClr val="dk1"/>
                        </a:solidFill>
                        <a:latin typeface="Calibri"/>
                        <a:ea typeface="Calibri"/>
                        <a:cs typeface="Calibri"/>
                        <a:sym typeface="Calibri"/>
                      </a:rPr>
                      <m:t>𝑧</m:t>
                    </m:r>
                  </m:oMath>
                </a14:m>
                <a:r>
                  <a:rPr lang="en-US" sz="1200" b="0" i="0" u="none" strike="noStrike" cap="none" dirty="0">
                    <a:solidFill>
                      <a:schemeClr val="dk1"/>
                    </a:solidFill>
                    <a:effectLst/>
                    <a:latin typeface="Calibri"/>
                    <a:ea typeface="Calibri"/>
                    <a:cs typeface="Calibri"/>
                    <a:sym typeface="Calibri"/>
                  </a:rPr>
                  <a:t> is passed through a feedforward neural network, which typically consists of two linear transformations with a </a:t>
                </a:r>
                <a:r>
                  <a:rPr lang="en-US" sz="1200" b="0" i="0" u="none" strike="noStrike" cap="none" dirty="0" err="1">
                    <a:solidFill>
                      <a:schemeClr val="dk1"/>
                    </a:solidFill>
                    <a:effectLst/>
                    <a:latin typeface="Calibri"/>
                    <a:ea typeface="Calibri"/>
                    <a:cs typeface="Calibri"/>
                    <a:sym typeface="Calibri"/>
                  </a:rPr>
                  <a:t>ReLU</a:t>
                </a:r>
                <a:r>
                  <a:rPr lang="en-US" sz="1200" b="0" i="0" u="none" strike="noStrike" cap="none" dirty="0">
                    <a:solidFill>
                      <a:schemeClr val="dk1"/>
                    </a:solidFill>
                    <a:effectLst/>
                    <a:latin typeface="Calibri"/>
                    <a:ea typeface="Calibri"/>
                    <a:cs typeface="Calibri"/>
                    <a:sym typeface="Calibri"/>
                  </a:rPr>
                  <a:t> activation in between.</a:t>
                </a:r>
              </a:p>
              <a:p>
                <a:r>
                  <a:rPr lang="en-US" sz="1200" b="1" i="0" u="none" strike="noStrike" cap="none" dirty="0">
                    <a:solidFill>
                      <a:schemeClr val="dk1"/>
                    </a:solidFill>
                    <a:effectLst/>
                    <a:latin typeface="Calibri"/>
                    <a:ea typeface="Calibri"/>
                    <a:cs typeface="Calibri"/>
                    <a:sym typeface="Calibri"/>
                  </a:rPr>
                  <a:t>Residual Connection and Layer Normalization: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Another residual connection adds the output of the feedforward layer to </a:t>
                </a:r>
                <a14:m>
                  <m:oMath xmlns:m="http://schemas.openxmlformats.org/officeDocument/2006/math">
                    <m:r>
                      <a:rPr lang="en-US" sz="1200" b="0" i="1" u="none" strike="noStrike" cap="none">
                        <a:solidFill>
                          <a:schemeClr val="dk1"/>
                        </a:solidFill>
                        <a:latin typeface="Calibri"/>
                        <a:ea typeface="Calibri"/>
                        <a:cs typeface="Calibri"/>
                        <a:sym typeface="Calibri"/>
                      </a:rPr>
                      <m:t>𝑧</m:t>
                    </m:r>
                  </m:oMath>
                </a14:m>
                <a:r>
                  <a:rPr lang="en-US" sz="1200" b="0" i="0" u="none" strike="noStrike" cap="none" dirty="0">
                    <a:solidFill>
                      <a:schemeClr val="dk1"/>
                    </a:solidFill>
                    <a:effectLst/>
                    <a:latin typeface="Calibri"/>
                    <a:ea typeface="Calibri"/>
                    <a:cs typeface="Calibri"/>
                    <a:sym typeface="Calibri"/>
                  </a:rPr>
                  <a:t>, followed by layer normalization:</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r>
                        <a:rPr lang="en-US" sz="1200" b="0" i="1" u="none" strike="noStrike" cap="none">
                          <a:solidFill>
                            <a:schemeClr val="dk1"/>
                          </a:solidFill>
                          <a:latin typeface="Calibri"/>
                          <a:ea typeface="Calibri"/>
                          <a:cs typeface="Calibri"/>
                          <a:sym typeface="Calibri"/>
                        </a:rPr>
                        <m:t>𝑦</m:t>
                      </m:r>
                      <m:r>
                        <a:rPr lang="en-US" sz="1200" b="0" i="0" u="none" strike="noStrike" cap="none">
                          <a:solidFill>
                            <a:schemeClr val="dk1"/>
                          </a:solidFill>
                          <a:latin typeface="Calibri"/>
                          <a:ea typeface="Calibri"/>
                          <a:cs typeface="Calibri"/>
                          <a:sym typeface="Calibri"/>
                        </a:rPr>
                        <m:t>=</m:t>
                      </m:r>
                      <m:r>
                        <m:rPr>
                          <m:nor/>
                        </m:rPr>
                        <a:rPr lang="en-US" sz="1200" b="0" i="1" u="none" strike="noStrike" cap="none">
                          <a:solidFill>
                            <a:schemeClr val="dk1"/>
                          </a:solidFill>
                          <a:latin typeface="Calibri"/>
                          <a:ea typeface="Calibri"/>
                          <a:cs typeface="Calibri"/>
                          <a:sym typeface="Calibri"/>
                        </a:rPr>
                        <m:t>LayerNorm</m:t>
                      </m:r>
                      <m:d>
                        <m:dPr>
                          <m:ctrlPr>
                            <a:rPr lang="ar-AE" sz="1200" b="0" i="1" u="none" strike="noStrike" cap="none">
                              <a:solidFill>
                                <a:schemeClr val="dk1"/>
                              </a:solidFill>
                              <a:latin typeface="Calibri"/>
                              <a:ea typeface="Calibri"/>
                              <a:cs typeface="Calibri"/>
                              <a:sym typeface="Calibri"/>
                            </a:rPr>
                          </m:ctrlPr>
                        </m:dPr>
                        <m:e>
                          <m:r>
                            <a:rPr lang="ar-AE" sz="1200" b="0" i="1" u="none" strike="noStrike" cap="none">
                              <a:solidFill>
                                <a:schemeClr val="dk1"/>
                              </a:solidFill>
                              <a:latin typeface="Calibri"/>
                              <a:ea typeface="Calibri"/>
                              <a:cs typeface="Calibri"/>
                              <a:sym typeface="Calibri"/>
                            </a:rPr>
                            <m:t>𝑧</m:t>
                          </m:r>
                          <m:r>
                            <a:rPr lang="ar-AE" sz="1200" b="0" i="0" u="none" strike="noStrike" cap="none">
                              <a:solidFill>
                                <a:schemeClr val="dk1"/>
                              </a:solidFill>
                              <a:latin typeface="Calibri"/>
                              <a:ea typeface="Calibri"/>
                              <a:cs typeface="Calibri"/>
                              <a:sym typeface="Calibri"/>
                            </a:rPr>
                            <m:t>+</m:t>
                          </m:r>
                          <m:r>
                            <m:rPr>
                              <m:nor/>
                            </m:rPr>
                            <a:rPr lang="en-US" sz="1200" b="0" i="1" u="none" strike="noStrike" cap="none">
                              <a:solidFill>
                                <a:schemeClr val="dk1"/>
                              </a:solidFill>
                              <a:latin typeface="Calibri"/>
                              <a:ea typeface="Calibri"/>
                              <a:cs typeface="Calibri"/>
                              <a:sym typeface="Calibri"/>
                            </a:rPr>
                            <m:t>FFN</m:t>
                          </m:r>
                          <m:d>
                            <m:dPr>
                              <m:ctrlPr>
                                <a:rPr lang="ar-AE" sz="1200" b="0" i="1" u="none" strike="noStrike" cap="none">
                                  <a:solidFill>
                                    <a:schemeClr val="dk1"/>
                                  </a:solidFill>
                                  <a:latin typeface="Calibri"/>
                                  <a:ea typeface="Calibri"/>
                                  <a:cs typeface="Calibri"/>
                                  <a:sym typeface="Calibri"/>
                                </a:rPr>
                              </m:ctrlPr>
                            </m:dPr>
                            <m:e>
                              <m:r>
                                <a:rPr lang="ar-AE" sz="1200" b="0" i="1" u="none" strike="noStrike" cap="none">
                                  <a:solidFill>
                                    <a:schemeClr val="dk1"/>
                                  </a:solidFill>
                                  <a:latin typeface="Calibri"/>
                                  <a:ea typeface="Calibri"/>
                                  <a:cs typeface="Calibri"/>
                                  <a:sym typeface="Calibri"/>
                                </a:rPr>
                                <m:t>𝑧</m:t>
                              </m:r>
                            </m:e>
                          </m:d>
                        </m:e>
                      </m:d>
                    </m:oMath>
                  </m:oMathPara>
                </a14:m>
                <a:endParaRPr lang="ar-AE"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Layer Normalization: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Mathematical Formulation:</a:t>
                </a:r>
                <a:endParaRPr lang="en-US" sz="1200" b="0" i="0" u="none" strike="noStrike" cap="none" dirty="0">
                  <a:solidFill>
                    <a:schemeClr val="dk1"/>
                  </a:solidFill>
                  <a:effectLst/>
                  <a:latin typeface="Calibri"/>
                  <a:ea typeface="Calibri"/>
                  <a:cs typeface="Calibri"/>
                  <a:sym typeface="Calibri"/>
                </a:endParaRPr>
              </a:p>
              <a:p>
                <a:pPr lvl="1"/>
                <a:r>
                  <a:rPr lang="en-US" sz="1200" b="1" i="0" u="none" strike="noStrike" cap="none" dirty="0">
                    <a:solidFill>
                      <a:schemeClr val="dk1"/>
                    </a:solidFill>
                    <a:effectLst/>
                    <a:latin typeface="Calibri"/>
                    <a:ea typeface="Calibri"/>
                    <a:cs typeface="Calibri"/>
                    <a:sym typeface="Calibri"/>
                  </a:rPr>
                  <a:t>Mean (</a:t>
                </a:r>
                <a14:m>
                  <m:oMath xmlns:m="http://schemas.openxmlformats.org/officeDocument/2006/math">
                    <m:r>
                      <a:rPr lang="en-US" sz="1200" b="0" i="1" u="none" strike="noStrike" cap="none">
                        <a:solidFill>
                          <a:schemeClr val="dk1"/>
                        </a:solidFill>
                        <a:latin typeface="Calibri"/>
                        <a:ea typeface="Calibri"/>
                        <a:cs typeface="Calibri"/>
                        <a:sym typeface="Calibri"/>
                      </a:rPr>
                      <m:t>𝜇</m:t>
                    </m:r>
                  </m:oMath>
                </a14:m>
                <a:r>
                  <a:rPr lang="en-US" sz="1200" b="1" i="0" u="none" strike="noStrike" cap="none" dirty="0">
                    <a:solidFill>
                      <a:schemeClr val="dk1"/>
                    </a:solidFill>
                    <a:effectLst/>
                    <a:latin typeface="Calibri"/>
                    <a:ea typeface="Calibri"/>
                    <a:cs typeface="Calibri"/>
                    <a:sym typeface="Calibri"/>
                  </a:rPr>
                  <a:t>):</a:t>
                </a:r>
                <a:r>
                  <a:rPr lang="en-US" sz="1200" b="0" i="0" u="none" strike="noStrike" cap="none" dirty="0">
                    <a:solidFill>
                      <a:schemeClr val="dk1"/>
                    </a:solidFill>
                    <a:effectLst/>
                    <a:latin typeface="Calibri"/>
                    <a:ea typeface="Calibri"/>
                    <a:cs typeface="Calibri"/>
                    <a:sym typeface="Calibri"/>
                  </a:rPr>
                  <a:t> The mean of the input features is calculated:</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r>
                        <a:rPr lang="en-US" sz="1200" b="0" i="1" u="none" strike="noStrike" cap="none">
                          <a:solidFill>
                            <a:schemeClr val="dk1"/>
                          </a:solidFill>
                          <a:latin typeface="Calibri"/>
                          <a:ea typeface="Calibri"/>
                          <a:cs typeface="Calibri"/>
                          <a:sym typeface="Calibri"/>
                        </a:rPr>
                        <m:t>𝜇</m:t>
                      </m:r>
                      <m:r>
                        <a:rPr lang="en-US" sz="1200" b="0" i="0" u="none" strike="noStrike" cap="none">
                          <a:solidFill>
                            <a:schemeClr val="dk1"/>
                          </a:solidFill>
                          <a:latin typeface="Calibri"/>
                          <a:ea typeface="Calibri"/>
                          <a:cs typeface="Calibri"/>
                          <a:sym typeface="Calibri"/>
                        </a:rPr>
                        <m:t>=</m:t>
                      </m:r>
                      <m:f>
                        <m:fPr>
                          <m:ctrlPr>
                            <a:rPr lang="ar-AE" sz="1200" b="0" i="1" u="none" strike="noStrike" cap="none">
                              <a:solidFill>
                                <a:schemeClr val="dk1"/>
                              </a:solidFill>
                              <a:latin typeface="Calibri"/>
                              <a:ea typeface="Calibri"/>
                              <a:cs typeface="Calibri"/>
                              <a:sym typeface="Calibri"/>
                            </a:rPr>
                          </m:ctrlPr>
                        </m:fPr>
                        <m:num>
                          <m:r>
                            <a:rPr lang="ar-AE" sz="1200" b="0" i="0" u="none" strike="noStrike" cap="none">
                              <a:solidFill>
                                <a:schemeClr val="dk1"/>
                              </a:solidFill>
                              <a:latin typeface="Calibri"/>
                              <a:ea typeface="Calibri"/>
                              <a:cs typeface="Calibri"/>
                              <a:sym typeface="Calibri"/>
                            </a:rPr>
                            <m:t>1</m:t>
                          </m:r>
                        </m:num>
                        <m:den>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𝑑</m:t>
                              </m:r>
                            </m:e>
                            <m:sub>
                              <m:r>
                                <a:rPr lang="ar-AE" sz="1200" b="0" i="1" u="none" strike="noStrike" cap="none">
                                  <a:solidFill>
                                    <a:schemeClr val="dk1"/>
                                  </a:solidFill>
                                  <a:latin typeface="Calibri"/>
                                  <a:ea typeface="Calibri"/>
                                  <a:cs typeface="Calibri"/>
                                  <a:sym typeface="Calibri"/>
                                </a:rPr>
                                <m:t>h</m:t>
                              </m:r>
                            </m:sub>
                          </m:sSub>
                        </m:den>
                      </m:f>
                      <m:nary>
                        <m:naryPr>
                          <m:chr m:val="∑"/>
                          <m:limLoc m:val="subSup"/>
                          <m:grow m:val="on"/>
                          <m:ctrlPr>
                            <a:rPr lang="ar-AE" sz="1200" b="0" i="1" u="none" strike="noStrike" cap="none">
                              <a:solidFill>
                                <a:schemeClr val="dk1"/>
                              </a:solidFill>
                              <a:latin typeface="Calibri"/>
                              <a:ea typeface="Calibri"/>
                              <a:cs typeface="Calibri"/>
                              <a:sym typeface="Calibri"/>
                            </a:rPr>
                          </m:ctrlPr>
                        </m:naryPr>
                        <m:sub>
                          <m:r>
                            <a:rPr lang="ar-AE" sz="1200" b="0" i="1" u="none" strike="noStrike" cap="none">
                              <a:solidFill>
                                <a:schemeClr val="dk1"/>
                              </a:solidFill>
                              <a:latin typeface="Calibri"/>
                              <a:ea typeface="Calibri"/>
                              <a:cs typeface="Calibri"/>
                              <a:sym typeface="Calibri"/>
                            </a:rPr>
                            <m:t>𝑖</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up>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𝑑</m:t>
                              </m:r>
                            </m:e>
                            <m:sub>
                              <m:r>
                                <a:rPr lang="ar-AE" sz="1200" b="0" i="1" u="none" strike="noStrike" cap="none">
                                  <a:solidFill>
                                    <a:schemeClr val="dk1"/>
                                  </a:solidFill>
                                  <a:latin typeface="Calibri"/>
                                  <a:ea typeface="Calibri"/>
                                  <a:cs typeface="Calibri"/>
                                  <a:sym typeface="Calibri"/>
                                </a:rPr>
                                <m:t>h</m:t>
                              </m:r>
                            </m:sub>
                          </m:sSub>
                        </m:sup>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𝑖</m:t>
                              </m:r>
                            </m:sub>
                          </m:sSub>
                        </m:e>
                      </m:nary>
                    </m:oMath>
                  </m:oMathPara>
                </a14:m>
                <a:endParaRPr lang="ar-AE" sz="1200" b="0" i="0" u="none" strike="noStrike" cap="none" dirty="0">
                  <a:solidFill>
                    <a:schemeClr val="dk1"/>
                  </a:solidFill>
                  <a:effectLst/>
                  <a:latin typeface="Calibri"/>
                  <a:ea typeface="Calibri"/>
                  <a:cs typeface="Calibri"/>
                  <a:sym typeface="Calibri"/>
                </a:endParaRPr>
              </a:p>
              <a:p>
                <a:pPr lvl="1"/>
                <a:r>
                  <a:rPr lang="en-US" sz="1200" b="1" i="0" u="none" strike="noStrike" cap="none" dirty="0">
                    <a:solidFill>
                      <a:schemeClr val="dk1"/>
                    </a:solidFill>
                    <a:effectLst/>
                    <a:latin typeface="Calibri"/>
                    <a:ea typeface="Calibri"/>
                    <a:cs typeface="Calibri"/>
                    <a:sym typeface="Calibri"/>
                  </a:rPr>
                  <a:t>Standard Deviation (</a:t>
                </a:r>
                <a14:m>
                  <m:oMath xmlns:m="http://schemas.openxmlformats.org/officeDocument/2006/math">
                    <m:r>
                      <a:rPr lang="en-US" sz="1200" b="0" i="1" u="none" strike="noStrike" cap="none">
                        <a:solidFill>
                          <a:schemeClr val="dk1"/>
                        </a:solidFill>
                        <a:latin typeface="Calibri"/>
                        <a:ea typeface="Calibri"/>
                        <a:cs typeface="Calibri"/>
                        <a:sym typeface="Calibri"/>
                      </a:rPr>
                      <m:t>𝜎</m:t>
                    </m:r>
                  </m:oMath>
                </a14:m>
                <a:r>
                  <a:rPr lang="en-US" sz="1200" b="1" i="0" u="none" strike="noStrike" cap="none" dirty="0">
                    <a:solidFill>
                      <a:schemeClr val="dk1"/>
                    </a:solidFill>
                    <a:effectLst/>
                    <a:latin typeface="Calibri"/>
                    <a:ea typeface="Calibri"/>
                    <a:cs typeface="Calibri"/>
                    <a:sym typeface="Calibri"/>
                  </a:rPr>
                  <a:t>):</a:t>
                </a:r>
                <a:r>
                  <a:rPr lang="en-US" sz="1200" b="0" i="0" u="none" strike="noStrike" cap="none" dirty="0">
                    <a:solidFill>
                      <a:schemeClr val="dk1"/>
                    </a:solidFill>
                    <a:effectLst/>
                    <a:latin typeface="Calibri"/>
                    <a:ea typeface="Calibri"/>
                    <a:cs typeface="Calibri"/>
                    <a:sym typeface="Calibri"/>
                  </a:rPr>
                  <a:t> The standard deviation is computed:</a:t>
                </a:r>
                <a:br>
                  <a:rPr lang="en-US" sz="1200" b="0" i="0" u="none" strike="noStrike" cap="none" dirty="0">
                    <a:solidFill>
                      <a:schemeClr val="dk1"/>
                    </a:solidFill>
                    <a:effectLst/>
                    <a:latin typeface="Calibri"/>
                    <a:ea typeface="Calibri"/>
                    <a:cs typeface="Calibri"/>
                    <a:sym typeface="Calibri"/>
                  </a:rPr>
                </a:br>
                <a:endParaRPr lang="en-US" sz="1200" b="0" i="0" u="none" strike="noStrike" cap="none" dirty="0">
                  <a:solidFill>
                    <a:schemeClr val="dk1"/>
                  </a:solidFill>
                  <a:effectLst/>
                  <a:latin typeface="Calibri"/>
                  <a:ea typeface="Calibri"/>
                  <a:cs typeface="Calibri"/>
                  <a:sym typeface="Calibri"/>
                </a:endParaRPr>
              </a:p>
              <a:p>
                <a:pPr lvl="1"/>
                <a:r>
                  <a:rPr lang="en-US" sz="1200" b="1" i="0" u="none" strike="noStrike" cap="none" dirty="0">
                    <a:solidFill>
                      <a:schemeClr val="dk1"/>
                    </a:solidFill>
                    <a:effectLst/>
                    <a:latin typeface="Calibri"/>
                    <a:ea typeface="Calibri"/>
                    <a:cs typeface="Calibri"/>
                    <a:sym typeface="Calibri"/>
                  </a:rPr>
                  <a:t>Normalization (</a:t>
                </a:r>
                <a14:m>
                  <m:oMath xmlns:m="http://schemas.openxmlformats.org/officeDocument/2006/math">
                    <m:acc>
                      <m:accPr>
                        <m:chr m:val="̂"/>
                        <m:ctrlPr>
                          <a:rPr lang="ar-AE" sz="1200" b="0" i="0" u="none" strike="noStrike" cap="none">
                            <a:solidFill>
                              <a:schemeClr val="dk1"/>
                            </a:solidFill>
                            <a:latin typeface="Calibri"/>
                            <a:ea typeface="Calibri"/>
                            <a:cs typeface="Calibri"/>
                            <a:sym typeface="Calibri"/>
                          </a:rPr>
                        </m:ctrlPr>
                      </m:accPr>
                      <m:e>
                        <m:r>
                          <a:rPr lang="ar-AE" sz="1200" b="0" i="1" u="none" strike="noStrike" cap="none">
                            <a:solidFill>
                              <a:schemeClr val="dk1"/>
                            </a:solidFill>
                            <a:latin typeface="Calibri"/>
                            <a:ea typeface="Calibri"/>
                            <a:cs typeface="Calibri"/>
                            <a:sym typeface="Calibri"/>
                          </a:rPr>
                          <m:t>𝑥</m:t>
                        </m:r>
                      </m:e>
                    </m:acc>
                  </m:oMath>
                </a14:m>
                <a:r>
                  <a:rPr lang="ar-AE" sz="1200" b="1" i="0" u="none" strike="noStrike" cap="none" dirty="0">
                    <a:solidFill>
                      <a:schemeClr val="dk1"/>
                    </a:solidFill>
                    <a:effectLst/>
                    <a:latin typeface="Calibri"/>
                    <a:ea typeface="Calibri"/>
                    <a:cs typeface="Calibri"/>
                    <a:sym typeface="Calibri"/>
                  </a:rPr>
                  <a:t>):</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The input is normalized:</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acc>
                        <m:accPr>
                          <m:chr m:val="̂"/>
                          <m:ctrlPr>
                            <a:rPr lang="ar-AE" sz="1200" b="0" i="0" u="none" strike="noStrike" cap="none">
                              <a:solidFill>
                                <a:schemeClr val="dk1"/>
                              </a:solidFill>
                              <a:latin typeface="Calibri"/>
                              <a:ea typeface="Calibri"/>
                              <a:cs typeface="Calibri"/>
                              <a:sym typeface="Calibri"/>
                            </a:rPr>
                          </m:ctrlPr>
                        </m:accPr>
                        <m:e>
                          <m:r>
                            <a:rPr lang="ar-AE" sz="1200" b="0" i="1" u="none" strike="noStrike" cap="none">
                              <a:solidFill>
                                <a:schemeClr val="dk1"/>
                              </a:solidFill>
                              <a:latin typeface="Calibri"/>
                              <a:ea typeface="Calibri"/>
                              <a:cs typeface="Calibri"/>
                              <a:sym typeface="Calibri"/>
                            </a:rPr>
                            <m:t>𝑥</m:t>
                          </m:r>
                        </m:e>
                      </m:acc>
                      <m:r>
                        <a:rPr lang="ar-AE" sz="1200" b="0" i="0" u="none" strike="noStrike" cap="none">
                          <a:solidFill>
                            <a:schemeClr val="dk1"/>
                          </a:solidFill>
                          <a:latin typeface="Calibri"/>
                          <a:ea typeface="Calibri"/>
                          <a:cs typeface="Calibri"/>
                          <a:sym typeface="Calibri"/>
                        </a:rPr>
                        <m:t>=</m:t>
                      </m:r>
                      <m:f>
                        <m:fPr>
                          <m:ctrlPr>
                            <a:rPr lang="ar-AE" sz="1200" b="0" i="1" u="none" strike="noStrike" cap="none">
                              <a:solidFill>
                                <a:schemeClr val="dk1"/>
                              </a:solidFill>
                              <a:latin typeface="Calibri"/>
                              <a:ea typeface="Calibri"/>
                              <a:cs typeface="Calibri"/>
                              <a:sym typeface="Calibri"/>
                            </a:rPr>
                          </m:ctrlPr>
                        </m:fPr>
                        <m:num>
                          <m:r>
                            <a:rPr lang="ar-AE" sz="1200" b="0" i="1" u="none" strike="noStrike" cap="none">
                              <a:solidFill>
                                <a:schemeClr val="dk1"/>
                              </a:solidFill>
                              <a:latin typeface="Calibri"/>
                              <a:ea typeface="Calibri"/>
                              <a:cs typeface="Calibri"/>
                              <a:sym typeface="Calibri"/>
                            </a:rPr>
                            <m:t>𝑥</m:t>
                          </m:r>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𝜇</m:t>
                          </m:r>
                        </m:num>
                        <m:den>
                          <m:r>
                            <a:rPr lang="ar-AE" sz="1200" b="0" i="1" u="none" strike="noStrike" cap="none">
                              <a:solidFill>
                                <a:schemeClr val="dk1"/>
                              </a:solidFill>
                              <a:latin typeface="Calibri"/>
                              <a:ea typeface="Calibri"/>
                              <a:cs typeface="Calibri"/>
                              <a:sym typeface="Calibri"/>
                            </a:rPr>
                            <m:t>𝜎</m:t>
                          </m:r>
                        </m:den>
                      </m:f>
                    </m:oMath>
                  </m:oMathPara>
                </a14:m>
                <a:endParaRPr lang="ar-AE" sz="1200" b="0" i="0" u="none" strike="noStrike" cap="none" dirty="0">
                  <a:solidFill>
                    <a:schemeClr val="dk1"/>
                  </a:solidFill>
                  <a:effectLst/>
                  <a:latin typeface="Calibri"/>
                  <a:ea typeface="Calibri"/>
                  <a:cs typeface="Calibri"/>
                  <a:sym typeface="Calibri"/>
                </a:endParaRPr>
              </a:p>
              <a:p>
                <a:pPr lvl="1"/>
                <a:r>
                  <a:rPr lang="en-US" sz="1200" b="1" i="0" u="none" strike="noStrike" cap="none" dirty="0">
                    <a:solidFill>
                      <a:schemeClr val="dk1"/>
                    </a:solidFill>
                    <a:effectLst/>
                    <a:latin typeface="Calibri"/>
                    <a:ea typeface="Calibri"/>
                    <a:cs typeface="Calibri"/>
                    <a:sym typeface="Calibri"/>
                  </a:rPr>
                  <a:t>Scale and Shift:</a:t>
                </a:r>
                <a:r>
                  <a:rPr lang="en-US" sz="1200" b="0" i="0" u="none" strike="noStrike" cap="none" dirty="0">
                    <a:solidFill>
                      <a:schemeClr val="dk1"/>
                    </a:solidFill>
                    <a:effectLst/>
                    <a:latin typeface="Calibri"/>
                    <a:ea typeface="Calibri"/>
                    <a:cs typeface="Calibri"/>
                    <a:sym typeface="Calibri"/>
                  </a:rPr>
                  <a:t> The normalized input is scaled and shifted using learnable parameters </a:t>
                </a:r>
                <a14:m>
                  <m:oMath xmlns:m="http://schemas.openxmlformats.org/officeDocument/2006/math">
                    <m:r>
                      <a:rPr lang="en-US" sz="1200" b="0" i="1" u="none" strike="noStrike" cap="none">
                        <a:solidFill>
                          <a:schemeClr val="dk1"/>
                        </a:solidFill>
                        <a:latin typeface="Calibri"/>
                        <a:ea typeface="Calibri"/>
                        <a:cs typeface="Calibri"/>
                        <a:sym typeface="Calibri"/>
                      </a:rPr>
                      <m:t>𝛾</m:t>
                    </m:r>
                  </m:oMath>
                </a14:m>
                <a:r>
                  <a:rPr lang="en-US" sz="1200" b="0" i="0" u="none" strike="noStrike" cap="none" dirty="0">
                    <a:solidFill>
                      <a:schemeClr val="dk1"/>
                    </a:solidFill>
                    <a:effectLst/>
                    <a:latin typeface="Calibri"/>
                    <a:ea typeface="Calibri"/>
                    <a:cs typeface="Calibri"/>
                    <a:sym typeface="Calibri"/>
                  </a:rPr>
                  <a:t> and </a:t>
                </a:r>
                <a14:m>
                  <m:oMath xmlns:m="http://schemas.openxmlformats.org/officeDocument/2006/math">
                    <m:r>
                      <a:rPr lang="en-US" sz="1200" b="0" i="1" u="none" strike="noStrike" cap="none">
                        <a:solidFill>
                          <a:schemeClr val="dk1"/>
                        </a:solidFill>
                        <a:latin typeface="Calibri"/>
                        <a:ea typeface="Calibri"/>
                        <a:cs typeface="Calibri"/>
                        <a:sym typeface="Calibri"/>
                      </a:rPr>
                      <m:t>𝛽</m:t>
                    </m:r>
                  </m:oMath>
                </a14:m>
                <a:r>
                  <a:rPr lang="en-US" sz="1200" b="0" i="0" u="none" strike="noStrike" cap="none" dirty="0">
                    <a:solidFill>
                      <a:schemeClr val="dk1"/>
                    </a:solidFill>
                    <a:effectLst/>
                    <a:latin typeface="Calibri"/>
                    <a:ea typeface="Calibri"/>
                    <a:cs typeface="Calibri"/>
                    <a:sym typeface="Calibri"/>
                  </a:rPr>
                  <a:t>:</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r>
                        <m:rPr>
                          <m:nor/>
                        </m:rPr>
                        <a:rPr lang="en-US" b="0"/>
                        <m:t>LayerNorm</m:t>
                      </m:r>
                      <m:r>
                        <a:rPr lang="en-US" sz="1200" b="0" i="0" u="none" strike="noStrike" cap="none">
                          <a:solidFill>
                            <a:schemeClr val="dk1"/>
                          </a:solidFill>
                          <a:latin typeface="Calibri"/>
                          <a:ea typeface="Calibri"/>
                          <a:cs typeface="Calibri"/>
                          <a:sym typeface="Calibri"/>
                        </a:rPr>
                        <m:t>=</m:t>
                      </m:r>
                      <m:r>
                        <a:rPr lang="en-US" sz="1200" b="0" i="1" u="none" strike="noStrike" cap="none">
                          <a:solidFill>
                            <a:schemeClr val="dk1"/>
                          </a:solidFill>
                          <a:latin typeface="Calibri"/>
                          <a:ea typeface="Calibri"/>
                          <a:cs typeface="Calibri"/>
                          <a:sym typeface="Calibri"/>
                        </a:rPr>
                        <m:t>𝛾</m:t>
                      </m:r>
                      <m:acc>
                        <m:accPr>
                          <m:chr m:val="̂"/>
                          <m:ctrlPr>
                            <a:rPr lang="ar-AE" sz="1200" b="0" i="1" u="none" strike="noStrike" cap="none">
                              <a:solidFill>
                                <a:schemeClr val="dk1"/>
                              </a:solidFill>
                              <a:latin typeface="Calibri"/>
                              <a:ea typeface="Calibri"/>
                              <a:cs typeface="Calibri"/>
                              <a:sym typeface="Calibri"/>
                            </a:rPr>
                          </m:ctrlPr>
                        </m:accPr>
                        <m:e>
                          <m:r>
                            <a:rPr lang="ar-AE" sz="1200" b="0" i="1" u="none" strike="noStrike" cap="none">
                              <a:solidFill>
                                <a:schemeClr val="dk1"/>
                              </a:solidFill>
                              <a:latin typeface="Calibri"/>
                              <a:ea typeface="Calibri"/>
                              <a:cs typeface="Calibri"/>
                              <a:sym typeface="Calibri"/>
                            </a:rPr>
                            <m:t>𝑥</m:t>
                          </m:r>
                        </m:e>
                      </m:acc>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𝛽</m:t>
                      </m:r>
                    </m:oMath>
                  </m:oMathPara>
                </a14:m>
                <a:endParaRPr lang="ar-AE"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Layer normalization stabilizes and accelerates training by normalizing the inputs to each layer, ensuring that they have a consistent scale and distribution.</a:t>
                </a:r>
              </a:p>
              <a:p>
                <a:r>
                  <a:rPr lang="en-US" sz="1200" b="0" i="0" u="none" strike="noStrike" cap="none" dirty="0">
                    <a:solidFill>
                      <a:schemeClr val="dk1"/>
                    </a:solidFill>
                    <a:effectLst/>
                    <a:latin typeface="Calibri"/>
                    <a:ea typeface="Calibri"/>
                    <a:cs typeface="Calibri"/>
                    <a:sym typeface="Calibri"/>
                  </a:rPr>
                  <a:t>The use of residual connections and layer normalization helps maintain stable gradients and preserve input information, enabling the model to learn deep representations effectively.</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comprehensive understanding of the operations within a transformer block, emphasizing the importance of layer normalization in achieving efficient and effective training. Understanding these components is crucial for appreciating how transformers achieve state-of-the-art performance in various natural language processing tasks.</a:t>
                </a:r>
              </a:p>
              <a:p>
                <a:pPr marL="0" lvl="0" indent="0" algn="l" rtl="0">
                  <a:lnSpc>
                    <a:spcPct val="100000"/>
                  </a:lnSpc>
                  <a:spcBef>
                    <a:spcPts val="0"/>
                  </a:spcBef>
                  <a:spcAft>
                    <a:spcPts val="0"/>
                  </a:spcAft>
                  <a:buSzPts val="1400"/>
                  <a:buNone/>
                </a:pPr>
                <a:endParaRPr dirty="0"/>
              </a:p>
            </p:txBody>
          </p:sp>
        </mc:Choice>
        <mc:Fallback>
          <p:sp>
            <p:nvSpPr>
              <p:cNvPr id="542" name="Google Shape;542;g2b8b5137f2c_0_2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Transformer Block Structure:</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Self-Attention Layer: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input sequence </a:t>
                </a:r>
                <a:r>
                  <a:rPr lang="ar-AE" sz="1200" b="0" i="0" u="none" strike="noStrike" cap="none">
                    <a:solidFill>
                      <a:schemeClr val="dk1"/>
                    </a:solidFill>
                    <a:latin typeface="Calibri"/>
                    <a:ea typeface="Calibri"/>
                    <a:cs typeface="Calibri"/>
                    <a:sym typeface="Calibri"/>
                  </a:rPr>
                  <a:t>(𝑥_1ⓜ,𝑥_2ⓜ,…ⓜ,𝑥_𝑛 )</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first processed by the self-attention layer, which captures dependencies and relationships within the sequence.</a:t>
                </a:r>
              </a:p>
              <a:p>
                <a:r>
                  <a:rPr lang="en-US" sz="1200" b="1" i="0" u="none" strike="noStrike" cap="none" dirty="0">
                    <a:solidFill>
                      <a:schemeClr val="dk1"/>
                    </a:solidFill>
                    <a:effectLst/>
                    <a:latin typeface="Calibri"/>
                    <a:ea typeface="Calibri"/>
                    <a:cs typeface="Calibri"/>
                    <a:sym typeface="Calibri"/>
                  </a:rPr>
                  <a:t>Residual Connection and Layer Normalization: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 residual connection adds the original input </a:t>
                </a:r>
                <a:r>
                  <a:rPr lang="en-US" sz="1200" b="0" i="0" u="none" strike="noStrike" cap="none">
                    <a:solidFill>
                      <a:schemeClr val="dk1"/>
                    </a:solidFill>
                    <a:latin typeface="Calibri"/>
                    <a:ea typeface="Calibri"/>
                    <a:cs typeface="Calibri"/>
                    <a:sym typeface="Calibri"/>
                  </a:rPr>
                  <a:t>𝑥</a:t>
                </a:r>
                <a:r>
                  <a:rPr lang="en-US" sz="1200" b="0" i="0" u="none" strike="noStrike" cap="none" dirty="0">
                    <a:solidFill>
                      <a:schemeClr val="dk1"/>
                    </a:solidFill>
                    <a:effectLst/>
                    <a:latin typeface="Calibri"/>
                    <a:ea typeface="Calibri"/>
                    <a:cs typeface="Calibri"/>
                    <a:sym typeface="Calibri"/>
                  </a:rPr>
                  <a:t> to the output of the self-attention layer, followed by layer normalization:</a:t>
                </a:r>
                <a:br>
                  <a:rPr lang="en-US" sz="1200" b="0" i="0" u="none" strike="noStrike" cap="none" dirty="0">
                    <a:solidFill>
                      <a:schemeClr val="dk1"/>
                    </a:solidFill>
                    <a:effectLst/>
                    <a:latin typeface="Calibri"/>
                    <a:ea typeface="Calibri"/>
                    <a:cs typeface="Calibri"/>
                    <a:sym typeface="Calibri"/>
                  </a:rPr>
                </a:br>
                <a:r>
                  <a:rPr lang="en-US" sz="1200" b="0" i="0" u="none" strike="noStrike" cap="none">
                    <a:solidFill>
                      <a:schemeClr val="dk1"/>
                    </a:solidFill>
                    <a:latin typeface="Calibri"/>
                    <a:ea typeface="Calibri"/>
                    <a:cs typeface="Calibri"/>
                    <a:sym typeface="Calibri"/>
                  </a:rPr>
                  <a:t>𝑧=</a:t>
                </a:r>
                <a:r>
                  <a:rPr lang="en-US" sz="1200" b="0" i="0" u="none" strike="noStrike" cap="none">
                    <a:solidFill>
                      <a:schemeClr val="dk1"/>
                    </a:solidFill>
                    <a:latin typeface="Cambria Math" panose="02040503050406030204" pitchFamily="18" charset="0"/>
                    <a:ea typeface="Calibri"/>
                    <a:cs typeface="Calibri"/>
                    <a:sym typeface="Calibri"/>
                  </a:rPr>
                  <a:t>"LayerNorm</a:t>
                </a:r>
                <a:r>
                  <a:rPr lang="ar-AE" sz="1200" b="0" i="0" u="none" strike="noStrike" cap="none">
                    <a:solidFill>
                      <a:schemeClr val="dk1"/>
                    </a:solidFill>
                    <a:latin typeface="Calibri"/>
                    <a:ea typeface="Calibri"/>
                    <a:cs typeface="Calibri"/>
                    <a:sym typeface="Calibri"/>
                  </a:rPr>
                  <a:t>" (𝑥+</a:t>
                </a:r>
                <a:r>
                  <a:rPr lang="en-US" sz="1200" b="0" i="0" u="none" strike="noStrike" cap="none">
                    <a:solidFill>
                      <a:schemeClr val="dk1"/>
                    </a:solidFill>
                    <a:latin typeface="Calibri"/>
                    <a:ea typeface="Calibri"/>
                    <a:cs typeface="Calibri"/>
                    <a:sym typeface="Calibri"/>
                  </a:rPr>
                  <a:t>"SelfAttention</a:t>
                </a:r>
                <a:r>
                  <a:rPr lang="ar-AE" sz="1200" b="0" i="0" u="none" strike="noStrike" cap="none">
                    <a:solidFill>
                      <a:schemeClr val="dk1"/>
                    </a:solidFill>
                    <a:latin typeface="Calibri"/>
                    <a:ea typeface="Calibri"/>
                    <a:cs typeface="Calibri"/>
                    <a:sym typeface="Calibri"/>
                  </a:rPr>
                  <a:t>" (𝑥))</a:t>
                </a:r>
                <a:endParaRPr lang="ar-AE"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Feedforward Layer: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normalized output </a:t>
                </a:r>
                <a:r>
                  <a:rPr lang="en-US" sz="1200" b="0" i="0" u="none" strike="noStrike" cap="none">
                    <a:solidFill>
                      <a:schemeClr val="dk1"/>
                    </a:solidFill>
                    <a:latin typeface="Calibri"/>
                    <a:ea typeface="Calibri"/>
                    <a:cs typeface="Calibri"/>
                    <a:sym typeface="Calibri"/>
                  </a:rPr>
                  <a:t>𝑧</a:t>
                </a:r>
                <a:r>
                  <a:rPr lang="en-US" sz="1200" b="0" i="0" u="none" strike="noStrike" cap="none" dirty="0">
                    <a:solidFill>
                      <a:schemeClr val="dk1"/>
                    </a:solidFill>
                    <a:effectLst/>
                    <a:latin typeface="Calibri"/>
                    <a:ea typeface="Calibri"/>
                    <a:cs typeface="Calibri"/>
                    <a:sym typeface="Calibri"/>
                  </a:rPr>
                  <a:t> is passed through a feedforward neural network, which typically consists of two linear transformations with a </a:t>
                </a:r>
                <a:r>
                  <a:rPr lang="en-US" sz="1200" b="0" i="0" u="none" strike="noStrike" cap="none" dirty="0" err="1">
                    <a:solidFill>
                      <a:schemeClr val="dk1"/>
                    </a:solidFill>
                    <a:effectLst/>
                    <a:latin typeface="Calibri"/>
                    <a:ea typeface="Calibri"/>
                    <a:cs typeface="Calibri"/>
                    <a:sym typeface="Calibri"/>
                  </a:rPr>
                  <a:t>ReLU</a:t>
                </a:r>
                <a:r>
                  <a:rPr lang="en-US" sz="1200" b="0" i="0" u="none" strike="noStrike" cap="none" dirty="0">
                    <a:solidFill>
                      <a:schemeClr val="dk1"/>
                    </a:solidFill>
                    <a:effectLst/>
                    <a:latin typeface="Calibri"/>
                    <a:ea typeface="Calibri"/>
                    <a:cs typeface="Calibri"/>
                    <a:sym typeface="Calibri"/>
                  </a:rPr>
                  <a:t> activation in between.</a:t>
                </a:r>
              </a:p>
              <a:p>
                <a:r>
                  <a:rPr lang="en-US" sz="1200" b="1" i="0" u="none" strike="noStrike" cap="none" dirty="0">
                    <a:solidFill>
                      <a:schemeClr val="dk1"/>
                    </a:solidFill>
                    <a:effectLst/>
                    <a:latin typeface="Calibri"/>
                    <a:ea typeface="Calibri"/>
                    <a:cs typeface="Calibri"/>
                    <a:sym typeface="Calibri"/>
                  </a:rPr>
                  <a:t>Residual Connection and Layer Normalization: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Another residual connection adds the output of the feedforward layer to </a:t>
                </a:r>
                <a:r>
                  <a:rPr lang="en-US" sz="1200" b="0" i="0" u="none" strike="noStrike" cap="none">
                    <a:solidFill>
                      <a:schemeClr val="dk1"/>
                    </a:solidFill>
                    <a:latin typeface="Calibri"/>
                    <a:ea typeface="Calibri"/>
                    <a:cs typeface="Calibri"/>
                    <a:sym typeface="Calibri"/>
                  </a:rPr>
                  <a:t>𝑧</a:t>
                </a:r>
                <a:r>
                  <a:rPr lang="en-US" sz="1200" b="0" i="0" u="none" strike="noStrike" cap="none" dirty="0">
                    <a:solidFill>
                      <a:schemeClr val="dk1"/>
                    </a:solidFill>
                    <a:effectLst/>
                    <a:latin typeface="Calibri"/>
                    <a:ea typeface="Calibri"/>
                    <a:cs typeface="Calibri"/>
                    <a:sym typeface="Calibri"/>
                  </a:rPr>
                  <a:t>, followed by layer normalization:</a:t>
                </a:r>
                <a:br>
                  <a:rPr lang="en-US" sz="1200" b="0" i="0" u="none" strike="noStrike" cap="none" dirty="0">
                    <a:solidFill>
                      <a:schemeClr val="dk1"/>
                    </a:solidFill>
                    <a:effectLst/>
                    <a:latin typeface="Calibri"/>
                    <a:ea typeface="Calibri"/>
                    <a:cs typeface="Calibri"/>
                    <a:sym typeface="Calibri"/>
                  </a:rPr>
                </a:br>
                <a:r>
                  <a:rPr lang="en-US" sz="1200" b="0" i="0" u="none" strike="noStrike" cap="none">
                    <a:solidFill>
                      <a:schemeClr val="dk1"/>
                    </a:solidFill>
                    <a:latin typeface="Calibri"/>
                    <a:ea typeface="Calibri"/>
                    <a:cs typeface="Calibri"/>
                    <a:sym typeface="Calibri"/>
                  </a:rPr>
                  <a:t>𝑦=</a:t>
                </a:r>
                <a:r>
                  <a:rPr lang="en-US" sz="1200" b="0" i="0" u="none" strike="noStrike" cap="none">
                    <a:solidFill>
                      <a:schemeClr val="dk1"/>
                    </a:solidFill>
                    <a:latin typeface="Cambria Math" panose="02040503050406030204" pitchFamily="18" charset="0"/>
                    <a:ea typeface="Calibri"/>
                    <a:cs typeface="Calibri"/>
                    <a:sym typeface="Calibri"/>
                  </a:rPr>
                  <a:t>"LayerNorm</a:t>
                </a:r>
                <a:r>
                  <a:rPr lang="ar-AE" sz="1200" b="0" i="0" u="none" strike="noStrike" cap="none">
                    <a:solidFill>
                      <a:schemeClr val="dk1"/>
                    </a:solidFill>
                    <a:latin typeface="Calibri"/>
                    <a:ea typeface="Calibri"/>
                    <a:cs typeface="Calibri"/>
                    <a:sym typeface="Calibri"/>
                  </a:rPr>
                  <a:t>" (𝑧+</a:t>
                </a:r>
                <a:r>
                  <a:rPr lang="en-US" sz="1200" b="0" i="0" u="none" strike="noStrike" cap="none">
                    <a:solidFill>
                      <a:schemeClr val="dk1"/>
                    </a:solidFill>
                    <a:latin typeface="Calibri"/>
                    <a:ea typeface="Calibri"/>
                    <a:cs typeface="Calibri"/>
                    <a:sym typeface="Calibri"/>
                  </a:rPr>
                  <a:t>"FFN</a:t>
                </a:r>
                <a:r>
                  <a:rPr lang="ar-AE" sz="1200" b="0" i="0" u="none" strike="noStrike" cap="none">
                    <a:solidFill>
                      <a:schemeClr val="dk1"/>
                    </a:solidFill>
                    <a:latin typeface="Calibri"/>
                    <a:ea typeface="Calibri"/>
                    <a:cs typeface="Calibri"/>
                    <a:sym typeface="Calibri"/>
                  </a:rPr>
                  <a:t>" (𝑧))</a:t>
                </a:r>
                <a:endParaRPr lang="ar-AE"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Layer Normalization: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Mathematical Formulation:</a:t>
                </a:r>
                <a:endParaRPr lang="en-US" sz="1200" b="0" i="0" u="none" strike="noStrike" cap="none" dirty="0">
                  <a:solidFill>
                    <a:schemeClr val="dk1"/>
                  </a:solidFill>
                  <a:effectLst/>
                  <a:latin typeface="Calibri"/>
                  <a:ea typeface="Calibri"/>
                  <a:cs typeface="Calibri"/>
                  <a:sym typeface="Calibri"/>
                </a:endParaRPr>
              </a:p>
              <a:p>
                <a:pPr lvl="1"/>
                <a:r>
                  <a:rPr lang="en-US" sz="1200" b="1" i="0" u="none" strike="noStrike" cap="none" dirty="0">
                    <a:solidFill>
                      <a:schemeClr val="dk1"/>
                    </a:solidFill>
                    <a:effectLst/>
                    <a:latin typeface="Calibri"/>
                    <a:ea typeface="Calibri"/>
                    <a:cs typeface="Calibri"/>
                    <a:sym typeface="Calibri"/>
                  </a:rPr>
                  <a:t>Mean (</a:t>
                </a:r>
                <a:r>
                  <a:rPr lang="en-US" sz="1200" b="0" i="0" u="none" strike="noStrike" cap="none">
                    <a:solidFill>
                      <a:schemeClr val="dk1"/>
                    </a:solidFill>
                    <a:latin typeface="Calibri"/>
                    <a:ea typeface="Calibri"/>
                    <a:cs typeface="Calibri"/>
                    <a:sym typeface="Calibri"/>
                  </a:rPr>
                  <a:t>𝜇</a:t>
                </a:r>
                <a:r>
                  <a:rPr lang="en-US" sz="1200" b="1" i="0" u="none" strike="noStrike" cap="none" dirty="0">
                    <a:solidFill>
                      <a:schemeClr val="dk1"/>
                    </a:solidFill>
                    <a:effectLst/>
                    <a:latin typeface="Calibri"/>
                    <a:ea typeface="Calibri"/>
                    <a:cs typeface="Calibri"/>
                    <a:sym typeface="Calibri"/>
                  </a:rPr>
                  <a:t>):</a:t>
                </a:r>
                <a:r>
                  <a:rPr lang="en-US" sz="1200" b="0" i="0" u="none" strike="noStrike" cap="none" dirty="0">
                    <a:solidFill>
                      <a:schemeClr val="dk1"/>
                    </a:solidFill>
                    <a:effectLst/>
                    <a:latin typeface="Calibri"/>
                    <a:ea typeface="Calibri"/>
                    <a:cs typeface="Calibri"/>
                    <a:sym typeface="Calibri"/>
                  </a:rPr>
                  <a:t> The mean of the input features is calculated:</a:t>
                </a:r>
                <a:br>
                  <a:rPr lang="en-US" sz="1200" b="0" i="0" u="none" strike="noStrike" cap="none" dirty="0">
                    <a:solidFill>
                      <a:schemeClr val="dk1"/>
                    </a:solidFill>
                    <a:effectLst/>
                    <a:latin typeface="Calibri"/>
                    <a:ea typeface="Calibri"/>
                    <a:cs typeface="Calibri"/>
                    <a:sym typeface="Calibri"/>
                  </a:rPr>
                </a:br>
                <a:r>
                  <a:rPr lang="en-US" sz="1200" b="0" i="0" u="none" strike="noStrike" cap="none">
                    <a:solidFill>
                      <a:schemeClr val="dk1"/>
                    </a:solidFill>
                    <a:latin typeface="Calibri"/>
                    <a:ea typeface="Calibri"/>
                    <a:cs typeface="Calibri"/>
                    <a:sym typeface="Calibri"/>
                  </a:rPr>
                  <a:t>𝜇=</a:t>
                </a:r>
                <a:r>
                  <a:rPr lang="ar-AE" sz="1200" b="0" i="0" u="none" strike="noStrike" cap="none">
                    <a:solidFill>
                      <a:schemeClr val="dk1"/>
                    </a:solidFill>
                    <a:latin typeface="Calibri"/>
                    <a:ea typeface="Calibri"/>
                    <a:cs typeface="Calibri"/>
                    <a:sym typeface="Calibri"/>
                  </a:rPr>
                  <a:t>1/𝑑_ℎ  ∑130_(𝑖=1)^(𝑑_ℎ)▒𝑥_𝑖 </a:t>
                </a:r>
                <a:endParaRPr lang="ar-AE" sz="1200" b="0" i="0" u="none" strike="noStrike" cap="none" dirty="0">
                  <a:solidFill>
                    <a:schemeClr val="dk1"/>
                  </a:solidFill>
                  <a:effectLst/>
                  <a:latin typeface="Calibri"/>
                  <a:ea typeface="Calibri"/>
                  <a:cs typeface="Calibri"/>
                  <a:sym typeface="Calibri"/>
                </a:endParaRPr>
              </a:p>
              <a:p>
                <a:pPr lvl="1"/>
                <a:r>
                  <a:rPr lang="en-US" sz="1200" b="1" i="0" u="none" strike="noStrike" cap="none" dirty="0">
                    <a:solidFill>
                      <a:schemeClr val="dk1"/>
                    </a:solidFill>
                    <a:effectLst/>
                    <a:latin typeface="Calibri"/>
                    <a:ea typeface="Calibri"/>
                    <a:cs typeface="Calibri"/>
                    <a:sym typeface="Calibri"/>
                  </a:rPr>
                  <a:t>Standard Deviation (</a:t>
                </a:r>
                <a:r>
                  <a:rPr lang="en-US" sz="1200" b="0" i="0" u="none" strike="noStrike" cap="none">
                    <a:solidFill>
                      <a:schemeClr val="dk1"/>
                    </a:solidFill>
                    <a:latin typeface="Calibri"/>
                    <a:ea typeface="Calibri"/>
                    <a:cs typeface="Calibri"/>
                    <a:sym typeface="Calibri"/>
                  </a:rPr>
                  <a:t>𝜎</a:t>
                </a:r>
                <a:r>
                  <a:rPr lang="en-US" sz="1200" b="1" i="0" u="none" strike="noStrike" cap="none" dirty="0">
                    <a:solidFill>
                      <a:schemeClr val="dk1"/>
                    </a:solidFill>
                    <a:effectLst/>
                    <a:latin typeface="Calibri"/>
                    <a:ea typeface="Calibri"/>
                    <a:cs typeface="Calibri"/>
                    <a:sym typeface="Calibri"/>
                  </a:rPr>
                  <a:t>):</a:t>
                </a:r>
                <a:r>
                  <a:rPr lang="en-US" sz="1200" b="0" i="0" u="none" strike="noStrike" cap="none" dirty="0">
                    <a:solidFill>
                      <a:schemeClr val="dk1"/>
                    </a:solidFill>
                    <a:effectLst/>
                    <a:latin typeface="Calibri"/>
                    <a:ea typeface="Calibri"/>
                    <a:cs typeface="Calibri"/>
                    <a:sym typeface="Calibri"/>
                  </a:rPr>
                  <a:t> The standard deviation is computed:</a:t>
                </a:r>
                <a:br>
                  <a:rPr lang="en-US" sz="1200" b="0" i="0" u="none" strike="noStrike" cap="none" dirty="0">
                    <a:solidFill>
                      <a:schemeClr val="dk1"/>
                    </a:solidFill>
                    <a:effectLst/>
                    <a:latin typeface="Calibri"/>
                    <a:ea typeface="Calibri"/>
                    <a:cs typeface="Calibri"/>
                    <a:sym typeface="Calibri"/>
                  </a:rPr>
                </a:br>
                <a:endParaRPr lang="en-US" sz="1200" b="0" i="0" u="none" strike="noStrike" cap="none" dirty="0">
                  <a:solidFill>
                    <a:schemeClr val="dk1"/>
                  </a:solidFill>
                  <a:effectLst/>
                  <a:latin typeface="Calibri"/>
                  <a:ea typeface="Calibri"/>
                  <a:cs typeface="Calibri"/>
                  <a:sym typeface="Calibri"/>
                </a:endParaRPr>
              </a:p>
              <a:p>
                <a:pPr lvl="1"/>
                <a:r>
                  <a:rPr lang="en-US" sz="1200" b="1" i="0" u="none" strike="noStrike" cap="none" dirty="0">
                    <a:solidFill>
                      <a:schemeClr val="dk1"/>
                    </a:solidFill>
                    <a:effectLst/>
                    <a:latin typeface="Calibri"/>
                    <a:ea typeface="Calibri"/>
                    <a:cs typeface="Calibri"/>
                    <a:sym typeface="Calibri"/>
                  </a:rPr>
                  <a:t>Normalization (</a:t>
                </a:r>
                <a:r>
                  <a:rPr lang="ar-AE" sz="1200" b="0" i="0" u="none" strike="noStrike" cap="none">
                    <a:solidFill>
                      <a:schemeClr val="dk1"/>
                    </a:solidFill>
                    <a:latin typeface="Calibri"/>
                    <a:ea typeface="Calibri"/>
                    <a:cs typeface="Calibri"/>
                    <a:sym typeface="Calibri"/>
                  </a:rPr>
                  <a:t>𝑥 ̂</a:t>
                </a:r>
                <a:r>
                  <a:rPr lang="ar-AE" sz="1200" b="1" i="0" u="none" strike="noStrike" cap="none" dirty="0">
                    <a:solidFill>
                      <a:schemeClr val="dk1"/>
                    </a:solidFill>
                    <a:effectLst/>
                    <a:latin typeface="Calibri"/>
                    <a:ea typeface="Calibri"/>
                    <a:cs typeface="Calibri"/>
                    <a:sym typeface="Calibri"/>
                  </a:rPr>
                  <a:t>):</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The input is normalized:</a:t>
                </a:r>
                <a:br>
                  <a:rPr lang="en-US" sz="1200" b="0" i="0" u="none" strike="noStrike" cap="none" dirty="0">
                    <a:solidFill>
                      <a:schemeClr val="dk1"/>
                    </a:solidFill>
                    <a:effectLst/>
                    <a:latin typeface="Calibri"/>
                    <a:ea typeface="Calibri"/>
                    <a:cs typeface="Calibri"/>
                    <a:sym typeface="Calibri"/>
                  </a:rPr>
                </a:br>
                <a:r>
                  <a:rPr lang="ar-AE" sz="1200" b="0" i="0" u="none" strike="noStrike" cap="none">
                    <a:solidFill>
                      <a:schemeClr val="dk1"/>
                    </a:solidFill>
                    <a:latin typeface="Calibri"/>
                    <a:ea typeface="Calibri"/>
                    <a:cs typeface="Calibri"/>
                    <a:sym typeface="Calibri"/>
                  </a:rPr>
                  <a:t>𝑥 ̂=(𝑥−𝜇)/𝜎</a:t>
                </a:r>
                <a:endParaRPr lang="ar-AE" sz="1200" b="0" i="0" u="none" strike="noStrike" cap="none" dirty="0">
                  <a:solidFill>
                    <a:schemeClr val="dk1"/>
                  </a:solidFill>
                  <a:effectLst/>
                  <a:latin typeface="Calibri"/>
                  <a:ea typeface="Calibri"/>
                  <a:cs typeface="Calibri"/>
                  <a:sym typeface="Calibri"/>
                </a:endParaRPr>
              </a:p>
              <a:p>
                <a:pPr lvl="1"/>
                <a:r>
                  <a:rPr lang="en-US" sz="1200" b="1" i="0" u="none" strike="noStrike" cap="none" dirty="0">
                    <a:solidFill>
                      <a:schemeClr val="dk1"/>
                    </a:solidFill>
                    <a:effectLst/>
                    <a:latin typeface="Calibri"/>
                    <a:ea typeface="Calibri"/>
                    <a:cs typeface="Calibri"/>
                    <a:sym typeface="Calibri"/>
                  </a:rPr>
                  <a:t>Scale and Shift:</a:t>
                </a:r>
                <a:r>
                  <a:rPr lang="en-US" sz="1200" b="0" i="0" u="none" strike="noStrike" cap="none" dirty="0">
                    <a:solidFill>
                      <a:schemeClr val="dk1"/>
                    </a:solidFill>
                    <a:effectLst/>
                    <a:latin typeface="Calibri"/>
                    <a:ea typeface="Calibri"/>
                    <a:cs typeface="Calibri"/>
                    <a:sym typeface="Calibri"/>
                  </a:rPr>
                  <a:t> The normalized input is scaled and shifted using learnable parameters </a:t>
                </a:r>
                <a:r>
                  <a:rPr lang="en-US" sz="1200" b="0" i="0" u="none" strike="noStrike" cap="none">
                    <a:solidFill>
                      <a:schemeClr val="dk1"/>
                    </a:solidFill>
                    <a:latin typeface="Calibri"/>
                    <a:ea typeface="Calibri"/>
                    <a:cs typeface="Calibri"/>
                    <a:sym typeface="Calibri"/>
                  </a:rPr>
                  <a:t>𝛾</a:t>
                </a:r>
                <a:r>
                  <a:rPr lang="en-US" sz="1200" b="0" i="0" u="none" strike="noStrike" cap="none" dirty="0">
                    <a:solidFill>
                      <a:schemeClr val="dk1"/>
                    </a:solidFill>
                    <a:effectLst/>
                    <a:latin typeface="Calibri"/>
                    <a:ea typeface="Calibri"/>
                    <a:cs typeface="Calibri"/>
                    <a:sym typeface="Calibri"/>
                  </a:rPr>
                  <a:t> and </a:t>
                </a:r>
                <a:r>
                  <a:rPr lang="en-US" sz="1200" b="0" i="0" u="none" strike="noStrike" cap="none">
                    <a:solidFill>
                      <a:schemeClr val="dk1"/>
                    </a:solidFill>
                    <a:latin typeface="Calibri"/>
                    <a:ea typeface="Calibri"/>
                    <a:cs typeface="Calibri"/>
                    <a:sym typeface="Calibri"/>
                  </a:rPr>
                  <a:t>𝛽</a:t>
                </a:r>
                <a:r>
                  <a:rPr lang="en-US" sz="1200" b="0" i="0" u="none" strike="noStrike" cap="none" dirty="0">
                    <a:solidFill>
                      <a:schemeClr val="dk1"/>
                    </a:solidFill>
                    <a:effectLst/>
                    <a:latin typeface="Calibri"/>
                    <a:ea typeface="Calibri"/>
                    <a:cs typeface="Calibri"/>
                    <a:sym typeface="Calibri"/>
                  </a:rPr>
                  <a:t>:</a:t>
                </a:r>
                <a:br>
                  <a:rPr lang="en-US" sz="1200" b="0" i="0" u="none" strike="noStrike" cap="none" dirty="0">
                    <a:solidFill>
                      <a:schemeClr val="dk1"/>
                    </a:solidFill>
                    <a:effectLst/>
                    <a:latin typeface="Calibri"/>
                    <a:ea typeface="Calibri"/>
                    <a:cs typeface="Calibri"/>
                    <a:sym typeface="Calibri"/>
                  </a:rPr>
                </a:br>
                <a:r>
                  <a:rPr lang="en-US" b="0" i="0">
                    <a:latin typeface="Cambria Math" panose="02040503050406030204" pitchFamily="18" charset="0"/>
                  </a:rPr>
                  <a:t>"LayerNorm</a:t>
                </a:r>
                <a:r>
                  <a:rPr lang="en-US" sz="1200" b="0" i="0" u="none" strike="noStrike" cap="none">
                    <a:solidFill>
                      <a:schemeClr val="dk1"/>
                    </a:solidFill>
                    <a:sym typeface="Calibri"/>
                  </a:rPr>
                  <a:t>"</a:t>
                </a:r>
                <a:r>
                  <a:rPr lang="en-US" sz="1200" b="0" i="0" u="none" strike="noStrike" cap="none">
                    <a:solidFill>
                      <a:schemeClr val="dk1"/>
                    </a:solidFill>
                    <a:latin typeface="Calibri"/>
                    <a:ea typeface="Calibri"/>
                    <a:cs typeface="Calibri"/>
                    <a:sym typeface="Calibri"/>
                  </a:rPr>
                  <a:t>=𝛾</a:t>
                </a:r>
                <a:r>
                  <a:rPr lang="ar-AE" sz="1200" b="0" i="0" u="none" strike="noStrike" cap="none">
                    <a:solidFill>
                      <a:schemeClr val="dk1"/>
                    </a:solidFill>
                    <a:latin typeface="Calibri"/>
                    <a:ea typeface="Calibri"/>
                    <a:cs typeface="Calibri"/>
                    <a:sym typeface="Calibri"/>
                  </a:rPr>
                  <a:t>𝑥 ̂+𝛽</a:t>
                </a:r>
                <a:endParaRPr lang="ar-AE"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Layer normalization stabilizes and accelerates training by normalizing the inputs to each layer, ensuring that they have a consistent scale and distribution.</a:t>
                </a:r>
              </a:p>
              <a:p>
                <a:r>
                  <a:rPr lang="en-US" sz="1200" b="0" i="0" u="none" strike="noStrike" cap="none" dirty="0">
                    <a:solidFill>
                      <a:schemeClr val="dk1"/>
                    </a:solidFill>
                    <a:effectLst/>
                    <a:latin typeface="Calibri"/>
                    <a:ea typeface="Calibri"/>
                    <a:cs typeface="Calibri"/>
                    <a:sym typeface="Calibri"/>
                  </a:rPr>
                  <a:t>The use of residual connections and layer normalization helps maintain stable gradients and preserve input information, enabling the model to learn deep representations effectively.</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comprehensive understanding of the operations within a transformer block, emphasizing the importance of layer normalization in achieving efficient and effective training. Understanding these components is crucial for appreciating how transformers achieve state-of-the-art performance in various natural language processing tasks.</a:t>
                </a:r>
              </a:p>
              <a:p>
                <a:pPr marL="0" lvl="0" indent="0" algn="l" rtl="0">
                  <a:lnSpc>
                    <a:spcPct val="100000"/>
                  </a:lnSpc>
                  <a:spcBef>
                    <a:spcPts val="0"/>
                  </a:spcBef>
                  <a:spcAft>
                    <a:spcPts val="0"/>
                  </a:spcAft>
                  <a:buSzPts val="1400"/>
                  <a:buNone/>
                </a:pPr>
                <a:endParaRPr dirty="0"/>
              </a:p>
            </p:txBody>
          </p:sp>
        </mc:Fallback>
      </mc:AlternateContent>
      <p:sp>
        <p:nvSpPr>
          <p:cNvPr id="543" name="Google Shape;543;g2b8b5137f2c_0_28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2b8b5137f2c_0_2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5" name="Google Shape;555;g2b8b5137f2c_0_2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Complex Relationships in Sentences: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Words in a sentence can relate to each other in various ways simultaneously. For example, a word might have syntactic, semantic, or positional relationships with other words.</a:t>
            </a:r>
          </a:p>
          <a:p>
            <a:r>
              <a:rPr lang="en-US" sz="1200" b="0" i="0" u="none" strike="noStrike" cap="none" dirty="0">
                <a:solidFill>
                  <a:schemeClr val="dk1"/>
                </a:solidFill>
                <a:effectLst/>
                <a:latin typeface="Calibri"/>
                <a:ea typeface="Calibri"/>
                <a:cs typeface="Calibri"/>
                <a:sym typeface="Calibri"/>
              </a:rPr>
              <a:t>A single transformer block with a single attention mechanism might be inadequate to capture all these diverse relationships effectively.</a:t>
            </a:r>
          </a:p>
          <a:p>
            <a:r>
              <a:rPr lang="en-US" sz="1200" b="1" i="0" u="none" strike="noStrike" cap="none" dirty="0" err="1">
                <a:solidFill>
                  <a:schemeClr val="dk1"/>
                </a:solidFill>
                <a:effectLst/>
                <a:latin typeface="Calibri"/>
                <a:ea typeface="Calibri"/>
                <a:cs typeface="Calibri"/>
                <a:sym typeface="Calibri"/>
              </a:rPr>
              <a:t>Multihead</a:t>
            </a:r>
            <a:r>
              <a:rPr lang="en-US" sz="1200" b="1" i="0" u="none" strike="noStrike" cap="none" dirty="0">
                <a:solidFill>
                  <a:schemeClr val="dk1"/>
                </a:solidFill>
                <a:effectLst/>
                <a:latin typeface="Calibri"/>
                <a:ea typeface="Calibri"/>
                <a:cs typeface="Calibri"/>
                <a:sym typeface="Calibri"/>
              </a:rPr>
              <a:t> Self-Attention: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Multiple Heads: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err="1">
                <a:solidFill>
                  <a:schemeClr val="dk1"/>
                </a:solidFill>
                <a:effectLst/>
                <a:latin typeface="Calibri"/>
                <a:ea typeface="Calibri"/>
                <a:cs typeface="Calibri"/>
                <a:sym typeface="Calibri"/>
              </a:rPr>
              <a:t>Multihead</a:t>
            </a:r>
            <a:r>
              <a:rPr lang="en-US" sz="1200" b="0" i="0" u="none" strike="noStrike" cap="none" dirty="0">
                <a:solidFill>
                  <a:schemeClr val="dk1"/>
                </a:solidFill>
                <a:effectLst/>
                <a:latin typeface="Calibri"/>
                <a:ea typeface="Calibri"/>
                <a:cs typeface="Calibri"/>
                <a:sym typeface="Calibri"/>
              </a:rPr>
              <a:t> attention involves using multiple sets of self-attention layers, known as "heads," that operate in parallel at the same depth in the model.</a:t>
            </a:r>
          </a:p>
          <a:p>
            <a:pPr lvl="1"/>
            <a:r>
              <a:rPr lang="en-US" sz="1200" b="0" i="0" u="none" strike="noStrike" cap="none" dirty="0">
                <a:solidFill>
                  <a:schemeClr val="dk1"/>
                </a:solidFill>
                <a:effectLst/>
                <a:latin typeface="Calibri"/>
                <a:ea typeface="Calibri"/>
                <a:cs typeface="Calibri"/>
                <a:sym typeface="Calibri"/>
              </a:rPr>
              <a:t>Each head has its own set of parameters, allowing it to focus on different aspects of the input relationships.</a:t>
            </a:r>
          </a:p>
          <a:p>
            <a:r>
              <a:rPr lang="en-US" sz="1200" b="1" i="0" u="none" strike="noStrike" cap="none" dirty="0">
                <a:solidFill>
                  <a:schemeClr val="dk1"/>
                </a:solidFill>
                <a:effectLst/>
                <a:latin typeface="Calibri"/>
                <a:ea typeface="Calibri"/>
                <a:cs typeface="Calibri"/>
                <a:sym typeface="Calibri"/>
              </a:rPr>
              <a:t>Learning Diverse Relationships: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attention head learns to capture different aspects of the relationships among inputs at the same level of abstraction.</a:t>
            </a:r>
          </a:p>
          <a:p>
            <a:pPr lvl="1"/>
            <a:r>
              <a:rPr lang="en-US" sz="1200" b="0" i="0" u="none" strike="noStrike" cap="none" dirty="0">
                <a:solidFill>
                  <a:schemeClr val="dk1"/>
                </a:solidFill>
                <a:effectLst/>
                <a:latin typeface="Calibri"/>
                <a:ea typeface="Calibri"/>
                <a:cs typeface="Calibri"/>
                <a:sym typeface="Calibri"/>
              </a:rPr>
              <a:t>By having multiple heads, the model can simultaneously attend to different parts of the input sequence, capturing a richer set of dependencies and interactions.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err="1">
                <a:solidFill>
                  <a:schemeClr val="dk1"/>
                </a:solidFill>
                <a:effectLst/>
                <a:latin typeface="Calibri"/>
                <a:ea typeface="Calibri"/>
                <a:cs typeface="Calibri"/>
                <a:sym typeface="Calibri"/>
              </a:rPr>
              <a:t>Multihead</a:t>
            </a:r>
            <a:r>
              <a:rPr lang="en-US" sz="1200" b="0" i="0" u="none" strike="noStrike" cap="none" dirty="0">
                <a:solidFill>
                  <a:schemeClr val="dk1"/>
                </a:solidFill>
                <a:effectLst/>
                <a:latin typeface="Calibri"/>
                <a:ea typeface="Calibri"/>
                <a:cs typeface="Calibri"/>
                <a:sym typeface="Calibri"/>
              </a:rPr>
              <a:t> attention enhances the model's ability to understand complex and diverse relationships in the input data, leading to more robust and accurate representations.</a:t>
            </a:r>
          </a:p>
          <a:p>
            <a:r>
              <a:rPr lang="en-US" sz="1200" b="0" i="0" u="none" strike="noStrike" cap="none" dirty="0">
                <a:solidFill>
                  <a:schemeClr val="dk1"/>
                </a:solidFill>
                <a:effectLst/>
                <a:latin typeface="Calibri"/>
                <a:ea typeface="Calibri"/>
                <a:cs typeface="Calibri"/>
                <a:sym typeface="Calibri"/>
              </a:rPr>
              <a:t>This approach allows transformers to handle a wide range of natural language processing tasks effectively, as it can capture both local and global dependencies within sequences.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clear understanding of the </a:t>
            </a:r>
            <a:r>
              <a:rPr lang="en-US" sz="1200" b="0" i="0" u="none" strike="noStrike" cap="none" dirty="0" err="1">
                <a:solidFill>
                  <a:schemeClr val="dk1"/>
                </a:solidFill>
                <a:effectLst/>
                <a:latin typeface="Calibri"/>
                <a:ea typeface="Calibri"/>
                <a:cs typeface="Calibri"/>
                <a:sym typeface="Calibri"/>
              </a:rPr>
              <a:t>multihead</a:t>
            </a:r>
            <a:r>
              <a:rPr lang="en-US" sz="1200" b="0" i="0" u="none" strike="noStrike" cap="none" dirty="0">
                <a:solidFill>
                  <a:schemeClr val="dk1"/>
                </a:solidFill>
                <a:effectLst/>
                <a:latin typeface="Calibri"/>
                <a:ea typeface="Calibri"/>
                <a:cs typeface="Calibri"/>
                <a:sym typeface="Calibri"/>
              </a:rPr>
              <a:t> attention mechanism in transformers, emphasizing its importance in capturing complex relationships in data. Understanding this concept is crucial for appreciating how transformers achieve state-of-the-art performance in various NLP tasks by leveraging the power of parallel attention mechanisms.</a:t>
            </a:r>
          </a:p>
          <a:p>
            <a:pPr marL="0" lvl="0" indent="0" algn="l" rtl="0">
              <a:lnSpc>
                <a:spcPct val="100000"/>
              </a:lnSpc>
              <a:spcBef>
                <a:spcPts val="0"/>
              </a:spcBef>
              <a:spcAft>
                <a:spcPts val="0"/>
              </a:spcAft>
              <a:buSzPts val="1400"/>
              <a:buNone/>
            </a:pPr>
            <a:endParaRPr dirty="0"/>
          </a:p>
        </p:txBody>
      </p:sp>
      <p:sp>
        <p:nvSpPr>
          <p:cNvPr id="556" name="Google Shape;556;g2b8b5137f2c_0_2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2b8b5137f2c_0_2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563" name="Google Shape;563;g2b8b5137f2c_0_2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Complex Relationships in Sentences: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Words in a sentence can relate to each other in various ways simultaneously, such as syntactic, semantic, or positional relationships.</a:t>
                </a:r>
              </a:p>
              <a:p>
                <a:r>
                  <a:rPr lang="en-US" sz="1200" b="0" i="0" u="none" strike="noStrike" cap="none" dirty="0">
                    <a:solidFill>
                      <a:schemeClr val="dk1"/>
                    </a:solidFill>
                    <a:effectLst/>
                    <a:latin typeface="Calibri"/>
                    <a:ea typeface="Calibri"/>
                    <a:cs typeface="Calibri"/>
                    <a:sym typeface="Calibri"/>
                  </a:rPr>
                  <a:t>A single transformer block with a single attention mechanism might be inadequate to capture all these diverse relationships effectively.</a:t>
                </a:r>
              </a:p>
              <a:p>
                <a:r>
                  <a:rPr lang="en-US" sz="1200" b="1" i="0" u="none" strike="noStrike" cap="none" dirty="0" err="1">
                    <a:solidFill>
                      <a:schemeClr val="dk1"/>
                    </a:solidFill>
                    <a:effectLst/>
                    <a:latin typeface="Calibri"/>
                    <a:ea typeface="Calibri"/>
                    <a:cs typeface="Calibri"/>
                    <a:sym typeface="Calibri"/>
                  </a:rPr>
                  <a:t>Multihead</a:t>
                </a:r>
                <a:r>
                  <a:rPr lang="en-US" sz="1200" b="1" i="0" u="none" strike="noStrike" cap="none" dirty="0">
                    <a:solidFill>
                      <a:schemeClr val="dk1"/>
                    </a:solidFill>
                    <a:effectLst/>
                    <a:latin typeface="Calibri"/>
                    <a:ea typeface="Calibri"/>
                    <a:cs typeface="Calibri"/>
                    <a:sym typeface="Calibri"/>
                  </a:rPr>
                  <a:t> Self-Attention: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Multiple Heads: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err="1">
                    <a:solidFill>
                      <a:schemeClr val="dk1"/>
                    </a:solidFill>
                    <a:effectLst/>
                    <a:latin typeface="Calibri"/>
                    <a:ea typeface="Calibri"/>
                    <a:cs typeface="Calibri"/>
                    <a:sym typeface="Calibri"/>
                  </a:rPr>
                  <a:t>Multihead</a:t>
                </a:r>
                <a:r>
                  <a:rPr lang="en-US" sz="1200" b="0" i="0" u="none" strike="noStrike" cap="none" dirty="0">
                    <a:solidFill>
                      <a:schemeClr val="dk1"/>
                    </a:solidFill>
                    <a:effectLst/>
                    <a:latin typeface="Calibri"/>
                    <a:ea typeface="Calibri"/>
                    <a:cs typeface="Calibri"/>
                    <a:sym typeface="Calibri"/>
                  </a:rPr>
                  <a:t> attention involves using multiple sets of self-attention layers, known as "heads," that operate in parallel at the same depth in the model.</a:t>
                </a:r>
              </a:p>
              <a:p>
                <a:pPr lvl="1"/>
                <a:r>
                  <a:rPr lang="en-US" sz="1200" b="0" i="0" u="none" strike="noStrike" cap="none" dirty="0">
                    <a:solidFill>
                      <a:schemeClr val="dk1"/>
                    </a:solidFill>
                    <a:effectLst/>
                    <a:latin typeface="Calibri"/>
                    <a:ea typeface="Calibri"/>
                    <a:cs typeface="Calibri"/>
                    <a:sym typeface="Calibri"/>
                  </a:rPr>
                  <a:t>Each head has its own set of parameters, allowing it to focus on different aspects of the input relationships.</a:t>
                </a:r>
              </a:p>
              <a:p>
                <a:r>
                  <a:rPr lang="en-US" sz="1200" b="1" i="0" u="none" strike="noStrike" cap="none" dirty="0">
                    <a:solidFill>
                      <a:schemeClr val="dk1"/>
                    </a:solidFill>
                    <a:effectLst/>
                    <a:latin typeface="Calibri"/>
                    <a:ea typeface="Calibri"/>
                    <a:cs typeface="Calibri"/>
                    <a:sym typeface="Calibri"/>
                  </a:rPr>
                  <a:t>Learning Diverse Relationships: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attention head learns to capture different aspects of the relationships among inputs at the same level of abstraction.</a:t>
                </a:r>
              </a:p>
              <a:p>
                <a:pPr lvl="1"/>
                <a:r>
                  <a:rPr lang="en-US" sz="1200" b="0" i="0" u="none" strike="noStrike" cap="none" dirty="0">
                    <a:solidFill>
                      <a:schemeClr val="dk1"/>
                    </a:solidFill>
                    <a:effectLst/>
                    <a:latin typeface="Calibri"/>
                    <a:ea typeface="Calibri"/>
                    <a:cs typeface="Calibri"/>
                    <a:sym typeface="Calibri"/>
                  </a:rPr>
                  <a:t>By having multiple heads, the model can simultaneously attend to different parts of the input sequence, capturing a richer set of dependencies and interactions.</a:t>
                </a:r>
              </a:p>
              <a:p>
                <a:r>
                  <a:rPr lang="en-US" sz="1200" b="1" i="0" u="none" strike="noStrike" cap="none" dirty="0">
                    <a:solidFill>
                      <a:schemeClr val="dk1"/>
                    </a:solidFill>
                    <a:effectLst/>
                    <a:latin typeface="Calibri"/>
                    <a:ea typeface="Calibri"/>
                    <a:cs typeface="Calibri"/>
                    <a:sym typeface="Calibri"/>
                  </a:rPr>
                  <a:t>Mathematical Formulation: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err="1">
                    <a:solidFill>
                      <a:schemeClr val="dk1"/>
                    </a:solidFill>
                    <a:effectLst/>
                    <a:latin typeface="Calibri"/>
                    <a:ea typeface="Calibri"/>
                    <a:cs typeface="Calibri"/>
                    <a:sym typeface="Calibri"/>
                  </a:rPr>
                  <a:t>Multihead</a:t>
                </a:r>
                <a:r>
                  <a:rPr lang="en-US" sz="1200" b="1" i="0" u="none" strike="noStrike" cap="none" dirty="0">
                    <a:solidFill>
                      <a:schemeClr val="dk1"/>
                    </a:solidFill>
                    <a:effectLst/>
                    <a:latin typeface="Calibri"/>
                    <a:ea typeface="Calibri"/>
                    <a:cs typeface="Calibri"/>
                    <a:sym typeface="Calibri"/>
                  </a:rPr>
                  <a:t> Attention Output:</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r>
                        <m:rPr>
                          <m:nor/>
                        </m:rPr>
                        <a:rPr lang="en-US" b="0"/>
                        <m:t>MultiHeadAttention</m:t>
                      </m:r>
                      <m:d>
                        <m:dPr>
                          <m:ctrlPr>
                            <a:rPr lang="ar-AE" sz="1200" b="0" i="1" u="none" strike="noStrike" cap="none">
                              <a:solidFill>
                                <a:schemeClr val="dk1"/>
                              </a:solidFill>
                              <a:latin typeface="Calibri"/>
                              <a:ea typeface="Calibri"/>
                              <a:cs typeface="Calibri"/>
                              <a:sym typeface="Calibri"/>
                            </a:rPr>
                          </m:ctrlPr>
                        </m:dPr>
                        <m:e>
                          <m:r>
                            <a:rPr lang="ar-AE" b="0" i="1"/>
                            <m:t>𝑋</m:t>
                          </m:r>
                        </m:e>
                      </m:d>
                      <m:r>
                        <a:rPr lang="ar-AE" sz="1200" b="0" i="0" u="none" strike="noStrike" cap="none">
                          <a:solidFill>
                            <a:schemeClr val="dk1"/>
                          </a:solidFill>
                          <a:latin typeface="Calibri"/>
                          <a:ea typeface="Calibri"/>
                          <a:cs typeface="Calibri"/>
                          <a:sym typeface="Calibri"/>
                        </a:rPr>
                        <m:t>=</m:t>
                      </m:r>
                      <m:d>
                        <m:dPr>
                          <m:ctrlPr>
                            <a:rPr lang="ar-AE" sz="1200" b="0" i="1" u="none" strike="noStrike" cap="none">
                              <a:solidFill>
                                <a:schemeClr val="dk1"/>
                              </a:solidFill>
                              <a:latin typeface="Calibri"/>
                              <a:ea typeface="Calibri"/>
                              <a:cs typeface="Calibri"/>
                              <a:sym typeface="Calibri"/>
                            </a:rPr>
                          </m:ctrlPr>
                        </m:dPr>
                        <m:e>
                          <m:sSub>
                            <m:sSubPr>
                              <m:ctrlPr>
                                <a:rPr lang="ar-AE" sz="1200" b="0" i="1" u="none" strike="noStrike" cap="none">
                                  <a:solidFill>
                                    <a:schemeClr val="dk1"/>
                                  </a:solidFill>
                                  <a:latin typeface="Calibri"/>
                                  <a:ea typeface="Calibri"/>
                                  <a:cs typeface="Calibri"/>
                                  <a:sym typeface="Calibri"/>
                                </a:rPr>
                              </m:ctrlPr>
                            </m:sSubPr>
                            <m:e>
                              <m:r>
                                <m:rPr>
                                  <m:nor/>
                                </m:rPr>
                                <a:rPr lang="en-US" sz="1200" b="0" i="1" u="none" strike="noStrike" cap="none">
                                  <a:solidFill>
                                    <a:schemeClr val="dk1"/>
                                  </a:solidFill>
                                  <a:latin typeface="Calibri"/>
                                  <a:ea typeface="Calibri"/>
                                  <a:cs typeface="Calibri"/>
                                  <a:sym typeface="Calibri"/>
                                </a:rPr>
                                <m:t>head</m:t>
                              </m:r>
                            </m:e>
                            <m:sub>
                              <m:r>
                                <a:rPr lang="ar-AE" sz="1200" b="0" i="0" u="none" strike="noStrike" cap="none">
                                  <a:solidFill>
                                    <a:schemeClr val="dk1"/>
                                  </a:solidFill>
                                  <a:latin typeface="Calibri"/>
                                  <a:ea typeface="Calibri"/>
                                  <a:cs typeface="Calibri"/>
                                  <a:sym typeface="Calibri"/>
                                </a:rPr>
                                <m:t>1</m:t>
                              </m:r>
                            </m:sub>
                          </m:sSub>
                          <m:r>
                            <a:rPr lang="ar-AE" sz="1200" b="0" i="0" u="none" strike="noStrike" cap="none">
                              <a:solidFill>
                                <a:schemeClr val="dk1"/>
                              </a:solidFill>
                              <a:latin typeface="Calibri"/>
                              <a:ea typeface="Calibri"/>
                              <a:cs typeface="Calibri"/>
                              <a:sym typeface="Calibri"/>
                            </a:rPr>
                            <m:t>⊕</m:t>
                          </m:r>
                          <m:sSub>
                            <m:sSubPr>
                              <m:ctrlPr>
                                <a:rPr lang="ar-AE" sz="1200" b="0" i="1" u="none" strike="noStrike" cap="none">
                                  <a:solidFill>
                                    <a:schemeClr val="dk1"/>
                                  </a:solidFill>
                                  <a:latin typeface="Calibri"/>
                                  <a:ea typeface="Calibri"/>
                                  <a:cs typeface="Calibri"/>
                                  <a:sym typeface="Calibri"/>
                                </a:rPr>
                              </m:ctrlPr>
                            </m:sSubPr>
                            <m:e>
                              <m:r>
                                <m:rPr>
                                  <m:nor/>
                                </m:rPr>
                                <a:rPr lang="en-US" sz="1200" b="0" i="1" u="none" strike="noStrike" cap="none">
                                  <a:solidFill>
                                    <a:schemeClr val="dk1"/>
                                  </a:solidFill>
                                  <a:latin typeface="Calibri"/>
                                  <a:ea typeface="Calibri"/>
                                  <a:cs typeface="Calibri"/>
                                  <a:sym typeface="Calibri"/>
                                </a:rPr>
                                <m:t>head</m:t>
                              </m:r>
                            </m:e>
                            <m:sub>
                              <m:r>
                                <a:rPr lang="ar-AE" sz="1200" b="0" i="0" u="none" strike="noStrike" cap="none">
                                  <a:solidFill>
                                    <a:schemeClr val="dk1"/>
                                  </a:solidFill>
                                  <a:latin typeface="Calibri"/>
                                  <a:ea typeface="Calibri"/>
                                  <a:cs typeface="Calibri"/>
                                  <a:sym typeface="Calibri"/>
                                </a:rPr>
                                <m:t>2</m:t>
                              </m:r>
                            </m:sub>
                          </m:sSub>
                          <m:r>
                            <a:rPr lang="ar-AE" sz="1200" b="0" i="0" u="none" strike="noStrike" cap="none">
                              <a:solidFill>
                                <a:schemeClr val="dk1"/>
                              </a:solidFill>
                              <a:latin typeface="Calibri"/>
                              <a:ea typeface="Calibri"/>
                              <a:cs typeface="Calibri"/>
                              <a:sym typeface="Calibri"/>
                            </a:rPr>
                            <m:t>⊕…⊕</m:t>
                          </m:r>
                          <m:sSub>
                            <m:sSubPr>
                              <m:ctrlPr>
                                <a:rPr lang="ar-AE" sz="1200" b="0" i="1" u="none" strike="noStrike" cap="none">
                                  <a:solidFill>
                                    <a:schemeClr val="dk1"/>
                                  </a:solidFill>
                                  <a:latin typeface="Calibri"/>
                                  <a:ea typeface="Calibri"/>
                                  <a:cs typeface="Calibri"/>
                                  <a:sym typeface="Calibri"/>
                                </a:rPr>
                              </m:ctrlPr>
                            </m:sSubPr>
                            <m:e>
                              <m:r>
                                <m:rPr>
                                  <m:nor/>
                                </m:rPr>
                                <a:rPr lang="en-US" sz="1200" b="0" i="1" u="none" strike="noStrike" cap="none">
                                  <a:solidFill>
                                    <a:schemeClr val="dk1"/>
                                  </a:solidFill>
                                  <a:latin typeface="Calibri"/>
                                  <a:ea typeface="Calibri"/>
                                  <a:cs typeface="Calibri"/>
                                  <a:sym typeface="Calibri"/>
                                </a:rPr>
                                <m:t>head</m:t>
                              </m:r>
                            </m:e>
                            <m:sub>
                              <m:r>
                                <a:rPr lang="ar-AE" sz="1200" b="0" i="1" u="none" strike="noStrike" cap="none">
                                  <a:solidFill>
                                    <a:schemeClr val="dk1"/>
                                  </a:solidFill>
                                  <a:latin typeface="Calibri"/>
                                  <a:ea typeface="Calibri"/>
                                  <a:cs typeface="Calibri"/>
                                  <a:sym typeface="Calibri"/>
                                </a:rPr>
                                <m:t>h</m:t>
                              </m:r>
                            </m:sub>
                          </m:sSub>
                        </m:e>
                      </m:d>
                      <m:sSup>
                        <m:sSupPr>
                          <m:ctrlPr>
                            <a:rPr lang="ar-AE" sz="1200" b="0" i="1"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𝑂</m:t>
                          </m:r>
                        </m:sup>
                      </m:sSup>
                    </m:oMath>
                  </m:oMathPara>
                </a14:m>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outputs of the individual heads are concatenated (denoted by </a:t>
                </a:r>
                <a14:m>
                  <m:oMath xmlns:m="http://schemas.openxmlformats.org/officeDocument/2006/math">
                    <m:r>
                      <a:rPr lang="en-US" sz="1200" b="0" i="0" u="none" strike="noStrike" cap="none">
                        <a:solidFill>
                          <a:schemeClr val="dk1"/>
                        </a:solidFill>
                        <a:latin typeface="Calibri"/>
                        <a:ea typeface="Calibri"/>
                        <a:cs typeface="Calibri"/>
                        <a:sym typeface="Calibri"/>
                      </a:rPr>
                      <m:t>⊕</m:t>
                    </m:r>
                  </m:oMath>
                </a14:m>
                <a:r>
                  <a:rPr lang="en-US" sz="1200" b="0" i="0" u="none" strike="noStrike" cap="none" dirty="0">
                    <a:solidFill>
                      <a:schemeClr val="dk1"/>
                    </a:solidFill>
                    <a:effectLst/>
                    <a:latin typeface="Calibri"/>
                    <a:ea typeface="Calibri"/>
                    <a:cs typeface="Calibri"/>
                    <a:sym typeface="Calibri"/>
                  </a:rPr>
                  <a:t>) and then linearly transformed using a weight matrix </a:t>
                </a:r>
                <a14:m>
                  <m:oMath xmlns:m="http://schemas.openxmlformats.org/officeDocument/2006/math">
                    <m:sSup>
                      <m:sSupPr>
                        <m:ctrlPr>
                          <a:rPr lang="ar-AE" sz="1200" b="0" i="0"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𝑂</m:t>
                        </m:r>
                      </m:sup>
                    </m:sSup>
                  </m:oMath>
                </a14:m>
                <a:r>
                  <a:rPr lang="ar-AE" sz="1200" b="0" i="0" u="none" strike="noStrike" cap="none" dirty="0">
                    <a:solidFill>
                      <a:schemeClr val="dk1"/>
                    </a:solidFill>
                    <a:effectLst/>
                    <a:latin typeface="Calibri"/>
                    <a:ea typeface="Calibri"/>
                    <a:cs typeface="Calibri"/>
                    <a:sym typeface="Calibri"/>
                  </a:rPr>
                  <a:t>.</a:t>
                </a:r>
              </a:p>
              <a:p>
                <a:r>
                  <a:rPr lang="en-US" sz="1200" b="1" i="0" u="none" strike="noStrike" cap="none" dirty="0">
                    <a:solidFill>
                      <a:schemeClr val="dk1"/>
                    </a:solidFill>
                    <a:effectLst/>
                    <a:latin typeface="Calibri"/>
                    <a:ea typeface="Calibri"/>
                    <a:cs typeface="Calibri"/>
                    <a:sym typeface="Calibri"/>
                  </a:rPr>
                  <a:t>Individual Head Computation:</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r>
                        <a:rPr lang="en-US" sz="1200" b="0" i="1" u="none" strike="noStrike" cap="none">
                          <a:solidFill>
                            <a:schemeClr val="dk1"/>
                          </a:solidFill>
                          <a:latin typeface="Calibri"/>
                          <a:ea typeface="Calibri"/>
                          <a:cs typeface="Calibri"/>
                          <a:sym typeface="Calibri"/>
                        </a:rPr>
                        <m:t>𝑄</m:t>
                      </m:r>
                      <m:r>
                        <a:rPr lang="en-US" sz="1200" b="0" i="0" u="none" strike="noStrike" cap="none">
                          <a:solidFill>
                            <a:schemeClr val="dk1"/>
                          </a:solidFill>
                          <a:latin typeface="Calibri"/>
                          <a:ea typeface="Calibri"/>
                          <a:cs typeface="Calibri"/>
                          <a:sym typeface="Calibri"/>
                        </a:rPr>
                        <m:t>=</m:t>
                      </m:r>
                      <m:r>
                        <a:rPr lang="en-US" sz="1200" b="0" i="1" u="none" strike="noStrike" cap="none">
                          <a:solidFill>
                            <a:schemeClr val="dk1"/>
                          </a:solidFill>
                          <a:latin typeface="Calibri"/>
                          <a:ea typeface="Calibri"/>
                          <a:cs typeface="Calibri"/>
                          <a:sym typeface="Calibri"/>
                        </a:rPr>
                        <m:t>𝑋</m:t>
                      </m:r>
                      <m:sSup>
                        <m:sSupPr>
                          <m:ctrlPr>
                            <a:rPr lang="ar-AE" sz="1200" b="0" i="1"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𝑄</m:t>
                          </m:r>
                        </m:sup>
                      </m:sSup>
                      <m:r>
                        <a:rPr lang="ar-AE" sz="1200" b="0" i="0" u="none" strike="noStrike" cap="none">
                          <a:solidFill>
                            <a:schemeClr val="dk1"/>
                          </a:solidFill>
                          <a:latin typeface="Calibri"/>
                          <a:ea typeface="Calibri"/>
                          <a:cs typeface="Calibri"/>
                          <a:sym typeface="Calibri"/>
                        </a:rPr>
                        <m:t>, </m:t>
                      </m:r>
                      <m:r>
                        <a:rPr lang="ar-AE" sz="1200" b="0" i="1" u="none" strike="noStrike" cap="none">
                          <a:solidFill>
                            <a:schemeClr val="dk1"/>
                          </a:solidFill>
                          <a:latin typeface="Calibri"/>
                          <a:ea typeface="Calibri"/>
                          <a:cs typeface="Calibri"/>
                          <a:sym typeface="Calibri"/>
                        </a:rPr>
                        <m:t>𝐾</m:t>
                      </m:r>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𝑋</m:t>
                      </m:r>
                      <m:sSup>
                        <m:sSupPr>
                          <m:ctrlPr>
                            <a:rPr lang="ar-AE" sz="1200" b="0" i="1"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𝐾</m:t>
                          </m:r>
                        </m:sup>
                      </m:sSup>
                      <m:r>
                        <a:rPr lang="ar-AE" sz="1200" b="0" i="0" u="none" strike="noStrike" cap="none">
                          <a:solidFill>
                            <a:schemeClr val="dk1"/>
                          </a:solidFill>
                          <a:latin typeface="Calibri"/>
                          <a:ea typeface="Calibri"/>
                          <a:cs typeface="Calibri"/>
                          <a:sym typeface="Calibri"/>
                        </a:rPr>
                        <m:t>, </m:t>
                      </m:r>
                      <m:r>
                        <a:rPr lang="ar-AE" sz="1200" b="0" i="1" u="none" strike="noStrike" cap="none">
                          <a:solidFill>
                            <a:schemeClr val="dk1"/>
                          </a:solidFill>
                          <a:latin typeface="Calibri"/>
                          <a:ea typeface="Calibri"/>
                          <a:cs typeface="Calibri"/>
                          <a:sym typeface="Calibri"/>
                        </a:rPr>
                        <m:t>𝑉</m:t>
                      </m:r>
                      <m:r>
                        <a:rPr lang="ar-AE" sz="1200" b="0" i="0" u="none" strike="noStrike" cap="none">
                          <a:solidFill>
                            <a:schemeClr val="dk1"/>
                          </a:solidFill>
                          <a:latin typeface="Calibri"/>
                          <a:ea typeface="Calibri"/>
                          <a:cs typeface="Calibri"/>
                          <a:sym typeface="Calibri"/>
                        </a:rPr>
                        <m:t>=</m:t>
                      </m:r>
                      <m:r>
                        <a:rPr lang="ar-AE" sz="1200" b="0" i="1" u="none" strike="noStrike" cap="none">
                          <a:solidFill>
                            <a:schemeClr val="dk1"/>
                          </a:solidFill>
                          <a:latin typeface="Calibri"/>
                          <a:ea typeface="Calibri"/>
                          <a:cs typeface="Calibri"/>
                          <a:sym typeface="Calibri"/>
                        </a:rPr>
                        <m:t>𝑋</m:t>
                      </m:r>
                      <m:sSup>
                        <m:sSupPr>
                          <m:ctrlPr>
                            <a:rPr lang="ar-AE" sz="1200" b="0" i="1"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𝑉</m:t>
                          </m:r>
                        </m:sup>
                      </m:sSup>
                    </m:oMath>
                    <m:oMath xmlns:m="http://schemas.openxmlformats.org/officeDocument/2006/math">
                      <m:sSub>
                        <m:sSubPr>
                          <m:ctrlPr>
                            <a:rPr lang="ar-AE" sz="1200" b="0" i="0" u="none" strike="noStrike" cap="none">
                              <a:solidFill>
                                <a:schemeClr val="dk1"/>
                              </a:solidFill>
                              <a:latin typeface="Calibri"/>
                              <a:ea typeface="Calibri"/>
                              <a:cs typeface="Calibri"/>
                              <a:sym typeface="Calibri"/>
                            </a:rPr>
                          </m:ctrlPr>
                        </m:sSubPr>
                        <m:e>
                          <m:r>
                            <m:rPr>
                              <m:nor/>
                            </m:rPr>
                            <a:rPr lang="en-US" b="0"/>
                            <m:t>head</m:t>
                          </m:r>
                        </m:e>
                        <m:sub>
                          <m:r>
                            <a:rPr lang="ar-AE" b="0" i="1"/>
                            <m:t>𝑖</m:t>
                          </m:r>
                        </m:sub>
                      </m:sSub>
                      <m:r>
                        <a:rPr lang="ar-AE" sz="1200" b="0" i="0" u="none" strike="noStrike" cap="none">
                          <a:solidFill>
                            <a:schemeClr val="dk1"/>
                          </a:solidFill>
                          <a:latin typeface="Calibri"/>
                          <a:ea typeface="Calibri"/>
                          <a:cs typeface="Calibri"/>
                          <a:sym typeface="Calibri"/>
                        </a:rPr>
                        <m:t>=</m:t>
                      </m:r>
                      <m:r>
                        <m:rPr>
                          <m:nor/>
                        </m:rPr>
                        <a:rPr lang="en-US" sz="1200" b="0" i="1" u="none" strike="noStrike" cap="none">
                          <a:solidFill>
                            <a:schemeClr val="dk1"/>
                          </a:solidFill>
                          <a:latin typeface="Calibri"/>
                          <a:ea typeface="Calibri"/>
                          <a:cs typeface="Calibri"/>
                          <a:sym typeface="Calibri"/>
                        </a:rPr>
                        <m:t>SelfAttention</m:t>
                      </m:r>
                      <m:d>
                        <m:dPr>
                          <m:sepChr m:val=","/>
                          <m:ctrlPr>
                            <a:rPr lang="ar-AE" sz="1200" b="0" i="1" u="none" strike="noStrike" cap="none">
                              <a:solidFill>
                                <a:schemeClr val="dk1"/>
                              </a:solidFill>
                              <a:latin typeface="Calibri"/>
                              <a:ea typeface="Calibri"/>
                              <a:cs typeface="Calibri"/>
                              <a:sym typeface="Calibri"/>
                            </a:rPr>
                          </m:ctrlPr>
                        </m:dPr>
                        <m:e>
                          <m:r>
                            <a:rPr lang="ar-AE" sz="1200" b="0" i="1" u="none" strike="noStrike" cap="none">
                              <a:solidFill>
                                <a:schemeClr val="dk1"/>
                              </a:solidFill>
                              <a:latin typeface="Calibri"/>
                              <a:ea typeface="Calibri"/>
                              <a:cs typeface="Calibri"/>
                              <a:sym typeface="Calibri"/>
                            </a:rPr>
                            <m:t>𝑄</m:t>
                          </m:r>
                        </m:e>
                        <m:e>
                          <m:r>
                            <a:rPr lang="ar-AE" sz="1200" b="0" i="1" u="none" strike="noStrike" cap="none">
                              <a:solidFill>
                                <a:schemeClr val="dk1"/>
                              </a:solidFill>
                              <a:latin typeface="Calibri"/>
                              <a:ea typeface="Calibri"/>
                              <a:cs typeface="Calibri"/>
                              <a:sym typeface="Calibri"/>
                            </a:rPr>
                            <m:t>𝐾</m:t>
                          </m:r>
                        </m:e>
                        <m:e>
                          <m:r>
                            <a:rPr lang="ar-AE" sz="1200" b="0" i="1" u="none" strike="noStrike" cap="none">
                              <a:solidFill>
                                <a:schemeClr val="dk1"/>
                              </a:solidFill>
                              <a:latin typeface="Calibri"/>
                              <a:ea typeface="Calibri"/>
                              <a:cs typeface="Calibri"/>
                              <a:sym typeface="Calibri"/>
                            </a:rPr>
                            <m:t>𝑉</m:t>
                          </m:r>
                        </m:e>
                      </m:d>
                    </m:oMath>
                  </m:oMathPara>
                </a14:m>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head computes its own set of query, key, and value matrices using different weight matrices </a:t>
                </a:r>
                <a14:m>
                  <m:oMath xmlns:m="http://schemas.openxmlformats.org/officeDocument/2006/math">
                    <m:sSup>
                      <m:sSupPr>
                        <m:ctrlPr>
                          <a:rPr lang="ar-AE" sz="1200" b="0" i="0"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𝑄</m:t>
                        </m:r>
                      </m:sup>
                    </m:sSup>
                  </m:oMath>
                </a14:m>
                <a:r>
                  <a:rPr lang="ar-AE" sz="1200" b="0" i="0" u="none" strike="noStrike" cap="none" dirty="0">
                    <a:solidFill>
                      <a:schemeClr val="dk1"/>
                    </a:solidFill>
                    <a:effectLst/>
                    <a:latin typeface="Calibri"/>
                    <a:ea typeface="Calibri"/>
                    <a:cs typeface="Calibri"/>
                    <a:sym typeface="Calibri"/>
                  </a:rPr>
                  <a:t>, </a:t>
                </a:r>
                <a14:m>
                  <m:oMath xmlns:m="http://schemas.openxmlformats.org/officeDocument/2006/math">
                    <m:sSup>
                      <m:sSupPr>
                        <m:ctrlPr>
                          <a:rPr lang="ar-AE" sz="1200" b="0" i="0"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𝐾</m:t>
                        </m:r>
                      </m:sup>
                    </m:sSup>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a:t>
                </a:r>
                <a14:m>
                  <m:oMath xmlns:m="http://schemas.openxmlformats.org/officeDocument/2006/math">
                    <m:sSup>
                      <m:sSupPr>
                        <m:ctrlPr>
                          <a:rPr lang="ar-AE" sz="1200" b="0" i="0"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𝑉</m:t>
                        </m:r>
                      </m:sup>
                    </m:sSup>
                  </m:oMath>
                </a14:m>
                <a:r>
                  <a:rPr lang="ar-AE"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The self-attention mechanism is applied to these matrices to compute the output for each head.</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err="1">
                    <a:solidFill>
                      <a:schemeClr val="dk1"/>
                    </a:solidFill>
                    <a:effectLst/>
                    <a:latin typeface="Calibri"/>
                    <a:ea typeface="Calibri"/>
                    <a:cs typeface="Calibri"/>
                    <a:sym typeface="Calibri"/>
                  </a:rPr>
                  <a:t>Multihead</a:t>
                </a:r>
                <a:r>
                  <a:rPr lang="en-US" sz="1200" b="0" i="0" u="none" strike="noStrike" cap="none" dirty="0">
                    <a:solidFill>
                      <a:schemeClr val="dk1"/>
                    </a:solidFill>
                    <a:effectLst/>
                    <a:latin typeface="Calibri"/>
                    <a:ea typeface="Calibri"/>
                    <a:cs typeface="Calibri"/>
                    <a:sym typeface="Calibri"/>
                  </a:rPr>
                  <a:t> attention enhances the model's ability to understand complex and diverse relationships in the input data, leading to more robust and accurate representations.</a:t>
                </a:r>
              </a:p>
              <a:p>
                <a:r>
                  <a:rPr lang="en-US" sz="1200" b="0" i="0" u="none" strike="noStrike" cap="none" dirty="0">
                    <a:solidFill>
                      <a:schemeClr val="dk1"/>
                    </a:solidFill>
                    <a:effectLst/>
                    <a:latin typeface="Calibri"/>
                    <a:ea typeface="Calibri"/>
                    <a:cs typeface="Calibri"/>
                    <a:sym typeface="Calibri"/>
                  </a:rPr>
                  <a:t>This approach allows transformers to handle a wide range of natural language processing tasks effectively, as it can capture both local and global dependencies within sequences.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comprehensive understanding of the </a:t>
                </a:r>
                <a:r>
                  <a:rPr lang="en-US" sz="1200" b="0" i="0" u="none" strike="noStrike" cap="none" dirty="0" err="1">
                    <a:solidFill>
                      <a:schemeClr val="dk1"/>
                    </a:solidFill>
                    <a:effectLst/>
                    <a:latin typeface="Calibri"/>
                    <a:ea typeface="Calibri"/>
                    <a:cs typeface="Calibri"/>
                    <a:sym typeface="Calibri"/>
                  </a:rPr>
                  <a:t>multihead</a:t>
                </a:r>
                <a:r>
                  <a:rPr lang="en-US" sz="1200" b="0" i="0" u="none" strike="noStrike" cap="none" dirty="0">
                    <a:solidFill>
                      <a:schemeClr val="dk1"/>
                    </a:solidFill>
                    <a:effectLst/>
                    <a:latin typeface="Calibri"/>
                    <a:ea typeface="Calibri"/>
                    <a:cs typeface="Calibri"/>
                    <a:sym typeface="Calibri"/>
                  </a:rPr>
                  <a:t> attention mechanism in transformers, highlighting its importance in capturing complex relationships in data. Understanding this concept is crucial for appreciating how transformers achieve state-of-the-art performance in various NLP tasks by leveraging the power of parallel attention mechanisms.</a:t>
                </a:r>
              </a:p>
              <a:p>
                <a:pPr marL="0" lvl="0" indent="0" algn="l" rtl="0">
                  <a:lnSpc>
                    <a:spcPct val="100000"/>
                  </a:lnSpc>
                  <a:spcBef>
                    <a:spcPts val="0"/>
                  </a:spcBef>
                  <a:spcAft>
                    <a:spcPts val="0"/>
                  </a:spcAft>
                  <a:buSzPts val="1400"/>
                  <a:buNone/>
                </a:pPr>
                <a:endParaRPr dirty="0"/>
              </a:p>
            </p:txBody>
          </p:sp>
        </mc:Choice>
        <mc:Fallback>
          <p:sp>
            <p:nvSpPr>
              <p:cNvPr id="563" name="Google Shape;563;g2b8b5137f2c_0_2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Complex Relationships in Sentences: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Words in a sentence can relate to each other in various ways simultaneously, such as syntactic, semantic, or positional relationships.</a:t>
                </a:r>
              </a:p>
              <a:p>
                <a:r>
                  <a:rPr lang="en-US" sz="1200" b="0" i="0" u="none" strike="noStrike" cap="none" dirty="0">
                    <a:solidFill>
                      <a:schemeClr val="dk1"/>
                    </a:solidFill>
                    <a:effectLst/>
                    <a:latin typeface="Calibri"/>
                    <a:ea typeface="Calibri"/>
                    <a:cs typeface="Calibri"/>
                    <a:sym typeface="Calibri"/>
                  </a:rPr>
                  <a:t>A single transformer block with a single attention mechanism might be inadequate to capture all these diverse relationships effectively.</a:t>
                </a:r>
              </a:p>
              <a:p>
                <a:r>
                  <a:rPr lang="en-US" sz="1200" b="1" i="0" u="none" strike="noStrike" cap="none" dirty="0" err="1">
                    <a:solidFill>
                      <a:schemeClr val="dk1"/>
                    </a:solidFill>
                    <a:effectLst/>
                    <a:latin typeface="Calibri"/>
                    <a:ea typeface="Calibri"/>
                    <a:cs typeface="Calibri"/>
                    <a:sym typeface="Calibri"/>
                  </a:rPr>
                  <a:t>Multihead</a:t>
                </a:r>
                <a:r>
                  <a:rPr lang="en-US" sz="1200" b="1" i="0" u="none" strike="noStrike" cap="none" dirty="0">
                    <a:solidFill>
                      <a:schemeClr val="dk1"/>
                    </a:solidFill>
                    <a:effectLst/>
                    <a:latin typeface="Calibri"/>
                    <a:ea typeface="Calibri"/>
                    <a:cs typeface="Calibri"/>
                    <a:sym typeface="Calibri"/>
                  </a:rPr>
                  <a:t> Self-Attention: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Multiple Heads: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err="1">
                    <a:solidFill>
                      <a:schemeClr val="dk1"/>
                    </a:solidFill>
                    <a:effectLst/>
                    <a:latin typeface="Calibri"/>
                    <a:ea typeface="Calibri"/>
                    <a:cs typeface="Calibri"/>
                    <a:sym typeface="Calibri"/>
                  </a:rPr>
                  <a:t>Multihead</a:t>
                </a:r>
                <a:r>
                  <a:rPr lang="en-US" sz="1200" b="0" i="0" u="none" strike="noStrike" cap="none" dirty="0">
                    <a:solidFill>
                      <a:schemeClr val="dk1"/>
                    </a:solidFill>
                    <a:effectLst/>
                    <a:latin typeface="Calibri"/>
                    <a:ea typeface="Calibri"/>
                    <a:cs typeface="Calibri"/>
                    <a:sym typeface="Calibri"/>
                  </a:rPr>
                  <a:t> attention involves using multiple sets of self-attention layers, known as "heads," that operate in parallel at the same depth in the model.</a:t>
                </a:r>
              </a:p>
              <a:p>
                <a:pPr lvl="1"/>
                <a:r>
                  <a:rPr lang="en-US" sz="1200" b="0" i="0" u="none" strike="noStrike" cap="none" dirty="0">
                    <a:solidFill>
                      <a:schemeClr val="dk1"/>
                    </a:solidFill>
                    <a:effectLst/>
                    <a:latin typeface="Calibri"/>
                    <a:ea typeface="Calibri"/>
                    <a:cs typeface="Calibri"/>
                    <a:sym typeface="Calibri"/>
                  </a:rPr>
                  <a:t>Each head has its own set of parameters, allowing it to focus on different aspects of the input relationships.</a:t>
                </a:r>
              </a:p>
              <a:p>
                <a:r>
                  <a:rPr lang="en-US" sz="1200" b="1" i="0" u="none" strike="noStrike" cap="none" dirty="0">
                    <a:solidFill>
                      <a:schemeClr val="dk1"/>
                    </a:solidFill>
                    <a:effectLst/>
                    <a:latin typeface="Calibri"/>
                    <a:ea typeface="Calibri"/>
                    <a:cs typeface="Calibri"/>
                    <a:sym typeface="Calibri"/>
                  </a:rPr>
                  <a:t>Learning Diverse Relationships: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attention head learns to capture different aspects of the relationships among inputs at the same level of abstraction.</a:t>
                </a:r>
              </a:p>
              <a:p>
                <a:pPr lvl="1"/>
                <a:r>
                  <a:rPr lang="en-US" sz="1200" b="0" i="0" u="none" strike="noStrike" cap="none" dirty="0">
                    <a:solidFill>
                      <a:schemeClr val="dk1"/>
                    </a:solidFill>
                    <a:effectLst/>
                    <a:latin typeface="Calibri"/>
                    <a:ea typeface="Calibri"/>
                    <a:cs typeface="Calibri"/>
                    <a:sym typeface="Calibri"/>
                  </a:rPr>
                  <a:t>By having multiple heads, the model can simultaneously attend to different parts of the input sequence, capturing a richer set of dependencies and interactions.</a:t>
                </a:r>
              </a:p>
              <a:p>
                <a:r>
                  <a:rPr lang="en-US" sz="1200" b="1" i="0" u="none" strike="noStrike" cap="none" dirty="0">
                    <a:solidFill>
                      <a:schemeClr val="dk1"/>
                    </a:solidFill>
                    <a:effectLst/>
                    <a:latin typeface="Calibri"/>
                    <a:ea typeface="Calibri"/>
                    <a:cs typeface="Calibri"/>
                    <a:sym typeface="Calibri"/>
                  </a:rPr>
                  <a:t>Mathematical Formulation: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err="1">
                    <a:solidFill>
                      <a:schemeClr val="dk1"/>
                    </a:solidFill>
                    <a:effectLst/>
                    <a:latin typeface="Calibri"/>
                    <a:ea typeface="Calibri"/>
                    <a:cs typeface="Calibri"/>
                    <a:sym typeface="Calibri"/>
                  </a:rPr>
                  <a:t>Multihead</a:t>
                </a:r>
                <a:r>
                  <a:rPr lang="en-US" sz="1200" b="1" i="0" u="none" strike="noStrike" cap="none" dirty="0">
                    <a:solidFill>
                      <a:schemeClr val="dk1"/>
                    </a:solidFill>
                    <a:effectLst/>
                    <a:latin typeface="Calibri"/>
                    <a:ea typeface="Calibri"/>
                    <a:cs typeface="Calibri"/>
                    <a:sym typeface="Calibri"/>
                  </a:rPr>
                  <a:t> Attention Output:</a:t>
                </a:r>
                <a:br>
                  <a:rPr lang="en-US" sz="1200" b="0" i="0" u="none" strike="noStrike" cap="none" dirty="0">
                    <a:solidFill>
                      <a:schemeClr val="dk1"/>
                    </a:solidFill>
                    <a:effectLst/>
                    <a:latin typeface="Calibri"/>
                    <a:ea typeface="Calibri"/>
                    <a:cs typeface="Calibri"/>
                    <a:sym typeface="Calibri"/>
                  </a:rPr>
                </a:br>
                <a:r>
                  <a:rPr lang="en-US" b="0" i="0">
                    <a:latin typeface="Cambria Math" panose="02040503050406030204" pitchFamily="18" charset="0"/>
                  </a:rPr>
                  <a:t>"MultiHeadAttention</a:t>
                </a:r>
                <a:r>
                  <a:rPr lang="ar-AE" sz="1200" b="0" i="0" u="none" strike="noStrike" cap="none">
                    <a:solidFill>
                      <a:schemeClr val="dk1"/>
                    </a:solidFill>
                    <a:sym typeface="Calibri"/>
                  </a:rPr>
                  <a:t>" </a:t>
                </a:r>
                <a:r>
                  <a:rPr lang="ar-AE" sz="1200" b="0" i="0" u="none" strike="noStrike" cap="none">
                    <a:solidFill>
                      <a:schemeClr val="dk1"/>
                    </a:solidFill>
                    <a:latin typeface="Calibri"/>
                    <a:ea typeface="Calibri"/>
                    <a:cs typeface="Calibri"/>
                    <a:sym typeface="Calibri"/>
                  </a:rPr>
                  <a:t>(</a:t>
                </a:r>
                <a:r>
                  <a:rPr lang="ar-AE" b="0" i="0"/>
                  <a:t>𝑋</a:t>
                </a:r>
                <a:r>
                  <a:rPr lang="ar-AE" sz="1200" b="0" i="0" u="none" strike="noStrike" cap="none">
                    <a:solidFill>
                      <a:schemeClr val="dk1"/>
                    </a:solidFill>
                    <a:sym typeface="Calibri"/>
                  </a:rPr>
                  <a:t>)</a:t>
                </a:r>
                <a:r>
                  <a:rPr lang="ar-AE" sz="1200" b="0" i="0" u="none" strike="noStrike" cap="none">
                    <a:solidFill>
                      <a:schemeClr val="dk1"/>
                    </a:solidFill>
                    <a:latin typeface="Calibri"/>
                    <a:ea typeface="Calibri"/>
                    <a:cs typeface="Calibri"/>
                    <a:sym typeface="Calibri"/>
                  </a:rPr>
                  <a:t>=(〖</a:t>
                </a:r>
                <a:r>
                  <a:rPr lang="en-US" sz="1200" b="0" i="0" u="none" strike="noStrike" cap="none">
                    <a:solidFill>
                      <a:schemeClr val="dk1"/>
                    </a:solidFill>
                    <a:latin typeface="Calibri"/>
                    <a:ea typeface="Calibri"/>
                    <a:cs typeface="Calibri"/>
                    <a:sym typeface="Calibri"/>
                  </a:rPr>
                  <a:t>"head</a:t>
                </a:r>
                <a:r>
                  <a:rPr lang="ar-AE" sz="1200" b="0" i="0" u="none" strike="noStrike" cap="none">
                    <a:solidFill>
                      <a:schemeClr val="dk1"/>
                    </a:solidFill>
                    <a:latin typeface="Calibri"/>
                    <a:ea typeface="Calibri"/>
                    <a:cs typeface="Calibri"/>
                    <a:sym typeface="Calibri"/>
                  </a:rPr>
                  <a:t>" 〗_1⊕〖</a:t>
                </a:r>
                <a:r>
                  <a:rPr lang="en-US" sz="1200" b="0" i="0" u="none" strike="noStrike" cap="none">
                    <a:solidFill>
                      <a:schemeClr val="dk1"/>
                    </a:solidFill>
                    <a:latin typeface="Calibri"/>
                    <a:ea typeface="Calibri"/>
                    <a:cs typeface="Calibri"/>
                    <a:sym typeface="Calibri"/>
                  </a:rPr>
                  <a:t>"head</a:t>
                </a:r>
                <a:r>
                  <a:rPr lang="ar-AE" sz="1200" b="0" i="0" u="none" strike="noStrike" cap="none">
                    <a:solidFill>
                      <a:schemeClr val="dk1"/>
                    </a:solidFill>
                    <a:latin typeface="Calibri"/>
                    <a:ea typeface="Calibri"/>
                    <a:cs typeface="Calibri"/>
                    <a:sym typeface="Calibri"/>
                  </a:rPr>
                  <a:t>" 〗_2⊕…⊕〖</a:t>
                </a:r>
                <a:r>
                  <a:rPr lang="en-US" sz="1200" b="0" i="0" u="none" strike="noStrike" cap="none">
                    <a:solidFill>
                      <a:schemeClr val="dk1"/>
                    </a:solidFill>
                    <a:latin typeface="Calibri"/>
                    <a:ea typeface="Calibri"/>
                    <a:cs typeface="Calibri"/>
                    <a:sym typeface="Calibri"/>
                  </a:rPr>
                  <a:t>"head</a:t>
                </a:r>
                <a:r>
                  <a:rPr lang="ar-AE" sz="1200" b="0" i="0" u="none" strike="noStrike" cap="none">
                    <a:solidFill>
                      <a:schemeClr val="dk1"/>
                    </a:solidFill>
                    <a:latin typeface="Calibri"/>
                    <a:ea typeface="Calibri"/>
                    <a:cs typeface="Calibri"/>
                    <a:sym typeface="Calibri"/>
                  </a:rPr>
                  <a:t>" 〗_ℎ ) 𝑊^𝑂</a:t>
                </a: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outputs of the individual heads are concatenated (denoted by </a:t>
                </a:r>
                <a:r>
                  <a:rPr lang="en-US" sz="1200" b="0" i="0" u="none" strike="noStrike" cap="none">
                    <a:solidFill>
                      <a:schemeClr val="dk1"/>
                    </a:solidFill>
                    <a:latin typeface="Calibri"/>
                    <a:ea typeface="Calibri"/>
                    <a:cs typeface="Calibri"/>
                    <a:sym typeface="Calibri"/>
                  </a:rPr>
                  <a:t>⊕</a:t>
                </a:r>
                <a:r>
                  <a:rPr lang="en-US" sz="1200" b="0" i="0" u="none" strike="noStrike" cap="none" dirty="0">
                    <a:solidFill>
                      <a:schemeClr val="dk1"/>
                    </a:solidFill>
                    <a:effectLst/>
                    <a:latin typeface="Calibri"/>
                    <a:ea typeface="Calibri"/>
                    <a:cs typeface="Calibri"/>
                    <a:sym typeface="Calibri"/>
                  </a:rPr>
                  <a:t>) and then linearly transformed using a weight matrix </a:t>
                </a:r>
                <a:r>
                  <a:rPr lang="ar-AE" sz="1200" b="0" i="0" u="none" strike="noStrike" cap="none">
                    <a:solidFill>
                      <a:schemeClr val="dk1"/>
                    </a:solidFill>
                    <a:latin typeface="Calibri"/>
                    <a:ea typeface="Calibri"/>
                    <a:cs typeface="Calibri"/>
                    <a:sym typeface="Calibri"/>
                  </a:rPr>
                  <a:t>𝑊^𝑂</a:t>
                </a:r>
                <a:r>
                  <a:rPr lang="ar-AE" sz="1200" b="0" i="0" u="none" strike="noStrike" cap="none" dirty="0">
                    <a:solidFill>
                      <a:schemeClr val="dk1"/>
                    </a:solidFill>
                    <a:effectLst/>
                    <a:latin typeface="Calibri"/>
                    <a:ea typeface="Calibri"/>
                    <a:cs typeface="Calibri"/>
                    <a:sym typeface="Calibri"/>
                  </a:rPr>
                  <a:t>.</a:t>
                </a:r>
              </a:p>
              <a:p>
                <a:r>
                  <a:rPr lang="en-US" sz="1200" b="1" i="0" u="none" strike="noStrike" cap="none" dirty="0">
                    <a:solidFill>
                      <a:schemeClr val="dk1"/>
                    </a:solidFill>
                    <a:effectLst/>
                    <a:latin typeface="Calibri"/>
                    <a:ea typeface="Calibri"/>
                    <a:cs typeface="Calibri"/>
                    <a:sym typeface="Calibri"/>
                  </a:rPr>
                  <a:t>Individual Head Computation:</a:t>
                </a:r>
                <a:br>
                  <a:rPr lang="en-US" sz="1200" b="0" i="0" u="none" strike="noStrike" cap="none" dirty="0">
                    <a:solidFill>
                      <a:schemeClr val="dk1"/>
                    </a:solidFill>
                    <a:effectLst/>
                    <a:latin typeface="Calibri"/>
                    <a:ea typeface="Calibri"/>
                    <a:cs typeface="Calibri"/>
                    <a:sym typeface="Calibri"/>
                  </a:rPr>
                </a:br>
                <a:r>
                  <a:rPr lang="en-US" sz="1200" b="0" i="0" u="none" strike="noStrike" cap="none">
                    <a:solidFill>
                      <a:schemeClr val="dk1"/>
                    </a:solidFill>
                    <a:latin typeface="Calibri"/>
                    <a:ea typeface="Calibri"/>
                    <a:cs typeface="Calibri"/>
                    <a:sym typeface="Calibri"/>
                  </a:rPr>
                  <a:t>𝑄=𝑋</a:t>
                </a:r>
                <a:r>
                  <a:rPr lang="ar-AE" sz="1200" b="0" i="0" u="none" strike="noStrike" cap="none">
                    <a:solidFill>
                      <a:schemeClr val="dk1"/>
                    </a:solidFill>
                    <a:latin typeface="Calibri"/>
                    <a:ea typeface="Calibri"/>
                    <a:cs typeface="Calibri"/>
                    <a:sym typeface="Calibri"/>
                  </a:rPr>
                  <a:t>𝑊^𝑄, 𝐾=𝑋𝑊^𝐾, 𝑉=𝑋𝑊^𝑉</a:t>
                </a:r>
                <a:br>
                  <a:rPr lang="ar-AE" sz="1200" b="0" i="0" u="none" strike="noStrike" cap="none" dirty="0">
                    <a:solidFill>
                      <a:schemeClr val="dk1"/>
                    </a:solidFill>
                    <a:effectLst/>
                    <a:latin typeface="Calibri"/>
                    <a:ea typeface="Calibri"/>
                    <a:cs typeface="Calibri"/>
                    <a:sym typeface="Calibri"/>
                  </a:rPr>
                </a:br>
                <a:r>
                  <a:rPr lang="ar-AE" sz="1200" b="0" i="0" u="none" strike="noStrike" cap="none">
                    <a:solidFill>
                      <a:schemeClr val="dk1"/>
                    </a:solidFill>
                    <a:latin typeface="Calibri"/>
                    <a:ea typeface="Calibri"/>
                    <a:cs typeface="Calibri"/>
                    <a:sym typeface="Calibri"/>
                  </a:rPr>
                  <a:t>〖</a:t>
                </a:r>
                <a:r>
                  <a:rPr lang="en-US" sz="1200" b="0" i="0" u="none" strike="noStrike" cap="none">
                    <a:solidFill>
                      <a:schemeClr val="dk1"/>
                    </a:solidFill>
                    <a:latin typeface="Calibri"/>
                    <a:ea typeface="Calibri"/>
                    <a:cs typeface="Calibri"/>
                    <a:sym typeface="Calibri"/>
                  </a:rPr>
                  <a:t>"</a:t>
                </a:r>
                <a:r>
                  <a:rPr lang="en-US" b="0" i="0"/>
                  <a:t>head</a:t>
                </a:r>
                <a:r>
                  <a:rPr lang="ar-AE" sz="1200" b="0" i="0" u="none" strike="noStrike" cap="none">
                    <a:solidFill>
                      <a:schemeClr val="dk1"/>
                    </a:solidFill>
                    <a:sym typeface="Calibri"/>
                  </a:rPr>
                  <a:t>" 〗_</a:t>
                </a:r>
                <a:r>
                  <a:rPr lang="ar-AE" b="0" i="0"/>
                  <a:t>𝑖</a:t>
                </a:r>
                <a:r>
                  <a:rPr lang="ar-AE" sz="1200" b="0" i="0" u="none" strike="noStrike" cap="none">
                    <a:solidFill>
                      <a:schemeClr val="dk1"/>
                    </a:solidFill>
                    <a:latin typeface="Calibri"/>
                    <a:ea typeface="Calibri"/>
                    <a:cs typeface="Calibri"/>
                    <a:sym typeface="Calibri"/>
                  </a:rPr>
                  <a:t>=</a:t>
                </a:r>
                <a:r>
                  <a:rPr lang="en-US" sz="1200" b="0" i="0" u="none" strike="noStrike" cap="none">
                    <a:solidFill>
                      <a:schemeClr val="dk1"/>
                    </a:solidFill>
                    <a:latin typeface="Cambria Math" panose="02040503050406030204" pitchFamily="18" charset="0"/>
                    <a:ea typeface="Calibri"/>
                    <a:cs typeface="Calibri"/>
                    <a:sym typeface="Calibri"/>
                  </a:rPr>
                  <a:t>"SelfAttention</a:t>
                </a:r>
                <a:r>
                  <a:rPr lang="ar-AE" sz="1200" b="0" i="0" u="none" strike="noStrike" cap="none">
                    <a:solidFill>
                      <a:schemeClr val="dk1"/>
                    </a:solidFill>
                    <a:latin typeface="Calibri"/>
                    <a:ea typeface="Calibri"/>
                    <a:cs typeface="Calibri"/>
                    <a:sym typeface="Calibri"/>
                  </a:rPr>
                  <a:t>" (𝑄ⓜ,𝐾ⓜ,𝑉)</a:t>
                </a: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head computes its own set of query, key, and value matrices using different weight matrices </a:t>
                </a:r>
                <a:r>
                  <a:rPr lang="ar-AE" sz="1200" b="0" i="0" u="none" strike="noStrike" cap="none">
                    <a:solidFill>
                      <a:schemeClr val="dk1"/>
                    </a:solidFill>
                    <a:latin typeface="Calibri"/>
                    <a:ea typeface="Calibri"/>
                    <a:cs typeface="Calibri"/>
                    <a:sym typeface="Calibri"/>
                  </a:rPr>
                  <a:t>𝑊^𝑄</a:t>
                </a:r>
                <a:r>
                  <a:rPr lang="ar-AE" sz="1200" b="0" i="0" u="none" strike="noStrike" cap="none" dirty="0">
                    <a:solidFill>
                      <a:schemeClr val="dk1"/>
                    </a:solidFill>
                    <a:effectLst/>
                    <a:latin typeface="Calibri"/>
                    <a:ea typeface="Calibri"/>
                    <a:cs typeface="Calibri"/>
                    <a:sym typeface="Calibri"/>
                  </a:rPr>
                  <a:t>, </a:t>
                </a:r>
                <a:r>
                  <a:rPr lang="ar-AE" sz="1200" b="0" i="0" u="none" strike="noStrike" cap="none">
                    <a:solidFill>
                      <a:schemeClr val="dk1"/>
                    </a:solidFill>
                    <a:latin typeface="Calibri"/>
                    <a:ea typeface="Calibri"/>
                    <a:cs typeface="Calibri"/>
                    <a:sym typeface="Calibri"/>
                  </a:rPr>
                  <a:t>𝑊^𝐾</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and </a:t>
                </a:r>
                <a:r>
                  <a:rPr lang="ar-AE" sz="1200" b="0" i="0" u="none" strike="noStrike" cap="none">
                    <a:solidFill>
                      <a:schemeClr val="dk1"/>
                    </a:solidFill>
                    <a:latin typeface="Calibri"/>
                    <a:ea typeface="Calibri"/>
                    <a:cs typeface="Calibri"/>
                    <a:sym typeface="Calibri"/>
                  </a:rPr>
                  <a:t>𝑊^𝑉</a:t>
                </a:r>
                <a:r>
                  <a:rPr lang="ar-AE"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The self-attention mechanism is applied to these matrices to compute the output for each head.</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err="1">
                    <a:solidFill>
                      <a:schemeClr val="dk1"/>
                    </a:solidFill>
                    <a:effectLst/>
                    <a:latin typeface="Calibri"/>
                    <a:ea typeface="Calibri"/>
                    <a:cs typeface="Calibri"/>
                    <a:sym typeface="Calibri"/>
                  </a:rPr>
                  <a:t>Multihead</a:t>
                </a:r>
                <a:r>
                  <a:rPr lang="en-US" sz="1200" b="0" i="0" u="none" strike="noStrike" cap="none" dirty="0">
                    <a:solidFill>
                      <a:schemeClr val="dk1"/>
                    </a:solidFill>
                    <a:effectLst/>
                    <a:latin typeface="Calibri"/>
                    <a:ea typeface="Calibri"/>
                    <a:cs typeface="Calibri"/>
                    <a:sym typeface="Calibri"/>
                  </a:rPr>
                  <a:t> attention enhances the model's ability to understand complex and diverse relationships in the input data, leading to more robust and accurate representations.</a:t>
                </a:r>
              </a:p>
              <a:p>
                <a:r>
                  <a:rPr lang="en-US" sz="1200" b="0" i="0" u="none" strike="noStrike" cap="none" dirty="0">
                    <a:solidFill>
                      <a:schemeClr val="dk1"/>
                    </a:solidFill>
                    <a:effectLst/>
                    <a:latin typeface="Calibri"/>
                    <a:ea typeface="Calibri"/>
                    <a:cs typeface="Calibri"/>
                    <a:sym typeface="Calibri"/>
                  </a:rPr>
                  <a:t>This approach allows transformers to handle a wide range of natural language processing tasks effectively, as it can capture both local and global dependencies within sequences.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comprehensive understanding of the </a:t>
                </a:r>
                <a:r>
                  <a:rPr lang="en-US" sz="1200" b="0" i="0" u="none" strike="noStrike" cap="none" dirty="0" err="1">
                    <a:solidFill>
                      <a:schemeClr val="dk1"/>
                    </a:solidFill>
                    <a:effectLst/>
                    <a:latin typeface="Calibri"/>
                    <a:ea typeface="Calibri"/>
                    <a:cs typeface="Calibri"/>
                    <a:sym typeface="Calibri"/>
                  </a:rPr>
                  <a:t>multihead</a:t>
                </a:r>
                <a:r>
                  <a:rPr lang="en-US" sz="1200" b="0" i="0" u="none" strike="noStrike" cap="none" dirty="0">
                    <a:solidFill>
                      <a:schemeClr val="dk1"/>
                    </a:solidFill>
                    <a:effectLst/>
                    <a:latin typeface="Calibri"/>
                    <a:ea typeface="Calibri"/>
                    <a:cs typeface="Calibri"/>
                    <a:sym typeface="Calibri"/>
                  </a:rPr>
                  <a:t> attention mechanism in transformers, highlighting its importance in capturing complex relationships in data. Understanding this concept is crucial for appreciating how transformers achieve state-of-the-art performance in various NLP tasks by leveraging the power of parallel attention mechanisms.</a:t>
                </a:r>
              </a:p>
              <a:p>
                <a:pPr marL="0" lvl="0" indent="0" algn="l" rtl="0">
                  <a:lnSpc>
                    <a:spcPct val="100000"/>
                  </a:lnSpc>
                  <a:spcBef>
                    <a:spcPts val="0"/>
                  </a:spcBef>
                  <a:spcAft>
                    <a:spcPts val="0"/>
                  </a:spcAft>
                  <a:buSzPts val="1400"/>
                  <a:buNone/>
                </a:pPr>
                <a:endParaRPr dirty="0"/>
              </a:p>
            </p:txBody>
          </p:sp>
        </mc:Fallback>
      </mc:AlternateContent>
      <p:sp>
        <p:nvSpPr>
          <p:cNvPr id="564" name="Google Shape;564;g2b8b5137f2c_0_2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2b8b5137f2c_0_3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572" name="Google Shape;572;g2b8b5137f2c_0_30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err="1">
                    <a:solidFill>
                      <a:schemeClr val="dk1"/>
                    </a:solidFill>
                    <a:effectLst/>
                    <a:latin typeface="Calibri"/>
                    <a:ea typeface="Calibri"/>
                    <a:cs typeface="Calibri"/>
                    <a:sym typeface="Calibri"/>
                  </a:rPr>
                  <a:t>Multihead</a:t>
                </a:r>
                <a:r>
                  <a:rPr lang="en-US" sz="1200" b="1" i="0" u="none" strike="noStrike" cap="none" dirty="0">
                    <a:solidFill>
                      <a:schemeClr val="dk1"/>
                    </a:solidFill>
                    <a:effectLst/>
                    <a:latin typeface="Calibri"/>
                    <a:ea typeface="Calibri"/>
                    <a:cs typeface="Calibri"/>
                    <a:sym typeface="Calibri"/>
                  </a:rPr>
                  <a:t> Attention Layer:</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Parallel Attention Heads: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input sequence </a:t>
                </a:r>
                <a14:m>
                  <m:oMath xmlns:m="http://schemas.openxmlformats.org/officeDocument/2006/math">
                    <m:d>
                      <m:dPr>
                        <m:sepChr m:val=","/>
                        <m:ctrlPr>
                          <a:rPr lang="ar-AE" sz="1200" b="0" i="0" u="none" strike="noStrike" cap="none">
                            <a:solidFill>
                              <a:schemeClr val="dk1"/>
                            </a:solidFill>
                            <a:latin typeface="Calibri"/>
                            <a:ea typeface="Calibri"/>
                            <a:cs typeface="Calibri"/>
                            <a:sym typeface="Calibri"/>
                          </a:rPr>
                        </m:ctrlPr>
                      </m:dPr>
                      <m:e>
                        <m:sSub>
                          <m:sSubPr>
                            <m:ctrlPr>
                              <a:rPr lang="ar-AE" sz="1200" b="0" i="0"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0" u="none" strike="noStrike" cap="none">
                                <a:solidFill>
                                  <a:schemeClr val="dk1"/>
                                </a:solidFill>
                                <a:latin typeface="Calibri"/>
                                <a:ea typeface="Calibri"/>
                                <a:cs typeface="Calibri"/>
                                <a:sym typeface="Calibri"/>
                              </a:rPr>
                              <m:t>1</m:t>
                            </m:r>
                          </m:sub>
                        </m:sSub>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0" u="none" strike="noStrike" cap="none">
                                <a:solidFill>
                                  <a:schemeClr val="dk1"/>
                                </a:solidFill>
                                <a:latin typeface="Calibri"/>
                                <a:ea typeface="Calibri"/>
                                <a:cs typeface="Calibri"/>
                                <a:sym typeface="Calibri"/>
                              </a:rPr>
                              <m:t>2</m:t>
                            </m:r>
                          </m:sub>
                        </m:sSub>
                      </m:e>
                      <m:e>
                        <m:r>
                          <a:rPr lang="ar-AE" sz="1200" b="0" i="0" u="none" strike="noStrike" cap="none">
                            <a:solidFill>
                              <a:schemeClr val="dk1"/>
                            </a:solidFill>
                            <a:latin typeface="Calibri"/>
                            <a:ea typeface="Calibri"/>
                            <a:cs typeface="Calibri"/>
                            <a:sym typeface="Calibri"/>
                          </a:rPr>
                          <m:t>…</m:t>
                        </m:r>
                      </m:e>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𝑥</m:t>
                            </m:r>
                          </m:e>
                          <m:sub>
                            <m:r>
                              <a:rPr lang="ar-AE" sz="1200" b="0" i="1" u="none" strike="noStrike" cap="none">
                                <a:solidFill>
                                  <a:schemeClr val="dk1"/>
                                </a:solidFill>
                                <a:latin typeface="Calibri"/>
                                <a:ea typeface="Calibri"/>
                                <a:cs typeface="Calibri"/>
                                <a:sym typeface="Calibri"/>
                              </a:rPr>
                              <m:t>𝑛</m:t>
                            </m:r>
                          </m:sub>
                        </m:sSub>
                      </m:e>
                    </m:d>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processed by multiple attention heads, each with its own set of key, query, and value weight matrices </a:t>
                </a:r>
                <a14:m>
                  <m:oMath xmlns:m="http://schemas.openxmlformats.org/officeDocument/2006/math">
                    <m:d>
                      <m:dPr>
                        <m:sepChr m:val=","/>
                        <m:ctrlPr>
                          <a:rPr lang="ar-AE" sz="1200" b="0" i="0" u="none" strike="noStrike" cap="none">
                            <a:solidFill>
                              <a:schemeClr val="dk1"/>
                            </a:solidFill>
                            <a:latin typeface="Calibri"/>
                            <a:ea typeface="Calibri"/>
                            <a:cs typeface="Calibri"/>
                            <a:sym typeface="Calibri"/>
                          </a:rPr>
                        </m:ctrlPr>
                      </m:dPr>
                      <m:e>
                        <m:sSubSup>
                          <m:sSubSupPr>
                            <m:ctrlPr>
                              <a:rPr lang="ar-AE" sz="1200" b="0" i="0"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𝑊</m:t>
                            </m:r>
                          </m:e>
                          <m:sub>
                            <m:r>
                              <a:rPr lang="ar-AE" sz="1200" b="0" i="1" u="none" strike="noStrike" cap="none">
                                <a:solidFill>
                                  <a:schemeClr val="dk1"/>
                                </a:solidFill>
                                <a:latin typeface="Calibri"/>
                                <a:ea typeface="Calibri"/>
                                <a:cs typeface="Calibri"/>
                                <a:sym typeface="Calibri"/>
                              </a:rPr>
                              <m:t>𝑖</m:t>
                            </m:r>
                          </m:sub>
                          <m:sup>
                            <m:r>
                              <a:rPr lang="ar-AE" sz="1200" b="0" i="1" u="none" strike="noStrike" cap="none">
                                <a:solidFill>
                                  <a:schemeClr val="dk1"/>
                                </a:solidFill>
                                <a:latin typeface="Calibri"/>
                                <a:ea typeface="Calibri"/>
                                <a:cs typeface="Calibri"/>
                                <a:sym typeface="Calibri"/>
                              </a:rPr>
                              <m:t>𝑄</m:t>
                            </m:r>
                          </m:sup>
                        </m:sSubSup>
                      </m:e>
                      <m:e>
                        <m:sSubSup>
                          <m:sSubSupPr>
                            <m:ctrlPr>
                              <a:rPr lang="ar-AE" sz="1200" b="0" i="1"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𝑊</m:t>
                            </m:r>
                          </m:e>
                          <m:sub>
                            <m:r>
                              <a:rPr lang="ar-AE" sz="1200" b="0" i="1" u="none" strike="noStrike" cap="none">
                                <a:solidFill>
                                  <a:schemeClr val="dk1"/>
                                </a:solidFill>
                                <a:latin typeface="Calibri"/>
                                <a:ea typeface="Calibri"/>
                                <a:cs typeface="Calibri"/>
                                <a:sym typeface="Calibri"/>
                              </a:rPr>
                              <m:t>𝑖</m:t>
                            </m:r>
                          </m:sub>
                          <m:sup>
                            <m:r>
                              <a:rPr lang="ar-AE" sz="1200" b="0" i="1" u="none" strike="noStrike" cap="none">
                                <a:solidFill>
                                  <a:schemeClr val="dk1"/>
                                </a:solidFill>
                                <a:latin typeface="Calibri"/>
                                <a:ea typeface="Calibri"/>
                                <a:cs typeface="Calibri"/>
                                <a:sym typeface="Calibri"/>
                              </a:rPr>
                              <m:t>𝐾</m:t>
                            </m:r>
                          </m:sup>
                        </m:sSubSup>
                      </m:e>
                      <m:e>
                        <m:sSubSup>
                          <m:sSubSupPr>
                            <m:ctrlPr>
                              <a:rPr lang="ar-AE" sz="1200" b="0" i="1" u="none" strike="noStrike" cap="none">
                                <a:solidFill>
                                  <a:schemeClr val="dk1"/>
                                </a:solidFill>
                                <a:latin typeface="Calibri"/>
                                <a:ea typeface="Calibri"/>
                                <a:cs typeface="Calibri"/>
                                <a:sym typeface="Calibri"/>
                              </a:rPr>
                            </m:ctrlPr>
                          </m:sSubSupPr>
                          <m:e>
                            <m:r>
                              <a:rPr lang="ar-AE" sz="1200" b="0" i="1" u="none" strike="noStrike" cap="none">
                                <a:solidFill>
                                  <a:schemeClr val="dk1"/>
                                </a:solidFill>
                                <a:latin typeface="Calibri"/>
                                <a:ea typeface="Calibri"/>
                                <a:cs typeface="Calibri"/>
                                <a:sym typeface="Calibri"/>
                              </a:rPr>
                              <m:t>𝑊</m:t>
                            </m:r>
                          </m:e>
                          <m:sub>
                            <m:r>
                              <a:rPr lang="ar-AE" sz="1200" b="0" i="1" u="none" strike="noStrike" cap="none">
                                <a:solidFill>
                                  <a:schemeClr val="dk1"/>
                                </a:solidFill>
                                <a:latin typeface="Calibri"/>
                                <a:ea typeface="Calibri"/>
                                <a:cs typeface="Calibri"/>
                                <a:sym typeface="Calibri"/>
                              </a:rPr>
                              <m:t>𝑖</m:t>
                            </m:r>
                          </m:sub>
                          <m:sup>
                            <m:r>
                              <a:rPr lang="ar-AE" sz="1200" b="0" i="1" u="none" strike="noStrike" cap="none">
                                <a:solidFill>
                                  <a:schemeClr val="dk1"/>
                                </a:solidFill>
                                <a:latin typeface="Calibri"/>
                                <a:ea typeface="Calibri"/>
                                <a:cs typeface="Calibri"/>
                                <a:sym typeface="Calibri"/>
                              </a:rPr>
                              <m:t>𝑉</m:t>
                            </m:r>
                          </m:sup>
                        </m:sSubSup>
                      </m:e>
                    </m:d>
                  </m:oMath>
                </a14:m>
                <a:r>
                  <a:rPr lang="ar-AE"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Each head independently computes its own attention output, capturing different aspects of the relationships among the input tokens.</a:t>
                </a:r>
              </a:p>
              <a:p>
                <a:r>
                  <a:rPr lang="en-US" sz="1200" b="1" i="0" u="none" strike="noStrike" cap="none" dirty="0">
                    <a:solidFill>
                      <a:schemeClr val="dk1"/>
                    </a:solidFill>
                    <a:effectLst/>
                    <a:latin typeface="Calibri"/>
                    <a:ea typeface="Calibri"/>
                    <a:cs typeface="Calibri"/>
                    <a:sym typeface="Calibri"/>
                  </a:rPr>
                  <a:t>Concatenation of Outputs: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outputs from each attention head are concatenated to form a single combined output.</a:t>
                </a:r>
              </a:p>
              <a:p>
                <a:pPr lvl="1"/>
                <a:r>
                  <a:rPr lang="en-US" sz="1200" b="0" i="0" u="none" strike="noStrike" cap="none" dirty="0">
                    <a:solidFill>
                      <a:schemeClr val="dk1"/>
                    </a:solidFill>
                    <a:effectLst/>
                    <a:latin typeface="Calibri"/>
                    <a:ea typeface="Calibri"/>
                    <a:cs typeface="Calibri"/>
                    <a:sym typeface="Calibri"/>
                  </a:rPr>
                  <a:t>This concatenation allows the model to integrate the diverse information captured by each head.</a:t>
                </a:r>
              </a:p>
              <a:p>
                <a:r>
                  <a:rPr lang="en-US" sz="1200" b="1" i="0" u="none" strike="noStrike" cap="none" dirty="0">
                    <a:solidFill>
                      <a:schemeClr val="dk1"/>
                    </a:solidFill>
                    <a:effectLst/>
                    <a:latin typeface="Calibri"/>
                    <a:ea typeface="Calibri"/>
                    <a:cs typeface="Calibri"/>
                    <a:sym typeface="Calibri"/>
                  </a:rPr>
                  <a:t>Projection to Output Dimension: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concatenated output is linearly transformed using a weight matrix </a:t>
                </a:r>
                <a14:m>
                  <m:oMath xmlns:m="http://schemas.openxmlformats.org/officeDocument/2006/math">
                    <m:sSup>
                      <m:sSupPr>
                        <m:ctrlPr>
                          <a:rPr lang="ar-AE" sz="1200" b="0" i="0" u="none" strike="noStrike" cap="none">
                            <a:solidFill>
                              <a:schemeClr val="dk1"/>
                            </a:solidFill>
                            <a:latin typeface="Calibri"/>
                            <a:ea typeface="Calibri"/>
                            <a:cs typeface="Calibri"/>
                            <a:sym typeface="Calibri"/>
                          </a:rPr>
                        </m:ctrlPr>
                      </m:sSupPr>
                      <m:e>
                        <m:r>
                          <a:rPr lang="ar-AE" sz="1200" b="0" i="1" u="none" strike="noStrike" cap="none">
                            <a:solidFill>
                              <a:schemeClr val="dk1"/>
                            </a:solidFill>
                            <a:latin typeface="Calibri"/>
                            <a:ea typeface="Calibri"/>
                            <a:cs typeface="Calibri"/>
                            <a:sym typeface="Calibri"/>
                          </a:rPr>
                          <m:t>𝑊</m:t>
                        </m:r>
                      </m:e>
                      <m:sup>
                        <m:r>
                          <a:rPr lang="ar-AE" sz="1200" b="0" i="1" u="none" strike="noStrike" cap="none">
                            <a:solidFill>
                              <a:schemeClr val="dk1"/>
                            </a:solidFill>
                            <a:latin typeface="Calibri"/>
                            <a:ea typeface="Calibri"/>
                            <a:cs typeface="Calibri"/>
                            <a:sym typeface="Calibri"/>
                          </a:rPr>
                          <m:t>𝑂</m:t>
                        </m:r>
                      </m:sup>
                    </m:sSup>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to project it back down to the original input dimension </a:t>
                </a:r>
                <a14:m>
                  <m:oMath xmlns:m="http://schemas.openxmlformats.org/officeDocument/2006/math">
                    <m:r>
                      <a:rPr lang="en-US" sz="1200" b="0" i="1" u="none" strike="noStrike" cap="none">
                        <a:solidFill>
                          <a:schemeClr val="dk1"/>
                        </a:solidFill>
                        <a:latin typeface="Calibri"/>
                        <a:ea typeface="Calibri"/>
                        <a:cs typeface="Calibri"/>
                        <a:sym typeface="Calibri"/>
                      </a:rPr>
                      <m:t>𝑑</m:t>
                    </m:r>
                  </m:oMath>
                </a14:m>
                <a:r>
                  <a:rPr lang="en-US"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This projection ensures that the output of the </a:t>
                </a:r>
                <a:r>
                  <a:rPr lang="en-US" sz="1200" b="0" i="0" u="none" strike="noStrike" cap="none" dirty="0" err="1">
                    <a:solidFill>
                      <a:schemeClr val="dk1"/>
                    </a:solidFill>
                    <a:effectLst/>
                    <a:latin typeface="Calibri"/>
                    <a:ea typeface="Calibri"/>
                    <a:cs typeface="Calibri"/>
                    <a:sym typeface="Calibri"/>
                  </a:rPr>
                  <a:t>multihead</a:t>
                </a:r>
                <a:r>
                  <a:rPr lang="en-US" sz="1200" b="0" i="0" u="none" strike="noStrike" cap="none" dirty="0">
                    <a:solidFill>
                      <a:schemeClr val="dk1"/>
                    </a:solidFill>
                    <a:effectLst/>
                    <a:latin typeface="Calibri"/>
                    <a:ea typeface="Calibri"/>
                    <a:cs typeface="Calibri"/>
                    <a:sym typeface="Calibri"/>
                  </a:rPr>
                  <a:t> attention layer has the same size as the input, allowing for stacking of multiple layers.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Each attention head focuses on different aspects of the input data, enabling the model to capture a richer set of dependencies and interactions.</a:t>
                </a:r>
              </a:p>
              <a:p>
                <a:r>
                  <a:rPr lang="en-US" sz="1200" b="0" i="0" u="none" strike="noStrike" cap="none" dirty="0">
                    <a:solidFill>
                      <a:schemeClr val="dk1"/>
                    </a:solidFill>
                    <a:effectLst/>
                    <a:latin typeface="Calibri"/>
                    <a:ea typeface="Calibri"/>
                    <a:cs typeface="Calibri"/>
                    <a:sym typeface="Calibri"/>
                  </a:rPr>
                  <a:t>The process of concatenating and projecting the outputs allows the model to integrate the diverse information captured by each head, enhancing its ability to understand complex relationships in the data.</a:t>
                </a:r>
              </a:p>
              <a:p>
                <a:r>
                  <a:rPr lang="en-US" sz="1200" b="1" i="0" u="none" strike="noStrike" cap="none" dirty="0">
                    <a:solidFill>
                      <a:schemeClr val="dk1"/>
                    </a:solidFill>
                    <a:effectLst/>
                    <a:latin typeface="Calibri"/>
                    <a:ea typeface="Calibri"/>
                    <a:cs typeface="Calibri"/>
                    <a:sym typeface="Calibri"/>
                  </a:rPr>
                  <a:t>Benefits of </a:t>
                </a:r>
                <a:r>
                  <a:rPr lang="en-US" sz="1200" b="1" i="0" u="none" strike="noStrike" cap="none" dirty="0" err="1">
                    <a:solidFill>
                      <a:schemeClr val="dk1"/>
                    </a:solidFill>
                    <a:effectLst/>
                    <a:latin typeface="Calibri"/>
                    <a:ea typeface="Calibri"/>
                    <a:cs typeface="Calibri"/>
                    <a:sym typeface="Calibri"/>
                  </a:rPr>
                  <a:t>Multihead</a:t>
                </a:r>
                <a:r>
                  <a:rPr lang="en-US" sz="1200" b="1" i="0" u="none" strike="noStrike" cap="none" dirty="0">
                    <a:solidFill>
                      <a:schemeClr val="dk1"/>
                    </a:solidFill>
                    <a:effectLst/>
                    <a:latin typeface="Calibri"/>
                    <a:ea typeface="Calibri"/>
                    <a:cs typeface="Calibri"/>
                    <a:sym typeface="Calibri"/>
                  </a:rPr>
                  <a:t> Attention:</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By using multiple heads, the transformer can simultaneously attend to different parts of the input sequence, capturing both local and global dependencies.</a:t>
                </a:r>
              </a:p>
              <a:p>
                <a:r>
                  <a:rPr lang="en-US" sz="1200" b="0" i="0" u="none" strike="noStrike" cap="none" dirty="0">
                    <a:solidFill>
                      <a:schemeClr val="dk1"/>
                    </a:solidFill>
                    <a:effectLst/>
                    <a:latin typeface="Calibri"/>
                    <a:ea typeface="Calibri"/>
                    <a:cs typeface="Calibri"/>
                    <a:sym typeface="Calibri"/>
                  </a:rPr>
                  <a:t>This approach improves the model's ability to handle a wide range of natural language processing tasks, leading to more robust and accurate representations.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clear understanding of the </a:t>
                </a:r>
                <a:r>
                  <a:rPr lang="en-US" sz="1200" b="0" i="0" u="none" strike="noStrike" cap="none" dirty="0" err="1">
                    <a:solidFill>
                      <a:schemeClr val="dk1"/>
                    </a:solidFill>
                    <a:effectLst/>
                    <a:latin typeface="Calibri"/>
                    <a:ea typeface="Calibri"/>
                    <a:cs typeface="Calibri"/>
                    <a:sym typeface="Calibri"/>
                  </a:rPr>
                  <a:t>multihead</a:t>
                </a:r>
                <a:r>
                  <a:rPr lang="en-US" sz="1200" b="0" i="0" u="none" strike="noStrike" cap="none" dirty="0">
                    <a:solidFill>
                      <a:schemeClr val="dk1"/>
                    </a:solidFill>
                    <a:effectLst/>
                    <a:latin typeface="Calibri"/>
                    <a:ea typeface="Calibri"/>
                    <a:cs typeface="Calibri"/>
                    <a:sym typeface="Calibri"/>
                  </a:rPr>
                  <a:t> attention mechanism in transformers, emphasizing its importance in capturing complex relationships in data. Understanding this concept is crucial for appreciating how transformers achieve state-of-the-art performance in various NLP tasks by leveraging the power of parallel attention mechanisms</a:t>
                </a:r>
              </a:p>
              <a:p>
                <a:pPr marL="0" lvl="0" indent="0" algn="l" rtl="0">
                  <a:lnSpc>
                    <a:spcPct val="100000"/>
                  </a:lnSpc>
                  <a:spcBef>
                    <a:spcPts val="0"/>
                  </a:spcBef>
                  <a:spcAft>
                    <a:spcPts val="0"/>
                  </a:spcAft>
                  <a:buSzPts val="1400"/>
                  <a:buNone/>
                </a:pPr>
                <a:endParaRPr dirty="0"/>
              </a:p>
            </p:txBody>
          </p:sp>
        </mc:Choice>
        <mc:Fallback>
          <p:sp>
            <p:nvSpPr>
              <p:cNvPr id="572" name="Google Shape;572;g2b8b5137f2c_0_30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err="1">
                    <a:solidFill>
                      <a:schemeClr val="dk1"/>
                    </a:solidFill>
                    <a:effectLst/>
                    <a:latin typeface="Calibri"/>
                    <a:ea typeface="Calibri"/>
                    <a:cs typeface="Calibri"/>
                    <a:sym typeface="Calibri"/>
                  </a:rPr>
                  <a:t>Multihead</a:t>
                </a:r>
                <a:r>
                  <a:rPr lang="en-US" sz="1200" b="1" i="0" u="none" strike="noStrike" cap="none" dirty="0">
                    <a:solidFill>
                      <a:schemeClr val="dk1"/>
                    </a:solidFill>
                    <a:effectLst/>
                    <a:latin typeface="Calibri"/>
                    <a:ea typeface="Calibri"/>
                    <a:cs typeface="Calibri"/>
                    <a:sym typeface="Calibri"/>
                  </a:rPr>
                  <a:t> Attention Layer:</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Parallel Attention Heads: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input sequence </a:t>
                </a:r>
                <a:r>
                  <a:rPr lang="ar-AE" sz="1200" b="0" i="0" u="none" strike="noStrike" cap="none">
                    <a:solidFill>
                      <a:schemeClr val="dk1"/>
                    </a:solidFill>
                    <a:latin typeface="Calibri"/>
                    <a:ea typeface="Calibri"/>
                    <a:cs typeface="Calibri"/>
                    <a:sym typeface="Calibri"/>
                  </a:rPr>
                  <a:t>(𝑥_1ⓜ,𝑥_2ⓜ,…ⓜ,𝑥_𝑛 )</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is processed by multiple attention heads, each with its own set of key, query, and value weight matrices </a:t>
                </a:r>
                <a:r>
                  <a:rPr lang="ar-AE" sz="1200" b="0" i="0" u="none" strike="noStrike" cap="none">
                    <a:solidFill>
                      <a:schemeClr val="dk1"/>
                    </a:solidFill>
                    <a:latin typeface="Calibri"/>
                    <a:ea typeface="Calibri"/>
                    <a:cs typeface="Calibri"/>
                    <a:sym typeface="Calibri"/>
                  </a:rPr>
                  <a:t>(𝑊_𝑖^𝑄ⓜ,𝑊_𝑖^𝐾ⓜ,𝑊_𝑖^𝑉 )</a:t>
                </a:r>
                <a:r>
                  <a:rPr lang="ar-AE"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Each head independently computes its own attention output, capturing different aspects of the relationships among the input tokens.</a:t>
                </a:r>
              </a:p>
              <a:p>
                <a:r>
                  <a:rPr lang="en-US" sz="1200" b="1" i="0" u="none" strike="noStrike" cap="none" dirty="0">
                    <a:solidFill>
                      <a:schemeClr val="dk1"/>
                    </a:solidFill>
                    <a:effectLst/>
                    <a:latin typeface="Calibri"/>
                    <a:ea typeface="Calibri"/>
                    <a:cs typeface="Calibri"/>
                    <a:sym typeface="Calibri"/>
                  </a:rPr>
                  <a:t>Concatenation of Outputs: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outputs from each attention head are concatenated to form a single combined output.</a:t>
                </a:r>
              </a:p>
              <a:p>
                <a:pPr lvl="1"/>
                <a:r>
                  <a:rPr lang="en-US" sz="1200" b="0" i="0" u="none" strike="noStrike" cap="none" dirty="0">
                    <a:solidFill>
                      <a:schemeClr val="dk1"/>
                    </a:solidFill>
                    <a:effectLst/>
                    <a:latin typeface="Calibri"/>
                    <a:ea typeface="Calibri"/>
                    <a:cs typeface="Calibri"/>
                    <a:sym typeface="Calibri"/>
                  </a:rPr>
                  <a:t>This concatenation allows the model to integrate the diverse information captured by each head.</a:t>
                </a:r>
              </a:p>
              <a:p>
                <a:r>
                  <a:rPr lang="en-US" sz="1200" b="1" i="0" u="none" strike="noStrike" cap="none" dirty="0">
                    <a:solidFill>
                      <a:schemeClr val="dk1"/>
                    </a:solidFill>
                    <a:effectLst/>
                    <a:latin typeface="Calibri"/>
                    <a:ea typeface="Calibri"/>
                    <a:cs typeface="Calibri"/>
                    <a:sym typeface="Calibri"/>
                  </a:rPr>
                  <a:t>Projection to Output Dimension: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concatenated output is linearly transformed using a weight matrix </a:t>
                </a:r>
                <a:r>
                  <a:rPr lang="ar-AE" sz="1200" b="0" i="0" u="none" strike="noStrike" cap="none">
                    <a:solidFill>
                      <a:schemeClr val="dk1"/>
                    </a:solidFill>
                    <a:latin typeface="Calibri"/>
                    <a:ea typeface="Calibri"/>
                    <a:cs typeface="Calibri"/>
                    <a:sym typeface="Calibri"/>
                  </a:rPr>
                  <a:t>𝑊^𝑂</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to project it back down to the original input dimension </a:t>
                </a:r>
                <a:r>
                  <a:rPr lang="en-US" sz="1200" b="0" i="0" u="none" strike="noStrike" cap="none">
                    <a:solidFill>
                      <a:schemeClr val="dk1"/>
                    </a:solidFill>
                    <a:latin typeface="Calibri"/>
                    <a:ea typeface="Calibri"/>
                    <a:cs typeface="Calibri"/>
                    <a:sym typeface="Calibri"/>
                  </a:rPr>
                  <a:t>𝑑</a:t>
                </a:r>
                <a:r>
                  <a:rPr lang="en-US"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This projection ensures that the output of the </a:t>
                </a:r>
                <a:r>
                  <a:rPr lang="en-US" sz="1200" b="0" i="0" u="none" strike="noStrike" cap="none" dirty="0" err="1">
                    <a:solidFill>
                      <a:schemeClr val="dk1"/>
                    </a:solidFill>
                    <a:effectLst/>
                    <a:latin typeface="Calibri"/>
                    <a:ea typeface="Calibri"/>
                    <a:cs typeface="Calibri"/>
                    <a:sym typeface="Calibri"/>
                  </a:rPr>
                  <a:t>multihead</a:t>
                </a:r>
                <a:r>
                  <a:rPr lang="en-US" sz="1200" b="0" i="0" u="none" strike="noStrike" cap="none" dirty="0">
                    <a:solidFill>
                      <a:schemeClr val="dk1"/>
                    </a:solidFill>
                    <a:effectLst/>
                    <a:latin typeface="Calibri"/>
                    <a:ea typeface="Calibri"/>
                    <a:cs typeface="Calibri"/>
                    <a:sym typeface="Calibri"/>
                  </a:rPr>
                  <a:t> attention layer has the same size as the input, allowing for stacking of multiple layers.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Each attention head focuses on different aspects of the input data, enabling the model to capture a richer set of dependencies and interactions.</a:t>
                </a:r>
              </a:p>
              <a:p>
                <a:r>
                  <a:rPr lang="en-US" sz="1200" b="0" i="0" u="none" strike="noStrike" cap="none" dirty="0">
                    <a:solidFill>
                      <a:schemeClr val="dk1"/>
                    </a:solidFill>
                    <a:effectLst/>
                    <a:latin typeface="Calibri"/>
                    <a:ea typeface="Calibri"/>
                    <a:cs typeface="Calibri"/>
                    <a:sym typeface="Calibri"/>
                  </a:rPr>
                  <a:t>The process of concatenating and projecting the outputs allows the model to integrate the diverse information captured by each head, enhancing its ability to understand complex relationships in the data.</a:t>
                </a:r>
              </a:p>
              <a:p>
                <a:r>
                  <a:rPr lang="en-US" sz="1200" b="1" i="0" u="none" strike="noStrike" cap="none" dirty="0">
                    <a:solidFill>
                      <a:schemeClr val="dk1"/>
                    </a:solidFill>
                    <a:effectLst/>
                    <a:latin typeface="Calibri"/>
                    <a:ea typeface="Calibri"/>
                    <a:cs typeface="Calibri"/>
                    <a:sym typeface="Calibri"/>
                  </a:rPr>
                  <a:t>Benefits of </a:t>
                </a:r>
                <a:r>
                  <a:rPr lang="en-US" sz="1200" b="1" i="0" u="none" strike="noStrike" cap="none" dirty="0" err="1">
                    <a:solidFill>
                      <a:schemeClr val="dk1"/>
                    </a:solidFill>
                    <a:effectLst/>
                    <a:latin typeface="Calibri"/>
                    <a:ea typeface="Calibri"/>
                    <a:cs typeface="Calibri"/>
                    <a:sym typeface="Calibri"/>
                  </a:rPr>
                  <a:t>Multihead</a:t>
                </a:r>
                <a:r>
                  <a:rPr lang="en-US" sz="1200" b="1" i="0" u="none" strike="noStrike" cap="none" dirty="0">
                    <a:solidFill>
                      <a:schemeClr val="dk1"/>
                    </a:solidFill>
                    <a:effectLst/>
                    <a:latin typeface="Calibri"/>
                    <a:ea typeface="Calibri"/>
                    <a:cs typeface="Calibri"/>
                    <a:sym typeface="Calibri"/>
                  </a:rPr>
                  <a:t> Attention:</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By using multiple heads, the transformer can simultaneously attend to different parts of the input sequence, capturing both local and global dependencies.</a:t>
                </a:r>
              </a:p>
              <a:p>
                <a:r>
                  <a:rPr lang="en-US" sz="1200" b="0" i="0" u="none" strike="noStrike" cap="none" dirty="0">
                    <a:solidFill>
                      <a:schemeClr val="dk1"/>
                    </a:solidFill>
                    <a:effectLst/>
                    <a:latin typeface="Calibri"/>
                    <a:ea typeface="Calibri"/>
                    <a:cs typeface="Calibri"/>
                    <a:sym typeface="Calibri"/>
                  </a:rPr>
                  <a:t>This approach improves the model's ability to handle a wide range of natural language processing tasks, leading to more robust and accurate representations.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clear understanding of the </a:t>
                </a:r>
                <a:r>
                  <a:rPr lang="en-US" sz="1200" b="0" i="0" u="none" strike="noStrike" cap="none" dirty="0" err="1">
                    <a:solidFill>
                      <a:schemeClr val="dk1"/>
                    </a:solidFill>
                    <a:effectLst/>
                    <a:latin typeface="Calibri"/>
                    <a:ea typeface="Calibri"/>
                    <a:cs typeface="Calibri"/>
                    <a:sym typeface="Calibri"/>
                  </a:rPr>
                  <a:t>multihead</a:t>
                </a:r>
                <a:r>
                  <a:rPr lang="en-US" sz="1200" b="0" i="0" u="none" strike="noStrike" cap="none" dirty="0">
                    <a:solidFill>
                      <a:schemeClr val="dk1"/>
                    </a:solidFill>
                    <a:effectLst/>
                    <a:latin typeface="Calibri"/>
                    <a:ea typeface="Calibri"/>
                    <a:cs typeface="Calibri"/>
                    <a:sym typeface="Calibri"/>
                  </a:rPr>
                  <a:t> attention mechanism in transformers, emphasizing its importance in capturing complex relationships in data. Understanding this concept is crucial for appreciating how transformers achieve state-of-the-art performance in various NLP tasks by leveraging the power of parallel attention mechanisms</a:t>
                </a:r>
              </a:p>
              <a:p>
                <a:pPr marL="0" lvl="0" indent="0" algn="l" rtl="0">
                  <a:lnSpc>
                    <a:spcPct val="100000"/>
                  </a:lnSpc>
                  <a:spcBef>
                    <a:spcPts val="0"/>
                  </a:spcBef>
                  <a:spcAft>
                    <a:spcPts val="0"/>
                  </a:spcAft>
                  <a:buSzPts val="1400"/>
                  <a:buNone/>
                </a:pPr>
                <a:endParaRPr dirty="0"/>
              </a:p>
            </p:txBody>
          </p:sp>
        </mc:Fallback>
      </mc:AlternateContent>
      <p:sp>
        <p:nvSpPr>
          <p:cNvPr id="573" name="Google Shape;573;g2b8b5137f2c_0_30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2b8b5137f2c_0_3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1" name="Google Shape;581;g2b8b5137f2c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Positional Embeddings: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Need for Positional Information: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Transformers process input sequences in parallel, which means they do not inherently capture the order of words. Positional embeddings are used to provide this information.</a:t>
            </a:r>
          </a:p>
          <a:p>
            <a:r>
              <a:rPr lang="en-US" sz="1200" b="1" i="0" u="none" strike="noStrike" cap="none" dirty="0">
                <a:solidFill>
                  <a:schemeClr val="dk1"/>
                </a:solidFill>
                <a:effectLst/>
                <a:latin typeface="Calibri"/>
                <a:ea typeface="Calibri"/>
                <a:cs typeface="Calibri"/>
                <a:sym typeface="Calibri"/>
              </a:rPr>
              <a:t>Composite Embeddings: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word in the input sequence is represented by a word embedding.</a:t>
            </a:r>
          </a:p>
          <a:p>
            <a:pPr lvl="1"/>
            <a:r>
              <a:rPr lang="en-US" sz="1200" b="0" i="0" u="none" strike="noStrike" cap="none" dirty="0">
                <a:solidFill>
                  <a:schemeClr val="dk1"/>
                </a:solidFill>
                <a:effectLst/>
                <a:latin typeface="Calibri"/>
                <a:ea typeface="Calibri"/>
                <a:cs typeface="Calibri"/>
                <a:sym typeface="Calibri"/>
              </a:rPr>
              <a:t>A positional embedding, representing the absolute position of the word in the sequence, is added to the word embedding to form a composite embedding.</a:t>
            </a:r>
          </a:p>
          <a:p>
            <a:pPr lvl="1"/>
            <a:r>
              <a:rPr lang="en-US" sz="1200" b="0" i="0" u="none" strike="noStrike" cap="none" dirty="0">
                <a:solidFill>
                  <a:schemeClr val="dk1"/>
                </a:solidFill>
                <a:effectLst/>
                <a:latin typeface="Calibri"/>
                <a:ea typeface="Calibri"/>
                <a:cs typeface="Calibri"/>
                <a:sym typeface="Calibri"/>
              </a:rPr>
              <a:t>This composite embedding retains the same dimensionality as the original word embedding.</a:t>
            </a:r>
          </a:p>
          <a:p>
            <a:r>
              <a:rPr lang="en-US" sz="1200" b="1" i="0" u="none" strike="noStrike" cap="none" dirty="0">
                <a:solidFill>
                  <a:schemeClr val="dk1"/>
                </a:solidFill>
                <a:effectLst/>
                <a:latin typeface="Calibri"/>
                <a:ea typeface="Calibri"/>
                <a:cs typeface="Calibri"/>
                <a:sym typeface="Calibri"/>
              </a:rPr>
              <a:t>Modeling Position: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 simple way to model position is by adding the positional embedding to the word embedding.</a:t>
            </a:r>
          </a:p>
          <a:p>
            <a:pPr lvl="1"/>
            <a:r>
              <a:rPr lang="en-US" sz="1200" b="0" i="0" u="none" strike="noStrike" cap="none" dirty="0">
                <a:solidFill>
                  <a:schemeClr val="dk1"/>
                </a:solidFill>
                <a:effectLst/>
                <a:latin typeface="Calibri"/>
                <a:ea typeface="Calibri"/>
                <a:cs typeface="Calibri"/>
                <a:sym typeface="Calibri"/>
              </a:rPr>
              <a:t>This addition allows the model to differentiate between words based on their position in the sequence.</a:t>
            </a:r>
          </a:p>
          <a:p>
            <a:r>
              <a:rPr lang="en-US" sz="1200" b="1" i="0" u="none" strike="noStrike" cap="none" dirty="0">
                <a:solidFill>
                  <a:schemeClr val="dk1"/>
                </a:solidFill>
                <a:effectLst/>
                <a:latin typeface="Calibri"/>
                <a:ea typeface="Calibri"/>
                <a:cs typeface="Calibri"/>
                <a:sym typeface="Calibri"/>
              </a:rPr>
              <a:t>Sine and Cosine Functions: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In the original transformer work, a combination of sine and cosine functions with differing frequencies was used to generate positional embeddings.</a:t>
            </a:r>
          </a:p>
          <a:p>
            <a:pPr lvl="1"/>
            <a:r>
              <a:rPr lang="en-US" sz="1200" b="0" i="0" u="none" strike="noStrike" cap="none" dirty="0">
                <a:solidFill>
                  <a:schemeClr val="dk1"/>
                </a:solidFill>
                <a:effectLst/>
                <a:latin typeface="Calibri"/>
                <a:ea typeface="Calibri"/>
                <a:cs typeface="Calibri"/>
                <a:sym typeface="Calibri"/>
              </a:rPr>
              <a:t>These functions provide a continuous and smooth representation of positions, allowing the model to generalize to sequences of different lengths.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Positional embeddings enable transformers to capture the sequential nature of input data, which is crucial for tasks like language modeling and translation.</a:t>
            </a:r>
          </a:p>
          <a:p>
            <a:r>
              <a:rPr lang="en-US" sz="1200" b="0" i="0" u="none" strike="noStrike" cap="none" dirty="0">
                <a:solidFill>
                  <a:schemeClr val="dk1"/>
                </a:solidFill>
                <a:effectLst/>
                <a:latin typeface="Calibri"/>
                <a:ea typeface="Calibri"/>
                <a:cs typeface="Calibri"/>
                <a:sym typeface="Calibri"/>
              </a:rPr>
              <a:t>By incorporating positional information, the model can understand the order and structure of the input sequence, leading to more accurate and meaningful representations.</a:t>
            </a:r>
          </a:p>
          <a:p>
            <a:r>
              <a:rPr lang="en-US" sz="1200" b="1" i="0" u="none" strike="noStrike" cap="none" dirty="0">
                <a:solidFill>
                  <a:schemeClr val="dk1"/>
                </a:solidFill>
                <a:effectLst/>
                <a:latin typeface="Calibri"/>
                <a:ea typeface="Calibri"/>
                <a:cs typeface="Calibri"/>
                <a:sym typeface="Calibri"/>
              </a:rPr>
              <a:t>Benefits of Positional Embeddings: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They allow the model to leverage the order of words, which is essential for understanding context and meaning in natural language processing tasks.</a:t>
            </a:r>
          </a:p>
          <a:p>
            <a:r>
              <a:rPr lang="en-US" sz="1200" b="0" i="0" u="none" strike="noStrike" cap="none" dirty="0">
                <a:solidFill>
                  <a:schemeClr val="dk1"/>
                </a:solidFill>
                <a:effectLst/>
                <a:latin typeface="Calibri"/>
                <a:ea typeface="Calibri"/>
                <a:cs typeface="Calibri"/>
                <a:sym typeface="Calibri"/>
              </a:rPr>
              <a:t>The use of sine and cosine functions provides a flexible and effective way to encode positional information, supporting the model's ability to handle sequences of varying lengths.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clear understanding of the role of positional embeddings in transformers, highlighting their importance in capturing the order of words in a sequence. Understanding this concept is crucial for appreciating how transformers achieve state-of-the-art performance in various NLP tasks by effectively modeling sequential data.</a:t>
            </a:r>
          </a:p>
          <a:p>
            <a:pPr marL="0" lvl="0" indent="0" algn="l" rtl="0">
              <a:lnSpc>
                <a:spcPct val="100000"/>
              </a:lnSpc>
              <a:spcBef>
                <a:spcPts val="0"/>
              </a:spcBef>
              <a:spcAft>
                <a:spcPts val="0"/>
              </a:spcAft>
              <a:buSzPts val="1400"/>
              <a:buNone/>
            </a:pPr>
            <a:endParaRPr dirty="0"/>
          </a:p>
        </p:txBody>
      </p:sp>
      <p:sp>
        <p:nvSpPr>
          <p:cNvPr id="582" name="Google Shape;582;g2b8b5137f2c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2b8b5137f2c_0_3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mc:AlternateContent xmlns:mc="http://schemas.openxmlformats.org/markup-compatibility/2006">
        <mc:Choice xmlns:a14="http://schemas.microsoft.com/office/drawing/2010/main" Requires="a14">
          <p:sp>
            <p:nvSpPr>
              <p:cNvPr id="591" name="Google Shape;591;g2b8b5137f2c_0_3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Language Modeling with Transformers: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Input Embeddings: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input sequence ("So long and thanks for") is converted into embeddings, which are fed into the transformer blocks.</a:t>
                </a:r>
              </a:p>
              <a:p>
                <a:pPr lvl="1"/>
                <a:r>
                  <a:rPr lang="en-US" sz="1200" b="0" i="0" u="none" strike="noStrike" cap="none" dirty="0">
                    <a:solidFill>
                      <a:schemeClr val="dk1"/>
                    </a:solidFill>
                    <a:effectLst/>
                    <a:latin typeface="Calibri"/>
                    <a:ea typeface="Calibri"/>
                    <a:cs typeface="Calibri"/>
                    <a:sym typeface="Calibri"/>
                  </a:rPr>
                  <a:t>These embeddings capture the semantic and syntactic information of the words.</a:t>
                </a:r>
              </a:p>
              <a:p>
                <a:r>
                  <a:rPr lang="en-US" sz="1200" b="1" i="0" u="none" strike="noStrike" cap="none" dirty="0">
                    <a:solidFill>
                      <a:schemeClr val="dk1"/>
                    </a:solidFill>
                    <a:effectLst/>
                    <a:latin typeface="Calibri"/>
                    <a:ea typeface="Calibri"/>
                    <a:cs typeface="Calibri"/>
                    <a:sym typeface="Calibri"/>
                  </a:rPr>
                  <a:t>Transformer Blocks: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input embeddings are processed through a series of transformer blocks, which apply self-attention and feedforward operations to capture dependencies and relationships within the sequence.</a:t>
                </a:r>
              </a:p>
              <a:p>
                <a:r>
                  <a:rPr lang="en-US" sz="1200" b="1" i="0" u="none" strike="noStrike" cap="none" dirty="0">
                    <a:solidFill>
                      <a:schemeClr val="dk1"/>
                    </a:solidFill>
                    <a:effectLst/>
                    <a:latin typeface="Calibri"/>
                    <a:ea typeface="Calibri"/>
                    <a:cs typeface="Calibri"/>
                    <a:sym typeface="Calibri"/>
                  </a:rPr>
                  <a:t>Linear Layer: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output of the transformer blocks is passed through a linear layer, which maps the high-dimensional representation to a vector of logits for each word in the vocabulary.</a:t>
                </a:r>
              </a:p>
              <a:p>
                <a:r>
                  <a:rPr lang="en-US" sz="1200" b="1" i="0" u="none" strike="noStrike" cap="none" dirty="0" err="1">
                    <a:solidFill>
                      <a:schemeClr val="dk1"/>
                    </a:solidFill>
                    <a:effectLst/>
                    <a:latin typeface="Calibri"/>
                    <a:ea typeface="Calibri"/>
                    <a:cs typeface="Calibri"/>
                    <a:sym typeface="Calibri"/>
                  </a:rPr>
                  <a:t>Softmax</a:t>
                </a:r>
                <a:r>
                  <a:rPr lang="en-US" sz="1200" b="1" i="0" u="none" strike="noStrike" cap="none" dirty="0">
                    <a:solidFill>
                      <a:schemeClr val="dk1"/>
                    </a:solidFill>
                    <a:effectLst/>
                    <a:latin typeface="Calibri"/>
                    <a:ea typeface="Calibri"/>
                    <a:cs typeface="Calibri"/>
                    <a:sym typeface="Calibri"/>
                  </a:rPr>
                  <a:t> over Vocabulary:</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logits are converted into probabilities using 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which produces a probability distribution over the vocabulary for each position in the sequence.</a:t>
                </a:r>
              </a:p>
              <a:p>
                <a:r>
                  <a:rPr lang="en-US" sz="1200" b="1" i="0" u="none" strike="noStrike" cap="none" dirty="0">
                    <a:solidFill>
                      <a:schemeClr val="dk1"/>
                    </a:solidFill>
                    <a:effectLst/>
                    <a:latin typeface="Calibri"/>
                    <a:ea typeface="Calibri"/>
                    <a:cs typeface="Calibri"/>
                    <a:sym typeface="Calibri"/>
                  </a:rPr>
                  <a:t>Next Word Prediction: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model predicts the next word in the sequence by selecting the word with the highest probability from 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output.</a:t>
                </a:r>
              </a:p>
              <a:p>
                <a:r>
                  <a:rPr lang="en-US" sz="1200" b="1" i="0" u="none" strike="noStrike" cap="none" dirty="0">
                    <a:solidFill>
                      <a:schemeClr val="dk1"/>
                    </a:solidFill>
                    <a:effectLst/>
                    <a:latin typeface="Calibri"/>
                    <a:ea typeface="Calibri"/>
                    <a:cs typeface="Calibri"/>
                    <a:sym typeface="Calibri"/>
                  </a:rPr>
                  <a:t>Loss Computation: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negative log-likelihood loss (cross-entropy loss) is computed for each predicted word, comparing the predicted probabilities to the true next words ("long," "and," "thanks," "for," "all").</a:t>
                </a:r>
              </a:p>
              <a:p>
                <a:pPr lvl="1"/>
                <a:r>
                  <a:rPr lang="en-US" sz="1200" b="0" i="0" u="none" strike="noStrike" cap="none" dirty="0">
                    <a:solidFill>
                      <a:schemeClr val="dk1"/>
                    </a:solidFill>
                    <a:effectLst/>
                    <a:latin typeface="Calibri"/>
                    <a:ea typeface="Calibri"/>
                    <a:cs typeface="Calibri"/>
                    <a:sym typeface="Calibri"/>
                  </a:rPr>
                  <a:t>The average loss over the sequence is calculated as:</a:t>
                </a:r>
                <a:br>
                  <a:rPr lang="en-US" sz="1200" b="0" i="0" u="none" strike="noStrike" cap="none" dirty="0">
                    <a:solidFill>
                      <a:schemeClr val="dk1"/>
                    </a:solidFill>
                    <a:effectLst/>
                    <a:latin typeface="Calibri"/>
                    <a:ea typeface="Calibri"/>
                    <a:cs typeface="Calibri"/>
                    <a:sym typeface="Calibri"/>
                  </a:rPr>
                </a:br>
                <a14:m>
                  <m:oMathPara xmlns:m="http://schemas.openxmlformats.org/officeDocument/2006/math">
                    <m:oMathParaPr>
                      <m:jc m:val="centerGroup"/>
                    </m:oMathParaPr>
                    <m:oMath xmlns:m="http://schemas.openxmlformats.org/officeDocument/2006/math">
                      <m:f>
                        <m:fPr>
                          <m:ctrlPr>
                            <a:rPr lang="ar-AE" sz="1200" b="0" i="0" u="none" strike="noStrike" cap="none">
                              <a:solidFill>
                                <a:schemeClr val="dk1"/>
                              </a:solidFill>
                              <a:latin typeface="Calibri"/>
                              <a:ea typeface="Calibri"/>
                              <a:cs typeface="Calibri"/>
                              <a:sym typeface="Calibri"/>
                            </a:rPr>
                          </m:ctrlPr>
                        </m:fPr>
                        <m:num>
                          <m:r>
                            <a:rPr lang="ar-AE" sz="1200" b="0" i="0" u="none" strike="noStrike" cap="none">
                              <a:solidFill>
                                <a:schemeClr val="dk1"/>
                              </a:solidFill>
                              <a:latin typeface="Calibri"/>
                              <a:ea typeface="Calibri"/>
                              <a:cs typeface="Calibri"/>
                              <a:sym typeface="Calibri"/>
                            </a:rPr>
                            <m:t>1</m:t>
                          </m:r>
                        </m:num>
                        <m:den>
                          <m:r>
                            <a:rPr lang="ar-AE" sz="1200" b="0" i="1" u="none" strike="noStrike" cap="none">
                              <a:solidFill>
                                <a:schemeClr val="dk1"/>
                              </a:solidFill>
                              <a:latin typeface="Calibri"/>
                              <a:ea typeface="Calibri"/>
                              <a:cs typeface="Calibri"/>
                              <a:sym typeface="Calibri"/>
                            </a:rPr>
                            <m:t>𝑇</m:t>
                          </m:r>
                        </m:den>
                      </m:f>
                      <m:nary>
                        <m:naryPr>
                          <m:chr m:val="∑"/>
                          <m:limLoc m:val="subSup"/>
                          <m:grow m:val="on"/>
                          <m:ctrlPr>
                            <a:rPr lang="ar-AE" sz="1200" b="0" i="1" u="none" strike="noStrike" cap="none">
                              <a:solidFill>
                                <a:schemeClr val="dk1"/>
                              </a:solidFill>
                              <a:latin typeface="Calibri"/>
                              <a:ea typeface="Calibri"/>
                              <a:cs typeface="Calibri"/>
                              <a:sym typeface="Calibri"/>
                            </a:rPr>
                          </m:ctrlPr>
                        </m:naryPr>
                        <m:sub>
                          <m:r>
                            <a:rPr lang="ar-AE" sz="1200" b="0" i="1" u="none" strike="noStrike" cap="none">
                              <a:solidFill>
                                <a:schemeClr val="dk1"/>
                              </a:solidFill>
                              <a:latin typeface="Calibri"/>
                              <a:ea typeface="Calibri"/>
                              <a:cs typeface="Calibri"/>
                              <a:sym typeface="Calibri"/>
                            </a:rPr>
                            <m:t>𝑡</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1</m:t>
                          </m:r>
                        </m:sub>
                        <m:sup>
                          <m:r>
                            <a:rPr lang="ar-AE" sz="1200" b="0" i="1" u="none" strike="noStrike" cap="none">
                              <a:solidFill>
                                <a:schemeClr val="dk1"/>
                              </a:solidFill>
                              <a:latin typeface="Calibri"/>
                              <a:ea typeface="Calibri"/>
                              <a:cs typeface="Calibri"/>
                              <a:sym typeface="Calibri"/>
                            </a:rPr>
                            <m:t>𝑇</m:t>
                          </m:r>
                        </m:sup>
                        <m:e>
                          <m:sSub>
                            <m:sSubPr>
                              <m:ctrlPr>
                                <a:rPr lang="ar-AE" sz="1200" b="0" i="1" u="none" strike="noStrike" cap="none">
                                  <a:solidFill>
                                    <a:schemeClr val="dk1"/>
                                  </a:solidFill>
                                  <a:latin typeface="Calibri"/>
                                  <a:ea typeface="Calibri"/>
                                  <a:cs typeface="Calibri"/>
                                  <a:sym typeface="Calibri"/>
                                </a:rPr>
                              </m:ctrlPr>
                            </m:sSubPr>
                            <m:e>
                              <m:r>
                                <a:rPr lang="ar-AE" sz="1200" b="0" i="1" u="none" strike="noStrike" cap="none">
                                  <a:solidFill>
                                    <a:schemeClr val="dk1"/>
                                  </a:solidFill>
                                  <a:latin typeface="Calibri"/>
                                  <a:ea typeface="Calibri"/>
                                  <a:cs typeface="Calibri"/>
                                  <a:sym typeface="Calibri"/>
                                </a:rPr>
                                <m:t>𝐿</m:t>
                              </m:r>
                            </m:e>
                            <m:sub>
                              <m:r>
                                <a:rPr lang="ar-AE" sz="1200" b="0" i="1" u="none" strike="noStrike" cap="none">
                                  <a:solidFill>
                                    <a:schemeClr val="dk1"/>
                                  </a:solidFill>
                                  <a:latin typeface="Calibri"/>
                                  <a:ea typeface="Calibri"/>
                                  <a:cs typeface="Calibri"/>
                                  <a:sym typeface="Calibri"/>
                                </a:rPr>
                                <m:t>𝐶𝐸</m:t>
                              </m:r>
                            </m:sub>
                          </m:sSub>
                        </m:e>
                      </m:nary>
                    </m:oMath>
                  </m:oMathPara>
                </a14:m>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This loss is used to update the model parameters during training.</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Transformers as language models can effectively predict the next word in a sequence by capturing complex dependencies and relationships through self-attention.</a:t>
                </a:r>
              </a:p>
              <a:p>
                <a:r>
                  <a:rPr lang="en-US" sz="1200" b="0" i="0" u="none" strike="noStrike" cap="none" dirty="0">
                    <a:solidFill>
                      <a:schemeClr val="dk1"/>
                    </a:solidFill>
                    <a:effectLst/>
                    <a:latin typeface="Calibri"/>
                    <a:ea typeface="Calibri"/>
                    <a:cs typeface="Calibri"/>
                    <a:sym typeface="Calibri"/>
                  </a:rPr>
                  <a:t>The use of cross-entropy loss provides a robust framework for training the model to improve its predictions over time.</a:t>
                </a:r>
              </a:p>
              <a:p>
                <a:r>
                  <a:rPr lang="en-US" sz="1200" b="1" i="0" u="none" strike="noStrike" cap="none" dirty="0">
                    <a:solidFill>
                      <a:schemeClr val="dk1"/>
                    </a:solidFill>
                    <a:effectLst/>
                    <a:latin typeface="Calibri"/>
                    <a:ea typeface="Calibri"/>
                    <a:cs typeface="Calibri"/>
                    <a:sym typeface="Calibri"/>
                  </a:rPr>
                  <a:t>Benefits of Transformers for Language Modeling:</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They can handle long-range dependencies and capture rich contextual information, leading to more accurate and coherent predictions.</a:t>
                </a:r>
              </a:p>
              <a:p>
                <a:r>
                  <a:rPr lang="en-US" sz="1200" b="0" i="0" u="none" strike="noStrike" cap="none" dirty="0">
                    <a:solidFill>
                      <a:schemeClr val="dk1"/>
                    </a:solidFill>
                    <a:effectLst/>
                    <a:latin typeface="Calibri"/>
                    <a:ea typeface="Calibri"/>
                    <a:cs typeface="Calibri"/>
                    <a:sym typeface="Calibri"/>
                  </a:rPr>
                  <a:t>The parallel processing capability of transformers allows for efficient training and inference, making them suitable for large-scale language modeling tasks.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comprehensive understanding of how transformers are used as language models, highlighting the flow of data and the role of key components in the prediction process. Understanding this process is crucial for appreciating the power and flexibility of transformers in natural language processing tasks.</a:t>
                </a:r>
              </a:p>
              <a:p>
                <a:pPr marL="0" lvl="0" indent="0" algn="l" rtl="0">
                  <a:lnSpc>
                    <a:spcPct val="100000"/>
                  </a:lnSpc>
                  <a:spcBef>
                    <a:spcPts val="0"/>
                  </a:spcBef>
                  <a:spcAft>
                    <a:spcPts val="0"/>
                  </a:spcAft>
                  <a:buSzPts val="1400"/>
                  <a:buNone/>
                </a:pPr>
                <a:endParaRPr dirty="0"/>
              </a:p>
            </p:txBody>
          </p:sp>
        </mc:Choice>
        <mc:Fallback>
          <p:sp>
            <p:nvSpPr>
              <p:cNvPr id="591" name="Google Shape;591;g2b8b5137f2c_0_3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Language Modeling with Transformers:</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Input Embeddings: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input sequence ("So long and thanks for") is converted into embeddings, which are fed into the transformer blocks.</a:t>
                </a:r>
              </a:p>
              <a:p>
                <a:pPr lvl="1"/>
                <a:r>
                  <a:rPr lang="en-US" sz="1200" b="0" i="0" u="none" strike="noStrike" cap="none" dirty="0">
                    <a:solidFill>
                      <a:schemeClr val="dk1"/>
                    </a:solidFill>
                    <a:effectLst/>
                    <a:latin typeface="Calibri"/>
                    <a:ea typeface="Calibri"/>
                    <a:cs typeface="Calibri"/>
                    <a:sym typeface="Calibri"/>
                  </a:rPr>
                  <a:t>These embeddings capture the semantic and syntactic information of the words.</a:t>
                </a:r>
              </a:p>
              <a:p>
                <a:r>
                  <a:rPr lang="en-US" sz="1200" b="1" i="0" u="none" strike="noStrike" cap="none" dirty="0">
                    <a:solidFill>
                      <a:schemeClr val="dk1"/>
                    </a:solidFill>
                    <a:effectLst/>
                    <a:latin typeface="Calibri"/>
                    <a:ea typeface="Calibri"/>
                    <a:cs typeface="Calibri"/>
                    <a:sym typeface="Calibri"/>
                  </a:rPr>
                  <a:t>Transformer Blocks: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input embeddings are processed through a series of transformer blocks, which apply self-attention and feedforward operations to capture dependencies and relationships within the sequence.</a:t>
                </a:r>
              </a:p>
              <a:p>
                <a:r>
                  <a:rPr lang="en-US" sz="1200" b="1" i="0" u="none" strike="noStrike" cap="none" dirty="0">
                    <a:solidFill>
                      <a:schemeClr val="dk1"/>
                    </a:solidFill>
                    <a:effectLst/>
                    <a:latin typeface="Calibri"/>
                    <a:ea typeface="Calibri"/>
                    <a:cs typeface="Calibri"/>
                    <a:sym typeface="Calibri"/>
                  </a:rPr>
                  <a:t>Linear Layer:</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output of the transformer blocks is passed through a linear layer, which maps the high-dimensional representation to a vector of logits for each word in the vocabulary.</a:t>
                </a:r>
              </a:p>
              <a:p>
                <a:r>
                  <a:rPr lang="en-US" sz="1200" b="1" i="0" u="none" strike="noStrike" cap="none" dirty="0" err="1">
                    <a:solidFill>
                      <a:schemeClr val="dk1"/>
                    </a:solidFill>
                    <a:effectLst/>
                    <a:latin typeface="Calibri"/>
                    <a:ea typeface="Calibri"/>
                    <a:cs typeface="Calibri"/>
                    <a:sym typeface="Calibri"/>
                  </a:rPr>
                  <a:t>Softmax</a:t>
                </a:r>
                <a:r>
                  <a:rPr lang="en-US" sz="1200" b="1" i="0" u="none" strike="noStrike" cap="none" dirty="0">
                    <a:solidFill>
                      <a:schemeClr val="dk1"/>
                    </a:solidFill>
                    <a:effectLst/>
                    <a:latin typeface="Calibri"/>
                    <a:ea typeface="Calibri"/>
                    <a:cs typeface="Calibri"/>
                    <a:sym typeface="Calibri"/>
                  </a:rPr>
                  <a:t> over Vocabulary:</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logits are converted into probabilities using 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function, which produces a probability distribution over the vocabulary for each position in the sequence.</a:t>
                </a:r>
              </a:p>
              <a:p>
                <a:r>
                  <a:rPr lang="en-US" sz="1200" b="1" i="0" u="none" strike="noStrike" cap="none" dirty="0">
                    <a:solidFill>
                      <a:schemeClr val="dk1"/>
                    </a:solidFill>
                    <a:effectLst/>
                    <a:latin typeface="Calibri"/>
                    <a:ea typeface="Calibri"/>
                    <a:cs typeface="Calibri"/>
                    <a:sym typeface="Calibri"/>
                  </a:rPr>
                  <a:t>Next Word Prediction: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model predicts the next word in the sequence by selecting the word with the highest probability from the </a:t>
                </a:r>
                <a:r>
                  <a:rPr lang="en-US" sz="1200" b="0" i="0" u="none" strike="noStrike" cap="none" dirty="0" err="1">
                    <a:solidFill>
                      <a:schemeClr val="dk1"/>
                    </a:solidFill>
                    <a:effectLst/>
                    <a:latin typeface="Calibri"/>
                    <a:ea typeface="Calibri"/>
                    <a:cs typeface="Calibri"/>
                    <a:sym typeface="Calibri"/>
                  </a:rPr>
                  <a:t>softmax</a:t>
                </a:r>
                <a:r>
                  <a:rPr lang="en-US" sz="1200" b="0" i="0" u="none" strike="noStrike" cap="none" dirty="0">
                    <a:solidFill>
                      <a:schemeClr val="dk1"/>
                    </a:solidFill>
                    <a:effectLst/>
                    <a:latin typeface="Calibri"/>
                    <a:ea typeface="Calibri"/>
                    <a:cs typeface="Calibri"/>
                    <a:sym typeface="Calibri"/>
                  </a:rPr>
                  <a:t> output.</a:t>
                </a:r>
              </a:p>
              <a:p>
                <a:r>
                  <a:rPr lang="en-US" sz="1200" b="1" i="0" u="none" strike="noStrike" cap="none" dirty="0">
                    <a:solidFill>
                      <a:schemeClr val="dk1"/>
                    </a:solidFill>
                    <a:effectLst/>
                    <a:latin typeface="Calibri"/>
                    <a:ea typeface="Calibri"/>
                    <a:cs typeface="Calibri"/>
                    <a:sym typeface="Calibri"/>
                  </a:rPr>
                  <a:t>Loss Computation: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negative log-likelihood loss (cross-entropy loss) is computed for each predicted word, comparing the predicted probabilities to the true next words ("long," "and," "thanks," "for," "all").</a:t>
                </a:r>
              </a:p>
              <a:p>
                <a:pPr lvl="1"/>
                <a:r>
                  <a:rPr lang="en-US" sz="1200" b="0" i="0" u="none" strike="noStrike" cap="none" dirty="0">
                    <a:solidFill>
                      <a:schemeClr val="dk1"/>
                    </a:solidFill>
                    <a:effectLst/>
                    <a:latin typeface="Calibri"/>
                    <a:ea typeface="Calibri"/>
                    <a:cs typeface="Calibri"/>
                    <a:sym typeface="Calibri"/>
                  </a:rPr>
                  <a:t>The average loss over the sequence is calculated as:</a:t>
                </a:r>
                <a:br>
                  <a:rPr lang="en-US" sz="1200" b="0" i="0" u="none" strike="noStrike" cap="none" dirty="0">
                    <a:solidFill>
                      <a:schemeClr val="dk1"/>
                    </a:solidFill>
                    <a:effectLst/>
                    <a:latin typeface="Calibri"/>
                    <a:ea typeface="Calibri"/>
                    <a:cs typeface="Calibri"/>
                    <a:sym typeface="Calibri"/>
                  </a:rPr>
                </a:br>
                <a:r>
                  <a:rPr lang="ar-AE" sz="1200" b="0" i="0" u="none" strike="noStrike" cap="none">
                    <a:solidFill>
                      <a:schemeClr val="dk1"/>
                    </a:solidFill>
                    <a:latin typeface="Calibri"/>
                    <a:ea typeface="Calibri"/>
                    <a:cs typeface="Calibri"/>
                    <a:sym typeface="Calibri"/>
                  </a:rPr>
                  <a:t>1/𝑇 ∑130_(𝑡=1)^𝑇▒𝐿_𝐶𝐸 </a:t>
                </a:r>
                <a:endParaRPr lang="ar-AE"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This loss is used to update the model parameters during training.</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Transformers as language models can effectively predict the next word in a sequence by capturing complex dependencies and relationships through self-attention.</a:t>
                </a:r>
              </a:p>
              <a:p>
                <a:r>
                  <a:rPr lang="en-US" sz="1200" b="0" i="0" u="none" strike="noStrike" cap="none" dirty="0">
                    <a:solidFill>
                      <a:schemeClr val="dk1"/>
                    </a:solidFill>
                    <a:effectLst/>
                    <a:latin typeface="Calibri"/>
                    <a:ea typeface="Calibri"/>
                    <a:cs typeface="Calibri"/>
                    <a:sym typeface="Calibri"/>
                  </a:rPr>
                  <a:t>The use of cross-entropy loss provides a robust framework for training the model to improve its predictions over time.</a:t>
                </a:r>
              </a:p>
              <a:p>
                <a:r>
                  <a:rPr lang="en-US" sz="1200" b="1" i="0" u="none" strike="noStrike" cap="none" dirty="0">
                    <a:solidFill>
                      <a:schemeClr val="dk1"/>
                    </a:solidFill>
                    <a:effectLst/>
                    <a:latin typeface="Calibri"/>
                    <a:ea typeface="Calibri"/>
                    <a:cs typeface="Calibri"/>
                    <a:sym typeface="Calibri"/>
                  </a:rPr>
                  <a:t>Benefits of Transformers for Language Modeling:</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They can handle long-range dependencies and capture rich contextual information, leading to more accurate and coherent predictions.</a:t>
                </a:r>
              </a:p>
              <a:p>
                <a:r>
                  <a:rPr lang="en-US" sz="1200" b="0" i="0" u="none" strike="noStrike" cap="none" dirty="0">
                    <a:solidFill>
                      <a:schemeClr val="dk1"/>
                    </a:solidFill>
                    <a:effectLst/>
                    <a:latin typeface="Calibri"/>
                    <a:ea typeface="Calibri"/>
                    <a:cs typeface="Calibri"/>
                    <a:sym typeface="Calibri"/>
                  </a:rPr>
                  <a:t>The parallel processing capability of transformers allows for efficient training and inference, making them suitable for large-scale language modeling tasks.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comprehensive understanding of how transformers are used as language models, highlighting the flow of data and the role of key components in the prediction process. Understanding this process is crucial for appreciating the power and flexibility of transformers in natural language processing tasks.</a:t>
                </a:r>
              </a:p>
              <a:p>
                <a:pPr marL="0" lvl="0" indent="0" algn="l" rtl="0">
                  <a:lnSpc>
                    <a:spcPct val="100000"/>
                  </a:lnSpc>
                  <a:spcBef>
                    <a:spcPts val="0"/>
                  </a:spcBef>
                  <a:spcAft>
                    <a:spcPts val="0"/>
                  </a:spcAft>
                  <a:buSzPts val="1400"/>
                  <a:buNone/>
                </a:pPr>
                <a:endParaRPr dirty="0"/>
              </a:p>
            </p:txBody>
          </p:sp>
        </mc:Fallback>
      </mc:AlternateContent>
      <p:sp>
        <p:nvSpPr>
          <p:cNvPr id="592" name="Google Shape;592;g2b8b5137f2c_0_3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2b8b5137f2c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9" name="Google Shape;599;g2b8b5137f2c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050">
              <a:highlight>
                <a:srgbClr val="FFFFFF"/>
              </a:highlight>
              <a:latin typeface="Arial"/>
              <a:ea typeface="Arial"/>
              <a:cs typeface="Arial"/>
              <a:sym typeface="Arial"/>
            </a:endParaRPr>
          </a:p>
        </p:txBody>
      </p:sp>
      <p:sp>
        <p:nvSpPr>
          <p:cNvPr id="600" name="Google Shape;600;g2b8b5137f2c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6" name="Google Shape;60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Vision Transformer (</a:t>
            </a:r>
            <a:r>
              <a:rPr lang="en-US" sz="1200" b="1" i="0" u="none" strike="noStrike" cap="none" dirty="0" err="1">
                <a:solidFill>
                  <a:schemeClr val="dk1"/>
                </a:solidFill>
                <a:effectLst/>
                <a:latin typeface="Calibri"/>
                <a:ea typeface="Calibri"/>
                <a:cs typeface="Calibri"/>
                <a:sym typeface="Calibri"/>
              </a:rPr>
              <a:t>ViT</a:t>
            </a:r>
            <a:r>
              <a:rPr lang="en-US" sz="1200" b="1" i="0" u="none" strike="noStrike" cap="none" dirty="0">
                <a:solidFill>
                  <a:schemeClr val="dk1"/>
                </a:solidFill>
                <a:effectLst/>
                <a:latin typeface="Calibri"/>
                <a:ea typeface="Calibri"/>
                <a:cs typeface="Calibri"/>
                <a:sym typeface="Calibri"/>
              </a:rPr>
              <a:t>):</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Image as Patches: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image is divided into smaller, non-overlapping patches, each of a fixed size (e.g., 16x16 pixels).</a:t>
            </a:r>
          </a:p>
          <a:p>
            <a:pPr lvl="1"/>
            <a:r>
              <a:rPr lang="en-US" sz="1200" b="0" i="0" u="none" strike="noStrike" cap="none" dirty="0">
                <a:solidFill>
                  <a:schemeClr val="dk1"/>
                </a:solidFill>
                <a:effectLst/>
                <a:latin typeface="Calibri"/>
                <a:ea typeface="Calibri"/>
                <a:cs typeface="Calibri"/>
                <a:sym typeface="Calibri"/>
              </a:rPr>
              <a:t>This division is analogous to tokenizing a sentence in NLP, where each patch acts as a "word" or "token."</a:t>
            </a:r>
          </a:p>
          <a:p>
            <a:r>
              <a:rPr lang="en-US" sz="1200" b="1" i="0" u="none" strike="noStrike" cap="none" dirty="0">
                <a:solidFill>
                  <a:schemeClr val="dk1"/>
                </a:solidFill>
                <a:effectLst/>
                <a:latin typeface="Calibri"/>
                <a:ea typeface="Calibri"/>
                <a:cs typeface="Calibri"/>
                <a:sym typeface="Calibri"/>
              </a:rPr>
              <a:t>Patch Embeddings: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image patch is flattened and linearly transformed into a vector, creating a patch embedding.</a:t>
            </a:r>
          </a:p>
          <a:p>
            <a:pPr lvl="1"/>
            <a:r>
              <a:rPr lang="en-US" sz="1200" b="0" i="0" u="none" strike="noStrike" cap="none" dirty="0">
                <a:solidFill>
                  <a:schemeClr val="dk1"/>
                </a:solidFill>
                <a:effectLst/>
                <a:latin typeface="Calibri"/>
                <a:ea typeface="Calibri"/>
                <a:cs typeface="Calibri"/>
                <a:sym typeface="Calibri"/>
              </a:rPr>
              <a:t>These embeddings are similar to word embeddings in NLP, capturing the features of each patch.</a:t>
            </a:r>
          </a:p>
          <a:p>
            <a:r>
              <a:rPr lang="en-US" sz="1200" b="1" i="0" u="none" strike="noStrike" cap="none" dirty="0">
                <a:solidFill>
                  <a:schemeClr val="dk1"/>
                </a:solidFill>
                <a:effectLst/>
                <a:latin typeface="Calibri"/>
                <a:ea typeface="Calibri"/>
                <a:cs typeface="Calibri"/>
                <a:sym typeface="Calibri"/>
              </a:rPr>
              <a:t>Transformer Processing: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sequence of patch embeddings is fed into a transformer model, which applies self-attention and feedforward operations to capture dependencies and relationships between patches.</a:t>
            </a:r>
          </a:p>
          <a:p>
            <a:pPr lvl="1"/>
            <a:r>
              <a:rPr lang="en-US" sz="1200" b="0" i="0" u="none" strike="noStrike" cap="none" dirty="0">
                <a:solidFill>
                  <a:schemeClr val="dk1"/>
                </a:solidFill>
                <a:effectLst/>
                <a:latin typeface="Calibri"/>
                <a:ea typeface="Calibri"/>
                <a:cs typeface="Calibri"/>
                <a:sym typeface="Calibri"/>
              </a:rPr>
              <a:t>The transformer processes the patches in parallel, leveraging its ability to model long-range dependencies and interactions.</a:t>
            </a:r>
          </a:p>
          <a:p>
            <a:r>
              <a:rPr lang="en-US" sz="1200" b="1" i="0" u="none" strike="noStrike" cap="none" dirty="0">
                <a:solidFill>
                  <a:schemeClr val="dk1"/>
                </a:solidFill>
                <a:effectLst/>
                <a:latin typeface="Calibri"/>
                <a:ea typeface="Calibri"/>
                <a:cs typeface="Calibri"/>
                <a:sym typeface="Calibri"/>
              </a:rPr>
              <a:t>Image Recognition: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output of the transformer is used for image classification or other vision tasks.</a:t>
            </a:r>
          </a:p>
          <a:p>
            <a:pPr lvl="1"/>
            <a:r>
              <a:rPr lang="en-US" sz="1200" b="0" i="0" u="none" strike="noStrike" cap="none" dirty="0">
                <a:solidFill>
                  <a:schemeClr val="dk1"/>
                </a:solidFill>
                <a:effectLst/>
                <a:latin typeface="Calibri"/>
                <a:ea typeface="Calibri"/>
                <a:cs typeface="Calibri"/>
                <a:sym typeface="Calibri"/>
              </a:rPr>
              <a:t>The model can learn to recognize patterns and features across the entire image, similar to how it processes sequences in NLP.</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Vision Transformer leverages the strengths of transformers, such as parallel processing and the ability to capture complex dependencies, to handle image data effectively.</a:t>
            </a:r>
          </a:p>
          <a:p>
            <a:r>
              <a:rPr lang="en-US" sz="1200" b="0" i="0" u="none" strike="noStrike" cap="none" dirty="0">
                <a:solidFill>
                  <a:schemeClr val="dk1"/>
                </a:solidFill>
                <a:effectLst/>
                <a:latin typeface="Calibri"/>
                <a:ea typeface="Calibri"/>
                <a:cs typeface="Calibri"/>
                <a:sym typeface="Calibri"/>
              </a:rPr>
              <a:t>By treating image patches as tokens,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can apply the same powerful techniques used in NLP to vision tasks, achieving competitive performance on image recognition benchmarks.</a:t>
            </a:r>
          </a:p>
          <a:p>
            <a:r>
              <a:rPr lang="en-US" sz="1200" b="1" i="0" u="none" strike="noStrike" cap="none" dirty="0">
                <a:solidFill>
                  <a:schemeClr val="dk1"/>
                </a:solidFill>
                <a:effectLst/>
                <a:latin typeface="Calibri"/>
                <a:ea typeface="Calibri"/>
                <a:cs typeface="Calibri"/>
                <a:sym typeface="Calibri"/>
              </a:rPr>
              <a:t>Benefits of Vision Transformers: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They can handle large-scale image data efficiently, benefiting from the scalability and flexibility of the transformer architecture.</a:t>
            </a:r>
          </a:p>
          <a:p>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can capture both local and global features in images, leading to robust and accurate image recognition.</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an overview of how the Vision Transformer adapts the transformer architecture for image recognition, highlighting the innovative approach of treating image patches as tokens. Understanding this concept is crucial for appreciating the versatility and power of transformers in various domains beyond NLP.</a:t>
            </a:r>
          </a:p>
          <a:p>
            <a:pPr marL="0" lvl="0" indent="0" algn="l" rtl="0">
              <a:lnSpc>
                <a:spcPct val="100000"/>
              </a:lnSpc>
              <a:spcBef>
                <a:spcPts val="0"/>
              </a:spcBef>
              <a:spcAft>
                <a:spcPts val="0"/>
              </a:spcAft>
              <a:buSzPts val="1400"/>
              <a:buNone/>
            </a:pPr>
            <a:endParaRPr dirty="0"/>
          </a:p>
        </p:txBody>
      </p:sp>
      <p:sp>
        <p:nvSpPr>
          <p:cNvPr id="619" name="Google Shape;61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7" name="Google Shape;63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6" name="Google Shape;65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1" name="Google Shape;71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3" name="Google Shape;81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6" name="Google Shape;1086;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8"/>
        <p:cNvGrpSpPr/>
        <p:nvPr/>
      </p:nvGrpSpPr>
      <p:grpSpPr>
        <a:xfrm>
          <a:off x="0" y="0"/>
          <a:ext cx="0" cy="0"/>
          <a:chOff x="0" y="0"/>
          <a:chExt cx="0" cy="0"/>
        </a:xfrm>
      </p:grpSpPr>
      <p:sp>
        <p:nvSpPr>
          <p:cNvPr id="1229" name="Google Shape;1229;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0" name="Google Shape;1230;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3"/>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374" name="Google Shape;137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Vision Transformer (</a:t>
                </a:r>
                <a:r>
                  <a:rPr lang="en-US" sz="1200" b="1" i="0" u="none" strike="noStrike" cap="none" dirty="0" err="1">
                    <a:solidFill>
                      <a:schemeClr val="dk1"/>
                    </a:solidFill>
                    <a:effectLst/>
                    <a:latin typeface="Calibri"/>
                    <a:ea typeface="Calibri"/>
                    <a:cs typeface="Calibri"/>
                    <a:sym typeface="Calibri"/>
                  </a:rPr>
                  <a:t>ViT</a:t>
                </a:r>
                <a:r>
                  <a:rPr lang="en-US" sz="1200" b="1" i="0" u="none" strike="noStrike" cap="none" dirty="0">
                    <a:solidFill>
                      <a:schemeClr val="dk1"/>
                    </a:solidFill>
                    <a:effectLst/>
                    <a:latin typeface="Calibri"/>
                    <a:ea typeface="Calibri"/>
                    <a:cs typeface="Calibri"/>
                    <a:sym typeface="Calibri"/>
                  </a:rPr>
                  <a:t>) Architecture:</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Image Patches: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input image is divided into </a:t>
                </a:r>
                <a14:m>
                  <m:oMath xmlns:m="http://schemas.openxmlformats.org/officeDocument/2006/math">
                    <m:r>
                      <a:rPr lang="en-US" sz="1200" b="0" i="1" u="none" strike="noStrike" cap="none">
                        <a:solidFill>
                          <a:schemeClr val="dk1"/>
                        </a:solidFill>
                        <a:latin typeface="Calibri"/>
                        <a:ea typeface="Calibri"/>
                        <a:cs typeface="Calibri"/>
                        <a:sym typeface="Calibri"/>
                      </a:rPr>
                      <m:t>𝑁</m:t>
                    </m:r>
                  </m:oMath>
                </a14:m>
                <a:r>
                  <a:rPr lang="en-US" sz="1200" b="0" i="0" u="none" strike="noStrike" cap="none" dirty="0">
                    <a:solidFill>
                      <a:schemeClr val="dk1"/>
                    </a:solidFill>
                    <a:effectLst/>
                    <a:latin typeface="Calibri"/>
                    <a:ea typeface="Calibri"/>
                    <a:cs typeface="Calibri"/>
                    <a:sym typeface="Calibri"/>
                  </a:rPr>
                  <a:t> non-overlapping patches, each of size </a:t>
                </a:r>
                <a14:m>
                  <m:oMath xmlns:m="http://schemas.openxmlformats.org/officeDocument/2006/math">
                    <m:r>
                      <a:rPr lang="en-US" sz="1200" b="0" i="0" u="none" strike="noStrike" cap="none">
                        <a:solidFill>
                          <a:schemeClr val="dk1"/>
                        </a:solidFill>
                        <a:latin typeface="Calibri"/>
                        <a:ea typeface="Calibri"/>
                        <a:cs typeface="Calibri"/>
                        <a:sym typeface="Calibri"/>
                      </a:rPr>
                      <m:t>3</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16</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16</m:t>
                    </m:r>
                  </m:oMath>
                </a14:m>
                <a:r>
                  <a:rPr lang="en-US" sz="1200" b="0" i="0" u="none" strike="noStrike" cap="none" dirty="0">
                    <a:solidFill>
                      <a:schemeClr val="dk1"/>
                    </a:solidFill>
                    <a:effectLst/>
                    <a:latin typeface="Calibri"/>
                    <a:ea typeface="Calibri"/>
                    <a:cs typeface="Calibri"/>
                    <a:sym typeface="Calibri"/>
                  </a:rPr>
                  <a:t> (3 channels for RGB, and 16x16 pixels per patch).</a:t>
                </a:r>
              </a:p>
              <a:p>
                <a:pPr lvl="1"/>
                <a:r>
                  <a:rPr lang="en-US" sz="1200" b="0" i="0" u="none" strike="noStrike" cap="none" dirty="0">
                    <a:solidFill>
                      <a:schemeClr val="dk1"/>
                    </a:solidFill>
                    <a:effectLst/>
                    <a:latin typeface="Calibri"/>
                    <a:ea typeface="Calibri"/>
                    <a:cs typeface="Calibri"/>
                    <a:sym typeface="Calibri"/>
                  </a:rPr>
                  <a:t>These patches are treated as input tokens, similar to words in a sentence for NLP tasks.</a:t>
                </a:r>
              </a:p>
              <a:p>
                <a:r>
                  <a:rPr lang="en-US" sz="1200" b="1" i="0" u="none" strike="noStrike" cap="none" dirty="0">
                    <a:solidFill>
                      <a:schemeClr val="dk1"/>
                    </a:solidFill>
                    <a:effectLst/>
                    <a:latin typeface="Calibri"/>
                    <a:ea typeface="Calibri"/>
                    <a:cs typeface="Calibri"/>
                    <a:sym typeface="Calibri"/>
                  </a:rPr>
                  <a:t>Linear Projection: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patch is flattened and linearly projected into a </a:t>
                </a:r>
                <a14:m>
                  <m:oMath xmlns:m="http://schemas.openxmlformats.org/officeDocument/2006/math">
                    <m:r>
                      <a:rPr lang="en-US" sz="1200" b="0" i="1" u="none" strike="noStrike" cap="none">
                        <a:solidFill>
                          <a:schemeClr val="dk1"/>
                        </a:solidFill>
                        <a:latin typeface="Calibri"/>
                        <a:ea typeface="Calibri"/>
                        <a:cs typeface="Calibri"/>
                        <a:sym typeface="Calibri"/>
                      </a:rPr>
                      <m:t>𝐷</m:t>
                    </m:r>
                  </m:oMath>
                </a14:m>
                <a:r>
                  <a:rPr lang="en-US" sz="1200" b="0" i="0" u="none" strike="noStrike" cap="none" dirty="0">
                    <a:solidFill>
                      <a:schemeClr val="dk1"/>
                    </a:solidFill>
                    <a:effectLst/>
                    <a:latin typeface="Calibri"/>
                    <a:ea typeface="Calibri"/>
                    <a:cs typeface="Calibri"/>
                    <a:sym typeface="Calibri"/>
                  </a:rPr>
                  <a:t>-dimensional vector, creating a patch embedding.</a:t>
                </a:r>
              </a:p>
              <a:p>
                <a:pPr lvl="1"/>
                <a:r>
                  <a:rPr lang="en-US" sz="1200" b="0" i="0" u="none" strike="noStrike" cap="none" dirty="0">
                    <a:solidFill>
                      <a:schemeClr val="dk1"/>
                    </a:solidFill>
                    <a:effectLst/>
                    <a:latin typeface="Calibri"/>
                    <a:ea typeface="Calibri"/>
                    <a:cs typeface="Calibri"/>
                    <a:sym typeface="Calibri"/>
                  </a:rPr>
                  <a:t>This step is analogous to creating word embeddings in NLP.</a:t>
                </a:r>
              </a:p>
              <a:p>
                <a:r>
                  <a:rPr lang="en-US" sz="1200" b="1" i="0" u="none" strike="noStrike" cap="none" dirty="0">
                    <a:solidFill>
                      <a:schemeClr val="dk1"/>
                    </a:solidFill>
                    <a:effectLst/>
                    <a:latin typeface="Calibri"/>
                    <a:ea typeface="Calibri"/>
                    <a:cs typeface="Calibri"/>
                    <a:sym typeface="Calibri"/>
                  </a:rPr>
                  <a:t>Positional Embeddings: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Positional embeddings are added to each patch embedding to incorporate information about the position of each patch in the image.</a:t>
                </a:r>
              </a:p>
              <a:p>
                <a:pPr lvl="1"/>
                <a:r>
                  <a:rPr lang="en-US" sz="1200" b="0" i="0" u="none" strike="noStrike" cap="none" dirty="0">
                    <a:solidFill>
                      <a:schemeClr val="dk1"/>
                    </a:solidFill>
                    <a:effectLst/>
                    <a:latin typeface="Calibri"/>
                    <a:ea typeface="Calibri"/>
                    <a:cs typeface="Calibri"/>
                    <a:sym typeface="Calibri"/>
                  </a:rPr>
                  <a:t>These embeddings are learned </a:t>
                </a:r>
                <a14:m>
                  <m:oMath xmlns:m="http://schemas.openxmlformats.org/officeDocument/2006/math">
                    <m:r>
                      <a:rPr lang="en-US" sz="1200" b="0" i="1" u="none" strike="noStrike" cap="none">
                        <a:solidFill>
                          <a:schemeClr val="dk1"/>
                        </a:solidFill>
                        <a:latin typeface="Calibri"/>
                        <a:ea typeface="Calibri"/>
                        <a:cs typeface="Calibri"/>
                        <a:sym typeface="Calibri"/>
                      </a:rPr>
                      <m:t>𝐷</m:t>
                    </m:r>
                  </m:oMath>
                </a14:m>
                <a:r>
                  <a:rPr lang="en-US" sz="1200" b="0" i="0" u="none" strike="noStrike" cap="none" dirty="0">
                    <a:solidFill>
                      <a:schemeClr val="dk1"/>
                    </a:solidFill>
                    <a:effectLst/>
                    <a:latin typeface="Calibri"/>
                    <a:ea typeface="Calibri"/>
                    <a:cs typeface="Calibri"/>
                    <a:sym typeface="Calibri"/>
                  </a:rPr>
                  <a:t>-dimensional vectors, ensuring the model can capture the spatial structure of the image.</a:t>
                </a:r>
              </a:p>
              <a:p>
                <a:r>
                  <a:rPr lang="en-US" sz="1200" b="1" i="0" u="none" strike="noStrike" cap="none" dirty="0">
                    <a:solidFill>
                      <a:schemeClr val="dk1"/>
                    </a:solidFill>
                    <a:effectLst/>
                    <a:latin typeface="Calibri"/>
                    <a:ea typeface="Calibri"/>
                    <a:cs typeface="Calibri"/>
                    <a:sym typeface="Calibri"/>
                  </a:rPr>
                  <a:t>Transformer Processing: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sequence of patch embeddings, along with a special classification token, is fed into a transformer model.</a:t>
                </a:r>
              </a:p>
              <a:p>
                <a:pPr lvl="1"/>
                <a:r>
                  <a:rPr lang="en-US" sz="1200" b="0" i="0" u="none" strike="noStrike" cap="none" dirty="0">
                    <a:solidFill>
                      <a:schemeClr val="dk1"/>
                    </a:solidFill>
                    <a:effectLst/>
                    <a:latin typeface="Calibri"/>
                    <a:ea typeface="Calibri"/>
                    <a:cs typeface="Calibri"/>
                    <a:sym typeface="Calibri"/>
                  </a:rPr>
                  <a:t>The transformer applies self-attention and feedforward operations to capture dependencies and relationships between patches.</a:t>
                </a:r>
              </a:p>
              <a:p>
                <a:r>
                  <a:rPr lang="en-US" sz="1200" b="1" i="0" u="none" strike="noStrike" cap="none" dirty="0">
                    <a:solidFill>
                      <a:schemeClr val="dk1"/>
                    </a:solidFill>
                    <a:effectLst/>
                    <a:latin typeface="Calibri"/>
                    <a:ea typeface="Calibri"/>
                    <a:cs typeface="Calibri"/>
                    <a:sym typeface="Calibri"/>
                  </a:rPr>
                  <a:t>Classification Token: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 special classification token is prepended to the sequence of patch embeddings. This token aggregates information from all patches and is used for the final classification task.</a:t>
                </a:r>
              </a:p>
              <a:p>
                <a:r>
                  <a:rPr lang="en-US" sz="1200" b="1" i="0" u="none" strike="noStrike" cap="none" dirty="0">
                    <a:solidFill>
                      <a:schemeClr val="dk1"/>
                    </a:solidFill>
                    <a:effectLst/>
                    <a:latin typeface="Calibri"/>
                    <a:ea typeface="Calibri"/>
                    <a:cs typeface="Calibri"/>
                    <a:sym typeface="Calibri"/>
                  </a:rPr>
                  <a:t>Output and Classification: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output of the transformer is a set of vectors, including the transformed classification token.</a:t>
                </a:r>
              </a:p>
              <a:p>
                <a:pPr lvl="1"/>
                <a:r>
                  <a:rPr lang="en-US" sz="1200" b="0" i="0" u="none" strike="noStrike" cap="none" dirty="0">
                    <a:solidFill>
                      <a:schemeClr val="dk1"/>
                    </a:solidFill>
                    <a:effectLst/>
                    <a:latin typeface="Calibri"/>
                    <a:ea typeface="Calibri"/>
                    <a:cs typeface="Calibri"/>
                    <a:sym typeface="Calibri"/>
                  </a:rPr>
                  <a:t>A linear layer projects the classification token to a </a:t>
                </a:r>
                <a14:m>
                  <m:oMath xmlns:m="http://schemas.openxmlformats.org/officeDocument/2006/math">
                    <m:r>
                      <a:rPr lang="en-US" sz="1200" b="0" i="1" u="none" strike="noStrike" cap="none">
                        <a:solidFill>
                          <a:schemeClr val="dk1"/>
                        </a:solidFill>
                        <a:latin typeface="Calibri"/>
                        <a:ea typeface="Calibri"/>
                        <a:cs typeface="Calibri"/>
                        <a:sym typeface="Calibri"/>
                      </a:rPr>
                      <m:t>𝐶</m:t>
                    </m:r>
                  </m:oMath>
                </a14:m>
                <a:r>
                  <a:rPr lang="en-US" sz="1200" b="0" i="0" u="none" strike="noStrike" cap="none" dirty="0">
                    <a:solidFill>
                      <a:schemeClr val="dk1"/>
                    </a:solidFill>
                    <a:effectLst/>
                    <a:latin typeface="Calibri"/>
                    <a:ea typeface="Calibri"/>
                    <a:cs typeface="Calibri"/>
                    <a:sym typeface="Calibri"/>
                  </a:rPr>
                  <a:t>-dimensional vector, representing the predicted class scores.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Vision Transformer leverages the transformer architecture's ability to model long-range dependencies and interactions, applying it to image data without relying on convolutions.</a:t>
                </a:r>
              </a:p>
              <a:p>
                <a:r>
                  <a:rPr lang="en-US" sz="1200" b="0" i="0" u="none" strike="noStrike" cap="none" dirty="0">
                    <a:solidFill>
                      <a:schemeClr val="dk1"/>
                    </a:solidFill>
                    <a:effectLst/>
                    <a:latin typeface="Calibri"/>
                    <a:ea typeface="Calibri"/>
                    <a:cs typeface="Calibri"/>
                    <a:sym typeface="Calibri"/>
                  </a:rPr>
                  <a:t>By treating image patches as tokens,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can effectively capture both local and global features, leading to competitive performance on image recognition tasks.</a:t>
                </a:r>
              </a:p>
              <a:p>
                <a:r>
                  <a:rPr lang="en-US" sz="1200" b="1" i="0" u="none" strike="noStrike" cap="none" dirty="0">
                    <a:solidFill>
                      <a:schemeClr val="dk1"/>
                    </a:solidFill>
                    <a:effectLst/>
                    <a:latin typeface="Calibri"/>
                    <a:ea typeface="Calibri"/>
                    <a:cs typeface="Calibri"/>
                    <a:sym typeface="Calibri"/>
                  </a:rPr>
                  <a:t>Benefits of Vision Transformers: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They offer a flexible and scalable approach to image recognition, benefiting from the parallel processing capabilities of transformers.</a:t>
                </a:r>
              </a:p>
              <a:p>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can handle large-scale image data efficiently, making them suitable for various computer vision applications.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comprehensive understanding of the Vision Transformer architecture, highlighting its innovative approach to image recognition by adapting the transformer model for vision tasks. Understanding this concept is crucial for appreciating the versatility and power of transformers in domains beyond NLP.</a:t>
                </a:r>
              </a:p>
              <a:p>
                <a:pPr marL="0" lvl="0" indent="0" algn="l" rtl="0">
                  <a:lnSpc>
                    <a:spcPct val="100000"/>
                  </a:lnSpc>
                  <a:spcBef>
                    <a:spcPts val="0"/>
                  </a:spcBef>
                  <a:spcAft>
                    <a:spcPts val="0"/>
                  </a:spcAft>
                  <a:buSzPts val="1400"/>
                  <a:buNone/>
                </a:pPr>
                <a:endParaRPr dirty="0"/>
              </a:p>
            </p:txBody>
          </p:sp>
        </mc:Choice>
        <mc:Fallback>
          <p:sp>
            <p:nvSpPr>
              <p:cNvPr id="1374" name="Google Shape;137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Vision Transformer (</a:t>
                </a:r>
                <a:r>
                  <a:rPr lang="en-US" sz="1200" b="1" i="0" u="none" strike="noStrike" cap="none" dirty="0" err="1">
                    <a:solidFill>
                      <a:schemeClr val="dk1"/>
                    </a:solidFill>
                    <a:effectLst/>
                    <a:latin typeface="Calibri"/>
                    <a:ea typeface="Calibri"/>
                    <a:cs typeface="Calibri"/>
                    <a:sym typeface="Calibri"/>
                  </a:rPr>
                  <a:t>ViT</a:t>
                </a:r>
                <a:r>
                  <a:rPr lang="en-US" sz="1200" b="1" i="0" u="none" strike="noStrike" cap="none" dirty="0">
                    <a:solidFill>
                      <a:schemeClr val="dk1"/>
                    </a:solidFill>
                    <a:effectLst/>
                    <a:latin typeface="Calibri"/>
                    <a:ea typeface="Calibri"/>
                    <a:cs typeface="Calibri"/>
                    <a:sym typeface="Calibri"/>
                  </a:rPr>
                  <a:t>) Architecture:</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Image Patches: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input image is divided into </a:t>
                </a:r>
                <a:r>
                  <a:rPr lang="en-US" sz="1200" b="0" i="0" u="none" strike="noStrike" cap="none">
                    <a:solidFill>
                      <a:schemeClr val="dk1"/>
                    </a:solidFill>
                    <a:latin typeface="Calibri"/>
                    <a:ea typeface="Calibri"/>
                    <a:cs typeface="Calibri"/>
                    <a:sym typeface="Calibri"/>
                  </a:rPr>
                  <a:t>𝑁</a:t>
                </a:r>
                <a:r>
                  <a:rPr lang="en-US" sz="1200" b="0" i="0" u="none" strike="noStrike" cap="none" dirty="0">
                    <a:solidFill>
                      <a:schemeClr val="dk1"/>
                    </a:solidFill>
                    <a:effectLst/>
                    <a:latin typeface="Calibri"/>
                    <a:ea typeface="Calibri"/>
                    <a:cs typeface="Calibri"/>
                    <a:sym typeface="Calibri"/>
                  </a:rPr>
                  <a:t> non-overlapping patches, each of size </a:t>
                </a:r>
                <a:r>
                  <a:rPr lang="en-US" sz="1200" b="0" i="0" u="none" strike="noStrike" cap="none">
                    <a:solidFill>
                      <a:schemeClr val="dk1"/>
                    </a:solidFill>
                    <a:latin typeface="Calibri"/>
                    <a:ea typeface="Calibri"/>
                    <a:cs typeface="Calibri"/>
                    <a:sym typeface="Calibri"/>
                  </a:rPr>
                  <a:t>3×16×16</a:t>
                </a:r>
                <a:r>
                  <a:rPr lang="en-US" sz="1200" b="0" i="0" u="none" strike="noStrike" cap="none" dirty="0">
                    <a:solidFill>
                      <a:schemeClr val="dk1"/>
                    </a:solidFill>
                    <a:effectLst/>
                    <a:latin typeface="Calibri"/>
                    <a:ea typeface="Calibri"/>
                    <a:cs typeface="Calibri"/>
                    <a:sym typeface="Calibri"/>
                  </a:rPr>
                  <a:t> (3 channels for RGB, and 16x16 pixels per patch).</a:t>
                </a:r>
              </a:p>
              <a:p>
                <a:pPr lvl="1"/>
                <a:r>
                  <a:rPr lang="en-US" sz="1200" b="0" i="0" u="none" strike="noStrike" cap="none" dirty="0">
                    <a:solidFill>
                      <a:schemeClr val="dk1"/>
                    </a:solidFill>
                    <a:effectLst/>
                    <a:latin typeface="Calibri"/>
                    <a:ea typeface="Calibri"/>
                    <a:cs typeface="Calibri"/>
                    <a:sym typeface="Calibri"/>
                  </a:rPr>
                  <a:t>These patches are treated as input tokens, similar to words in a sentence for NLP tasks.</a:t>
                </a:r>
              </a:p>
              <a:p>
                <a:r>
                  <a:rPr lang="en-US" sz="1200" b="1" i="0" u="none" strike="noStrike" cap="none" dirty="0">
                    <a:solidFill>
                      <a:schemeClr val="dk1"/>
                    </a:solidFill>
                    <a:effectLst/>
                    <a:latin typeface="Calibri"/>
                    <a:ea typeface="Calibri"/>
                    <a:cs typeface="Calibri"/>
                    <a:sym typeface="Calibri"/>
                  </a:rPr>
                  <a:t>Linear Projection: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patch is flattened and linearly projected into a </a:t>
                </a:r>
                <a:r>
                  <a:rPr lang="en-US" sz="1200" b="0" i="0" u="none" strike="noStrike" cap="none">
                    <a:solidFill>
                      <a:schemeClr val="dk1"/>
                    </a:solidFill>
                    <a:latin typeface="Calibri"/>
                    <a:ea typeface="Calibri"/>
                    <a:cs typeface="Calibri"/>
                    <a:sym typeface="Calibri"/>
                  </a:rPr>
                  <a:t>𝐷</a:t>
                </a:r>
                <a:r>
                  <a:rPr lang="en-US" sz="1200" b="0" i="0" u="none" strike="noStrike" cap="none" dirty="0">
                    <a:solidFill>
                      <a:schemeClr val="dk1"/>
                    </a:solidFill>
                    <a:effectLst/>
                    <a:latin typeface="Calibri"/>
                    <a:ea typeface="Calibri"/>
                    <a:cs typeface="Calibri"/>
                    <a:sym typeface="Calibri"/>
                  </a:rPr>
                  <a:t>-dimensional vector, creating a patch embedding.</a:t>
                </a:r>
              </a:p>
              <a:p>
                <a:pPr lvl="1"/>
                <a:r>
                  <a:rPr lang="en-US" sz="1200" b="0" i="0" u="none" strike="noStrike" cap="none" dirty="0">
                    <a:solidFill>
                      <a:schemeClr val="dk1"/>
                    </a:solidFill>
                    <a:effectLst/>
                    <a:latin typeface="Calibri"/>
                    <a:ea typeface="Calibri"/>
                    <a:cs typeface="Calibri"/>
                    <a:sym typeface="Calibri"/>
                  </a:rPr>
                  <a:t>This step is analogous to creating word embeddings in NLP.</a:t>
                </a:r>
              </a:p>
              <a:p>
                <a:r>
                  <a:rPr lang="en-US" sz="1200" b="1" i="0" u="none" strike="noStrike" cap="none" dirty="0">
                    <a:solidFill>
                      <a:schemeClr val="dk1"/>
                    </a:solidFill>
                    <a:effectLst/>
                    <a:latin typeface="Calibri"/>
                    <a:ea typeface="Calibri"/>
                    <a:cs typeface="Calibri"/>
                    <a:sym typeface="Calibri"/>
                  </a:rPr>
                  <a:t>Positional Embeddings: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Positional embeddings are added to each patch embedding to incorporate information about the position of each patch in the image.</a:t>
                </a:r>
              </a:p>
              <a:p>
                <a:pPr lvl="1"/>
                <a:r>
                  <a:rPr lang="en-US" sz="1200" b="0" i="0" u="none" strike="noStrike" cap="none" dirty="0">
                    <a:solidFill>
                      <a:schemeClr val="dk1"/>
                    </a:solidFill>
                    <a:effectLst/>
                    <a:latin typeface="Calibri"/>
                    <a:ea typeface="Calibri"/>
                    <a:cs typeface="Calibri"/>
                    <a:sym typeface="Calibri"/>
                  </a:rPr>
                  <a:t>These embeddings are learned </a:t>
                </a:r>
                <a:r>
                  <a:rPr lang="en-US" sz="1200" b="0" i="0" u="none" strike="noStrike" cap="none">
                    <a:solidFill>
                      <a:schemeClr val="dk1"/>
                    </a:solidFill>
                    <a:latin typeface="Calibri"/>
                    <a:ea typeface="Calibri"/>
                    <a:cs typeface="Calibri"/>
                    <a:sym typeface="Calibri"/>
                  </a:rPr>
                  <a:t>𝐷</a:t>
                </a:r>
                <a:r>
                  <a:rPr lang="en-US" sz="1200" b="0" i="0" u="none" strike="noStrike" cap="none" dirty="0">
                    <a:solidFill>
                      <a:schemeClr val="dk1"/>
                    </a:solidFill>
                    <a:effectLst/>
                    <a:latin typeface="Calibri"/>
                    <a:ea typeface="Calibri"/>
                    <a:cs typeface="Calibri"/>
                    <a:sym typeface="Calibri"/>
                  </a:rPr>
                  <a:t>-dimensional vectors, ensuring the model can capture the spatial structure of the image.</a:t>
                </a:r>
              </a:p>
              <a:p>
                <a:r>
                  <a:rPr lang="en-US" sz="1200" b="1" i="0" u="none" strike="noStrike" cap="none" dirty="0">
                    <a:solidFill>
                      <a:schemeClr val="dk1"/>
                    </a:solidFill>
                    <a:effectLst/>
                    <a:latin typeface="Calibri"/>
                    <a:ea typeface="Calibri"/>
                    <a:cs typeface="Calibri"/>
                    <a:sym typeface="Calibri"/>
                  </a:rPr>
                  <a:t>Transformer Processing: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sequence of patch embeddings, along with a special classification token, is fed into a transformer model.</a:t>
                </a:r>
              </a:p>
              <a:p>
                <a:pPr lvl="1"/>
                <a:r>
                  <a:rPr lang="en-US" sz="1200" b="0" i="0" u="none" strike="noStrike" cap="none" dirty="0">
                    <a:solidFill>
                      <a:schemeClr val="dk1"/>
                    </a:solidFill>
                    <a:effectLst/>
                    <a:latin typeface="Calibri"/>
                    <a:ea typeface="Calibri"/>
                    <a:cs typeface="Calibri"/>
                    <a:sym typeface="Calibri"/>
                  </a:rPr>
                  <a:t>The transformer applies self-attention and feedforward operations to capture dependencies and relationships between patches.</a:t>
                </a:r>
              </a:p>
              <a:p>
                <a:r>
                  <a:rPr lang="en-US" sz="1200" b="1" i="0" u="none" strike="noStrike" cap="none" dirty="0">
                    <a:solidFill>
                      <a:schemeClr val="dk1"/>
                    </a:solidFill>
                    <a:effectLst/>
                    <a:latin typeface="Calibri"/>
                    <a:ea typeface="Calibri"/>
                    <a:cs typeface="Calibri"/>
                    <a:sym typeface="Calibri"/>
                  </a:rPr>
                  <a:t>Classification Token: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 special classification token is prepended to the sequence of patch embeddings. This token aggregates information from all patches and is used for the final classification task.</a:t>
                </a:r>
              </a:p>
              <a:p>
                <a:r>
                  <a:rPr lang="en-US" sz="1200" b="1" i="0" u="none" strike="noStrike" cap="none" dirty="0">
                    <a:solidFill>
                      <a:schemeClr val="dk1"/>
                    </a:solidFill>
                    <a:effectLst/>
                    <a:latin typeface="Calibri"/>
                    <a:ea typeface="Calibri"/>
                    <a:cs typeface="Calibri"/>
                    <a:sym typeface="Calibri"/>
                  </a:rPr>
                  <a:t>Output and Classification: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output of the transformer is a set of vectors, including the transformed classification token.</a:t>
                </a:r>
              </a:p>
              <a:p>
                <a:pPr lvl="1"/>
                <a:r>
                  <a:rPr lang="en-US" sz="1200" b="0" i="0" u="none" strike="noStrike" cap="none" dirty="0">
                    <a:solidFill>
                      <a:schemeClr val="dk1"/>
                    </a:solidFill>
                    <a:effectLst/>
                    <a:latin typeface="Calibri"/>
                    <a:ea typeface="Calibri"/>
                    <a:cs typeface="Calibri"/>
                    <a:sym typeface="Calibri"/>
                  </a:rPr>
                  <a:t>A linear layer projects the classification token to a </a:t>
                </a:r>
                <a:r>
                  <a:rPr lang="en-US" sz="1200" b="0" i="0" u="none" strike="noStrike" cap="none">
                    <a:solidFill>
                      <a:schemeClr val="dk1"/>
                    </a:solidFill>
                    <a:latin typeface="Calibri"/>
                    <a:ea typeface="Calibri"/>
                    <a:cs typeface="Calibri"/>
                    <a:sym typeface="Calibri"/>
                  </a:rPr>
                  <a:t>𝐶</a:t>
                </a:r>
                <a:r>
                  <a:rPr lang="en-US" sz="1200" b="0" i="0" u="none" strike="noStrike" cap="none" dirty="0">
                    <a:solidFill>
                      <a:schemeClr val="dk1"/>
                    </a:solidFill>
                    <a:effectLst/>
                    <a:latin typeface="Calibri"/>
                    <a:ea typeface="Calibri"/>
                    <a:cs typeface="Calibri"/>
                    <a:sym typeface="Calibri"/>
                  </a:rPr>
                  <a:t>-dimensional vector, representing the predicted class scores.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Vision Transformer leverages the transformer architecture's ability to model long-range dependencies and interactions, applying it to image data without relying on convolutions.</a:t>
                </a:r>
              </a:p>
              <a:p>
                <a:r>
                  <a:rPr lang="en-US" sz="1200" b="0" i="0" u="none" strike="noStrike" cap="none" dirty="0">
                    <a:solidFill>
                      <a:schemeClr val="dk1"/>
                    </a:solidFill>
                    <a:effectLst/>
                    <a:latin typeface="Calibri"/>
                    <a:ea typeface="Calibri"/>
                    <a:cs typeface="Calibri"/>
                    <a:sym typeface="Calibri"/>
                  </a:rPr>
                  <a:t>By treating image patches as tokens,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can effectively capture both local and global features, leading to competitive performance on image recognition tasks.</a:t>
                </a:r>
              </a:p>
              <a:p>
                <a:r>
                  <a:rPr lang="en-US" sz="1200" b="1" i="0" u="none" strike="noStrike" cap="none" dirty="0">
                    <a:solidFill>
                      <a:schemeClr val="dk1"/>
                    </a:solidFill>
                    <a:effectLst/>
                    <a:latin typeface="Calibri"/>
                    <a:ea typeface="Calibri"/>
                    <a:cs typeface="Calibri"/>
                    <a:sym typeface="Calibri"/>
                  </a:rPr>
                  <a:t>Benefits of Vision Transformers: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They offer a flexible and scalable approach to image recognition, benefiting from the parallel processing capabilities of transformers.</a:t>
                </a:r>
              </a:p>
              <a:p>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can handle large-scale image data efficiently, making them suitable for various computer vision applications.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comprehensive understanding of the Vision Transformer architecture, highlighting its innovative approach to image recognition by adapting the transformer model for vision tasks. Understanding this concept is crucial for appreciating the versatility and power of transformers in domains beyond NLP.</a:t>
                </a:r>
              </a:p>
              <a:p>
                <a:pPr marL="0" lvl="0" indent="0" algn="l" rtl="0">
                  <a:lnSpc>
                    <a:spcPct val="100000"/>
                  </a:lnSpc>
                  <a:spcBef>
                    <a:spcPts val="0"/>
                  </a:spcBef>
                  <a:spcAft>
                    <a:spcPts val="0"/>
                  </a:spcAft>
                  <a:buSzPts val="1400"/>
                  <a:buNone/>
                </a:pPr>
                <a:endParaRPr dirty="0"/>
              </a:p>
            </p:txBody>
          </p:sp>
        </mc:Fallback>
      </mc:AlternateContent>
      <p:sp>
        <p:nvSpPr>
          <p:cNvPr id="1375" name="Google Shape;1375;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20" name="Google Shape;152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Vision Transformer (</a:t>
                </a:r>
                <a:r>
                  <a:rPr lang="en-US" sz="1200" b="1" i="0" u="none" strike="noStrike" cap="none" dirty="0" err="1">
                    <a:solidFill>
                      <a:schemeClr val="dk1"/>
                    </a:solidFill>
                    <a:effectLst/>
                    <a:latin typeface="Calibri"/>
                    <a:ea typeface="Calibri"/>
                    <a:cs typeface="Calibri"/>
                    <a:sym typeface="Calibri"/>
                  </a:rPr>
                  <a:t>ViT</a:t>
                </a:r>
                <a:r>
                  <a:rPr lang="en-US" sz="1200" b="1" i="0" u="none" strike="noStrike" cap="none" dirty="0">
                    <a:solidFill>
                      <a:schemeClr val="dk1"/>
                    </a:solidFill>
                    <a:effectLst/>
                    <a:latin typeface="Calibri"/>
                    <a:ea typeface="Calibri"/>
                    <a:cs typeface="Calibri"/>
                    <a:sym typeface="Calibri"/>
                  </a:rPr>
                  <a:t>) Architecture:</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Image Patches: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input image is divided into </a:t>
                </a:r>
                <a14:m>
                  <m:oMath xmlns:m="http://schemas.openxmlformats.org/officeDocument/2006/math">
                    <m:r>
                      <a:rPr lang="en-US" sz="1200" b="0" i="1" u="none" strike="noStrike" cap="none">
                        <a:solidFill>
                          <a:schemeClr val="dk1"/>
                        </a:solidFill>
                        <a:latin typeface="Calibri"/>
                        <a:ea typeface="Calibri"/>
                        <a:cs typeface="Calibri"/>
                        <a:sym typeface="Calibri"/>
                      </a:rPr>
                      <m:t>𝑁</m:t>
                    </m:r>
                  </m:oMath>
                </a14:m>
                <a:r>
                  <a:rPr lang="en-US" sz="1200" b="0" i="0" u="none" strike="noStrike" cap="none" dirty="0">
                    <a:solidFill>
                      <a:schemeClr val="dk1"/>
                    </a:solidFill>
                    <a:effectLst/>
                    <a:latin typeface="Calibri"/>
                    <a:ea typeface="Calibri"/>
                    <a:cs typeface="Calibri"/>
                    <a:sym typeface="Calibri"/>
                  </a:rPr>
                  <a:t> non-overlapping patches, each of size </a:t>
                </a:r>
                <a14:m>
                  <m:oMath xmlns:m="http://schemas.openxmlformats.org/officeDocument/2006/math">
                    <m:r>
                      <a:rPr lang="en-US" sz="1200" b="0" i="0" u="none" strike="noStrike" cap="none">
                        <a:solidFill>
                          <a:schemeClr val="dk1"/>
                        </a:solidFill>
                        <a:latin typeface="Calibri"/>
                        <a:ea typeface="Calibri"/>
                        <a:cs typeface="Calibri"/>
                        <a:sym typeface="Calibri"/>
                      </a:rPr>
                      <m:t>3</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16</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16</m:t>
                    </m:r>
                  </m:oMath>
                </a14:m>
                <a:r>
                  <a:rPr lang="en-US" sz="1200" b="0" i="0" u="none" strike="noStrike" cap="none" dirty="0">
                    <a:solidFill>
                      <a:schemeClr val="dk1"/>
                    </a:solidFill>
                    <a:effectLst/>
                    <a:latin typeface="Calibri"/>
                    <a:ea typeface="Calibri"/>
                    <a:cs typeface="Calibri"/>
                    <a:sym typeface="Calibri"/>
                  </a:rPr>
                  <a:t> (3 channels for RGB, and 16x16 pixels per patch).</a:t>
                </a:r>
              </a:p>
              <a:p>
                <a:pPr lvl="1"/>
                <a:r>
                  <a:rPr lang="en-US" sz="1200" b="0" i="0" u="none" strike="noStrike" cap="none" dirty="0">
                    <a:solidFill>
                      <a:schemeClr val="dk1"/>
                    </a:solidFill>
                    <a:effectLst/>
                    <a:latin typeface="Calibri"/>
                    <a:ea typeface="Calibri"/>
                    <a:cs typeface="Calibri"/>
                    <a:sym typeface="Calibri"/>
                  </a:rPr>
                  <a:t>These patches are treated as input tokens, similar to words in a sentence for NLP tasks.</a:t>
                </a:r>
              </a:p>
              <a:p>
                <a:r>
                  <a:rPr lang="en-US" sz="1200" b="1" i="0" u="none" strike="noStrike" cap="none" dirty="0">
                    <a:solidFill>
                      <a:schemeClr val="dk1"/>
                    </a:solidFill>
                    <a:effectLst/>
                    <a:latin typeface="Calibri"/>
                    <a:ea typeface="Calibri"/>
                    <a:cs typeface="Calibri"/>
                    <a:sym typeface="Calibri"/>
                  </a:rPr>
                  <a:t>Linear Projection: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patch is flattened and linearly projected into a </a:t>
                </a:r>
                <a14:m>
                  <m:oMath xmlns:m="http://schemas.openxmlformats.org/officeDocument/2006/math">
                    <m:r>
                      <a:rPr lang="en-US" sz="1200" b="0" i="1" u="none" strike="noStrike" cap="none">
                        <a:solidFill>
                          <a:schemeClr val="dk1"/>
                        </a:solidFill>
                        <a:latin typeface="Calibri"/>
                        <a:ea typeface="Calibri"/>
                        <a:cs typeface="Calibri"/>
                        <a:sym typeface="Calibri"/>
                      </a:rPr>
                      <m:t>𝐷</m:t>
                    </m:r>
                  </m:oMath>
                </a14:m>
                <a:r>
                  <a:rPr lang="en-US" sz="1200" b="0" i="0" u="none" strike="noStrike" cap="none" dirty="0">
                    <a:solidFill>
                      <a:schemeClr val="dk1"/>
                    </a:solidFill>
                    <a:effectLst/>
                    <a:latin typeface="Calibri"/>
                    <a:ea typeface="Calibri"/>
                    <a:cs typeface="Calibri"/>
                    <a:sym typeface="Calibri"/>
                  </a:rPr>
                  <a:t>-dimensional vector, creating a patch embedding.</a:t>
                </a:r>
              </a:p>
              <a:p>
                <a:pPr lvl="1"/>
                <a:r>
                  <a:rPr lang="en-US" sz="1200" b="0" i="0" u="none" strike="noStrike" cap="none" dirty="0">
                    <a:solidFill>
                      <a:schemeClr val="dk1"/>
                    </a:solidFill>
                    <a:effectLst/>
                    <a:latin typeface="Calibri"/>
                    <a:ea typeface="Calibri"/>
                    <a:cs typeface="Calibri"/>
                    <a:sym typeface="Calibri"/>
                  </a:rPr>
                  <a:t>This step is analogous to creating word embeddings in NLP.</a:t>
                </a:r>
              </a:p>
              <a:p>
                <a:r>
                  <a:rPr lang="en-US" sz="1200" b="1" i="0" u="none" strike="noStrike" cap="none" dirty="0">
                    <a:solidFill>
                      <a:schemeClr val="dk1"/>
                    </a:solidFill>
                    <a:effectLst/>
                    <a:latin typeface="Calibri"/>
                    <a:ea typeface="Calibri"/>
                    <a:cs typeface="Calibri"/>
                    <a:sym typeface="Calibri"/>
                  </a:rPr>
                  <a:t>Positional Embeddings: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Positional embeddings are added to each patch embedding to incorporate information about the position of each patch in the image.</a:t>
                </a:r>
              </a:p>
              <a:p>
                <a:pPr lvl="1"/>
                <a:r>
                  <a:rPr lang="en-US" sz="1200" b="0" i="0" u="none" strike="noStrike" cap="none" dirty="0">
                    <a:solidFill>
                      <a:schemeClr val="dk1"/>
                    </a:solidFill>
                    <a:effectLst/>
                    <a:latin typeface="Calibri"/>
                    <a:ea typeface="Calibri"/>
                    <a:cs typeface="Calibri"/>
                    <a:sym typeface="Calibri"/>
                  </a:rPr>
                  <a:t>These embeddings are learned </a:t>
                </a:r>
                <a14:m>
                  <m:oMath xmlns:m="http://schemas.openxmlformats.org/officeDocument/2006/math">
                    <m:r>
                      <a:rPr lang="en-US" sz="1200" b="0" i="1" u="none" strike="noStrike" cap="none">
                        <a:solidFill>
                          <a:schemeClr val="dk1"/>
                        </a:solidFill>
                        <a:latin typeface="Calibri"/>
                        <a:ea typeface="Calibri"/>
                        <a:cs typeface="Calibri"/>
                        <a:sym typeface="Calibri"/>
                      </a:rPr>
                      <m:t>𝐷</m:t>
                    </m:r>
                  </m:oMath>
                </a14:m>
                <a:r>
                  <a:rPr lang="en-US" sz="1200" b="0" i="0" u="none" strike="noStrike" cap="none" dirty="0">
                    <a:solidFill>
                      <a:schemeClr val="dk1"/>
                    </a:solidFill>
                    <a:effectLst/>
                    <a:latin typeface="Calibri"/>
                    <a:ea typeface="Calibri"/>
                    <a:cs typeface="Calibri"/>
                    <a:sym typeface="Calibri"/>
                  </a:rPr>
                  <a:t>-dimensional vectors, ensuring the model can capture the spatial structure of the image.</a:t>
                </a:r>
              </a:p>
              <a:p>
                <a:r>
                  <a:rPr lang="en-US" sz="1200" b="1" i="0" u="none" strike="noStrike" cap="none" dirty="0">
                    <a:solidFill>
                      <a:schemeClr val="dk1"/>
                    </a:solidFill>
                    <a:effectLst/>
                    <a:latin typeface="Calibri"/>
                    <a:ea typeface="Calibri"/>
                    <a:cs typeface="Calibri"/>
                    <a:sym typeface="Calibri"/>
                  </a:rPr>
                  <a:t>Transformer Processing: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sequence of patch embeddings, along with a special classification token, is fed into a transformer model.</a:t>
                </a:r>
              </a:p>
              <a:p>
                <a:pPr lvl="1"/>
                <a:r>
                  <a:rPr lang="en-US" sz="1200" b="0" i="0" u="none" strike="noStrike" cap="none" dirty="0">
                    <a:solidFill>
                      <a:schemeClr val="dk1"/>
                    </a:solidFill>
                    <a:effectLst/>
                    <a:latin typeface="Calibri"/>
                    <a:ea typeface="Calibri"/>
                    <a:cs typeface="Calibri"/>
                    <a:sym typeface="Calibri"/>
                  </a:rPr>
                  <a:t>The transformer applies self-attention and feedforward operations to capture dependencies and relationships between patches.</a:t>
                </a:r>
              </a:p>
              <a:p>
                <a:r>
                  <a:rPr lang="en-US" sz="1200" b="1" i="0" u="none" strike="noStrike" cap="none" dirty="0">
                    <a:solidFill>
                      <a:schemeClr val="dk1"/>
                    </a:solidFill>
                    <a:effectLst/>
                    <a:latin typeface="Calibri"/>
                    <a:ea typeface="Calibri"/>
                    <a:cs typeface="Calibri"/>
                    <a:sym typeface="Calibri"/>
                  </a:rPr>
                  <a:t>MLPs and 1x1 Convolutions: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slide notes that the MLPs in the transformer can be thought of as stacks of 1x1 convolutions. This is a conceptual way to understand how MLPs operate on each patch independently, similar to how 1x1 convolutions process each pixel or patch.</a:t>
                </a:r>
              </a:p>
              <a:p>
                <a:r>
                  <a:rPr lang="en-US" sz="1200" b="1" i="0" u="none" strike="noStrike" cap="none" dirty="0">
                    <a:solidFill>
                      <a:schemeClr val="dk1"/>
                    </a:solidFill>
                    <a:effectLst/>
                    <a:latin typeface="Calibri"/>
                    <a:ea typeface="Calibri"/>
                    <a:cs typeface="Calibri"/>
                    <a:sym typeface="Calibri"/>
                  </a:rPr>
                  <a:t>Classification Token: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 special classification token is prepended to the sequence of patch embeddings. This token aggregates information from all patches and is used for the final classification task.</a:t>
                </a:r>
              </a:p>
              <a:p>
                <a:r>
                  <a:rPr lang="en-US" sz="1200" b="1" i="0" u="none" strike="noStrike" cap="none" dirty="0">
                    <a:solidFill>
                      <a:schemeClr val="dk1"/>
                    </a:solidFill>
                    <a:effectLst/>
                    <a:latin typeface="Calibri"/>
                    <a:ea typeface="Calibri"/>
                    <a:cs typeface="Calibri"/>
                    <a:sym typeface="Calibri"/>
                  </a:rPr>
                  <a:t>Output and Classification: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output of the transformer is a set of vectors, including the transformed classification token.</a:t>
                </a:r>
              </a:p>
              <a:p>
                <a:pPr lvl="1"/>
                <a:r>
                  <a:rPr lang="en-US" sz="1200" b="0" i="0" u="none" strike="noStrike" cap="none" dirty="0">
                    <a:solidFill>
                      <a:schemeClr val="dk1"/>
                    </a:solidFill>
                    <a:effectLst/>
                    <a:latin typeface="Calibri"/>
                    <a:ea typeface="Calibri"/>
                    <a:cs typeface="Calibri"/>
                    <a:sym typeface="Calibri"/>
                  </a:rPr>
                  <a:t>A linear layer projects the classification token to a </a:t>
                </a:r>
                <a14:m>
                  <m:oMath xmlns:m="http://schemas.openxmlformats.org/officeDocument/2006/math">
                    <m:r>
                      <a:rPr lang="en-US" sz="1200" b="0" i="1" u="none" strike="noStrike" cap="none">
                        <a:solidFill>
                          <a:schemeClr val="dk1"/>
                        </a:solidFill>
                        <a:latin typeface="Calibri"/>
                        <a:ea typeface="Calibri"/>
                        <a:cs typeface="Calibri"/>
                        <a:sym typeface="Calibri"/>
                      </a:rPr>
                      <m:t>𝐶</m:t>
                    </m:r>
                  </m:oMath>
                </a14:m>
                <a:r>
                  <a:rPr lang="en-US" sz="1200" b="0" i="0" u="none" strike="noStrike" cap="none" dirty="0">
                    <a:solidFill>
                      <a:schemeClr val="dk1"/>
                    </a:solidFill>
                    <a:effectLst/>
                    <a:latin typeface="Calibri"/>
                    <a:ea typeface="Calibri"/>
                    <a:cs typeface="Calibri"/>
                    <a:sym typeface="Calibri"/>
                  </a:rPr>
                  <a:t>-dimensional vector, representing the predicted class scores.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Vision Transformer leverages the transformer architecture's ability to model long-range dependencies and interactions, applying it to image data without relying on traditional convolutions.</a:t>
                </a:r>
              </a:p>
              <a:p>
                <a:r>
                  <a:rPr lang="en-US" sz="1200" b="0" i="0" u="none" strike="noStrike" cap="none" dirty="0">
                    <a:solidFill>
                      <a:schemeClr val="dk1"/>
                    </a:solidFill>
                    <a:effectLst/>
                    <a:latin typeface="Calibri"/>
                    <a:ea typeface="Calibri"/>
                    <a:cs typeface="Calibri"/>
                    <a:sym typeface="Calibri"/>
                  </a:rPr>
                  <a:t>By treating image patches as tokens,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can effectively capture both local and global features, leading to competitive performance on image recognition tasks.</a:t>
                </a:r>
              </a:p>
              <a:p>
                <a:r>
                  <a:rPr lang="en-US" sz="1200" b="1" i="0" u="none" strike="noStrike" cap="none" dirty="0">
                    <a:solidFill>
                      <a:schemeClr val="dk1"/>
                    </a:solidFill>
                    <a:effectLst/>
                    <a:latin typeface="Calibri"/>
                    <a:ea typeface="Calibri"/>
                    <a:cs typeface="Calibri"/>
                    <a:sym typeface="Calibri"/>
                  </a:rPr>
                  <a:t>Benefits of Vision Transformers: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They offer a flexible and scalable approach to image recognition, benefiting from the parallel processing capabilities of transformers.</a:t>
                </a:r>
              </a:p>
              <a:p>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can handle large-scale image data efficiently, making them suitable for various computer vision applications.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comprehensive understanding of the Vision Transformer architecture, highlighting its innovative approach to image recognition by adapting the transformer model for vision tasks. Understanding this concept is crucial for appreciating the versatility and power of transformers in domains beyond NLP.</a:t>
                </a:r>
              </a:p>
              <a:p>
                <a:pPr marL="0" lvl="0" indent="0" algn="l" rtl="0">
                  <a:lnSpc>
                    <a:spcPct val="100000"/>
                  </a:lnSpc>
                  <a:spcBef>
                    <a:spcPts val="0"/>
                  </a:spcBef>
                  <a:spcAft>
                    <a:spcPts val="0"/>
                  </a:spcAft>
                  <a:buSzPts val="1400"/>
                  <a:buNone/>
                </a:pPr>
                <a:endParaRPr dirty="0"/>
              </a:p>
            </p:txBody>
          </p:sp>
        </mc:Choice>
        <mc:Fallback>
          <p:sp>
            <p:nvSpPr>
              <p:cNvPr id="1520" name="Google Shape;152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Vision Transformer (</a:t>
                </a:r>
                <a:r>
                  <a:rPr lang="en-US" sz="1200" b="1" i="0" u="none" strike="noStrike" cap="none" dirty="0" err="1">
                    <a:solidFill>
                      <a:schemeClr val="dk1"/>
                    </a:solidFill>
                    <a:effectLst/>
                    <a:latin typeface="Calibri"/>
                    <a:ea typeface="Calibri"/>
                    <a:cs typeface="Calibri"/>
                    <a:sym typeface="Calibri"/>
                  </a:rPr>
                  <a:t>ViT</a:t>
                </a:r>
                <a:r>
                  <a:rPr lang="en-US" sz="1200" b="1" i="0" u="none" strike="noStrike" cap="none" dirty="0">
                    <a:solidFill>
                      <a:schemeClr val="dk1"/>
                    </a:solidFill>
                    <a:effectLst/>
                    <a:latin typeface="Calibri"/>
                    <a:ea typeface="Calibri"/>
                    <a:cs typeface="Calibri"/>
                    <a:sym typeface="Calibri"/>
                  </a:rPr>
                  <a:t>) Architecture:</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Image Patches: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input image is divided into </a:t>
                </a:r>
                <a:r>
                  <a:rPr lang="en-US" sz="1200" b="0" i="0" u="none" strike="noStrike" cap="none">
                    <a:solidFill>
                      <a:schemeClr val="dk1"/>
                    </a:solidFill>
                    <a:latin typeface="Calibri"/>
                    <a:ea typeface="Calibri"/>
                    <a:cs typeface="Calibri"/>
                    <a:sym typeface="Calibri"/>
                  </a:rPr>
                  <a:t>𝑁</a:t>
                </a:r>
                <a:r>
                  <a:rPr lang="en-US" sz="1200" b="0" i="0" u="none" strike="noStrike" cap="none" dirty="0">
                    <a:solidFill>
                      <a:schemeClr val="dk1"/>
                    </a:solidFill>
                    <a:effectLst/>
                    <a:latin typeface="Calibri"/>
                    <a:ea typeface="Calibri"/>
                    <a:cs typeface="Calibri"/>
                    <a:sym typeface="Calibri"/>
                  </a:rPr>
                  <a:t> non-overlapping patches, each of size </a:t>
                </a:r>
                <a:r>
                  <a:rPr lang="en-US" sz="1200" b="0" i="0" u="none" strike="noStrike" cap="none">
                    <a:solidFill>
                      <a:schemeClr val="dk1"/>
                    </a:solidFill>
                    <a:latin typeface="Calibri"/>
                    <a:ea typeface="Calibri"/>
                    <a:cs typeface="Calibri"/>
                    <a:sym typeface="Calibri"/>
                  </a:rPr>
                  <a:t>3×16×16</a:t>
                </a:r>
                <a:r>
                  <a:rPr lang="en-US" sz="1200" b="0" i="0" u="none" strike="noStrike" cap="none" dirty="0">
                    <a:solidFill>
                      <a:schemeClr val="dk1"/>
                    </a:solidFill>
                    <a:effectLst/>
                    <a:latin typeface="Calibri"/>
                    <a:ea typeface="Calibri"/>
                    <a:cs typeface="Calibri"/>
                    <a:sym typeface="Calibri"/>
                  </a:rPr>
                  <a:t> (3 channels for RGB, and 16x16 pixels per patch).</a:t>
                </a:r>
              </a:p>
              <a:p>
                <a:pPr lvl="1"/>
                <a:r>
                  <a:rPr lang="en-US" sz="1200" b="0" i="0" u="none" strike="noStrike" cap="none" dirty="0">
                    <a:solidFill>
                      <a:schemeClr val="dk1"/>
                    </a:solidFill>
                    <a:effectLst/>
                    <a:latin typeface="Calibri"/>
                    <a:ea typeface="Calibri"/>
                    <a:cs typeface="Calibri"/>
                    <a:sym typeface="Calibri"/>
                  </a:rPr>
                  <a:t>These patches are treated as input tokens, similar to words in a sentence for NLP tasks.</a:t>
                </a:r>
              </a:p>
              <a:p>
                <a:r>
                  <a:rPr lang="en-US" sz="1200" b="1" i="0" u="none" strike="noStrike" cap="none" dirty="0">
                    <a:solidFill>
                      <a:schemeClr val="dk1"/>
                    </a:solidFill>
                    <a:effectLst/>
                    <a:latin typeface="Calibri"/>
                    <a:ea typeface="Calibri"/>
                    <a:cs typeface="Calibri"/>
                    <a:sym typeface="Calibri"/>
                  </a:rPr>
                  <a:t>Linear Projection: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patch is flattened and linearly projected into a </a:t>
                </a:r>
                <a:r>
                  <a:rPr lang="en-US" sz="1200" b="0" i="0" u="none" strike="noStrike" cap="none">
                    <a:solidFill>
                      <a:schemeClr val="dk1"/>
                    </a:solidFill>
                    <a:latin typeface="Calibri"/>
                    <a:ea typeface="Calibri"/>
                    <a:cs typeface="Calibri"/>
                    <a:sym typeface="Calibri"/>
                  </a:rPr>
                  <a:t>𝐷</a:t>
                </a:r>
                <a:r>
                  <a:rPr lang="en-US" sz="1200" b="0" i="0" u="none" strike="noStrike" cap="none" dirty="0">
                    <a:solidFill>
                      <a:schemeClr val="dk1"/>
                    </a:solidFill>
                    <a:effectLst/>
                    <a:latin typeface="Calibri"/>
                    <a:ea typeface="Calibri"/>
                    <a:cs typeface="Calibri"/>
                    <a:sym typeface="Calibri"/>
                  </a:rPr>
                  <a:t>-dimensional vector, creating a patch embedding.</a:t>
                </a:r>
              </a:p>
              <a:p>
                <a:pPr lvl="1"/>
                <a:r>
                  <a:rPr lang="en-US" sz="1200" b="0" i="0" u="none" strike="noStrike" cap="none" dirty="0">
                    <a:solidFill>
                      <a:schemeClr val="dk1"/>
                    </a:solidFill>
                    <a:effectLst/>
                    <a:latin typeface="Calibri"/>
                    <a:ea typeface="Calibri"/>
                    <a:cs typeface="Calibri"/>
                    <a:sym typeface="Calibri"/>
                  </a:rPr>
                  <a:t>This step is analogous to creating word embeddings in NLP.</a:t>
                </a:r>
              </a:p>
              <a:p>
                <a:r>
                  <a:rPr lang="en-US" sz="1200" b="1" i="0" u="none" strike="noStrike" cap="none" dirty="0">
                    <a:solidFill>
                      <a:schemeClr val="dk1"/>
                    </a:solidFill>
                    <a:effectLst/>
                    <a:latin typeface="Calibri"/>
                    <a:ea typeface="Calibri"/>
                    <a:cs typeface="Calibri"/>
                    <a:sym typeface="Calibri"/>
                  </a:rPr>
                  <a:t>Positional Embeddings: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Positional embeddings are added to each patch embedding to incorporate information about the position of each patch in the image.</a:t>
                </a:r>
              </a:p>
              <a:p>
                <a:pPr lvl="1"/>
                <a:r>
                  <a:rPr lang="en-US" sz="1200" b="0" i="0" u="none" strike="noStrike" cap="none" dirty="0">
                    <a:solidFill>
                      <a:schemeClr val="dk1"/>
                    </a:solidFill>
                    <a:effectLst/>
                    <a:latin typeface="Calibri"/>
                    <a:ea typeface="Calibri"/>
                    <a:cs typeface="Calibri"/>
                    <a:sym typeface="Calibri"/>
                  </a:rPr>
                  <a:t>These embeddings are learned </a:t>
                </a:r>
                <a:r>
                  <a:rPr lang="en-US" sz="1200" b="0" i="0" u="none" strike="noStrike" cap="none">
                    <a:solidFill>
                      <a:schemeClr val="dk1"/>
                    </a:solidFill>
                    <a:latin typeface="Calibri"/>
                    <a:ea typeface="Calibri"/>
                    <a:cs typeface="Calibri"/>
                    <a:sym typeface="Calibri"/>
                  </a:rPr>
                  <a:t>𝐷</a:t>
                </a:r>
                <a:r>
                  <a:rPr lang="en-US" sz="1200" b="0" i="0" u="none" strike="noStrike" cap="none" dirty="0">
                    <a:solidFill>
                      <a:schemeClr val="dk1"/>
                    </a:solidFill>
                    <a:effectLst/>
                    <a:latin typeface="Calibri"/>
                    <a:ea typeface="Calibri"/>
                    <a:cs typeface="Calibri"/>
                    <a:sym typeface="Calibri"/>
                  </a:rPr>
                  <a:t>-dimensional vectors, ensuring the model can capture the spatial structure of the image.</a:t>
                </a:r>
              </a:p>
              <a:p>
                <a:r>
                  <a:rPr lang="en-US" sz="1200" b="1" i="0" u="none" strike="noStrike" cap="none" dirty="0">
                    <a:solidFill>
                      <a:schemeClr val="dk1"/>
                    </a:solidFill>
                    <a:effectLst/>
                    <a:latin typeface="Calibri"/>
                    <a:ea typeface="Calibri"/>
                    <a:cs typeface="Calibri"/>
                    <a:sym typeface="Calibri"/>
                  </a:rPr>
                  <a:t>Transformer Processing: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sequence of patch embeddings, along with a special classification token, is fed into a transformer model.</a:t>
                </a:r>
              </a:p>
              <a:p>
                <a:pPr lvl="1"/>
                <a:r>
                  <a:rPr lang="en-US" sz="1200" b="0" i="0" u="none" strike="noStrike" cap="none" dirty="0">
                    <a:solidFill>
                      <a:schemeClr val="dk1"/>
                    </a:solidFill>
                    <a:effectLst/>
                    <a:latin typeface="Calibri"/>
                    <a:ea typeface="Calibri"/>
                    <a:cs typeface="Calibri"/>
                    <a:sym typeface="Calibri"/>
                  </a:rPr>
                  <a:t>The transformer applies self-attention and feedforward operations to capture dependencies and relationships between patches.</a:t>
                </a:r>
              </a:p>
              <a:p>
                <a:r>
                  <a:rPr lang="en-US" sz="1200" b="1" i="0" u="none" strike="noStrike" cap="none" dirty="0">
                    <a:solidFill>
                      <a:schemeClr val="dk1"/>
                    </a:solidFill>
                    <a:effectLst/>
                    <a:latin typeface="Calibri"/>
                    <a:ea typeface="Calibri"/>
                    <a:cs typeface="Calibri"/>
                    <a:sym typeface="Calibri"/>
                  </a:rPr>
                  <a:t>MLPs and 1x1 Convolutions: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slide notes that the MLPs in the transformer can be thought of as stacks of 1x1 convolutions. This is a conceptual way to understand how MLPs operate on each patch independently, similar to how 1x1 convolutions process each pixel or patch.</a:t>
                </a:r>
              </a:p>
              <a:p>
                <a:r>
                  <a:rPr lang="en-US" sz="1200" b="1" i="0" u="none" strike="noStrike" cap="none" dirty="0">
                    <a:solidFill>
                      <a:schemeClr val="dk1"/>
                    </a:solidFill>
                    <a:effectLst/>
                    <a:latin typeface="Calibri"/>
                    <a:ea typeface="Calibri"/>
                    <a:cs typeface="Calibri"/>
                    <a:sym typeface="Calibri"/>
                  </a:rPr>
                  <a:t>Classification Token: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 special classification token is prepended to the sequence of patch embeddings. This token aggregates information from all patches and is used for the final classification task.</a:t>
                </a:r>
              </a:p>
              <a:p>
                <a:r>
                  <a:rPr lang="en-US" sz="1200" b="1" i="0" u="none" strike="noStrike" cap="none" dirty="0">
                    <a:solidFill>
                      <a:schemeClr val="dk1"/>
                    </a:solidFill>
                    <a:effectLst/>
                    <a:latin typeface="Calibri"/>
                    <a:ea typeface="Calibri"/>
                    <a:cs typeface="Calibri"/>
                    <a:sym typeface="Calibri"/>
                  </a:rPr>
                  <a:t>Output and Classification: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output of the transformer is a set of vectors, including the transformed classification token.</a:t>
                </a:r>
              </a:p>
              <a:p>
                <a:pPr lvl="1"/>
                <a:r>
                  <a:rPr lang="en-US" sz="1200" b="0" i="0" u="none" strike="noStrike" cap="none" dirty="0">
                    <a:solidFill>
                      <a:schemeClr val="dk1"/>
                    </a:solidFill>
                    <a:effectLst/>
                    <a:latin typeface="Calibri"/>
                    <a:ea typeface="Calibri"/>
                    <a:cs typeface="Calibri"/>
                    <a:sym typeface="Calibri"/>
                  </a:rPr>
                  <a:t>A linear layer projects the classification token to a </a:t>
                </a:r>
                <a:r>
                  <a:rPr lang="en-US" sz="1200" b="0" i="0" u="none" strike="noStrike" cap="none">
                    <a:solidFill>
                      <a:schemeClr val="dk1"/>
                    </a:solidFill>
                    <a:latin typeface="Calibri"/>
                    <a:ea typeface="Calibri"/>
                    <a:cs typeface="Calibri"/>
                    <a:sym typeface="Calibri"/>
                  </a:rPr>
                  <a:t>𝐶</a:t>
                </a:r>
                <a:r>
                  <a:rPr lang="en-US" sz="1200" b="0" i="0" u="none" strike="noStrike" cap="none" dirty="0">
                    <a:solidFill>
                      <a:schemeClr val="dk1"/>
                    </a:solidFill>
                    <a:effectLst/>
                    <a:latin typeface="Calibri"/>
                    <a:ea typeface="Calibri"/>
                    <a:cs typeface="Calibri"/>
                    <a:sym typeface="Calibri"/>
                  </a:rPr>
                  <a:t>-dimensional vector, representing the predicted class scores.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Vision Transformer leverages the transformer architecture's ability to model long-range dependencies and interactions, applying it to image data without relying on traditional convolutions.</a:t>
                </a:r>
              </a:p>
              <a:p>
                <a:r>
                  <a:rPr lang="en-US" sz="1200" b="0" i="0" u="none" strike="noStrike" cap="none" dirty="0">
                    <a:solidFill>
                      <a:schemeClr val="dk1"/>
                    </a:solidFill>
                    <a:effectLst/>
                    <a:latin typeface="Calibri"/>
                    <a:ea typeface="Calibri"/>
                    <a:cs typeface="Calibri"/>
                    <a:sym typeface="Calibri"/>
                  </a:rPr>
                  <a:t>By treating image patches as tokens,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can effectively capture both local and global features, leading to competitive performance on image recognition tasks.</a:t>
                </a:r>
              </a:p>
              <a:p>
                <a:r>
                  <a:rPr lang="en-US" sz="1200" b="1" i="0" u="none" strike="noStrike" cap="none" dirty="0">
                    <a:solidFill>
                      <a:schemeClr val="dk1"/>
                    </a:solidFill>
                    <a:effectLst/>
                    <a:latin typeface="Calibri"/>
                    <a:ea typeface="Calibri"/>
                    <a:cs typeface="Calibri"/>
                    <a:sym typeface="Calibri"/>
                  </a:rPr>
                  <a:t>Benefits of Vision Transformers: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They offer a flexible and scalable approach to image recognition, benefiting from the parallel processing capabilities of transformers.</a:t>
                </a:r>
              </a:p>
              <a:p>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can handle large-scale image data efficiently, making them suitable for various computer vision applications.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comprehensive understanding of the Vision Transformer architecture, highlighting its innovative approach to image recognition by adapting the transformer model for vision tasks. Understanding this concept is crucial for appreciating the versatility and power of transformers in domains beyond NLP.</a:t>
                </a:r>
              </a:p>
              <a:p>
                <a:pPr marL="0" lvl="0" indent="0" algn="l" rtl="0">
                  <a:lnSpc>
                    <a:spcPct val="100000"/>
                  </a:lnSpc>
                  <a:spcBef>
                    <a:spcPts val="0"/>
                  </a:spcBef>
                  <a:spcAft>
                    <a:spcPts val="0"/>
                  </a:spcAft>
                  <a:buSzPts val="1400"/>
                  <a:buNone/>
                </a:pPr>
                <a:endParaRPr dirty="0"/>
              </a:p>
            </p:txBody>
          </p:sp>
        </mc:Fallback>
      </mc:AlternateContent>
      <p:sp>
        <p:nvSpPr>
          <p:cNvPr id="1521" name="Google Shape;152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5"/>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666" name="Google Shape;1666;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Slide Explanation: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Vision Transformer (</a:t>
                </a:r>
                <a:r>
                  <a:rPr lang="en-US" sz="1200" b="1" i="0" u="none" strike="noStrike" cap="none" dirty="0" err="1">
                    <a:solidFill>
                      <a:schemeClr val="dk1"/>
                    </a:solidFill>
                    <a:effectLst/>
                    <a:latin typeface="Calibri"/>
                    <a:ea typeface="Calibri"/>
                    <a:cs typeface="Calibri"/>
                    <a:sym typeface="Calibri"/>
                  </a:rPr>
                  <a:t>ViT</a:t>
                </a:r>
                <a:r>
                  <a:rPr lang="en-US" sz="1200" b="1" i="0" u="none" strike="noStrike" cap="none" dirty="0">
                    <a:solidFill>
                      <a:schemeClr val="dk1"/>
                    </a:solidFill>
                    <a:effectLst/>
                    <a:latin typeface="Calibri"/>
                    <a:ea typeface="Calibri"/>
                    <a:cs typeface="Calibri"/>
                    <a:sym typeface="Calibri"/>
                  </a:rPr>
                  <a:t>) Architecture:</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Image Patching: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 typical input image of size </a:t>
                </a:r>
                <a14:m>
                  <m:oMath xmlns:m="http://schemas.openxmlformats.org/officeDocument/2006/math">
                    <m:r>
                      <a:rPr lang="en-US" sz="1200" b="0" i="0" u="none" strike="noStrike" cap="none">
                        <a:solidFill>
                          <a:schemeClr val="dk1"/>
                        </a:solidFill>
                        <a:latin typeface="Calibri"/>
                        <a:ea typeface="Calibri"/>
                        <a:cs typeface="Calibri"/>
                        <a:sym typeface="Calibri"/>
                      </a:rPr>
                      <m:t>224</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224</m:t>
                    </m:r>
                  </m:oMath>
                </a14:m>
                <a:r>
                  <a:rPr lang="en-US" sz="1200" b="0" i="0" u="none" strike="noStrike" cap="none" dirty="0">
                    <a:solidFill>
                      <a:schemeClr val="dk1"/>
                    </a:solidFill>
                    <a:effectLst/>
                    <a:latin typeface="Calibri"/>
                    <a:ea typeface="Calibri"/>
                    <a:cs typeface="Calibri"/>
                    <a:sym typeface="Calibri"/>
                  </a:rPr>
                  <a:t> pixels is divided into a grid of patches. For example, it can be divided into a </a:t>
                </a:r>
                <a14:m>
                  <m:oMath xmlns:m="http://schemas.openxmlformats.org/officeDocument/2006/math">
                    <m:r>
                      <a:rPr lang="en-US" sz="1200" b="0" i="0" u="none" strike="noStrike" cap="none">
                        <a:solidFill>
                          <a:schemeClr val="dk1"/>
                        </a:solidFill>
                        <a:latin typeface="Calibri"/>
                        <a:ea typeface="Calibri"/>
                        <a:cs typeface="Calibri"/>
                        <a:sym typeface="Calibri"/>
                      </a:rPr>
                      <m:t>14</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14</m:t>
                    </m:r>
                  </m:oMath>
                </a14:m>
                <a:r>
                  <a:rPr lang="en-US" sz="1200" b="0" i="0" u="none" strike="noStrike" cap="none" dirty="0">
                    <a:solidFill>
                      <a:schemeClr val="dk1"/>
                    </a:solidFill>
                    <a:effectLst/>
                    <a:latin typeface="Calibri"/>
                    <a:ea typeface="Calibri"/>
                    <a:cs typeface="Calibri"/>
                    <a:sym typeface="Calibri"/>
                  </a:rPr>
                  <a:t> grid of </a:t>
                </a:r>
                <a14:m>
                  <m:oMath xmlns:m="http://schemas.openxmlformats.org/officeDocument/2006/math">
                    <m:r>
                      <a:rPr lang="en-US" sz="1200" b="0" i="0" u="none" strike="noStrike" cap="none">
                        <a:solidFill>
                          <a:schemeClr val="dk1"/>
                        </a:solidFill>
                        <a:latin typeface="Calibri"/>
                        <a:ea typeface="Calibri"/>
                        <a:cs typeface="Calibri"/>
                        <a:sym typeface="Calibri"/>
                      </a:rPr>
                      <m:t>16</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16</m:t>
                    </m:r>
                  </m:oMath>
                </a14:m>
                <a:r>
                  <a:rPr lang="en-US" sz="1200" b="0" i="0" u="none" strike="noStrike" cap="none" dirty="0">
                    <a:solidFill>
                      <a:schemeClr val="dk1"/>
                    </a:solidFill>
                    <a:effectLst/>
                    <a:latin typeface="Calibri"/>
                    <a:ea typeface="Calibri"/>
                    <a:cs typeface="Calibri"/>
                    <a:sym typeface="Calibri"/>
                  </a:rPr>
                  <a:t> pixel patches.</a:t>
                </a:r>
              </a:p>
              <a:p>
                <a:pPr lvl="1"/>
                <a:r>
                  <a:rPr lang="en-US" sz="1200" b="0" i="0" u="none" strike="noStrike" cap="none" dirty="0">
                    <a:solidFill>
                      <a:schemeClr val="dk1"/>
                    </a:solidFill>
                    <a:effectLst/>
                    <a:latin typeface="Calibri"/>
                    <a:ea typeface="Calibri"/>
                    <a:cs typeface="Calibri"/>
                    <a:sym typeface="Calibri"/>
                  </a:rPr>
                  <a:t>Alternatively, a </a:t>
                </a:r>
                <a14:m>
                  <m:oMath xmlns:m="http://schemas.openxmlformats.org/officeDocument/2006/math">
                    <m:r>
                      <a:rPr lang="en-US" sz="1200" b="0" i="0" u="none" strike="noStrike" cap="none">
                        <a:solidFill>
                          <a:schemeClr val="dk1"/>
                        </a:solidFill>
                        <a:latin typeface="Calibri"/>
                        <a:ea typeface="Calibri"/>
                        <a:cs typeface="Calibri"/>
                        <a:sym typeface="Calibri"/>
                      </a:rPr>
                      <m:t>16</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16</m:t>
                    </m:r>
                  </m:oMath>
                </a14:m>
                <a:r>
                  <a:rPr lang="en-US" sz="1200" b="0" i="0" u="none" strike="noStrike" cap="none" dirty="0">
                    <a:solidFill>
                      <a:schemeClr val="dk1"/>
                    </a:solidFill>
                    <a:effectLst/>
                    <a:latin typeface="Calibri"/>
                    <a:ea typeface="Calibri"/>
                    <a:cs typeface="Calibri"/>
                    <a:sym typeface="Calibri"/>
                  </a:rPr>
                  <a:t> grid of </a:t>
                </a:r>
                <a14:m>
                  <m:oMath xmlns:m="http://schemas.openxmlformats.org/officeDocument/2006/math">
                    <m:r>
                      <a:rPr lang="en-US" sz="1200" b="0" i="0" u="none" strike="noStrike" cap="none">
                        <a:solidFill>
                          <a:schemeClr val="dk1"/>
                        </a:solidFill>
                        <a:latin typeface="Calibri"/>
                        <a:ea typeface="Calibri"/>
                        <a:cs typeface="Calibri"/>
                        <a:sym typeface="Calibri"/>
                      </a:rPr>
                      <m:t>14</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14</m:t>
                    </m:r>
                  </m:oMath>
                </a14:m>
                <a:r>
                  <a:rPr lang="en-US" sz="1200" b="0" i="0" u="none" strike="noStrike" cap="none" dirty="0">
                    <a:solidFill>
                      <a:schemeClr val="dk1"/>
                    </a:solidFill>
                    <a:effectLst/>
                    <a:latin typeface="Calibri"/>
                    <a:ea typeface="Calibri"/>
                    <a:cs typeface="Calibri"/>
                    <a:sym typeface="Calibri"/>
                  </a:rPr>
                  <a:t> patches can be used, depending on the implementation.</a:t>
                </a:r>
              </a:p>
              <a:p>
                <a:r>
                  <a:rPr lang="en-US" sz="1200" b="1" i="0" u="none" strike="noStrike" cap="none" dirty="0">
                    <a:solidFill>
                      <a:schemeClr val="dk1"/>
                    </a:solidFill>
                    <a:effectLst/>
                    <a:latin typeface="Calibri"/>
                    <a:ea typeface="Calibri"/>
                    <a:cs typeface="Calibri"/>
                    <a:sym typeface="Calibri"/>
                  </a:rPr>
                  <a:t>Patch Embeddings: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patch is flattened and linearly projected into a </a:t>
                </a:r>
                <a14:m>
                  <m:oMath xmlns:m="http://schemas.openxmlformats.org/officeDocument/2006/math">
                    <m:r>
                      <a:rPr lang="en-US" sz="1200" b="0" i="1" u="none" strike="noStrike" cap="none">
                        <a:solidFill>
                          <a:schemeClr val="dk1"/>
                        </a:solidFill>
                        <a:latin typeface="Calibri"/>
                        <a:ea typeface="Calibri"/>
                        <a:cs typeface="Calibri"/>
                        <a:sym typeface="Calibri"/>
                      </a:rPr>
                      <m:t>𝐷</m:t>
                    </m:r>
                  </m:oMath>
                </a14:m>
                <a:r>
                  <a:rPr lang="en-US" sz="1200" b="0" i="0" u="none" strike="noStrike" cap="none" dirty="0">
                    <a:solidFill>
                      <a:schemeClr val="dk1"/>
                    </a:solidFill>
                    <a:effectLst/>
                    <a:latin typeface="Calibri"/>
                    <a:ea typeface="Calibri"/>
                    <a:cs typeface="Calibri"/>
                    <a:sym typeface="Calibri"/>
                  </a:rPr>
                  <a:t>-dimensional vector, creating a patch embedding.</a:t>
                </a:r>
              </a:p>
              <a:p>
                <a:pPr lvl="1"/>
                <a:r>
                  <a:rPr lang="en-US" sz="1200" b="0" i="0" u="none" strike="noStrike" cap="none" dirty="0">
                    <a:solidFill>
                      <a:schemeClr val="dk1"/>
                    </a:solidFill>
                    <a:effectLst/>
                    <a:latin typeface="Calibri"/>
                    <a:ea typeface="Calibri"/>
                    <a:cs typeface="Calibri"/>
                    <a:sym typeface="Calibri"/>
                  </a:rPr>
                  <a:t>Positional embeddings are added to each patch embedding to incorporate spatial information.</a:t>
                </a:r>
              </a:p>
              <a:p>
                <a:r>
                  <a:rPr lang="en-US" sz="1200" b="1" i="0" u="none" strike="noStrike" cap="none" dirty="0">
                    <a:solidFill>
                      <a:schemeClr val="dk1"/>
                    </a:solidFill>
                    <a:effectLst/>
                    <a:latin typeface="Calibri"/>
                    <a:ea typeface="Calibri"/>
                    <a:cs typeface="Calibri"/>
                    <a:sym typeface="Calibri"/>
                  </a:rPr>
                  <a:t>Transformer Processing: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sequence of patch embeddings, along with a special classification token, is fed into a transformer model.</a:t>
                </a:r>
              </a:p>
              <a:p>
                <a:pPr lvl="1"/>
                <a:r>
                  <a:rPr lang="en-US" sz="1200" b="0" i="0" u="none" strike="noStrike" cap="none" dirty="0">
                    <a:solidFill>
                      <a:schemeClr val="dk1"/>
                    </a:solidFill>
                    <a:effectLst/>
                    <a:latin typeface="Calibri"/>
                    <a:ea typeface="Calibri"/>
                    <a:cs typeface="Calibri"/>
                    <a:sym typeface="Calibri"/>
                  </a:rPr>
                  <a:t>The transformer applies self-attention and feedforward operations to capture dependencies and relationships between patches.</a:t>
                </a:r>
              </a:p>
              <a:p>
                <a:r>
                  <a:rPr lang="en-US" sz="1200" b="1" i="0" u="none" strike="noStrike" cap="none" dirty="0">
                    <a:solidFill>
                      <a:schemeClr val="dk1"/>
                    </a:solidFill>
                    <a:effectLst/>
                    <a:latin typeface="Calibri"/>
                    <a:ea typeface="Calibri"/>
                    <a:cs typeface="Calibri"/>
                    <a:sym typeface="Calibri"/>
                  </a:rPr>
                  <a:t>Attention Matrix Size: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attention matrix in the transformer has </a:t>
                </a:r>
                <a14:m>
                  <m:oMath xmlns:m="http://schemas.openxmlformats.org/officeDocument/2006/math">
                    <m:r>
                      <a:rPr lang="en-US" sz="1200" b="0" i="0" u="none" strike="noStrike" cap="none">
                        <a:solidFill>
                          <a:schemeClr val="dk1"/>
                        </a:solidFill>
                        <a:latin typeface="Calibri"/>
                        <a:ea typeface="Calibri"/>
                        <a:cs typeface="Calibri"/>
                        <a:sym typeface="Calibri"/>
                      </a:rPr>
                      <m:t>1</m:t>
                    </m:r>
                    <m:sSup>
                      <m:sSupPr>
                        <m:ctrlPr>
                          <a:rPr lang="ar-AE" sz="1200" b="0" i="1" u="none" strike="noStrike" cap="none">
                            <a:solidFill>
                              <a:schemeClr val="dk1"/>
                            </a:solidFill>
                            <a:latin typeface="Calibri"/>
                            <a:ea typeface="Calibri"/>
                            <a:cs typeface="Calibri"/>
                            <a:sym typeface="Calibri"/>
                          </a:rPr>
                        </m:ctrlPr>
                      </m:sSupPr>
                      <m:e>
                        <m:r>
                          <a:rPr lang="ar-AE" sz="1200" b="0" i="0" u="none" strike="noStrike" cap="none">
                            <a:solidFill>
                              <a:schemeClr val="dk1"/>
                            </a:solidFill>
                            <a:latin typeface="Calibri"/>
                            <a:ea typeface="Calibri"/>
                            <a:cs typeface="Calibri"/>
                            <a:sym typeface="Calibri"/>
                          </a:rPr>
                          <m:t>4</m:t>
                        </m:r>
                      </m:e>
                      <m:sup>
                        <m:r>
                          <a:rPr lang="ar-AE" sz="1200" b="0" i="0" u="none" strike="noStrike" cap="none">
                            <a:solidFill>
                              <a:schemeClr val="dk1"/>
                            </a:solidFill>
                            <a:latin typeface="Calibri"/>
                            <a:ea typeface="Calibri"/>
                            <a:cs typeface="Calibri"/>
                            <a:sym typeface="Calibri"/>
                          </a:rPr>
                          <m:t>4</m:t>
                        </m:r>
                      </m:sup>
                    </m:sSup>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38</m:t>
                    </m:r>
                    <m:r>
                      <a:rPr lang="ar-AE" sz="1200" b="0" i="0" u="none" strike="noStrike" cap="none">
                        <a:solidFill>
                          <a:schemeClr val="dk1"/>
                        </a:solidFill>
                        <a:latin typeface="Calibri"/>
                        <a:ea typeface="Calibri"/>
                        <a:cs typeface="Calibri"/>
                        <a:sym typeface="Calibri"/>
                      </a:rPr>
                      <m:t>,</m:t>
                    </m:r>
                    <m:r>
                      <a:rPr lang="ar-AE" sz="1200" b="0" i="0" u="none" strike="noStrike" cap="none">
                        <a:solidFill>
                          <a:schemeClr val="dk1"/>
                        </a:solidFill>
                        <a:latin typeface="Calibri"/>
                        <a:ea typeface="Calibri"/>
                        <a:cs typeface="Calibri"/>
                        <a:sym typeface="Calibri"/>
                      </a:rPr>
                      <m:t>416</m:t>
                    </m:r>
                  </m:oMath>
                </a14:m>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entries, which takes approximately 150 KB of memory.</a:t>
                </a:r>
              </a:p>
              <a:p>
                <a:pPr lvl="1"/>
                <a:r>
                  <a:rPr lang="en-US" sz="1200" b="0" i="0" u="none" strike="noStrike" cap="none" dirty="0">
                    <a:solidFill>
                      <a:schemeClr val="dk1"/>
                    </a:solidFill>
                    <a:effectLst/>
                    <a:latin typeface="Calibri"/>
                    <a:ea typeface="Calibri"/>
                    <a:cs typeface="Calibri"/>
                    <a:sym typeface="Calibri"/>
                  </a:rPr>
                  <a:t>If using a </a:t>
                </a:r>
                <a14:m>
                  <m:oMath xmlns:m="http://schemas.openxmlformats.org/officeDocument/2006/math">
                    <m:r>
                      <a:rPr lang="en-US" sz="1200" b="0" i="0" u="none" strike="noStrike" cap="none">
                        <a:solidFill>
                          <a:schemeClr val="dk1"/>
                        </a:solidFill>
                        <a:latin typeface="Calibri"/>
                        <a:ea typeface="Calibri"/>
                        <a:cs typeface="Calibri"/>
                        <a:sym typeface="Calibri"/>
                      </a:rPr>
                      <m:t>16</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16</m:t>
                    </m:r>
                  </m:oMath>
                </a14:m>
                <a:r>
                  <a:rPr lang="en-US" sz="1200" b="0" i="0" u="none" strike="noStrike" cap="none" dirty="0">
                    <a:solidFill>
                      <a:schemeClr val="dk1"/>
                    </a:solidFill>
                    <a:effectLst/>
                    <a:latin typeface="Calibri"/>
                    <a:ea typeface="Calibri"/>
                    <a:cs typeface="Calibri"/>
                    <a:sym typeface="Calibri"/>
                  </a:rPr>
                  <a:t> grid, the attention matrix has </a:t>
                </a:r>
                <a14:m>
                  <m:oMath xmlns:m="http://schemas.openxmlformats.org/officeDocument/2006/math">
                    <m:r>
                      <a:rPr lang="en-US" sz="1200" b="0" i="0" u="none" strike="noStrike" cap="none">
                        <a:solidFill>
                          <a:schemeClr val="dk1"/>
                        </a:solidFill>
                        <a:latin typeface="Calibri"/>
                        <a:ea typeface="Calibri"/>
                        <a:cs typeface="Calibri"/>
                        <a:sym typeface="Calibri"/>
                      </a:rPr>
                      <m:t>65</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536</m:t>
                    </m:r>
                  </m:oMath>
                </a14:m>
                <a:r>
                  <a:rPr lang="en-US" sz="1200" b="0" i="0" u="none" strike="noStrike" cap="none" dirty="0">
                    <a:solidFill>
                      <a:schemeClr val="dk1"/>
                    </a:solidFill>
                    <a:effectLst/>
                    <a:latin typeface="Calibri"/>
                    <a:ea typeface="Calibri"/>
                    <a:cs typeface="Calibri"/>
                    <a:sym typeface="Calibri"/>
                  </a:rPr>
                  <a:t> entries, taking approximately 256 KB.</a:t>
                </a:r>
              </a:p>
              <a:p>
                <a:r>
                  <a:rPr lang="en-US" sz="1200" b="1" i="0" u="none" strike="noStrike" cap="none" dirty="0">
                    <a:solidFill>
                      <a:schemeClr val="dk1"/>
                    </a:solidFill>
                    <a:effectLst/>
                    <a:latin typeface="Calibri"/>
                    <a:ea typeface="Calibri"/>
                    <a:cs typeface="Calibri"/>
                    <a:sym typeface="Calibri"/>
                  </a:rPr>
                  <a:t>Output and Classification: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output of the transformer includes a set of vectors, with the classification token being used for the final classification task.</a:t>
                </a:r>
              </a:p>
              <a:p>
                <a:pPr lvl="1"/>
                <a:r>
                  <a:rPr lang="en-US" sz="1200" b="0" i="0" u="none" strike="noStrike" cap="none" dirty="0">
                    <a:solidFill>
                      <a:schemeClr val="dk1"/>
                    </a:solidFill>
                    <a:effectLst/>
                    <a:latin typeface="Calibri"/>
                    <a:ea typeface="Calibri"/>
                    <a:cs typeface="Calibri"/>
                    <a:sym typeface="Calibri"/>
                  </a:rPr>
                  <a:t>A linear layer projects the classification token to a </a:t>
                </a:r>
                <a14:m>
                  <m:oMath xmlns:m="http://schemas.openxmlformats.org/officeDocument/2006/math">
                    <m:r>
                      <a:rPr lang="en-US" sz="1200" b="0" i="1" u="none" strike="noStrike" cap="none">
                        <a:solidFill>
                          <a:schemeClr val="dk1"/>
                        </a:solidFill>
                        <a:latin typeface="Calibri"/>
                        <a:ea typeface="Calibri"/>
                        <a:cs typeface="Calibri"/>
                        <a:sym typeface="Calibri"/>
                      </a:rPr>
                      <m:t>𝐶</m:t>
                    </m:r>
                  </m:oMath>
                </a14:m>
                <a:r>
                  <a:rPr lang="en-US" sz="1200" b="0" i="0" u="none" strike="noStrike" cap="none" dirty="0">
                    <a:solidFill>
                      <a:schemeClr val="dk1"/>
                    </a:solidFill>
                    <a:effectLst/>
                    <a:latin typeface="Calibri"/>
                    <a:ea typeface="Calibri"/>
                    <a:cs typeface="Calibri"/>
                    <a:sym typeface="Calibri"/>
                  </a:rPr>
                  <a:t>-dimensional vector, representing the predicted class scores.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Vision Transformer leverages the transformer architecture's ability to model long-range dependencies and interactions, applying it to image data without relying on traditional convolutions.</a:t>
                </a:r>
              </a:p>
              <a:p>
                <a:r>
                  <a:rPr lang="en-US" sz="1200" b="0" i="0" u="none" strike="noStrike" cap="none" dirty="0">
                    <a:solidFill>
                      <a:schemeClr val="dk1"/>
                    </a:solidFill>
                    <a:effectLst/>
                    <a:latin typeface="Calibri"/>
                    <a:ea typeface="Calibri"/>
                    <a:cs typeface="Calibri"/>
                    <a:sym typeface="Calibri"/>
                  </a:rPr>
                  <a:t>By treating image patches as tokens,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can effectively capture both local and global features, leading to competitive performance on image recognition tasks.</a:t>
                </a:r>
              </a:p>
              <a:p>
                <a:r>
                  <a:rPr lang="en-US" sz="1200" b="1" i="0" u="none" strike="noStrike" cap="none" dirty="0">
                    <a:solidFill>
                      <a:schemeClr val="dk1"/>
                    </a:solidFill>
                    <a:effectLst/>
                    <a:latin typeface="Calibri"/>
                    <a:ea typeface="Calibri"/>
                    <a:cs typeface="Calibri"/>
                    <a:sym typeface="Calibri"/>
                  </a:rPr>
                  <a:t>Benefits of Vision Transformers: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They offer a flexible and scalable approach to image recognition, benefiting from the parallel processing capabilities of transformers.</a:t>
                </a:r>
              </a:p>
              <a:p>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can handle large-scale image data efficiently, making them suitable for various computer vision applications.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comprehensive understanding of the Vision Transformer architecture, highlighting its innovative approach to image recognition by adapting the transformer model for vision tasks. Understanding this concept is crucial for appreciating the versatility and power of transformers in domains beyond NLP.</a:t>
                </a:r>
              </a:p>
              <a:p>
                <a:pPr marL="0" lvl="0" indent="0" algn="l" rtl="0">
                  <a:lnSpc>
                    <a:spcPct val="100000"/>
                  </a:lnSpc>
                  <a:spcBef>
                    <a:spcPts val="0"/>
                  </a:spcBef>
                  <a:spcAft>
                    <a:spcPts val="0"/>
                  </a:spcAft>
                  <a:buSzPts val="1400"/>
                  <a:buNone/>
                </a:pPr>
                <a:endParaRPr dirty="0"/>
              </a:p>
            </p:txBody>
          </p:sp>
        </mc:Choice>
        <mc:Fallback>
          <p:sp>
            <p:nvSpPr>
              <p:cNvPr id="1666" name="Google Shape;1666;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Slide Explanation: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Vision Transformer (</a:t>
                </a:r>
                <a:r>
                  <a:rPr lang="en-US" sz="1200" b="1" i="0" u="none" strike="noStrike" cap="none" dirty="0" err="1">
                    <a:solidFill>
                      <a:schemeClr val="dk1"/>
                    </a:solidFill>
                    <a:effectLst/>
                    <a:latin typeface="Calibri"/>
                    <a:ea typeface="Calibri"/>
                    <a:cs typeface="Calibri"/>
                    <a:sym typeface="Calibri"/>
                  </a:rPr>
                  <a:t>ViT</a:t>
                </a:r>
                <a:r>
                  <a:rPr lang="en-US" sz="1200" b="1" i="0" u="none" strike="noStrike" cap="none" dirty="0">
                    <a:solidFill>
                      <a:schemeClr val="dk1"/>
                    </a:solidFill>
                    <a:effectLst/>
                    <a:latin typeface="Calibri"/>
                    <a:ea typeface="Calibri"/>
                    <a:cs typeface="Calibri"/>
                    <a:sym typeface="Calibri"/>
                  </a:rPr>
                  <a:t>) Architecture:</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Image Patching: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 typical input image of size </a:t>
                </a:r>
                <a:r>
                  <a:rPr lang="en-US" sz="1200" b="0" i="0" u="none" strike="noStrike" cap="none">
                    <a:solidFill>
                      <a:schemeClr val="dk1"/>
                    </a:solidFill>
                    <a:latin typeface="Calibri"/>
                    <a:ea typeface="Calibri"/>
                    <a:cs typeface="Calibri"/>
                    <a:sym typeface="Calibri"/>
                  </a:rPr>
                  <a:t>224×224</a:t>
                </a:r>
                <a:r>
                  <a:rPr lang="en-US" sz="1200" b="0" i="0" u="none" strike="noStrike" cap="none" dirty="0">
                    <a:solidFill>
                      <a:schemeClr val="dk1"/>
                    </a:solidFill>
                    <a:effectLst/>
                    <a:latin typeface="Calibri"/>
                    <a:ea typeface="Calibri"/>
                    <a:cs typeface="Calibri"/>
                    <a:sym typeface="Calibri"/>
                  </a:rPr>
                  <a:t> pixels is divided into a grid of patches. For example, it can be divided into a </a:t>
                </a:r>
                <a:r>
                  <a:rPr lang="en-US" sz="1200" b="0" i="0" u="none" strike="noStrike" cap="none">
                    <a:solidFill>
                      <a:schemeClr val="dk1"/>
                    </a:solidFill>
                    <a:latin typeface="Calibri"/>
                    <a:ea typeface="Calibri"/>
                    <a:cs typeface="Calibri"/>
                    <a:sym typeface="Calibri"/>
                  </a:rPr>
                  <a:t>14×14</a:t>
                </a:r>
                <a:r>
                  <a:rPr lang="en-US" sz="1200" b="0" i="0" u="none" strike="noStrike" cap="none" dirty="0">
                    <a:solidFill>
                      <a:schemeClr val="dk1"/>
                    </a:solidFill>
                    <a:effectLst/>
                    <a:latin typeface="Calibri"/>
                    <a:ea typeface="Calibri"/>
                    <a:cs typeface="Calibri"/>
                    <a:sym typeface="Calibri"/>
                  </a:rPr>
                  <a:t> grid of </a:t>
                </a:r>
                <a:r>
                  <a:rPr lang="en-US" sz="1200" b="0" i="0" u="none" strike="noStrike" cap="none">
                    <a:solidFill>
                      <a:schemeClr val="dk1"/>
                    </a:solidFill>
                    <a:latin typeface="Calibri"/>
                    <a:ea typeface="Calibri"/>
                    <a:cs typeface="Calibri"/>
                    <a:sym typeface="Calibri"/>
                  </a:rPr>
                  <a:t>16×16</a:t>
                </a:r>
                <a:r>
                  <a:rPr lang="en-US" sz="1200" b="0" i="0" u="none" strike="noStrike" cap="none" dirty="0">
                    <a:solidFill>
                      <a:schemeClr val="dk1"/>
                    </a:solidFill>
                    <a:effectLst/>
                    <a:latin typeface="Calibri"/>
                    <a:ea typeface="Calibri"/>
                    <a:cs typeface="Calibri"/>
                    <a:sym typeface="Calibri"/>
                  </a:rPr>
                  <a:t> pixel patches.</a:t>
                </a:r>
              </a:p>
              <a:p>
                <a:pPr lvl="1"/>
                <a:r>
                  <a:rPr lang="en-US" sz="1200" b="0" i="0" u="none" strike="noStrike" cap="none" dirty="0">
                    <a:solidFill>
                      <a:schemeClr val="dk1"/>
                    </a:solidFill>
                    <a:effectLst/>
                    <a:latin typeface="Calibri"/>
                    <a:ea typeface="Calibri"/>
                    <a:cs typeface="Calibri"/>
                    <a:sym typeface="Calibri"/>
                  </a:rPr>
                  <a:t>Alternatively, a </a:t>
                </a:r>
                <a:r>
                  <a:rPr lang="en-US" sz="1200" b="0" i="0" u="none" strike="noStrike" cap="none">
                    <a:solidFill>
                      <a:schemeClr val="dk1"/>
                    </a:solidFill>
                    <a:latin typeface="Calibri"/>
                    <a:ea typeface="Calibri"/>
                    <a:cs typeface="Calibri"/>
                    <a:sym typeface="Calibri"/>
                  </a:rPr>
                  <a:t>16×16</a:t>
                </a:r>
                <a:r>
                  <a:rPr lang="en-US" sz="1200" b="0" i="0" u="none" strike="noStrike" cap="none" dirty="0">
                    <a:solidFill>
                      <a:schemeClr val="dk1"/>
                    </a:solidFill>
                    <a:effectLst/>
                    <a:latin typeface="Calibri"/>
                    <a:ea typeface="Calibri"/>
                    <a:cs typeface="Calibri"/>
                    <a:sym typeface="Calibri"/>
                  </a:rPr>
                  <a:t> grid of </a:t>
                </a:r>
                <a:r>
                  <a:rPr lang="en-US" sz="1200" b="0" i="0" u="none" strike="noStrike" cap="none">
                    <a:solidFill>
                      <a:schemeClr val="dk1"/>
                    </a:solidFill>
                    <a:latin typeface="Calibri"/>
                    <a:ea typeface="Calibri"/>
                    <a:cs typeface="Calibri"/>
                    <a:sym typeface="Calibri"/>
                  </a:rPr>
                  <a:t>14×14</a:t>
                </a:r>
                <a:r>
                  <a:rPr lang="en-US" sz="1200" b="0" i="0" u="none" strike="noStrike" cap="none" dirty="0">
                    <a:solidFill>
                      <a:schemeClr val="dk1"/>
                    </a:solidFill>
                    <a:effectLst/>
                    <a:latin typeface="Calibri"/>
                    <a:ea typeface="Calibri"/>
                    <a:cs typeface="Calibri"/>
                    <a:sym typeface="Calibri"/>
                  </a:rPr>
                  <a:t> patches can be used, depending on the implementation.</a:t>
                </a:r>
              </a:p>
              <a:p>
                <a:r>
                  <a:rPr lang="en-US" sz="1200" b="1" i="0" u="none" strike="noStrike" cap="none" dirty="0">
                    <a:solidFill>
                      <a:schemeClr val="dk1"/>
                    </a:solidFill>
                    <a:effectLst/>
                    <a:latin typeface="Calibri"/>
                    <a:ea typeface="Calibri"/>
                    <a:cs typeface="Calibri"/>
                    <a:sym typeface="Calibri"/>
                  </a:rPr>
                  <a:t>Patch Embeddings: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patch is flattened and linearly projected into a </a:t>
                </a:r>
                <a:r>
                  <a:rPr lang="en-US" sz="1200" b="0" i="0" u="none" strike="noStrike" cap="none">
                    <a:solidFill>
                      <a:schemeClr val="dk1"/>
                    </a:solidFill>
                    <a:latin typeface="Calibri"/>
                    <a:ea typeface="Calibri"/>
                    <a:cs typeface="Calibri"/>
                    <a:sym typeface="Calibri"/>
                  </a:rPr>
                  <a:t>𝐷</a:t>
                </a:r>
                <a:r>
                  <a:rPr lang="en-US" sz="1200" b="0" i="0" u="none" strike="noStrike" cap="none" dirty="0">
                    <a:solidFill>
                      <a:schemeClr val="dk1"/>
                    </a:solidFill>
                    <a:effectLst/>
                    <a:latin typeface="Calibri"/>
                    <a:ea typeface="Calibri"/>
                    <a:cs typeface="Calibri"/>
                    <a:sym typeface="Calibri"/>
                  </a:rPr>
                  <a:t>-dimensional vector, creating a patch embedding.</a:t>
                </a:r>
              </a:p>
              <a:p>
                <a:pPr lvl="1"/>
                <a:r>
                  <a:rPr lang="en-US" sz="1200" b="0" i="0" u="none" strike="noStrike" cap="none" dirty="0">
                    <a:solidFill>
                      <a:schemeClr val="dk1"/>
                    </a:solidFill>
                    <a:effectLst/>
                    <a:latin typeface="Calibri"/>
                    <a:ea typeface="Calibri"/>
                    <a:cs typeface="Calibri"/>
                    <a:sym typeface="Calibri"/>
                  </a:rPr>
                  <a:t>Positional embeddings are added to each patch embedding to incorporate spatial information.</a:t>
                </a:r>
              </a:p>
              <a:p>
                <a:r>
                  <a:rPr lang="en-US" sz="1200" b="1" i="0" u="none" strike="noStrike" cap="none" dirty="0">
                    <a:solidFill>
                      <a:schemeClr val="dk1"/>
                    </a:solidFill>
                    <a:effectLst/>
                    <a:latin typeface="Calibri"/>
                    <a:ea typeface="Calibri"/>
                    <a:cs typeface="Calibri"/>
                    <a:sym typeface="Calibri"/>
                  </a:rPr>
                  <a:t>Transformer Processing: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sequence of patch embeddings, along with a special classification token, is fed into a transformer model.</a:t>
                </a:r>
              </a:p>
              <a:p>
                <a:pPr lvl="1"/>
                <a:r>
                  <a:rPr lang="en-US" sz="1200" b="0" i="0" u="none" strike="noStrike" cap="none" dirty="0">
                    <a:solidFill>
                      <a:schemeClr val="dk1"/>
                    </a:solidFill>
                    <a:effectLst/>
                    <a:latin typeface="Calibri"/>
                    <a:ea typeface="Calibri"/>
                    <a:cs typeface="Calibri"/>
                    <a:sym typeface="Calibri"/>
                  </a:rPr>
                  <a:t>The transformer applies self-attention and feedforward operations to capture dependencies and relationships between patches.</a:t>
                </a:r>
              </a:p>
              <a:p>
                <a:r>
                  <a:rPr lang="en-US" sz="1200" b="1" i="0" u="none" strike="noStrike" cap="none" dirty="0">
                    <a:solidFill>
                      <a:schemeClr val="dk1"/>
                    </a:solidFill>
                    <a:effectLst/>
                    <a:latin typeface="Calibri"/>
                    <a:ea typeface="Calibri"/>
                    <a:cs typeface="Calibri"/>
                    <a:sym typeface="Calibri"/>
                  </a:rPr>
                  <a:t>Attention Matrix Size: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attention matrix in the transformer has </a:t>
                </a:r>
                <a:r>
                  <a:rPr lang="en-US" sz="1200" b="0" i="0" u="none" strike="noStrike" cap="none">
                    <a:solidFill>
                      <a:schemeClr val="dk1"/>
                    </a:solidFill>
                    <a:latin typeface="Calibri"/>
                    <a:ea typeface="Calibri"/>
                    <a:cs typeface="Calibri"/>
                    <a:sym typeface="Calibri"/>
                  </a:rPr>
                  <a:t>1</a:t>
                </a:r>
                <a:r>
                  <a:rPr lang="ar-AE" sz="1200" b="0" i="0" u="none" strike="noStrike" cap="none">
                    <a:solidFill>
                      <a:schemeClr val="dk1"/>
                    </a:solidFill>
                    <a:latin typeface="Calibri"/>
                    <a:ea typeface="Calibri"/>
                    <a:cs typeface="Calibri"/>
                    <a:sym typeface="Calibri"/>
                  </a:rPr>
                  <a:t>4^4=38,416</a:t>
                </a:r>
                <a:r>
                  <a:rPr lang="ar-AE" sz="1200" b="0" i="0" u="none" strike="noStrike" cap="none" dirty="0">
                    <a:solidFill>
                      <a:schemeClr val="dk1"/>
                    </a:solidFill>
                    <a:effectLst/>
                    <a:latin typeface="Calibri"/>
                    <a:ea typeface="Calibri"/>
                    <a:cs typeface="Calibri"/>
                    <a:sym typeface="Calibri"/>
                  </a:rPr>
                  <a:t> </a:t>
                </a:r>
                <a:r>
                  <a:rPr lang="en-US" sz="1200" b="0" i="0" u="none" strike="noStrike" cap="none" dirty="0">
                    <a:solidFill>
                      <a:schemeClr val="dk1"/>
                    </a:solidFill>
                    <a:effectLst/>
                    <a:latin typeface="Calibri"/>
                    <a:ea typeface="Calibri"/>
                    <a:cs typeface="Calibri"/>
                    <a:sym typeface="Calibri"/>
                  </a:rPr>
                  <a:t>entries, which takes approximately 150 KB of memory.</a:t>
                </a:r>
              </a:p>
              <a:p>
                <a:pPr lvl="1"/>
                <a:r>
                  <a:rPr lang="en-US" sz="1200" b="0" i="0" u="none" strike="noStrike" cap="none" dirty="0">
                    <a:solidFill>
                      <a:schemeClr val="dk1"/>
                    </a:solidFill>
                    <a:effectLst/>
                    <a:latin typeface="Calibri"/>
                    <a:ea typeface="Calibri"/>
                    <a:cs typeface="Calibri"/>
                    <a:sym typeface="Calibri"/>
                  </a:rPr>
                  <a:t>If using a </a:t>
                </a:r>
                <a:r>
                  <a:rPr lang="en-US" sz="1200" b="0" i="0" u="none" strike="noStrike" cap="none">
                    <a:solidFill>
                      <a:schemeClr val="dk1"/>
                    </a:solidFill>
                    <a:latin typeface="Calibri"/>
                    <a:ea typeface="Calibri"/>
                    <a:cs typeface="Calibri"/>
                    <a:sym typeface="Calibri"/>
                  </a:rPr>
                  <a:t>16×16</a:t>
                </a:r>
                <a:r>
                  <a:rPr lang="en-US" sz="1200" b="0" i="0" u="none" strike="noStrike" cap="none" dirty="0">
                    <a:solidFill>
                      <a:schemeClr val="dk1"/>
                    </a:solidFill>
                    <a:effectLst/>
                    <a:latin typeface="Calibri"/>
                    <a:ea typeface="Calibri"/>
                    <a:cs typeface="Calibri"/>
                    <a:sym typeface="Calibri"/>
                  </a:rPr>
                  <a:t> grid, the attention matrix has </a:t>
                </a:r>
                <a:r>
                  <a:rPr lang="en-US" sz="1200" b="0" i="0" u="none" strike="noStrike" cap="none">
                    <a:solidFill>
                      <a:schemeClr val="dk1"/>
                    </a:solidFill>
                    <a:latin typeface="Calibri"/>
                    <a:ea typeface="Calibri"/>
                    <a:cs typeface="Calibri"/>
                    <a:sym typeface="Calibri"/>
                  </a:rPr>
                  <a:t>65,536</a:t>
                </a:r>
                <a:r>
                  <a:rPr lang="en-US" sz="1200" b="0" i="0" u="none" strike="noStrike" cap="none" dirty="0">
                    <a:solidFill>
                      <a:schemeClr val="dk1"/>
                    </a:solidFill>
                    <a:effectLst/>
                    <a:latin typeface="Calibri"/>
                    <a:ea typeface="Calibri"/>
                    <a:cs typeface="Calibri"/>
                    <a:sym typeface="Calibri"/>
                  </a:rPr>
                  <a:t> entries, taking approximately 256 KB.</a:t>
                </a:r>
              </a:p>
              <a:p>
                <a:r>
                  <a:rPr lang="en-US" sz="1200" b="1" i="0" u="none" strike="noStrike" cap="none" dirty="0">
                    <a:solidFill>
                      <a:schemeClr val="dk1"/>
                    </a:solidFill>
                    <a:effectLst/>
                    <a:latin typeface="Calibri"/>
                    <a:ea typeface="Calibri"/>
                    <a:cs typeface="Calibri"/>
                    <a:sym typeface="Calibri"/>
                  </a:rPr>
                  <a:t>Output and Classification: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output of the transformer includes a set of vectors, with the classification token being used for the final classification task.</a:t>
                </a:r>
              </a:p>
              <a:p>
                <a:pPr lvl="1"/>
                <a:r>
                  <a:rPr lang="en-US" sz="1200" b="0" i="0" u="none" strike="noStrike" cap="none" dirty="0">
                    <a:solidFill>
                      <a:schemeClr val="dk1"/>
                    </a:solidFill>
                    <a:effectLst/>
                    <a:latin typeface="Calibri"/>
                    <a:ea typeface="Calibri"/>
                    <a:cs typeface="Calibri"/>
                    <a:sym typeface="Calibri"/>
                  </a:rPr>
                  <a:t>A linear layer projects the classification token to a </a:t>
                </a:r>
                <a:r>
                  <a:rPr lang="en-US" sz="1200" b="0" i="0" u="none" strike="noStrike" cap="none">
                    <a:solidFill>
                      <a:schemeClr val="dk1"/>
                    </a:solidFill>
                    <a:latin typeface="Calibri"/>
                    <a:ea typeface="Calibri"/>
                    <a:cs typeface="Calibri"/>
                    <a:sym typeface="Calibri"/>
                  </a:rPr>
                  <a:t>𝐶</a:t>
                </a:r>
                <a:r>
                  <a:rPr lang="en-US" sz="1200" b="0" i="0" u="none" strike="noStrike" cap="none" dirty="0">
                    <a:solidFill>
                      <a:schemeClr val="dk1"/>
                    </a:solidFill>
                    <a:effectLst/>
                    <a:latin typeface="Calibri"/>
                    <a:ea typeface="Calibri"/>
                    <a:cs typeface="Calibri"/>
                    <a:sym typeface="Calibri"/>
                  </a:rPr>
                  <a:t>-dimensional vector, representing the predicted class scores.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Vision Transformer leverages the transformer architecture's ability to model long-range dependencies and interactions, applying it to image data without relying on traditional convolutions.</a:t>
                </a:r>
              </a:p>
              <a:p>
                <a:r>
                  <a:rPr lang="en-US" sz="1200" b="0" i="0" u="none" strike="noStrike" cap="none" dirty="0">
                    <a:solidFill>
                      <a:schemeClr val="dk1"/>
                    </a:solidFill>
                    <a:effectLst/>
                    <a:latin typeface="Calibri"/>
                    <a:ea typeface="Calibri"/>
                    <a:cs typeface="Calibri"/>
                    <a:sym typeface="Calibri"/>
                  </a:rPr>
                  <a:t>By treating image patches as tokens,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can effectively capture both local and global features, leading to competitive performance on image recognition tasks.</a:t>
                </a:r>
              </a:p>
              <a:p>
                <a:r>
                  <a:rPr lang="en-US" sz="1200" b="1" i="0" u="none" strike="noStrike" cap="none" dirty="0">
                    <a:solidFill>
                      <a:schemeClr val="dk1"/>
                    </a:solidFill>
                    <a:effectLst/>
                    <a:latin typeface="Calibri"/>
                    <a:ea typeface="Calibri"/>
                    <a:cs typeface="Calibri"/>
                    <a:sym typeface="Calibri"/>
                  </a:rPr>
                  <a:t>Benefits of Vision Transformers: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They offer a flexible and scalable approach to image recognition, benefiting from the parallel processing capabilities of transformers.</a:t>
                </a:r>
              </a:p>
              <a:p>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can handle large-scale image data efficiently, making them suitable for various computer vision applications.</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comprehensive understanding of the Vision Transformer architecture, highlighting its innovative approach to image recognition by adapting the transformer model for vision tasks. Understanding this concept is crucial for appreciating the versatility and power of transformers in domains beyond NLP.</a:t>
                </a:r>
              </a:p>
              <a:p>
                <a:pPr marL="0" lvl="0" indent="0" algn="l" rtl="0">
                  <a:lnSpc>
                    <a:spcPct val="100000"/>
                  </a:lnSpc>
                  <a:spcBef>
                    <a:spcPts val="0"/>
                  </a:spcBef>
                  <a:spcAft>
                    <a:spcPts val="0"/>
                  </a:spcAft>
                  <a:buSzPts val="1400"/>
                  <a:buNone/>
                </a:pPr>
                <a:endParaRPr dirty="0"/>
              </a:p>
            </p:txBody>
          </p:sp>
        </mc:Fallback>
      </mc:AlternateContent>
      <p:sp>
        <p:nvSpPr>
          <p:cNvPr id="1667" name="Google Shape;166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2"/>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813" name="Google Shape;1813;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Vision Transformer (</a:t>
                </a:r>
                <a:r>
                  <a:rPr lang="en-US" sz="1200" b="1" i="0" u="none" strike="noStrike" cap="none" dirty="0" err="1">
                    <a:solidFill>
                      <a:schemeClr val="dk1"/>
                    </a:solidFill>
                    <a:effectLst/>
                    <a:latin typeface="Calibri"/>
                    <a:ea typeface="Calibri"/>
                    <a:cs typeface="Calibri"/>
                    <a:sym typeface="Calibri"/>
                  </a:rPr>
                  <a:t>ViT</a:t>
                </a:r>
                <a:r>
                  <a:rPr lang="en-US" sz="1200" b="1" i="0" u="none" strike="noStrike" cap="none" dirty="0">
                    <a:solidFill>
                      <a:schemeClr val="dk1"/>
                    </a:solidFill>
                    <a:effectLst/>
                    <a:latin typeface="Calibri"/>
                    <a:ea typeface="Calibri"/>
                    <a:cs typeface="Calibri"/>
                    <a:sym typeface="Calibri"/>
                  </a:rPr>
                  <a:t>) Architecture:</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Image Patching: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 typical input image of size </a:t>
                </a:r>
                <a14:m>
                  <m:oMath xmlns:m="http://schemas.openxmlformats.org/officeDocument/2006/math">
                    <m:r>
                      <a:rPr lang="en-US" sz="1200" b="0" i="0" u="none" strike="noStrike" cap="none">
                        <a:solidFill>
                          <a:schemeClr val="dk1"/>
                        </a:solidFill>
                        <a:latin typeface="Calibri"/>
                        <a:ea typeface="Calibri"/>
                        <a:cs typeface="Calibri"/>
                        <a:sym typeface="Calibri"/>
                      </a:rPr>
                      <m:t>224</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224</m:t>
                    </m:r>
                  </m:oMath>
                </a14:m>
                <a:r>
                  <a:rPr lang="en-US" sz="1200" b="0" i="0" u="none" strike="noStrike" cap="none" dirty="0">
                    <a:solidFill>
                      <a:schemeClr val="dk1"/>
                    </a:solidFill>
                    <a:effectLst/>
                    <a:latin typeface="Calibri"/>
                    <a:ea typeface="Calibri"/>
                    <a:cs typeface="Calibri"/>
                    <a:sym typeface="Calibri"/>
                  </a:rPr>
                  <a:t> pixels is divided into a grid of patches. For example, it can be divided into a </a:t>
                </a:r>
                <a14:m>
                  <m:oMath xmlns:m="http://schemas.openxmlformats.org/officeDocument/2006/math">
                    <m:r>
                      <a:rPr lang="en-US" sz="1200" b="0" i="0" u="none" strike="noStrike" cap="none">
                        <a:solidFill>
                          <a:schemeClr val="dk1"/>
                        </a:solidFill>
                        <a:latin typeface="Calibri"/>
                        <a:ea typeface="Calibri"/>
                        <a:cs typeface="Calibri"/>
                        <a:sym typeface="Calibri"/>
                      </a:rPr>
                      <m:t>14</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14</m:t>
                    </m:r>
                  </m:oMath>
                </a14:m>
                <a:r>
                  <a:rPr lang="en-US" sz="1200" b="0" i="0" u="none" strike="noStrike" cap="none" dirty="0">
                    <a:solidFill>
                      <a:schemeClr val="dk1"/>
                    </a:solidFill>
                    <a:effectLst/>
                    <a:latin typeface="Calibri"/>
                    <a:ea typeface="Calibri"/>
                    <a:cs typeface="Calibri"/>
                    <a:sym typeface="Calibri"/>
                  </a:rPr>
                  <a:t> grid of </a:t>
                </a:r>
                <a14:m>
                  <m:oMath xmlns:m="http://schemas.openxmlformats.org/officeDocument/2006/math">
                    <m:r>
                      <a:rPr lang="en-US" sz="1200" b="0" i="0" u="none" strike="noStrike" cap="none">
                        <a:solidFill>
                          <a:schemeClr val="dk1"/>
                        </a:solidFill>
                        <a:latin typeface="Calibri"/>
                        <a:ea typeface="Calibri"/>
                        <a:cs typeface="Calibri"/>
                        <a:sym typeface="Calibri"/>
                      </a:rPr>
                      <m:t>16</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16</m:t>
                    </m:r>
                  </m:oMath>
                </a14:m>
                <a:r>
                  <a:rPr lang="en-US" sz="1200" b="0" i="0" u="none" strike="noStrike" cap="none" dirty="0">
                    <a:solidFill>
                      <a:schemeClr val="dk1"/>
                    </a:solidFill>
                    <a:effectLst/>
                    <a:latin typeface="Calibri"/>
                    <a:ea typeface="Calibri"/>
                    <a:cs typeface="Calibri"/>
                    <a:sym typeface="Calibri"/>
                  </a:rPr>
                  <a:t> pixel patches.</a:t>
                </a:r>
              </a:p>
              <a:p>
                <a:pPr lvl="1"/>
                <a:r>
                  <a:rPr lang="en-US" sz="1200" b="0" i="0" u="none" strike="noStrike" cap="none" dirty="0">
                    <a:solidFill>
                      <a:schemeClr val="dk1"/>
                    </a:solidFill>
                    <a:effectLst/>
                    <a:latin typeface="Calibri"/>
                    <a:ea typeface="Calibri"/>
                    <a:cs typeface="Calibri"/>
                    <a:sym typeface="Calibri"/>
                  </a:rPr>
                  <a:t>Alternatively, a </a:t>
                </a:r>
                <a14:m>
                  <m:oMath xmlns:m="http://schemas.openxmlformats.org/officeDocument/2006/math">
                    <m:r>
                      <a:rPr lang="en-US" sz="1200" b="0" i="0" u="none" strike="noStrike" cap="none">
                        <a:solidFill>
                          <a:schemeClr val="dk1"/>
                        </a:solidFill>
                        <a:latin typeface="Calibri"/>
                        <a:ea typeface="Calibri"/>
                        <a:cs typeface="Calibri"/>
                        <a:sym typeface="Calibri"/>
                      </a:rPr>
                      <m:t>16</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16</m:t>
                    </m:r>
                  </m:oMath>
                </a14:m>
                <a:r>
                  <a:rPr lang="en-US" sz="1200" b="0" i="0" u="none" strike="noStrike" cap="none" dirty="0">
                    <a:solidFill>
                      <a:schemeClr val="dk1"/>
                    </a:solidFill>
                    <a:effectLst/>
                    <a:latin typeface="Calibri"/>
                    <a:ea typeface="Calibri"/>
                    <a:cs typeface="Calibri"/>
                    <a:sym typeface="Calibri"/>
                  </a:rPr>
                  <a:t> grid of </a:t>
                </a:r>
                <a14:m>
                  <m:oMath xmlns:m="http://schemas.openxmlformats.org/officeDocument/2006/math">
                    <m:r>
                      <a:rPr lang="en-US" sz="1200" b="0" i="0" u="none" strike="noStrike" cap="none">
                        <a:solidFill>
                          <a:schemeClr val="dk1"/>
                        </a:solidFill>
                        <a:latin typeface="Calibri"/>
                        <a:ea typeface="Calibri"/>
                        <a:cs typeface="Calibri"/>
                        <a:sym typeface="Calibri"/>
                      </a:rPr>
                      <m:t>14</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14</m:t>
                    </m:r>
                  </m:oMath>
                </a14:m>
                <a:r>
                  <a:rPr lang="en-US" sz="1200" b="0" i="0" u="none" strike="noStrike" cap="none" dirty="0">
                    <a:solidFill>
                      <a:schemeClr val="dk1"/>
                    </a:solidFill>
                    <a:effectLst/>
                    <a:latin typeface="Calibri"/>
                    <a:ea typeface="Calibri"/>
                    <a:cs typeface="Calibri"/>
                    <a:sym typeface="Calibri"/>
                  </a:rPr>
                  <a:t> patches can be used, depending on the implementation.</a:t>
                </a:r>
              </a:p>
              <a:p>
                <a:r>
                  <a:rPr lang="en-US" sz="1200" b="1" i="0" u="none" strike="noStrike" cap="none" dirty="0">
                    <a:solidFill>
                      <a:schemeClr val="dk1"/>
                    </a:solidFill>
                    <a:effectLst/>
                    <a:latin typeface="Calibri"/>
                    <a:ea typeface="Calibri"/>
                    <a:cs typeface="Calibri"/>
                    <a:sym typeface="Calibri"/>
                  </a:rPr>
                  <a:t>Patch Embeddings: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patch is flattened and linearly projected into a </a:t>
                </a:r>
                <a14:m>
                  <m:oMath xmlns:m="http://schemas.openxmlformats.org/officeDocument/2006/math">
                    <m:r>
                      <a:rPr lang="en-US" sz="1200" b="0" i="1" u="none" strike="noStrike" cap="none">
                        <a:solidFill>
                          <a:schemeClr val="dk1"/>
                        </a:solidFill>
                        <a:latin typeface="Calibri"/>
                        <a:ea typeface="Calibri"/>
                        <a:cs typeface="Calibri"/>
                        <a:sym typeface="Calibri"/>
                      </a:rPr>
                      <m:t>𝐷</m:t>
                    </m:r>
                  </m:oMath>
                </a14:m>
                <a:r>
                  <a:rPr lang="en-US" sz="1200" b="0" i="0" u="none" strike="noStrike" cap="none" dirty="0">
                    <a:solidFill>
                      <a:schemeClr val="dk1"/>
                    </a:solidFill>
                    <a:effectLst/>
                    <a:latin typeface="Calibri"/>
                    <a:ea typeface="Calibri"/>
                    <a:cs typeface="Calibri"/>
                    <a:sym typeface="Calibri"/>
                  </a:rPr>
                  <a:t>-dimensional vector, creating a patch embedding.</a:t>
                </a:r>
              </a:p>
              <a:p>
                <a:pPr lvl="1"/>
                <a:r>
                  <a:rPr lang="en-US" sz="1200" b="0" i="0" u="none" strike="noStrike" cap="none" dirty="0">
                    <a:solidFill>
                      <a:schemeClr val="dk1"/>
                    </a:solidFill>
                    <a:effectLst/>
                    <a:latin typeface="Calibri"/>
                    <a:ea typeface="Calibri"/>
                    <a:cs typeface="Calibri"/>
                    <a:sym typeface="Calibri"/>
                  </a:rPr>
                  <a:t>Positional embeddings are added to each patch embedding to incorporate spatial information.</a:t>
                </a:r>
              </a:p>
              <a:p>
                <a:r>
                  <a:rPr lang="en-US" sz="1200" b="1" i="0" u="none" strike="noStrike" cap="none" dirty="0">
                    <a:solidFill>
                      <a:schemeClr val="dk1"/>
                    </a:solidFill>
                    <a:effectLst/>
                    <a:latin typeface="Calibri"/>
                    <a:ea typeface="Calibri"/>
                    <a:cs typeface="Calibri"/>
                    <a:sym typeface="Calibri"/>
                  </a:rPr>
                  <a:t>Transformer Processing: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sequence of patch embeddings, along with a special classification token, is fed into a transformer model.</a:t>
                </a:r>
              </a:p>
              <a:p>
                <a:pPr lvl="1"/>
                <a:r>
                  <a:rPr lang="en-US" sz="1200" b="0" i="0" u="none" strike="noStrike" cap="none" dirty="0">
                    <a:solidFill>
                      <a:schemeClr val="dk1"/>
                    </a:solidFill>
                    <a:effectLst/>
                    <a:latin typeface="Calibri"/>
                    <a:ea typeface="Calibri"/>
                    <a:cs typeface="Calibri"/>
                    <a:sym typeface="Calibri"/>
                  </a:rPr>
                  <a:t>The transformer applies self-attention and feedforward operations to capture dependencies and relationships between patches.</a:t>
                </a:r>
              </a:p>
              <a:p>
                <a:r>
                  <a:rPr lang="en-US" sz="1200" b="1" i="0" u="none" strike="noStrike" cap="none" dirty="0">
                    <a:solidFill>
                      <a:schemeClr val="dk1"/>
                    </a:solidFill>
                    <a:effectLst/>
                    <a:latin typeface="Calibri"/>
                    <a:ea typeface="Calibri"/>
                    <a:cs typeface="Calibri"/>
                    <a:sym typeface="Calibri"/>
                  </a:rPr>
                  <a:t>Attention Matrix Size and Memory:</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With 48 layers and 16 heads per layer, the attention matrices require significant memory.</a:t>
                </a:r>
              </a:p>
              <a:p>
                <a:pPr lvl="1"/>
                <a:r>
                  <a:rPr lang="en-US" sz="1200" b="0" i="0" u="none" strike="noStrike" cap="none" dirty="0">
                    <a:solidFill>
                      <a:schemeClr val="dk1"/>
                    </a:solidFill>
                    <a:effectLst/>
                    <a:latin typeface="Calibri"/>
                    <a:ea typeface="Calibri"/>
                    <a:cs typeface="Calibri"/>
                    <a:sym typeface="Calibri"/>
                  </a:rPr>
                  <a:t>All attention matrices together take approximately 112 MB of memory (or 192 MB, depending on the configuration).</a:t>
                </a:r>
              </a:p>
              <a:p>
                <a:r>
                  <a:rPr lang="en-US" sz="1200" b="1" i="0" u="none" strike="noStrike" cap="none" dirty="0">
                    <a:solidFill>
                      <a:schemeClr val="dk1"/>
                    </a:solidFill>
                    <a:effectLst/>
                    <a:latin typeface="Calibri"/>
                    <a:ea typeface="Calibri"/>
                    <a:cs typeface="Calibri"/>
                    <a:sym typeface="Calibri"/>
                  </a:rPr>
                  <a:t>Output and Classification: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output of the transformer includes a set of vectors, with the classification token being used for the final classification task.</a:t>
                </a:r>
              </a:p>
              <a:p>
                <a:pPr lvl="1"/>
                <a:r>
                  <a:rPr lang="en-US" sz="1200" b="0" i="0" u="none" strike="noStrike" cap="none" dirty="0">
                    <a:solidFill>
                      <a:schemeClr val="dk1"/>
                    </a:solidFill>
                    <a:effectLst/>
                    <a:latin typeface="Calibri"/>
                    <a:ea typeface="Calibri"/>
                    <a:cs typeface="Calibri"/>
                    <a:sym typeface="Calibri"/>
                  </a:rPr>
                  <a:t>A linear layer projects the classification token to a </a:t>
                </a:r>
                <a14:m>
                  <m:oMath xmlns:m="http://schemas.openxmlformats.org/officeDocument/2006/math">
                    <m:r>
                      <a:rPr lang="en-US" sz="1200" b="0" i="1" u="none" strike="noStrike" cap="none">
                        <a:solidFill>
                          <a:schemeClr val="dk1"/>
                        </a:solidFill>
                        <a:latin typeface="Calibri"/>
                        <a:ea typeface="Calibri"/>
                        <a:cs typeface="Calibri"/>
                        <a:sym typeface="Calibri"/>
                      </a:rPr>
                      <m:t>𝐶</m:t>
                    </m:r>
                  </m:oMath>
                </a14:m>
                <a:r>
                  <a:rPr lang="en-US" sz="1200" b="0" i="0" u="none" strike="noStrike" cap="none" dirty="0">
                    <a:solidFill>
                      <a:schemeClr val="dk1"/>
                    </a:solidFill>
                    <a:effectLst/>
                    <a:latin typeface="Calibri"/>
                    <a:ea typeface="Calibri"/>
                    <a:cs typeface="Calibri"/>
                    <a:sym typeface="Calibri"/>
                  </a:rPr>
                  <a:t>-dimensional vector, representing the predicted class scores.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Vision Transformer leverages the transformer architecture's ability to model long-range dependencies and interactions, applying it to image data without relying on traditional convolutions.</a:t>
                </a:r>
              </a:p>
              <a:p>
                <a:r>
                  <a:rPr lang="en-US" sz="1200" b="0" i="0" u="none" strike="noStrike" cap="none" dirty="0">
                    <a:solidFill>
                      <a:schemeClr val="dk1"/>
                    </a:solidFill>
                    <a:effectLst/>
                    <a:latin typeface="Calibri"/>
                    <a:ea typeface="Calibri"/>
                    <a:cs typeface="Calibri"/>
                    <a:sym typeface="Calibri"/>
                  </a:rPr>
                  <a:t>By treating image patches as tokens,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can effectively capture both local and global features, leading to competitive performance on image recognition tasks.</a:t>
                </a:r>
              </a:p>
              <a:p>
                <a:r>
                  <a:rPr lang="en-US" sz="1200" b="1" i="0" u="none" strike="noStrike" cap="none" dirty="0">
                    <a:solidFill>
                      <a:schemeClr val="dk1"/>
                    </a:solidFill>
                    <a:effectLst/>
                    <a:latin typeface="Calibri"/>
                    <a:ea typeface="Calibri"/>
                    <a:cs typeface="Calibri"/>
                    <a:sym typeface="Calibri"/>
                  </a:rPr>
                  <a:t>Benefits of Vision Transformers: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They offer a flexible and scalable approach to image recognition, benefiting from the parallel processing capabilities of transformers.</a:t>
                </a:r>
              </a:p>
              <a:p>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can handle large-scale image data efficiently, making them suitable for various computer vision applications.</a:t>
                </a:r>
              </a:p>
              <a:p>
                <a:r>
                  <a:rPr lang="en-US" sz="1200" b="1" i="0" u="none" strike="noStrike" cap="none" dirty="0">
                    <a:solidFill>
                      <a:schemeClr val="dk1"/>
                    </a:solidFill>
                    <a:effectLst/>
                    <a:latin typeface="Calibri"/>
                    <a:ea typeface="Calibri"/>
                    <a:cs typeface="Calibri"/>
                    <a:sym typeface="Calibri"/>
                  </a:rPr>
                  <a:t>Computational Considerations: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memory requirements for attention matrices are significant, especially with deep transformer architectures and multiple attention heads.</a:t>
                </a:r>
              </a:p>
              <a:p>
                <a:r>
                  <a:rPr lang="en-US" sz="1200" b="0" i="0" u="none" strike="noStrike" cap="none" dirty="0">
                    <a:solidFill>
                      <a:schemeClr val="dk1"/>
                    </a:solidFill>
                    <a:effectLst/>
                    <a:latin typeface="Calibri"/>
                    <a:ea typeface="Calibri"/>
                    <a:cs typeface="Calibri"/>
                    <a:sym typeface="Calibri"/>
                  </a:rPr>
                  <a:t>Efficient implementation and hardware considerations are important for deploying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at scale.</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comprehensive understanding of the Vision Transformer architecture, highlighting its innovative approach to image recognition by adapting the transformer model for vision tasks. Understanding this concept is crucial for appreciating the versatility and power of transformers in domains beyond NLP, as well as the computational considerations involved in their implementation.</a:t>
                </a:r>
              </a:p>
              <a:p>
                <a:pPr marL="0" lvl="0" indent="0" algn="l" rtl="0">
                  <a:lnSpc>
                    <a:spcPct val="100000"/>
                  </a:lnSpc>
                  <a:spcBef>
                    <a:spcPts val="0"/>
                  </a:spcBef>
                  <a:spcAft>
                    <a:spcPts val="0"/>
                  </a:spcAft>
                  <a:buSzPts val="1400"/>
                  <a:buNone/>
                </a:pPr>
                <a:endParaRPr dirty="0"/>
              </a:p>
            </p:txBody>
          </p:sp>
        </mc:Choice>
        <mc:Fallback>
          <p:sp>
            <p:nvSpPr>
              <p:cNvPr id="1813" name="Google Shape;1813;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Vision Transformer (</a:t>
                </a:r>
                <a:r>
                  <a:rPr lang="en-US" sz="1200" b="1" i="0" u="none" strike="noStrike" cap="none" dirty="0" err="1">
                    <a:solidFill>
                      <a:schemeClr val="dk1"/>
                    </a:solidFill>
                    <a:effectLst/>
                    <a:latin typeface="Calibri"/>
                    <a:ea typeface="Calibri"/>
                    <a:cs typeface="Calibri"/>
                    <a:sym typeface="Calibri"/>
                  </a:rPr>
                  <a:t>ViT</a:t>
                </a:r>
                <a:r>
                  <a:rPr lang="en-US" sz="1200" b="1" i="0" u="none" strike="noStrike" cap="none" dirty="0">
                    <a:solidFill>
                      <a:schemeClr val="dk1"/>
                    </a:solidFill>
                    <a:effectLst/>
                    <a:latin typeface="Calibri"/>
                    <a:ea typeface="Calibri"/>
                    <a:cs typeface="Calibri"/>
                    <a:sym typeface="Calibri"/>
                  </a:rPr>
                  <a:t>) Architecture:</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Image Patching: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 typical input image of size </a:t>
                </a:r>
                <a:r>
                  <a:rPr lang="en-US" sz="1200" b="0" i="0" u="none" strike="noStrike" cap="none">
                    <a:solidFill>
                      <a:schemeClr val="dk1"/>
                    </a:solidFill>
                    <a:latin typeface="Calibri"/>
                    <a:ea typeface="Calibri"/>
                    <a:cs typeface="Calibri"/>
                    <a:sym typeface="Calibri"/>
                  </a:rPr>
                  <a:t>224×224</a:t>
                </a:r>
                <a:r>
                  <a:rPr lang="en-US" sz="1200" b="0" i="0" u="none" strike="noStrike" cap="none" dirty="0">
                    <a:solidFill>
                      <a:schemeClr val="dk1"/>
                    </a:solidFill>
                    <a:effectLst/>
                    <a:latin typeface="Calibri"/>
                    <a:ea typeface="Calibri"/>
                    <a:cs typeface="Calibri"/>
                    <a:sym typeface="Calibri"/>
                  </a:rPr>
                  <a:t> pixels is divided into a grid of patches. For example, it can be divided into a </a:t>
                </a:r>
                <a:r>
                  <a:rPr lang="en-US" sz="1200" b="0" i="0" u="none" strike="noStrike" cap="none">
                    <a:solidFill>
                      <a:schemeClr val="dk1"/>
                    </a:solidFill>
                    <a:latin typeface="Calibri"/>
                    <a:ea typeface="Calibri"/>
                    <a:cs typeface="Calibri"/>
                    <a:sym typeface="Calibri"/>
                  </a:rPr>
                  <a:t>14×14</a:t>
                </a:r>
                <a:r>
                  <a:rPr lang="en-US" sz="1200" b="0" i="0" u="none" strike="noStrike" cap="none" dirty="0">
                    <a:solidFill>
                      <a:schemeClr val="dk1"/>
                    </a:solidFill>
                    <a:effectLst/>
                    <a:latin typeface="Calibri"/>
                    <a:ea typeface="Calibri"/>
                    <a:cs typeface="Calibri"/>
                    <a:sym typeface="Calibri"/>
                  </a:rPr>
                  <a:t> grid of </a:t>
                </a:r>
                <a:r>
                  <a:rPr lang="en-US" sz="1200" b="0" i="0" u="none" strike="noStrike" cap="none">
                    <a:solidFill>
                      <a:schemeClr val="dk1"/>
                    </a:solidFill>
                    <a:latin typeface="Calibri"/>
                    <a:ea typeface="Calibri"/>
                    <a:cs typeface="Calibri"/>
                    <a:sym typeface="Calibri"/>
                  </a:rPr>
                  <a:t>16×16</a:t>
                </a:r>
                <a:r>
                  <a:rPr lang="en-US" sz="1200" b="0" i="0" u="none" strike="noStrike" cap="none" dirty="0">
                    <a:solidFill>
                      <a:schemeClr val="dk1"/>
                    </a:solidFill>
                    <a:effectLst/>
                    <a:latin typeface="Calibri"/>
                    <a:ea typeface="Calibri"/>
                    <a:cs typeface="Calibri"/>
                    <a:sym typeface="Calibri"/>
                  </a:rPr>
                  <a:t> pixel patches.</a:t>
                </a:r>
              </a:p>
              <a:p>
                <a:pPr lvl="1"/>
                <a:r>
                  <a:rPr lang="en-US" sz="1200" b="0" i="0" u="none" strike="noStrike" cap="none" dirty="0">
                    <a:solidFill>
                      <a:schemeClr val="dk1"/>
                    </a:solidFill>
                    <a:effectLst/>
                    <a:latin typeface="Calibri"/>
                    <a:ea typeface="Calibri"/>
                    <a:cs typeface="Calibri"/>
                    <a:sym typeface="Calibri"/>
                  </a:rPr>
                  <a:t>Alternatively, a </a:t>
                </a:r>
                <a:r>
                  <a:rPr lang="en-US" sz="1200" b="0" i="0" u="none" strike="noStrike" cap="none">
                    <a:solidFill>
                      <a:schemeClr val="dk1"/>
                    </a:solidFill>
                    <a:latin typeface="Calibri"/>
                    <a:ea typeface="Calibri"/>
                    <a:cs typeface="Calibri"/>
                    <a:sym typeface="Calibri"/>
                  </a:rPr>
                  <a:t>16×16</a:t>
                </a:r>
                <a:r>
                  <a:rPr lang="en-US" sz="1200" b="0" i="0" u="none" strike="noStrike" cap="none" dirty="0">
                    <a:solidFill>
                      <a:schemeClr val="dk1"/>
                    </a:solidFill>
                    <a:effectLst/>
                    <a:latin typeface="Calibri"/>
                    <a:ea typeface="Calibri"/>
                    <a:cs typeface="Calibri"/>
                    <a:sym typeface="Calibri"/>
                  </a:rPr>
                  <a:t> grid of </a:t>
                </a:r>
                <a:r>
                  <a:rPr lang="en-US" sz="1200" b="0" i="0" u="none" strike="noStrike" cap="none">
                    <a:solidFill>
                      <a:schemeClr val="dk1"/>
                    </a:solidFill>
                    <a:latin typeface="Calibri"/>
                    <a:ea typeface="Calibri"/>
                    <a:cs typeface="Calibri"/>
                    <a:sym typeface="Calibri"/>
                  </a:rPr>
                  <a:t>14×14</a:t>
                </a:r>
                <a:r>
                  <a:rPr lang="en-US" sz="1200" b="0" i="0" u="none" strike="noStrike" cap="none" dirty="0">
                    <a:solidFill>
                      <a:schemeClr val="dk1"/>
                    </a:solidFill>
                    <a:effectLst/>
                    <a:latin typeface="Calibri"/>
                    <a:ea typeface="Calibri"/>
                    <a:cs typeface="Calibri"/>
                    <a:sym typeface="Calibri"/>
                  </a:rPr>
                  <a:t> patches can be used, depending on the implementation.</a:t>
                </a:r>
              </a:p>
              <a:p>
                <a:r>
                  <a:rPr lang="en-US" sz="1200" b="1" i="0" u="none" strike="noStrike" cap="none" dirty="0">
                    <a:solidFill>
                      <a:schemeClr val="dk1"/>
                    </a:solidFill>
                    <a:effectLst/>
                    <a:latin typeface="Calibri"/>
                    <a:ea typeface="Calibri"/>
                    <a:cs typeface="Calibri"/>
                    <a:sym typeface="Calibri"/>
                  </a:rPr>
                  <a:t>Patch Embeddings: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patch is flattened and linearly projected into a </a:t>
                </a:r>
                <a:r>
                  <a:rPr lang="en-US" sz="1200" b="0" i="0" u="none" strike="noStrike" cap="none">
                    <a:solidFill>
                      <a:schemeClr val="dk1"/>
                    </a:solidFill>
                    <a:latin typeface="Calibri"/>
                    <a:ea typeface="Calibri"/>
                    <a:cs typeface="Calibri"/>
                    <a:sym typeface="Calibri"/>
                  </a:rPr>
                  <a:t>𝐷</a:t>
                </a:r>
                <a:r>
                  <a:rPr lang="en-US" sz="1200" b="0" i="0" u="none" strike="noStrike" cap="none" dirty="0">
                    <a:solidFill>
                      <a:schemeClr val="dk1"/>
                    </a:solidFill>
                    <a:effectLst/>
                    <a:latin typeface="Calibri"/>
                    <a:ea typeface="Calibri"/>
                    <a:cs typeface="Calibri"/>
                    <a:sym typeface="Calibri"/>
                  </a:rPr>
                  <a:t>-dimensional vector, creating a patch embedding.</a:t>
                </a:r>
              </a:p>
              <a:p>
                <a:pPr lvl="1"/>
                <a:r>
                  <a:rPr lang="en-US" sz="1200" b="0" i="0" u="none" strike="noStrike" cap="none" dirty="0">
                    <a:solidFill>
                      <a:schemeClr val="dk1"/>
                    </a:solidFill>
                    <a:effectLst/>
                    <a:latin typeface="Calibri"/>
                    <a:ea typeface="Calibri"/>
                    <a:cs typeface="Calibri"/>
                    <a:sym typeface="Calibri"/>
                  </a:rPr>
                  <a:t>Positional embeddings are added to each patch embedding to incorporate spatial information.</a:t>
                </a:r>
              </a:p>
              <a:p>
                <a:r>
                  <a:rPr lang="en-US" sz="1200" b="1" i="0" u="none" strike="noStrike" cap="none" dirty="0">
                    <a:solidFill>
                      <a:schemeClr val="dk1"/>
                    </a:solidFill>
                    <a:effectLst/>
                    <a:latin typeface="Calibri"/>
                    <a:ea typeface="Calibri"/>
                    <a:cs typeface="Calibri"/>
                    <a:sym typeface="Calibri"/>
                  </a:rPr>
                  <a:t>Transformer Processing: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sequence of patch embeddings, along with a special classification token, is fed into a transformer model.</a:t>
                </a:r>
              </a:p>
              <a:p>
                <a:pPr lvl="1"/>
                <a:r>
                  <a:rPr lang="en-US" sz="1200" b="0" i="0" u="none" strike="noStrike" cap="none" dirty="0">
                    <a:solidFill>
                      <a:schemeClr val="dk1"/>
                    </a:solidFill>
                    <a:effectLst/>
                    <a:latin typeface="Calibri"/>
                    <a:ea typeface="Calibri"/>
                    <a:cs typeface="Calibri"/>
                    <a:sym typeface="Calibri"/>
                  </a:rPr>
                  <a:t>The transformer applies self-attention and feedforward operations to capture dependencies and relationships between patches.</a:t>
                </a:r>
              </a:p>
              <a:p>
                <a:r>
                  <a:rPr lang="en-US" sz="1200" b="1" i="0" u="none" strike="noStrike" cap="none" dirty="0">
                    <a:solidFill>
                      <a:schemeClr val="dk1"/>
                    </a:solidFill>
                    <a:effectLst/>
                    <a:latin typeface="Calibri"/>
                    <a:ea typeface="Calibri"/>
                    <a:cs typeface="Calibri"/>
                    <a:sym typeface="Calibri"/>
                  </a:rPr>
                  <a:t>Attention Matrix Size and Memory:</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With 48 layers and 16 heads per layer, the attention matrices require significant memory.</a:t>
                </a:r>
              </a:p>
              <a:p>
                <a:pPr lvl="1"/>
                <a:r>
                  <a:rPr lang="en-US" sz="1200" b="0" i="0" u="none" strike="noStrike" cap="none" dirty="0">
                    <a:solidFill>
                      <a:schemeClr val="dk1"/>
                    </a:solidFill>
                    <a:effectLst/>
                    <a:latin typeface="Calibri"/>
                    <a:ea typeface="Calibri"/>
                    <a:cs typeface="Calibri"/>
                    <a:sym typeface="Calibri"/>
                  </a:rPr>
                  <a:t>All attention matrices together take approximately 112 MB of memory (or 192 MB, depending on the configuration).</a:t>
                </a:r>
              </a:p>
              <a:p>
                <a:r>
                  <a:rPr lang="en-US" sz="1200" b="1" i="0" u="none" strike="noStrike" cap="none" dirty="0">
                    <a:solidFill>
                      <a:schemeClr val="dk1"/>
                    </a:solidFill>
                    <a:effectLst/>
                    <a:latin typeface="Calibri"/>
                    <a:ea typeface="Calibri"/>
                    <a:cs typeface="Calibri"/>
                    <a:sym typeface="Calibri"/>
                  </a:rPr>
                  <a:t>Output and Classification: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output of the transformer includes a set of vectors, with the classification token being used for the final classification task.</a:t>
                </a:r>
              </a:p>
              <a:p>
                <a:pPr lvl="1"/>
                <a:r>
                  <a:rPr lang="en-US" sz="1200" b="0" i="0" u="none" strike="noStrike" cap="none" dirty="0">
                    <a:solidFill>
                      <a:schemeClr val="dk1"/>
                    </a:solidFill>
                    <a:effectLst/>
                    <a:latin typeface="Calibri"/>
                    <a:ea typeface="Calibri"/>
                    <a:cs typeface="Calibri"/>
                    <a:sym typeface="Calibri"/>
                  </a:rPr>
                  <a:t>A linear layer projects the classification token to a </a:t>
                </a:r>
                <a:r>
                  <a:rPr lang="en-US" sz="1200" b="0" i="0" u="none" strike="noStrike" cap="none">
                    <a:solidFill>
                      <a:schemeClr val="dk1"/>
                    </a:solidFill>
                    <a:latin typeface="Calibri"/>
                    <a:ea typeface="Calibri"/>
                    <a:cs typeface="Calibri"/>
                    <a:sym typeface="Calibri"/>
                  </a:rPr>
                  <a:t>𝐶</a:t>
                </a:r>
                <a:r>
                  <a:rPr lang="en-US" sz="1200" b="0" i="0" u="none" strike="noStrike" cap="none" dirty="0">
                    <a:solidFill>
                      <a:schemeClr val="dk1"/>
                    </a:solidFill>
                    <a:effectLst/>
                    <a:latin typeface="Calibri"/>
                    <a:ea typeface="Calibri"/>
                    <a:cs typeface="Calibri"/>
                    <a:sym typeface="Calibri"/>
                  </a:rPr>
                  <a:t>-dimensional vector, representing the predicted class scores.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Vision Transformer leverages the transformer architecture's ability to model long-range dependencies and interactions, applying it to image data without relying on traditional convolutions.</a:t>
                </a:r>
              </a:p>
              <a:p>
                <a:r>
                  <a:rPr lang="en-US" sz="1200" b="0" i="0" u="none" strike="noStrike" cap="none" dirty="0">
                    <a:solidFill>
                      <a:schemeClr val="dk1"/>
                    </a:solidFill>
                    <a:effectLst/>
                    <a:latin typeface="Calibri"/>
                    <a:ea typeface="Calibri"/>
                    <a:cs typeface="Calibri"/>
                    <a:sym typeface="Calibri"/>
                  </a:rPr>
                  <a:t>By treating image patches as tokens,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can effectively capture both local and global features, leading to competitive performance on image recognition tasks.</a:t>
                </a:r>
              </a:p>
              <a:p>
                <a:r>
                  <a:rPr lang="en-US" sz="1200" b="1" i="0" u="none" strike="noStrike" cap="none" dirty="0">
                    <a:solidFill>
                      <a:schemeClr val="dk1"/>
                    </a:solidFill>
                    <a:effectLst/>
                    <a:latin typeface="Calibri"/>
                    <a:ea typeface="Calibri"/>
                    <a:cs typeface="Calibri"/>
                    <a:sym typeface="Calibri"/>
                  </a:rPr>
                  <a:t>Benefits of Vision Transformers: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They offer a flexible and scalable approach to image recognition, benefiting from the parallel processing capabilities of transformers.</a:t>
                </a:r>
              </a:p>
              <a:p>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can handle large-scale image data efficiently, making them suitable for various computer vision applications.</a:t>
                </a:r>
              </a:p>
              <a:p>
                <a:r>
                  <a:rPr lang="en-US" sz="1200" b="1" i="0" u="none" strike="noStrike" cap="none" dirty="0">
                    <a:solidFill>
                      <a:schemeClr val="dk1"/>
                    </a:solidFill>
                    <a:effectLst/>
                    <a:latin typeface="Calibri"/>
                    <a:ea typeface="Calibri"/>
                    <a:cs typeface="Calibri"/>
                    <a:sym typeface="Calibri"/>
                  </a:rPr>
                  <a:t>Computational Considerations: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memory requirements for attention matrices are significant, especially with deep transformer architectures and multiple attention heads.</a:t>
                </a:r>
              </a:p>
              <a:p>
                <a:r>
                  <a:rPr lang="en-US" sz="1200" b="0" i="0" u="none" strike="noStrike" cap="none" dirty="0">
                    <a:solidFill>
                      <a:schemeClr val="dk1"/>
                    </a:solidFill>
                    <a:effectLst/>
                    <a:latin typeface="Calibri"/>
                    <a:ea typeface="Calibri"/>
                    <a:cs typeface="Calibri"/>
                    <a:sym typeface="Calibri"/>
                  </a:rPr>
                  <a:t>Efficient implementation and hardware considerations are important for deploying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at scale.</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comprehensive understanding of the Vision Transformer architecture, highlighting its innovative approach to image recognition by adapting the transformer model for vision tasks. Understanding this concept is crucial for appreciating the versatility and power of transformers in domains beyond NLP, as well as the computational considerations involved in their implementation.</a:t>
                </a:r>
              </a:p>
              <a:p>
                <a:pPr marL="0" lvl="0" indent="0" algn="l" rtl="0">
                  <a:lnSpc>
                    <a:spcPct val="100000"/>
                  </a:lnSpc>
                  <a:spcBef>
                    <a:spcPts val="0"/>
                  </a:spcBef>
                  <a:spcAft>
                    <a:spcPts val="0"/>
                  </a:spcAft>
                  <a:buSzPts val="1400"/>
                  <a:buNone/>
                </a:pPr>
                <a:endParaRPr dirty="0"/>
              </a:p>
            </p:txBody>
          </p:sp>
        </mc:Fallback>
      </mc:AlternateContent>
      <p:sp>
        <p:nvSpPr>
          <p:cNvPr id="1814" name="Google Shape;181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8"/>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959" name="Google Shape;1959;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Vision Transformer (</a:t>
                </a:r>
                <a:r>
                  <a:rPr lang="en-US" sz="1200" b="1" i="0" u="none" strike="noStrike" cap="none" dirty="0" err="1">
                    <a:solidFill>
                      <a:schemeClr val="dk1"/>
                    </a:solidFill>
                    <a:effectLst/>
                    <a:latin typeface="Calibri"/>
                    <a:ea typeface="Calibri"/>
                    <a:cs typeface="Calibri"/>
                    <a:sym typeface="Calibri"/>
                  </a:rPr>
                  <a:t>ViT</a:t>
                </a:r>
                <a:r>
                  <a:rPr lang="en-US" sz="1200" b="1" i="0" u="none" strike="noStrike" cap="none" dirty="0">
                    <a:solidFill>
                      <a:schemeClr val="dk1"/>
                    </a:solidFill>
                    <a:effectLst/>
                    <a:latin typeface="Calibri"/>
                    <a:ea typeface="Calibri"/>
                    <a:cs typeface="Calibri"/>
                    <a:sym typeface="Calibri"/>
                  </a:rPr>
                  <a:t>) Architecture:</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Image Patching: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 typical input image of size </a:t>
                </a:r>
                <a14:m>
                  <m:oMath xmlns:m="http://schemas.openxmlformats.org/officeDocument/2006/math">
                    <m:r>
                      <a:rPr lang="en-US" sz="1200" b="0" i="0" u="none" strike="noStrike" cap="none">
                        <a:solidFill>
                          <a:schemeClr val="dk1"/>
                        </a:solidFill>
                        <a:latin typeface="Calibri"/>
                        <a:ea typeface="Calibri"/>
                        <a:cs typeface="Calibri"/>
                        <a:sym typeface="Calibri"/>
                      </a:rPr>
                      <m:t>224</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224</m:t>
                    </m:r>
                  </m:oMath>
                </a14:m>
                <a:r>
                  <a:rPr lang="en-US" sz="1200" b="0" i="0" u="none" strike="noStrike" cap="none" dirty="0">
                    <a:solidFill>
                      <a:schemeClr val="dk1"/>
                    </a:solidFill>
                    <a:effectLst/>
                    <a:latin typeface="Calibri"/>
                    <a:ea typeface="Calibri"/>
                    <a:cs typeface="Calibri"/>
                    <a:sym typeface="Calibri"/>
                  </a:rPr>
                  <a:t> pixels is divided into a grid of patches. For example, it can be divided into a </a:t>
                </a:r>
                <a14:m>
                  <m:oMath xmlns:m="http://schemas.openxmlformats.org/officeDocument/2006/math">
                    <m:r>
                      <a:rPr lang="en-US" sz="1200" b="0" i="0" u="none" strike="noStrike" cap="none">
                        <a:solidFill>
                          <a:schemeClr val="dk1"/>
                        </a:solidFill>
                        <a:latin typeface="Calibri"/>
                        <a:ea typeface="Calibri"/>
                        <a:cs typeface="Calibri"/>
                        <a:sym typeface="Calibri"/>
                      </a:rPr>
                      <m:t>14</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14</m:t>
                    </m:r>
                  </m:oMath>
                </a14:m>
                <a:r>
                  <a:rPr lang="en-US" sz="1200" b="0" i="0" u="none" strike="noStrike" cap="none" dirty="0">
                    <a:solidFill>
                      <a:schemeClr val="dk1"/>
                    </a:solidFill>
                    <a:effectLst/>
                    <a:latin typeface="Calibri"/>
                    <a:ea typeface="Calibri"/>
                    <a:cs typeface="Calibri"/>
                    <a:sym typeface="Calibri"/>
                  </a:rPr>
                  <a:t> grid of </a:t>
                </a:r>
                <a14:m>
                  <m:oMath xmlns:m="http://schemas.openxmlformats.org/officeDocument/2006/math">
                    <m:r>
                      <a:rPr lang="en-US" sz="1200" b="0" i="0" u="none" strike="noStrike" cap="none">
                        <a:solidFill>
                          <a:schemeClr val="dk1"/>
                        </a:solidFill>
                        <a:latin typeface="Calibri"/>
                        <a:ea typeface="Calibri"/>
                        <a:cs typeface="Calibri"/>
                        <a:sym typeface="Calibri"/>
                      </a:rPr>
                      <m:t>16</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16</m:t>
                    </m:r>
                  </m:oMath>
                </a14:m>
                <a:r>
                  <a:rPr lang="en-US" sz="1200" b="0" i="0" u="none" strike="noStrike" cap="none" dirty="0">
                    <a:solidFill>
                      <a:schemeClr val="dk1"/>
                    </a:solidFill>
                    <a:effectLst/>
                    <a:latin typeface="Calibri"/>
                    <a:ea typeface="Calibri"/>
                    <a:cs typeface="Calibri"/>
                    <a:sym typeface="Calibri"/>
                  </a:rPr>
                  <a:t> pixel patches.</a:t>
                </a:r>
              </a:p>
              <a:p>
                <a:pPr lvl="1"/>
                <a:r>
                  <a:rPr lang="en-US" sz="1200" b="0" i="0" u="none" strike="noStrike" cap="none" dirty="0">
                    <a:solidFill>
                      <a:schemeClr val="dk1"/>
                    </a:solidFill>
                    <a:effectLst/>
                    <a:latin typeface="Calibri"/>
                    <a:ea typeface="Calibri"/>
                    <a:cs typeface="Calibri"/>
                    <a:sym typeface="Calibri"/>
                  </a:rPr>
                  <a:t>Alternatively, a </a:t>
                </a:r>
                <a14:m>
                  <m:oMath xmlns:m="http://schemas.openxmlformats.org/officeDocument/2006/math">
                    <m:r>
                      <a:rPr lang="en-US" sz="1200" b="0" i="0" u="none" strike="noStrike" cap="none">
                        <a:solidFill>
                          <a:schemeClr val="dk1"/>
                        </a:solidFill>
                        <a:latin typeface="Calibri"/>
                        <a:ea typeface="Calibri"/>
                        <a:cs typeface="Calibri"/>
                        <a:sym typeface="Calibri"/>
                      </a:rPr>
                      <m:t>16</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16</m:t>
                    </m:r>
                  </m:oMath>
                </a14:m>
                <a:r>
                  <a:rPr lang="en-US" sz="1200" b="0" i="0" u="none" strike="noStrike" cap="none" dirty="0">
                    <a:solidFill>
                      <a:schemeClr val="dk1"/>
                    </a:solidFill>
                    <a:effectLst/>
                    <a:latin typeface="Calibri"/>
                    <a:ea typeface="Calibri"/>
                    <a:cs typeface="Calibri"/>
                    <a:sym typeface="Calibri"/>
                  </a:rPr>
                  <a:t> grid of </a:t>
                </a:r>
                <a14:m>
                  <m:oMath xmlns:m="http://schemas.openxmlformats.org/officeDocument/2006/math">
                    <m:r>
                      <a:rPr lang="en-US" sz="1200" b="0" i="0" u="none" strike="noStrike" cap="none">
                        <a:solidFill>
                          <a:schemeClr val="dk1"/>
                        </a:solidFill>
                        <a:latin typeface="Calibri"/>
                        <a:ea typeface="Calibri"/>
                        <a:cs typeface="Calibri"/>
                        <a:sym typeface="Calibri"/>
                      </a:rPr>
                      <m:t>14</m:t>
                    </m:r>
                    <m:r>
                      <a:rPr lang="en-US" sz="1200" b="0" i="0" u="none" strike="noStrike" cap="none">
                        <a:solidFill>
                          <a:schemeClr val="dk1"/>
                        </a:solidFill>
                        <a:latin typeface="Calibri"/>
                        <a:ea typeface="Calibri"/>
                        <a:cs typeface="Calibri"/>
                        <a:sym typeface="Calibri"/>
                      </a:rPr>
                      <m:t>×</m:t>
                    </m:r>
                    <m:r>
                      <a:rPr lang="en-US" sz="1200" b="0" i="0" u="none" strike="noStrike" cap="none">
                        <a:solidFill>
                          <a:schemeClr val="dk1"/>
                        </a:solidFill>
                        <a:latin typeface="Calibri"/>
                        <a:ea typeface="Calibri"/>
                        <a:cs typeface="Calibri"/>
                        <a:sym typeface="Calibri"/>
                      </a:rPr>
                      <m:t>14</m:t>
                    </m:r>
                  </m:oMath>
                </a14:m>
                <a:r>
                  <a:rPr lang="en-US" sz="1200" b="0" i="0" u="none" strike="noStrike" cap="none" dirty="0">
                    <a:solidFill>
                      <a:schemeClr val="dk1"/>
                    </a:solidFill>
                    <a:effectLst/>
                    <a:latin typeface="Calibri"/>
                    <a:ea typeface="Calibri"/>
                    <a:cs typeface="Calibri"/>
                    <a:sym typeface="Calibri"/>
                  </a:rPr>
                  <a:t> patches can be used, depending on the implementation.</a:t>
                </a:r>
              </a:p>
              <a:p>
                <a:r>
                  <a:rPr lang="en-US" sz="1200" b="1" i="0" u="none" strike="noStrike" cap="none" dirty="0">
                    <a:solidFill>
                      <a:schemeClr val="dk1"/>
                    </a:solidFill>
                    <a:effectLst/>
                    <a:latin typeface="Calibri"/>
                    <a:ea typeface="Calibri"/>
                    <a:cs typeface="Calibri"/>
                    <a:sym typeface="Calibri"/>
                  </a:rPr>
                  <a:t>Patch Embeddings: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patch is flattened and linearly projected into a </a:t>
                </a:r>
                <a14:m>
                  <m:oMath xmlns:m="http://schemas.openxmlformats.org/officeDocument/2006/math">
                    <m:r>
                      <a:rPr lang="en-US" sz="1200" b="0" i="1" u="none" strike="noStrike" cap="none">
                        <a:solidFill>
                          <a:schemeClr val="dk1"/>
                        </a:solidFill>
                        <a:latin typeface="Calibri"/>
                        <a:ea typeface="Calibri"/>
                        <a:cs typeface="Calibri"/>
                        <a:sym typeface="Calibri"/>
                      </a:rPr>
                      <m:t>𝐷</m:t>
                    </m:r>
                  </m:oMath>
                </a14:m>
                <a:r>
                  <a:rPr lang="en-US" sz="1200" b="0" i="0" u="none" strike="noStrike" cap="none" dirty="0">
                    <a:solidFill>
                      <a:schemeClr val="dk1"/>
                    </a:solidFill>
                    <a:effectLst/>
                    <a:latin typeface="Calibri"/>
                    <a:ea typeface="Calibri"/>
                    <a:cs typeface="Calibri"/>
                    <a:sym typeface="Calibri"/>
                  </a:rPr>
                  <a:t>-dimensional vector, creating a patch embedding.</a:t>
                </a:r>
              </a:p>
              <a:p>
                <a:pPr lvl="1"/>
                <a:r>
                  <a:rPr lang="en-US" sz="1200" b="0" i="0" u="none" strike="noStrike" cap="none" dirty="0">
                    <a:solidFill>
                      <a:schemeClr val="dk1"/>
                    </a:solidFill>
                    <a:effectLst/>
                    <a:latin typeface="Calibri"/>
                    <a:ea typeface="Calibri"/>
                    <a:cs typeface="Calibri"/>
                    <a:sym typeface="Calibri"/>
                  </a:rPr>
                  <a:t>Positional embeddings are added to each patch embedding to incorporate spatial information, similar to how positional embeddings are used in NLP transformers.</a:t>
                </a:r>
              </a:p>
              <a:p>
                <a:r>
                  <a:rPr lang="en-US" sz="1200" b="1" i="0" u="none" strike="noStrike" cap="none" dirty="0">
                    <a:solidFill>
                      <a:schemeClr val="dk1"/>
                    </a:solidFill>
                    <a:effectLst/>
                    <a:latin typeface="Calibri"/>
                    <a:ea typeface="Calibri"/>
                    <a:cs typeface="Calibri"/>
                    <a:sym typeface="Calibri"/>
                  </a:rPr>
                  <a:t>Transformer Processing: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sequence of patch embeddings, along with a special classification token, is fed into a transformer model.</a:t>
                </a:r>
              </a:p>
              <a:p>
                <a:pPr lvl="1"/>
                <a:r>
                  <a:rPr lang="en-US" sz="1200" b="0" i="0" u="none" strike="noStrike" cap="none" dirty="0">
                    <a:solidFill>
                      <a:schemeClr val="dk1"/>
                    </a:solidFill>
                    <a:effectLst/>
                    <a:latin typeface="Calibri"/>
                    <a:ea typeface="Calibri"/>
                    <a:cs typeface="Calibri"/>
                    <a:sym typeface="Calibri"/>
                  </a:rPr>
                  <a:t>The transformer applies self-attention and feedforward operations to capture dependencies and relationships between patches.</a:t>
                </a:r>
              </a:p>
              <a:p>
                <a:r>
                  <a:rPr lang="en-US" sz="1200" b="1" i="0" u="none" strike="noStrike" cap="none" dirty="0">
                    <a:solidFill>
                      <a:schemeClr val="dk1"/>
                    </a:solidFill>
                    <a:effectLst/>
                    <a:latin typeface="Calibri"/>
                    <a:ea typeface="Calibri"/>
                    <a:cs typeface="Calibri"/>
                    <a:sym typeface="Calibri"/>
                  </a:rPr>
                  <a:t>Attention Matrix Size and Memory:</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With 48 layers and 16 heads per layer, the attention matrices require significant memory.</a:t>
                </a:r>
              </a:p>
              <a:p>
                <a:pPr lvl="1"/>
                <a:r>
                  <a:rPr lang="en-US" sz="1200" b="0" i="0" u="none" strike="noStrike" cap="none" dirty="0">
                    <a:solidFill>
                      <a:schemeClr val="dk1"/>
                    </a:solidFill>
                    <a:effectLst/>
                    <a:latin typeface="Calibri"/>
                    <a:ea typeface="Calibri"/>
                    <a:cs typeface="Calibri"/>
                    <a:sym typeface="Calibri"/>
                  </a:rPr>
                  <a:t>All attention matrices together take approximately 112 MB of memory (or 192 MB, depending on the configuration).</a:t>
                </a:r>
              </a:p>
              <a:p>
                <a:r>
                  <a:rPr lang="en-US" sz="1200" b="1" i="0" u="none" strike="noStrike" cap="none" dirty="0">
                    <a:solidFill>
                      <a:schemeClr val="dk1"/>
                    </a:solidFill>
                    <a:effectLst/>
                    <a:latin typeface="Calibri"/>
                    <a:ea typeface="Calibri"/>
                    <a:cs typeface="Calibri"/>
                    <a:sym typeface="Calibri"/>
                  </a:rPr>
                  <a:t>Output and Classification: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output of the transformer includes a set of vectors, with the classification token being used for the final classification task.</a:t>
                </a:r>
              </a:p>
              <a:p>
                <a:pPr lvl="1"/>
                <a:r>
                  <a:rPr lang="en-US" sz="1200" b="0" i="0" u="none" strike="noStrike" cap="none" dirty="0">
                    <a:solidFill>
                      <a:schemeClr val="dk1"/>
                    </a:solidFill>
                    <a:effectLst/>
                    <a:latin typeface="Calibri"/>
                    <a:ea typeface="Calibri"/>
                    <a:cs typeface="Calibri"/>
                    <a:sym typeface="Calibri"/>
                  </a:rPr>
                  <a:t>A linear layer projects the classification token to a </a:t>
                </a:r>
                <a14:m>
                  <m:oMath xmlns:m="http://schemas.openxmlformats.org/officeDocument/2006/math">
                    <m:r>
                      <a:rPr lang="en-US" sz="1200" b="0" i="1" u="none" strike="noStrike" cap="none">
                        <a:solidFill>
                          <a:schemeClr val="dk1"/>
                        </a:solidFill>
                        <a:latin typeface="Calibri"/>
                        <a:ea typeface="Calibri"/>
                        <a:cs typeface="Calibri"/>
                        <a:sym typeface="Calibri"/>
                      </a:rPr>
                      <m:t>𝐶</m:t>
                    </m:r>
                  </m:oMath>
                </a14:m>
                <a:r>
                  <a:rPr lang="en-US" sz="1200" b="0" i="0" u="none" strike="noStrike" cap="none" dirty="0">
                    <a:solidFill>
                      <a:schemeClr val="dk1"/>
                    </a:solidFill>
                    <a:effectLst/>
                    <a:latin typeface="Calibri"/>
                    <a:ea typeface="Calibri"/>
                    <a:cs typeface="Calibri"/>
                    <a:sym typeface="Calibri"/>
                  </a:rPr>
                  <a:t>-dimensional vector, representing the predicted class scores.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Vision Transformer leverages the transformer architecture's ability to model long-range dependencies and interactions, applying it to image data without relying on traditional convolutions.</a:t>
                </a:r>
              </a:p>
              <a:p>
                <a:r>
                  <a:rPr lang="en-US" sz="1200" b="0" i="0" u="none" strike="noStrike" cap="none" dirty="0">
                    <a:solidFill>
                      <a:schemeClr val="dk1"/>
                    </a:solidFill>
                    <a:effectLst/>
                    <a:latin typeface="Calibri"/>
                    <a:ea typeface="Calibri"/>
                    <a:cs typeface="Calibri"/>
                    <a:sym typeface="Calibri"/>
                  </a:rPr>
                  <a:t>By treating image patches as tokens,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can effectively capture both local and global features, leading to competitive performance on image recognition tasks.</a:t>
                </a:r>
              </a:p>
              <a:p>
                <a:r>
                  <a:rPr lang="en-US" sz="1200" b="1" i="0" u="none" strike="noStrike" cap="none" dirty="0">
                    <a:solidFill>
                      <a:schemeClr val="dk1"/>
                    </a:solidFill>
                    <a:effectLst/>
                    <a:latin typeface="Calibri"/>
                    <a:ea typeface="Calibri"/>
                    <a:cs typeface="Calibri"/>
                    <a:sym typeface="Calibri"/>
                  </a:rPr>
                  <a:t>Benefits of Vision Transformers: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They offer a flexible and scalable approach to image recognition, benefiting from the parallel processing capabilities of transformers.</a:t>
                </a:r>
              </a:p>
              <a:p>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can handle large-scale image data efficiently, making them suitable for various computer vision applications.</a:t>
                </a:r>
              </a:p>
              <a:p>
                <a:r>
                  <a:rPr lang="en-US" sz="1200" b="1" i="0" u="none" strike="noStrike" cap="none" dirty="0">
                    <a:solidFill>
                      <a:schemeClr val="dk1"/>
                    </a:solidFill>
                    <a:effectLst/>
                    <a:latin typeface="Calibri"/>
                    <a:ea typeface="Calibri"/>
                    <a:cs typeface="Calibri"/>
                    <a:sym typeface="Calibri"/>
                  </a:rPr>
                  <a:t>Computational Considerations: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memory requirements for attention matrices are significant, especially with deep transformer architectures and multiple attention heads.</a:t>
                </a:r>
              </a:p>
              <a:p>
                <a:r>
                  <a:rPr lang="en-US" sz="1200" b="0" i="0" u="none" strike="noStrike" cap="none" dirty="0">
                    <a:solidFill>
                      <a:schemeClr val="dk1"/>
                    </a:solidFill>
                    <a:effectLst/>
                    <a:latin typeface="Calibri"/>
                    <a:ea typeface="Calibri"/>
                    <a:cs typeface="Calibri"/>
                    <a:sym typeface="Calibri"/>
                  </a:rPr>
                  <a:t>Efficient implementation and hardware considerations are important for deploying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at scale.</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comprehensive understanding of the Vision Transformer architecture, highlighting its innovative approach to image recognition by adapting the transformer model for vision tasks. Understanding this concept is crucial for appreciating the versatility and power of transformers in domains beyond NLP, as well as the computational considerations involved in their implementation.</a:t>
                </a:r>
              </a:p>
              <a:p>
                <a:pPr marL="0" lvl="0" indent="0" algn="l" rtl="0">
                  <a:lnSpc>
                    <a:spcPct val="100000"/>
                  </a:lnSpc>
                  <a:spcBef>
                    <a:spcPts val="0"/>
                  </a:spcBef>
                  <a:spcAft>
                    <a:spcPts val="0"/>
                  </a:spcAft>
                  <a:buSzPts val="1400"/>
                  <a:buNone/>
                </a:pPr>
                <a:endParaRPr dirty="0"/>
              </a:p>
            </p:txBody>
          </p:sp>
        </mc:Choice>
        <mc:Fallback>
          <p:sp>
            <p:nvSpPr>
              <p:cNvPr id="1959" name="Google Shape;1959;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Vision Transformer (</a:t>
                </a:r>
                <a:r>
                  <a:rPr lang="en-US" sz="1200" b="1" i="0" u="none" strike="noStrike" cap="none" dirty="0" err="1">
                    <a:solidFill>
                      <a:schemeClr val="dk1"/>
                    </a:solidFill>
                    <a:effectLst/>
                    <a:latin typeface="Calibri"/>
                    <a:ea typeface="Calibri"/>
                    <a:cs typeface="Calibri"/>
                    <a:sym typeface="Calibri"/>
                  </a:rPr>
                  <a:t>ViT</a:t>
                </a:r>
                <a:r>
                  <a:rPr lang="en-US" sz="1200" b="1" i="0" u="none" strike="noStrike" cap="none" dirty="0">
                    <a:solidFill>
                      <a:schemeClr val="dk1"/>
                    </a:solidFill>
                    <a:effectLst/>
                    <a:latin typeface="Calibri"/>
                    <a:ea typeface="Calibri"/>
                    <a:cs typeface="Calibri"/>
                    <a:sym typeface="Calibri"/>
                  </a:rPr>
                  <a:t>) Architecture:</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Image Patching: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A typical input image of size </a:t>
                </a:r>
                <a:r>
                  <a:rPr lang="en-US" sz="1200" b="0" i="0" u="none" strike="noStrike" cap="none">
                    <a:solidFill>
                      <a:schemeClr val="dk1"/>
                    </a:solidFill>
                    <a:latin typeface="Calibri"/>
                    <a:ea typeface="Calibri"/>
                    <a:cs typeface="Calibri"/>
                    <a:sym typeface="Calibri"/>
                  </a:rPr>
                  <a:t>224×224</a:t>
                </a:r>
                <a:r>
                  <a:rPr lang="en-US" sz="1200" b="0" i="0" u="none" strike="noStrike" cap="none" dirty="0">
                    <a:solidFill>
                      <a:schemeClr val="dk1"/>
                    </a:solidFill>
                    <a:effectLst/>
                    <a:latin typeface="Calibri"/>
                    <a:ea typeface="Calibri"/>
                    <a:cs typeface="Calibri"/>
                    <a:sym typeface="Calibri"/>
                  </a:rPr>
                  <a:t> pixels is divided into a grid of patches. For example, it can be divided into a </a:t>
                </a:r>
                <a:r>
                  <a:rPr lang="en-US" sz="1200" b="0" i="0" u="none" strike="noStrike" cap="none">
                    <a:solidFill>
                      <a:schemeClr val="dk1"/>
                    </a:solidFill>
                    <a:latin typeface="Calibri"/>
                    <a:ea typeface="Calibri"/>
                    <a:cs typeface="Calibri"/>
                    <a:sym typeface="Calibri"/>
                  </a:rPr>
                  <a:t>14×14</a:t>
                </a:r>
                <a:r>
                  <a:rPr lang="en-US" sz="1200" b="0" i="0" u="none" strike="noStrike" cap="none" dirty="0">
                    <a:solidFill>
                      <a:schemeClr val="dk1"/>
                    </a:solidFill>
                    <a:effectLst/>
                    <a:latin typeface="Calibri"/>
                    <a:ea typeface="Calibri"/>
                    <a:cs typeface="Calibri"/>
                    <a:sym typeface="Calibri"/>
                  </a:rPr>
                  <a:t> grid of </a:t>
                </a:r>
                <a:r>
                  <a:rPr lang="en-US" sz="1200" b="0" i="0" u="none" strike="noStrike" cap="none">
                    <a:solidFill>
                      <a:schemeClr val="dk1"/>
                    </a:solidFill>
                    <a:latin typeface="Calibri"/>
                    <a:ea typeface="Calibri"/>
                    <a:cs typeface="Calibri"/>
                    <a:sym typeface="Calibri"/>
                  </a:rPr>
                  <a:t>16×16</a:t>
                </a:r>
                <a:r>
                  <a:rPr lang="en-US" sz="1200" b="0" i="0" u="none" strike="noStrike" cap="none" dirty="0">
                    <a:solidFill>
                      <a:schemeClr val="dk1"/>
                    </a:solidFill>
                    <a:effectLst/>
                    <a:latin typeface="Calibri"/>
                    <a:ea typeface="Calibri"/>
                    <a:cs typeface="Calibri"/>
                    <a:sym typeface="Calibri"/>
                  </a:rPr>
                  <a:t> pixel patches.</a:t>
                </a:r>
              </a:p>
              <a:p>
                <a:pPr lvl="1"/>
                <a:r>
                  <a:rPr lang="en-US" sz="1200" b="0" i="0" u="none" strike="noStrike" cap="none" dirty="0">
                    <a:solidFill>
                      <a:schemeClr val="dk1"/>
                    </a:solidFill>
                    <a:effectLst/>
                    <a:latin typeface="Calibri"/>
                    <a:ea typeface="Calibri"/>
                    <a:cs typeface="Calibri"/>
                    <a:sym typeface="Calibri"/>
                  </a:rPr>
                  <a:t>Alternatively, a </a:t>
                </a:r>
                <a:r>
                  <a:rPr lang="en-US" sz="1200" b="0" i="0" u="none" strike="noStrike" cap="none">
                    <a:solidFill>
                      <a:schemeClr val="dk1"/>
                    </a:solidFill>
                    <a:latin typeface="Calibri"/>
                    <a:ea typeface="Calibri"/>
                    <a:cs typeface="Calibri"/>
                    <a:sym typeface="Calibri"/>
                  </a:rPr>
                  <a:t>16×16</a:t>
                </a:r>
                <a:r>
                  <a:rPr lang="en-US" sz="1200" b="0" i="0" u="none" strike="noStrike" cap="none" dirty="0">
                    <a:solidFill>
                      <a:schemeClr val="dk1"/>
                    </a:solidFill>
                    <a:effectLst/>
                    <a:latin typeface="Calibri"/>
                    <a:ea typeface="Calibri"/>
                    <a:cs typeface="Calibri"/>
                    <a:sym typeface="Calibri"/>
                  </a:rPr>
                  <a:t> grid of </a:t>
                </a:r>
                <a:r>
                  <a:rPr lang="en-US" sz="1200" b="0" i="0" u="none" strike="noStrike" cap="none">
                    <a:solidFill>
                      <a:schemeClr val="dk1"/>
                    </a:solidFill>
                    <a:latin typeface="Calibri"/>
                    <a:ea typeface="Calibri"/>
                    <a:cs typeface="Calibri"/>
                    <a:sym typeface="Calibri"/>
                  </a:rPr>
                  <a:t>14×14</a:t>
                </a:r>
                <a:r>
                  <a:rPr lang="en-US" sz="1200" b="0" i="0" u="none" strike="noStrike" cap="none" dirty="0">
                    <a:solidFill>
                      <a:schemeClr val="dk1"/>
                    </a:solidFill>
                    <a:effectLst/>
                    <a:latin typeface="Calibri"/>
                    <a:ea typeface="Calibri"/>
                    <a:cs typeface="Calibri"/>
                    <a:sym typeface="Calibri"/>
                  </a:rPr>
                  <a:t> patches can be used, depending on the implementation.</a:t>
                </a:r>
              </a:p>
              <a:p>
                <a:r>
                  <a:rPr lang="en-US" sz="1200" b="1" i="0" u="none" strike="noStrike" cap="none" dirty="0">
                    <a:solidFill>
                      <a:schemeClr val="dk1"/>
                    </a:solidFill>
                    <a:effectLst/>
                    <a:latin typeface="Calibri"/>
                    <a:ea typeface="Calibri"/>
                    <a:cs typeface="Calibri"/>
                    <a:sym typeface="Calibri"/>
                  </a:rPr>
                  <a:t>Patch Embeddings: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Each patch is flattened and linearly projected into a </a:t>
                </a:r>
                <a:r>
                  <a:rPr lang="en-US" sz="1200" b="0" i="0" u="none" strike="noStrike" cap="none">
                    <a:solidFill>
                      <a:schemeClr val="dk1"/>
                    </a:solidFill>
                    <a:latin typeface="Calibri"/>
                    <a:ea typeface="Calibri"/>
                    <a:cs typeface="Calibri"/>
                    <a:sym typeface="Calibri"/>
                  </a:rPr>
                  <a:t>𝐷</a:t>
                </a:r>
                <a:r>
                  <a:rPr lang="en-US" sz="1200" b="0" i="0" u="none" strike="noStrike" cap="none" dirty="0">
                    <a:solidFill>
                      <a:schemeClr val="dk1"/>
                    </a:solidFill>
                    <a:effectLst/>
                    <a:latin typeface="Calibri"/>
                    <a:ea typeface="Calibri"/>
                    <a:cs typeface="Calibri"/>
                    <a:sym typeface="Calibri"/>
                  </a:rPr>
                  <a:t>-dimensional vector, creating a patch embedding.</a:t>
                </a:r>
              </a:p>
              <a:p>
                <a:pPr lvl="1"/>
                <a:r>
                  <a:rPr lang="en-US" sz="1200" b="0" i="0" u="none" strike="noStrike" cap="none" dirty="0">
                    <a:solidFill>
                      <a:schemeClr val="dk1"/>
                    </a:solidFill>
                    <a:effectLst/>
                    <a:latin typeface="Calibri"/>
                    <a:ea typeface="Calibri"/>
                    <a:cs typeface="Calibri"/>
                    <a:sym typeface="Calibri"/>
                  </a:rPr>
                  <a:t>Positional embeddings are added to each patch embedding to incorporate spatial information, similar to how positional embeddings are used in NLP transformers.</a:t>
                </a:r>
              </a:p>
              <a:p>
                <a:r>
                  <a:rPr lang="en-US" sz="1200" b="1" i="0" u="none" strike="noStrike" cap="none" dirty="0">
                    <a:solidFill>
                      <a:schemeClr val="dk1"/>
                    </a:solidFill>
                    <a:effectLst/>
                    <a:latin typeface="Calibri"/>
                    <a:ea typeface="Calibri"/>
                    <a:cs typeface="Calibri"/>
                    <a:sym typeface="Calibri"/>
                  </a:rPr>
                  <a:t>Transformer Processing:</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sequence of patch embeddings, along with a special classification token, is fed into a transformer model.</a:t>
                </a:r>
              </a:p>
              <a:p>
                <a:pPr lvl="1"/>
                <a:r>
                  <a:rPr lang="en-US" sz="1200" b="0" i="0" u="none" strike="noStrike" cap="none" dirty="0">
                    <a:solidFill>
                      <a:schemeClr val="dk1"/>
                    </a:solidFill>
                    <a:effectLst/>
                    <a:latin typeface="Calibri"/>
                    <a:ea typeface="Calibri"/>
                    <a:cs typeface="Calibri"/>
                    <a:sym typeface="Calibri"/>
                  </a:rPr>
                  <a:t>The transformer applies self-attention and feedforward operations to capture dependencies and relationships between patches.</a:t>
                </a:r>
              </a:p>
              <a:p>
                <a:r>
                  <a:rPr lang="en-US" sz="1200" b="1" i="0" u="none" strike="noStrike" cap="none" dirty="0">
                    <a:solidFill>
                      <a:schemeClr val="dk1"/>
                    </a:solidFill>
                    <a:effectLst/>
                    <a:latin typeface="Calibri"/>
                    <a:ea typeface="Calibri"/>
                    <a:cs typeface="Calibri"/>
                    <a:sym typeface="Calibri"/>
                  </a:rPr>
                  <a:t>Attention Matrix Size and Memory:</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With 48 layers and 16 heads per layer, the attention matrices require significant memory.</a:t>
                </a:r>
              </a:p>
              <a:p>
                <a:pPr lvl="1"/>
                <a:r>
                  <a:rPr lang="en-US" sz="1200" b="0" i="0" u="none" strike="noStrike" cap="none" dirty="0">
                    <a:solidFill>
                      <a:schemeClr val="dk1"/>
                    </a:solidFill>
                    <a:effectLst/>
                    <a:latin typeface="Calibri"/>
                    <a:ea typeface="Calibri"/>
                    <a:cs typeface="Calibri"/>
                    <a:sym typeface="Calibri"/>
                  </a:rPr>
                  <a:t>All attention matrices together take approximately 112 MB of memory (or 192 MB, depending on the configuration).</a:t>
                </a:r>
              </a:p>
              <a:p>
                <a:r>
                  <a:rPr lang="en-US" sz="1200" b="1" i="0" u="none" strike="noStrike" cap="none" dirty="0">
                    <a:solidFill>
                      <a:schemeClr val="dk1"/>
                    </a:solidFill>
                    <a:effectLst/>
                    <a:latin typeface="Calibri"/>
                    <a:ea typeface="Calibri"/>
                    <a:cs typeface="Calibri"/>
                    <a:sym typeface="Calibri"/>
                  </a:rPr>
                  <a:t>Output and Classification:</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output of the transformer includes a set of vectors, with the classification token being used for the final classification task.</a:t>
                </a:r>
              </a:p>
              <a:p>
                <a:pPr lvl="1"/>
                <a:r>
                  <a:rPr lang="en-US" sz="1200" b="0" i="0" u="none" strike="noStrike" cap="none" dirty="0">
                    <a:solidFill>
                      <a:schemeClr val="dk1"/>
                    </a:solidFill>
                    <a:effectLst/>
                    <a:latin typeface="Calibri"/>
                    <a:ea typeface="Calibri"/>
                    <a:cs typeface="Calibri"/>
                    <a:sym typeface="Calibri"/>
                  </a:rPr>
                  <a:t>A linear layer projects the classification token to a </a:t>
                </a:r>
                <a:r>
                  <a:rPr lang="en-US" sz="1200" b="0" i="0" u="none" strike="noStrike" cap="none">
                    <a:solidFill>
                      <a:schemeClr val="dk1"/>
                    </a:solidFill>
                    <a:latin typeface="Calibri"/>
                    <a:ea typeface="Calibri"/>
                    <a:cs typeface="Calibri"/>
                    <a:sym typeface="Calibri"/>
                  </a:rPr>
                  <a:t>𝐶</a:t>
                </a:r>
                <a:r>
                  <a:rPr lang="en-US" sz="1200" b="0" i="0" u="none" strike="noStrike" cap="none" dirty="0">
                    <a:solidFill>
                      <a:schemeClr val="dk1"/>
                    </a:solidFill>
                    <a:effectLst/>
                    <a:latin typeface="Calibri"/>
                    <a:ea typeface="Calibri"/>
                    <a:cs typeface="Calibri"/>
                    <a:sym typeface="Calibri"/>
                  </a:rPr>
                  <a:t>-dimensional vector, representing the predicted class scores.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Vision Transformer leverages the transformer architecture's ability to model long-range dependencies and interactions, applying it to image data without relying on traditional convolutions.</a:t>
                </a:r>
              </a:p>
              <a:p>
                <a:r>
                  <a:rPr lang="en-US" sz="1200" b="0" i="0" u="none" strike="noStrike" cap="none" dirty="0">
                    <a:solidFill>
                      <a:schemeClr val="dk1"/>
                    </a:solidFill>
                    <a:effectLst/>
                    <a:latin typeface="Calibri"/>
                    <a:ea typeface="Calibri"/>
                    <a:cs typeface="Calibri"/>
                    <a:sym typeface="Calibri"/>
                  </a:rPr>
                  <a:t>By treating image patches as tokens,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can effectively capture both local and global features, leading to competitive performance on image recognition tasks.</a:t>
                </a:r>
              </a:p>
              <a:p>
                <a:r>
                  <a:rPr lang="en-US" sz="1200" b="1" i="0" u="none" strike="noStrike" cap="none" dirty="0">
                    <a:solidFill>
                      <a:schemeClr val="dk1"/>
                    </a:solidFill>
                    <a:effectLst/>
                    <a:latin typeface="Calibri"/>
                    <a:ea typeface="Calibri"/>
                    <a:cs typeface="Calibri"/>
                    <a:sym typeface="Calibri"/>
                  </a:rPr>
                  <a:t>Benefits of Vision Transformers: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They offer a flexible and scalable approach to image recognition, benefiting from the parallel processing capabilities of transformers.</a:t>
                </a:r>
              </a:p>
              <a:p>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can handle large-scale image data efficiently, making them suitable for various computer vision applications.</a:t>
                </a:r>
              </a:p>
              <a:p>
                <a:r>
                  <a:rPr lang="en-US" sz="1200" b="1" i="0" u="none" strike="noStrike" cap="none" dirty="0">
                    <a:solidFill>
                      <a:schemeClr val="dk1"/>
                    </a:solidFill>
                    <a:effectLst/>
                    <a:latin typeface="Calibri"/>
                    <a:ea typeface="Calibri"/>
                    <a:cs typeface="Calibri"/>
                    <a:sym typeface="Calibri"/>
                  </a:rPr>
                  <a:t>Computational Considerations: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memory requirements for attention matrices are significant, especially with deep transformer architectures and multiple attention heads.</a:t>
                </a:r>
              </a:p>
              <a:p>
                <a:r>
                  <a:rPr lang="en-US" sz="1200" b="0" i="0" u="none" strike="noStrike" cap="none" dirty="0">
                    <a:solidFill>
                      <a:schemeClr val="dk1"/>
                    </a:solidFill>
                    <a:effectLst/>
                    <a:latin typeface="Calibri"/>
                    <a:ea typeface="Calibri"/>
                    <a:cs typeface="Calibri"/>
                    <a:sym typeface="Calibri"/>
                  </a:rPr>
                  <a:t>Efficient implementation and hardware considerations are important for deploying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at scale.</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a comprehensive understanding of the Vision Transformer architecture, highlighting its innovative approach to image recognition by adapting the transformer model for vision tasks. Understanding this concept is crucial for appreciating the versatility and power of transformers in domains beyond NLP, as well as the computational considerations involved in their implementation.</a:t>
                </a:r>
              </a:p>
              <a:p>
                <a:pPr marL="0" lvl="0" indent="0" algn="l" rtl="0">
                  <a:lnSpc>
                    <a:spcPct val="100000"/>
                  </a:lnSpc>
                  <a:spcBef>
                    <a:spcPts val="0"/>
                  </a:spcBef>
                  <a:spcAft>
                    <a:spcPts val="0"/>
                  </a:spcAft>
                  <a:buSzPts val="1400"/>
                  <a:buNone/>
                </a:pPr>
                <a:endParaRPr dirty="0"/>
              </a:p>
            </p:txBody>
          </p:sp>
        </mc:Fallback>
      </mc:AlternateContent>
      <p:sp>
        <p:nvSpPr>
          <p:cNvPr id="1960" name="Google Shape;196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4"/>
        <p:cNvGrpSpPr/>
        <p:nvPr/>
      </p:nvGrpSpPr>
      <p:grpSpPr>
        <a:xfrm>
          <a:off x="0" y="0"/>
          <a:ext cx="0" cy="0"/>
          <a:chOff x="0" y="0"/>
          <a:chExt cx="0" cy="0"/>
        </a:xfrm>
      </p:grpSpPr>
      <p:sp>
        <p:nvSpPr>
          <p:cNvPr id="2105" name="Google Shape;2105;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Comparison of </a:t>
            </a:r>
            <a:r>
              <a:rPr lang="en-US" sz="1200" b="1" i="0" u="none" strike="noStrike" cap="none" dirty="0" err="1">
                <a:solidFill>
                  <a:schemeClr val="dk1"/>
                </a:solidFill>
                <a:effectLst/>
                <a:latin typeface="Calibri"/>
                <a:ea typeface="Calibri"/>
                <a:cs typeface="Calibri"/>
                <a:sym typeface="Calibri"/>
              </a:rPr>
              <a:t>ViT</a:t>
            </a:r>
            <a:r>
              <a:rPr lang="en-US" sz="1200" b="1" i="0" u="none" strike="noStrike" cap="none" dirty="0">
                <a:solidFill>
                  <a:schemeClr val="dk1"/>
                </a:solidFill>
                <a:effectLst/>
                <a:latin typeface="Calibri"/>
                <a:ea typeface="Calibri"/>
                <a:cs typeface="Calibri"/>
                <a:sym typeface="Calibri"/>
              </a:rPr>
              <a:t> and </a:t>
            </a:r>
            <a:r>
              <a:rPr lang="en-US" sz="1200" b="1" i="0" u="none" strike="noStrike" cap="none" dirty="0" err="1">
                <a:solidFill>
                  <a:schemeClr val="dk1"/>
                </a:solidFill>
                <a:effectLst/>
                <a:latin typeface="Calibri"/>
                <a:ea typeface="Calibri"/>
                <a:cs typeface="Calibri"/>
                <a:sym typeface="Calibri"/>
              </a:rPr>
              <a:t>ResNets</a:t>
            </a:r>
            <a:r>
              <a:rPr lang="en-US" sz="1200" b="1" i="0" u="none" strike="noStrike" cap="none" dirty="0">
                <a:solidFill>
                  <a:schemeClr val="dk1"/>
                </a:solidFill>
                <a:effectLst/>
                <a:latin typeface="Calibri"/>
                <a:ea typeface="Calibri"/>
                <a:cs typeface="Calibri"/>
                <a:sym typeface="Calibri"/>
              </a:rPr>
              <a:t>:</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Performance Metric:</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y-axis represents the ImageNet Top-1 accuracy percentage, which is a common metric for evaluating the performance of image classification models.</a:t>
            </a:r>
          </a:p>
          <a:p>
            <a:r>
              <a:rPr lang="en-US" sz="1200" b="1" i="0" u="none" strike="noStrike" cap="none" dirty="0">
                <a:solidFill>
                  <a:schemeClr val="dk1"/>
                </a:solidFill>
                <a:effectLst/>
                <a:latin typeface="Calibri"/>
                <a:ea typeface="Calibri"/>
                <a:cs typeface="Calibri"/>
                <a:sym typeface="Calibri"/>
              </a:rPr>
              <a:t>Pre-training Datasets: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x-axis shows different pre-training datasets: ImageNet, ImageNet-21k, and JFT-300M.</a:t>
            </a:r>
          </a:p>
          <a:p>
            <a:pPr lvl="1"/>
            <a:r>
              <a:rPr lang="en-US" sz="1200" b="0" i="0" u="none" strike="noStrike" cap="none" dirty="0">
                <a:solidFill>
                  <a:schemeClr val="dk1"/>
                </a:solidFill>
                <a:effectLst/>
                <a:latin typeface="Calibri"/>
                <a:ea typeface="Calibri"/>
                <a:cs typeface="Calibri"/>
                <a:sym typeface="Calibri"/>
              </a:rPr>
              <a:t>These datasets vary in size and diversity, which can significantly impact the performance of models pre-trained on them.</a:t>
            </a:r>
          </a:p>
          <a:p>
            <a:r>
              <a:rPr lang="en-US" sz="1200" b="1" i="0" u="none" strike="noStrike" cap="none" dirty="0">
                <a:solidFill>
                  <a:schemeClr val="dk1"/>
                </a:solidFill>
                <a:effectLst/>
                <a:latin typeface="Calibri"/>
                <a:ea typeface="Calibri"/>
                <a:cs typeface="Calibri"/>
                <a:sym typeface="Calibri"/>
              </a:rPr>
              <a:t>Model Configurations: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slide mentions different configurations of Vision Transformers, denoted by B (Base), L (Large), and H (Huge), which refer to the size of the model.</a:t>
            </a:r>
          </a:p>
          <a:p>
            <a:pPr lvl="1"/>
            <a:r>
              <a:rPr lang="en-US" sz="1200" b="0" i="0" u="none" strike="noStrike" cap="none" dirty="0">
                <a:solidFill>
                  <a:schemeClr val="dk1"/>
                </a:solidFill>
                <a:effectLst/>
                <a:latin typeface="Calibri"/>
                <a:ea typeface="Calibri"/>
                <a:cs typeface="Calibri"/>
                <a:sym typeface="Calibri"/>
              </a:rPr>
              <a:t>The numbers /32, /16, /14 indicate the patch size used in the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Smaller patch sizes result in more patches and typically require larger models to process them effectively.</a:t>
            </a:r>
          </a:p>
          <a:p>
            <a:r>
              <a:rPr lang="en-US" sz="1200" b="1" i="0" u="none" strike="noStrike" cap="none" dirty="0" err="1">
                <a:solidFill>
                  <a:schemeClr val="dk1"/>
                </a:solidFill>
                <a:effectLst/>
                <a:latin typeface="Calibri"/>
                <a:ea typeface="Calibri"/>
                <a:cs typeface="Calibri"/>
                <a:sym typeface="Calibri"/>
              </a:rPr>
              <a:t>ResNet</a:t>
            </a:r>
            <a:r>
              <a:rPr lang="en-US" sz="1200" b="1" i="0" u="none" strike="noStrike" cap="none" dirty="0">
                <a:solidFill>
                  <a:schemeClr val="dk1"/>
                </a:solidFill>
                <a:effectLst/>
                <a:latin typeface="Calibri"/>
                <a:ea typeface="Calibri"/>
                <a:cs typeface="Calibri"/>
                <a:sym typeface="Calibri"/>
              </a:rPr>
              <a:t> Baseline:</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ResNet-152x4 model is used as a baseline for comparison. </a:t>
            </a:r>
            <a:r>
              <a:rPr lang="en-US" sz="1200" b="0" i="0" u="none" strike="noStrike" cap="none" dirty="0" err="1">
                <a:solidFill>
                  <a:schemeClr val="dk1"/>
                </a:solidFill>
                <a:effectLst/>
                <a:latin typeface="Calibri"/>
                <a:ea typeface="Calibri"/>
                <a:cs typeface="Calibri"/>
                <a:sym typeface="Calibri"/>
              </a:rPr>
              <a:t>ResNets</a:t>
            </a:r>
            <a:r>
              <a:rPr lang="en-US" sz="1200" b="0" i="0" u="none" strike="noStrike" cap="none" dirty="0">
                <a:solidFill>
                  <a:schemeClr val="dk1"/>
                </a:solidFill>
                <a:effectLst/>
                <a:latin typeface="Calibri"/>
                <a:ea typeface="Calibri"/>
                <a:cs typeface="Calibri"/>
                <a:sym typeface="Calibri"/>
              </a:rPr>
              <a:t> are a well-established architecture in computer vision, known for their strong performance on image classification tasks.</a:t>
            </a:r>
          </a:p>
          <a:p>
            <a:r>
              <a:rPr lang="en-US" sz="1200" b="1" i="0" u="none" strike="noStrike" cap="none" dirty="0">
                <a:solidFill>
                  <a:schemeClr val="dk1"/>
                </a:solidFill>
                <a:effectLst/>
                <a:latin typeface="Calibri"/>
                <a:ea typeface="Calibri"/>
                <a:cs typeface="Calibri"/>
                <a:sym typeface="Calibri"/>
              </a:rPr>
              <a:t>Key Observations: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slide is likely intended to show how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perform relative to </a:t>
            </a:r>
            <a:r>
              <a:rPr lang="en-US" sz="1200" b="0" i="0" u="none" strike="noStrike" cap="none" dirty="0" err="1">
                <a:solidFill>
                  <a:schemeClr val="dk1"/>
                </a:solidFill>
                <a:effectLst/>
                <a:latin typeface="Calibri"/>
                <a:ea typeface="Calibri"/>
                <a:cs typeface="Calibri"/>
                <a:sym typeface="Calibri"/>
              </a:rPr>
              <a:t>ResNets</a:t>
            </a:r>
            <a:r>
              <a:rPr lang="en-US" sz="1200" b="0" i="0" u="none" strike="noStrike" cap="none" dirty="0">
                <a:solidFill>
                  <a:schemeClr val="dk1"/>
                </a:solidFill>
                <a:effectLst/>
                <a:latin typeface="Calibri"/>
                <a:ea typeface="Calibri"/>
                <a:cs typeface="Calibri"/>
                <a:sym typeface="Calibri"/>
              </a:rPr>
              <a:t> across different datasets and configurations.</a:t>
            </a:r>
          </a:p>
          <a:p>
            <a:pPr lvl="1"/>
            <a:r>
              <a:rPr lang="en-US" sz="1200" b="0" i="0" u="none" strike="noStrike" cap="none" dirty="0">
                <a:solidFill>
                  <a:schemeClr val="dk1"/>
                </a:solidFill>
                <a:effectLst/>
                <a:latin typeface="Calibri"/>
                <a:ea typeface="Calibri"/>
                <a:cs typeface="Calibri"/>
                <a:sym typeface="Calibri"/>
              </a:rPr>
              <a:t>Larger datasets and more complex model configurations (e.g., smaller patch sizes) are expected to improve the performance of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Vision Transformers can achieve competitive or superior performance compared to traditional convolutional neural networks like </a:t>
            </a:r>
            <a:r>
              <a:rPr lang="en-US" sz="1200" b="0" i="0" u="none" strike="noStrike" cap="none" dirty="0" err="1">
                <a:solidFill>
                  <a:schemeClr val="dk1"/>
                </a:solidFill>
                <a:effectLst/>
                <a:latin typeface="Calibri"/>
                <a:ea typeface="Calibri"/>
                <a:cs typeface="Calibri"/>
                <a:sym typeface="Calibri"/>
              </a:rPr>
              <a:t>ResNets</a:t>
            </a:r>
            <a:r>
              <a:rPr lang="en-US" sz="1200" b="0" i="0" u="none" strike="noStrike" cap="none" dirty="0">
                <a:solidFill>
                  <a:schemeClr val="dk1"/>
                </a:solidFill>
                <a:effectLst/>
                <a:latin typeface="Calibri"/>
                <a:ea typeface="Calibri"/>
                <a:cs typeface="Calibri"/>
                <a:sym typeface="Calibri"/>
              </a:rPr>
              <a:t>, especially when pre-trained on large and diverse datasets.</a:t>
            </a:r>
          </a:p>
          <a:p>
            <a:r>
              <a:rPr lang="en-US" sz="1200" b="0" i="0" u="none" strike="noStrike" cap="none" dirty="0">
                <a:solidFill>
                  <a:schemeClr val="dk1"/>
                </a:solidFill>
                <a:effectLst/>
                <a:latin typeface="Calibri"/>
                <a:ea typeface="Calibri"/>
                <a:cs typeface="Calibri"/>
                <a:sym typeface="Calibri"/>
              </a:rPr>
              <a:t>The flexibility of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in handling different patch sizes and model configurations allows it to adapt to various image recognition tasks effectively.</a:t>
            </a:r>
          </a:p>
          <a:p>
            <a:r>
              <a:rPr lang="en-US" sz="1200" b="1" i="0" u="none" strike="noStrike" cap="none" dirty="0">
                <a:solidFill>
                  <a:schemeClr val="dk1"/>
                </a:solidFill>
                <a:effectLst/>
                <a:latin typeface="Calibri"/>
                <a:ea typeface="Calibri"/>
                <a:cs typeface="Calibri"/>
                <a:sym typeface="Calibri"/>
              </a:rPr>
              <a:t>Benefits of Vision Transformers: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They offer a novel approach to image recognition by leveraging the transformer architecture, which excels at capturing long-range dependencies and interactions.</a:t>
            </a:r>
          </a:p>
          <a:p>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can scale with larger datasets and more complex configurations, potentially surpassing the performance of traditional CNNs.</a:t>
            </a:r>
          </a:p>
          <a:p>
            <a:br>
              <a:rPr lang="en-US" dirty="0"/>
            </a:br>
            <a:endParaRPr dirty="0"/>
          </a:p>
        </p:txBody>
      </p:sp>
      <p:sp>
        <p:nvSpPr>
          <p:cNvPr id="2106" name="Google Shape;2106;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5"/>
        <p:cNvGrpSpPr/>
        <p:nvPr/>
      </p:nvGrpSpPr>
      <p:grpSpPr>
        <a:xfrm>
          <a:off x="0" y="0"/>
          <a:ext cx="0" cy="0"/>
          <a:chOff x="0" y="0"/>
          <a:chExt cx="0" cy="0"/>
        </a:xfrm>
      </p:grpSpPr>
      <p:sp>
        <p:nvSpPr>
          <p:cNvPr id="2116" name="Google Shape;2116;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7" name="Google Shape;2117;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9"/>
        <p:cNvGrpSpPr/>
        <p:nvPr/>
      </p:nvGrpSpPr>
      <p:grpSpPr>
        <a:xfrm>
          <a:off x="0" y="0"/>
          <a:ext cx="0" cy="0"/>
          <a:chOff x="0" y="0"/>
          <a:chExt cx="0" cy="0"/>
        </a:xfrm>
      </p:grpSpPr>
      <p:sp>
        <p:nvSpPr>
          <p:cNvPr id="2130" name="Google Shape;2130;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1" name="Google Shape;2131;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3"/>
        <p:cNvGrpSpPr/>
        <p:nvPr/>
      </p:nvGrpSpPr>
      <p:grpSpPr>
        <a:xfrm>
          <a:off x="0" y="0"/>
          <a:ext cx="0" cy="0"/>
          <a:chOff x="0" y="0"/>
          <a:chExt cx="0" cy="0"/>
        </a:xfrm>
      </p:grpSpPr>
      <p:sp>
        <p:nvSpPr>
          <p:cNvPr id="2144" name="Google Shape;2144;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5" name="Google Shape;2145;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5"/>
        <p:cNvGrpSpPr/>
        <p:nvPr/>
      </p:nvGrpSpPr>
      <p:grpSpPr>
        <a:xfrm>
          <a:off x="0" y="0"/>
          <a:ext cx="0" cy="0"/>
          <a:chOff x="0" y="0"/>
          <a:chExt cx="0" cy="0"/>
        </a:xfrm>
      </p:grpSpPr>
      <p:sp>
        <p:nvSpPr>
          <p:cNvPr id="2156" name="Google Shape;2156;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7" name="Google Shape;215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1"/>
        <p:cNvGrpSpPr/>
        <p:nvPr/>
      </p:nvGrpSpPr>
      <p:grpSpPr>
        <a:xfrm>
          <a:off x="0" y="0"/>
          <a:ext cx="0" cy="0"/>
          <a:chOff x="0" y="0"/>
          <a:chExt cx="0" cy="0"/>
        </a:xfrm>
      </p:grpSpPr>
      <p:sp>
        <p:nvSpPr>
          <p:cNvPr id="2172" name="Google Shape;2172;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73" name="Google Shape;21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7"/>
        <p:cNvGrpSpPr/>
        <p:nvPr/>
      </p:nvGrpSpPr>
      <p:grpSpPr>
        <a:xfrm>
          <a:off x="0" y="0"/>
          <a:ext cx="0" cy="0"/>
          <a:chOff x="0" y="0"/>
          <a:chExt cx="0" cy="0"/>
        </a:xfrm>
      </p:grpSpPr>
      <p:sp>
        <p:nvSpPr>
          <p:cNvPr id="2188" name="Google Shape;2188;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i="0" u="none" strike="noStrike" cap="none" dirty="0">
                <a:solidFill>
                  <a:schemeClr val="dk1"/>
                </a:solidFill>
                <a:effectLst/>
                <a:latin typeface="Calibri"/>
                <a:ea typeface="Calibri"/>
                <a:cs typeface="Calibri"/>
                <a:sym typeface="Calibri"/>
              </a:rPr>
              <a:t>Performance Comparison:</a:t>
            </a:r>
            <a:endParaRPr lang="en-US" sz="1200" b="0" i="0" u="none" strike="noStrike" cap="none" dirty="0">
              <a:solidFill>
                <a:schemeClr val="dk1"/>
              </a:solidFill>
              <a:effectLst/>
              <a:latin typeface="Calibri"/>
              <a:ea typeface="Calibri"/>
              <a:cs typeface="Calibri"/>
              <a:sym typeface="Calibri"/>
            </a:endParaRPr>
          </a:p>
          <a:p>
            <a:r>
              <a:rPr lang="en-US" sz="1200" b="1" i="0" u="none" strike="noStrike" cap="none" dirty="0">
                <a:solidFill>
                  <a:schemeClr val="dk1"/>
                </a:solidFill>
                <a:effectLst/>
                <a:latin typeface="Calibri"/>
                <a:ea typeface="Calibri"/>
                <a:cs typeface="Calibri"/>
                <a:sym typeface="Calibri"/>
              </a:rPr>
              <a:t>Accuracy Metric:</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y-axis represents the ImageNet Top-1 accuracy percentage, a standard metric for evaluating image classification models.</a:t>
            </a:r>
          </a:p>
          <a:p>
            <a:r>
              <a:rPr lang="en-US" sz="1200" b="1" i="0" u="none" strike="noStrike" cap="none" dirty="0">
                <a:solidFill>
                  <a:schemeClr val="dk1"/>
                </a:solidFill>
                <a:effectLst/>
                <a:latin typeface="Calibri"/>
                <a:ea typeface="Calibri"/>
                <a:cs typeface="Calibri"/>
                <a:sym typeface="Calibri"/>
              </a:rPr>
              <a:t>Pre-training Datasets: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x-axis shows different pre-training datasets: ImageNet, ImageNet-21k, and JFT-300M.</a:t>
            </a:r>
          </a:p>
          <a:p>
            <a:pPr lvl="1"/>
            <a:r>
              <a:rPr lang="en-US" sz="1200" b="0" i="0" u="none" strike="noStrike" cap="none" dirty="0">
                <a:solidFill>
                  <a:schemeClr val="dk1"/>
                </a:solidFill>
                <a:effectLst/>
                <a:latin typeface="Calibri"/>
                <a:ea typeface="Calibri"/>
                <a:cs typeface="Calibri"/>
                <a:sym typeface="Calibri"/>
              </a:rPr>
              <a:t>These datasets vary in size and diversity, impacting the performance of models pre-trained on them.</a:t>
            </a:r>
          </a:p>
          <a:p>
            <a:r>
              <a:rPr lang="en-US" sz="1200" b="1" i="0" u="none" strike="noStrike" cap="none" dirty="0">
                <a:solidFill>
                  <a:schemeClr val="dk1"/>
                </a:solidFill>
                <a:effectLst/>
                <a:latin typeface="Calibri"/>
                <a:ea typeface="Calibri"/>
                <a:cs typeface="Calibri"/>
                <a:sym typeface="Calibri"/>
              </a:rPr>
              <a:t>Model Configurations: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a:solidFill>
                  <a:schemeClr val="dk1"/>
                </a:solidFill>
                <a:effectLst/>
                <a:latin typeface="Calibri"/>
                <a:ea typeface="Calibri"/>
                <a:cs typeface="Calibri"/>
                <a:sym typeface="Calibri"/>
              </a:rPr>
              <a:t>The slide compares different configurations of Vision Transformers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-B/32,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-B/16,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-L/32,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-L/16,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-H/14) and </a:t>
            </a:r>
            <a:r>
              <a:rPr lang="en-US" sz="1200" b="0" i="0" u="none" strike="noStrike" cap="none" dirty="0" err="1">
                <a:solidFill>
                  <a:schemeClr val="dk1"/>
                </a:solidFill>
                <a:effectLst/>
                <a:latin typeface="Calibri"/>
                <a:ea typeface="Calibri"/>
                <a:cs typeface="Calibri"/>
                <a:sym typeface="Calibri"/>
              </a:rPr>
              <a:t>ResNets</a:t>
            </a:r>
            <a:r>
              <a:rPr lang="en-US" sz="1200" b="0" i="0" u="none" strike="noStrike" cap="none" dirty="0">
                <a:solidFill>
                  <a:schemeClr val="dk1"/>
                </a:solidFill>
                <a:effectLst/>
                <a:latin typeface="Calibri"/>
                <a:ea typeface="Calibri"/>
                <a:cs typeface="Calibri"/>
                <a:sym typeface="Calibri"/>
              </a:rPr>
              <a:t>.</a:t>
            </a:r>
          </a:p>
          <a:p>
            <a:pPr lvl="1"/>
            <a:r>
              <a:rPr lang="en-US" sz="1200" b="0" i="0" u="none" strike="noStrike" cap="none" dirty="0">
                <a:solidFill>
                  <a:schemeClr val="dk1"/>
                </a:solidFill>
                <a:effectLst/>
                <a:latin typeface="Calibri"/>
                <a:ea typeface="Calibri"/>
                <a:cs typeface="Calibri"/>
                <a:sym typeface="Calibri"/>
              </a:rPr>
              <a:t>The numbers /32, /16, /14 indicate the patch size used in the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Smaller patch sizes result in more patches and typically require larger models to process them effectively.</a:t>
            </a:r>
          </a:p>
          <a:p>
            <a:r>
              <a:rPr lang="en-US" sz="1200" b="1" i="0" u="none" strike="noStrike" cap="none" dirty="0">
                <a:solidFill>
                  <a:schemeClr val="dk1"/>
                </a:solidFill>
                <a:effectLst/>
                <a:latin typeface="Calibri"/>
                <a:ea typeface="Calibri"/>
                <a:cs typeface="Calibri"/>
                <a:sym typeface="Calibri"/>
              </a:rPr>
              <a:t>Training Efficiency:</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are noted for their efficient use of GPU/TPU hardware, with matrix multiplication being more hardware-friendly than convolution operations.</a:t>
            </a:r>
          </a:p>
          <a:p>
            <a:pPr lvl="1"/>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require 2.5k TPU-v3 core days of training, compared to 9.9k TPU-v3 core days for </a:t>
            </a:r>
            <a:r>
              <a:rPr lang="en-US" sz="1200" b="0" i="0" u="none" strike="noStrike" cap="none" dirty="0" err="1">
                <a:solidFill>
                  <a:schemeClr val="dk1"/>
                </a:solidFill>
                <a:effectLst/>
                <a:latin typeface="Calibri"/>
                <a:ea typeface="Calibri"/>
                <a:cs typeface="Calibri"/>
                <a:sym typeface="Calibri"/>
              </a:rPr>
              <a:t>ResNets</a:t>
            </a:r>
            <a:r>
              <a:rPr lang="en-US" sz="1200" b="0" i="0" u="none" strike="noStrike" cap="none" dirty="0">
                <a:solidFill>
                  <a:schemeClr val="dk1"/>
                </a:solidFill>
                <a:effectLst/>
                <a:latin typeface="Calibri"/>
                <a:ea typeface="Calibri"/>
                <a:cs typeface="Calibri"/>
                <a:sym typeface="Calibri"/>
              </a:rPr>
              <a:t>, indicating a significant reduction in computational resources.</a:t>
            </a:r>
          </a:p>
          <a:p>
            <a:r>
              <a:rPr lang="en-US" sz="1200" b="1" i="0" u="none" strike="noStrike" cap="none" dirty="0">
                <a:solidFill>
                  <a:schemeClr val="dk1"/>
                </a:solidFill>
                <a:effectLst/>
                <a:latin typeface="Calibri"/>
                <a:ea typeface="Calibri"/>
                <a:cs typeface="Calibri"/>
                <a:sym typeface="Calibri"/>
              </a:rPr>
              <a:t>Key Observations:</a:t>
            </a:r>
            <a:endParaRPr lang="en-US" sz="1200" b="0" i="0" u="none" strike="noStrike" cap="none" dirty="0">
              <a:solidFill>
                <a:schemeClr val="dk1"/>
              </a:solidFill>
              <a:effectLst/>
              <a:latin typeface="Calibri"/>
              <a:ea typeface="Calibri"/>
              <a:cs typeface="Calibri"/>
              <a:sym typeface="Calibri"/>
            </a:endParaRPr>
          </a:p>
          <a:p>
            <a:pPr lvl="1"/>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show competitive or superior performance compared to </a:t>
            </a:r>
            <a:r>
              <a:rPr lang="en-US" sz="1200" b="0" i="0" u="none" strike="noStrike" cap="none" dirty="0" err="1">
                <a:solidFill>
                  <a:schemeClr val="dk1"/>
                </a:solidFill>
                <a:effectLst/>
                <a:latin typeface="Calibri"/>
                <a:ea typeface="Calibri"/>
                <a:cs typeface="Calibri"/>
                <a:sym typeface="Calibri"/>
              </a:rPr>
              <a:t>ResNets</a:t>
            </a:r>
            <a:r>
              <a:rPr lang="en-US" sz="1200" b="0" i="0" u="none" strike="noStrike" cap="none" dirty="0">
                <a:solidFill>
                  <a:schemeClr val="dk1"/>
                </a:solidFill>
                <a:effectLst/>
                <a:latin typeface="Calibri"/>
                <a:ea typeface="Calibri"/>
                <a:cs typeface="Calibri"/>
                <a:sym typeface="Calibri"/>
              </a:rPr>
              <a:t>, especially when pre-trained on larger datasets like JFT-300M.</a:t>
            </a:r>
          </a:p>
          <a:p>
            <a:pPr lvl="1"/>
            <a:r>
              <a:rPr lang="en-US" sz="1200" b="0" i="0" u="none" strike="noStrike" cap="none" dirty="0">
                <a:solidFill>
                  <a:schemeClr val="dk1"/>
                </a:solidFill>
                <a:effectLst/>
                <a:latin typeface="Calibri"/>
                <a:ea typeface="Calibri"/>
                <a:cs typeface="Calibri"/>
                <a:sym typeface="Calibri"/>
              </a:rPr>
              <a:t>The efficiency of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in utilizing hardware resources makes them attractive for large-scale image recognition tasks.</a:t>
            </a:r>
          </a:p>
          <a:p>
            <a:r>
              <a:rPr lang="en-US" sz="1200" b="1" i="0" u="none" strike="noStrike" cap="none" dirty="0">
                <a:solidFill>
                  <a:schemeClr val="dk1"/>
                </a:solidFill>
                <a:effectLst/>
                <a:latin typeface="Calibri"/>
                <a:ea typeface="Calibri"/>
                <a:cs typeface="Calibri"/>
                <a:sym typeface="Calibri"/>
              </a:rPr>
              <a:t>Key Insight: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Vision Transformers can achieve high accuracy with efficient training, making them a powerful alternative to traditional convolutional neural networks like </a:t>
            </a:r>
            <a:r>
              <a:rPr lang="en-US" sz="1200" b="0" i="0" u="none" strike="noStrike" cap="none" dirty="0" err="1">
                <a:solidFill>
                  <a:schemeClr val="dk1"/>
                </a:solidFill>
                <a:effectLst/>
                <a:latin typeface="Calibri"/>
                <a:ea typeface="Calibri"/>
                <a:cs typeface="Calibri"/>
                <a:sym typeface="Calibri"/>
              </a:rPr>
              <a:t>ResNets</a:t>
            </a:r>
            <a:r>
              <a:rPr lang="en-US" sz="1200" b="0" i="0" u="none" strike="noStrike" cap="none" dirty="0">
                <a:solidFill>
                  <a:schemeClr val="dk1"/>
                </a:solidFill>
                <a:effectLst/>
                <a:latin typeface="Calibri"/>
                <a:ea typeface="Calibri"/>
                <a:cs typeface="Calibri"/>
                <a:sym typeface="Calibri"/>
              </a:rPr>
              <a:t>.</a:t>
            </a:r>
          </a:p>
          <a:p>
            <a:r>
              <a:rPr lang="en-US" sz="1200" b="0" i="0" u="none" strike="noStrike" cap="none" dirty="0">
                <a:solidFill>
                  <a:schemeClr val="dk1"/>
                </a:solidFill>
                <a:effectLst/>
                <a:latin typeface="Calibri"/>
                <a:ea typeface="Calibri"/>
                <a:cs typeface="Calibri"/>
                <a:sym typeface="Calibri"/>
              </a:rPr>
              <a:t>The ability to leverage large datasets and efficient hardware utilization positions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as a promising approach for advancing image recognition technology.</a:t>
            </a:r>
          </a:p>
          <a:p>
            <a:r>
              <a:rPr lang="en-US" sz="1200" b="1" i="0" u="none" strike="noStrike" cap="none" dirty="0">
                <a:solidFill>
                  <a:schemeClr val="dk1"/>
                </a:solidFill>
                <a:effectLst/>
                <a:latin typeface="Calibri"/>
                <a:ea typeface="Calibri"/>
                <a:cs typeface="Calibri"/>
                <a:sym typeface="Calibri"/>
              </a:rPr>
              <a:t>Benefits of Vision Transformers:</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They offer a novel approach to image recognition by leveraging the transformer architecture, which excels at capturing long-range dependencies and interactions.</a:t>
            </a:r>
          </a:p>
          <a:p>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can scale with larger datasets and more complex configurations, potentially surpassing the performance of traditional CNNs.</a:t>
            </a:r>
          </a:p>
          <a:p>
            <a:r>
              <a:rPr lang="en-US" sz="1200" b="1" i="0" u="none" strike="noStrike" cap="none" dirty="0">
                <a:solidFill>
                  <a:schemeClr val="dk1"/>
                </a:solidFill>
                <a:effectLst/>
                <a:latin typeface="Calibri"/>
                <a:ea typeface="Calibri"/>
                <a:cs typeface="Calibri"/>
                <a:sym typeface="Calibri"/>
              </a:rPr>
              <a:t>Considerations for Improvement:</a:t>
            </a:r>
            <a:endParaRPr lang="en-US" sz="1200" b="0" i="0" u="none" strike="noStrike" cap="none" dirty="0">
              <a:solidFill>
                <a:schemeClr val="dk1"/>
              </a:solidFill>
              <a:effectLst/>
              <a:latin typeface="Calibri"/>
              <a:ea typeface="Calibri"/>
              <a:cs typeface="Calibri"/>
              <a:sym typeface="Calibri"/>
            </a:endParaRPr>
          </a:p>
          <a:p>
            <a:r>
              <a:rPr lang="en-US" sz="1200" b="0" i="0" u="none" strike="noStrike" cap="none" dirty="0">
                <a:solidFill>
                  <a:schemeClr val="dk1"/>
                </a:solidFill>
                <a:effectLst/>
                <a:latin typeface="Calibri"/>
                <a:ea typeface="Calibri"/>
                <a:cs typeface="Calibri"/>
                <a:sym typeface="Calibri"/>
              </a:rPr>
              <a:t>The slide poses a question about improving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performance on ImageNet, suggesting that further research and optimization could enhance their effectiveness on this benchmark.</a:t>
            </a:r>
          </a:p>
          <a:p>
            <a:br>
              <a:rPr lang="en-US" dirty="0"/>
            </a:br>
            <a:endParaRPr lang="en-US" dirty="0"/>
          </a:p>
          <a:p>
            <a:r>
              <a:rPr lang="en-US" sz="1200" b="0" i="0" u="none" strike="noStrike" cap="none" dirty="0">
                <a:solidFill>
                  <a:schemeClr val="dk1"/>
                </a:solidFill>
                <a:effectLst/>
                <a:latin typeface="Calibri"/>
                <a:ea typeface="Calibri"/>
                <a:cs typeface="Calibri"/>
                <a:sym typeface="Calibri"/>
              </a:rPr>
              <a:t>This slide provides insights into the performance and efficiency of Vision Transformers compared to </a:t>
            </a:r>
            <a:r>
              <a:rPr lang="en-US" sz="1200" b="0" i="0" u="none" strike="noStrike" cap="none" dirty="0" err="1">
                <a:solidFill>
                  <a:schemeClr val="dk1"/>
                </a:solidFill>
                <a:effectLst/>
                <a:latin typeface="Calibri"/>
                <a:ea typeface="Calibri"/>
                <a:cs typeface="Calibri"/>
                <a:sym typeface="Calibri"/>
              </a:rPr>
              <a:t>ResNets</a:t>
            </a:r>
            <a:r>
              <a:rPr lang="en-US" sz="1200" b="0" i="0" u="none" strike="noStrike" cap="none" dirty="0">
                <a:solidFill>
                  <a:schemeClr val="dk1"/>
                </a:solidFill>
                <a:effectLst/>
                <a:latin typeface="Calibri"/>
                <a:ea typeface="Calibri"/>
                <a:cs typeface="Calibri"/>
                <a:sym typeface="Calibri"/>
              </a:rPr>
              <a:t>, highlighting the potential of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dirty="0">
                <a:solidFill>
                  <a:schemeClr val="dk1"/>
                </a:solidFill>
                <a:effectLst/>
                <a:latin typeface="Calibri"/>
                <a:ea typeface="Calibri"/>
                <a:cs typeface="Calibri"/>
                <a:sym typeface="Calibri"/>
              </a:rPr>
              <a:t> models to advance the state of the art in computer vision. Understanding these comparisons is crucial for appreciating the advantages of </a:t>
            </a:r>
            <a:r>
              <a:rPr lang="en-US" sz="1200" b="0" i="0" u="none" strike="noStrike" cap="none" dirty="0" err="1">
                <a:solidFill>
                  <a:schemeClr val="dk1"/>
                </a:solidFill>
                <a:effectLst/>
                <a:latin typeface="Calibri"/>
                <a:ea typeface="Calibri"/>
                <a:cs typeface="Calibri"/>
                <a:sym typeface="Calibri"/>
              </a:rPr>
              <a:t>ViT</a:t>
            </a:r>
            <a:r>
              <a:rPr lang="en-US" sz="1200" b="0" i="0" u="none" strike="noStrike" cap="none">
                <a:solidFill>
                  <a:schemeClr val="dk1"/>
                </a:solidFill>
                <a:effectLst/>
                <a:latin typeface="Calibri"/>
                <a:ea typeface="Calibri"/>
                <a:cs typeface="Calibri"/>
                <a:sym typeface="Calibri"/>
              </a:rPr>
              <a:t> models in terms of accuracy and computational efficiency.</a:t>
            </a:r>
          </a:p>
          <a:p>
            <a:pPr marL="0" lvl="0" indent="0" algn="l" rtl="0">
              <a:lnSpc>
                <a:spcPct val="100000"/>
              </a:lnSpc>
              <a:spcBef>
                <a:spcPts val="0"/>
              </a:spcBef>
              <a:spcAft>
                <a:spcPts val="0"/>
              </a:spcAft>
              <a:buSzPts val="1400"/>
              <a:buNone/>
            </a:pPr>
            <a:endParaRPr/>
          </a:p>
        </p:txBody>
      </p:sp>
      <p:sp>
        <p:nvSpPr>
          <p:cNvPr id="2189" name="Google Shape;2189;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2"/>
        <p:cNvGrpSpPr/>
        <p:nvPr/>
      </p:nvGrpSpPr>
      <p:grpSpPr>
        <a:xfrm>
          <a:off x="0" y="0"/>
          <a:ext cx="0" cy="0"/>
          <a:chOff x="0" y="0"/>
          <a:chExt cx="0" cy="0"/>
        </a:xfrm>
      </p:grpSpPr>
      <p:sp>
        <p:nvSpPr>
          <p:cNvPr id="2203" name="Google Shape;2203;p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4" name="Google Shape;220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8"/>
        <p:cNvGrpSpPr/>
        <p:nvPr/>
      </p:nvGrpSpPr>
      <p:grpSpPr>
        <a:xfrm>
          <a:off x="0" y="0"/>
          <a:ext cx="0" cy="0"/>
          <a:chOff x="0" y="0"/>
          <a:chExt cx="0" cy="0"/>
        </a:xfrm>
      </p:grpSpPr>
      <p:sp>
        <p:nvSpPr>
          <p:cNvPr id="2209" name="Google Shape;2209;g24320ba2c0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0" name="Google Shape;2210;g24320ba2c0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19"/>
        <p:cNvGrpSpPr/>
        <p:nvPr/>
      </p:nvGrpSpPr>
      <p:grpSpPr>
        <a:xfrm>
          <a:off x="0" y="0"/>
          <a:ext cx="0" cy="0"/>
          <a:chOff x="0" y="0"/>
          <a:chExt cx="0" cy="0"/>
        </a:xfrm>
      </p:grpSpPr>
      <p:pic>
        <p:nvPicPr>
          <p:cNvPr id="20" name="Google Shape;20;p7" descr="BITS Pilani logo"/>
          <p:cNvPicPr preferRelativeResize="0"/>
          <p:nvPr/>
        </p:nvPicPr>
        <p:blipFill rotWithShape="1">
          <a:blip r:embed="rId2">
            <a:alphaModFix/>
          </a:blip>
          <a:srcRect/>
          <a:stretch/>
        </p:blipFill>
        <p:spPr>
          <a:xfrm>
            <a:off x="384175" y="288928"/>
            <a:ext cx="3338739" cy="865907"/>
          </a:xfrm>
          <a:prstGeom prst="rect">
            <a:avLst/>
          </a:prstGeom>
          <a:noFill/>
          <a:ln>
            <a:noFill/>
          </a:ln>
        </p:spPr>
      </p:pic>
      <p:sp>
        <p:nvSpPr>
          <p:cNvPr id="21" name="Google Shape;21;p7"/>
          <p:cNvSpPr txBox="1">
            <a:spLocks noGrp="1"/>
          </p:cNvSpPr>
          <p:nvPr>
            <p:ph type="title"/>
          </p:nvPr>
        </p:nvSpPr>
        <p:spPr>
          <a:xfrm>
            <a:off x="468449" y="1671639"/>
            <a:ext cx="6005376" cy="65318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7"/>
          <p:cNvSpPr txBox="1">
            <a:spLocks noGrp="1"/>
          </p:cNvSpPr>
          <p:nvPr>
            <p:ph type="body" idx="1"/>
          </p:nvPr>
        </p:nvSpPr>
        <p:spPr>
          <a:xfrm>
            <a:off x="1362075" y="2586447"/>
            <a:ext cx="6005376" cy="3304902"/>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1000"/>
              </a:spcBef>
              <a:spcAft>
                <a:spcPts val="0"/>
              </a:spcAft>
              <a:buClr>
                <a:schemeClr val="dk1"/>
              </a:buClr>
              <a:buSzPts val="2400"/>
              <a:buFont typeface="Calibri"/>
              <a:buAutoNum type="arabicPeriod"/>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3" name="Google Shape;23;p7"/>
          <p:cNvSpPr txBox="1">
            <a:spLocks noGrp="1"/>
          </p:cNvSpPr>
          <p:nvPr>
            <p:ph type="ftr" idx="11"/>
          </p:nvPr>
        </p:nvSpPr>
        <p:spPr>
          <a:xfrm>
            <a:off x="2463800" y="6356350"/>
            <a:ext cx="3479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 name="Google Shape;2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5" name="Google Shape;25;p7"/>
          <p:cNvSpPr txBox="1"/>
          <p:nvPr/>
        </p:nvSpPr>
        <p:spPr>
          <a:xfrm>
            <a:off x="7936200" y="28575"/>
            <a:ext cx="40176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a:t>CV10 Attention - Transformers - Vision Transformer</a:t>
            </a:r>
            <a:endParaRPr sz="10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mart Art">
  <p:cSld name="Smart Art">
    <p:bg>
      <p:bgPr>
        <a:solidFill>
          <a:schemeClr val="lt1"/>
        </a:solidFill>
        <a:effectLst/>
      </p:bgPr>
    </p:bg>
    <p:spTree>
      <p:nvGrpSpPr>
        <p:cNvPr id="1" name="Shape 26"/>
        <p:cNvGrpSpPr/>
        <p:nvPr/>
      </p:nvGrpSpPr>
      <p:grpSpPr>
        <a:xfrm>
          <a:off x="0" y="0"/>
          <a:ext cx="0" cy="0"/>
          <a:chOff x="0" y="0"/>
          <a:chExt cx="0" cy="0"/>
        </a:xfrm>
      </p:grpSpPr>
      <p:sp>
        <p:nvSpPr>
          <p:cNvPr id="27" name="Google Shape;27;p16"/>
          <p:cNvSpPr txBox="1">
            <a:spLocks noGrp="1"/>
          </p:cNvSpPr>
          <p:nvPr>
            <p:ph type="title"/>
          </p:nvPr>
        </p:nvSpPr>
        <p:spPr>
          <a:xfrm>
            <a:off x="838200" y="365126"/>
            <a:ext cx="10199914" cy="102790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9" name="Google Shape;29;p16" descr="Birla Institute of Technology and Science, Pilani | Logopedia | Fandom"/>
          <p:cNvPicPr preferRelativeResize="0"/>
          <p:nvPr/>
        </p:nvPicPr>
        <p:blipFill rotWithShape="1">
          <a:blip r:embed="rId2">
            <a:alphaModFix/>
          </a:blip>
          <a:srcRect/>
          <a:stretch/>
        </p:blipFill>
        <p:spPr>
          <a:xfrm>
            <a:off x="0" y="28575"/>
            <a:ext cx="704850" cy="704850"/>
          </a:xfrm>
          <a:prstGeom prst="rect">
            <a:avLst/>
          </a:prstGeom>
          <a:noFill/>
          <a:ln>
            <a:noFill/>
          </a:ln>
        </p:spPr>
      </p:pic>
      <p:sp>
        <p:nvSpPr>
          <p:cNvPr id="30" name="Google Shape;30;p16"/>
          <p:cNvSpPr txBox="1">
            <a:spLocks noGrp="1"/>
          </p:cNvSpPr>
          <p:nvPr>
            <p:ph type="body" idx="1"/>
          </p:nvPr>
        </p:nvSpPr>
        <p:spPr>
          <a:xfrm>
            <a:off x="838200" y="1632858"/>
            <a:ext cx="10515599" cy="44413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1000"/>
              </a:spcBef>
              <a:spcAft>
                <a:spcPts val="0"/>
              </a:spcAft>
              <a:buClr>
                <a:schemeClr val="dk1"/>
              </a:buClr>
              <a:buSzPts val="2800"/>
              <a:buFont typeface="Arial"/>
              <a:buChar char="•"/>
              <a:defRPr sz="28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16"/>
          <p:cNvSpPr txBox="1"/>
          <p:nvPr/>
        </p:nvSpPr>
        <p:spPr>
          <a:xfrm>
            <a:off x="7936200" y="28575"/>
            <a:ext cx="40176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a:t>CV10 Attention - Transformers - Vision Transformer</a:t>
            </a:r>
            <a:endParaRPr sz="10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hart">
  <p:cSld name="Chart">
    <p:bg>
      <p:bgPr>
        <a:solidFill>
          <a:schemeClr val="accent1"/>
        </a:solidFill>
        <a:effectLst/>
      </p:bgPr>
    </p:bg>
    <p:spTree>
      <p:nvGrpSpPr>
        <p:cNvPr id="1" name="Shape 32"/>
        <p:cNvGrpSpPr/>
        <p:nvPr/>
      </p:nvGrpSpPr>
      <p:grpSpPr>
        <a:xfrm>
          <a:off x="0" y="0"/>
          <a:ext cx="0" cy="0"/>
          <a:chOff x="0" y="0"/>
          <a:chExt cx="0" cy="0"/>
        </a:xfrm>
      </p:grpSpPr>
      <p:sp>
        <p:nvSpPr>
          <p:cNvPr id="33" name="Google Shape;33;p13"/>
          <p:cNvSpPr txBox="1">
            <a:spLocks noGrp="1"/>
          </p:cNvSpPr>
          <p:nvPr>
            <p:ph type="title"/>
          </p:nvPr>
        </p:nvSpPr>
        <p:spPr>
          <a:xfrm>
            <a:off x="838200" y="365125"/>
            <a:ext cx="10515599" cy="124665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 name="Google Shape;3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36" name="Google Shape;36;p13" descr="Birla Institute of Technology and Science, Pilani | Logopedia | Fandom"/>
          <p:cNvPicPr preferRelativeResize="0"/>
          <p:nvPr/>
        </p:nvPicPr>
        <p:blipFill rotWithShape="1">
          <a:blip r:embed="rId2">
            <a:alphaModFix/>
          </a:blip>
          <a:srcRect/>
          <a:stretch/>
        </p:blipFill>
        <p:spPr>
          <a:xfrm>
            <a:off x="0" y="28575"/>
            <a:ext cx="704850" cy="704850"/>
          </a:xfrm>
          <a:prstGeom prst="rect">
            <a:avLst/>
          </a:prstGeom>
          <a:noFill/>
          <a:ln>
            <a:noFill/>
          </a:ln>
        </p:spPr>
      </p:pic>
      <p:sp>
        <p:nvSpPr>
          <p:cNvPr id="37" name="Google Shape;37;p13"/>
          <p:cNvSpPr txBox="1">
            <a:spLocks noGrp="1"/>
          </p:cNvSpPr>
          <p:nvPr>
            <p:ph type="body" idx="1"/>
          </p:nvPr>
        </p:nvSpPr>
        <p:spPr>
          <a:xfrm>
            <a:off x="838200" y="1894114"/>
            <a:ext cx="10515599" cy="4180115"/>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1000"/>
              </a:spcBef>
              <a:spcAft>
                <a:spcPts val="0"/>
              </a:spcAft>
              <a:buClr>
                <a:schemeClr val="dk1"/>
              </a:buClr>
              <a:buSzPts val="2800"/>
              <a:buFont typeface="Arial"/>
              <a:buChar char="•"/>
              <a:defRPr sz="28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8" name="Google Shape;38;p13"/>
          <p:cNvSpPr txBox="1"/>
          <p:nvPr/>
        </p:nvSpPr>
        <p:spPr>
          <a:xfrm>
            <a:off x="7936200" y="28575"/>
            <a:ext cx="40176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a:t>CV10 Attention - Transformers - Vision Transformer</a:t>
            </a:r>
            <a:endParaRPr sz="10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39"/>
        <p:cNvGrpSpPr/>
        <p:nvPr/>
      </p:nvGrpSpPr>
      <p:grpSpPr>
        <a:xfrm>
          <a:off x="0" y="0"/>
          <a:ext cx="0" cy="0"/>
          <a:chOff x="0" y="0"/>
          <a:chExt cx="0" cy="0"/>
        </a:xfrm>
      </p:grpSpPr>
      <p:pic>
        <p:nvPicPr>
          <p:cNvPr id="40" name="Google Shape;40;p9"/>
          <p:cNvPicPr preferRelativeResize="0"/>
          <p:nvPr/>
        </p:nvPicPr>
        <p:blipFill rotWithShape="1">
          <a:blip r:embed="rId2">
            <a:alphaModFix/>
          </a:blip>
          <a:srcRect/>
          <a:stretch/>
        </p:blipFill>
        <p:spPr>
          <a:xfrm>
            <a:off x="0" y="0"/>
            <a:ext cx="5581650" cy="6858000"/>
          </a:xfrm>
          <a:prstGeom prst="rect">
            <a:avLst/>
          </a:prstGeom>
          <a:noFill/>
          <a:ln>
            <a:noFill/>
          </a:ln>
        </p:spPr>
      </p:pic>
      <p:sp>
        <p:nvSpPr>
          <p:cNvPr id="41" name="Google Shape;41;p9"/>
          <p:cNvSpPr txBox="1">
            <a:spLocks noGrp="1"/>
          </p:cNvSpPr>
          <p:nvPr>
            <p:ph type="title"/>
          </p:nvPr>
        </p:nvSpPr>
        <p:spPr>
          <a:xfrm>
            <a:off x="4657724" y="2809875"/>
            <a:ext cx="6696075" cy="19097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9"/>
          <p:cNvSpPr txBox="1">
            <a:spLocks noGrp="1"/>
          </p:cNvSpPr>
          <p:nvPr>
            <p:ph type="subTitle" idx="1"/>
          </p:nvPr>
        </p:nvSpPr>
        <p:spPr>
          <a:xfrm>
            <a:off x="4657725" y="5028803"/>
            <a:ext cx="6696074" cy="3651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1000"/>
              </a:spcBef>
              <a:spcAft>
                <a:spcPts val="0"/>
              </a:spcAft>
              <a:buClr>
                <a:srgbClr val="757070"/>
              </a:buClr>
              <a:buSzPts val="1600"/>
              <a:buNone/>
              <a:defRPr sz="1600">
                <a:solidFill>
                  <a:srgbClr val="75707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3" name="Google Shape;43;p9"/>
          <p:cNvSpPr txBox="1">
            <a:spLocks noGrp="1"/>
          </p:cNvSpPr>
          <p:nvPr>
            <p:ph type="ftr" idx="11"/>
          </p:nvPr>
        </p:nvSpPr>
        <p:spPr>
          <a:xfrm>
            <a:off x="6743699" y="6356350"/>
            <a:ext cx="2543175"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p9"/>
          <p:cNvSpPr txBox="1">
            <a:spLocks noGrp="1"/>
          </p:cNvSpPr>
          <p:nvPr>
            <p:ph type="sldNum" idx="12"/>
          </p:nvPr>
        </p:nvSpPr>
        <p:spPr>
          <a:xfrm>
            <a:off x="9658350" y="6356350"/>
            <a:ext cx="16954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45" name="Google Shape;45;p9" descr="BITS Pilani logo"/>
          <p:cNvPicPr preferRelativeResize="0"/>
          <p:nvPr/>
        </p:nvPicPr>
        <p:blipFill rotWithShape="1">
          <a:blip r:embed="rId3">
            <a:alphaModFix/>
          </a:blip>
          <a:srcRect/>
          <a:stretch/>
        </p:blipFill>
        <p:spPr>
          <a:xfrm>
            <a:off x="8836705" y="192510"/>
            <a:ext cx="3338739" cy="865907"/>
          </a:xfrm>
          <a:prstGeom prst="rect">
            <a:avLst/>
          </a:prstGeom>
          <a:noFill/>
          <a:ln>
            <a:noFill/>
          </a:ln>
        </p:spPr>
      </p:pic>
      <p:sp>
        <p:nvSpPr>
          <p:cNvPr id="46" name="Google Shape;46;p9"/>
          <p:cNvSpPr txBox="1"/>
          <p:nvPr/>
        </p:nvSpPr>
        <p:spPr>
          <a:xfrm>
            <a:off x="7936200" y="28575"/>
            <a:ext cx="40176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a:t>CV10 Attention - Transformers - Vision Transformer</a:t>
            </a:r>
            <a:endParaRPr sz="10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ree Content">
  <p:cSld name="Three Content">
    <p:bg>
      <p:bgPr>
        <a:solidFill>
          <a:schemeClr val="lt1"/>
        </a:solidFill>
        <a:effectLst/>
      </p:bgPr>
    </p:bg>
    <p:spTree>
      <p:nvGrpSpPr>
        <p:cNvPr id="1" name="Shape 47"/>
        <p:cNvGrpSpPr/>
        <p:nvPr/>
      </p:nvGrpSpPr>
      <p:grpSpPr>
        <a:xfrm>
          <a:off x="0" y="0"/>
          <a:ext cx="0" cy="0"/>
          <a:chOff x="0" y="0"/>
          <a:chExt cx="0" cy="0"/>
        </a:xfrm>
      </p:grpSpPr>
      <p:sp>
        <p:nvSpPr>
          <p:cNvPr id="48" name="Google Shape;48;p19"/>
          <p:cNvSpPr txBox="1">
            <a:spLocks noGrp="1"/>
          </p:cNvSpPr>
          <p:nvPr>
            <p:ph type="title"/>
          </p:nvPr>
        </p:nvSpPr>
        <p:spPr>
          <a:xfrm>
            <a:off x="1243104" y="443369"/>
            <a:ext cx="10110696" cy="10515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9"/>
          <p:cNvSpPr txBox="1">
            <a:spLocks noGrp="1"/>
          </p:cNvSpPr>
          <p:nvPr>
            <p:ph type="body" idx="1"/>
          </p:nvPr>
        </p:nvSpPr>
        <p:spPr>
          <a:xfrm>
            <a:off x="1243103" y="1932770"/>
            <a:ext cx="2882475"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19"/>
          <p:cNvSpPr txBox="1">
            <a:spLocks noGrp="1"/>
          </p:cNvSpPr>
          <p:nvPr>
            <p:ph type="body" idx="2"/>
          </p:nvPr>
        </p:nvSpPr>
        <p:spPr>
          <a:xfrm>
            <a:off x="1243104" y="3056709"/>
            <a:ext cx="2882475" cy="277576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9"/>
          <p:cNvSpPr txBox="1">
            <a:spLocks noGrp="1"/>
          </p:cNvSpPr>
          <p:nvPr>
            <p:ph type="body" idx="3"/>
          </p:nvPr>
        </p:nvSpPr>
        <p:spPr>
          <a:xfrm>
            <a:off x="4647664" y="1953443"/>
            <a:ext cx="289667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9"/>
          <p:cNvSpPr txBox="1">
            <a:spLocks noGrp="1"/>
          </p:cNvSpPr>
          <p:nvPr>
            <p:ph type="body" idx="4"/>
          </p:nvPr>
        </p:nvSpPr>
        <p:spPr>
          <a:xfrm>
            <a:off x="4647665" y="3056709"/>
            <a:ext cx="2896671" cy="277576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9"/>
          <p:cNvSpPr txBox="1">
            <a:spLocks noGrp="1"/>
          </p:cNvSpPr>
          <p:nvPr>
            <p:ph type="body" idx="5"/>
          </p:nvPr>
        </p:nvSpPr>
        <p:spPr>
          <a:xfrm>
            <a:off x="8066420" y="1958896"/>
            <a:ext cx="2882475"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19"/>
          <p:cNvSpPr txBox="1">
            <a:spLocks noGrp="1"/>
          </p:cNvSpPr>
          <p:nvPr>
            <p:ph type="body" idx="6"/>
          </p:nvPr>
        </p:nvSpPr>
        <p:spPr>
          <a:xfrm>
            <a:off x="8066421" y="3056709"/>
            <a:ext cx="2882475" cy="277576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 name="Google Shape;5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57" name="Google Shape;57;p19" descr="Birla Institute of Technology and Science, Pilani | Logopedia | Fandom"/>
          <p:cNvPicPr preferRelativeResize="0"/>
          <p:nvPr/>
        </p:nvPicPr>
        <p:blipFill rotWithShape="1">
          <a:blip r:embed="rId2">
            <a:alphaModFix/>
          </a:blip>
          <a:srcRect/>
          <a:stretch/>
        </p:blipFill>
        <p:spPr>
          <a:xfrm>
            <a:off x="0" y="28575"/>
            <a:ext cx="704850" cy="7048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p:cSld name="Table">
    <p:bg>
      <p:bgPr>
        <a:solidFill>
          <a:schemeClr val="lt1"/>
        </a:solidFill>
        <a:effectLst/>
      </p:bgPr>
    </p:bg>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838200" y="365125"/>
            <a:ext cx="10515599" cy="1246199"/>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000"/>
              <a:buFont typeface="Calibri"/>
              <a:buNone/>
              <a:defRPr sz="4000" b="1"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1" name="Google Shape;6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62" name="Google Shape;62;p8" descr="Birla Institute of Technology and Science, Pilani | Logopedia | Fandom"/>
          <p:cNvPicPr preferRelativeResize="0"/>
          <p:nvPr/>
        </p:nvPicPr>
        <p:blipFill rotWithShape="1">
          <a:blip r:embed="rId2">
            <a:alphaModFix/>
          </a:blip>
          <a:srcRect/>
          <a:stretch/>
        </p:blipFill>
        <p:spPr>
          <a:xfrm>
            <a:off x="0" y="28575"/>
            <a:ext cx="704850" cy="704850"/>
          </a:xfrm>
          <a:prstGeom prst="rect">
            <a:avLst/>
          </a:prstGeom>
          <a:noFill/>
          <a:ln>
            <a:noFill/>
          </a:ln>
        </p:spPr>
      </p:pic>
      <p:sp>
        <p:nvSpPr>
          <p:cNvPr id="63" name="Google Shape;63;p8"/>
          <p:cNvSpPr txBox="1">
            <a:spLocks noGrp="1"/>
          </p:cNvSpPr>
          <p:nvPr>
            <p:ph type="body" idx="1"/>
          </p:nvPr>
        </p:nvSpPr>
        <p:spPr>
          <a:xfrm>
            <a:off x="838200" y="1894114"/>
            <a:ext cx="10515599" cy="4180115"/>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1000"/>
              </a:spcBef>
              <a:spcAft>
                <a:spcPts val="0"/>
              </a:spcAft>
              <a:buClr>
                <a:schemeClr val="dk1"/>
              </a:buClr>
              <a:buSzPts val="2800"/>
              <a:buFont typeface="Arial"/>
              <a:buChar char="•"/>
              <a:defRPr sz="28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genda" type="obj">
  <p:cSld name="OBJECT">
    <p:bg>
      <p:bgPr>
        <a:solidFill>
          <a:schemeClr val="dk1"/>
        </a:solidFill>
        <a:effectLst/>
      </p:bgPr>
    </p:bg>
    <p:spTree>
      <p:nvGrpSpPr>
        <p:cNvPr id="1" name="Shape 64"/>
        <p:cNvGrpSpPr/>
        <p:nvPr/>
      </p:nvGrpSpPr>
      <p:grpSpPr>
        <a:xfrm>
          <a:off x="0" y="0"/>
          <a:ext cx="0" cy="0"/>
          <a:chOff x="0" y="0"/>
          <a:chExt cx="0" cy="0"/>
        </a:xfrm>
      </p:grpSpPr>
      <p:pic>
        <p:nvPicPr>
          <p:cNvPr id="65" name="Google Shape;65;p10"/>
          <p:cNvPicPr preferRelativeResize="0"/>
          <p:nvPr/>
        </p:nvPicPr>
        <p:blipFill rotWithShape="1">
          <a:blip r:embed="rId2">
            <a:alphaModFix/>
          </a:blip>
          <a:srcRect t="18301" r="28339" b="23070"/>
          <a:stretch/>
        </p:blipFill>
        <p:spPr>
          <a:xfrm>
            <a:off x="5488815" y="0"/>
            <a:ext cx="6703185" cy="6858000"/>
          </a:xfrm>
          <a:prstGeom prst="rect">
            <a:avLst/>
          </a:prstGeom>
          <a:noFill/>
          <a:ln>
            <a:noFill/>
          </a:ln>
        </p:spPr>
      </p:pic>
      <p:sp>
        <p:nvSpPr>
          <p:cNvPr id="66" name="Google Shape;66;p10"/>
          <p:cNvSpPr txBox="1">
            <a:spLocks noGrp="1"/>
          </p:cNvSpPr>
          <p:nvPr>
            <p:ph type="title"/>
          </p:nvPr>
        </p:nvSpPr>
        <p:spPr>
          <a:xfrm>
            <a:off x="1333500" y="1020445"/>
            <a:ext cx="2895600" cy="13255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2800"/>
              <a:buFont typeface="Calibri"/>
              <a:buNone/>
              <a:defRPr sz="2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body" idx="1"/>
          </p:nvPr>
        </p:nvSpPr>
        <p:spPr>
          <a:xfrm>
            <a:off x="1333500" y="2924175"/>
            <a:ext cx="2895600" cy="2519363"/>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chemeClr val="lt1"/>
              </a:buClr>
              <a:buSzPts val="1400"/>
              <a:buNone/>
              <a:defRPr sz="1400">
                <a:solidFill>
                  <a:schemeClr val="lt1"/>
                </a:solidFill>
              </a:defRPr>
            </a:lvl1pPr>
            <a:lvl2pPr marL="914400" lvl="1" indent="-228600" algn="l">
              <a:lnSpc>
                <a:spcPct val="150000"/>
              </a:lnSpc>
              <a:spcBef>
                <a:spcPts val="500"/>
              </a:spcBef>
              <a:spcAft>
                <a:spcPts val="0"/>
              </a:spcAft>
              <a:buClr>
                <a:schemeClr val="lt1"/>
              </a:buClr>
              <a:buSzPts val="1400"/>
              <a:buNone/>
              <a:defRPr sz="1400">
                <a:solidFill>
                  <a:schemeClr val="lt1"/>
                </a:solidFill>
              </a:defRPr>
            </a:lvl2pPr>
            <a:lvl3pPr marL="1371600" lvl="2" indent="-228600" algn="l">
              <a:lnSpc>
                <a:spcPct val="150000"/>
              </a:lnSpc>
              <a:spcBef>
                <a:spcPts val="500"/>
              </a:spcBef>
              <a:spcAft>
                <a:spcPts val="0"/>
              </a:spcAft>
              <a:buClr>
                <a:schemeClr val="lt1"/>
              </a:buClr>
              <a:buSzPts val="1400"/>
              <a:buNone/>
              <a:defRPr sz="1400">
                <a:solidFill>
                  <a:schemeClr val="lt1"/>
                </a:solidFill>
              </a:defRPr>
            </a:lvl3pPr>
            <a:lvl4pPr marL="1828800" lvl="3" indent="-228600" algn="l">
              <a:lnSpc>
                <a:spcPct val="150000"/>
              </a:lnSpc>
              <a:spcBef>
                <a:spcPts val="500"/>
              </a:spcBef>
              <a:spcAft>
                <a:spcPts val="0"/>
              </a:spcAft>
              <a:buClr>
                <a:schemeClr val="lt1"/>
              </a:buClr>
              <a:buSzPts val="1400"/>
              <a:buNone/>
              <a:defRPr sz="1400">
                <a:solidFill>
                  <a:schemeClr val="lt1"/>
                </a:solidFill>
              </a:defRPr>
            </a:lvl4pPr>
            <a:lvl5pPr marL="2286000" lvl="4" indent="-228600" algn="l">
              <a:lnSpc>
                <a:spcPct val="150000"/>
              </a:lnSpc>
              <a:spcBef>
                <a:spcPts val="500"/>
              </a:spcBef>
              <a:spcAft>
                <a:spcPts val="0"/>
              </a:spcAft>
              <a:buClr>
                <a:schemeClr val="lt1"/>
              </a:buClr>
              <a:buSzPts val="1400"/>
              <a:buNone/>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0"/>
          <p:cNvSpPr txBox="1">
            <a:spLocks noGrp="1"/>
          </p:cNvSpPr>
          <p:nvPr>
            <p:ph type="ftr" idx="11"/>
          </p:nvPr>
        </p:nvSpPr>
        <p:spPr>
          <a:xfrm>
            <a:off x="2669886" y="6356349"/>
            <a:ext cx="2482842"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9" name="Google Shape;69;p10"/>
          <p:cNvSpPr txBox="1">
            <a:spLocks noGrp="1"/>
          </p:cNvSpPr>
          <p:nvPr>
            <p:ph type="sldNum" idx="12"/>
          </p:nvPr>
        </p:nvSpPr>
        <p:spPr>
          <a:xfrm>
            <a:off x="5536305" y="6356350"/>
            <a:ext cx="987552"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Introduction" type="secHead">
  <p:cSld name="SECTION_HEADER">
    <p:spTree>
      <p:nvGrpSpPr>
        <p:cNvPr id="1" name="Shape 70"/>
        <p:cNvGrpSpPr/>
        <p:nvPr/>
      </p:nvGrpSpPr>
      <p:grpSpPr>
        <a:xfrm>
          <a:off x="0" y="0"/>
          <a:ext cx="0" cy="0"/>
          <a:chOff x="0" y="0"/>
          <a:chExt cx="0" cy="0"/>
        </a:xfrm>
      </p:grpSpPr>
      <p:sp>
        <p:nvSpPr>
          <p:cNvPr id="71" name="Google Shape;71;p11"/>
          <p:cNvSpPr txBox="1">
            <a:spLocks noGrp="1"/>
          </p:cNvSpPr>
          <p:nvPr>
            <p:ph type="title"/>
          </p:nvPr>
        </p:nvSpPr>
        <p:spPr>
          <a:xfrm>
            <a:off x="468449" y="1671639"/>
            <a:ext cx="6005376" cy="65318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body" idx="1"/>
          </p:nvPr>
        </p:nvSpPr>
        <p:spPr>
          <a:xfrm>
            <a:off x="1362075" y="2586447"/>
            <a:ext cx="6005376" cy="3304902"/>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1000"/>
              </a:spcBef>
              <a:spcAft>
                <a:spcPts val="0"/>
              </a:spcAft>
              <a:buClr>
                <a:schemeClr val="dk1"/>
              </a:buClr>
              <a:buSzPts val="2400"/>
              <a:buFont typeface="Calibri"/>
              <a:buAutoNum type="arabicPeriod"/>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73" name="Google Shape;73;p11"/>
          <p:cNvSpPr txBox="1">
            <a:spLocks noGrp="1"/>
          </p:cNvSpPr>
          <p:nvPr>
            <p:ph type="ftr" idx="11"/>
          </p:nvPr>
        </p:nvSpPr>
        <p:spPr>
          <a:xfrm>
            <a:off x="2463800" y="6356350"/>
            <a:ext cx="3479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4" name="Google Shape;7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75" name="Google Shape;75;p11" descr="BITS Pilani logo"/>
          <p:cNvPicPr preferRelativeResize="0"/>
          <p:nvPr/>
        </p:nvPicPr>
        <p:blipFill rotWithShape="1">
          <a:blip r:embed="rId2">
            <a:alphaModFix/>
          </a:blip>
          <a:srcRect/>
          <a:stretch/>
        </p:blipFill>
        <p:spPr>
          <a:xfrm>
            <a:off x="384175" y="288928"/>
            <a:ext cx="3338739" cy="86590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Break" type="title">
  <p:cSld name="TITLE">
    <p:bg>
      <p:bgPr>
        <a:solidFill>
          <a:schemeClr val="dk1"/>
        </a:solidFill>
        <a:effectLst/>
      </p:bgPr>
    </p:bg>
    <p:spTree>
      <p:nvGrpSpPr>
        <p:cNvPr id="1" name="Shape 76"/>
        <p:cNvGrpSpPr/>
        <p:nvPr/>
      </p:nvGrpSpPr>
      <p:grpSpPr>
        <a:xfrm>
          <a:off x="0" y="0"/>
          <a:ext cx="0" cy="0"/>
          <a:chOff x="0" y="0"/>
          <a:chExt cx="0" cy="0"/>
        </a:xfrm>
      </p:grpSpPr>
      <p:sp>
        <p:nvSpPr>
          <p:cNvPr id="77" name="Google Shape;77;p12"/>
          <p:cNvSpPr txBox="1">
            <a:spLocks noGrp="1"/>
          </p:cNvSpPr>
          <p:nvPr>
            <p:ph type="ctrTitle"/>
          </p:nvPr>
        </p:nvSpPr>
        <p:spPr>
          <a:xfrm>
            <a:off x="6991350" y="2148840"/>
            <a:ext cx="4179570" cy="17155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subTitle" idx="1"/>
          </p:nvPr>
        </p:nvSpPr>
        <p:spPr>
          <a:xfrm>
            <a:off x="6991350" y="3962003"/>
            <a:ext cx="4179570" cy="365125"/>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79" name="Google Shape;79;p12"/>
          <p:cNvPicPr preferRelativeResize="0"/>
          <p:nvPr/>
        </p:nvPicPr>
        <p:blipFill rotWithShape="1">
          <a:blip r:embed="rId2">
            <a:alphaModFix/>
          </a:blip>
          <a:srcRect/>
          <a:stretch/>
        </p:blipFill>
        <p:spPr>
          <a:xfrm>
            <a:off x="0" y="828675"/>
            <a:ext cx="5876925" cy="520065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eam Slide 4 People">
  <p:cSld name="Team Slide 4 People">
    <p:bg>
      <p:bgPr>
        <a:solidFill>
          <a:schemeClr val="lt1"/>
        </a:solidFill>
        <a:effectLst/>
      </p:bgPr>
    </p:bg>
    <p:spTree>
      <p:nvGrpSpPr>
        <p:cNvPr id="1" name="Shape 80"/>
        <p:cNvGrpSpPr/>
        <p:nvPr/>
      </p:nvGrpSpPr>
      <p:grpSpPr>
        <a:xfrm>
          <a:off x="0" y="0"/>
          <a:ext cx="0" cy="0"/>
          <a:chOff x="0" y="0"/>
          <a:chExt cx="0" cy="0"/>
        </a:xfrm>
      </p:grpSpPr>
      <p:sp>
        <p:nvSpPr>
          <p:cNvPr id="81" name="Google Shape;81;p14"/>
          <p:cNvSpPr txBox="1">
            <a:spLocks noGrp="1"/>
          </p:cNvSpPr>
          <p:nvPr>
            <p:ph type="title"/>
          </p:nvPr>
        </p:nvSpPr>
        <p:spPr>
          <a:xfrm>
            <a:off x="1228567" y="373362"/>
            <a:ext cx="10462689" cy="129868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4"/>
          <p:cNvSpPr>
            <a:spLocks noGrp="1"/>
          </p:cNvSpPr>
          <p:nvPr>
            <p:ph type="pic" idx="2"/>
          </p:nvPr>
        </p:nvSpPr>
        <p:spPr>
          <a:xfrm>
            <a:off x="1487181" y="2886074"/>
            <a:ext cx="1845511" cy="1845511"/>
          </a:xfrm>
          <a:prstGeom prst="rect">
            <a:avLst/>
          </a:prstGeom>
          <a:solidFill>
            <a:srgbClr val="F2F2F2"/>
          </a:solidFill>
          <a:ln>
            <a:noFill/>
          </a:ln>
        </p:spPr>
      </p:sp>
      <p:sp>
        <p:nvSpPr>
          <p:cNvPr id="83" name="Google Shape;83;p14"/>
          <p:cNvSpPr txBox="1">
            <a:spLocks noGrp="1"/>
          </p:cNvSpPr>
          <p:nvPr>
            <p:ph type="body" idx="1"/>
          </p:nvPr>
        </p:nvSpPr>
        <p:spPr>
          <a:xfrm>
            <a:off x="1228568" y="5084524"/>
            <a:ext cx="2317707"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4" name="Google Shape;84;p14"/>
          <p:cNvSpPr txBox="1">
            <a:spLocks noGrp="1"/>
          </p:cNvSpPr>
          <p:nvPr>
            <p:ph type="body" idx="3"/>
          </p:nvPr>
        </p:nvSpPr>
        <p:spPr>
          <a:xfrm>
            <a:off x="1487181" y="5464114"/>
            <a:ext cx="1845511"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5" name="Google Shape;85;p14"/>
          <p:cNvSpPr>
            <a:spLocks noGrp="1"/>
          </p:cNvSpPr>
          <p:nvPr>
            <p:ph type="pic" idx="4"/>
          </p:nvPr>
        </p:nvSpPr>
        <p:spPr>
          <a:xfrm>
            <a:off x="3836914" y="2886074"/>
            <a:ext cx="1845511" cy="1845511"/>
          </a:xfrm>
          <a:prstGeom prst="rect">
            <a:avLst/>
          </a:prstGeom>
          <a:solidFill>
            <a:srgbClr val="F2F2F2"/>
          </a:solidFill>
          <a:ln>
            <a:noFill/>
          </a:ln>
        </p:spPr>
      </p:sp>
      <p:sp>
        <p:nvSpPr>
          <p:cNvPr id="86" name="Google Shape;86;p14"/>
          <p:cNvSpPr txBox="1">
            <a:spLocks noGrp="1"/>
          </p:cNvSpPr>
          <p:nvPr>
            <p:ph type="body" idx="5"/>
          </p:nvPr>
        </p:nvSpPr>
        <p:spPr>
          <a:xfrm>
            <a:off x="3578300" y="5084524"/>
            <a:ext cx="2330816"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7" name="Google Shape;87;p14"/>
          <p:cNvSpPr txBox="1">
            <a:spLocks noGrp="1"/>
          </p:cNvSpPr>
          <p:nvPr>
            <p:ph type="body" idx="6"/>
          </p:nvPr>
        </p:nvSpPr>
        <p:spPr>
          <a:xfrm>
            <a:off x="3836913" y="5478796"/>
            <a:ext cx="1855949"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8" name="Google Shape;88;p14"/>
          <p:cNvSpPr>
            <a:spLocks noGrp="1"/>
          </p:cNvSpPr>
          <p:nvPr>
            <p:ph type="pic" idx="7"/>
          </p:nvPr>
        </p:nvSpPr>
        <p:spPr>
          <a:xfrm>
            <a:off x="6327578" y="2886074"/>
            <a:ext cx="1845511" cy="1845511"/>
          </a:xfrm>
          <a:prstGeom prst="rect">
            <a:avLst/>
          </a:prstGeom>
          <a:solidFill>
            <a:srgbClr val="F2F2F2"/>
          </a:solidFill>
          <a:ln>
            <a:noFill/>
          </a:ln>
        </p:spPr>
      </p:sp>
      <p:sp>
        <p:nvSpPr>
          <p:cNvPr id="89" name="Google Shape;89;p14"/>
          <p:cNvSpPr txBox="1">
            <a:spLocks noGrp="1"/>
          </p:cNvSpPr>
          <p:nvPr>
            <p:ph type="body" idx="8"/>
          </p:nvPr>
        </p:nvSpPr>
        <p:spPr>
          <a:xfrm>
            <a:off x="6068964" y="5084524"/>
            <a:ext cx="2317707"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0" name="Google Shape;90;p14"/>
          <p:cNvSpPr txBox="1">
            <a:spLocks noGrp="1"/>
          </p:cNvSpPr>
          <p:nvPr>
            <p:ph type="body" idx="9"/>
          </p:nvPr>
        </p:nvSpPr>
        <p:spPr>
          <a:xfrm>
            <a:off x="6327577" y="5478796"/>
            <a:ext cx="1845511"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1" name="Google Shape;91;p14"/>
          <p:cNvSpPr>
            <a:spLocks noGrp="1"/>
          </p:cNvSpPr>
          <p:nvPr>
            <p:ph type="pic" idx="13"/>
          </p:nvPr>
        </p:nvSpPr>
        <p:spPr>
          <a:xfrm>
            <a:off x="8747458" y="2886074"/>
            <a:ext cx="1845511" cy="1845511"/>
          </a:xfrm>
          <a:prstGeom prst="rect">
            <a:avLst/>
          </a:prstGeom>
          <a:solidFill>
            <a:srgbClr val="F2F2F2"/>
          </a:solidFill>
          <a:ln>
            <a:noFill/>
          </a:ln>
        </p:spPr>
      </p:sp>
      <p:sp>
        <p:nvSpPr>
          <p:cNvPr id="92" name="Google Shape;92;p14"/>
          <p:cNvSpPr txBox="1">
            <a:spLocks noGrp="1"/>
          </p:cNvSpPr>
          <p:nvPr>
            <p:ph type="body" idx="14"/>
          </p:nvPr>
        </p:nvSpPr>
        <p:spPr>
          <a:xfrm>
            <a:off x="8488845" y="5084524"/>
            <a:ext cx="2317706"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3" name="Google Shape;93;p14"/>
          <p:cNvSpPr txBox="1">
            <a:spLocks noGrp="1"/>
          </p:cNvSpPr>
          <p:nvPr>
            <p:ph type="body" idx="15"/>
          </p:nvPr>
        </p:nvSpPr>
        <p:spPr>
          <a:xfrm>
            <a:off x="8747458" y="5464114"/>
            <a:ext cx="1845510"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4" name="Google Shape;9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5" name="Google Shape;9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96" name="Google Shape;96;p14" descr="Birla Institute of Technology and Science, Pilani | Logopedia | Fandom"/>
          <p:cNvPicPr preferRelativeResize="0"/>
          <p:nvPr/>
        </p:nvPicPr>
        <p:blipFill rotWithShape="1">
          <a:blip r:embed="rId2">
            <a:alphaModFix/>
          </a:blip>
          <a:srcRect/>
          <a:stretch/>
        </p:blipFill>
        <p:spPr>
          <a:xfrm>
            <a:off x="0" y="28575"/>
            <a:ext cx="704850" cy="7048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am Slide 8 People">
  <p:cSld name="Team Slide 8 People">
    <p:bg>
      <p:bgPr>
        <a:solidFill>
          <a:schemeClr val="dk1"/>
        </a:solidFill>
        <a:effectLst/>
      </p:bgPr>
    </p:bg>
    <p:spTree>
      <p:nvGrpSpPr>
        <p:cNvPr id="1" name="Shape 97"/>
        <p:cNvGrpSpPr/>
        <p:nvPr/>
      </p:nvGrpSpPr>
      <p:grpSpPr>
        <a:xfrm>
          <a:off x="0" y="0"/>
          <a:ext cx="0" cy="0"/>
          <a:chOff x="0" y="0"/>
          <a:chExt cx="0" cy="0"/>
        </a:xfrm>
      </p:grpSpPr>
      <p:grpSp>
        <p:nvGrpSpPr>
          <p:cNvPr id="98" name="Google Shape;98;p15"/>
          <p:cNvGrpSpPr/>
          <p:nvPr/>
        </p:nvGrpSpPr>
        <p:grpSpPr>
          <a:xfrm>
            <a:off x="0" y="473953"/>
            <a:ext cx="12192000" cy="5621336"/>
            <a:chOff x="0" y="473953"/>
            <a:chExt cx="12192000" cy="5621336"/>
          </a:xfrm>
        </p:grpSpPr>
        <p:pic>
          <p:nvPicPr>
            <p:cNvPr id="99" name="Google Shape;99;p15"/>
            <p:cNvPicPr preferRelativeResize="0"/>
            <p:nvPr/>
          </p:nvPicPr>
          <p:blipFill rotWithShape="1">
            <a:blip r:embed="rId2">
              <a:alphaModFix/>
            </a:blip>
            <a:srcRect/>
            <a:stretch/>
          </p:blipFill>
          <p:spPr>
            <a:xfrm>
              <a:off x="0" y="473953"/>
              <a:ext cx="2057400" cy="1647825"/>
            </a:xfrm>
            <a:prstGeom prst="rect">
              <a:avLst/>
            </a:prstGeom>
            <a:noFill/>
            <a:ln>
              <a:noFill/>
            </a:ln>
          </p:spPr>
        </p:pic>
        <p:pic>
          <p:nvPicPr>
            <p:cNvPr id="100" name="Google Shape;100;p15"/>
            <p:cNvPicPr preferRelativeResize="0"/>
            <p:nvPr/>
          </p:nvPicPr>
          <p:blipFill rotWithShape="1">
            <a:blip r:embed="rId3">
              <a:alphaModFix/>
            </a:blip>
            <a:srcRect/>
            <a:stretch/>
          </p:blipFill>
          <p:spPr>
            <a:xfrm>
              <a:off x="11049000" y="5180889"/>
              <a:ext cx="1143000" cy="914400"/>
            </a:xfrm>
            <a:prstGeom prst="rect">
              <a:avLst/>
            </a:prstGeom>
            <a:noFill/>
            <a:ln>
              <a:noFill/>
            </a:ln>
          </p:spPr>
        </p:pic>
      </p:grpSp>
      <p:sp>
        <p:nvSpPr>
          <p:cNvPr id="101" name="Google Shape;101;p15"/>
          <p:cNvSpPr txBox="1">
            <a:spLocks noGrp="1"/>
          </p:cNvSpPr>
          <p:nvPr>
            <p:ph type="title"/>
          </p:nvPr>
        </p:nvSpPr>
        <p:spPr>
          <a:xfrm>
            <a:off x="1885156" y="892177"/>
            <a:ext cx="8421688"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2800"/>
              <a:buFont typeface="Calibri"/>
              <a:buNone/>
              <a:defRPr sz="28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15"/>
          <p:cNvSpPr>
            <a:spLocks noGrp="1"/>
          </p:cNvSpPr>
          <p:nvPr>
            <p:ph type="pic" idx="2"/>
          </p:nvPr>
        </p:nvSpPr>
        <p:spPr>
          <a:xfrm>
            <a:off x="1877176" y="2428875"/>
            <a:ext cx="1066800" cy="1066800"/>
          </a:xfrm>
          <a:prstGeom prst="rect">
            <a:avLst/>
          </a:prstGeom>
          <a:solidFill>
            <a:schemeClr val="lt1"/>
          </a:solidFill>
          <a:ln>
            <a:noFill/>
          </a:ln>
        </p:spPr>
      </p:sp>
      <p:sp>
        <p:nvSpPr>
          <p:cNvPr id="103" name="Google Shape;103;p15"/>
          <p:cNvSpPr txBox="1">
            <a:spLocks noGrp="1"/>
          </p:cNvSpPr>
          <p:nvPr>
            <p:ph type="body" idx="1"/>
          </p:nvPr>
        </p:nvSpPr>
        <p:spPr>
          <a:xfrm>
            <a:off x="1500168" y="3654378"/>
            <a:ext cx="1828800"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4" name="Google Shape;104;p15"/>
          <p:cNvSpPr txBox="1">
            <a:spLocks noGrp="1"/>
          </p:cNvSpPr>
          <p:nvPr>
            <p:ph type="body" idx="3"/>
          </p:nvPr>
        </p:nvSpPr>
        <p:spPr>
          <a:xfrm>
            <a:off x="1500168" y="3809747"/>
            <a:ext cx="1828800"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15"/>
          <p:cNvSpPr>
            <a:spLocks noGrp="1"/>
          </p:cNvSpPr>
          <p:nvPr>
            <p:ph type="pic" idx="4"/>
          </p:nvPr>
        </p:nvSpPr>
        <p:spPr>
          <a:xfrm>
            <a:off x="4226270" y="2428875"/>
            <a:ext cx="1066800" cy="1066800"/>
          </a:xfrm>
          <a:prstGeom prst="rect">
            <a:avLst/>
          </a:prstGeom>
          <a:solidFill>
            <a:schemeClr val="lt1"/>
          </a:solidFill>
          <a:ln>
            <a:noFill/>
          </a:ln>
        </p:spPr>
      </p:sp>
      <p:sp>
        <p:nvSpPr>
          <p:cNvPr id="106" name="Google Shape;106;p15"/>
          <p:cNvSpPr txBox="1">
            <a:spLocks noGrp="1"/>
          </p:cNvSpPr>
          <p:nvPr>
            <p:ph type="body" idx="5"/>
          </p:nvPr>
        </p:nvSpPr>
        <p:spPr>
          <a:xfrm>
            <a:off x="3849262" y="3654378"/>
            <a:ext cx="1828800"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15"/>
          <p:cNvSpPr txBox="1">
            <a:spLocks noGrp="1"/>
          </p:cNvSpPr>
          <p:nvPr>
            <p:ph type="body" idx="6"/>
          </p:nvPr>
        </p:nvSpPr>
        <p:spPr>
          <a:xfrm>
            <a:off x="3849262" y="3809747"/>
            <a:ext cx="1828800"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8" name="Google Shape;108;p15"/>
          <p:cNvSpPr>
            <a:spLocks noGrp="1"/>
          </p:cNvSpPr>
          <p:nvPr>
            <p:ph type="pic" idx="7"/>
          </p:nvPr>
        </p:nvSpPr>
        <p:spPr>
          <a:xfrm>
            <a:off x="6655584" y="2428875"/>
            <a:ext cx="1066800" cy="1066800"/>
          </a:xfrm>
          <a:prstGeom prst="rect">
            <a:avLst/>
          </a:prstGeom>
          <a:solidFill>
            <a:schemeClr val="lt1"/>
          </a:solidFill>
          <a:ln>
            <a:noFill/>
          </a:ln>
        </p:spPr>
      </p:sp>
      <p:sp>
        <p:nvSpPr>
          <p:cNvPr id="109" name="Google Shape;109;p15"/>
          <p:cNvSpPr txBox="1">
            <a:spLocks noGrp="1"/>
          </p:cNvSpPr>
          <p:nvPr>
            <p:ph type="body" idx="8"/>
          </p:nvPr>
        </p:nvSpPr>
        <p:spPr>
          <a:xfrm>
            <a:off x="6198355" y="3654378"/>
            <a:ext cx="2105135"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0" name="Google Shape;110;p15"/>
          <p:cNvSpPr txBox="1">
            <a:spLocks noGrp="1"/>
          </p:cNvSpPr>
          <p:nvPr>
            <p:ph type="body" idx="9"/>
          </p:nvPr>
        </p:nvSpPr>
        <p:spPr>
          <a:xfrm>
            <a:off x="6095999" y="3809747"/>
            <a:ext cx="2299855"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1" name="Google Shape;111;p15"/>
          <p:cNvSpPr>
            <a:spLocks noGrp="1"/>
          </p:cNvSpPr>
          <p:nvPr>
            <p:ph type="pic" idx="13"/>
          </p:nvPr>
        </p:nvSpPr>
        <p:spPr>
          <a:xfrm>
            <a:off x="9136814" y="2428875"/>
            <a:ext cx="1066800" cy="1066800"/>
          </a:xfrm>
          <a:prstGeom prst="rect">
            <a:avLst/>
          </a:prstGeom>
          <a:solidFill>
            <a:schemeClr val="lt1"/>
          </a:solidFill>
          <a:ln>
            <a:noFill/>
          </a:ln>
        </p:spPr>
      </p:sp>
      <p:sp>
        <p:nvSpPr>
          <p:cNvPr id="112" name="Google Shape;112;p15"/>
          <p:cNvSpPr txBox="1">
            <a:spLocks noGrp="1"/>
          </p:cNvSpPr>
          <p:nvPr>
            <p:ph type="body" idx="14"/>
          </p:nvPr>
        </p:nvSpPr>
        <p:spPr>
          <a:xfrm>
            <a:off x="8759806" y="3654378"/>
            <a:ext cx="1828800"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3" name="Google Shape;113;p15"/>
          <p:cNvSpPr txBox="1">
            <a:spLocks noGrp="1"/>
          </p:cNvSpPr>
          <p:nvPr>
            <p:ph type="body" idx="15"/>
          </p:nvPr>
        </p:nvSpPr>
        <p:spPr>
          <a:xfrm>
            <a:off x="8744480" y="3809747"/>
            <a:ext cx="1844126"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4" name="Google Shape;114;p15"/>
          <p:cNvSpPr>
            <a:spLocks noGrp="1"/>
          </p:cNvSpPr>
          <p:nvPr>
            <p:ph type="pic" idx="16"/>
          </p:nvPr>
        </p:nvSpPr>
        <p:spPr>
          <a:xfrm>
            <a:off x="1877176" y="4287711"/>
            <a:ext cx="1066800" cy="1066800"/>
          </a:xfrm>
          <a:prstGeom prst="rect">
            <a:avLst/>
          </a:prstGeom>
          <a:solidFill>
            <a:schemeClr val="lt1"/>
          </a:solidFill>
          <a:ln>
            <a:noFill/>
          </a:ln>
        </p:spPr>
      </p:sp>
      <p:sp>
        <p:nvSpPr>
          <p:cNvPr id="115" name="Google Shape;115;p15"/>
          <p:cNvSpPr txBox="1">
            <a:spLocks noGrp="1"/>
          </p:cNvSpPr>
          <p:nvPr>
            <p:ph type="body" idx="17"/>
          </p:nvPr>
        </p:nvSpPr>
        <p:spPr>
          <a:xfrm>
            <a:off x="1500168" y="5513214"/>
            <a:ext cx="1828800"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15"/>
          <p:cNvSpPr txBox="1">
            <a:spLocks noGrp="1"/>
          </p:cNvSpPr>
          <p:nvPr>
            <p:ph type="body" idx="18"/>
          </p:nvPr>
        </p:nvSpPr>
        <p:spPr>
          <a:xfrm>
            <a:off x="1500168" y="5668583"/>
            <a:ext cx="1828800"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7" name="Google Shape;117;p15"/>
          <p:cNvSpPr>
            <a:spLocks noGrp="1"/>
          </p:cNvSpPr>
          <p:nvPr>
            <p:ph type="pic" idx="19"/>
          </p:nvPr>
        </p:nvSpPr>
        <p:spPr>
          <a:xfrm>
            <a:off x="4226270" y="4287711"/>
            <a:ext cx="1066800" cy="1066800"/>
          </a:xfrm>
          <a:prstGeom prst="rect">
            <a:avLst/>
          </a:prstGeom>
          <a:solidFill>
            <a:schemeClr val="lt1"/>
          </a:solidFill>
          <a:ln>
            <a:noFill/>
          </a:ln>
        </p:spPr>
      </p:sp>
      <p:sp>
        <p:nvSpPr>
          <p:cNvPr id="118" name="Google Shape;118;p15"/>
          <p:cNvSpPr txBox="1">
            <a:spLocks noGrp="1"/>
          </p:cNvSpPr>
          <p:nvPr>
            <p:ph type="body" idx="20"/>
          </p:nvPr>
        </p:nvSpPr>
        <p:spPr>
          <a:xfrm>
            <a:off x="3849262" y="5513214"/>
            <a:ext cx="1828800"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15"/>
          <p:cNvSpPr txBox="1">
            <a:spLocks noGrp="1"/>
          </p:cNvSpPr>
          <p:nvPr>
            <p:ph type="body" idx="21"/>
          </p:nvPr>
        </p:nvSpPr>
        <p:spPr>
          <a:xfrm>
            <a:off x="3849262" y="5668583"/>
            <a:ext cx="1828800"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0" name="Google Shape;120;p15"/>
          <p:cNvSpPr>
            <a:spLocks noGrp="1"/>
          </p:cNvSpPr>
          <p:nvPr>
            <p:ph type="pic" idx="22"/>
          </p:nvPr>
        </p:nvSpPr>
        <p:spPr>
          <a:xfrm>
            <a:off x="6655584" y="4287711"/>
            <a:ext cx="1066800" cy="1066800"/>
          </a:xfrm>
          <a:prstGeom prst="rect">
            <a:avLst/>
          </a:prstGeom>
          <a:solidFill>
            <a:schemeClr val="lt1"/>
          </a:solidFill>
          <a:ln>
            <a:noFill/>
          </a:ln>
        </p:spPr>
      </p:sp>
      <p:sp>
        <p:nvSpPr>
          <p:cNvPr id="121" name="Google Shape;121;p15"/>
          <p:cNvSpPr txBox="1">
            <a:spLocks noGrp="1"/>
          </p:cNvSpPr>
          <p:nvPr>
            <p:ph type="body" idx="23"/>
          </p:nvPr>
        </p:nvSpPr>
        <p:spPr>
          <a:xfrm>
            <a:off x="6339926" y="5513214"/>
            <a:ext cx="1828800"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15"/>
          <p:cNvSpPr txBox="1">
            <a:spLocks noGrp="1"/>
          </p:cNvSpPr>
          <p:nvPr>
            <p:ph type="body" idx="24"/>
          </p:nvPr>
        </p:nvSpPr>
        <p:spPr>
          <a:xfrm>
            <a:off x="6339926" y="5668583"/>
            <a:ext cx="1813474"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3" name="Google Shape;123;p15"/>
          <p:cNvSpPr>
            <a:spLocks noGrp="1"/>
          </p:cNvSpPr>
          <p:nvPr>
            <p:ph type="pic" idx="25"/>
          </p:nvPr>
        </p:nvSpPr>
        <p:spPr>
          <a:xfrm>
            <a:off x="9136814" y="4287711"/>
            <a:ext cx="1066800" cy="1066800"/>
          </a:xfrm>
          <a:prstGeom prst="rect">
            <a:avLst/>
          </a:prstGeom>
          <a:solidFill>
            <a:schemeClr val="lt1"/>
          </a:solidFill>
          <a:ln>
            <a:noFill/>
          </a:ln>
        </p:spPr>
      </p:sp>
      <p:sp>
        <p:nvSpPr>
          <p:cNvPr id="124" name="Google Shape;124;p15"/>
          <p:cNvSpPr txBox="1">
            <a:spLocks noGrp="1"/>
          </p:cNvSpPr>
          <p:nvPr>
            <p:ph type="body" idx="26"/>
          </p:nvPr>
        </p:nvSpPr>
        <p:spPr>
          <a:xfrm>
            <a:off x="8759806" y="5513214"/>
            <a:ext cx="1828800"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5" name="Google Shape;125;p15"/>
          <p:cNvSpPr txBox="1">
            <a:spLocks noGrp="1"/>
          </p:cNvSpPr>
          <p:nvPr>
            <p:ph type="body" idx="27"/>
          </p:nvPr>
        </p:nvSpPr>
        <p:spPr>
          <a:xfrm>
            <a:off x="8744480" y="5668583"/>
            <a:ext cx="1844126"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6" name="Google Shape;12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7" name="Google Shape;12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128"/>
        <p:cNvGrpSpPr/>
        <p:nvPr/>
      </p:nvGrpSpPr>
      <p:grpSpPr>
        <a:xfrm>
          <a:off x="0" y="0"/>
          <a:ext cx="0" cy="0"/>
          <a:chOff x="0" y="0"/>
          <a:chExt cx="0" cy="0"/>
        </a:xfrm>
      </p:grpSpPr>
      <p:sp>
        <p:nvSpPr>
          <p:cNvPr id="129" name="Google Shape;129;p17"/>
          <p:cNvSpPr/>
          <p:nvPr/>
        </p:nvSpPr>
        <p:spPr>
          <a:xfrm>
            <a:off x="2113884" y="0"/>
            <a:ext cx="10078116" cy="6858000"/>
          </a:xfrm>
          <a:custGeom>
            <a:avLst/>
            <a:gdLst/>
            <a:ahLst/>
            <a:cxnLst/>
            <a:rect l="l" t="t" r="r" b="b"/>
            <a:pathLst>
              <a:path w="10078116" h="6858000" extrusionOk="0">
                <a:moveTo>
                  <a:pt x="3793236" y="6858000"/>
                </a:moveTo>
                <a:lnTo>
                  <a:pt x="0" y="0"/>
                </a:lnTo>
                <a:lnTo>
                  <a:pt x="10078116" y="0"/>
                </a:lnTo>
                <a:lnTo>
                  <a:pt x="10078116" y="685800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0" name="Google Shape;130;p17"/>
          <p:cNvSpPr txBox="1">
            <a:spLocks noGrp="1"/>
          </p:cNvSpPr>
          <p:nvPr>
            <p:ph type="body" idx="1"/>
          </p:nvPr>
        </p:nvSpPr>
        <p:spPr>
          <a:xfrm>
            <a:off x="166074" y="1716780"/>
            <a:ext cx="2141764" cy="514350"/>
          </a:xfrm>
          <a:prstGeom prst="rect">
            <a:avLst/>
          </a:prstGeom>
          <a:noFill/>
          <a:ln>
            <a:noFill/>
          </a:ln>
        </p:spPr>
        <p:txBody>
          <a:bodyPr spcFirstLastPara="1" wrap="square" lIns="91425" tIns="45700" rIns="91425" bIns="45700" anchor="ctr" anchorCtr="0">
            <a:normAutofit/>
          </a:bodyPr>
          <a:lstStyle>
            <a:lvl1pPr marL="457200" lvl="0" indent="-228600" algn="r">
              <a:lnSpc>
                <a:spcPct val="90000"/>
              </a:lnSpc>
              <a:spcBef>
                <a:spcPts val="1000"/>
              </a:spcBef>
              <a:spcAft>
                <a:spcPts val="0"/>
              </a:spcAft>
              <a:buClr>
                <a:schemeClr val="dk1"/>
              </a:buClr>
              <a:buSzPts val="2400"/>
              <a:buNone/>
              <a:defRPr sz="2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1" name="Google Shape;131;p17"/>
          <p:cNvSpPr txBox="1">
            <a:spLocks noGrp="1"/>
          </p:cNvSpPr>
          <p:nvPr>
            <p:ph type="body" idx="2"/>
          </p:nvPr>
        </p:nvSpPr>
        <p:spPr>
          <a:xfrm>
            <a:off x="732131" y="2793105"/>
            <a:ext cx="2141764" cy="514350"/>
          </a:xfrm>
          <a:prstGeom prst="rect">
            <a:avLst/>
          </a:prstGeom>
          <a:noFill/>
          <a:ln>
            <a:noFill/>
          </a:ln>
        </p:spPr>
        <p:txBody>
          <a:bodyPr spcFirstLastPara="1" wrap="square" lIns="91425" tIns="45700" rIns="91425" bIns="45700" anchor="ctr" anchorCtr="0">
            <a:normAutofit/>
          </a:bodyPr>
          <a:lstStyle>
            <a:lvl1pPr marL="457200" lvl="0" indent="-228600" algn="r">
              <a:lnSpc>
                <a:spcPct val="90000"/>
              </a:lnSpc>
              <a:spcBef>
                <a:spcPts val="1000"/>
              </a:spcBef>
              <a:spcAft>
                <a:spcPts val="0"/>
              </a:spcAft>
              <a:buClr>
                <a:schemeClr val="dk1"/>
              </a:buClr>
              <a:buSzPts val="2000"/>
              <a:buNone/>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2" name="Google Shape;132;p17"/>
          <p:cNvSpPr txBox="1">
            <a:spLocks noGrp="1"/>
          </p:cNvSpPr>
          <p:nvPr>
            <p:ph type="body" idx="3"/>
          </p:nvPr>
        </p:nvSpPr>
        <p:spPr>
          <a:xfrm>
            <a:off x="1338556" y="3869430"/>
            <a:ext cx="2141764" cy="514350"/>
          </a:xfrm>
          <a:prstGeom prst="rect">
            <a:avLst/>
          </a:prstGeom>
          <a:noFill/>
          <a:ln>
            <a:noFill/>
          </a:ln>
        </p:spPr>
        <p:txBody>
          <a:bodyPr spcFirstLastPara="1" wrap="square" lIns="91425" tIns="45700" rIns="91425" bIns="45700" anchor="ctr" anchorCtr="0">
            <a:normAutofit/>
          </a:bodyPr>
          <a:lstStyle>
            <a:lvl1pPr marL="457200" lvl="0" indent="-228600" algn="r">
              <a:lnSpc>
                <a:spcPct val="90000"/>
              </a:lnSpc>
              <a:spcBef>
                <a:spcPts val="1000"/>
              </a:spcBef>
              <a:spcAft>
                <a:spcPts val="0"/>
              </a:spcAft>
              <a:buClr>
                <a:schemeClr val="dk1"/>
              </a:buClr>
              <a:buSzPts val="2000"/>
              <a:buNone/>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3" name="Google Shape;133;p17"/>
          <p:cNvSpPr txBox="1">
            <a:spLocks noGrp="1"/>
          </p:cNvSpPr>
          <p:nvPr>
            <p:ph type="body" idx="4"/>
          </p:nvPr>
        </p:nvSpPr>
        <p:spPr>
          <a:xfrm>
            <a:off x="1922756" y="4958819"/>
            <a:ext cx="2141764" cy="514350"/>
          </a:xfrm>
          <a:prstGeom prst="rect">
            <a:avLst/>
          </a:prstGeom>
          <a:noFill/>
          <a:ln>
            <a:noFill/>
          </a:ln>
        </p:spPr>
        <p:txBody>
          <a:bodyPr spcFirstLastPara="1" wrap="square" lIns="91425" tIns="45700" rIns="91425" bIns="45700" anchor="ctr" anchorCtr="0">
            <a:normAutofit/>
          </a:bodyPr>
          <a:lstStyle>
            <a:lvl1pPr marL="457200" lvl="0" indent="-228600" algn="r">
              <a:lnSpc>
                <a:spcPct val="90000"/>
              </a:lnSpc>
              <a:spcBef>
                <a:spcPts val="1000"/>
              </a:spcBef>
              <a:spcAft>
                <a:spcPts val="0"/>
              </a:spcAft>
              <a:buClr>
                <a:schemeClr val="dk1"/>
              </a:buClr>
              <a:buSzPts val="2000"/>
              <a:buNone/>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17"/>
          <p:cNvSpPr txBox="1">
            <a:spLocks noGrp="1"/>
          </p:cNvSpPr>
          <p:nvPr>
            <p:ph type="body" idx="5"/>
          </p:nvPr>
        </p:nvSpPr>
        <p:spPr>
          <a:xfrm>
            <a:off x="4388473" y="1482898"/>
            <a:ext cx="5102680" cy="1010842"/>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1000"/>
              </a:spcBef>
              <a:spcAft>
                <a:spcPts val="0"/>
              </a:spcAft>
              <a:buClr>
                <a:schemeClr val="dk1"/>
              </a:buClr>
              <a:buSzPts val="2000"/>
              <a:buFont typeface="Arial"/>
              <a:buChar char="•"/>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5" name="Google Shape;135;p17"/>
          <p:cNvSpPr txBox="1">
            <a:spLocks noGrp="1"/>
          </p:cNvSpPr>
          <p:nvPr>
            <p:ph type="body" idx="6"/>
          </p:nvPr>
        </p:nvSpPr>
        <p:spPr>
          <a:xfrm>
            <a:off x="4986029" y="2604186"/>
            <a:ext cx="5102680" cy="1010842"/>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1000"/>
              </a:spcBef>
              <a:spcAft>
                <a:spcPts val="0"/>
              </a:spcAft>
              <a:buClr>
                <a:schemeClr val="dk1"/>
              </a:buClr>
              <a:buSzPts val="2000"/>
              <a:buFont typeface="Arial"/>
              <a:buChar char="•"/>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6" name="Google Shape;136;p17"/>
          <p:cNvSpPr txBox="1">
            <a:spLocks noGrp="1"/>
          </p:cNvSpPr>
          <p:nvPr>
            <p:ph type="body" idx="7"/>
          </p:nvPr>
        </p:nvSpPr>
        <p:spPr>
          <a:xfrm>
            <a:off x="5576938" y="3677018"/>
            <a:ext cx="5102680" cy="1010842"/>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1000"/>
              </a:spcBef>
              <a:spcAft>
                <a:spcPts val="0"/>
              </a:spcAft>
              <a:buClr>
                <a:schemeClr val="dk1"/>
              </a:buClr>
              <a:buSzPts val="2000"/>
              <a:buFont typeface="Arial"/>
              <a:buChar char="•"/>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7" name="Google Shape;137;p17"/>
          <p:cNvSpPr txBox="1">
            <a:spLocks noGrp="1"/>
          </p:cNvSpPr>
          <p:nvPr>
            <p:ph type="body" idx="8"/>
          </p:nvPr>
        </p:nvSpPr>
        <p:spPr>
          <a:xfrm>
            <a:off x="6175280" y="4785241"/>
            <a:ext cx="5102680" cy="1010842"/>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1000"/>
              </a:spcBef>
              <a:spcAft>
                <a:spcPts val="0"/>
              </a:spcAft>
              <a:buClr>
                <a:schemeClr val="dk1"/>
              </a:buClr>
              <a:buSzPts val="2000"/>
              <a:buFont typeface="Arial"/>
              <a:buChar char="•"/>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8" name="Google Shape;138;p17"/>
          <p:cNvSpPr txBox="1">
            <a:spLocks noGrp="1"/>
          </p:cNvSpPr>
          <p:nvPr>
            <p:ph type="ftr" idx="11"/>
          </p:nvPr>
        </p:nvSpPr>
        <p:spPr>
          <a:xfrm>
            <a:off x="6749143" y="6356350"/>
            <a:ext cx="3775981"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9" name="Google Shape;139;p17"/>
          <p:cNvSpPr txBox="1">
            <a:spLocks noGrp="1"/>
          </p:cNvSpPr>
          <p:nvPr>
            <p:ph type="sldNum" idx="12"/>
          </p:nvPr>
        </p:nvSpPr>
        <p:spPr>
          <a:xfrm>
            <a:off x="10810874" y="6356350"/>
            <a:ext cx="5429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40" name="Google Shape;140;p17"/>
          <p:cNvCxnSpPr/>
          <p:nvPr/>
        </p:nvCxnSpPr>
        <p:spPr>
          <a:xfrm>
            <a:off x="4353515" y="5259067"/>
            <a:ext cx="1513211" cy="0"/>
          </a:xfrm>
          <a:prstGeom prst="straightConnector1">
            <a:avLst/>
          </a:prstGeom>
          <a:noFill/>
          <a:ln w="9525" cap="flat" cmpd="sng">
            <a:solidFill>
              <a:schemeClr val="dk1"/>
            </a:solidFill>
            <a:prstDash val="solid"/>
            <a:miter lim="800000"/>
            <a:headEnd type="none" w="sm" len="sm"/>
            <a:tailEnd type="none" w="sm" len="sm"/>
          </a:ln>
        </p:spPr>
      </p:cxnSp>
      <p:cxnSp>
        <p:nvCxnSpPr>
          <p:cNvPr id="141" name="Google Shape;141;p17"/>
          <p:cNvCxnSpPr/>
          <p:nvPr/>
        </p:nvCxnSpPr>
        <p:spPr>
          <a:xfrm>
            <a:off x="3759917" y="4157459"/>
            <a:ext cx="1513211" cy="0"/>
          </a:xfrm>
          <a:prstGeom prst="straightConnector1">
            <a:avLst/>
          </a:prstGeom>
          <a:noFill/>
          <a:ln w="9525" cap="flat" cmpd="sng">
            <a:solidFill>
              <a:schemeClr val="dk1"/>
            </a:solidFill>
            <a:prstDash val="solid"/>
            <a:miter lim="800000"/>
            <a:headEnd type="none" w="sm" len="sm"/>
            <a:tailEnd type="none" w="sm" len="sm"/>
          </a:ln>
        </p:spPr>
      </p:cxnSp>
      <p:cxnSp>
        <p:nvCxnSpPr>
          <p:cNvPr id="142" name="Google Shape;142;p17"/>
          <p:cNvCxnSpPr/>
          <p:nvPr/>
        </p:nvCxnSpPr>
        <p:spPr>
          <a:xfrm>
            <a:off x="3173453" y="3081694"/>
            <a:ext cx="1513211" cy="0"/>
          </a:xfrm>
          <a:prstGeom prst="straightConnector1">
            <a:avLst/>
          </a:prstGeom>
          <a:noFill/>
          <a:ln w="9525" cap="flat" cmpd="sng">
            <a:solidFill>
              <a:schemeClr val="dk1"/>
            </a:solidFill>
            <a:prstDash val="solid"/>
            <a:miter lim="800000"/>
            <a:headEnd type="none" w="sm" len="sm"/>
            <a:tailEnd type="none" w="sm" len="sm"/>
          </a:ln>
        </p:spPr>
      </p:cxnSp>
      <p:cxnSp>
        <p:nvCxnSpPr>
          <p:cNvPr id="143" name="Google Shape;143;p17"/>
          <p:cNvCxnSpPr/>
          <p:nvPr/>
        </p:nvCxnSpPr>
        <p:spPr>
          <a:xfrm>
            <a:off x="2586263" y="2005091"/>
            <a:ext cx="1513211" cy="0"/>
          </a:xfrm>
          <a:prstGeom prst="straightConnector1">
            <a:avLst/>
          </a:prstGeom>
          <a:noFill/>
          <a:ln w="9525" cap="flat" cmpd="sng">
            <a:solidFill>
              <a:schemeClr val="dk1"/>
            </a:solidFill>
            <a:prstDash val="solid"/>
            <a:miter lim="800000"/>
            <a:headEnd type="none" w="sm" len="sm"/>
            <a:tailEnd type="none" w="sm" len="sm"/>
          </a:ln>
        </p:spPr>
      </p:cxnSp>
      <p:pic>
        <p:nvPicPr>
          <p:cNvPr id="144" name="Google Shape;144;p17" descr="Birla Institute of Technology and Science, Pilani | Logopedia | Fandom"/>
          <p:cNvPicPr preferRelativeResize="0"/>
          <p:nvPr/>
        </p:nvPicPr>
        <p:blipFill rotWithShape="1">
          <a:blip r:embed="rId2">
            <a:alphaModFix/>
          </a:blip>
          <a:srcRect/>
          <a:stretch/>
        </p:blipFill>
        <p:spPr>
          <a:xfrm>
            <a:off x="0" y="28575"/>
            <a:ext cx="704850" cy="704850"/>
          </a:xfrm>
          <a:prstGeom prst="rect">
            <a:avLst/>
          </a:prstGeom>
          <a:noFill/>
          <a:ln>
            <a:noFill/>
          </a:ln>
        </p:spPr>
      </p:pic>
      <p:sp>
        <p:nvSpPr>
          <p:cNvPr id="145" name="Google Shape;145;p17"/>
          <p:cNvSpPr txBox="1"/>
          <p:nvPr/>
        </p:nvSpPr>
        <p:spPr>
          <a:xfrm>
            <a:off x="729709" y="574358"/>
            <a:ext cx="6005376" cy="653184"/>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3200"/>
              <a:buFont typeface="Calibri"/>
              <a:buNone/>
            </a:pPr>
            <a:r>
              <a:rPr lang="en-US" sz="3200" b="0" i="0" u="none" strike="noStrike" cap="none">
                <a:solidFill>
                  <a:schemeClr val="dk1"/>
                </a:solidFill>
                <a:latin typeface="Calibri"/>
                <a:ea typeface="Calibri"/>
                <a:cs typeface="Calibri"/>
                <a:sym typeface="Calibri"/>
              </a:rPr>
              <a:t>Agenda</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ntent">
  <p:cSld name="Two Content">
    <p:bg>
      <p:bgPr>
        <a:solidFill>
          <a:schemeClr val="accent1"/>
        </a:solidFill>
        <a:effectLst/>
      </p:bgPr>
    </p:bg>
    <p:spTree>
      <p:nvGrpSpPr>
        <p:cNvPr id="1" name="Shape 146"/>
        <p:cNvGrpSpPr/>
        <p:nvPr/>
      </p:nvGrpSpPr>
      <p:grpSpPr>
        <a:xfrm>
          <a:off x="0" y="0"/>
          <a:ext cx="0" cy="0"/>
          <a:chOff x="0" y="0"/>
          <a:chExt cx="0" cy="0"/>
        </a:xfrm>
      </p:grpSpPr>
      <p:sp>
        <p:nvSpPr>
          <p:cNvPr id="147" name="Google Shape;147;p18"/>
          <p:cNvSpPr txBox="1">
            <a:spLocks noGrp="1"/>
          </p:cNvSpPr>
          <p:nvPr>
            <p:ph type="title"/>
          </p:nvPr>
        </p:nvSpPr>
        <p:spPr>
          <a:xfrm>
            <a:off x="1243104" y="443369"/>
            <a:ext cx="10110696" cy="10515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18"/>
          <p:cNvSpPr txBox="1">
            <a:spLocks noGrp="1"/>
          </p:cNvSpPr>
          <p:nvPr>
            <p:ph type="body" idx="1"/>
          </p:nvPr>
        </p:nvSpPr>
        <p:spPr>
          <a:xfrm>
            <a:off x="1243103" y="1932770"/>
            <a:ext cx="2882475"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9" name="Google Shape;149;p18"/>
          <p:cNvSpPr txBox="1">
            <a:spLocks noGrp="1"/>
          </p:cNvSpPr>
          <p:nvPr>
            <p:ph type="body" idx="2"/>
          </p:nvPr>
        </p:nvSpPr>
        <p:spPr>
          <a:xfrm>
            <a:off x="1243104" y="3056709"/>
            <a:ext cx="2882475" cy="277576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18"/>
          <p:cNvSpPr txBox="1">
            <a:spLocks noGrp="1"/>
          </p:cNvSpPr>
          <p:nvPr>
            <p:ph type="body" idx="3"/>
          </p:nvPr>
        </p:nvSpPr>
        <p:spPr>
          <a:xfrm>
            <a:off x="4647664" y="1953443"/>
            <a:ext cx="289667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51" name="Google Shape;151;p18"/>
          <p:cNvSpPr txBox="1">
            <a:spLocks noGrp="1"/>
          </p:cNvSpPr>
          <p:nvPr>
            <p:ph type="body" idx="4"/>
          </p:nvPr>
        </p:nvSpPr>
        <p:spPr>
          <a:xfrm>
            <a:off x="4647665" y="3056709"/>
            <a:ext cx="2896671" cy="277576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2" name="Google Shape;152;p18"/>
          <p:cNvSpPr txBox="1">
            <a:spLocks noGrp="1"/>
          </p:cNvSpPr>
          <p:nvPr>
            <p:ph type="body" idx="5"/>
          </p:nvPr>
        </p:nvSpPr>
        <p:spPr>
          <a:xfrm>
            <a:off x="8066420" y="1958896"/>
            <a:ext cx="2882475"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53" name="Google Shape;153;p18"/>
          <p:cNvSpPr txBox="1">
            <a:spLocks noGrp="1"/>
          </p:cNvSpPr>
          <p:nvPr>
            <p:ph type="body" idx="6"/>
          </p:nvPr>
        </p:nvSpPr>
        <p:spPr>
          <a:xfrm>
            <a:off x="8066421" y="3056709"/>
            <a:ext cx="2882475" cy="277576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5" name="Google Shape;15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6" name="Google Shape;156;p18" descr="Birla Institute of Technology and Science, Pilani | Logopedia | Fandom"/>
          <p:cNvPicPr preferRelativeResize="0"/>
          <p:nvPr/>
        </p:nvPicPr>
        <p:blipFill rotWithShape="1">
          <a:blip r:embed="rId2">
            <a:alphaModFix/>
          </a:blip>
          <a:srcRect/>
          <a:stretch/>
        </p:blipFill>
        <p:spPr>
          <a:xfrm>
            <a:off x="0" y="28575"/>
            <a:ext cx="704850" cy="7048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ummary">
  <p:cSld name="Summary">
    <p:spTree>
      <p:nvGrpSpPr>
        <p:cNvPr id="1" name="Shape 157"/>
        <p:cNvGrpSpPr/>
        <p:nvPr/>
      </p:nvGrpSpPr>
      <p:grpSpPr>
        <a:xfrm>
          <a:off x="0" y="0"/>
          <a:ext cx="0" cy="0"/>
          <a:chOff x="0" y="0"/>
          <a:chExt cx="0" cy="0"/>
        </a:xfrm>
      </p:grpSpPr>
      <p:sp>
        <p:nvSpPr>
          <p:cNvPr id="158" name="Google Shape;158;p20"/>
          <p:cNvSpPr txBox="1">
            <a:spLocks noGrp="1"/>
          </p:cNvSpPr>
          <p:nvPr>
            <p:ph type="title"/>
          </p:nvPr>
        </p:nvSpPr>
        <p:spPr>
          <a:xfrm>
            <a:off x="3853543" y="1671639"/>
            <a:ext cx="6735082" cy="120491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20"/>
          <p:cNvSpPr txBox="1">
            <a:spLocks noGrp="1"/>
          </p:cNvSpPr>
          <p:nvPr>
            <p:ph type="body" idx="1"/>
          </p:nvPr>
        </p:nvSpPr>
        <p:spPr>
          <a:xfrm>
            <a:off x="3853543" y="3660774"/>
            <a:ext cx="6735082" cy="152558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60" name="Google Shape;16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61" name="Google Shape;16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62" name="Google Shape;162;p20" descr="BITS Pilani logo"/>
          <p:cNvPicPr preferRelativeResize="0"/>
          <p:nvPr/>
        </p:nvPicPr>
        <p:blipFill rotWithShape="1">
          <a:blip r:embed="rId2">
            <a:alphaModFix/>
          </a:blip>
          <a:srcRect/>
          <a:stretch/>
        </p:blipFill>
        <p:spPr>
          <a:xfrm>
            <a:off x="8836705" y="192510"/>
            <a:ext cx="3338739" cy="865907"/>
          </a:xfrm>
          <a:prstGeom prst="rect">
            <a:avLst/>
          </a:prstGeom>
          <a:noFill/>
          <a:ln>
            <a:noFill/>
          </a:ln>
        </p:spPr>
      </p:pic>
    </p:spTree>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losing">
  <p:cSld name="Closing">
    <p:bg>
      <p:bgPr>
        <a:solidFill>
          <a:schemeClr val="dk1"/>
        </a:solidFill>
        <a:effectLst/>
      </p:bgPr>
    </p:bg>
    <p:spTree>
      <p:nvGrpSpPr>
        <p:cNvPr id="1" name="Shape 163"/>
        <p:cNvGrpSpPr/>
        <p:nvPr/>
      </p:nvGrpSpPr>
      <p:grpSpPr>
        <a:xfrm>
          <a:off x="0" y="0"/>
          <a:ext cx="0" cy="0"/>
          <a:chOff x="0" y="0"/>
          <a:chExt cx="0" cy="0"/>
        </a:xfrm>
      </p:grpSpPr>
      <p:sp>
        <p:nvSpPr>
          <p:cNvPr id="164" name="Google Shape;164;p21"/>
          <p:cNvSpPr txBox="1">
            <a:spLocks noGrp="1"/>
          </p:cNvSpPr>
          <p:nvPr>
            <p:ph type="ctrTitle"/>
          </p:nvPr>
        </p:nvSpPr>
        <p:spPr>
          <a:xfrm>
            <a:off x="4267200" y="1615736"/>
            <a:ext cx="4179570" cy="152473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p21"/>
          <p:cNvSpPr txBox="1">
            <a:spLocks noGrp="1"/>
          </p:cNvSpPr>
          <p:nvPr>
            <p:ph type="subTitle" idx="1"/>
          </p:nvPr>
        </p:nvSpPr>
        <p:spPr>
          <a:xfrm>
            <a:off x="4267200" y="3238103"/>
            <a:ext cx="4179570" cy="1371997"/>
          </a:xfrm>
          <a:prstGeom prst="rect">
            <a:avLst/>
          </a:prstGeom>
          <a:noFill/>
          <a:ln>
            <a:noFill/>
          </a:ln>
        </p:spPr>
        <p:txBody>
          <a:bodyPr spcFirstLastPara="1" wrap="square" lIns="91425" tIns="45700" rIns="91425" bIns="45700" anchor="t" anchorCtr="0">
            <a:normAutofit/>
          </a:bodyPr>
          <a:lstStyle>
            <a:lvl1pPr lvl="0" algn="l">
              <a:lnSpc>
                <a:spcPct val="150000"/>
              </a:lnSpc>
              <a:spcBef>
                <a:spcPts val="1000"/>
              </a:spcBef>
              <a:spcAft>
                <a:spcPts val="0"/>
              </a:spcAft>
              <a:buClr>
                <a:schemeClr val="lt1"/>
              </a:buClr>
              <a:buSzPts val="1400"/>
              <a:buNone/>
              <a:defRPr sz="1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66" name="Google Shape;166;p21"/>
          <p:cNvPicPr preferRelativeResize="0"/>
          <p:nvPr/>
        </p:nvPicPr>
        <p:blipFill rotWithShape="1">
          <a:blip r:embed="rId2">
            <a:alphaModFix/>
          </a:blip>
          <a:srcRect/>
          <a:stretch/>
        </p:blipFill>
        <p:spPr>
          <a:xfrm>
            <a:off x="0" y="0"/>
            <a:ext cx="3176938" cy="6858000"/>
          </a:xfrm>
          <a:prstGeom prst="rect">
            <a:avLst/>
          </a:prstGeom>
          <a:noFill/>
          <a:ln>
            <a:noFill/>
          </a:ln>
        </p:spPr>
      </p:pic>
      <p:sp>
        <p:nvSpPr>
          <p:cNvPr id="167" name="Google Shape;167;p21"/>
          <p:cNvSpPr txBox="1">
            <a:spLocks noGrp="1"/>
          </p:cNvSpPr>
          <p:nvPr>
            <p:ph type="ftr" idx="11"/>
          </p:nvPr>
        </p:nvSpPr>
        <p:spPr>
          <a:xfrm>
            <a:off x="6479721" y="6356350"/>
            <a:ext cx="2661557"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68" name="Google Shape;168;p21"/>
          <p:cNvSpPr txBox="1">
            <a:spLocks noGrp="1"/>
          </p:cNvSpPr>
          <p:nvPr>
            <p:ph type="sldNum" idx="12"/>
          </p:nvPr>
        </p:nvSpPr>
        <p:spPr>
          <a:xfrm>
            <a:off x="9579428" y="6356350"/>
            <a:ext cx="1774371"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5"/>
        <p:cNvGrpSpPr/>
        <p:nvPr/>
      </p:nvGrpSpPr>
      <p:grpSpPr>
        <a:xfrm>
          <a:off x="0" y="0"/>
          <a:ext cx="0" cy="0"/>
          <a:chOff x="0" y="0"/>
          <a:chExt cx="0" cy="0"/>
        </a:xfrm>
      </p:grpSpPr>
      <p:sp>
        <p:nvSpPr>
          <p:cNvPr id="176" name="Google Shape;176;g3292fd40077_1_6"/>
          <p:cNvSpPr txBox="1">
            <a:spLocks noGrp="1"/>
          </p:cNvSpPr>
          <p:nvPr>
            <p:ph type="title"/>
          </p:nvPr>
        </p:nvSpPr>
        <p:spPr>
          <a:xfrm>
            <a:off x="284056" y="166624"/>
            <a:ext cx="11525673" cy="1301876"/>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4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g3292fd40077_1_6"/>
          <p:cNvSpPr txBox="1">
            <a:spLocks noGrp="1"/>
          </p:cNvSpPr>
          <p:nvPr>
            <p:ph type="body" idx="1"/>
          </p:nvPr>
        </p:nvSpPr>
        <p:spPr>
          <a:xfrm>
            <a:off x="715433" y="1517936"/>
            <a:ext cx="9275233" cy="162750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3200" b="0" i="0">
                <a:solidFill>
                  <a:schemeClr val="dk1"/>
                </a:solidFill>
                <a:latin typeface="Calibri"/>
                <a:ea typeface="Calibri"/>
                <a:cs typeface="Calibri"/>
                <a:sym typeface="Calibri"/>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8" name="Google Shape;178;g3292fd40077_1_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9" name="Google Shape;179;g3292fd40077_1_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0" name="Google Shape;180;g3292fd40077_1_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81"/>
        <p:cNvGrpSpPr/>
        <p:nvPr/>
      </p:nvGrpSpPr>
      <p:grpSpPr>
        <a:xfrm>
          <a:off x="0" y="0"/>
          <a:ext cx="0" cy="0"/>
          <a:chOff x="0" y="0"/>
          <a:chExt cx="0" cy="0"/>
        </a:xfrm>
      </p:grpSpPr>
      <p:sp>
        <p:nvSpPr>
          <p:cNvPr id="182" name="Google Shape;182;g3292fd40077_1_12"/>
          <p:cNvSpPr txBox="1">
            <a:spLocks noGrp="1"/>
          </p:cNvSpPr>
          <p:nvPr>
            <p:ph type="title"/>
          </p:nvPr>
        </p:nvSpPr>
        <p:spPr>
          <a:xfrm>
            <a:off x="284056" y="166624"/>
            <a:ext cx="11525673" cy="1301876"/>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4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3" name="Google Shape;183;g3292fd40077_1_1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g3292fd40077_1_1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5" name="Google Shape;185;g3292fd40077_1_1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86"/>
        <p:cNvGrpSpPr/>
        <p:nvPr/>
      </p:nvGrpSpPr>
      <p:grpSpPr>
        <a:xfrm>
          <a:off x="0" y="0"/>
          <a:ext cx="0" cy="0"/>
          <a:chOff x="0" y="0"/>
          <a:chExt cx="0" cy="0"/>
        </a:xfrm>
      </p:grpSpPr>
      <p:sp>
        <p:nvSpPr>
          <p:cNvPr id="187" name="Google Shape;187;g3292fd40077_1_1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8" name="Google Shape;188;g3292fd40077_1_1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9" name="Google Shape;189;g3292fd40077_1_1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90"/>
        <p:cNvGrpSpPr/>
        <p:nvPr/>
      </p:nvGrpSpPr>
      <p:grpSpPr>
        <a:xfrm>
          <a:off x="0" y="0"/>
          <a:ext cx="0" cy="0"/>
          <a:chOff x="0" y="0"/>
          <a:chExt cx="0" cy="0"/>
        </a:xfrm>
      </p:grpSpPr>
      <p:sp>
        <p:nvSpPr>
          <p:cNvPr id="191" name="Google Shape;191;g3292fd40077_1_21"/>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4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2" name="Google Shape;192;g3292fd40077_1_21"/>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2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g3292fd40077_1_2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4" name="Google Shape;194;g3292fd40077_1_2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5" name="Google Shape;195;g3292fd40077_1_2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96"/>
        <p:cNvGrpSpPr/>
        <p:nvPr/>
      </p:nvGrpSpPr>
      <p:grpSpPr>
        <a:xfrm>
          <a:off x="0" y="0"/>
          <a:ext cx="0" cy="0"/>
          <a:chOff x="0" y="0"/>
          <a:chExt cx="0" cy="0"/>
        </a:xfrm>
      </p:grpSpPr>
      <p:sp>
        <p:nvSpPr>
          <p:cNvPr id="197" name="Google Shape;197;g3292fd40077_1_27"/>
          <p:cNvSpPr txBox="1">
            <a:spLocks noGrp="1"/>
          </p:cNvSpPr>
          <p:nvPr>
            <p:ph type="title"/>
          </p:nvPr>
        </p:nvSpPr>
        <p:spPr>
          <a:xfrm>
            <a:off x="284056" y="166624"/>
            <a:ext cx="11525673" cy="1301876"/>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4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8" name="Google Shape;198;g3292fd40077_1_27"/>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99" name="Google Shape;199;g3292fd40077_1_27"/>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00" name="Google Shape;200;g3292fd40077_1_2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1" name="Google Shape;201;g3292fd40077_1_2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g3292fd40077_1_2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obj">
  <p:cSld name="OBJECT">
    <p:spTree>
      <p:nvGrpSpPr>
        <p:cNvPr id="1" name="Shape 209"/>
        <p:cNvGrpSpPr/>
        <p:nvPr/>
      </p:nvGrpSpPr>
      <p:grpSpPr>
        <a:xfrm>
          <a:off x="0" y="0"/>
          <a:ext cx="0" cy="0"/>
          <a:chOff x="0" y="0"/>
          <a:chExt cx="0" cy="0"/>
        </a:xfrm>
      </p:grpSpPr>
      <p:sp>
        <p:nvSpPr>
          <p:cNvPr id="210" name="Google Shape;210;p41"/>
          <p:cNvSpPr txBox="1">
            <a:spLocks noGrp="1"/>
          </p:cNvSpPr>
          <p:nvPr>
            <p:ph type="title"/>
          </p:nvPr>
        </p:nvSpPr>
        <p:spPr>
          <a:xfrm>
            <a:off x="978290" y="332739"/>
            <a:ext cx="10492983" cy="6350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1"/>
        <p:cNvGrpSpPr/>
        <p:nvPr/>
      </p:nvGrpSpPr>
      <p:grpSpPr>
        <a:xfrm>
          <a:off x="0" y="0"/>
          <a:ext cx="0" cy="0"/>
          <a:chOff x="0" y="0"/>
          <a:chExt cx="0" cy="0"/>
        </a:xfrm>
      </p:grpSpPr>
      <p:sp>
        <p:nvSpPr>
          <p:cNvPr id="212" name="Google Shape;212;p42"/>
          <p:cNvSpPr txBox="1">
            <a:spLocks noGrp="1"/>
          </p:cNvSpPr>
          <p:nvPr>
            <p:ph type="title"/>
          </p:nvPr>
        </p:nvSpPr>
        <p:spPr>
          <a:xfrm>
            <a:off x="978290" y="332739"/>
            <a:ext cx="10492983" cy="6350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3" name="Google Shape;213;p42"/>
          <p:cNvSpPr txBox="1">
            <a:spLocks noGrp="1"/>
          </p:cNvSpPr>
          <p:nvPr>
            <p:ph type="body" idx="1"/>
          </p:nvPr>
        </p:nvSpPr>
        <p:spPr>
          <a:xfrm>
            <a:off x="904239" y="1218691"/>
            <a:ext cx="9774555" cy="186372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400" b="0" i="0">
                <a:solidFill>
                  <a:schemeClr val="dk1"/>
                </a:solidFill>
                <a:latin typeface="Calibri"/>
                <a:ea typeface="Calibri"/>
                <a:cs typeface="Calibri"/>
                <a:sym typeface="Calibri"/>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14" name="Google Shape;214;p42"/>
          <p:cNvSpPr/>
          <p:nvPr/>
        </p:nvSpPr>
        <p:spPr>
          <a:xfrm>
            <a:off x="26275" y="6578425"/>
            <a:ext cx="3620100" cy="22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15" name="Google Shape;215;p42"/>
          <p:cNvSpPr txBox="1"/>
          <p:nvPr/>
        </p:nvSpPr>
        <p:spPr>
          <a:xfrm>
            <a:off x="7936200" y="28575"/>
            <a:ext cx="40176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a:t>CV10 Attention - Transformers - Vision Transformer</a:t>
            </a:r>
            <a:endParaRPr sz="100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16"/>
        <p:cNvGrpSpPr/>
        <p:nvPr/>
      </p:nvGrpSpPr>
      <p:grpSpPr>
        <a:xfrm>
          <a:off x="0" y="0"/>
          <a:ext cx="0" cy="0"/>
          <a:chOff x="0" y="0"/>
          <a:chExt cx="0" cy="0"/>
        </a:xfrm>
      </p:grpSpPr>
      <p:sp>
        <p:nvSpPr>
          <p:cNvPr id="217" name="Google Shape;217;p43"/>
          <p:cNvSpPr txBox="1">
            <a:spLocks noGrp="1"/>
          </p:cNvSpPr>
          <p:nvPr>
            <p:ph type="ctrTitle"/>
          </p:nvPr>
        </p:nvSpPr>
        <p:spPr>
          <a:xfrm>
            <a:off x="916938" y="332739"/>
            <a:ext cx="10554335" cy="6350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8" name="Google Shape;218;p43"/>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4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19"/>
        <p:cNvGrpSpPr/>
        <p:nvPr/>
      </p:nvGrpSpPr>
      <p:grpSpPr>
        <a:xfrm>
          <a:off x="0" y="0"/>
          <a:ext cx="0" cy="0"/>
          <a:chOff x="0" y="0"/>
          <a:chExt cx="0" cy="0"/>
        </a:xfrm>
      </p:grpSpPr>
      <p:sp>
        <p:nvSpPr>
          <p:cNvPr id="220" name="Google Shape;220;p44"/>
          <p:cNvSpPr txBox="1">
            <a:spLocks noGrp="1"/>
          </p:cNvSpPr>
          <p:nvPr>
            <p:ph type="title"/>
          </p:nvPr>
        </p:nvSpPr>
        <p:spPr>
          <a:xfrm>
            <a:off x="978290" y="332739"/>
            <a:ext cx="10492983" cy="6350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1" name="Google Shape;221;p44"/>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22" name="Google Shape;222;p44"/>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2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2.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2.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3.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
          <p:cNvSpPr txBox="1">
            <a:spLocks noGrp="1"/>
          </p:cNvSpPr>
          <p:nvPr>
            <p:ph type="title"/>
          </p:nvPr>
        </p:nvSpPr>
        <p:spPr>
          <a:xfrm>
            <a:off x="838200" y="365125"/>
            <a:ext cx="1051559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9"/>
        <p:cNvGrpSpPr/>
        <p:nvPr/>
      </p:nvGrpSpPr>
      <p:grpSpPr>
        <a:xfrm>
          <a:off x="0" y="0"/>
          <a:ext cx="0" cy="0"/>
          <a:chOff x="0" y="0"/>
          <a:chExt cx="0" cy="0"/>
        </a:xfrm>
      </p:grpSpPr>
      <p:sp>
        <p:nvSpPr>
          <p:cNvPr id="170" name="Google Shape;170;g3292fd40077_1_0"/>
          <p:cNvSpPr txBox="1">
            <a:spLocks noGrp="1"/>
          </p:cNvSpPr>
          <p:nvPr>
            <p:ph type="title"/>
          </p:nvPr>
        </p:nvSpPr>
        <p:spPr>
          <a:xfrm>
            <a:off x="284056" y="166624"/>
            <a:ext cx="11525673" cy="1301876"/>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1" name="Google Shape;171;g3292fd40077_1_0"/>
          <p:cNvSpPr txBox="1">
            <a:spLocks noGrp="1"/>
          </p:cNvSpPr>
          <p:nvPr>
            <p:ph type="body" idx="1"/>
          </p:nvPr>
        </p:nvSpPr>
        <p:spPr>
          <a:xfrm>
            <a:off x="715433" y="1517936"/>
            <a:ext cx="9275233" cy="162750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72" name="Google Shape;172;g3292fd40077_1_0"/>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3" name="Google Shape;173;g3292fd40077_1_0"/>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4" name="Google Shape;174;g3292fd40077_1_0"/>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3"/>
        <p:cNvGrpSpPr/>
        <p:nvPr/>
      </p:nvGrpSpPr>
      <p:grpSpPr>
        <a:xfrm>
          <a:off x="0" y="0"/>
          <a:ext cx="0" cy="0"/>
          <a:chOff x="0" y="0"/>
          <a:chExt cx="0" cy="0"/>
        </a:xfrm>
      </p:grpSpPr>
      <p:sp>
        <p:nvSpPr>
          <p:cNvPr id="204" name="Google Shape;204;p40"/>
          <p:cNvSpPr txBox="1">
            <a:spLocks noGrp="1"/>
          </p:cNvSpPr>
          <p:nvPr>
            <p:ph type="title"/>
          </p:nvPr>
        </p:nvSpPr>
        <p:spPr>
          <a:xfrm>
            <a:off x="978290" y="332739"/>
            <a:ext cx="10492983" cy="6350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5" name="Google Shape;205;p40"/>
          <p:cNvSpPr txBox="1">
            <a:spLocks noGrp="1"/>
          </p:cNvSpPr>
          <p:nvPr>
            <p:ph type="body" idx="1"/>
          </p:nvPr>
        </p:nvSpPr>
        <p:spPr>
          <a:xfrm>
            <a:off x="904239" y="1218691"/>
            <a:ext cx="9774555" cy="186372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206" name="Google Shape;206;p40"/>
          <p:cNvSpPr txBox="1"/>
          <p:nvPr/>
        </p:nvSpPr>
        <p:spPr>
          <a:xfrm>
            <a:off x="0" y="6550223"/>
            <a:ext cx="367987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4C1130"/>
                </a:solidFill>
                <a:latin typeface="Proxima Nova"/>
                <a:ea typeface="Proxima Nova"/>
                <a:cs typeface="Proxima Nova"/>
                <a:sym typeface="Proxima Nova"/>
              </a:rPr>
              <a:t>S.P.Vimal</a:t>
            </a:r>
            <a:r>
              <a:rPr lang="en-US" sz="1400" b="0" i="0" u="none" strike="noStrike" cap="none">
                <a:solidFill>
                  <a:srgbClr val="000000"/>
                </a:solidFill>
                <a:latin typeface="Proxima Nova"/>
                <a:ea typeface="Proxima Nova"/>
                <a:cs typeface="Proxima Nova"/>
                <a:sym typeface="Proxima Nova"/>
              </a:rPr>
              <a:t> | AIMLC</a:t>
            </a:r>
            <a:r>
              <a:rPr lang="en-US" sz="1400" b="0" i="0" u="none" strike="noStrike" cap="none">
                <a:solidFill>
                  <a:srgbClr val="073763"/>
                </a:solidFill>
                <a:latin typeface="Proxima Nova"/>
                <a:ea typeface="Proxima Nova"/>
                <a:cs typeface="Proxima Nova"/>
                <a:sym typeface="Proxima Nova"/>
              </a:rPr>
              <a:t>ZG525</a:t>
            </a:r>
            <a:r>
              <a:rPr lang="en-US" sz="1400" b="0" i="0" u="none" strike="noStrike" cap="none">
                <a:solidFill>
                  <a:srgbClr val="000000"/>
                </a:solidFill>
                <a:latin typeface="Proxima Nova"/>
                <a:ea typeface="Proxima Nova"/>
                <a:cs typeface="Proxima Nova"/>
                <a:sym typeface="Proxima Nova"/>
              </a:rPr>
              <a:t> - Computer Vision</a:t>
            </a:r>
            <a:endParaRPr sz="1400" b="0" i="0" u="none" strike="noStrike" cap="none">
              <a:solidFill>
                <a:srgbClr val="000000"/>
              </a:solidFill>
              <a:latin typeface="Arial"/>
              <a:ea typeface="Arial"/>
              <a:cs typeface="Arial"/>
              <a:sym typeface="Arial"/>
            </a:endParaRPr>
          </a:p>
        </p:txBody>
      </p:sp>
      <p:pic>
        <p:nvPicPr>
          <p:cNvPr id="207" name="Google Shape;207;p40" descr="Birla Institute of Technology and Science, Pilani | Logopedia | Fandom"/>
          <p:cNvPicPr preferRelativeResize="0"/>
          <p:nvPr/>
        </p:nvPicPr>
        <p:blipFill rotWithShape="1">
          <a:blip r:embed="rId7">
            <a:alphaModFix/>
          </a:blip>
          <a:srcRect/>
          <a:stretch/>
        </p:blipFill>
        <p:spPr>
          <a:xfrm>
            <a:off x="36342" y="25791"/>
            <a:ext cx="635001" cy="635001"/>
          </a:xfrm>
          <a:prstGeom prst="rect">
            <a:avLst/>
          </a:prstGeom>
          <a:noFill/>
          <a:ln>
            <a:noFill/>
          </a:ln>
        </p:spPr>
      </p:pic>
      <p:sp>
        <p:nvSpPr>
          <p:cNvPr id="208" name="Google Shape;208;p40"/>
          <p:cNvSpPr txBox="1"/>
          <p:nvPr/>
        </p:nvSpPr>
        <p:spPr>
          <a:xfrm>
            <a:off x="4953000" y="6550223"/>
            <a:ext cx="62484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70C0"/>
                </a:solidFill>
                <a:latin typeface="Proxima Nova"/>
                <a:ea typeface="Proxima Nova"/>
                <a:cs typeface="Proxima Nova"/>
                <a:sym typeface="Proxima Nova"/>
              </a:rPr>
              <a:t>Source: Slides from </a:t>
            </a:r>
            <a:r>
              <a:rPr lang="en-US" sz="1400" b="1" i="0" u="none" strike="noStrike" cap="none">
                <a:solidFill>
                  <a:srgbClr val="0070C0"/>
                </a:solidFill>
                <a:latin typeface="Arial"/>
                <a:ea typeface="Arial"/>
                <a:cs typeface="Arial"/>
                <a:sym typeface="Arial"/>
              </a:rPr>
              <a:t>Justin Johnson; Course :  EECS498; UMich</a:t>
            </a:r>
            <a:endParaRPr sz="1400" b="1" i="0" u="none" strike="noStrike" cap="none">
              <a:solidFill>
                <a:srgbClr val="0070C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linkedin.com/in/goelaakash123/" TargetMode="Externa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5.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5.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4.xml"/><Relationship Id="rId1" Type="http://schemas.openxmlformats.org/officeDocument/2006/relationships/slideLayout" Target="../slideLayouts/slideLayout21.xml"/><Relationship Id="rId5" Type="http://schemas.openxmlformats.org/officeDocument/2006/relationships/image" Target="../media/image58.png"/><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8" Type="http://schemas.openxmlformats.org/officeDocument/2006/relationships/image" Target="../media/image64.jpg"/><Relationship Id="rId3" Type="http://schemas.openxmlformats.org/officeDocument/2006/relationships/image" Target="../media/image59.jpg"/><Relationship Id="rId7" Type="http://schemas.openxmlformats.org/officeDocument/2006/relationships/image" Target="../media/image63.jpg"/><Relationship Id="rId2" Type="http://schemas.openxmlformats.org/officeDocument/2006/relationships/notesSlide" Target="../notesSlides/notesSlide35.xml"/><Relationship Id="rId1" Type="http://schemas.openxmlformats.org/officeDocument/2006/relationships/slideLayout" Target="../slideLayouts/slideLayout21.xml"/><Relationship Id="rId6" Type="http://schemas.openxmlformats.org/officeDocument/2006/relationships/image" Target="../media/image62.jpg"/><Relationship Id="rId11" Type="http://schemas.openxmlformats.org/officeDocument/2006/relationships/image" Target="../media/image67.jpg"/><Relationship Id="rId5" Type="http://schemas.openxmlformats.org/officeDocument/2006/relationships/image" Target="../media/image61.jpg"/><Relationship Id="rId10" Type="http://schemas.openxmlformats.org/officeDocument/2006/relationships/image" Target="../media/image66.jpg"/><Relationship Id="rId4" Type="http://schemas.openxmlformats.org/officeDocument/2006/relationships/image" Target="../media/image60.jpg"/><Relationship Id="rId9" Type="http://schemas.openxmlformats.org/officeDocument/2006/relationships/image" Target="../media/image65.jpg"/></Relationships>
</file>

<file path=ppt/slides/_rels/slide37.xml.rels><?xml version="1.0" encoding="UTF-8" standalone="yes"?>
<Relationships xmlns="http://schemas.openxmlformats.org/package/2006/relationships"><Relationship Id="rId8" Type="http://schemas.openxmlformats.org/officeDocument/2006/relationships/image" Target="../media/image61.jpg"/><Relationship Id="rId3" Type="http://schemas.openxmlformats.org/officeDocument/2006/relationships/image" Target="../media/image62.jpg"/><Relationship Id="rId7" Type="http://schemas.openxmlformats.org/officeDocument/2006/relationships/image" Target="../media/image67.jpg"/><Relationship Id="rId2" Type="http://schemas.openxmlformats.org/officeDocument/2006/relationships/notesSlide" Target="../notesSlides/notesSlide36.xml"/><Relationship Id="rId1" Type="http://schemas.openxmlformats.org/officeDocument/2006/relationships/slideLayout" Target="../slideLayouts/slideLayout21.xml"/><Relationship Id="rId6" Type="http://schemas.openxmlformats.org/officeDocument/2006/relationships/image" Target="../media/image66.jpg"/><Relationship Id="rId11" Type="http://schemas.openxmlformats.org/officeDocument/2006/relationships/image" Target="../media/image60.jpg"/><Relationship Id="rId5" Type="http://schemas.openxmlformats.org/officeDocument/2006/relationships/image" Target="../media/image65.jpg"/><Relationship Id="rId10" Type="http://schemas.openxmlformats.org/officeDocument/2006/relationships/image" Target="../media/image59.jpg"/><Relationship Id="rId4" Type="http://schemas.openxmlformats.org/officeDocument/2006/relationships/image" Target="../media/image63.jpg"/><Relationship Id="rId9" Type="http://schemas.openxmlformats.org/officeDocument/2006/relationships/image" Target="../media/image64.jpg"/></Relationships>
</file>

<file path=ppt/slides/_rels/slide38.xml.rels><?xml version="1.0" encoding="UTF-8" standalone="yes"?>
<Relationships xmlns="http://schemas.openxmlformats.org/package/2006/relationships"><Relationship Id="rId8" Type="http://schemas.openxmlformats.org/officeDocument/2006/relationships/image" Target="../media/image63.jpg"/><Relationship Id="rId3" Type="http://schemas.openxmlformats.org/officeDocument/2006/relationships/image" Target="../media/image67.jpg"/><Relationship Id="rId7" Type="http://schemas.openxmlformats.org/officeDocument/2006/relationships/image" Target="../media/image62.jpg"/><Relationship Id="rId2" Type="http://schemas.openxmlformats.org/officeDocument/2006/relationships/notesSlide" Target="../notesSlides/notesSlide37.xml"/><Relationship Id="rId1" Type="http://schemas.openxmlformats.org/officeDocument/2006/relationships/slideLayout" Target="../slideLayouts/slideLayout21.xml"/><Relationship Id="rId6" Type="http://schemas.openxmlformats.org/officeDocument/2006/relationships/image" Target="../media/image64.jpg"/><Relationship Id="rId11" Type="http://schemas.openxmlformats.org/officeDocument/2006/relationships/image" Target="../media/image61.jpg"/><Relationship Id="rId5" Type="http://schemas.openxmlformats.org/officeDocument/2006/relationships/image" Target="../media/image65.jpg"/><Relationship Id="rId10" Type="http://schemas.openxmlformats.org/officeDocument/2006/relationships/image" Target="../media/image60.jpg"/><Relationship Id="rId4" Type="http://schemas.openxmlformats.org/officeDocument/2006/relationships/image" Target="../media/image66.jpg"/><Relationship Id="rId9" Type="http://schemas.openxmlformats.org/officeDocument/2006/relationships/image" Target="../media/image59.jpg"/></Relationships>
</file>

<file path=ppt/slides/_rels/slide39.xml.rels><?xml version="1.0" encoding="UTF-8" standalone="yes"?>
<Relationships xmlns="http://schemas.openxmlformats.org/package/2006/relationships"><Relationship Id="rId8" Type="http://schemas.openxmlformats.org/officeDocument/2006/relationships/image" Target="../media/image63.jpg"/><Relationship Id="rId3" Type="http://schemas.openxmlformats.org/officeDocument/2006/relationships/image" Target="../media/image67.jpg"/><Relationship Id="rId7" Type="http://schemas.openxmlformats.org/officeDocument/2006/relationships/image" Target="../media/image62.jpg"/><Relationship Id="rId2" Type="http://schemas.openxmlformats.org/officeDocument/2006/relationships/notesSlide" Target="../notesSlides/notesSlide38.xml"/><Relationship Id="rId1" Type="http://schemas.openxmlformats.org/officeDocument/2006/relationships/slideLayout" Target="../slideLayouts/slideLayout22.xml"/><Relationship Id="rId6" Type="http://schemas.openxmlformats.org/officeDocument/2006/relationships/image" Target="../media/image64.jpg"/><Relationship Id="rId11" Type="http://schemas.openxmlformats.org/officeDocument/2006/relationships/image" Target="../media/image61.jpg"/><Relationship Id="rId5" Type="http://schemas.openxmlformats.org/officeDocument/2006/relationships/image" Target="../media/image65.jpg"/><Relationship Id="rId10" Type="http://schemas.openxmlformats.org/officeDocument/2006/relationships/image" Target="../media/image60.jpg"/><Relationship Id="rId4" Type="http://schemas.openxmlformats.org/officeDocument/2006/relationships/image" Target="../media/image66.jpg"/><Relationship Id="rId9" Type="http://schemas.openxmlformats.org/officeDocument/2006/relationships/image" Target="../media/image59.jpg"/></Relationships>
</file>

<file path=ppt/slides/_rels/slide40.xml.rels><?xml version="1.0" encoding="UTF-8" standalone="yes"?>
<Relationships xmlns="http://schemas.openxmlformats.org/package/2006/relationships"><Relationship Id="rId8" Type="http://schemas.openxmlformats.org/officeDocument/2006/relationships/image" Target="../media/image63.jpg"/><Relationship Id="rId3" Type="http://schemas.openxmlformats.org/officeDocument/2006/relationships/image" Target="../media/image67.jpg"/><Relationship Id="rId7" Type="http://schemas.openxmlformats.org/officeDocument/2006/relationships/image" Target="../media/image62.jpg"/><Relationship Id="rId2" Type="http://schemas.openxmlformats.org/officeDocument/2006/relationships/notesSlide" Target="../notesSlides/notesSlide39.xml"/><Relationship Id="rId1" Type="http://schemas.openxmlformats.org/officeDocument/2006/relationships/slideLayout" Target="../slideLayouts/slideLayout22.xml"/><Relationship Id="rId6" Type="http://schemas.openxmlformats.org/officeDocument/2006/relationships/image" Target="../media/image64.jpg"/><Relationship Id="rId11" Type="http://schemas.openxmlformats.org/officeDocument/2006/relationships/image" Target="../media/image61.jpg"/><Relationship Id="rId5" Type="http://schemas.openxmlformats.org/officeDocument/2006/relationships/image" Target="../media/image65.jpg"/><Relationship Id="rId10" Type="http://schemas.openxmlformats.org/officeDocument/2006/relationships/image" Target="../media/image60.jpg"/><Relationship Id="rId4" Type="http://schemas.openxmlformats.org/officeDocument/2006/relationships/image" Target="../media/image66.jpg"/><Relationship Id="rId9" Type="http://schemas.openxmlformats.org/officeDocument/2006/relationships/image" Target="../media/image59.jpg"/></Relationships>
</file>

<file path=ppt/slides/_rels/slide41.xml.rels><?xml version="1.0" encoding="UTF-8" standalone="yes"?>
<Relationships xmlns="http://schemas.openxmlformats.org/package/2006/relationships"><Relationship Id="rId8" Type="http://schemas.openxmlformats.org/officeDocument/2006/relationships/image" Target="../media/image63.jpg"/><Relationship Id="rId3" Type="http://schemas.openxmlformats.org/officeDocument/2006/relationships/image" Target="../media/image67.jpg"/><Relationship Id="rId7" Type="http://schemas.openxmlformats.org/officeDocument/2006/relationships/image" Target="../media/image62.jpg"/><Relationship Id="rId2" Type="http://schemas.openxmlformats.org/officeDocument/2006/relationships/notesSlide" Target="../notesSlides/notesSlide40.xml"/><Relationship Id="rId1" Type="http://schemas.openxmlformats.org/officeDocument/2006/relationships/slideLayout" Target="../slideLayouts/slideLayout22.xml"/><Relationship Id="rId6" Type="http://schemas.openxmlformats.org/officeDocument/2006/relationships/image" Target="../media/image64.jpg"/><Relationship Id="rId11" Type="http://schemas.openxmlformats.org/officeDocument/2006/relationships/image" Target="../media/image61.jpg"/><Relationship Id="rId5" Type="http://schemas.openxmlformats.org/officeDocument/2006/relationships/image" Target="../media/image65.jpg"/><Relationship Id="rId10" Type="http://schemas.openxmlformats.org/officeDocument/2006/relationships/image" Target="../media/image60.jpg"/><Relationship Id="rId4" Type="http://schemas.openxmlformats.org/officeDocument/2006/relationships/image" Target="../media/image66.jpg"/><Relationship Id="rId9" Type="http://schemas.openxmlformats.org/officeDocument/2006/relationships/image" Target="../media/image59.jpg"/></Relationships>
</file>

<file path=ppt/slides/_rels/slide42.xml.rels><?xml version="1.0" encoding="UTF-8" standalone="yes"?>
<Relationships xmlns="http://schemas.openxmlformats.org/package/2006/relationships"><Relationship Id="rId8" Type="http://schemas.openxmlformats.org/officeDocument/2006/relationships/image" Target="../media/image63.jpg"/><Relationship Id="rId3" Type="http://schemas.openxmlformats.org/officeDocument/2006/relationships/image" Target="../media/image67.jpg"/><Relationship Id="rId7" Type="http://schemas.openxmlformats.org/officeDocument/2006/relationships/image" Target="../media/image62.jpg"/><Relationship Id="rId2" Type="http://schemas.openxmlformats.org/officeDocument/2006/relationships/notesSlide" Target="../notesSlides/notesSlide41.xml"/><Relationship Id="rId1" Type="http://schemas.openxmlformats.org/officeDocument/2006/relationships/slideLayout" Target="../slideLayouts/slideLayout22.xml"/><Relationship Id="rId6" Type="http://schemas.openxmlformats.org/officeDocument/2006/relationships/image" Target="../media/image64.jpg"/><Relationship Id="rId11" Type="http://schemas.openxmlformats.org/officeDocument/2006/relationships/image" Target="../media/image61.jpg"/><Relationship Id="rId5" Type="http://schemas.openxmlformats.org/officeDocument/2006/relationships/image" Target="../media/image65.jpg"/><Relationship Id="rId10" Type="http://schemas.openxmlformats.org/officeDocument/2006/relationships/image" Target="../media/image60.jpg"/><Relationship Id="rId4" Type="http://schemas.openxmlformats.org/officeDocument/2006/relationships/image" Target="../media/image66.jpg"/><Relationship Id="rId9" Type="http://schemas.openxmlformats.org/officeDocument/2006/relationships/image" Target="../media/image59.jpg"/></Relationships>
</file>

<file path=ppt/slides/_rels/slide43.xml.rels><?xml version="1.0" encoding="UTF-8" standalone="yes"?>
<Relationships xmlns="http://schemas.openxmlformats.org/package/2006/relationships"><Relationship Id="rId8" Type="http://schemas.openxmlformats.org/officeDocument/2006/relationships/image" Target="../media/image63.jpg"/><Relationship Id="rId3" Type="http://schemas.openxmlformats.org/officeDocument/2006/relationships/image" Target="../media/image67.jpg"/><Relationship Id="rId7" Type="http://schemas.openxmlformats.org/officeDocument/2006/relationships/image" Target="../media/image62.jpg"/><Relationship Id="rId2" Type="http://schemas.openxmlformats.org/officeDocument/2006/relationships/notesSlide" Target="../notesSlides/notesSlide42.xml"/><Relationship Id="rId1" Type="http://schemas.openxmlformats.org/officeDocument/2006/relationships/slideLayout" Target="../slideLayouts/slideLayout22.xml"/><Relationship Id="rId6" Type="http://schemas.openxmlformats.org/officeDocument/2006/relationships/image" Target="../media/image64.jpg"/><Relationship Id="rId11" Type="http://schemas.openxmlformats.org/officeDocument/2006/relationships/image" Target="../media/image61.jpg"/><Relationship Id="rId5" Type="http://schemas.openxmlformats.org/officeDocument/2006/relationships/image" Target="../media/image65.jpg"/><Relationship Id="rId10" Type="http://schemas.openxmlformats.org/officeDocument/2006/relationships/image" Target="../media/image60.jpg"/><Relationship Id="rId4" Type="http://schemas.openxmlformats.org/officeDocument/2006/relationships/image" Target="../media/image66.jpg"/><Relationship Id="rId9" Type="http://schemas.openxmlformats.org/officeDocument/2006/relationships/image" Target="../media/image59.jpg"/></Relationships>
</file>

<file path=ppt/slides/_rels/slide44.xml.rels><?xml version="1.0" encoding="UTF-8" standalone="yes"?>
<Relationships xmlns="http://schemas.openxmlformats.org/package/2006/relationships"><Relationship Id="rId8" Type="http://schemas.openxmlformats.org/officeDocument/2006/relationships/image" Target="../media/image63.jpg"/><Relationship Id="rId3" Type="http://schemas.openxmlformats.org/officeDocument/2006/relationships/image" Target="../media/image67.jpg"/><Relationship Id="rId7" Type="http://schemas.openxmlformats.org/officeDocument/2006/relationships/image" Target="../media/image62.jpg"/><Relationship Id="rId2" Type="http://schemas.openxmlformats.org/officeDocument/2006/relationships/notesSlide" Target="../notesSlides/notesSlide43.xml"/><Relationship Id="rId1" Type="http://schemas.openxmlformats.org/officeDocument/2006/relationships/slideLayout" Target="../slideLayouts/slideLayout22.xml"/><Relationship Id="rId6" Type="http://schemas.openxmlformats.org/officeDocument/2006/relationships/image" Target="../media/image64.jpg"/><Relationship Id="rId11" Type="http://schemas.openxmlformats.org/officeDocument/2006/relationships/image" Target="../media/image61.jpg"/><Relationship Id="rId5" Type="http://schemas.openxmlformats.org/officeDocument/2006/relationships/image" Target="../media/image65.jpg"/><Relationship Id="rId10" Type="http://schemas.openxmlformats.org/officeDocument/2006/relationships/image" Target="../media/image60.jpg"/><Relationship Id="rId4" Type="http://schemas.openxmlformats.org/officeDocument/2006/relationships/image" Target="../media/image66.jpg"/><Relationship Id="rId9" Type="http://schemas.openxmlformats.org/officeDocument/2006/relationships/image" Target="../media/image59.jpg"/></Relationships>
</file>

<file path=ppt/slides/_rels/slide45.xml.rels><?xml version="1.0" encoding="UTF-8" standalone="yes"?>
<Relationships xmlns="http://schemas.openxmlformats.org/package/2006/relationships"><Relationship Id="rId8" Type="http://schemas.openxmlformats.org/officeDocument/2006/relationships/image" Target="../media/image63.jpg"/><Relationship Id="rId3" Type="http://schemas.openxmlformats.org/officeDocument/2006/relationships/image" Target="../media/image67.jpg"/><Relationship Id="rId7" Type="http://schemas.openxmlformats.org/officeDocument/2006/relationships/image" Target="../media/image62.jpg"/><Relationship Id="rId2" Type="http://schemas.openxmlformats.org/officeDocument/2006/relationships/notesSlide" Target="../notesSlides/notesSlide44.xml"/><Relationship Id="rId1" Type="http://schemas.openxmlformats.org/officeDocument/2006/relationships/slideLayout" Target="../slideLayouts/slideLayout22.xml"/><Relationship Id="rId6" Type="http://schemas.openxmlformats.org/officeDocument/2006/relationships/image" Target="../media/image64.jpg"/><Relationship Id="rId11" Type="http://schemas.openxmlformats.org/officeDocument/2006/relationships/image" Target="../media/image61.jpg"/><Relationship Id="rId5" Type="http://schemas.openxmlformats.org/officeDocument/2006/relationships/image" Target="../media/image65.jpg"/><Relationship Id="rId10" Type="http://schemas.openxmlformats.org/officeDocument/2006/relationships/image" Target="../media/image60.jpg"/><Relationship Id="rId4" Type="http://schemas.openxmlformats.org/officeDocument/2006/relationships/image" Target="../media/image66.jpg"/><Relationship Id="rId9" Type="http://schemas.openxmlformats.org/officeDocument/2006/relationships/image" Target="../media/image59.jpg"/></Relationships>
</file>

<file path=ppt/slides/_rels/slide46.xml.rels><?xml version="1.0" encoding="UTF-8" standalone="yes"?>
<Relationships xmlns="http://schemas.openxmlformats.org/package/2006/relationships"><Relationship Id="rId8" Type="http://schemas.openxmlformats.org/officeDocument/2006/relationships/image" Target="../media/image63.jpg"/><Relationship Id="rId3" Type="http://schemas.openxmlformats.org/officeDocument/2006/relationships/image" Target="../media/image67.jpg"/><Relationship Id="rId7" Type="http://schemas.openxmlformats.org/officeDocument/2006/relationships/image" Target="../media/image62.jpg"/><Relationship Id="rId2" Type="http://schemas.openxmlformats.org/officeDocument/2006/relationships/notesSlide" Target="../notesSlides/notesSlide45.xml"/><Relationship Id="rId1" Type="http://schemas.openxmlformats.org/officeDocument/2006/relationships/slideLayout" Target="../slideLayouts/slideLayout22.xml"/><Relationship Id="rId6" Type="http://schemas.openxmlformats.org/officeDocument/2006/relationships/image" Target="../media/image64.jpg"/><Relationship Id="rId11" Type="http://schemas.openxmlformats.org/officeDocument/2006/relationships/image" Target="../media/image61.jpg"/><Relationship Id="rId5" Type="http://schemas.openxmlformats.org/officeDocument/2006/relationships/image" Target="../media/image65.jpg"/><Relationship Id="rId10" Type="http://schemas.openxmlformats.org/officeDocument/2006/relationships/image" Target="../media/image60.jpg"/><Relationship Id="rId4" Type="http://schemas.openxmlformats.org/officeDocument/2006/relationships/image" Target="../media/image66.jpg"/><Relationship Id="rId9" Type="http://schemas.openxmlformats.org/officeDocument/2006/relationships/image" Target="../media/image59.jpg"/></Relationships>
</file>

<file path=ppt/slides/_rels/slide47.xml.rels><?xml version="1.0" encoding="UTF-8" standalone="yes"?>
<Relationships xmlns="http://schemas.openxmlformats.org/package/2006/relationships"><Relationship Id="rId8" Type="http://schemas.openxmlformats.org/officeDocument/2006/relationships/image" Target="../media/image63.jpg"/><Relationship Id="rId3" Type="http://schemas.openxmlformats.org/officeDocument/2006/relationships/image" Target="../media/image67.jpg"/><Relationship Id="rId7" Type="http://schemas.openxmlformats.org/officeDocument/2006/relationships/image" Target="../media/image62.jpg"/><Relationship Id="rId2" Type="http://schemas.openxmlformats.org/officeDocument/2006/relationships/notesSlide" Target="../notesSlides/notesSlide46.xml"/><Relationship Id="rId1" Type="http://schemas.openxmlformats.org/officeDocument/2006/relationships/slideLayout" Target="../slideLayouts/slideLayout22.xml"/><Relationship Id="rId6" Type="http://schemas.openxmlformats.org/officeDocument/2006/relationships/image" Target="../media/image64.jpg"/><Relationship Id="rId11" Type="http://schemas.openxmlformats.org/officeDocument/2006/relationships/image" Target="../media/image61.jpg"/><Relationship Id="rId5" Type="http://schemas.openxmlformats.org/officeDocument/2006/relationships/image" Target="../media/image65.jpg"/><Relationship Id="rId10" Type="http://schemas.openxmlformats.org/officeDocument/2006/relationships/image" Target="../media/image60.jpg"/><Relationship Id="rId4" Type="http://schemas.openxmlformats.org/officeDocument/2006/relationships/image" Target="../media/image66.jpg"/><Relationship Id="rId9" Type="http://schemas.openxmlformats.org/officeDocument/2006/relationships/image" Target="../media/image59.jpg"/></Relationships>
</file>

<file path=ppt/slides/_rels/slide48.xml.rels><?xml version="1.0" encoding="UTF-8" standalone="yes"?>
<Relationships xmlns="http://schemas.openxmlformats.org/package/2006/relationships"><Relationship Id="rId8" Type="http://schemas.openxmlformats.org/officeDocument/2006/relationships/image" Target="../media/image63.jpg"/><Relationship Id="rId3" Type="http://schemas.openxmlformats.org/officeDocument/2006/relationships/image" Target="../media/image67.jpg"/><Relationship Id="rId7" Type="http://schemas.openxmlformats.org/officeDocument/2006/relationships/image" Target="../media/image62.jpg"/><Relationship Id="rId2" Type="http://schemas.openxmlformats.org/officeDocument/2006/relationships/notesSlide" Target="../notesSlides/notesSlide47.xml"/><Relationship Id="rId1" Type="http://schemas.openxmlformats.org/officeDocument/2006/relationships/slideLayout" Target="../slideLayouts/slideLayout22.xml"/><Relationship Id="rId6" Type="http://schemas.openxmlformats.org/officeDocument/2006/relationships/image" Target="../media/image64.jpg"/><Relationship Id="rId11" Type="http://schemas.openxmlformats.org/officeDocument/2006/relationships/image" Target="../media/image61.jpg"/><Relationship Id="rId5" Type="http://schemas.openxmlformats.org/officeDocument/2006/relationships/image" Target="../media/image65.jpg"/><Relationship Id="rId10" Type="http://schemas.openxmlformats.org/officeDocument/2006/relationships/image" Target="../media/image60.jpg"/><Relationship Id="rId4" Type="http://schemas.openxmlformats.org/officeDocument/2006/relationships/image" Target="../media/image66.jpg"/><Relationship Id="rId9" Type="http://schemas.openxmlformats.org/officeDocument/2006/relationships/image" Target="../media/image59.jpg"/></Relationships>
</file>

<file path=ppt/slides/_rels/slide49.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48.xml"/><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49.xml"/><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50.xml"/><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51.xml"/><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52.xml"/><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53.xml"/><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54.xml"/><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3" Type="http://schemas.openxmlformats.org/officeDocument/2006/relationships/hyperlink" Target="https://arxiv.org/abs/2010.11929" TargetMode="External"/><Relationship Id="rId2" Type="http://schemas.openxmlformats.org/officeDocument/2006/relationships/notesSlide" Target="../notesSlides/notesSlide55.xml"/><Relationship Id="rId1" Type="http://schemas.openxmlformats.org/officeDocument/2006/relationships/slideLayout" Target="../slideLayouts/slideLayout3.xml"/><Relationship Id="rId5" Type="http://schemas.openxmlformats.org/officeDocument/2006/relationships/hyperlink" Target="https://colab.research.google.com/drive/1P9TPRWsDdqJC6IvOxjG2_3QlgCt59P0w?usp=sharing#scrollTo=KVVWmPso4eGf" TargetMode="External"/><Relationship Id="rId4" Type="http://schemas.openxmlformats.org/officeDocument/2006/relationships/hyperlink" Target="https://web.stanford.edu/~jurafsky/slp3/" TargetMode="Externa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D0C69-C9ED-17AF-8127-828113E1227F}"/>
              </a:ext>
            </a:extLst>
          </p:cNvPr>
          <p:cNvSpPr>
            <a:spLocks noGrp="1"/>
          </p:cNvSpPr>
          <p:nvPr>
            <p:ph type="title"/>
          </p:nvPr>
        </p:nvSpPr>
        <p:spPr/>
        <p:txBody>
          <a:bodyPr>
            <a:normAutofit/>
          </a:bodyPr>
          <a:lstStyle/>
          <a:p>
            <a:r>
              <a:rPr lang="en-US" sz="2100" dirty="0"/>
              <a:t>Aakash Goel</a:t>
            </a:r>
            <a:br>
              <a:rPr lang="en-US" sz="2100" dirty="0"/>
            </a:br>
            <a:r>
              <a:rPr lang="en-US" sz="2100" dirty="0">
                <a:hlinkClick r:id="rId2"/>
              </a:rPr>
              <a:t>https://www.linkedin.com/in/goelaakash123/</a:t>
            </a:r>
            <a:endParaRPr lang="en-US" dirty="0"/>
          </a:p>
        </p:txBody>
      </p:sp>
      <p:sp>
        <p:nvSpPr>
          <p:cNvPr id="3" name="Subtitle 2">
            <a:extLst>
              <a:ext uri="{FF2B5EF4-FFF2-40B4-BE49-F238E27FC236}">
                <a16:creationId xmlns:a16="http://schemas.microsoft.com/office/drawing/2014/main" id="{C84DECD3-7272-A66B-D05A-F5C716C54AE3}"/>
              </a:ext>
            </a:extLst>
          </p:cNvPr>
          <p:cNvSpPr>
            <a:spLocks noGrp="1"/>
          </p:cNvSpPr>
          <p:nvPr>
            <p:ph type="subTitle" idx="1"/>
          </p:nvPr>
        </p:nvSpPr>
        <p:spPr>
          <a:xfrm>
            <a:off x="5017294" y="4628854"/>
            <a:ext cx="5022056" cy="516619"/>
          </a:xfrm>
        </p:spPr>
        <p:txBody>
          <a:bodyPr>
            <a:noAutofit/>
          </a:bodyPr>
          <a:lstStyle/>
          <a:p>
            <a:r>
              <a:rPr lang="en-US" sz="900" dirty="0"/>
              <a:t>Acknowledgement: </a:t>
            </a:r>
            <a:r>
              <a:rPr lang="en-US" sz="900" dirty="0">
                <a:solidFill>
                  <a:srgbClr val="FF0000"/>
                </a:solidFill>
                <a:latin typeface="Arial"/>
                <a:ea typeface="Arial"/>
                <a:cs typeface="Arial"/>
                <a:sym typeface="Arial"/>
              </a:rPr>
              <a:t>Slide Materials adopted from  - Intro to Computer Vision (Cornell Tech); Noah Snavely, </a:t>
            </a:r>
            <a:r>
              <a:rPr lang="en-US" sz="900" dirty="0">
                <a:solidFill>
                  <a:srgbClr val="FF0000"/>
                </a:solidFill>
              </a:rPr>
              <a:t>prepared by the lead instructor Prof S P Vimal , modified (added some content) by Aakash Goel</a:t>
            </a:r>
          </a:p>
        </p:txBody>
      </p:sp>
      <p:sp>
        <p:nvSpPr>
          <p:cNvPr id="4" name="Slide Number Placeholder 3">
            <a:extLst>
              <a:ext uri="{FF2B5EF4-FFF2-40B4-BE49-F238E27FC236}">
                <a16:creationId xmlns:a16="http://schemas.microsoft.com/office/drawing/2014/main" id="{CF5FF7BA-7C01-3743-F6C5-F75895750147}"/>
              </a:ext>
            </a:extLst>
          </p:cNvPr>
          <p:cNvSpPr>
            <a:spLocks noGrp="1"/>
          </p:cNvSpPr>
          <p:nvPr>
            <p:ph type="sldNum" idx="12"/>
          </p:nvPr>
        </p:nvSpPr>
        <p:spPr/>
        <p:txBody>
          <a:bodyPr/>
          <a:lstStyle/>
          <a:p>
            <a:fld id="{00000000-1234-1234-1234-123412341234}" type="slidenum">
              <a:rPr lang="en-US" smtClean="0"/>
              <a:pPr/>
              <a:t>1</a:t>
            </a:fld>
            <a:endParaRPr lang="en-US"/>
          </a:p>
        </p:txBody>
      </p:sp>
      <p:sp>
        <p:nvSpPr>
          <p:cNvPr id="6" name="TextBox 5">
            <a:extLst>
              <a:ext uri="{FF2B5EF4-FFF2-40B4-BE49-F238E27FC236}">
                <a16:creationId xmlns:a16="http://schemas.microsoft.com/office/drawing/2014/main" id="{FAB6B0C6-F660-E59C-6C87-5A6540BC8E38}"/>
              </a:ext>
            </a:extLst>
          </p:cNvPr>
          <p:cNvSpPr txBox="1"/>
          <p:nvPr/>
        </p:nvSpPr>
        <p:spPr>
          <a:xfrm>
            <a:off x="2107324" y="2287898"/>
            <a:ext cx="4572000" cy="415498"/>
          </a:xfrm>
          <a:prstGeom prst="rect">
            <a:avLst/>
          </a:prstGeom>
          <a:noFill/>
        </p:spPr>
        <p:txBody>
          <a:bodyPr wrap="square">
            <a:spAutoFit/>
          </a:bodyPr>
          <a:lstStyle/>
          <a:p>
            <a:pPr>
              <a:buClr>
                <a:schemeClr val="dk1"/>
              </a:buClr>
              <a:buSzPts val="3600"/>
            </a:pPr>
            <a:r>
              <a:rPr lang="en-US" sz="1050" b="1" u="sng" dirty="0"/>
              <a:t>Session 11: </a:t>
            </a:r>
          </a:p>
          <a:p>
            <a:pPr>
              <a:buClr>
                <a:schemeClr val="dk1"/>
              </a:buClr>
              <a:buSzPts val="3600"/>
            </a:pPr>
            <a:r>
              <a:rPr lang="en-US" sz="1050" dirty="0">
                <a:solidFill>
                  <a:srgbClr val="980000"/>
                </a:solidFill>
              </a:rPr>
              <a:t>Attention, Transformers &amp;</a:t>
            </a:r>
            <a:r>
              <a:rPr lang="en-US" sz="1050" dirty="0"/>
              <a:t> </a:t>
            </a:r>
            <a:r>
              <a:rPr lang="en-US" sz="1050" dirty="0">
                <a:solidFill>
                  <a:srgbClr val="980000"/>
                </a:solidFill>
              </a:rPr>
              <a:t>Vision Transformers (</a:t>
            </a:r>
            <a:r>
              <a:rPr lang="en-US" sz="1050" dirty="0" err="1">
                <a:solidFill>
                  <a:srgbClr val="1155CC"/>
                </a:solidFill>
              </a:rPr>
              <a:t>ViT</a:t>
            </a:r>
            <a:r>
              <a:rPr lang="en-US" sz="1050" dirty="0">
                <a:solidFill>
                  <a:srgbClr val="980000"/>
                </a:solidFill>
              </a:rPr>
              <a:t>)</a:t>
            </a:r>
            <a:r>
              <a:rPr lang="en-US" sz="1050" dirty="0"/>
              <a:t> </a:t>
            </a:r>
            <a:endParaRPr lang="en-US" sz="1050" b="1" dirty="0"/>
          </a:p>
        </p:txBody>
      </p:sp>
    </p:spTree>
    <p:extLst>
      <p:ext uri="{BB962C8B-B14F-4D97-AF65-F5344CB8AC3E}">
        <p14:creationId xmlns:p14="http://schemas.microsoft.com/office/powerpoint/2010/main" val="599536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g262a763626f_0_6"/>
          <p:cNvSpPr txBox="1">
            <a:spLocks noGrp="1"/>
          </p:cNvSpPr>
          <p:nvPr>
            <p:ph type="title"/>
          </p:nvPr>
        </p:nvSpPr>
        <p:spPr>
          <a:xfrm>
            <a:off x="468449" y="1671639"/>
            <a:ext cx="6005400" cy="6531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3600"/>
              <a:buFont typeface="Calibri"/>
              <a:buNone/>
            </a:pPr>
            <a:endParaRPr/>
          </a:p>
          <a:p>
            <a:pPr marL="0" lvl="0" indent="0" algn="l" rtl="0">
              <a:lnSpc>
                <a:spcPct val="90000"/>
              </a:lnSpc>
              <a:spcBef>
                <a:spcPts val="0"/>
              </a:spcBef>
              <a:spcAft>
                <a:spcPts val="0"/>
              </a:spcAft>
              <a:buClr>
                <a:schemeClr val="dk1"/>
              </a:buClr>
              <a:buSzPts val="3600"/>
              <a:buFont typeface="Calibri"/>
              <a:buNone/>
            </a:pPr>
            <a:r>
              <a:rPr lang="en-US" u="sng"/>
              <a:t>Topics</a:t>
            </a:r>
            <a:endParaRPr/>
          </a:p>
        </p:txBody>
      </p:sp>
      <p:sp>
        <p:nvSpPr>
          <p:cNvPr id="236" name="Google Shape;236;g262a763626f_0_6"/>
          <p:cNvSpPr txBox="1"/>
          <p:nvPr/>
        </p:nvSpPr>
        <p:spPr>
          <a:xfrm>
            <a:off x="607574" y="6152944"/>
            <a:ext cx="8562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highlight>
                  <a:srgbClr val="FFFF00"/>
                </a:highlight>
                <a:latin typeface="Arial"/>
                <a:ea typeface="Arial"/>
                <a:cs typeface="Arial"/>
                <a:sym typeface="Arial"/>
              </a:rPr>
              <a:t>Acknowledgement</a:t>
            </a:r>
            <a:r>
              <a:rPr lang="en-US" sz="1400" b="0" i="0" u="none" strike="noStrike" cap="none">
                <a:solidFill>
                  <a:srgbClr val="C00000"/>
                </a:solidFill>
                <a:latin typeface="Arial"/>
                <a:ea typeface="Arial"/>
                <a:cs typeface="Arial"/>
                <a:sym typeface="Arial"/>
              </a:rPr>
              <a:t>: Slide Materials adopted from  - Intro to Computer Vision (Cornell Tech); Noah Snavely</a:t>
            </a:r>
            <a:endParaRPr sz="1400" b="0" i="0" u="none" strike="noStrike" cap="none">
              <a:solidFill>
                <a:srgbClr val="000000"/>
              </a:solidFill>
              <a:latin typeface="Arial"/>
              <a:ea typeface="Arial"/>
              <a:cs typeface="Arial"/>
              <a:sym typeface="Arial"/>
            </a:endParaRPr>
          </a:p>
        </p:txBody>
      </p:sp>
      <p:sp>
        <p:nvSpPr>
          <p:cNvPr id="237" name="Google Shape;237;g262a763626f_0_6"/>
          <p:cNvSpPr txBox="1">
            <a:spLocks noGrp="1"/>
          </p:cNvSpPr>
          <p:nvPr>
            <p:ph type="body" idx="1"/>
          </p:nvPr>
        </p:nvSpPr>
        <p:spPr>
          <a:xfrm>
            <a:off x="1362075" y="2357850"/>
            <a:ext cx="10189500" cy="3304800"/>
          </a:xfrm>
          <a:prstGeom prst="rect">
            <a:avLst/>
          </a:prstGeom>
          <a:noFill/>
          <a:ln>
            <a:noFill/>
          </a:ln>
        </p:spPr>
        <p:txBody>
          <a:bodyPr spcFirstLastPara="1" wrap="square" lIns="91425" tIns="45700" rIns="91425" bIns="45700" anchor="t" anchorCtr="0">
            <a:normAutofit/>
          </a:bodyPr>
          <a:lstStyle/>
          <a:p>
            <a:pPr marL="457200" lvl="0" indent="-381000" algn="l" rtl="0">
              <a:lnSpc>
                <a:spcPct val="100000"/>
              </a:lnSpc>
              <a:spcBef>
                <a:spcPts val="1000"/>
              </a:spcBef>
              <a:spcAft>
                <a:spcPts val="0"/>
              </a:spcAft>
              <a:buSzPts val="2400"/>
              <a:buChar char="➔"/>
            </a:pPr>
            <a:r>
              <a:rPr lang="en-US"/>
              <a:t>Attention ( Review) </a:t>
            </a:r>
            <a:endParaRPr/>
          </a:p>
          <a:p>
            <a:pPr marL="457200" lvl="0" indent="-381000" algn="l" rtl="0">
              <a:lnSpc>
                <a:spcPct val="100000"/>
              </a:lnSpc>
              <a:spcBef>
                <a:spcPts val="1000"/>
              </a:spcBef>
              <a:spcAft>
                <a:spcPts val="0"/>
              </a:spcAft>
              <a:buSzPts val="2400"/>
              <a:buChar char="➔"/>
            </a:pPr>
            <a:r>
              <a:rPr lang="en-US"/>
              <a:t>Transformers ( Review) </a:t>
            </a:r>
            <a:endParaRPr/>
          </a:p>
          <a:p>
            <a:pPr marL="457200" lvl="0" indent="-381000" algn="l" rtl="0">
              <a:lnSpc>
                <a:spcPct val="100000"/>
              </a:lnSpc>
              <a:spcBef>
                <a:spcPts val="1000"/>
              </a:spcBef>
              <a:spcAft>
                <a:spcPts val="0"/>
              </a:spcAft>
              <a:buSzPts val="2400"/>
              <a:buChar char="➔"/>
            </a:pPr>
            <a:r>
              <a:rPr lang="en-US"/>
              <a:t>Vision Transformer (ViT)</a:t>
            </a:r>
            <a:endParaRPr/>
          </a:p>
          <a:p>
            <a:pPr marL="457200" lvl="0" indent="-381000" algn="l" rtl="0">
              <a:lnSpc>
                <a:spcPct val="100000"/>
              </a:lnSpc>
              <a:spcBef>
                <a:spcPts val="1000"/>
              </a:spcBef>
              <a:spcAft>
                <a:spcPts val="0"/>
              </a:spcAft>
              <a:buSzPts val="2400"/>
              <a:buChar char="➔"/>
            </a:pPr>
            <a:r>
              <a:rPr lang="en-US"/>
              <a:t>Applications of ViT in Computer Vision</a:t>
            </a:r>
            <a:endParaRPr/>
          </a:p>
          <a:p>
            <a:pPr marL="457200" lvl="0" indent="-381000" algn="l" rtl="0">
              <a:lnSpc>
                <a:spcPct val="100000"/>
              </a:lnSpc>
              <a:spcBef>
                <a:spcPts val="1000"/>
              </a:spcBef>
              <a:spcAft>
                <a:spcPts val="0"/>
              </a:spcAft>
              <a:buSzPts val="2400"/>
              <a:buChar char="➔"/>
            </a:pPr>
            <a:r>
              <a:rPr lang="en-US"/>
              <a:t>Popular ViT Variants</a:t>
            </a:r>
            <a:endParaRPr/>
          </a:p>
        </p:txBody>
      </p:sp>
      <p:sp>
        <p:nvSpPr>
          <p:cNvPr id="238" name="Google Shape;238;g262a763626f_0_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263d97e1ce3_0_588"/>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Encoder - Decoder Arch for Seq. to Seq. Translation </a:t>
            </a:r>
            <a:endParaRPr>
              <a:latin typeface="Proxima Nova"/>
              <a:ea typeface="Proxima Nova"/>
              <a:cs typeface="Proxima Nova"/>
              <a:sym typeface="Proxima Nova"/>
            </a:endParaRPr>
          </a:p>
        </p:txBody>
      </p:sp>
      <p:sp>
        <p:nvSpPr>
          <p:cNvPr id="245" name="Google Shape;245;g263d97e1ce3_0_58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3</a:t>
            </a:fld>
            <a:endParaRPr/>
          </a:p>
        </p:txBody>
      </p:sp>
      <p:sp>
        <p:nvSpPr>
          <p:cNvPr id="246" name="Google Shape;246;g263d97e1ce3_0_588"/>
          <p:cNvSpPr txBox="1"/>
          <p:nvPr/>
        </p:nvSpPr>
        <p:spPr>
          <a:xfrm>
            <a:off x="224250" y="4732550"/>
            <a:ext cx="2743200" cy="1231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700" b="1" i="0" u="none" strike="noStrike" cap="none">
                <a:solidFill>
                  <a:srgbClr val="980000"/>
                </a:solidFill>
                <a:latin typeface="Proxima Nova"/>
                <a:ea typeface="Proxima Nova"/>
                <a:cs typeface="Proxima Nova"/>
                <a:sym typeface="Proxima Nova"/>
              </a:rPr>
              <a:t>Components: </a:t>
            </a:r>
            <a:endParaRPr sz="1700" b="1" i="0" u="none" strike="noStrike" cap="none">
              <a:solidFill>
                <a:srgbClr val="980000"/>
              </a:solidFill>
              <a:latin typeface="Proxima Nova"/>
              <a:ea typeface="Proxima Nova"/>
              <a:cs typeface="Proxima Nova"/>
              <a:sym typeface="Proxima Nova"/>
            </a:endParaRPr>
          </a:p>
          <a:p>
            <a:pPr marL="914400" marR="0" lvl="0" indent="-336550" algn="l" rtl="0">
              <a:lnSpc>
                <a:spcPct val="100000"/>
              </a:lnSpc>
              <a:spcBef>
                <a:spcPts val="0"/>
              </a:spcBef>
              <a:spcAft>
                <a:spcPts val="0"/>
              </a:spcAft>
              <a:buClr>
                <a:schemeClr val="dk1"/>
              </a:buClr>
              <a:buSzPts val="1700"/>
              <a:buFont typeface="Proxima Nova"/>
              <a:buAutoNum type="arabicPeriod"/>
            </a:pPr>
            <a:r>
              <a:rPr lang="en-US" sz="1700" b="0" i="0" u="none" strike="noStrike" cap="none">
                <a:solidFill>
                  <a:schemeClr val="dk1"/>
                </a:solidFill>
                <a:latin typeface="Proxima Nova"/>
                <a:ea typeface="Proxima Nova"/>
                <a:cs typeface="Proxima Nova"/>
                <a:sym typeface="Proxima Nova"/>
              </a:rPr>
              <a:t>Encoder</a:t>
            </a:r>
            <a:endParaRPr sz="1700" b="0" i="0" u="none" strike="noStrike" cap="none">
              <a:solidFill>
                <a:schemeClr val="dk1"/>
              </a:solidFill>
              <a:latin typeface="Proxima Nova"/>
              <a:ea typeface="Proxima Nova"/>
              <a:cs typeface="Proxima Nova"/>
              <a:sym typeface="Proxima Nova"/>
            </a:endParaRPr>
          </a:p>
          <a:p>
            <a:pPr marL="914400" marR="0" lvl="0" indent="-336550" algn="l" rtl="0">
              <a:lnSpc>
                <a:spcPct val="100000"/>
              </a:lnSpc>
              <a:spcBef>
                <a:spcPts val="0"/>
              </a:spcBef>
              <a:spcAft>
                <a:spcPts val="0"/>
              </a:spcAft>
              <a:buClr>
                <a:schemeClr val="dk1"/>
              </a:buClr>
              <a:buSzPts val="1700"/>
              <a:buFont typeface="Proxima Nova"/>
              <a:buAutoNum type="arabicPeriod"/>
            </a:pPr>
            <a:r>
              <a:rPr lang="en-US" sz="1700" b="0" i="0" u="none" strike="noStrike" cap="none">
                <a:solidFill>
                  <a:schemeClr val="dk1"/>
                </a:solidFill>
                <a:latin typeface="Proxima Nova"/>
                <a:ea typeface="Proxima Nova"/>
                <a:cs typeface="Proxima Nova"/>
                <a:sym typeface="Proxima Nova"/>
              </a:rPr>
              <a:t>Context Vector, c</a:t>
            </a:r>
            <a:endParaRPr sz="1700" b="0" i="0" u="none" strike="noStrike" cap="none">
              <a:solidFill>
                <a:schemeClr val="dk1"/>
              </a:solidFill>
              <a:latin typeface="Proxima Nova"/>
              <a:ea typeface="Proxima Nova"/>
              <a:cs typeface="Proxima Nova"/>
              <a:sym typeface="Proxima Nova"/>
            </a:endParaRPr>
          </a:p>
          <a:p>
            <a:pPr marL="914400" marR="0" lvl="0" indent="-336550" algn="l" rtl="0">
              <a:lnSpc>
                <a:spcPct val="100000"/>
              </a:lnSpc>
              <a:spcBef>
                <a:spcPts val="0"/>
              </a:spcBef>
              <a:spcAft>
                <a:spcPts val="0"/>
              </a:spcAft>
              <a:buClr>
                <a:schemeClr val="dk1"/>
              </a:buClr>
              <a:buSzPts val="1700"/>
              <a:buFont typeface="Proxima Nova"/>
              <a:buAutoNum type="arabicPeriod"/>
            </a:pPr>
            <a:r>
              <a:rPr lang="en-US" sz="1700" b="0" i="0" u="none" strike="noStrike" cap="none">
                <a:solidFill>
                  <a:schemeClr val="dk1"/>
                </a:solidFill>
                <a:latin typeface="Proxima Nova"/>
                <a:ea typeface="Proxima Nova"/>
                <a:cs typeface="Proxima Nova"/>
                <a:sym typeface="Proxima Nova"/>
              </a:rPr>
              <a:t>Decoder</a:t>
            </a:r>
            <a:endParaRPr sz="1700" b="0" i="0" u="none" strike="noStrike" cap="none">
              <a:solidFill>
                <a:schemeClr val="dk1"/>
              </a:solidFill>
              <a:latin typeface="Proxima Nova"/>
              <a:ea typeface="Proxima Nova"/>
              <a:cs typeface="Proxima Nova"/>
              <a:sym typeface="Proxima Nova"/>
            </a:endParaRPr>
          </a:p>
        </p:txBody>
      </p:sp>
      <p:pic>
        <p:nvPicPr>
          <p:cNvPr id="247" name="Google Shape;247;g263d97e1ce3_0_588"/>
          <p:cNvPicPr preferRelativeResize="0"/>
          <p:nvPr/>
        </p:nvPicPr>
        <p:blipFill rotWithShape="1">
          <a:blip r:embed="rId3">
            <a:alphaModFix/>
          </a:blip>
          <a:srcRect/>
          <a:stretch/>
        </p:blipFill>
        <p:spPr>
          <a:xfrm>
            <a:off x="152400" y="1726800"/>
            <a:ext cx="8370349" cy="2737225"/>
          </a:xfrm>
          <a:prstGeom prst="rect">
            <a:avLst/>
          </a:prstGeom>
          <a:noFill/>
          <a:ln>
            <a:noFill/>
          </a:ln>
        </p:spPr>
      </p:pic>
      <p:sp>
        <p:nvSpPr>
          <p:cNvPr id="248" name="Google Shape;248;g263d97e1ce3_0_588"/>
          <p:cNvSpPr txBox="1"/>
          <p:nvPr/>
        </p:nvSpPr>
        <p:spPr>
          <a:xfrm>
            <a:off x="3729600" y="4650900"/>
            <a:ext cx="76242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1C4587"/>
                </a:solidFill>
                <a:latin typeface="Proxima Nova"/>
                <a:ea typeface="Proxima Nova"/>
                <a:cs typeface="Proxima Nova"/>
                <a:sym typeface="Proxima Nova"/>
              </a:rPr>
              <a:t>Note:</a:t>
            </a:r>
            <a:r>
              <a:rPr lang="en-US" sz="1800" b="0" i="0" u="none" strike="noStrike" cap="none">
                <a:solidFill>
                  <a:srgbClr val="1C4587"/>
                </a:solidFill>
                <a:latin typeface="Proxima Nova"/>
                <a:ea typeface="Proxima Nova"/>
                <a:cs typeface="Proxima Nova"/>
                <a:sym typeface="Proxima Nova"/>
              </a:rPr>
              <a:t> The context is a function of the hidden representations of the input, and may be used by the decoder in a variety of ways</a:t>
            </a:r>
            <a:endParaRPr sz="1800" b="0" i="0" u="none" strike="noStrike" cap="none">
              <a:solidFill>
                <a:srgbClr val="1C4587"/>
              </a:solidFill>
              <a:latin typeface="Proxima Nova"/>
              <a:ea typeface="Proxima Nova"/>
              <a:cs typeface="Proxima Nova"/>
              <a:sym typeface="Proxima Nova"/>
            </a:endParaRPr>
          </a:p>
        </p:txBody>
      </p:sp>
      <p:sp>
        <p:nvSpPr>
          <p:cNvPr id="249" name="Google Shape;249;g263d97e1ce3_0_588"/>
          <p:cNvSpPr txBox="1"/>
          <p:nvPr/>
        </p:nvSpPr>
        <p:spPr>
          <a:xfrm>
            <a:off x="17925" y="6468405"/>
            <a:ext cx="44445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1"/>
                </a:solidFill>
                <a:latin typeface="Proxima Nova"/>
                <a:ea typeface="Proxima Nova"/>
                <a:cs typeface="Proxima Nova"/>
                <a:sym typeface="Proxima Nova"/>
              </a:rPr>
              <a:t>	AIMLC</a:t>
            </a:r>
            <a:r>
              <a:rPr lang="en-US" sz="1300" b="0" i="0" u="none" strike="noStrike" cap="none">
                <a:solidFill>
                  <a:srgbClr val="073763"/>
                </a:solidFill>
                <a:latin typeface="Proxima Nova"/>
                <a:ea typeface="Proxima Nova"/>
                <a:cs typeface="Proxima Nova"/>
                <a:sym typeface="Proxima Nova"/>
              </a:rPr>
              <a:t>ZG525</a:t>
            </a:r>
            <a:r>
              <a:rPr lang="en-US" sz="1300" b="0" i="0" u="none" strike="noStrike" cap="none">
                <a:solidFill>
                  <a:schemeClr val="dk1"/>
                </a:solidFill>
                <a:latin typeface="Proxima Nova"/>
                <a:ea typeface="Proxima Nova"/>
                <a:cs typeface="Proxima Nova"/>
                <a:sym typeface="Proxima Nova"/>
              </a:rPr>
              <a:t> - Computer Vision</a:t>
            </a:r>
            <a:endParaRPr sz="1300" b="0" i="0" u="none" strike="noStrike" cap="none">
              <a:solidFill>
                <a:schemeClr val="dk1"/>
              </a:solidFill>
              <a:latin typeface="Proxima Nova"/>
              <a:ea typeface="Proxima Nova"/>
              <a:cs typeface="Proxima Nova"/>
              <a:sym typeface="Proxima Nova"/>
            </a:endParaRPr>
          </a:p>
        </p:txBody>
      </p:sp>
      <p:sp>
        <p:nvSpPr>
          <p:cNvPr id="250" name="Google Shape;250;g263d97e1ce3_0_588"/>
          <p:cNvSpPr/>
          <p:nvPr/>
        </p:nvSpPr>
        <p:spPr>
          <a:xfrm>
            <a:off x="2550" y="6466475"/>
            <a:ext cx="3467400" cy="37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g2b8b5137f2c_0_16"/>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Encoder - Decoder Arch for Seq. to Seq. Translation </a:t>
            </a:r>
            <a:endParaRPr>
              <a:latin typeface="Proxima Nova"/>
              <a:ea typeface="Proxima Nova"/>
              <a:cs typeface="Proxima Nova"/>
              <a:sym typeface="Proxima Nova"/>
            </a:endParaRPr>
          </a:p>
        </p:txBody>
      </p:sp>
      <p:sp>
        <p:nvSpPr>
          <p:cNvPr id="257" name="Google Shape;257;g2b8b5137f2c_0_1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4</a:t>
            </a:fld>
            <a:endParaRPr/>
          </a:p>
        </p:txBody>
      </p:sp>
      <p:sp>
        <p:nvSpPr>
          <p:cNvPr id="258" name="Google Shape;258;g2b8b5137f2c_0_16"/>
          <p:cNvSpPr txBox="1"/>
          <p:nvPr/>
        </p:nvSpPr>
        <p:spPr>
          <a:xfrm>
            <a:off x="1578825" y="5577100"/>
            <a:ext cx="103116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1C4587"/>
                </a:solidFill>
                <a:latin typeface="Proxima Nova"/>
                <a:ea typeface="Proxima Nova"/>
                <a:cs typeface="Proxima Nova"/>
                <a:sym typeface="Proxima Nova"/>
              </a:rPr>
              <a:t>We make the context vector c available to more than just the first decoder hidden state, to ensure that the influence of the context vector, c, doesn’t wane as the output sequence is generated.</a:t>
            </a:r>
            <a:endParaRPr sz="1800" b="0" i="0" u="none" strike="noStrike" cap="none">
              <a:solidFill>
                <a:srgbClr val="1C4587"/>
              </a:solidFill>
              <a:latin typeface="Proxima Nova"/>
              <a:ea typeface="Proxima Nova"/>
              <a:cs typeface="Proxima Nova"/>
              <a:sym typeface="Proxima Nova"/>
            </a:endParaRPr>
          </a:p>
        </p:txBody>
      </p:sp>
      <p:pic>
        <p:nvPicPr>
          <p:cNvPr id="259" name="Google Shape;259;g2b8b5137f2c_0_16"/>
          <p:cNvPicPr preferRelativeResize="0"/>
          <p:nvPr/>
        </p:nvPicPr>
        <p:blipFill rotWithShape="1">
          <a:blip r:embed="rId3">
            <a:alphaModFix/>
          </a:blip>
          <a:srcRect/>
          <a:stretch/>
        </p:blipFill>
        <p:spPr>
          <a:xfrm>
            <a:off x="207825" y="1271775"/>
            <a:ext cx="9689400" cy="4296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g2b8b5137f2c_0_28"/>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Encoder - Decoder Arch for Seq. to Seq. Translation </a:t>
            </a:r>
            <a:endParaRPr>
              <a:latin typeface="Proxima Nova"/>
              <a:ea typeface="Proxima Nova"/>
              <a:cs typeface="Proxima Nova"/>
              <a:sym typeface="Proxima Nova"/>
            </a:endParaRPr>
          </a:p>
        </p:txBody>
      </p:sp>
      <p:sp>
        <p:nvSpPr>
          <p:cNvPr id="266" name="Google Shape;266;g2b8b5137f2c_0_2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5</a:t>
            </a:fld>
            <a:endParaRPr/>
          </a:p>
        </p:txBody>
      </p:sp>
      <p:sp>
        <p:nvSpPr>
          <p:cNvPr id="267" name="Google Shape;267;g2b8b5137f2c_0_28"/>
          <p:cNvSpPr txBox="1"/>
          <p:nvPr/>
        </p:nvSpPr>
        <p:spPr>
          <a:xfrm>
            <a:off x="1578825" y="5577100"/>
            <a:ext cx="103116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1C4587"/>
                </a:solidFill>
                <a:latin typeface="Proxima Nova"/>
                <a:ea typeface="Proxima Nova"/>
                <a:cs typeface="Proxima Nova"/>
                <a:sym typeface="Proxima Nova"/>
              </a:rPr>
              <a:t>Source and target sentences are concatenated with a separator token in between, and the decoder uses context information from the encoder’s last hidden state.</a:t>
            </a:r>
            <a:endParaRPr sz="1800" b="0" i="0" u="none" strike="noStrike" cap="none">
              <a:solidFill>
                <a:srgbClr val="1C4587"/>
              </a:solidFill>
              <a:latin typeface="Proxima Nova"/>
              <a:ea typeface="Proxima Nova"/>
              <a:cs typeface="Proxima Nova"/>
              <a:sym typeface="Proxima Nova"/>
            </a:endParaRPr>
          </a:p>
        </p:txBody>
      </p:sp>
      <p:pic>
        <p:nvPicPr>
          <p:cNvPr id="268" name="Google Shape;268;g2b8b5137f2c_0_28"/>
          <p:cNvPicPr preferRelativeResize="0"/>
          <p:nvPr/>
        </p:nvPicPr>
        <p:blipFill rotWithShape="1">
          <a:blip r:embed="rId3">
            <a:alphaModFix/>
          </a:blip>
          <a:srcRect/>
          <a:stretch/>
        </p:blipFill>
        <p:spPr>
          <a:xfrm>
            <a:off x="228600" y="1253200"/>
            <a:ext cx="10150125" cy="4171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g2b8b5137f2c_0_39"/>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Encoder - Decoder Arch for Seq. to Seq. Translation </a:t>
            </a:r>
            <a:endParaRPr>
              <a:latin typeface="Proxima Nova"/>
              <a:ea typeface="Proxima Nova"/>
              <a:cs typeface="Proxima Nova"/>
              <a:sym typeface="Proxima Nova"/>
            </a:endParaRPr>
          </a:p>
        </p:txBody>
      </p:sp>
      <p:sp>
        <p:nvSpPr>
          <p:cNvPr id="275" name="Google Shape;275;g2b8b5137f2c_0_3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6</a:t>
            </a:fld>
            <a:endParaRPr/>
          </a:p>
        </p:txBody>
      </p:sp>
      <p:sp>
        <p:nvSpPr>
          <p:cNvPr id="276" name="Google Shape;276;g2b8b5137f2c_0_39"/>
          <p:cNvSpPr txBox="1"/>
          <p:nvPr/>
        </p:nvSpPr>
        <p:spPr>
          <a:xfrm>
            <a:off x="1817815" y="5524923"/>
            <a:ext cx="10311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1C4587"/>
                </a:solidFill>
                <a:latin typeface="Proxima Nova"/>
                <a:ea typeface="Proxima Nova"/>
                <a:cs typeface="Proxima Nova"/>
                <a:sym typeface="Proxima Nova"/>
              </a:rPr>
              <a:t>In the decoder we usually don’t propagate the model’s softmax outputs ŷt , but use </a:t>
            </a:r>
            <a:r>
              <a:rPr lang="en-US" sz="1800" b="0" i="0" u="none" strike="noStrike" cap="none">
                <a:solidFill>
                  <a:srgbClr val="980000"/>
                </a:solidFill>
                <a:latin typeface="Proxima Nova"/>
                <a:ea typeface="Proxima Nova"/>
                <a:cs typeface="Proxima Nova"/>
                <a:sym typeface="Proxima Nova"/>
              </a:rPr>
              <a:t>teacher forcing</a:t>
            </a:r>
            <a:r>
              <a:rPr lang="en-US" sz="1800" b="0" i="0" u="none" strike="noStrike" cap="none">
                <a:solidFill>
                  <a:srgbClr val="1C4587"/>
                </a:solidFill>
                <a:latin typeface="Proxima Nova"/>
                <a:ea typeface="Proxima Nova"/>
                <a:cs typeface="Proxima Nova"/>
                <a:sym typeface="Proxima Nova"/>
              </a:rPr>
              <a:t>. We compute the softmax output distribution over ŷ in the decoder, which can then be averaged to compute a loss for the sentence.</a:t>
            </a:r>
            <a:endParaRPr sz="1800" b="0" i="0" u="none" strike="noStrike" cap="none">
              <a:solidFill>
                <a:srgbClr val="1C4587"/>
              </a:solidFill>
              <a:latin typeface="Proxima Nova"/>
              <a:ea typeface="Proxima Nova"/>
              <a:cs typeface="Proxima Nova"/>
              <a:sym typeface="Proxima Nova"/>
            </a:endParaRPr>
          </a:p>
        </p:txBody>
      </p:sp>
      <p:pic>
        <p:nvPicPr>
          <p:cNvPr id="277" name="Google Shape;277;g2b8b5137f2c_0_39"/>
          <p:cNvPicPr preferRelativeResize="0"/>
          <p:nvPr/>
        </p:nvPicPr>
        <p:blipFill rotWithShape="1">
          <a:blip r:embed="rId3">
            <a:alphaModFix/>
          </a:blip>
          <a:srcRect/>
          <a:stretch/>
        </p:blipFill>
        <p:spPr>
          <a:xfrm>
            <a:off x="304800" y="1301825"/>
            <a:ext cx="8027851" cy="41990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g2b8b5137f2c_0_50"/>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Encoder - Decoder Arch for Seq. to Seq. Translation </a:t>
            </a:r>
            <a:endParaRPr>
              <a:latin typeface="Proxima Nova"/>
              <a:ea typeface="Proxima Nova"/>
              <a:cs typeface="Proxima Nova"/>
              <a:sym typeface="Proxima Nova"/>
            </a:endParaRPr>
          </a:p>
        </p:txBody>
      </p:sp>
      <p:sp>
        <p:nvSpPr>
          <p:cNvPr id="284" name="Google Shape;284;g2b8b5137f2c_0_5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7</a:t>
            </a:fld>
            <a:endParaRPr/>
          </a:p>
        </p:txBody>
      </p:sp>
      <p:sp>
        <p:nvSpPr>
          <p:cNvPr id="285" name="Google Shape;285;g2b8b5137f2c_0_50"/>
          <p:cNvSpPr txBox="1"/>
          <p:nvPr/>
        </p:nvSpPr>
        <p:spPr>
          <a:xfrm>
            <a:off x="532840" y="4005323"/>
            <a:ext cx="103116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1C4587"/>
                </a:solidFill>
                <a:latin typeface="Proxima Nova"/>
                <a:ea typeface="Proxima Nova"/>
                <a:cs typeface="Proxima Nova"/>
                <a:sym typeface="Proxima Nova"/>
              </a:rPr>
              <a:t>Requiring the context c to be only the encoder’s final hidden state forces all the information from the entire source sentence to pass through this representational bottleneck.</a:t>
            </a:r>
            <a:endParaRPr sz="1800" b="0" i="0" u="none" strike="noStrike" cap="none">
              <a:solidFill>
                <a:srgbClr val="1C4587"/>
              </a:solidFill>
              <a:latin typeface="Proxima Nova"/>
              <a:ea typeface="Proxima Nova"/>
              <a:cs typeface="Proxima Nova"/>
              <a:sym typeface="Proxima Nova"/>
            </a:endParaRPr>
          </a:p>
        </p:txBody>
      </p:sp>
      <p:pic>
        <p:nvPicPr>
          <p:cNvPr id="286" name="Google Shape;286;g2b8b5137f2c_0_50"/>
          <p:cNvPicPr preferRelativeResize="0"/>
          <p:nvPr/>
        </p:nvPicPr>
        <p:blipFill rotWithShape="1">
          <a:blip r:embed="rId3">
            <a:alphaModFix/>
          </a:blip>
          <a:srcRect/>
          <a:stretch/>
        </p:blipFill>
        <p:spPr>
          <a:xfrm>
            <a:off x="152400" y="1545326"/>
            <a:ext cx="11830050" cy="1933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2b8b5137f2c_0_61"/>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Attention !</a:t>
            </a:r>
            <a:endParaRPr>
              <a:latin typeface="Proxima Nova"/>
              <a:ea typeface="Proxima Nova"/>
              <a:cs typeface="Proxima Nova"/>
              <a:sym typeface="Proxima Nova"/>
            </a:endParaRPr>
          </a:p>
        </p:txBody>
      </p:sp>
      <p:sp>
        <p:nvSpPr>
          <p:cNvPr id="293" name="Google Shape;293;g2b8b5137f2c_0_6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8</a:t>
            </a:fld>
            <a:endParaRPr/>
          </a:p>
        </p:txBody>
      </p:sp>
      <p:pic>
        <p:nvPicPr>
          <p:cNvPr id="294" name="Google Shape;294;g2b8b5137f2c_0_61"/>
          <p:cNvPicPr preferRelativeResize="0"/>
          <p:nvPr/>
        </p:nvPicPr>
        <p:blipFill rotWithShape="1">
          <a:blip r:embed="rId3">
            <a:alphaModFix/>
          </a:blip>
          <a:srcRect/>
          <a:stretch/>
        </p:blipFill>
        <p:spPr>
          <a:xfrm>
            <a:off x="179075" y="1392925"/>
            <a:ext cx="5306375" cy="2335700"/>
          </a:xfrm>
          <a:prstGeom prst="rect">
            <a:avLst/>
          </a:prstGeom>
          <a:noFill/>
          <a:ln>
            <a:noFill/>
          </a:ln>
        </p:spPr>
      </p:pic>
      <p:sp>
        <p:nvSpPr>
          <p:cNvPr id="295" name="Google Shape;295;g2b8b5137f2c_0_61"/>
          <p:cNvSpPr txBox="1"/>
          <p:nvPr/>
        </p:nvSpPr>
        <p:spPr>
          <a:xfrm>
            <a:off x="26675" y="3777950"/>
            <a:ext cx="5660400" cy="67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highlight>
                  <a:srgbClr val="FFF2CC"/>
                </a:highlight>
                <a:latin typeface="Arial"/>
                <a:ea typeface="Arial"/>
                <a:cs typeface="Arial"/>
                <a:sym typeface="Arial"/>
              </a:rPr>
              <a:t>Without  attention, a </a:t>
            </a:r>
            <a:r>
              <a:rPr lang="en-US" sz="1600" b="0" i="0" u="none" strike="noStrike" cap="none">
                <a:solidFill>
                  <a:srgbClr val="000000"/>
                </a:solidFill>
                <a:highlight>
                  <a:srgbClr val="FFF2CC"/>
                </a:highlight>
                <a:latin typeface="Arial"/>
                <a:ea typeface="Arial"/>
                <a:cs typeface="Arial"/>
                <a:sym typeface="Arial"/>
              </a:rPr>
              <a:t>decoder sees the same context vector , which is a static  function of all the encoder hidden states</a:t>
            </a:r>
            <a:endParaRPr sz="1600" b="0" i="0" u="none" strike="noStrike" cap="none">
              <a:solidFill>
                <a:srgbClr val="000000"/>
              </a:solidFill>
              <a:highlight>
                <a:srgbClr val="FFF2CC"/>
              </a:highlight>
              <a:latin typeface="Arial"/>
              <a:ea typeface="Arial"/>
              <a:cs typeface="Arial"/>
              <a:sym typeface="Arial"/>
            </a:endParaRPr>
          </a:p>
        </p:txBody>
      </p:sp>
      <p:pic>
        <p:nvPicPr>
          <p:cNvPr id="296" name="Google Shape;296;g2b8b5137f2c_0_61"/>
          <p:cNvPicPr preferRelativeResize="0"/>
          <p:nvPr/>
        </p:nvPicPr>
        <p:blipFill rotWithShape="1">
          <a:blip r:embed="rId4">
            <a:alphaModFix/>
          </a:blip>
          <a:srcRect/>
          <a:stretch/>
        </p:blipFill>
        <p:spPr>
          <a:xfrm>
            <a:off x="179075" y="4504375"/>
            <a:ext cx="4387999" cy="793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g2b8b5137f2c_0_70"/>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Attention !</a:t>
            </a:r>
            <a:endParaRPr>
              <a:latin typeface="Proxima Nova"/>
              <a:ea typeface="Proxima Nova"/>
              <a:cs typeface="Proxima Nova"/>
              <a:sym typeface="Proxima Nova"/>
            </a:endParaRPr>
          </a:p>
        </p:txBody>
      </p:sp>
      <p:sp>
        <p:nvSpPr>
          <p:cNvPr id="303" name="Google Shape;303;g2b8b5137f2c_0_7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9</a:t>
            </a:fld>
            <a:endParaRPr/>
          </a:p>
        </p:txBody>
      </p:sp>
      <p:pic>
        <p:nvPicPr>
          <p:cNvPr id="304" name="Google Shape;304;g2b8b5137f2c_0_70"/>
          <p:cNvPicPr preferRelativeResize="0"/>
          <p:nvPr/>
        </p:nvPicPr>
        <p:blipFill rotWithShape="1">
          <a:blip r:embed="rId3">
            <a:alphaModFix/>
          </a:blip>
          <a:srcRect/>
          <a:stretch/>
        </p:blipFill>
        <p:spPr>
          <a:xfrm>
            <a:off x="179075" y="1392925"/>
            <a:ext cx="5306375" cy="2335700"/>
          </a:xfrm>
          <a:prstGeom prst="rect">
            <a:avLst/>
          </a:prstGeom>
          <a:noFill/>
          <a:ln>
            <a:noFill/>
          </a:ln>
        </p:spPr>
      </p:pic>
      <p:pic>
        <p:nvPicPr>
          <p:cNvPr id="305" name="Google Shape;305;g2b8b5137f2c_0_70"/>
          <p:cNvPicPr preferRelativeResize="0"/>
          <p:nvPr/>
        </p:nvPicPr>
        <p:blipFill rotWithShape="1">
          <a:blip r:embed="rId4">
            <a:alphaModFix/>
          </a:blip>
          <a:srcRect/>
          <a:stretch/>
        </p:blipFill>
        <p:spPr>
          <a:xfrm>
            <a:off x="7021275" y="1416038"/>
            <a:ext cx="5062226" cy="2289475"/>
          </a:xfrm>
          <a:prstGeom prst="rect">
            <a:avLst/>
          </a:prstGeom>
          <a:noFill/>
          <a:ln>
            <a:noFill/>
          </a:ln>
        </p:spPr>
      </p:pic>
      <p:sp>
        <p:nvSpPr>
          <p:cNvPr id="306" name="Google Shape;306;g2b8b5137f2c_0_70"/>
          <p:cNvSpPr/>
          <p:nvPr/>
        </p:nvSpPr>
        <p:spPr>
          <a:xfrm>
            <a:off x="5268450" y="2436450"/>
            <a:ext cx="1823700" cy="503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g2b8b5137f2c_0_70"/>
          <p:cNvSpPr txBox="1"/>
          <p:nvPr/>
        </p:nvSpPr>
        <p:spPr>
          <a:xfrm>
            <a:off x="6589200" y="3777950"/>
            <a:ext cx="5494500" cy="67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highlight>
                  <a:srgbClr val="FFF2CC"/>
                </a:highlight>
                <a:latin typeface="Arial"/>
                <a:ea typeface="Arial"/>
                <a:cs typeface="Arial"/>
                <a:sym typeface="Arial"/>
              </a:rPr>
              <a:t>With attention, decoder to sees a different, dynamic, context, which is a function of all the encoder hidden states</a:t>
            </a:r>
            <a:endParaRPr sz="1600" b="0" i="0" u="none" strike="noStrike" cap="none">
              <a:solidFill>
                <a:srgbClr val="000000"/>
              </a:solidFill>
              <a:highlight>
                <a:srgbClr val="FFF2CC"/>
              </a:highlight>
              <a:latin typeface="Arial"/>
              <a:ea typeface="Arial"/>
              <a:cs typeface="Arial"/>
              <a:sym typeface="Arial"/>
            </a:endParaRPr>
          </a:p>
        </p:txBody>
      </p:sp>
      <p:sp>
        <p:nvSpPr>
          <p:cNvPr id="308" name="Google Shape;308;g2b8b5137f2c_0_70"/>
          <p:cNvSpPr txBox="1"/>
          <p:nvPr/>
        </p:nvSpPr>
        <p:spPr>
          <a:xfrm>
            <a:off x="26675" y="3777950"/>
            <a:ext cx="5660400" cy="67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highlight>
                  <a:srgbClr val="FFF2CC"/>
                </a:highlight>
                <a:latin typeface="Arial"/>
                <a:ea typeface="Arial"/>
                <a:cs typeface="Arial"/>
                <a:sym typeface="Arial"/>
              </a:rPr>
              <a:t>Without  attention, a </a:t>
            </a:r>
            <a:r>
              <a:rPr lang="en-US" sz="1600" b="0" i="0" u="none" strike="noStrike" cap="none">
                <a:solidFill>
                  <a:srgbClr val="000000"/>
                </a:solidFill>
                <a:highlight>
                  <a:srgbClr val="FFF2CC"/>
                </a:highlight>
                <a:latin typeface="Arial"/>
                <a:ea typeface="Arial"/>
                <a:cs typeface="Arial"/>
                <a:sym typeface="Arial"/>
              </a:rPr>
              <a:t>decoder sees the same context vector , which is a static  function of all the encoder hidden states</a:t>
            </a:r>
            <a:endParaRPr sz="1600" b="0" i="0" u="none" strike="noStrike" cap="none">
              <a:solidFill>
                <a:srgbClr val="000000"/>
              </a:solidFill>
              <a:highlight>
                <a:srgbClr val="FFF2CC"/>
              </a:highlight>
              <a:latin typeface="Arial"/>
              <a:ea typeface="Arial"/>
              <a:cs typeface="Arial"/>
              <a:sym typeface="Arial"/>
            </a:endParaRPr>
          </a:p>
        </p:txBody>
      </p:sp>
      <p:pic>
        <p:nvPicPr>
          <p:cNvPr id="309" name="Google Shape;309;g2b8b5137f2c_0_70"/>
          <p:cNvPicPr preferRelativeResize="0"/>
          <p:nvPr/>
        </p:nvPicPr>
        <p:blipFill rotWithShape="1">
          <a:blip r:embed="rId5">
            <a:alphaModFix/>
          </a:blip>
          <a:srcRect/>
          <a:stretch/>
        </p:blipFill>
        <p:spPr>
          <a:xfrm>
            <a:off x="179075" y="4504375"/>
            <a:ext cx="4387999" cy="793025"/>
          </a:xfrm>
          <a:prstGeom prst="rect">
            <a:avLst/>
          </a:prstGeom>
          <a:noFill/>
          <a:ln>
            <a:noFill/>
          </a:ln>
        </p:spPr>
      </p:pic>
      <p:pic>
        <p:nvPicPr>
          <p:cNvPr id="310" name="Google Shape;310;g2b8b5137f2c_0_70"/>
          <p:cNvPicPr preferRelativeResize="0"/>
          <p:nvPr/>
        </p:nvPicPr>
        <p:blipFill rotWithShape="1">
          <a:blip r:embed="rId6">
            <a:alphaModFix/>
          </a:blip>
          <a:srcRect/>
          <a:stretch/>
        </p:blipFill>
        <p:spPr>
          <a:xfrm>
            <a:off x="7158850" y="4527500"/>
            <a:ext cx="4118751" cy="744350"/>
          </a:xfrm>
          <a:prstGeom prst="rect">
            <a:avLst/>
          </a:prstGeom>
          <a:noFill/>
          <a:ln>
            <a:noFill/>
          </a:ln>
        </p:spPr>
      </p:pic>
      <p:sp>
        <p:nvSpPr>
          <p:cNvPr id="311" name="Google Shape;311;g2b8b5137f2c_0_70"/>
          <p:cNvSpPr txBox="1"/>
          <p:nvPr/>
        </p:nvSpPr>
        <p:spPr>
          <a:xfrm>
            <a:off x="4768725" y="407325"/>
            <a:ext cx="74511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He went to the bank to find his bank account was empty and then he went to the river bank and cried</a:t>
            </a:r>
            <a:endParaRPr sz="2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2b8b5137f2c_0_83"/>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Attention !</a:t>
            </a:r>
            <a:endParaRPr>
              <a:latin typeface="Proxima Nova"/>
              <a:ea typeface="Proxima Nova"/>
              <a:cs typeface="Proxima Nova"/>
              <a:sym typeface="Proxima Nova"/>
            </a:endParaRPr>
          </a:p>
        </p:txBody>
      </p:sp>
      <p:sp>
        <p:nvSpPr>
          <p:cNvPr id="318" name="Google Shape;318;g2b8b5137f2c_0_8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10</a:t>
            </a:fld>
            <a:endParaRPr/>
          </a:p>
        </p:txBody>
      </p:sp>
      <p:pic>
        <p:nvPicPr>
          <p:cNvPr id="319" name="Google Shape;319;g2b8b5137f2c_0_83"/>
          <p:cNvPicPr preferRelativeResize="0"/>
          <p:nvPr/>
        </p:nvPicPr>
        <p:blipFill rotWithShape="1">
          <a:blip r:embed="rId3">
            <a:alphaModFix/>
          </a:blip>
          <a:srcRect/>
          <a:stretch/>
        </p:blipFill>
        <p:spPr>
          <a:xfrm>
            <a:off x="179075" y="1392925"/>
            <a:ext cx="5306375" cy="2335700"/>
          </a:xfrm>
          <a:prstGeom prst="rect">
            <a:avLst/>
          </a:prstGeom>
          <a:noFill/>
          <a:ln>
            <a:noFill/>
          </a:ln>
        </p:spPr>
      </p:pic>
      <p:pic>
        <p:nvPicPr>
          <p:cNvPr id="320" name="Google Shape;320;g2b8b5137f2c_0_83"/>
          <p:cNvPicPr preferRelativeResize="0"/>
          <p:nvPr/>
        </p:nvPicPr>
        <p:blipFill rotWithShape="1">
          <a:blip r:embed="rId4">
            <a:alphaModFix/>
          </a:blip>
          <a:srcRect/>
          <a:stretch/>
        </p:blipFill>
        <p:spPr>
          <a:xfrm>
            <a:off x="7021275" y="1416038"/>
            <a:ext cx="5062226" cy="2289475"/>
          </a:xfrm>
          <a:prstGeom prst="rect">
            <a:avLst/>
          </a:prstGeom>
          <a:noFill/>
          <a:ln>
            <a:noFill/>
          </a:ln>
        </p:spPr>
      </p:pic>
      <p:sp>
        <p:nvSpPr>
          <p:cNvPr id="321" name="Google Shape;321;g2b8b5137f2c_0_83"/>
          <p:cNvSpPr/>
          <p:nvPr/>
        </p:nvSpPr>
        <p:spPr>
          <a:xfrm>
            <a:off x="5268450" y="2436450"/>
            <a:ext cx="1823700" cy="503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g2b8b5137f2c_0_83"/>
          <p:cNvSpPr txBox="1"/>
          <p:nvPr/>
        </p:nvSpPr>
        <p:spPr>
          <a:xfrm>
            <a:off x="6589200" y="3777950"/>
            <a:ext cx="5494500" cy="67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highlight>
                  <a:srgbClr val="FFF2CC"/>
                </a:highlight>
                <a:latin typeface="Arial"/>
                <a:ea typeface="Arial"/>
                <a:cs typeface="Arial"/>
                <a:sym typeface="Arial"/>
              </a:rPr>
              <a:t>With attention, decoder to sees a different, dynamic, context, which is a function of all the encoder hidden states</a:t>
            </a:r>
            <a:endParaRPr sz="1600" b="0" i="0" u="none" strike="noStrike" cap="none">
              <a:solidFill>
                <a:srgbClr val="000000"/>
              </a:solidFill>
              <a:highlight>
                <a:srgbClr val="FFF2CC"/>
              </a:highlight>
              <a:latin typeface="Arial"/>
              <a:ea typeface="Arial"/>
              <a:cs typeface="Arial"/>
              <a:sym typeface="Arial"/>
            </a:endParaRPr>
          </a:p>
        </p:txBody>
      </p:sp>
      <p:sp>
        <p:nvSpPr>
          <p:cNvPr id="323" name="Google Shape;323;g2b8b5137f2c_0_83"/>
          <p:cNvSpPr txBox="1"/>
          <p:nvPr/>
        </p:nvSpPr>
        <p:spPr>
          <a:xfrm>
            <a:off x="26675" y="3777950"/>
            <a:ext cx="5660400" cy="67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highlight>
                  <a:srgbClr val="FFF2CC"/>
                </a:highlight>
                <a:latin typeface="Arial"/>
                <a:ea typeface="Arial"/>
                <a:cs typeface="Arial"/>
                <a:sym typeface="Arial"/>
              </a:rPr>
              <a:t>Without  attention, a </a:t>
            </a:r>
            <a:r>
              <a:rPr lang="en-US" sz="1600" b="0" i="0" u="none" strike="noStrike" cap="none">
                <a:solidFill>
                  <a:srgbClr val="000000"/>
                </a:solidFill>
                <a:highlight>
                  <a:srgbClr val="FFF2CC"/>
                </a:highlight>
                <a:latin typeface="Arial"/>
                <a:ea typeface="Arial"/>
                <a:cs typeface="Arial"/>
                <a:sym typeface="Arial"/>
              </a:rPr>
              <a:t>decoder sees the same context vector , which is a static  function of all the encoder hidden states</a:t>
            </a:r>
            <a:endParaRPr sz="1600" b="0" i="0" u="none" strike="noStrike" cap="none">
              <a:solidFill>
                <a:srgbClr val="000000"/>
              </a:solidFill>
              <a:highlight>
                <a:srgbClr val="FFF2CC"/>
              </a:highlight>
              <a:latin typeface="Arial"/>
              <a:ea typeface="Arial"/>
              <a:cs typeface="Arial"/>
              <a:sym typeface="Arial"/>
            </a:endParaRPr>
          </a:p>
        </p:txBody>
      </p:sp>
      <p:pic>
        <p:nvPicPr>
          <p:cNvPr id="324" name="Google Shape;324;g2b8b5137f2c_0_83"/>
          <p:cNvPicPr preferRelativeResize="0"/>
          <p:nvPr/>
        </p:nvPicPr>
        <p:blipFill rotWithShape="1">
          <a:blip r:embed="rId5">
            <a:alphaModFix/>
          </a:blip>
          <a:srcRect/>
          <a:stretch/>
        </p:blipFill>
        <p:spPr>
          <a:xfrm>
            <a:off x="179075" y="4504375"/>
            <a:ext cx="4387999" cy="793025"/>
          </a:xfrm>
          <a:prstGeom prst="rect">
            <a:avLst/>
          </a:prstGeom>
          <a:noFill/>
          <a:ln>
            <a:noFill/>
          </a:ln>
        </p:spPr>
      </p:pic>
      <p:pic>
        <p:nvPicPr>
          <p:cNvPr id="325" name="Google Shape;325;g2b8b5137f2c_0_83"/>
          <p:cNvPicPr preferRelativeResize="0"/>
          <p:nvPr/>
        </p:nvPicPr>
        <p:blipFill rotWithShape="1">
          <a:blip r:embed="rId6">
            <a:alphaModFix/>
          </a:blip>
          <a:srcRect/>
          <a:stretch/>
        </p:blipFill>
        <p:spPr>
          <a:xfrm>
            <a:off x="7158850" y="4527500"/>
            <a:ext cx="4118751" cy="744350"/>
          </a:xfrm>
          <a:prstGeom prst="rect">
            <a:avLst/>
          </a:prstGeom>
          <a:noFill/>
          <a:ln>
            <a:noFill/>
          </a:ln>
        </p:spPr>
      </p:pic>
      <p:sp>
        <p:nvSpPr>
          <p:cNvPr id="326" name="Google Shape;326;g2b8b5137f2c_0_83"/>
          <p:cNvSpPr txBox="1"/>
          <p:nvPr/>
        </p:nvSpPr>
        <p:spPr>
          <a:xfrm>
            <a:off x="404425" y="5141050"/>
            <a:ext cx="11136600" cy="708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0" i="0" u="none" strike="noStrike" cap="none">
                <a:solidFill>
                  <a:srgbClr val="000000"/>
                </a:solidFill>
                <a:highlight>
                  <a:srgbClr val="FCE5CD"/>
                </a:highlight>
                <a:latin typeface="Arial"/>
                <a:ea typeface="Arial"/>
                <a:cs typeface="Arial"/>
                <a:sym typeface="Arial"/>
              </a:rPr>
              <a:t>With attention, decoder gets information from all the hidden states of the encoder, not just the last hidden state of the encoder</a:t>
            </a:r>
            <a:endParaRPr sz="1700" b="0" i="0" u="none" strike="noStrike" cap="none">
              <a:solidFill>
                <a:srgbClr val="000000"/>
              </a:solidFill>
              <a:highlight>
                <a:srgbClr val="FCE5CD"/>
              </a:highlight>
              <a:latin typeface="Arial"/>
              <a:ea typeface="Arial"/>
              <a:cs typeface="Arial"/>
              <a:sym typeface="Arial"/>
            </a:endParaRPr>
          </a:p>
        </p:txBody>
      </p:sp>
      <p:sp>
        <p:nvSpPr>
          <p:cNvPr id="327" name="Google Shape;327;g2b8b5137f2c_0_83"/>
          <p:cNvSpPr txBox="1"/>
          <p:nvPr/>
        </p:nvSpPr>
        <p:spPr>
          <a:xfrm>
            <a:off x="1623625" y="5433950"/>
            <a:ext cx="93294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0" i="0" u="none" strike="noStrike" cap="none">
                <a:solidFill>
                  <a:srgbClr val="000000"/>
                </a:solidFill>
                <a:highlight>
                  <a:srgbClr val="FFE599"/>
                </a:highlight>
                <a:latin typeface="Arial"/>
                <a:ea typeface="Arial"/>
                <a:cs typeface="Arial"/>
                <a:sym typeface="Arial"/>
              </a:rPr>
              <a:t>Each context vector is obtained by taking a weighted sum of all the encoder hidden states. </a:t>
            </a:r>
            <a:endParaRPr sz="1700" b="0" i="0" u="none" strike="noStrike" cap="none">
              <a:solidFill>
                <a:srgbClr val="000000"/>
              </a:solidFill>
              <a:highlight>
                <a:srgbClr val="93C47D"/>
              </a:highlight>
              <a:latin typeface="Arial"/>
              <a:ea typeface="Arial"/>
              <a:cs typeface="Arial"/>
              <a:sym typeface="Arial"/>
            </a:endParaRPr>
          </a:p>
        </p:txBody>
      </p:sp>
      <p:sp>
        <p:nvSpPr>
          <p:cNvPr id="328" name="Google Shape;328;g2b8b5137f2c_0_83"/>
          <p:cNvSpPr txBox="1"/>
          <p:nvPr/>
        </p:nvSpPr>
        <p:spPr>
          <a:xfrm>
            <a:off x="404425" y="5721753"/>
            <a:ext cx="11511300" cy="708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0" i="0" u="none" strike="noStrike" cap="none">
                <a:solidFill>
                  <a:schemeClr val="dk1"/>
                </a:solidFill>
                <a:highlight>
                  <a:srgbClr val="93C47D"/>
                </a:highlight>
                <a:latin typeface="Arial"/>
                <a:ea typeface="Arial"/>
                <a:cs typeface="Arial"/>
                <a:sym typeface="Arial"/>
              </a:rPr>
              <a:t>The </a:t>
            </a:r>
            <a:r>
              <a:rPr lang="en-US" sz="1700" b="0" i="0" u="none" strike="noStrike" cap="none">
                <a:solidFill>
                  <a:srgbClr val="0000FF"/>
                </a:solidFill>
                <a:highlight>
                  <a:srgbClr val="93C47D"/>
                </a:highlight>
                <a:latin typeface="Arial"/>
                <a:ea typeface="Arial"/>
                <a:cs typeface="Arial"/>
                <a:sym typeface="Arial"/>
              </a:rPr>
              <a:t>weights focus on (‘attend to’) a particular part of the source text</a:t>
            </a:r>
            <a:r>
              <a:rPr lang="en-US" sz="1700" b="0" i="0" u="none" strike="noStrike" cap="none">
                <a:solidFill>
                  <a:schemeClr val="dk1"/>
                </a:solidFill>
                <a:highlight>
                  <a:srgbClr val="93C47D"/>
                </a:highlight>
                <a:latin typeface="Arial"/>
                <a:ea typeface="Arial"/>
                <a:cs typeface="Arial"/>
                <a:sym typeface="Arial"/>
              </a:rPr>
              <a:t> that is relevant for the token the decoder is currently producing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g2b8b5137f2c_0_99"/>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Attention !</a:t>
            </a:r>
            <a:endParaRPr>
              <a:latin typeface="Proxima Nova"/>
              <a:ea typeface="Proxima Nova"/>
              <a:cs typeface="Proxima Nova"/>
              <a:sym typeface="Proxima Nova"/>
            </a:endParaRPr>
          </a:p>
        </p:txBody>
      </p:sp>
      <p:sp>
        <p:nvSpPr>
          <p:cNvPr id="335" name="Google Shape;335;g2b8b5137f2c_0_9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11</a:t>
            </a:fld>
            <a:endParaRPr/>
          </a:p>
        </p:txBody>
      </p:sp>
      <p:sp>
        <p:nvSpPr>
          <p:cNvPr id="336" name="Google Shape;336;g2b8b5137f2c_0_99"/>
          <p:cNvSpPr txBox="1"/>
          <p:nvPr/>
        </p:nvSpPr>
        <p:spPr>
          <a:xfrm>
            <a:off x="256475" y="1489475"/>
            <a:ext cx="1262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highlight>
                  <a:srgbClr val="FFF2CC"/>
                </a:highlight>
                <a:latin typeface="Calibri"/>
                <a:ea typeface="Calibri"/>
                <a:cs typeface="Calibri"/>
                <a:sym typeface="Calibri"/>
              </a:rPr>
              <a:t>Step -1 : </a:t>
            </a:r>
            <a:endParaRPr sz="2400" b="1" i="0" u="none" strike="noStrike" cap="none">
              <a:solidFill>
                <a:srgbClr val="000000"/>
              </a:solidFill>
              <a:highlight>
                <a:srgbClr val="FFF2CC"/>
              </a:highlight>
              <a:latin typeface="Calibri"/>
              <a:ea typeface="Calibri"/>
              <a:cs typeface="Calibri"/>
              <a:sym typeface="Calibri"/>
            </a:endParaRPr>
          </a:p>
        </p:txBody>
      </p:sp>
      <p:sp>
        <p:nvSpPr>
          <p:cNvPr id="337" name="Google Shape;337;g2b8b5137f2c_0_99"/>
          <p:cNvSpPr txBox="1"/>
          <p:nvPr/>
        </p:nvSpPr>
        <p:spPr>
          <a:xfrm>
            <a:off x="1469850" y="1520225"/>
            <a:ext cx="9311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Proxima Nova"/>
                <a:ea typeface="Proxima Nova"/>
                <a:cs typeface="Proxima Nova"/>
                <a:sym typeface="Proxima Nova"/>
              </a:rPr>
              <a:t>Find out how relevant each encoder state is to the present decoder state </a:t>
            </a:r>
            <a:endParaRPr sz="2000" b="0" i="0" u="none" strike="noStrike" cap="none">
              <a:solidFill>
                <a:srgbClr val="000000"/>
              </a:solidFill>
              <a:latin typeface="Proxima Nova"/>
              <a:ea typeface="Proxima Nova"/>
              <a:cs typeface="Proxima Nova"/>
              <a:sym typeface="Proxima Nova"/>
            </a:endParaRPr>
          </a:p>
        </p:txBody>
      </p:sp>
      <p:pic>
        <p:nvPicPr>
          <p:cNvPr id="338" name="Google Shape;338;g2b8b5137f2c_0_99"/>
          <p:cNvPicPr preferRelativeResize="0"/>
          <p:nvPr/>
        </p:nvPicPr>
        <p:blipFill rotWithShape="1">
          <a:blip r:embed="rId3">
            <a:alphaModFix/>
          </a:blip>
          <a:srcRect/>
          <a:stretch/>
        </p:blipFill>
        <p:spPr>
          <a:xfrm>
            <a:off x="9821200" y="1550972"/>
            <a:ext cx="667083" cy="492600"/>
          </a:xfrm>
          <a:prstGeom prst="rect">
            <a:avLst/>
          </a:prstGeom>
          <a:noFill/>
          <a:ln>
            <a:noFill/>
          </a:ln>
        </p:spPr>
      </p:pic>
      <p:sp>
        <p:nvSpPr>
          <p:cNvPr id="339" name="Google Shape;339;g2b8b5137f2c_0_99"/>
          <p:cNvSpPr txBox="1"/>
          <p:nvPr/>
        </p:nvSpPr>
        <p:spPr>
          <a:xfrm>
            <a:off x="256475" y="2272175"/>
            <a:ext cx="9311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Proxima Nova"/>
                <a:ea typeface="Proxima Nova"/>
                <a:cs typeface="Proxima Nova"/>
                <a:sym typeface="Proxima Nova"/>
              </a:rPr>
              <a:t>Compute a score of similarity between           and all the encoder states :</a:t>
            </a:r>
            <a:endParaRPr sz="2000" b="0" i="0" u="none" strike="noStrike" cap="none">
              <a:solidFill>
                <a:srgbClr val="000000"/>
              </a:solidFill>
              <a:latin typeface="Proxima Nova"/>
              <a:ea typeface="Proxima Nova"/>
              <a:cs typeface="Proxima Nova"/>
              <a:sym typeface="Proxima Nova"/>
            </a:endParaRPr>
          </a:p>
        </p:txBody>
      </p:sp>
      <p:pic>
        <p:nvPicPr>
          <p:cNvPr id="340" name="Google Shape;340;g2b8b5137f2c_0_99"/>
          <p:cNvPicPr preferRelativeResize="0"/>
          <p:nvPr/>
        </p:nvPicPr>
        <p:blipFill rotWithShape="1">
          <a:blip r:embed="rId3">
            <a:alphaModFix/>
          </a:blip>
          <a:srcRect/>
          <a:stretch/>
        </p:blipFill>
        <p:spPr>
          <a:xfrm>
            <a:off x="4642825" y="2272172"/>
            <a:ext cx="667083" cy="492600"/>
          </a:xfrm>
          <a:prstGeom prst="rect">
            <a:avLst/>
          </a:prstGeom>
          <a:noFill/>
          <a:ln>
            <a:noFill/>
          </a:ln>
        </p:spPr>
      </p:pic>
      <p:pic>
        <p:nvPicPr>
          <p:cNvPr id="341" name="Google Shape;341;g2b8b5137f2c_0_99"/>
          <p:cNvPicPr preferRelativeResize="0"/>
          <p:nvPr/>
        </p:nvPicPr>
        <p:blipFill rotWithShape="1">
          <a:blip r:embed="rId4">
            <a:alphaModFix/>
          </a:blip>
          <a:srcRect/>
          <a:stretch/>
        </p:blipFill>
        <p:spPr>
          <a:xfrm>
            <a:off x="8578034" y="2272797"/>
            <a:ext cx="2096201" cy="492600"/>
          </a:xfrm>
          <a:prstGeom prst="rect">
            <a:avLst/>
          </a:prstGeom>
          <a:noFill/>
          <a:ln>
            <a:noFill/>
          </a:ln>
        </p:spPr>
      </p:pic>
      <p:pic>
        <p:nvPicPr>
          <p:cNvPr id="342" name="Google Shape;342;g2b8b5137f2c_0_99"/>
          <p:cNvPicPr preferRelativeResize="0"/>
          <p:nvPr/>
        </p:nvPicPr>
        <p:blipFill rotWithShape="1">
          <a:blip r:embed="rId5">
            <a:alphaModFix/>
          </a:blip>
          <a:srcRect/>
          <a:stretch/>
        </p:blipFill>
        <p:spPr>
          <a:xfrm>
            <a:off x="3538500" y="2889387"/>
            <a:ext cx="4394949" cy="616825"/>
          </a:xfrm>
          <a:prstGeom prst="rect">
            <a:avLst/>
          </a:prstGeom>
          <a:noFill/>
          <a:ln>
            <a:noFill/>
          </a:ln>
        </p:spPr>
      </p:pic>
      <p:sp>
        <p:nvSpPr>
          <p:cNvPr id="343" name="Google Shape;343;g2b8b5137f2c_0_99"/>
          <p:cNvSpPr txBox="1"/>
          <p:nvPr/>
        </p:nvSpPr>
        <p:spPr>
          <a:xfrm>
            <a:off x="355100" y="2920750"/>
            <a:ext cx="5681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roxima Nova"/>
                <a:ea typeface="Proxima Nova"/>
                <a:cs typeface="Proxima Nova"/>
                <a:sym typeface="Proxima Nova"/>
              </a:rPr>
              <a:t>Dot Product Attention : </a:t>
            </a:r>
            <a:endParaRPr sz="2400" b="0" i="0" u="none" strike="noStrike" cap="none">
              <a:solidFill>
                <a:srgbClr val="000000"/>
              </a:solidFill>
              <a:latin typeface="Proxima Nova"/>
              <a:ea typeface="Proxima Nova"/>
              <a:cs typeface="Proxima Nova"/>
              <a:sym typeface="Proxima Nova"/>
            </a:endParaRPr>
          </a:p>
        </p:txBody>
      </p:sp>
      <p:sp>
        <p:nvSpPr>
          <p:cNvPr id="344" name="Google Shape;344;g2b8b5137f2c_0_99"/>
          <p:cNvSpPr txBox="1"/>
          <p:nvPr/>
        </p:nvSpPr>
        <p:spPr>
          <a:xfrm>
            <a:off x="256475" y="3699275"/>
            <a:ext cx="1262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highlight>
                  <a:srgbClr val="FFF2CC"/>
                </a:highlight>
                <a:latin typeface="Calibri"/>
                <a:ea typeface="Calibri"/>
                <a:cs typeface="Calibri"/>
                <a:sym typeface="Calibri"/>
              </a:rPr>
              <a:t>Step -2 : </a:t>
            </a:r>
            <a:endParaRPr sz="2400" b="1" i="0" u="none" strike="noStrike" cap="none">
              <a:solidFill>
                <a:srgbClr val="000000"/>
              </a:solidFill>
              <a:highlight>
                <a:srgbClr val="FFF2CC"/>
              </a:highlight>
              <a:latin typeface="Calibri"/>
              <a:ea typeface="Calibri"/>
              <a:cs typeface="Calibri"/>
              <a:sym typeface="Calibri"/>
            </a:endParaRPr>
          </a:p>
        </p:txBody>
      </p:sp>
      <p:sp>
        <p:nvSpPr>
          <p:cNvPr id="345" name="Google Shape;345;g2b8b5137f2c_0_99"/>
          <p:cNvSpPr txBox="1"/>
          <p:nvPr/>
        </p:nvSpPr>
        <p:spPr>
          <a:xfrm>
            <a:off x="1588125" y="3708875"/>
            <a:ext cx="104955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Proxima Nova"/>
                <a:ea typeface="Proxima Nova"/>
                <a:cs typeface="Proxima Nova"/>
                <a:sym typeface="Proxima Nova"/>
              </a:rPr>
              <a:t>Normalize all the scores with softmax to create a vector of weights, α</a:t>
            </a:r>
            <a:r>
              <a:rPr lang="en-US" sz="2000" b="0" i="0" u="none" strike="noStrike" cap="none" baseline="-25000">
                <a:solidFill>
                  <a:srgbClr val="000000"/>
                </a:solidFill>
                <a:latin typeface="Proxima Nova"/>
                <a:ea typeface="Proxima Nova"/>
                <a:cs typeface="Proxima Nova"/>
                <a:sym typeface="Proxima Nova"/>
              </a:rPr>
              <a:t>i,j</a:t>
            </a:r>
            <a:endParaRPr sz="2000" b="0" i="0" u="none" strike="noStrike" cap="none">
              <a:solidFill>
                <a:srgbClr val="000000"/>
              </a:solidFill>
              <a:latin typeface="Proxima Nova"/>
              <a:ea typeface="Proxima Nova"/>
              <a:cs typeface="Proxima Nova"/>
              <a:sym typeface="Proxima Nova"/>
            </a:endParaRPr>
          </a:p>
        </p:txBody>
      </p:sp>
      <p:pic>
        <p:nvPicPr>
          <p:cNvPr id="346" name="Google Shape;346;g2b8b5137f2c_0_99"/>
          <p:cNvPicPr preferRelativeResize="0"/>
          <p:nvPr/>
        </p:nvPicPr>
        <p:blipFill rotWithShape="1">
          <a:blip r:embed="rId3">
            <a:alphaModFix/>
          </a:blip>
          <a:srcRect/>
          <a:stretch/>
        </p:blipFill>
        <p:spPr>
          <a:xfrm>
            <a:off x="2070750" y="4596247"/>
            <a:ext cx="667083" cy="492600"/>
          </a:xfrm>
          <a:prstGeom prst="rect">
            <a:avLst/>
          </a:prstGeom>
          <a:noFill/>
          <a:ln>
            <a:noFill/>
          </a:ln>
        </p:spPr>
      </p:pic>
      <p:sp>
        <p:nvSpPr>
          <p:cNvPr id="347" name="Google Shape;347;g2b8b5137f2c_0_99"/>
          <p:cNvSpPr txBox="1"/>
          <p:nvPr/>
        </p:nvSpPr>
        <p:spPr>
          <a:xfrm>
            <a:off x="256475" y="4253375"/>
            <a:ext cx="108840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Proxima Nova"/>
                <a:ea typeface="Proxima Nova"/>
                <a:cs typeface="Proxima Nova"/>
                <a:sym typeface="Proxima Nova"/>
              </a:rPr>
              <a:t>α</a:t>
            </a:r>
            <a:r>
              <a:rPr lang="en-US" sz="2000" b="0" i="0" u="none" strike="noStrike" cap="none" baseline="-25000">
                <a:solidFill>
                  <a:schemeClr val="dk1"/>
                </a:solidFill>
                <a:latin typeface="Proxima Nova"/>
                <a:ea typeface="Proxima Nova"/>
                <a:cs typeface="Proxima Nova"/>
                <a:sym typeface="Proxima Nova"/>
              </a:rPr>
              <a:t>i,j </a:t>
            </a:r>
            <a:r>
              <a:rPr lang="en-US" sz="2000" b="0" i="0" u="none" strike="noStrike" cap="none">
                <a:solidFill>
                  <a:schemeClr val="dk1"/>
                </a:solidFill>
                <a:latin typeface="Proxima Nova"/>
                <a:ea typeface="Proxima Nova"/>
                <a:cs typeface="Proxima Nova"/>
                <a:sym typeface="Proxima Nova"/>
              </a:rPr>
              <a:t>indicates the proportional relevance of each encoder hidden state j to the prior hidden decoder state,</a:t>
            </a:r>
            <a:endParaRPr sz="1400" b="0" i="0" u="none" strike="noStrike" cap="none">
              <a:solidFill>
                <a:srgbClr val="000000"/>
              </a:solidFill>
              <a:latin typeface="Proxima Nova"/>
              <a:ea typeface="Proxima Nova"/>
              <a:cs typeface="Proxima Nova"/>
              <a:sym typeface="Proxima Nova"/>
            </a:endParaRPr>
          </a:p>
        </p:txBody>
      </p:sp>
      <p:pic>
        <p:nvPicPr>
          <p:cNvPr id="348" name="Google Shape;348;g2b8b5137f2c_0_99"/>
          <p:cNvPicPr preferRelativeResize="0"/>
          <p:nvPr/>
        </p:nvPicPr>
        <p:blipFill rotWithShape="1">
          <a:blip r:embed="rId6">
            <a:alphaModFix/>
          </a:blip>
          <a:srcRect/>
          <a:stretch/>
        </p:blipFill>
        <p:spPr>
          <a:xfrm>
            <a:off x="3273657" y="5002644"/>
            <a:ext cx="5704087" cy="1646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g2b8b5137f2c_0_118"/>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Attention !</a:t>
            </a:r>
            <a:endParaRPr sz="4000" b="1"/>
          </a:p>
        </p:txBody>
      </p:sp>
      <p:sp>
        <p:nvSpPr>
          <p:cNvPr id="355" name="Google Shape;355;g2b8b5137f2c_0_11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12</a:t>
            </a:fld>
            <a:endParaRPr/>
          </a:p>
        </p:txBody>
      </p:sp>
      <p:sp>
        <p:nvSpPr>
          <p:cNvPr id="356" name="Google Shape;356;g2b8b5137f2c_0_118"/>
          <p:cNvSpPr txBox="1"/>
          <p:nvPr/>
        </p:nvSpPr>
        <p:spPr>
          <a:xfrm>
            <a:off x="256475" y="1489475"/>
            <a:ext cx="1262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highlight>
                  <a:srgbClr val="FFF2CC"/>
                </a:highlight>
                <a:latin typeface="Calibri"/>
                <a:ea typeface="Calibri"/>
                <a:cs typeface="Calibri"/>
                <a:sym typeface="Calibri"/>
              </a:rPr>
              <a:t>Step -3 : </a:t>
            </a:r>
            <a:endParaRPr sz="2400" b="1" i="0" u="none" strike="noStrike" cap="none">
              <a:solidFill>
                <a:srgbClr val="000000"/>
              </a:solidFill>
              <a:highlight>
                <a:srgbClr val="FFF2CC"/>
              </a:highlight>
              <a:latin typeface="Calibri"/>
              <a:ea typeface="Calibri"/>
              <a:cs typeface="Calibri"/>
              <a:sym typeface="Calibri"/>
            </a:endParaRPr>
          </a:p>
        </p:txBody>
      </p:sp>
      <p:sp>
        <p:nvSpPr>
          <p:cNvPr id="357" name="Google Shape;357;g2b8b5137f2c_0_118"/>
          <p:cNvSpPr txBox="1"/>
          <p:nvPr/>
        </p:nvSpPr>
        <p:spPr>
          <a:xfrm>
            <a:off x="1469850" y="1520225"/>
            <a:ext cx="104883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Proxima Nova"/>
                <a:ea typeface="Proxima Nova"/>
                <a:cs typeface="Proxima Nova"/>
                <a:sym typeface="Proxima Nova"/>
              </a:rPr>
              <a:t>Given the distribution in α, </a:t>
            </a:r>
            <a:r>
              <a:rPr lang="en-US" sz="2000" b="0" i="0" u="none" strike="noStrike" cap="none">
                <a:solidFill>
                  <a:srgbClr val="000000"/>
                </a:solidFill>
                <a:highlight>
                  <a:srgbClr val="CFE2F3"/>
                </a:highlight>
                <a:latin typeface="Proxima Nova"/>
                <a:ea typeface="Proxima Nova"/>
                <a:cs typeface="Proxima Nova"/>
                <a:sym typeface="Proxima Nova"/>
              </a:rPr>
              <a:t>compute a fixed-length context vector for the current decoder state </a:t>
            </a:r>
            <a:r>
              <a:rPr lang="en-US" sz="2000" b="0" i="0" u="none" strike="noStrike" cap="none">
                <a:solidFill>
                  <a:srgbClr val="000000"/>
                </a:solidFill>
                <a:highlight>
                  <a:srgbClr val="D9D2E9"/>
                </a:highlight>
                <a:latin typeface="Proxima Nova"/>
                <a:ea typeface="Proxima Nova"/>
                <a:cs typeface="Proxima Nova"/>
                <a:sym typeface="Proxima Nova"/>
              </a:rPr>
              <a:t>by taking a weighted average over all the encoder hidden states</a:t>
            </a:r>
            <a:endParaRPr sz="2000" b="0" i="0" u="none" strike="noStrike" cap="none">
              <a:solidFill>
                <a:srgbClr val="000000"/>
              </a:solidFill>
              <a:highlight>
                <a:srgbClr val="D9D2E9"/>
              </a:highlight>
              <a:latin typeface="Proxima Nova"/>
              <a:ea typeface="Proxima Nova"/>
              <a:cs typeface="Proxima Nova"/>
              <a:sym typeface="Proxima Nova"/>
            </a:endParaRPr>
          </a:p>
        </p:txBody>
      </p:sp>
      <p:pic>
        <p:nvPicPr>
          <p:cNvPr id="358" name="Google Shape;358;g2b8b5137f2c_0_118"/>
          <p:cNvPicPr preferRelativeResize="0"/>
          <p:nvPr/>
        </p:nvPicPr>
        <p:blipFill rotWithShape="1">
          <a:blip r:embed="rId3">
            <a:alphaModFix/>
          </a:blip>
          <a:srcRect/>
          <a:stretch/>
        </p:blipFill>
        <p:spPr>
          <a:xfrm>
            <a:off x="3929150" y="2361000"/>
            <a:ext cx="2448488" cy="1027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g2b8b5137f2c_0_127"/>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Attention !</a:t>
            </a:r>
            <a:endParaRPr sz="4000" b="1"/>
          </a:p>
        </p:txBody>
      </p:sp>
      <p:sp>
        <p:nvSpPr>
          <p:cNvPr id="365" name="Google Shape;365;g2b8b5137f2c_0_1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13</a:t>
            </a:fld>
            <a:endParaRPr/>
          </a:p>
        </p:txBody>
      </p:sp>
      <p:sp>
        <p:nvSpPr>
          <p:cNvPr id="366" name="Google Shape;366;g2b8b5137f2c_0_127"/>
          <p:cNvSpPr txBox="1"/>
          <p:nvPr/>
        </p:nvSpPr>
        <p:spPr>
          <a:xfrm>
            <a:off x="256475" y="1489475"/>
            <a:ext cx="1262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highlight>
                  <a:srgbClr val="FFF2CC"/>
                </a:highlight>
                <a:latin typeface="Calibri"/>
                <a:ea typeface="Calibri"/>
                <a:cs typeface="Calibri"/>
                <a:sym typeface="Calibri"/>
              </a:rPr>
              <a:t>Step -3 : </a:t>
            </a:r>
            <a:endParaRPr sz="2400" b="1" i="0" u="none" strike="noStrike" cap="none">
              <a:solidFill>
                <a:srgbClr val="000000"/>
              </a:solidFill>
              <a:highlight>
                <a:srgbClr val="FFF2CC"/>
              </a:highlight>
              <a:latin typeface="Calibri"/>
              <a:ea typeface="Calibri"/>
              <a:cs typeface="Calibri"/>
              <a:sym typeface="Calibri"/>
            </a:endParaRPr>
          </a:p>
        </p:txBody>
      </p:sp>
      <p:sp>
        <p:nvSpPr>
          <p:cNvPr id="367" name="Google Shape;367;g2b8b5137f2c_0_127"/>
          <p:cNvSpPr txBox="1"/>
          <p:nvPr/>
        </p:nvSpPr>
        <p:spPr>
          <a:xfrm>
            <a:off x="1469850" y="1520225"/>
            <a:ext cx="104883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Proxima Nova"/>
                <a:ea typeface="Proxima Nova"/>
                <a:cs typeface="Proxima Nova"/>
                <a:sym typeface="Proxima Nova"/>
              </a:rPr>
              <a:t>Given the distribution in α, </a:t>
            </a:r>
            <a:r>
              <a:rPr lang="en-US" sz="2000" b="0" i="0" u="none" strike="noStrike" cap="none">
                <a:solidFill>
                  <a:srgbClr val="000000"/>
                </a:solidFill>
                <a:highlight>
                  <a:srgbClr val="CFE2F3"/>
                </a:highlight>
                <a:latin typeface="Proxima Nova"/>
                <a:ea typeface="Proxima Nova"/>
                <a:cs typeface="Proxima Nova"/>
                <a:sym typeface="Proxima Nova"/>
              </a:rPr>
              <a:t>compute a fixed-length context vector for the current decoder state </a:t>
            </a:r>
            <a:r>
              <a:rPr lang="en-US" sz="2000" b="0" i="0" u="none" strike="noStrike" cap="none">
                <a:solidFill>
                  <a:srgbClr val="000000"/>
                </a:solidFill>
                <a:highlight>
                  <a:srgbClr val="D9D2E9"/>
                </a:highlight>
                <a:latin typeface="Proxima Nova"/>
                <a:ea typeface="Proxima Nova"/>
                <a:cs typeface="Proxima Nova"/>
                <a:sym typeface="Proxima Nova"/>
              </a:rPr>
              <a:t>by taking a weighted average over all the encoder hidden states</a:t>
            </a:r>
            <a:endParaRPr sz="2000" b="0" i="0" u="none" strike="noStrike" cap="none">
              <a:solidFill>
                <a:srgbClr val="000000"/>
              </a:solidFill>
              <a:highlight>
                <a:srgbClr val="D9D2E9"/>
              </a:highlight>
              <a:latin typeface="Proxima Nova"/>
              <a:ea typeface="Proxima Nova"/>
              <a:cs typeface="Proxima Nova"/>
              <a:sym typeface="Proxima Nova"/>
            </a:endParaRPr>
          </a:p>
        </p:txBody>
      </p:sp>
      <p:pic>
        <p:nvPicPr>
          <p:cNvPr id="368" name="Google Shape;368;g2b8b5137f2c_0_127"/>
          <p:cNvPicPr preferRelativeResize="0"/>
          <p:nvPr/>
        </p:nvPicPr>
        <p:blipFill rotWithShape="1">
          <a:blip r:embed="rId3">
            <a:alphaModFix/>
          </a:blip>
          <a:srcRect/>
          <a:stretch/>
        </p:blipFill>
        <p:spPr>
          <a:xfrm>
            <a:off x="3929150" y="2361000"/>
            <a:ext cx="2448488" cy="1027800"/>
          </a:xfrm>
          <a:prstGeom prst="rect">
            <a:avLst/>
          </a:prstGeom>
          <a:noFill/>
          <a:ln>
            <a:noFill/>
          </a:ln>
        </p:spPr>
      </p:pic>
      <p:cxnSp>
        <p:nvCxnSpPr>
          <p:cNvPr id="369" name="Google Shape;369;g2b8b5137f2c_0_127"/>
          <p:cNvCxnSpPr/>
          <p:nvPr/>
        </p:nvCxnSpPr>
        <p:spPr>
          <a:xfrm rot="10800000" flipH="1">
            <a:off x="67625" y="3768075"/>
            <a:ext cx="11861400" cy="38700"/>
          </a:xfrm>
          <a:prstGeom prst="straightConnector1">
            <a:avLst/>
          </a:prstGeom>
          <a:noFill/>
          <a:ln w="28575" cap="flat" cmpd="sng">
            <a:solidFill>
              <a:schemeClr val="dk2"/>
            </a:solidFill>
            <a:prstDash val="solid"/>
            <a:round/>
            <a:headEnd type="none" w="sm" len="sm"/>
            <a:tailEnd type="none" w="sm" len="sm"/>
          </a:ln>
        </p:spPr>
      </p:cxnSp>
      <p:sp>
        <p:nvSpPr>
          <p:cNvPr id="370" name="Google Shape;370;g2b8b5137f2c_0_127"/>
          <p:cNvSpPr txBox="1"/>
          <p:nvPr/>
        </p:nvSpPr>
        <p:spPr>
          <a:xfrm>
            <a:off x="205650" y="4005150"/>
            <a:ext cx="9594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highlight>
                  <a:srgbClr val="FFFF00"/>
                </a:highlight>
                <a:latin typeface="Calibri"/>
                <a:ea typeface="Calibri"/>
                <a:cs typeface="Calibri"/>
                <a:sym typeface="Calibri"/>
              </a:rPr>
              <a:t>Plus : </a:t>
            </a:r>
            <a:endParaRPr sz="2400" b="1" i="0" u="none" strike="noStrike" cap="none">
              <a:solidFill>
                <a:srgbClr val="000000"/>
              </a:solidFill>
              <a:highlight>
                <a:srgbClr val="FFFF00"/>
              </a:highlight>
              <a:latin typeface="Calibri"/>
              <a:ea typeface="Calibri"/>
              <a:cs typeface="Calibri"/>
              <a:sym typeface="Calibri"/>
            </a:endParaRPr>
          </a:p>
        </p:txBody>
      </p:sp>
      <p:pic>
        <p:nvPicPr>
          <p:cNvPr id="371" name="Google Shape;371;g2b8b5137f2c_0_127"/>
          <p:cNvPicPr preferRelativeResize="0"/>
          <p:nvPr/>
        </p:nvPicPr>
        <p:blipFill rotWithShape="1">
          <a:blip r:embed="rId4">
            <a:alphaModFix/>
          </a:blip>
          <a:srcRect/>
          <a:stretch/>
        </p:blipFill>
        <p:spPr>
          <a:xfrm>
            <a:off x="4247563" y="4753350"/>
            <a:ext cx="4932886" cy="800400"/>
          </a:xfrm>
          <a:prstGeom prst="rect">
            <a:avLst/>
          </a:prstGeom>
          <a:noFill/>
          <a:ln>
            <a:noFill/>
          </a:ln>
        </p:spPr>
      </p:pic>
      <p:sp>
        <p:nvSpPr>
          <p:cNvPr id="372" name="Google Shape;372;g2b8b5137f2c_0_127"/>
          <p:cNvSpPr txBox="1"/>
          <p:nvPr/>
        </p:nvSpPr>
        <p:spPr>
          <a:xfrm>
            <a:off x="1165050" y="4034825"/>
            <a:ext cx="104883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Proxima Nova"/>
                <a:ea typeface="Proxima Nova"/>
                <a:cs typeface="Proxima Nova"/>
                <a:sym typeface="Proxima Nova"/>
              </a:rPr>
              <a:t>In step-1, we can get a more powerful scoring function by parameterizing the score with its own set of weights, W</a:t>
            </a:r>
            <a:r>
              <a:rPr lang="en-US" sz="2000" b="0" i="0" u="none" strike="noStrike" cap="none" baseline="-25000">
                <a:solidFill>
                  <a:srgbClr val="000000"/>
                </a:solidFill>
                <a:latin typeface="Proxima Nova"/>
                <a:ea typeface="Proxima Nova"/>
                <a:cs typeface="Proxima Nova"/>
                <a:sym typeface="Proxima Nova"/>
              </a:rPr>
              <a:t>s</a:t>
            </a:r>
            <a:r>
              <a:rPr lang="en-US" sz="2000" b="0" i="0" u="none" strike="noStrike" cap="none">
                <a:solidFill>
                  <a:srgbClr val="000000"/>
                </a:solidFill>
                <a:latin typeface="Proxima Nova"/>
                <a:ea typeface="Proxima Nova"/>
                <a:cs typeface="Proxima Nova"/>
                <a:sym typeface="Proxima Nova"/>
              </a:rPr>
              <a:t>:</a:t>
            </a:r>
            <a:endParaRPr sz="2000" b="0" i="0" u="none" strike="noStrike" cap="none">
              <a:solidFill>
                <a:srgbClr val="000000"/>
              </a:solidFill>
              <a:highlight>
                <a:srgbClr val="D9D2E9"/>
              </a:highlight>
              <a:latin typeface="Proxima Nova"/>
              <a:ea typeface="Proxima Nova"/>
              <a:cs typeface="Proxima Nova"/>
              <a:sym typeface="Proxima Nova"/>
            </a:endParaRPr>
          </a:p>
        </p:txBody>
      </p:sp>
      <p:sp>
        <p:nvSpPr>
          <p:cNvPr id="373" name="Google Shape;373;g2b8b5137f2c_0_127"/>
          <p:cNvSpPr txBox="1"/>
          <p:nvPr/>
        </p:nvSpPr>
        <p:spPr>
          <a:xfrm>
            <a:off x="1012650" y="5482625"/>
            <a:ext cx="10488300" cy="11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Proxima Nova"/>
                <a:ea typeface="Proxima Nova"/>
                <a:cs typeface="Proxima Nova"/>
                <a:sym typeface="Proxima Nova"/>
              </a:rPr>
              <a:t>W</a:t>
            </a:r>
            <a:r>
              <a:rPr lang="en-US" sz="2000" b="0" i="0" u="none" strike="noStrike" cap="none" baseline="-25000">
                <a:solidFill>
                  <a:srgbClr val="000000"/>
                </a:solidFill>
                <a:latin typeface="Proxima Nova"/>
                <a:ea typeface="Proxima Nova"/>
                <a:cs typeface="Proxima Nova"/>
                <a:sym typeface="Proxima Nova"/>
              </a:rPr>
              <a:t>s</a:t>
            </a:r>
            <a:r>
              <a:rPr lang="en-US" sz="2000" b="0" i="0" u="none" strike="noStrike" cap="none">
                <a:solidFill>
                  <a:srgbClr val="000000"/>
                </a:solidFill>
                <a:latin typeface="Proxima Nova"/>
                <a:ea typeface="Proxima Nova"/>
                <a:cs typeface="Proxima Nova"/>
                <a:sym typeface="Proxima Nova"/>
              </a:rPr>
              <a:t> , is trained during normal end-to-end training,  </a:t>
            </a:r>
            <a:endParaRPr sz="2000" b="0"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Proxima Nova"/>
                <a:ea typeface="Proxima Nova"/>
                <a:cs typeface="Proxima Nova"/>
                <a:sym typeface="Proxima Nova"/>
              </a:rPr>
              <a:t>W</a:t>
            </a:r>
            <a:r>
              <a:rPr lang="en-US" sz="2000" b="0" i="0" u="none" strike="noStrike" cap="none" baseline="-25000">
                <a:solidFill>
                  <a:schemeClr val="dk1"/>
                </a:solidFill>
                <a:latin typeface="Proxima Nova"/>
                <a:ea typeface="Proxima Nova"/>
                <a:cs typeface="Proxima Nova"/>
                <a:sym typeface="Proxima Nova"/>
              </a:rPr>
              <a:t>s</a:t>
            </a:r>
            <a:r>
              <a:rPr lang="en-US" sz="2000" b="0" i="0" u="none" strike="noStrike" cap="none">
                <a:solidFill>
                  <a:schemeClr val="dk1"/>
                </a:solidFill>
                <a:latin typeface="Proxima Nova"/>
                <a:ea typeface="Proxima Nova"/>
                <a:cs typeface="Proxima Nova"/>
                <a:sym typeface="Proxima Nova"/>
              </a:rPr>
              <a:t> , </a:t>
            </a:r>
            <a:r>
              <a:rPr lang="en-US" sz="2000" b="0" i="0" u="none" strike="noStrike" cap="none">
                <a:solidFill>
                  <a:srgbClr val="000000"/>
                </a:solidFill>
                <a:latin typeface="Proxima Nova"/>
                <a:ea typeface="Proxima Nova"/>
                <a:cs typeface="Proxima Nova"/>
                <a:sym typeface="Proxima Nova"/>
              </a:rPr>
              <a:t>gives the network the ability to learn which aspects of similarity between the decoder and encoder states are important to the current application.</a:t>
            </a:r>
            <a:endParaRPr sz="2000" b="0" i="0" u="none" strike="noStrike" cap="none">
              <a:solidFill>
                <a:srgbClr val="000000"/>
              </a:solidFill>
              <a:highlight>
                <a:srgbClr val="D9D2E9"/>
              </a:highlight>
              <a:latin typeface="Proxima Nova"/>
              <a:ea typeface="Proxima Nova"/>
              <a:cs typeface="Proxima Nova"/>
              <a:sym typeface="Proxima Nov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g2b8b5137f2c_0_141"/>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Attention !</a:t>
            </a:r>
            <a:endParaRPr sz="4000" b="1"/>
          </a:p>
        </p:txBody>
      </p:sp>
      <p:sp>
        <p:nvSpPr>
          <p:cNvPr id="380" name="Google Shape;380;g2b8b5137f2c_0_14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14</a:t>
            </a:fld>
            <a:endParaRPr/>
          </a:p>
        </p:txBody>
      </p:sp>
      <p:pic>
        <p:nvPicPr>
          <p:cNvPr id="381" name="Google Shape;381;g2b8b5137f2c_0_141"/>
          <p:cNvPicPr preferRelativeResize="0"/>
          <p:nvPr/>
        </p:nvPicPr>
        <p:blipFill rotWithShape="1">
          <a:blip r:embed="rId3">
            <a:alphaModFix/>
          </a:blip>
          <a:srcRect/>
          <a:stretch/>
        </p:blipFill>
        <p:spPr>
          <a:xfrm>
            <a:off x="152400" y="1247600"/>
            <a:ext cx="11496551" cy="5261150"/>
          </a:xfrm>
          <a:prstGeom prst="rect">
            <a:avLst/>
          </a:prstGeom>
          <a:noFill/>
          <a:ln>
            <a:noFill/>
          </a:ln>
        </p:spPr>
      </p:pic>
      <p:pic>
        <p:nvPicPr>
          <p:cNvPr id="382" name="Google Shape;382;g2b8b5137f2c_0_141"/>
          <p:cNvPicPr preferRelativeResize="0"/>
          <p:nvPr/>
        </p:nvPicPr>
        <p:blipFill rotWithShape="1">
          <a:blip r:embed="rId4">
            <a:alphaModFix/>
          </a:blip>
          <a:srcRect/>
          <a:stretch/>
        </p:blipFill>
        <p:spPr>
          <a:xfrm>
            <a:off x="4043925" y="766875"/>
            <a:ext cx="4768400" cy="849375"/>
          </a:xfrm>
          <a:prstGeom prst="rect">
            <a:avLst/>
          </a:prstGeom>
          <a:noFill/>
          <a:ln w="19050" cap="flat" cmpd="sng">
            <a:solidFill>
              <a:srgbClr val="FF0000"/>
            </a:solidFill>
            <a:prstDash val="solid"/>
            <a:round/>
            <a:headEnd type="none" w="sm" len="sm"/>
            <a:tailEnd type="none" w="sm" len="sm"/>
          </a:ln>
        </p:spPr>
      </p:pic>
      <p:sp>
        <p:nvSpPr>
          <p:cNvPr id="383" name="Google Shape;383;g2b8b5137f2c_0_141"/>
          <p:cNvSpPr txBox="1"/>
          <p:nvPr/>
        </p:nvSpPr>
        <p:spPr>
          <a:xfrm>
            <a:off x="17925" y="6468405"/>
            <a:ext cx="44445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chemeClr val="dk1"/>
              </a:solidFill>
              <a:latin typeface="Proxima Nova"/>
              <a:ea typeface="Proxima Nova"/>
              <a:cs typeface="Proxima Nova"/>
              <a:sym typeface="Proxima Nov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g2b8b5137f2c_0_149"/>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Transformers </a:t>
            </a:r>
            <a:endParaRPr>
              <a:latin typeface="Proxima Nova"/>
              <a:ea typeface="Proxima Nova"/>
              <a:cs typeface="Proxima Nova"/>
              <a:sym typeface="Proxima Nova"/>
            </a:endParaRPr>
          </a:p>
        </p:txBody>
      </p:sp>
      <p:sp>
        <p:nvSpPr>
          <p:cNvPr id="390" name="Google Shape;390;g2b8b5137f2c_0_14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15</a:t>
            </a:fld>
            <a:endParaRPr/>
          </a:p>
        </p:txBody>
      </p:sp>
      <p:sp>
        <p:nvSpPr>
          <p:cNvPr id="391" name="Google Shape;391;g2b8b5137f2c_0_149"/>
          <p:cNvSpPr txBox="1">
            <a:spLocks noGrp="1"/>
          </p:cNvSpPr>
          <p:nvPr>
            <p:ph type="body" idx="1"/>
          </p:nvPr>
        </p:nvSpPr>
        <p:spPr>
          <a:xfrm>
            <a:off x="838200" y="1632850"/>
            <a:ext cx="10880400" cy="4256100"/>
          </a:xfrm>
          <a:prstGeom prst="rect">
            <a:avLst/>
          </a:prstGeom>
          <a:noFill/>
          <a:ln>
            <a:noFill/>
          </a:ln>
        </p:spPr>
        <p:txBody>
          <a:bodyPr spcFirstLastPara="1" wrap="square" lIns="91425" tIns="45700" rIns="91425" bIns="45700" anchor="t" anchorCtr="0">
            <a:normAutofit/>
          </a:bodyPr>
          <a:lstStyle/>
          <a:p>
            <a:pPr marL="457200" lvl="0" indent="-400050" algn="l" rtl="0">
              <a:lnSpc>
                <a:spcPct val="100000"/>
              </a:lnSpc>
              <a:spcBef>
                <a:spcPts val="1000"/>
              </a:spcBef>
              <a:spcAft>
                <a:spcPts val="0"/>
              </a:spcAft>
              <a:buSzPts val="2700"/>
              <a:buChar char="•"/>
            </a:pPr>
            <a:r>
              <a:rPr lang="en-US" sz="2700">
                <a:latin typeface="Proxima Nova"/>
                <a:ea typeface="Proxima Nova"/>
                <a:cs typeface="Proxima Nova"/>
                <a:sym typeface="Proxima Nova"/>
              </a:rPr>
              <a:t>2017, NIPS, Vaswani et. al., </a:t>
            </a:r>
            <a:r>
              <a:rPr lang="en-US" sz="2700">
                <a:solidFill>
                  <a:srgbClr val="741B47"/>
                </a:solidFill>
                <a:latin typeface="Proxima Nova"/>
                <a:ea typeface="Proxima Nova"/>
                <a:cs typeface="Proxima Nova"/>
                <a:sym typeface="Proxima Nova"/>
              </a:rPr>
              <a:t>Attention Is All You Need</a:t>
            </a:r>
            <a:r>
              <a:rPr lang="en-US" sz="2700">
                <a:latin typeface="Proxima Nova"/>
                <a:ea typeface="Proxima Nova"/>
                <a:cs typeface="Proxima Nova"/>
                <a:sym typeface="Proxima Nova"/>
              </a:rPr>
              <a:t> !!!</a:t>
            </a:r>
            <a:endParaRPr sz="2700">
              <a:latin typeface="Proxima Nova"/>
              <a:ea typeface="Proxima Nova"/>
              <a:cs typeface="Proxima Nova"/>
              <a:sym typeface="Proxima Nova"/>
            </a:endParaRPr>
          </a:p>
          <a:p>
            <a:pPr marL="457200" lvl="0" indent="-400050" algn="l" rtl="0">
              <a:lnSpc>
                <a:spcPct val="100000"/>
              </a:lnSpc>
              <a:spcBef>
                <a:spcPts val="0"/>
              </a:spcBef>
              <a:spcAft>
                <a:spcPts val="0"/>
              </a:spcAft>
              <a:buSzPts val="2700"/>
              <a:buChar char="•"/>
            </a:pPr>
            <a:r>
              <a:rPr lang="en-US" sz="2700">
                <a:latin typeface="Proxima Nova"/>
                <a:ea typeface="Proxima Nova"/>
                <a:cs typeface="Proxima Nova"/>
                <a:sym typeface="Proxima Nova"/>
              </a:rPr>
              <a:t>Transformers </a:t>
            </a:r>
            <a:r>
              <a:rPr lang="en-US" sz="2700">
                <a:solidFill>
                  <a:srgbClr val="38761D"/>
                </a:solidFill>
                <a:latin typeface="Proxima Nova"/>
                <a:ea typeface="Proxima Nova"/>
                <a:cs typeface="Proxima Nova"/>
                <a:sym typeface="Proxima Nova"/>
              </a:rPr>
              <a:t>map sequences</a:t>
            </a:r>
            <a:r>
              <a:rPr lang="en-US" sz="2700">
                <a:latin typeface="Proxima Nova"/>
                <a:ea typeface="Proxima Nova"/>
                <a:cs typeface="Proxima Nova"/>
                <a:sym typeface="Proxima Nova"/>
              </a:rPr>
              <a:t> of input vectors (x</a:t>
            </a:r>
            <a:r>
              <a:rPr lang="en-US" sz="2700" baseline="-25000">
                <a:latin typeface="Proxima Nova"/>
                <a:ea typeface="Proxima Nova"/>
                <a:cs typeface="Proxima Nova"/>
                <a:sym typeface="Proxima Nova"/>
              </a:rPr>
              <a:t>1</a:t>
            </a:r>
            <a:r>
              <a:rPr lang="en-US" sz="2700">
                <a:latin typeface="Proxima Nova"/>
                <a:ea typeface="Proxima Nova"/>
                <a:cs typeface="Proxima Nova"/>
                <a:sym typeface="Proxima Nova"/>
              </a:rPr>
              <a:t>,...,x</a:t>
            </a:r>
            <a:r>
              <a:rPr lang="en-US" sz="2700" baseline="-25000">
                <a:latin typeface="Proxima Nova"/>
                <a:ea typeface="Proxima Nova"/>
                <a:cs typeface="Proxima Nova"/>
                <a:sym typeface="Proxima Nova"/>
              </a:rPr>
              <a:t>n</a:t>
            </a:r>
            <a:r>
              <a:rPr lang="en-US" sz="2700">
                <a:latin typeface="Proxima Nova"/>
                <a:ea typeface="Proxima Nova"/>
                <a:cs typeface="Proxima Nova"/>
                <a:sym typeface="Proxima Nova"/>
              </a:rPr>
              <a:t>) to sequences of output vectors (y</a:t>
            </a:r>
            <a:r>
              <a:rPr lang="en-US" sz="2700" baseline="-25000">
                <a:latin typeface="Proxima Nova"/>
                <a:ea typeface="Proxima Nova"/>
                <a:cs typeface="Proxima Nova"/>
                <a:sym typeface="Proxima Nova"/>
              </a:rPr>
              <a:t>1</a:t>
            </a:r>
            <a:r>
              <a:rPr lang="en-US" sz="2700">
                <a:latin typeface="Proxima Nova"/>
                <a:ea typeface="Proxima Nova"/>
                <a:cs typeface="Proxima Nova"/>
                <a:sym typeface="Proxima Nova"/>
              </a:rPr>
              <a:t>,...,y</a:t>
            </a:r>
            <a:r>
              <a:rPr lang="en-US" sz="2700" baseline="-25000">
                <a:latin typeface="Proxima Nova"/>
                <a:ea typeface="Proxima Nova"/>
                <a:cs typeface="Proxima Nova"/>
                <a:sym typeface="Proxima Nova"/>
              </a:rPr>
              <a:t>n</a:t>
            </a:r>
            <a:r>
              <a:rPr lang="en-US" sz="2700">
                <a:latin typeface="Proxima Nova"/>
                <a:ea typeface="Proxima Nova"/>
                <a:cs typeface="Proxima Nova"/>
                <a:sym typeface="Proxima Nova"/>
              </a:rPr>
              <a:t>) </a:t>
            </a:r>
            <a:r>
              <a:rPr lang="en-US" sz="2700">
                <a:solidFill>
                  <a:srgbClr val="38761D"/>
                </a:solidFill>
                <a:latin typeface="Proxima Nova"/>
                <a:ea typeface="Proxima Nova"/>
                <a:cs typeface="Proxima Nova"/>
                <a:sym typeface="Proxima Nova"/>
              </a:rPr>
              <a:t>of the same length</a:t>
            </a:r>
            <a:endParaRPr sz="2700">
              <a:solidFill>
                <a:srgbClr val="38761D"/>
              </a:solidFill>
              <a:latin typeface="Proxima Nova"/>
              <a:ea typeface="Proxima Nova"/>
              <a:cs typeface="Proxima Nova"/>
              <a:sym typeface="Proxima Nova"/>
            </a:endParaRPr>
          </a:p>
          <a:p>
            <a:pPr marL="457200" lvl="0" indent="-400050" algn="l" rtl="0">
              <a:lnSpc>
                <a:spcPct val="100000"/>
              </a:lnSpc>
              <a:spcBef>
                <a:spcPts val="0"/>
              </a:spcBef>
              <a:spcAft>
                <a:spcPts val="0"/>
              </a:spcAft>
              <a:buSzPts val="2700"/>
              <a:buChar char="•"/>
            </a:pPr>
            <a:r>
              <a:rPr lang="en-US" sz="2700">
                <a:latin typeface="Proxima Nova"/>
                <a:ea typeface="Proxima Nova"/>
                <a:cs typeface="Proxima Nova"/>
                <a:sym typeface="Proxima Nova"/>
              </a:rPr>
              <a:t>Made up of </a:t>
            </a:r>
            <a:r>
              <a:rPr lang="en-US" sz="2700">
                <a:solidFill>
                  <a:srgbClr val="CC0000"/>
                </a:solidFill>
                <a:latin typeface="Proxima Nova"/>
                <a:ea typeface="Proxima Nova"/>
                <a:cs typeface="Proxima Nova"/>
                <a:sym typeface="Proxima Nova"/>
              </a:rPr>
              <a:t>transformer blocks</a:t>
            </a:r>
            <a:r>
              <a:rPr lang="en-US" sz="2700">
                <a:latin typeface="Proxima Nova"/>
                <a:ea typeface="Proxima Nova"/>
                <a:cs typeface="Proxima Nova"/>
                <a:sym typeface="Proxima Nova"/>
              </a:rPr>
              <a:t> in which the key component is </a:t>
            </a:r>
            <a:r>
              <a:rPr lang="en-US" sz="2700">
                <a:solidFill>
                  <a:srgbClr val="1155CC"/>
                </a:solidFill>
                <a:latin typeface="Proxima Nova"/>
                <a:ea typeface="Proxima Nova"/>
                <a:cs typeface="Proxima Nova"/>
                <a:sym typeface="Proxima Nova"/>
              </a:rPr>
              <a:t>self-attention</a:t>
            </a:r>
            <a:r>
              <a:rPr lang="en-US" sz="2700">
                <a:latin typeface="Proxima Nova"/>
                <a:ea typeface="Proxima Nova"/>
                <a:cs typeface="Proxima Nova"/>
                <a:sym typeface="Proxima Nova"/>
              </a:rPr>
              <a:t> layers</a:t>
            </a:r>
            <a:endParaRPr sz="2700">
              <a:latin typeface="Proxima Nova"/>
              <a:ea typeface="Proxima Nova"/>
              <a:cs typeface="Proxima Nova"/>
              <a:sym typeface="Proxima Nova"/>
            </a:endParaRPr>
          </a:p>
          <a:p>
            <a:pPr marL="914400" lvl="0" indent="0" algn="l" rtl="0">
              <a:lnSpc>
                <a:spcPct val="100000"/>
              </a:lnSpc>
              <a:spcBef>
                <a:spcPts val="1000"/>
              </a:spcBef>
              <a:spcAft>
                <a:spcPts val="0"/>
              </a:spcAft>
              <a:buSzPts val="2800"/>
              <a:buNone/>
            </a:pPr>
            <a:r>
              <a:rPr lang="en-US" sz="2100">
                <a:latin typeface="Proxima Nova"/>
                <a:ea typeface="Proxima Nova"/>
                <a:cs typeface="Proxima Nova"/>
                <a:sym typeface="Proxima Nova"/>
              </a:rPr>
              <a:t>[ </a:t>
            </a:r>
            <a:r>
              <a:rPr lang="en-US" sz="2100">
                <a:highlight>
                  <a:srgbClr val="FFF2CC"/>
                </a:highlight>
                <a:latin typeface="Proxima Nova"/>
                <a:ea typeface="Proxima Nova"/>
                <a:cs typeface="Proxima Nova"/>
                <a:sym typeface="Proxima Nova"/>
              </a:rPr>
              <a:t>Self-attention allows a network to directly extract and use information from arbitrarily large contexts directly !!! </a:t>
            </a:r>
            <a:r>
              <a:rPr lang="en-US" sz="2100">
                <a:highlight>
                  <a:srgbClr val="FFFFFF"/>
                </a:highlight>
                <a:latin typeface="Proxima Nova"/>
                <a:ea typeface="Proxima Nova"/>
                <a:cs typeface="Proxima Nova"/>
                <a:sym typeface="Proxima Nova"/>
              </a:rPr>
              <a:t> </a:t>
            </a:r>
            <a:r>
              <a:rPr lang="en-US" sz="2100">
                <a:latin typeface="Proxima Nova"/>
                <a:ea typeface="Proxima Nova"/>
                <a:cs typeface="Proxima Nova"/>
                <a:sym typeface="Proxima Nova"/>
              </a:rPr>
              <a:t>]</a:t>
            </a:r>
            <a:endParaRPr sz="2100">
              <a:latin typeface="Proxima Nova"/>
              <a:ea typeface="Proxima Nova"/>
              <a:cs typeface="Proxima Nova"/>
              <a:sym typeface="Proxima Nova"/>
            </a:endParaRPr>
          </a:p>
          <a:p>
            <a:pPr marL="457200" lvl="0" indent="-400050" algn="l" rtl="0">
              <a:lnSpc>
                <a:spcPct val="100000"/>
              </a:lnSpc>
              <a:spcBef>
                <a:spcPts val="1000"/>
              </a:spcBef>
              <a:spcAft>
                <a:spcPts val="0"/>
              </a:spcAft>
              <a:buSzPts val="2700"/>
              <a:buChar char="•"/>
            </a:pPr>
            <a:r>
              <a:rPr lang="en-US" sz="2700">
                <a:latin typeface="Proxima Nova"/>
                <a:ea typeface="Proxima Nova"/>
                <a:cs typeface="Proxima Nova"/>
                <a:sym typeface="Proxima Nova"/>
              </a:rPr>
              <a:t>Transformers are </a:t>
            </a:r>
            <a:r>
              <a:rPr lang="en-US" sz="2700">
                <a:solidFill>
                  <a:srgbClr val="0B5394"/>
                </a:solidFill>
                <a:latin typeface="Proxima Nova"/>
                <a:ea typeface="Proxima Nova"/>
                <a:cs typeface="Proxima Nova"/>
                <a:sym typeface="Proxima Nova"/>
              </a:rPr>
              <a:t>not based on recurrent connections</a:t>
            </a:r>
            <a:r>
              <a:rPr lang="en-US" sz="2700">
                <a:latin typeface="Proxima Nova"/>
                <a:ea typeface="Proxima Nova"/>
                <a:cs typeface="Proxima Nova"/>
                <a:sym typeface="Proxima Nova"/>
              </a:rPr>
              <a:t>  ⇒ Parallel implementations possible ⇒ Efficient to scale ( comparing LSTM)</a:t>
            </a:r>
            <a:endParaRPr sz="2700">
              <a:latin typeface="Proxima Nova"/>
              <a:ea typeface="Proxima Nova"/>
              <a:cs typeface="Proxima Nova"/>
              <a:sym typeface="Proxima Nov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g2b8b5137f2c_0_156"/>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Self-Attention  | Transformers</a:t>
            </a:r>
            <a:endParaRPr>
              <a:latin typeface="Proxima Nova"/>
              <a:ea typeface="Proxima Nova"/>
              <a:cs typeface="Proxima Nova"/>
              <a:sym typeface="Proxima Nova"/>
            </a:endParaRPr>
          </a:p>
        </p:txBody>
      </p:sp>
      <p:sp>
        <p:nvSpPr>
          <p:cNvPr id="398" name="Google Shape;398;g2b8b5137f2c_0_15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16</a:t>
            </a:fld>
            <a:endParaRPr/>
          </a:p>
        </p:txBody>
      </p:sp>
      <p:sp>
        <p:nvSpPr>
          <p:cNvPr id="399" name="Google Shape;399;g2b8b5137f2c_0_156"/>
          <p:cNvSpPr txBox="1">
            <a:spLocks noGrp="1"/>
          </p:cNvSpPr>
          <p:nvPr>
            <p:ph type="body" idx="1"/>
          </p:nvPr>
        </p:nvSpPr>
        <p:spPr>
          <a:xfrm>
            <a:off x="838200" y="1632850"/>
            <a:ext cx="10880400" cy="4256100"/>
          </a:xfrm>
          <a:prstGeom prst="rect">
            <a:avLst/>
          </a:prstGeom>
          <a:noFill/>
          <a:ln>
            <a:noFill/>
          </a:ln>
        </p:spPr>
        <p:txBody>
          <a:bodyPr spcFirstLastPara="1" wrap="square" lIns="91425" tIns="45700" rIns="91425" bIns="45700" anchor="t" anchorCtr="0">
            <a:normAutofit/>
          </a:bodyPr>
          <a:lstStyle/>
          <a:p>
            <a:pPr marL="457200" lvl="0" indent="-406400" algn="l" rtl="0">
              <a:lnSpc>
                <a:spcPct val="100000"/>
              </a:lnSpc>
              <a:spcBef>
                <a:spcPts val="1000"/>
              </a:spcBef>
              <a:spcAft>
                <a:spcPts val="0"/>
              </a:spcAft>
              <a:buSzPts val="2800"/>
              <a:buFont typeface="Proxima Nova"/>
              <a:buChar char="•"/>
            </a:pPr>
            <a:r>
              <a:rPr lang="en-US">
                <a:highlight>
                  <a:srgbClr val="FFF2CC"/>
                </a:highlight>
                <a:latin typeface="Proxima Nova"/>
                <a:ea typeface="Proxima Nova"/>
                <a:cs typeface="Proxima Nova"/>
                <a:sym typeface="Proxima Nova"/>
              </a:rPr>
              <a:t>Attention </a:t>
            </a:r>
            <a:r>
              <a:rPr lang="en-US">
                <a:latin typeface="Proxima Nova"/>
                <a:ea typeface="Proxima Nova"/>
                <a:cs typeface="Proxima Nova"/>
                <a:sym typeface="Proxima Nova"/>
              </a:rPr>
              <a:t>⇒  Ability to compare an item of interest to a collection of other items in a way that reveals their relevance in the current context. </a:t>
            </a:r>
            <a:endParaRPr>
              <a:latin typeface="Proxima Nova"/>
              <a:ea typeface="Proxima Nova"/>
              <a:cs typeface="Proxima Nova"/>
              <a:sym typeface="Proxima Nova"/>
            </a:endParaRPr>
          </a:p>
          <a:p>
            <a:pPr marL="457200" lvl="0" indent="-406400" algn="l" rtl="0">
              <a:lnSpc>
                <a:spcPct val="100000"/>
              </a:lnSpc>
              <a:spcBef>
                <a:spcPts val="0"/>
              </a:spcBef>
              <a:spcAft>
                <a:spcPts val="0"/>
              </a:spcAft>
              <a:buSzPts val="2800"/>
              <a:buFont typeface="Proxima Nova"/>
              <a:buChar char="•"/>
            </a:pPr>
            <a:r>
              <a:rPr lang="en-US">
                <a:highlight>
                  <a:srgbClr val="FFF2CC"/>
                </a:highlight>
                <a:latin typeface="Proxima Nova"/>
                <a:ea typeface="Proxima Nova"/>
                <a:cs typeface="Proxima Nova"/>
                <a:sym typeface="Proxima Nova"/>
              </a:rPr>
              <a:t>Self-attention</a:t>
            </a:r>
            <a:r>
              <a:rPr lang="en-US">
                <a:latin typeface="Proxima Nova"/>
                <a:ea typeface="Proxima Nova"/>
                <a:cs typeface="Proxima Nova"/>
                <a:sym typeface="Proxima Nova"/>
              </a:rPr>
              <a:t> ⇒  </a:t>
            </a:r>
            <a:endParaRPr>
              <a:latin typeface="Proxima Nova"/>
              <a:ea typeface="Proxima Nova"/>
              <a:cs typeface="Proxima Nova"/>
              <a:sym typeface="Proxima Nova"/>
            </a:endParaRPr>
          </a:p>
          <a:p>
            <a:pPr marL="914400" lvl="0" indent="0" algn="l" rtl="0">
              <a:lnSpc>
                <a:spcPct val="100000"/>
              </a:lnSpc>
              <a:spcBef>
                <a:spcPts val="1000"/>
              </a:spcBef>
              <a:spcAft>
                <a:spcPts val="0"/>
              </a:spcAft>
              <a:buSzPts val="2800"/>
              <a:buNone/>
            </a:pPr>
            <a:r>
              <a:rPr lang="en-US" sz="2400">
                <a:latin typeface="Proxima Nova"/>
                <a:ea typeface="Proxima Nova"/>
                <a:cs typeface="Proxima Nova"/>
                <a:sym typeface="Proxima Nova"/>
              </a:rPr>
              <a:t>&gt; Set of </a:t>
            </a:r>
            <a:r>
              <a:rPr lang="en-US" sz="2400" i="1">
                <a:solidFill>
                  <a:srgbClr val="38761D"/>
                </a:solidFill>
                <a:latin typeface="Proxima Nova"/>
                <a:ea typeface="Proxima Nova"/>
                <a:cs typeface="Proxima Nova"/>
                <a:sym typeface="Proxima Nova"/>
              </a:rPr>
              <a:t>comparisons</a:t>
            </a:r>
            <a:r>
              <a:rPr lang="en-US" sz="2400">
                <a:latin typeface="Proxima Nova"/>
                <a:ea typeface="Proxima Nova"/>
                <a:cs typeface="Proxima Nova"/>
                <a:sym typeface="Proxima Nova"/>
              </a:rPr>
              <a:t> are to other elements </a:t>
            </a:r>
            <a:r>
              <a:rPr lang="en-US" sz="2400" i="1">
                <a:solidFill>
                  <a:srgbClr val="38761D"/>
                </a:solidFill>
                <a:latin typeface="Proxima Nova"/>
                <a:ea typeface="Proxima Nova"/>
                <a:cs typeface="Proxima Nova"/>
                <a:sym typeface="Proxima Nova"/>
              </a:rPr>
              <a:t>within a given sequence</a:t>
            </a:r>
            <a:r>
              <a:rPr lang="en-US" sz="2400">
                <a:latin typeface="Proxima Nova"/>
                <a:ea typeface="Proxima Nova"/>
                <a:cs typeface="Proxima Nova"/>
                <a:sym typeface="Proxima Nova"/>
              </a:rPr>
              <a:t> </a:t>
            </a:r>
            <a:endParaRPr sz="2400">
              <a:latin typeface="Proxima Nova"/>
              <a:ea typeface="Proxima Nova"/>
              <a:cs typeface="Proxima Nova"/>
              <a:sym typeface="Proxima Nova"/>
            </a:endParaRPr>
          </a:p>
          <a:p>
            <a:pPr marL="914400" lvl="0" indent="0" algn="l" rtl="0">
              <a:lnSpc>
                <a:spcPct val="100000"/>
              </a:lnSpc>
              <a:spcBef>
                <a:spcPts val="1000"/>
              </a:spcBef>
              <a:spcAft>
                <a:spcPts val="0"/>
              </a:spcAft>
              <a:buSzPts val="2800"/>
              <a:buNone/>
            </a:pPr>
            <a:r>
              <a:rPr lang="en-US" sz="2400">
                <a:latin typeface="Proxima Nova"/>
                <a:ea typeface="Proxima Nova"/>
                <a:cs typeface="Proxima Nova"/>
                <a:sym typeface="Proxima Nova"/>
              </a:rPr>
              <a:t>&gt; Use these comparisons to compute an output for the current input</a:t>
            </a:r>
            <a:endParaRPr sz="2400">
              <a:latin typeface="Proxima Nova"/>
              <a:ea typeface="Proxima Nova"/>
              <a:cs typeface="Proxima Nova"/>
              <a:sym typeface="Proxima Nov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g2f031668344_0_1"/>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Self-Attention  | Transformers</a:t>
            </a:r>
            <a:endParaRPr>
              <a:latin typeface="Proxima Nova"/>
              <a:ea typeface="Proxima Nova"/>
              <a:cs typeface="Proxima Nova"/>
              <a:sym typeface="Proxima Nova"/>
            </a:endParaRPr>
          </a:p>
        </p:txBody>
      </p:sp>
      <p:sp>
        <p:nvSpPr>
          <p:cNvPr id="406" name="Google Shape;406;g2f031668344_0_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17</a:t>
            </a:fld>
            <a:endParaRPr/>
          </a:p>
        </p:txBody>
      </p:sp>
      <p:pic>
        <p:nvPicPr>
          <p:cNvPr id="407" name="Google Shape;407;g2f031668344_0_1"/>
          <p:cNvPicPr preferRelativeResize="0"/>
          <p:nvPr/>
        </p:nvPicPr>
        <p:blipFill rotWithShape="1">
          <a:blip r:embed="rId3">
            <a:alphaModFix/>
          </a:blip>
          <a:srcRect/>
          <a:stretch/>
        </p:blipFill>
        <p:spPr>
          <a:xfrm>
            <a:off x="522600" y="1610975"/>
            <a:ext cx="10515600" cy="403887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g2b8b5137f2c_0_163"/>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Self-Attention  | Transformers</a:t>
            </a:r>
            <a:endParaRPr sz="4000" b="1"/>
          </a:p>
        </p:txBody>
      </p:sp>
      <p:sp>
        <p:nvSpPr>
          <p:cNvPr id="414" name="Google Shape;414;g2b8b5137f2c_0_16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18</a:t>
            </a:fld>
            <a:endParaRPr/>
          </a:p>
        </p:txBody>
      </p:sp>
      <p:pic>
        <p:nvPicPr>
          <p:cNvPr id="415" name="Google Shape;415;g2b8b5137f2c_0_163"/>
          <p:cNvPicPr preferRelativeResize="0"/>
          <p:nvPr/>
        </p:nvPicPr>
        <p:blipFill rotWithShape="1">
          <a:blip r:embed="rId3">
            <a:alphaModFix/>
          </a:blip>
          <a:srcRect/>
          <a:stretch/>
        </p:blipFill>
        <p:spPr>
          <a:xfrm>
            <a:off x="1462075" y="1323875"/>
            <a:ext cx="8461174" cy="3216125"/>
          </a:xfrm>
          <a:prstGeom prst="rect">
            <a:avLst/>
          </a:prstGeom>
          <a:noFill/>
          <a:ln>
            <a:noFill/>
          </a:ln>
        </p:spPr>
      </p:pic>
      <p:sp>
        <p:nvSpPr>
          <p:cNvPr id="416" name="Google Shape;416;g2b8b5137f2c_0_163"/>
          <p:cNvSpPr txBox="1"/>
          <p:nvPr/>
        </p:nvSpPr>
        <p:spPr>
          <a:xfrm>
            <a:off x="256450" y="4654125"/>
            <a:ext cx="11649600" cy="1723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B5394"/>
                </a:solidFill>
                <a:latin typeface="Proxima Nova"/>
                <a:ea typeface="Proxima Nova"/>
                <a:cs typeface="Proxima Nova"/>
                <a:sym typeface="Proxima Nova"/>
              </a:rPr>
              <a:t>In processing each element of the sequence, the model attends to all the inputs up to, and including, the current one. </a:t>
            </a:r>
            <a:endParaRPr sz="2000" b="0" i="0" u="none" strike="noStrike" cap="none">
              <a:solidFill>
                <a:srgbClr val="0B5394"/>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A61C00"/>
                </a:solidFill>
                <a:latin typeface="Proxima Nova"/>
                <a:ea typeface="Proxima Nova"/>
                <a:cs typeface="Proxima Nova"/>
                <a:sym typeface="Proxima Nova"/>
              </a:rPr>
              <a:t>Unlike RNNs, the computations at each time step are independent of all the other steps and therefore can be performed in parallel.</a:t>
            </a:r>
            <a:endParaRPr sz="2000" b="0" i="0" u="none" strike="noStrike" cap="none">
              <a:solidFill>
                <a:srgbClr val="A61C00"/>
              </a:solidFill>
              <a:latin typeface="Proxima Nova"/>
              <a:ea typeface="Proxima Nova"/>
              <a:cs typeface="Proxima Nova"/>
              <a:sym typeface="Proxima Nov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g2b8b5137f2c_0_171"/>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Self-Attention  | Transformers</a:t>
            </a:r>
            <a:endParaRPr sz="4000" b="1"/>
          </a:p>
        </p:txBody>
      </p:sp>
      <p:sp>
        <p:nvSpPr>
          <p:cNvPr id="423" name="Google Shape;423;g2b8b5137f2c_0_17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19</a:t>
            </a:fld>
            <a:endParaRPr/>
          </a:p>
        </p:txBody>
      </p:sp>
      <p:pic>
        <p:nvPicPr>
          <p:cNvPr id="424" name="Google Shape;424;g2b8b5137f2c_0_171"/>
          <p:cNvPicPr preferRelativeResize="0"/>
          <p:nvPr/>
        </p:nvPicPr>
        <p:blipFill rotWithShape="1">
          <a:blip r:embed="rId3">
            <a:alphaModFix/>
          </a:blip>
          <a:srcRect/>
          <a:stretch/>
        </p:blipFill>
        <p:spPr>
          <a:xfrm>
            <a:off x="1462075" y="1323875"/>
            <a:ext cx="8461174" cy="3216125"/>
          </a:xfrm>
          <a:prstGeom prst="rect">
            <a:avLst/>
          </a:prstGeom>
          <a:noFill/>
          <a:ln>
            <a:noFill/>
          </a:ln>
        </p:spPr>
      </p:pic>
      <p:pic>
        <p:nvPicPr>
          <p:cNvPr id="425" name="Google Shape;425;g2b8b5137f2c_0_171"/>
          <p:cNvPicPr preferRelativeResize="0"/>
          <p:nvPr/>
        </p:nvPicPr>
        <p:blipFill rotWithShape="1">
          <a:blip r:embed="rId4">
            <a:alphaModFix/>
          </a:blip>
          <a:srcRect/>
          <a:stretch/>
        </p:blipFill>
        <p:spPr>
          <a:xfrm>
            <a:off x="152400" y="4672675"/>
            <a:ext cx="3822825" cy="519325"/>
          </a:xfrm>
          <a:prstGeom prst="rect">
            <a:avLst/>
          </a:prstGeom>
          <a:noFill/>
          <a:ln w="19050" cap="flat" cmpd="sng">
            <a:solidFill>
              <a:schemeClr val="dk2"/>
            </a:solidFill>
            <a:prstDash val="solid"/>
            <a:round/>
            <a:headEnd type="none" w="sm" len="sm"/>
            <a:tailEnd type="none" w="sm" len="sm"/>
          </a:ln>
        </p:spPr>
      </p:pic>
      <p:pic>
        <p:nvPicPr>
          <p:cNvPr id="426" name="Google Shape;426;g2b8b5137f2c_0_171"/>
          <p:cNvPicPr preferRelativeResize="0"/>
          <p:nvPr/>
        </p:nvPicPr>
        <p:blipFill rotWithShape="1">
          <a:blip r:embed="rId5">
            <a:alphaModFix/>
          </a:blip>
          <a:srcRect/>
          <a:stretch/>
        </p:blipFill>
        <p:spPr>
          <a:xfrm>
            <a:off x="5947325" y="4698626"/>
            <a:ext cx="5761624" cy="1499075"/>
          </a:xfrm>
          <a:prstGeom prst="rect">
            <a:avLst/>
          </a:prstGeom>
          <a:noFill/>
          <a:ln w="19050" cap="flat" cmpd="sng">
            <a:solidFill>
              <a:schemeClr val="dk2"/>
            </a:solidFill>
            <a:prstDash val="solid"/>
            <a:round/>
            <a:headEnd type="none" w="sm" len="sm"/>
            <a:tailEnd type="none" w="sm" len="sm"/>
          </a:ln>
        </p:spPr>
      </p:pic>
      <p:pic>
        <p:nvPicPr>
          <p:cNvPr id="427" name="Google Shape;427;g2b8b5137f2c_0_171"/>
          <p:cNvPicPr preferRelativeResize="0"/>
          <p:nvPr/>
        </p:nvPicPr>
        <p:blipFill rotWithShape="1">
          <a:blip r:embed="rId6">
            <a:alphaModFix/>
          </a:blip>
          <a:srcRect/>
          <a:stretch/>
        </p:blipFill>
        <p:spPr>
          <a:xfrm>
            <a:off x="1558300" y="5323550"/>
            <a:ext cx="2890426" cy="1140350"/>
          </a:xfrm>
          <a:prstGeom prst="rect">
            <a:avLst/>
          </a:prstGeom>
          <a:noFill/>
          <a:ln w="19050" cap="flat" cmpd="sng">
            <a:solidFill>
              <a:schemeClr val="dk2"/>
            </a:solidFill>
            <a:prstDash val="solid"/>
            <a:round/>
            <a:headEnd type="none" w="sm" len="sm"/>
            <a:tailEnd type="none" w="sm" len="sm"/>
          </a:ln>
        </p:spPr>
      </p:pic>
      <p:cxnSp>
        <p:nvCxnSpPr>
          <p:cNvPr id="428" name="Google Shape;428;g2b8b5137f2c_0_171"/>
          <p:cNvCxnSpPr>
            <a:stCxn id="425" idx="3"/>
            <a:endCxn id="426" idx="1"/>
          </p:cNvCxnSpPr>
          <p:nvPr/>
        </p:nvCxnSpPr>
        <p:spPr>
          <a:xfrm>
            <a:off x="3975225" y="4932338"/>
            <a:ext cx="1972200" cy="515700"/>
          </a:xfrm>
          <a:prstGeom prst="straightConnector1">
            <a:avLst/>
          </a:prstGeom>
          <a:noFill/>
          <a:ln w="19050" cap="flat" cmpd="sng">
            <a:solidFill>
              <a:schemeClr val="dk2"/>
            </a:solidFill>
            <a:prstDash val="solid"/>
            <a:round/>
            <a:headEnd type="none" w="sm" len="sm"/>
            <a:tailEnd type="triangle" w="med" len="med"/>
          </a:ln>
        </p:spPr>
      </p:cxnSp>
      <p:cxnSp>
        <p:nvCxnSpPr>
          <p:cNvPr id="429" name="Google Shape;429;g2b8b5137f2c_0_171"/>
          <p:cNvCxnSpPr>
            <a:stCxn id="426" idx="1"/>
            <a:endCxn id="427" idx="3"/>
          </p:cNvCxnSpPr>
          <p:nvPr/>
        </p:nvCxnSpPr>
        <p:spPr>
          <a:xfrm flipH="1">
            <a:off x="4448825" y="5448164"/>
            <a:ext cx="1498500" cy="445500"/>
          </a:xfrm>
          <a:prstGeom prst="straightConnector1">
            <a:avLst/>
          </a:prstGeom>
          <a:noFill/>
          <a:ln w="19050" cap="flat" cmpd="sng">
            <a:solidFill>
              <a:schemeClr val="dk2"/>
            </a:solidFill>
            <a:prstDash val="solid"/>
            <a:round/>
            <a:headEnd type="none" w="sm" len="sm"/>
            <a:tailEnd type="triangl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g2b8b5137f2c_0_183"/>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Self-Attention  | Transformers</a:t>
            </a:r>
            <a:endParaRPr sz="4000" b="1"/>
          </a:p>
        </p:txBody>
      </p:sp>
      <p:sp>
        <p:nvSpPr>
          <p:cNvPr id="436" name="Google Shape;436;g2b8b5137f2c_0_18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20</a:t>
            </a:fld>
            <a:endParaRPr/>
          </a:p>
        </p:txBody>
      </p:sp>
      <p:sp>
        <p:nvSpPr>
          <p:cNvPr id="437" name="Google Shape;437;g2b8b5137f2c_0_183"/>
          <p:cNvSpPr txBox="1">
            <a:spLocks noGrp="1"/>
          </p:cNvSpPr>
          <p:nvPr>
            <p:ph type="body" idx="1"/>
          </p:nvPr>
        </p:nvSpPr>
        <p:spPr>
          <a:xfrm>
            <a:off x="838200" y="1632850"/>
            <a:ext cx="10880400" cy="4256100"/>
          </a:xfrm>
          <a:prstGeom prst="rect">
            <a:avLst/>
          </a:prstGeom>
          <a:noFill/>
          <a:ln>
            <a:noFill/>
          </a:ln>
        </p:spPr>
        <p:txBody>
          <a:bodyPr spcFirstLastPara="1" wrap="square" lIns="91425" tIns="45700" rIns="91425" bIns="45700" anchor="t" anchorCtr="0">
            <a:normAutofit/>
          </a:bodyPr>
          <a:lstStyle/>
          <a:p>
            <a:pPr marL="457200" lvl="0" indent="-406400" algn="l" rtl="0">
              <a:lnSpc>
                <a:spcPct val="100000"/>
              </a:lnSpc>
              <a:spcBef>
                <a:spcPts val="1000"/>
              </a:spcBef>
              <a:spcAft>
                <a:spcPts val="0"/>
              </a:spcAft>
              <a:buSzPts val="2800"/>
              <a:buChar char="•"/>
            </a:pPr>
            <a:r>
              <a:rPr lang="en-US"/>
              <a:t>Let us understand how transformers uses self-attention ! </a:t>
            </a:r>
            <a:endParaRPr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g2b8b5137f2c_0_190"/>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Self-Attention  | Transformers</a:t>
            </a:r>
            <a:endParaRPr sz="4000" b="1"/>
          </a:p>
        </p:txBody>
      </p:sp>
      <p:sp>
        <p:nvSpPr>
          <p:cNvPr id="444" name="Google Shape;444;g2b8b5137f2c_0_190"/>
          <p:cNvSpPr txBox="1">
            <a:spLocks noGrp="1"/>
          </p:cNvSpPr>
          <p:nvPr>
            <p:ph type="body" idx="1"/>
          </p:nvPr>
        </p:nvSpPr>
        <p:spPr>
          <a:xfrm>
            <a:off x="838200" y="1632850"/>
            <a:ext cx="11061900" cy="4256100"/>
          </a:xfrm>
          <a:prstGeom prst="rect">
            <a:avLst/>
          </a:prstGeom>
          <a:noFill/>
          <a:ln>
            <a:noFill/>
          </a:ln>
        </p:spPr>
        <p:txBody>
          <a:bodyPr spcFirstLastPara="1" wrap="square" lIns="91425" tIns="45700" rIns="91425" bIns="45700" anchor="t" anchorCtr="0">
            <a:normAutofit/>
          </a:bodyPr>
          <a:lstStyle/>
          <a:p>
            <a:pPr marL="457200" lvl="0" indent="-406400" algn="l" rtl="0">
              <a:lnSpc>
                <a:spcPct val="100000"/>
              </a:lnSpc>
              <a:spcBef>
                <a:spcPts val="1000"/>
              </a:spcBef>
              <a:spcAft>
                <a:spcPts val="0"/>
              </a:spcAft>
              <a:buSzPts val="2800"/>
              <a:buChar char="•"/>
            </a:pPr>
            <a:r>
              <a:rPr lang="en-US"/>
              <a:t>Let us understand how transformers uses self-attention !</a:t>
            </a:r>
            <a:endParaRPr/>
          </a:p>
          <a:p>
            <a:pPr marL="0" lvl="0" indent="0" algn="l" rtl="0">
              <a:lnSpc>
                <a:spcPct val="100000"/>
              </a:lnSpc>
              <a:spcBef>
                <a:spcPts val="1000"/>
              </a:spcBef>
              <a:spcAft>
                <a:spcPts val="0"/>
              </a:spcAft>
              <a:buSzPts val="2800"/>
              <a:buNone/>
            </a:pPr>
            <a:endParaRPr sz="2400"/>
          </a:p>
        </p:txBody>
      </p:sp>
      <p:grpSp>
        <p:nvGrpSpPr>
          <p:cNvPr id="445" name="Google Shape;445;g2b8b5137f2c_0_190"/>
          <p:cNvGrpSpPr/>
          <p:nvPr/>
        </p:nvGrpSpPr>
        <p:grpSpPr>
          <a:xfrm>
            <a:off x="2170105" y="3193053"/>
            <a:ext cx="2634581" cy="1832979"/>
            <a:chOff x="1627615" y="1171213"/>
            <a:chExt cx="1975985" cy="1569600"/>
          </a:xfrm>
        </p:grpSpPr>
        <p:sp>
          <p:nvSpPr>
            <p:cNvPr id="446" name="Google Shape;446;g2b8b5137f2c_0_190"/>
            <p:cNvSpPr/>
            <p:nvPr/>
          </p:nvSpPr>
          <p:spPr>
            <a:xfrm>
              <a:off x="1660800" y="1171213"/>
              <a:ext cx="1942800" cy="1569600"/>
            </a:xfrm>
            <a:prstGeom prst="round1Rect">
              <a:avLst>
                <a:gd name="adj" fmla="val 17446"/>
              </a:avLst>
            </a:prstGeom>
            <a:solidFill>
              <a:srgbClr val="307BF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 name="Google Shape;447;g2b8b5137f2c_0_190"/>
            <p:cNvSpPr txBox="1"/>
            <p:nvPr/>
          </p:nvSpPr>
          <p:spPr>
            <a:xfrm>
              <a:off x="1879865" y="1413573"/>
              <a:ext cx="1451700" cy="4599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FFFFFF"/>
                  </a:solidFill>
                  <a:latin typeface="Roboto"/>
                  <a:ea typeface="Roboto"/>
                  <a:cs typeface="Roboto"/>
                  <a:sym typeface="Roboto"/>
                </a:rPr>
                <a:t>Query, Q</a:t>
              </a:r>
              <a:endParaRPr sz="1500" b="0" i="0" u="none" strike="noStrike" cap="none">
                <a:solidFill>
                  <a:srgbClr val="FFFFFF"/>
                </a:solidFill>
                <a:latin typeface="Roboto"/>
                <a:ea typeface="Roboto"/>
                <a:cs typeface="Roboto"/>
                <a:sym typeface="Roboto"/>
              </a:endParaRPr>
            </a:p>
          </p:txBody>
        </p:sp>
        <p:sp>
          <p:nvSpPr>
            <p:cNvPr id="448" name="Google Shape;448;g2b8b5137f2c_0_190"/>
            <p:cNvSpPr txBox="1"/>
            <p:nvPr/>
          </p:nvSpPr>
          <p:spPr>
            <a:xfrm>
              <a:off x="1627615" y="1816395"/>
              <a:ext cx="1973100" cy="5124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2100"/>
                </a:spcAft>
                <a:buClr>
                  <a:srgbClr val="000000"/>
                </a:buClr>
                <a:buSzPts val="1300"/>
                <a:buFont typeface="Arial"/>
                <a:buNone/>
              </a:pPr>
              <a:r>
                <a:rPr lang="en-US" sz="1300" b="1" i="0" u="none" strike="noStrike" cap="none">
                  <a:solidFill>
                    <a:srgbClr val="FFF2CC"/>
                  </a:solidFill>
                  <a:latin typeface="Roboto"/>
                  <a:ea typeface="Roboto"/>
                  <a:cs typeface="Roboto"/>
                  <a:sym typeface="Roboto"/>
                </a:rPr>
                <a:t>As the current focus of attention when being compared to all of the other preceding inputs.</a:t>
              </a:r>
              <a:endParaRPr sz="1300" b="1" i="0" u="none" strike="noStrike" cap="none">
                <a:solidFill>
                  <a:srgbClr val="FFF2CC"/>
                </a:solidFill>
                <a:latin typeface="Roboto"/>
                <a:ea typeface="Roboto"/>
                <a:cs typeface="Roboto"/>
                <a:sym typeface="Roboto"/>
              </a:endParaRPr>
            </a:p>
          </p:txBody>
        </p:sp>
      </p:grpSp>
      <p:grpSp>
        <p:nvGrpSpPr>
          <p:cNvPr id="449" name="Google Shape;449;g2b8b5137f2c_0_190"/>
          <p:cNvGrpSpPr/>
          <p:nvPr/>
        </p:nvGrpSpPr>
        <p:grpSpPr>
          <a:xfrm>
            <a:off x="4800648" y="3192822"/>
            <a:ext cx="2590335" cy="1832979"/>
            <a:chOff x="3600600" y="1170963"/>
            <a:chExt cx="1942800" cy="1569600"/>
          </a:xfrm>
        </p:grpSpPr>
        <p:sp>
          <p:nvSpPr>
            <p:cNvPr id="450" name="Google Shape;450;g2b8b5137f2c_0_190"/>
            <p:cNvSpPr/>
            <p:nvPr/>
          </p:nvSpPr>
          <p:spPr>
            <a:xfrm>
              <a:off x="3600600" y="1170963"/>
              <a:ext cx="1942800" cy="1569600"/>
            </a:xfrm>
            <a:prstGeom prst="round2SameRect">
              <a:avLst>
                <a:gd name="adj1" fmla="val 18098"/>
                <a:gd name="adj2" fmla="val 0"/>
              </a:avLst>
            </a:prstGeom>
            <a:solidFill>
              <a:srgbClr val="0E65F0"/>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g2b8b5137f2c_0_190"/>
            <p:cNvSpPr txBox="1"/>
            <p:nvPr/>
          </p:nvSpPr>
          <p:spPr>
            <a:xfrm>
              <a:off x="3819008" y="1413573"/>
              <a:ext cx="1451700" cy="4599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FFFFFF"/>
                  </a:solidFill>
                  <a:latin typeface="Roboto"/>
                  <a:ea typeface="Roboto"/>
                  <a:cs typeface="Roboto"/>
                  <a:sym typeface="Roboto"/>
                </a:rPr>
                <a:t>Key, K </a:t>
              </a:r>
              <a:endParaRPr sz="1500" b="0" i="0" u="none" strike="noStrike" cap="none">
                <a:solidFill>
                  <a:srgbClr val="FFFFFF"/>
                </a:solidFill>
                <a:latin typeface="Roboto"/>
                <a:ea typeface="Roboto"/>
                <a:cs typeface="Roboto"/>
                <a:sym typeface="Roboto"/>
              </a:endParaRPr>
            </a:p>
          </p:txBody>
        </p:sp>
        <p:sp>
          <p:nvSpPr>
            <p:cNvPr id="452" name="Google Shape;452;g2b8b5137f2c_0_190"/>
            <p:cNvSpPr txBox="1"/>
            <p:nvPr/>
          </p:nvSpPr>
          <p:spPr>
            <a:xfrm>
              <a:off x="3678158" y="1821330"/>
              <a:ext cx="1787100" cy="5124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2100"/>
                </a:spcAft>
                <a:buClr>
                  <a:srgbClr val="000000"/>
                </a:buClr>
                <a:buSzPts val="1300"/>
                <a:buFont typeface="Arial"/>
                <a:buNone/>
              </a:pPr>
              <a:r>
                <a:rPr lang="en-US" sz="1300" b="1" i="0" u="none" strike="noStrike" cap="none">
                  <a:solidFill>
                    <a:srgbClr val="FCE5CD"/>
                  </a:solidFill>
                  <a:latin typeface="Roboto"/>
                  <a:ea typeface="Roboto"/>
                  <a:cs typeface="Roboto"/>
                  <a:sym typeface="Roboto"/>
                </a:rPr>
                <a:t>In its role as a preceding input being compared to the current focus of attention.</a:t>
              </a:r>
              <a:endParaRPr sz="1300" b="1" i="0" u="none" strike="noStrike" cap="none">
                <a:solidFill>
                  <a:srgbClr val="FCE5CD"/>
                </a:solidFill>
                <a:latin typeface="Roboto"/>
                <a:ea typeface="Roboto"/>
                <a:cs typeface="Roboto"/>
                <a:sym typeface="Roboto"/>
              </a:endParaRPr>
            </a:p>
          </p:txBody>
        </p:sp>
      </p:grpSp>
      <p:grpSp>
        <p:nvGrpSpPr>
          <p:cNvPr id="453" name="Google Shape;453;g2b8b5137f2c_0_190"/>
          <p:cNvGrpSpPr/>
          <p:nvPr/>
        </p:nvGrpSpPr>
        <p:grpSpPr>
          <a:xfrm>
            <a:off x="7386209" y="3192953"/>
            <a:ext cx="2590335" cy="1832979"/>
            <a:chOff x="5539816" y="1171213"/>
            <a:chExt cx="1942800" cy="1569600"/>
          </a:xfrm>
        </p:grpSpPr>
        <p:sp>
          <p:nvSpPr>
            <p:cNvPr id="454" name="Google Shape;454;g2b8b5137f2c_0_190"/>
            <p:cNvSpPr/>
            <p:nvPr/>
          </p:nvSpPr>
          <p:spPr>
            <a:xfrm flipH="1">
              <a:off x="5539816" y="1171213"/>
              <a:ext cx="1942800" cy="1569600"/>
            </a:xfrm>
            <a:prstGeom prst="round1Rect">
              <a:avLst>
                <a:gd name="adj" fmla="val 17446"/>
              </a:avLst>
            </a:prstGeom>
            <a:solidFill>
              <a:srgbClr val="0C58D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 name="Google Shape;455;g2b8b5137f2c_0_190"/>
            <p:cNvSpPr txBox="1"/>
            <p:nvPr/>
          </p:nvSpPr>
          <p:spPr>
            <a:xfrm>
              <a:off x="5762399" y="1413573"/>
              <a:ext cx="1451700" cy="4599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FFFFFF"/>
                  </a:solidFill>
                  <a:latin typeface="Roboto"/>
                  <a:ea typeface="Roboto"/>
                  <a:cs typeface="Roboto"/>
                  <a:sym typeface="Roboto"/>
                </a:rPr>
                <a:t>Value, V</a:t>
              </a:r>
              <a:endParaRPr sz="1500" b="0" i="0" u="none" strike="noStrike" cap="none">
                <a:solidFill>
                  <a:srgbClr val="FFFFFF"/>
                </a:solidFill>
                <a:latin typeface="Roboto"/>
                <a:ea typeface="Roboto"/>
                <a:cs typeface="Roboto"/>
                <a:sym typeface="Roboto"/>
              </a:endParaRPr>
            </a:p>
          </p:txBody>
        </p:sp>
        <p:sp>
          <p:nvSpPr>
            <p:cNvPr id="456" name="Google Shape;456;g2b8b5137f2c_0_190"/>
            <p:cNvSpPr txBox="1"/>
            <p:nvPr/>
          </p:nvSpPr>
          <p:spPr>
            <a:xfrm>
              <a:off x="5584846" y="1814339"/>
              <a:ext cx="1739400" cy="5124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2100"/>
                </a:spcAft>
                <a:buClr>
                  <a:srgbClr val="000000"/>
                </a:buClr>
                <a:buSzPts val="1300"/>
                <a:buFont typeface="Arial"/>
                <a:buNone/>
              </a:pPr>
              <a:r>
                <a:rPr lang="en-US" sz="1300" b="1" i="0" u="none" strike="noStrike" cap="none">
                  <a:solidFill>
                    <a:srgbClr val="FCE5CD"/>
                  </a:solidFill>
                  <a:latin typeface="Roboto"/>
                  <a:ea typeface="Roboto"/>
                  <a:cs typeface="Roboto"/>
                  <a:sym typeface="Roboto"/>
                </a:rPr>
                <a:t>As a value used to compute the output for the current focus of attention</a:t>
              </a:r>
              <a:endParaRPr sz="1300" b="1" i="0" u="none" strike="noStrike" cap="none">
                <a:solidFill>
                  <a:srgbClr val="FCE5CD"/>
                </a:solidFill>
                <a:latin typeface="Roboto"/>
                <a:ea typeface="Roboto"/>
                <a:cs typeface="Roboto"/>
                <a:sym typeface="Roboto"/>
              </a:endParaRPr>
            </a:p>
          </p:txBody>
        </p:sp>
      </p:grpSp>
      <p:grpSp>
        <p:nvGrpSpPr>
          <p:cNvPr id="457" name="Google Shape;457;g2b8b5137f2c_0_190"/>
          <p:cNvGrpSpPr/>
          <p:nvPr/>
        </p:nvGrpSpPr>
        <p:grpSpPr>
          <a:xfrm>
            <a:off x="2213602" y="5003412"/>
            <a:ext cx="7763006" cy="1343618"/>
            <a:chOff x="1660800" y="2723938"/>
            <a:chExt cx="5822400" cy="1248600"/>
          </a:xfrm>
        </p:grpSpPr>
        <p:sp>
          <p:nvSpPr>
            <p:cNvPr id="458" name="Google Shape;458;g2b8b5137f2c_0_190"/>
            <p:cNvSpPr/>
            <p:nvPr/>
          </p:nvSpPr>
          <p:spPr>
            <a:xfrm rot="10800000">
              <a:off x="1660800" y="2723938"/>
              <a:ext cx="5822400" cy="1248600"/>
            </a:xfrm>
            <a:prstGeom prst="round2SameRect">
              <a:avLst>
                <a:gd name="adj1" fmla="val 18098"/>
                <a:gd name="adj2" fmla="val 0"/>
              </a:avLst>
            </a:prstGeom>
            <a:solidFill>
              <a:srgbClr val="0944A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 name="Google Shape;459;g2b8b5137f2c_0_190"/>
            <p:cNvSpPr txBox="1"/>
            <p:nvPr/>
          </p:nvSpPr>
          <p:spPr>
            <a:xfrm>
              <a:off x="1879710" y="2861856"/>
              <a:ext cx="5519100" cy="955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1000"/>
                </a:spcBef>
                <a:spcAft>
                  <a:spcPts val="0"/>
                </a:spcAft>
                <a:buClr>
                  <a:srgbClr val="000000"/>
                </a:buClr>
                <a:buSzPts val="2000"/>
                <a:buFont typeface="Arial"/>
                <a:buNone/>
              </a:pPr>
              <a:r>
                <a:rPr lang="en-US" sz="2000" b="0" i="0" u="none" strike="noStrike" cap="none">
                  <a:solidFill>
                    <a:srgbClr val="FFE599"/>
                  </a:solidFill>
                  <a:latin typeface="Calibri"/>
                  <a:ea typeface="Calibri"/>
                  <a:cs typeface="Calibri"/>
                  <a:sym typeface="Calibri"/>
                </a:rPr>
                <a:t>Three different roles each x</a:t>
              </a:r>
              <a:r>
                <a:rPr lang="en-US" sz="2000" b="0" i="0" u="none" strike="noStrike" cap="none" baseline="-25000">
                  <a:solidFill>
                    <a:srgbClr val="FFE599"/>
                  </a:solidFill>
                  <a:latin typeface="Calibri"/>
                  <a:ea typeface="Calibri"/>
                  <a:cs typeface="Calibri"/>
                  <a:sym typeface="Calibri"/>
                </a:rPr>
                <a:t>i</a:t>
              </a:r>
              <a:r>
                <a:rPr lang="en-US" sz="2000" b="0" i="0" u="none" strike="noStrike" cap="none">
                  <a:solidFill>
                    <a:srgbClr val="FFE599"/>
                  </a:solidFill>
                  <a:latin typeface="Calibri"/>
                  <a:ea typeface="Calibri"/>
                  <a:cs typeface="Calibri"/>
                  <a:sym typeface="Calibri"/>
                </a:rPr>
                <a:t> (</a:t>
              </a:r>
              <a:r>
                <a:rPr lang="en-US" sz="2000" b="0" i="0" u="none" strike="noStrike" cap="none">
                  <a:solidFill>
                    <a:srgbClr val="EAD1DC"/>
                  </a:solidFill>
                  <a:latin typeface="Calibri"/>
                  <a:ea typeface="Calibri"/>
                  <a:cs typeface="Calibri"/>
                  <a:sym typeface="Calibri"/>
                </a:rPr>
                <a:t>input embedding</a:t>
              </a:r>
              <a:r>
                <a:rPr lang="en-US" sz="2000" b="0" i="0" u="none" strike="noStrike" cap="none">
                  <a:solidFill>
                    <a:srgbClr val="FFE599"/>
                  </a:solidFill>
                  <a:latin typeface="Calibri"/>
                  <a:ea typeface="Calibri"/>
                  <a:cs typeface="Calibri"/>
                  <a:sym typeface="Calibri"/>
                </a:rPr>
                <a:t>) , in the computation of self attention</a:t>
              </a:r>
              <a:endParaRPr sz="700" b="0" i="0" u="none" strike="noStrike" cap="none">
                <a:solidFill>
                  <a:srgbClr val="FFE599"/>
                </a:solidFill>
                <a:latin typeface="Roboto"/>
                <a:ea typeface="Roboto"/>
                <a:cs typeface="Roboto"/>
                <a:sym typeface="Roboto"/>
              </a:endParaRPr>
            </a:p>
          </p:txBody>
        </p:sp>
      </p:grpSp>
      <p:pic>
        <p:nvPicPr>
          <p:cNvPr id="460" name="Google Shape;460;g2b8b5137f2c_0_190"/>
          <p:cNvPicPr preferRelativeResize="0"/>
          <p:nvPr/>
        </p:nvPicPr>
        <p:blipFill rotWithShape="1">
          <a:blip r:embed="rId3">
            <a:alphaModFix/>
          </a:blip>
          <a:srcRect/>
          <a:stretch/>
        </p:blipFill>
        <p:spPr>
          <a:xfrm>
            <a:off x="2357500" y="2241171"/>
            <a:ext cx="2041875" cy="631700"/>
          </a:xfrm>
          <a:prstGeom prst="rect">
            <a:avLst/>
          </a:prstGeom>
          <a:noFill/>
          <a:ln>
            <a:noFill/>
          </a:ln>
        </p:spPr>
      </p:pic>
      <p:pic>
        <p:nvPicPr>
          <p:cNvPr id="461" name="Google Shape;461;g2b8b5137f2c_0_190"/>
          <p:cNvPicPr preferRelativeResize="0"/>
          <p:nvPr/>
        </p:nvPicPr>
        <p:blipFill rotWithShape="1">
          <a:blip r:embed="rId4">
            <a:alphaModFix/>
          </a:blip>
          <a:srcRect/>
          <a:stretch/>
        </p:blipFill>
        <p:spPr>
          <a:xfrm>
            <a:off x="5021675" y="2241175"/>
            <a:ext cx="2041865" cy="631700"/>
          </a:xfrm>
          <a:prstGeom prst="rect">
            <a:avLst/>
          </a:prstGeom>
          <a:noFill/>
          <a:ln>
            <a:noFill/>
          </a:ln>
        </p:spPr>
      </p:pic>
      <p:pic>
        <p:nvPicPr>
          <p:cNvPr id="462" name="Google Shape;462;g2b8b5137f2c_0_190"/>
          <p:cNvPicPr preferRelativeResize="0"/>
          <p:nvPr/>
        </p:nvPicPr>
        <p:blipFill rotWithShape="1">
          <a:blip r:embed="rId5">
            <a:alphaModFix/>
          </a:blip>
          <a:srcRect/>
          <a:stretch/>
        </p:blipFill>
        <p:spPr>
          <a:xfrm>
            <a:off x="7888100" y="2214411"/>
            <a:ext cx="2041875" cy="658464"/>
          </a:xfrm>
          <a:prstGeom prst="rect">
            <a:avLst/>
          </a:prstGeom>
          <a:noFill/>
          <a:ln>
            <a:noFill/>
          </a:ln>
        </p:spPr>
      </p:pic>
      <p:pic>
        <p:nvPicPr>
          <p:cNvPr id="463" name="Google Shape;463;g2b8b5137f2c_0_190"/>
          <p:cNvPicPr preferRelativeResize="0"/>
          <p:nvPr/>
        </p:nvPicPr>
        <p:blipFill rotWithShape="1">
          <a:blip r:embed="rId6">
            <a:alphaModFix/>
          </a:blip>
          <a:srcRect/>
          <a:stretch/>
        </p:blipFill>
        <p:spPr>
          <a:xfrm>
            <a:off x="9894719" y="479100"/>
            <a:ext cx="2200556" cy="576975"/>
          </a:xfrm>
          <a:prstGeom prst="rect">
            <a:avLst/>
          </a:prstGeom>
          <a:noFill/>
          <a:ln>
            <a:noFill/>
          </a:ln>
        </p:spPr>
      </p:pic>
      <p:pic>
        <p:nvPicPr>
          <p:cNvPr id="464" name="Google Shape;464;g2b8b5137f2c_0_190"/>
          <p:cNvPicPr preferRelativeResize="0"/>
          <p:nvPr/>
        </p:nvPicPr>
        <p:blipFill rotWithShape="1">
          <a:blip r:embed="rId7">
            <a:alphaModFix/>
          </a:blip>
          <a:srcRect/>
          <a:stretch/>
        </p:blipFill>
        <p:spPr>
          <a:xfrm>
            <a:off x="8967988" y="467852"/>
            <a:ext cx="806358" cy="576925"/>
          </a:xfrm>
          <a:prstGeom prst="rect">
            <a:avLst/>
          </a:prstGeom>
          <a:noFill/>
          <a:ln>
            <a:noFill/>
          </a:ln>
        </p:spPr>
      </p:pic>
      <p:pic>
        <p:nvPicPr>
          <p:cNvPr id="465" name="Google Shape;465;g2b8b5137f2c_0_190"/>
          <p:cNvPicPr preferRelativeResize="0"/>
          <p:nvPr/>
        </p:nvPicPr>
        <p:blipFill rotWithShape="1">
          <a:blip r:embed="rId8">
            <a:alphaModFix/>
          </a:blip>
          <a:srcRect/>
          <a:stretch/>
        </p:blipFill>
        <p:spPr>
          <a:xfrm>
            <a:off x="7998838" y="496810"/>
            <a:ext cx="806350" cy="576957"/>
          </a:xfrm>
          <a:prstGeom prst="rect">
            <a:avLst/>
          </a:prstGeom>
          <a:noFill/>
          <a:ln>
            <a:noFill/>
          </a:ln>
        </p:spPr>
      </p:pic>
      <p:sp>
        <p:nvSpPr>
          <p:cNvPr id="466" name="Google Shape;466;g2b8b5137f2c_0_190"/>
          <p:cNvSpPr txBox="1"/>
          <p:nvPr/>
        </p:nvSpPr>
        <p:spPr>
          <a:xfrm>
            <a:off x="9669275" y="441325"/>
            <a:ext cx="2607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rgbClr val="000000"/>
                </a:solidFill>
                <a:latin typeface="Calibri"/>
                <a:ea typeface="Calibri"/>
                <a:cs typeface="Calibri"/>
                <a:sym typeface="Calibri"/>
              </a:rPr>
              <a:t>,</a:t>
            </a:r>
            <a:endParaRPr sz="3000" b="0" i="0" u="none" strike="noStrike" cap="none">
              <a:solidFill>
                <a:srgbClr val="000000"/>
              </a:solidFill>
              <a:latin typeface="Calibri"/>
              <a:ea typeface="Calibri"/>
              <a:cs typeface="Calibri"/>
              <a:sym typeface="Calibri"/>
            </a:endParaRPr>
          </a:p>
        </p:txBody>
      </p:sp>
      <p:sp>
        <p:nvSpPr>
          <p:cNvPr id="467" name="Google Shape;467;g2b8b5137f2c_0_190"/>
          <p:cNvSpPr txBox="1"/>
          <p:nvPr/>
        </p:nvSpPr>
        <p:spPr>
          <a:xfrm>
            <a:off x="8678675" y="441325"/>
            <a:ext cx="2607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rgbClr val="000000"/>
                </a:solidFill>
                <a:latin typeface="Calibri"/>
                <a:ea typeface="Calibri"/>
                <a:cs typeface="Calibri"/>
                <a:sym typeface="Calibri"/>
              </a:rPr>
              <a:t>,</a:t>
            </a:r>
            <a:endParaRPr sz="3000" b="0" i="0" u="none" strike="noStrike" cap="none">
              <a:solidFill>
                <a:srgbClr val="000000"/>
              </a:solidFill>
              <a:latin typeface="Calibri"/>
              <a:ea typeface="Calibri"/>
              <a:cs typeface="Calibri"/>
              <a:sym typeface="Calibri"/>
            </a:endParaRPr>
          </a:p>
        </p:txBody>
      </p:sp>
      <p:sp>
        <p:nvSpPr>
          <p:cNvPr id="468" name="Google Shape;468;g2b8b5137f2c_0_190"/>
          <p:cNvSpPr txBox="1"/>
          <p:nvPr/>
        </p:nvSpPr>
        <p:spPr>
          <a:xfrm>
            <a:off x="7998850" y="1044775"/>
            <a:ext cx="38529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0" i="0" u="none" strike="noStrike" cap="none">
                <a:solidFill>
                  <a:srgbClr val="000000"/>
                </a:solidFill>
                <a:highlight>
                  <a:srgbClr val="FFFF00"/>
                </a:highlight>
                <a:latin typeface="Arial"/>
                <a:ea typeface="Arial"/>
                <a:cs typeface="Arial"/>
                <a:sym typeface="Arial"/>
              </a:rPr>
              <a:t>In Vaswani et al., 2017, d was 1024.</a:t>
            </a:r>
            <a:endParaRPr sz="1700" b="0" i="0" u="none" strike="noStrike" cap="none">
              <a:solidFill>
                <a:srgbClr val="000000"/>
              </a:solidFill>
              <a:highlight>
                <a:srgbClr val="FFFF00"/>
              </a:highlight>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g2b8b5137f2c_0_221"/>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Self-Attention  | Transformers</a:t>
            </a:r>
            <a:endParaRPr sz="4000" b="1"/>
          </a:p>
        </p:txBody>
      </p:sp>
      <p:sp>
        <p:nvSpPr>
          <p:cNvPr id="475" name="Google Shape;475;g2b8b5137f2c_0_2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22</a:t>
            </a:fld>
            <a:endParaRPr/>
          </a:p>
        </p:txBody>
      </p:sp>
      <p:sp>
        <p:nvSpPr>
          <p:cNvPr id="476" name="Google Shape;476;g2b8b5137f2c_0_221"/>
          <p:cNvSpPr txBox="1">
            <a:spLocks noGrp="1"/>
          </p:cNvSpPr>
          <p:nvPr>
            <p:ph type="body" idx="1"/>
          </p:nvPr>
        </p:nvSpPr>
        <p:spPr>
          <a:xfrm>
            <a:off x="838200" y="1632850"/>
            <a:ext cx="11061900" cy="4256100"/>
          </a:xfrm>
          <a:prstGeom prst="rect">
            <a:avLst/>
          </a:prstGeom>
          <a:noFill/>
          <a:ln>
            <a:noFill/>
          </a:ln>
        </p:spPr>
        <p:txBody>
          <a:bodyPr spcFirstLastPara="1" wrap="square" lIns="91425" tIns="45700" rIns="91425" bIns="45700" anchor="t" anchorCtr="0">
            <a:normAutofit/>
          </a:bodyPr>
          <a:lstStyle/>
          <a:p>
            <a:pPr marL="457200" lvl="0" indent="-406400" algn="l" rtl="0">
              <a:lnSpc>
                <a:spcPct val="100000"/>
              </a:lnSpc>
              <a:spcBef>
                <a:spcPts val="1000"/>
              </a:spcBef>
              <a:spcAft>
                <a:spcPts val="0"/>
              </a:spcAft>
              <a:buSzPts val="2800"/>
              <a:buFont typeface="Proxima Nova"/>
              <a:buChar char="•"/>
            </a:pPr>
            <a:r>
              <a:rPr lang="en-US">
                <a:latin typeface="Proxima Nova"/>
                <a:ea typeface="Proxima Nova"/>
                <a:cs typeface="Proxima Nova"/>
                <a:sym typeface="Proxima Nova"/>
              </a:rPr>
              <a:t>Let us understand how transformers uses self-attention !</a:t>
            </a:r>
            <a:endParaRPr>
              <a:latin typeface="Proxima Nova"/>
              <a:ea typeface="Proxima Nova"/>
              <a:cs typeface="Proxima Nova"/>
              <a:sym typeface="Proxima Nova"/>
            </a:endParaRPr>
          </a:p>
          <a:p>
            <a:pPr marL="0" lvl="0" indent="0" algn="l" rtl="0">
              <a:lnSpc>
                <a:spcPct val="100000"/>
              </a:lnSpc>
              <a:spcBef>
                <a:spcPts val="1000"/>
              </a:spcBef>
              <a:spcAft>
                <a:spcPts val="0"/>
              </a:spcAft>
              <a:buSzPts val="2800"/>
              <a:buNone/>
            </a:pPr>
            <a:endParaRPr sz="2400"/>
          </a:p>
        </p:txBody>
      </p:sp>
      <p:pic>
        <p:nvPicPr>
          <p:cNvPr id="477" name="Google Shape;477;g2b8b5137f2c_0_221"/>
          <p:cNvPicPr preferRelativeResize="0"/>
          <p:nvPr/>
        </p:nvPicPr>
        <p:blipFill rotWithShape="1">
          <a:blip r:embed="rId3">
            <a:alphaModFix/>
          </a:blip>
          <a:srcRect/>
          <a:stretch/>
        </p:blipFill>
        <p:spPr>
          <a:xfrm>
            <a:off x="2357500" y="2622171"/>
            <a:ext cx="2041875" cy="631700"/>
          </a:xfrm>
          <a:prstGeom prst="rect">
            <a:avLst/>
          </a:prstGeom>
          <a:noFill/>
          <a:ln>
            <a:noFill/>
          </a:ln>
        </p:spPr>
      </p:pic>
      <p:pic>
        <p:nvPicPr>
          <p:cNvPr id="478" name="Google Shape;478;g2b8b5137f2c_0_221"/>
          <p:cNvPicPr preferRelativeResize="0"/>
          <p:nvPr/>
        </p:nvPicPr>
        <p:blipFill rotWithShape="1">
          <a:blip r:embed="rId4">
            <a:alphaModFix/>
          </a:blip>
          <a:srcRect/>
          <a:stretch/>
        </p:blipFill>
        <p:spPr>
          <a:xfrm>
            <a:off x="5021675" y="2622175"/>
            <a:ext cx="2041865" cy="631700"/>
          </a:xfrm>
          <a:prstGeom prst="rect">
            <a:avLst/>
          </a:prstGeom>
          <a:noFill/>
          <a:ln>
            <a:noFill/>
          </a:ln>
        </p:spPr>
      </p:pic>
      <p:pic>
        <p:nvPicPr>
          <p:cNvPr id="479" name="Google Shape;479;g2b8b5137f2c_0_221"/>
          <p:cNvPicPr preferRelativeResize="0"/>
          <p:nvPr/>
        </p:nvPicPr>
        <p:blipFill rotWithShape="1">
          <a:blip r:embed="rId5">
            <a:alphaModFix/>
          </a:blip>
          <a:srcRect/>
          <a:stretch/>
        </p:blipFill>
        <p:spPr>
          <a:xfrm>
            <a:off x="7888100" y="2595411"/>
            <a:ext cx="2041875" cy="658464"/>
          </a:xfrm>
          <a:prstGeom prst="rect">
            <a:avLst/>
          </a:prstGeom>
          <a:noFill/>
          <a:ln>
            <a:noFill/>
          </a:ln>
        </p:spPr>
      </p:pic>
      <p:pic>
        <p:nvPicPr>
          <p:cNvPr id="480" name="Google Shape;480;g2b8b5137f2c_0_221"/>
          <p:cNvPicPr preferRelativeResize="0"/>
          <p:nvPr/>
        </p:nvPicPr>
        <p:blipFill rotWithShape="1">
          <a:blip r:embed="rId6">
            <a:alphaModFix/>
          </a:blip>
          <a:srcRect/>
          <a:stretch/>
        </p:blipFill>
        <p:spPr>
          <a:xfrm>
            <a:off x="9894719" y="479100"/>
            <a:ext cx="2200556" cy="576975"/>
          </a:xfrm>
          <a:prstGeom prst="rect">
            <a:avLst/>
          </a:prstGeom>
          <a:noFill/>
          <a:ln>
            <a:noFill/>
          </a:ln>
        </p:spPr>
      </p:pic>
      <p:pic>
        <p:nvPicPr>
          <p:cNvPr id="481" name="Google Shape;481;g2b8b5137f2c_0_221"/>
          <p:cNvPicPr preferRelativeResize="0"/>
          <p:nvPr/>
        </p:nvPicPr>
        <p:blipFill rotWithShape="1">
          <a:blip r:embed="rId7">
            <a:alphaModFix/>
          </a:blip>
          <a:srcRect/>
          <a:stretch/>
        </p:blipFill>
        <p:spPr>
          <a:xfrm>
            <a:off x="8967988" y="467852"/>
            <a:ext cx="806358" cy="576925"/>
          </a:xfrm>
          <a:prstGeom prst="rect">
            <a:avLst/>
          </a:prstGeom>
          <a:noFill/>
          <a:ln>
            <a:noFill/>
          </a:ln>
        </p:spPr>
      </p:pic>
      <p:pic>
        <p:nvPicPr>
          <p:cNvPr id="482" name="Google Shape;482;g2b8b5137f2c_0_221"/>
          <p:cNvPicPr preferRelativeResize="0"/>
          <p:nvPr/>
        </p:nvPicPr>
        <p:blipFill rotWithShape="1">
          <a:blip r:embed="rId8">
            <a:alphaModFix/>
          </a:blip>
          <a:srcRect/>
          <a:stretch/>
        </p:blipFill>
        <p:spPr>
          <a:xfrm>
            <a:off x="7998838" y="496810"/>
            <a:ext cx="806350" cy="576957"/>
          </a:xfrm>
          <a:prstGeom prst="rect">
            <a:avLst/>
          </a:prstGeom>
          <a:noFill/>
          <a:ln>
            <a:noFill/>
          </a:ln>
        </p:spPr>
      </p:pic>
      <p:sp>
        <p:nvSpPr>
          <p:cNvPr id="483" name="Google Shape;483;g2b8b5137f2c_0_221"/>
          <p:cNvSpPr txBox="1"/>
          <p:nvPr/>
        </p:nvSpPr>
        <p:spPr>
          <a:xfrm>
            <a:off x="9669275" y="441325"/>
            <a:ext cx="2607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rgbClr val="000000"/>
                </a:solidFill>
                <a:latin typeface="Calibri"/>
                <a:ea typeface="Calibri"/>
                <a:cs typeface="Calibri"/>
                <a:sym typeface="Calibri"/>
              </a:rPr>
              <a:t>,</a:t>
            </a:r>
            <a:endParaRPr sz="3000" b="0" i="0" u="none" strike="noStrike" cap="none">
              <a:solidFill>
                <a:srgbClr val="000000"/>
              </a:solidFill>
              <a:latin typeface="Calibri"/>
              <a:ea typeface="Calibri"/>
              <a:cs typeface="Calibri"/>
              <a:sym typeface="Calibri"/>
            </a:endParaRPr>
          </a:p>
        </p:txBody>
      </p:sp>
      <p:sp>
        <p:nvSpPr>
          <p:cNvPr id="484" name="Google Shape;484;g2b8b5137f2c_0_221"/>
          <p:cNvSpPr txBox="1"/>
          <p:nvPr/>
        </p:nvSpPr>
        <p:spPr>
          <a:xfrm>
            <a:off x="8678675" y="441325"/>
            <a:ext cx="2607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rgbClr val="000000"/>
                </a:solidFill>
                <a:latin typeface="Calibri"/>
                <a:ea typeface="Calibri"/>
                <a:cs typeface="Calibri"/>
                <a:sym typeface="Calibri"/>
              </a:rPr>
              <a:t>,</a:t>
            </a:r>
            <a:endParaRPr sz="3000" b="0" i="0" u="none" strike="noStrike" cap="none">
              <a:solidFill>
                <a:srgbClr val="000000"/>
              </a:solidFill>
              <a:latin typeface="Calibri"/>
              <a:ea typeface="Calibri"/>
              <a:cs typeface="Calibri"/>
              <a:sym typeface="Calibri"/>
            </a:endParaRPr>
          </a:p>
        </p:txBody>
      </p:sp>
      <p:sp>
        <p:nvSpPr>
          <p:cNvPr id="485" name="Google Shape;485;g2b8b5137f2c_0_221"/>
          <p:cNvSpPr txBox="1"/>
          <p:nvPr/>
        </p:nvSpPr>
        <p:spPr>
          <a:xfrm>
            <a:off x="7998850" y="1044775"/>
            <a:ext cx="38529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0" i="0" u="none" strike="noStrike" cap="none">
                <a:solidFill>
                  <a:srgbClr val="000000"/>
                </a:solidFill>
                <a:highlight>
                  <a:srgbClr val="FFFF00"/>
                </a:highlight>
                <a:latin typeface="Arial"/>
                <a:ea typeface="Arial"/>
                <a:cs typeface="Arial"/>
                <a:sym typeface="Arial"/>
              </a:rPr>
              <a:t>In Vaswani et al., 2017, d was 1024.</a:t>
            </a:r>
            <a:endParaRPr sz="1700" b="0" i="0" u="none" strike="noStrike" cap="none">
              <a:solidFill>
                <a:srgbClr val="000000"/>
              </a:solidFill>
              <a:highlight>
                <a:srgbClr val="FFFF00"/>
              </a:highlight>
              <a:latin typeface="Arial"/>
              <a:ea typeface="Arial"/>
              <a:cs typeface="Arial"/>
              <a:sym typeface="Arial"/>
            </a:endParaRPr>
          </a:p>
        </p:txBody>
      </p:sp>
      <p:sp>
        <p:nvSpPr>
          <p:cNvPr id="486" name="Google Shape;486;g2b8b5137f2c_0_221"/>
          <p:cNvSpPr txBox="1"/>
          <p:nvPr/>
        </p:nvSpPr>
        <p:spPr>
          <a:xfrm>
            <a:off x="4334725" y="3665538"/>
            <a:ext cx="5824500" cy="708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0" i="0" u="none" strike="noStrike" cap="none">
                <a:solidFill>
                  <a:srgbClr val="274E13"/>
                </a:solidFill>
                <a:latin typeface="Proxima Nova"/>
                <a:ea typeface="Proxima Nova"/>
                <a:cs typeface="Proxima Nova"/>
                <a:sym typeface="Proxima Nova"/>
              </a:rPr>
              <a:t>The simple dot product can be an arbitrarily large; </a:t>
            </a:r>
            <a:endParaRPr sz="1700" b="0" i="0" u="none" strike="noStrike" cap="none">
              <a:solidFill>
                <a:srgbClr val="274E13"/>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700"/>
              <a:buFont typeface="Arial"/>
              <a:buNone/>
            </a:pPr>
            <a:r>
              <a:rPr lang="en-US" sz="1700" b="0" i="0" u="none" strike="noStrike" cap="none">
                <a:solidFill>
                  <a:srgbClr val="274E13"/>
                </a:solidFill>
                <a:latin typeface="Proxima Nova"/>
                <a:ea typeface="Proxima Nova"/>
                <a:cs typeface="Proxima Nova"/>
                <a:sym typeface="Proxima Nova"/>
              </a:rPr>
              <a:t>scaled dot-product is used in transformers; </a:t>
            </a:r>
            <a:endParaRPr sz="1700" b="0" i="0" u="none" strike="noStrike" cap="none">
              <a:solidFill>
                <a:srgbClr val="274E13"/>
              </a:solidFill>
              <a:latin typeface="Proxima Nova"/>
              <a:ea typeface="Proxima Nova"/>
              <a:cs typeface="Proxima Nova"/>
              <a:sym typeface="Proxima Nova"/>
            </a:endParaRPr>
          </a:p>
        </p:txBody>
      </p:sp>
      <p:pic>
        <p:nvPicPr>
          <p:cNvPr id="487" name="Google Shape;487;g2b8b5137f2c_0_221"/>
          <p:cNvPicPr preferRelativeResize="0"/>
          <p:nvPr/>
        </p:nvPicPr>
        <p:blipFill rotWithShape="1">
          <a:blip r:embed="rId9">
            <a:alphaModFix/>
          </a:blip>
          <a:srcRect/>
          <a:stretch/>
        </p:blipFill>
        <p:spPr>
          <a:xfrm>
            <a:off x="222175" y="3467574"/>
            <a:ext cx="3581400" cy="988924"/>
          </a:xfrm>
          <a:prstGeom prst="rect">
            <a:avLst/>
          </a:prstGeom>
          <a:noFill/>
          <a:ln>
            <a:noFill/>
          </a:ln>
        </p:spPr>
      </p:pic>
      <p:pic>
        <p:nvPicPr>
          <p:cNvPr id="488" name="Google Shape;488;g2b8b5137f2c_0_221"/>
          <p:cNvPicPr preferRelativeResize="0"/>
          <p:nvPr/>
        </p:nvPicPr>
        <p:blipFill rotWithShape="1">
          <a:blip r:embed="rId10">
            <a:alphaModFix/>
          </a:blip>
          <a:srcRect/>
          <a:stretch/>
        </p:blipFill>
        <p:spPr>
          <a:xfrm>
            <a:off x="9172563" y="5266488"/>
            <a:ext cx="3019425" cy="1152525"/>
          </a:xfrm>
          <a:prstGeom prst="rect">
            <a:avLst/>
          </a:prstGeom>
          <a:noFill/>
          <a:ln>
            <a:noFill/>
          </a:ln>
        </p:spPr>
      </p:pic>
      <p:pic>
        <p:nvPicPr>
          <p:cNvPr id="489" name="Google Shape;489;g2b8b5137f2c_0_221"/>
          <p:cNvPicPr preferRelativeResize="0"/>
          <p:nvPr/>
        </p:nvPicPr>
        <p:blipFill rotWithShape="1">
          <a:blip r:embed="rId11">
            <a:alphaModFix/>
          </a:blip>
          <a:srcRect/>
          <a:stretch/>
        </p:blipFill>
        <p:spPr>
          <a:xfrm>
            <a:off x="2079100" y="4975877"/>
            <a:ext cx="5665551" cy="1553700"/>
          </a:xfrm>
          <a:prstGeom prst="rect">
            <a:avLst/>
          </a:prstGeom>
          <a:noFill/>
          <a:ln>
            <a:noFill/>
          </a:ln>
        </p:spPr>
      </p:pic>
      <p:cxnSp>
        <p:nvCxnSpPr>
          <p:cNvPr id="490" name="Google Shape;490;g2b8b5137f2c_0_221"/>
          <p:cNvCxnSpPr>
            <a:endCxn id="489" idx="1"/>
          </p:cNvCxnSpPr>
          <p:nvPr/>
        </p:nvCxnSpPr>
        <p:spPr>
          <a:xfrm>
            <a:off x="444400" y="4317527"/>
            <a:ext cx="1634700" cy="1435200"/>
          </a:xfrm>
          <a:prstGeom prst="straightConnector1">
            <a:avLst/>
          </a:prstGeom>
          <a:noFill/>
          <a:ln w="19050" cap="flat" cmpd="sng">
            <a:solidFill>
              <a:srgbClr val="85200C"/>
            </a:solidFill>
            <a:prstDash val="solid"/>
            <a:round/>
            <a:headEnd type="none" w="sm" len="sm"/>
            <a:tailEnd type="triangle" w="med" len="med"/>
          </a:ln>
        </p:spPr>
      </p:cxnSp>
      <p:cxnSp>
        <p:nvCxnSpPr>
          <p:cNvPr id="491" name="Google Shape;491;g2b8b5137f2c_0_221"/>
          <p:cNvCxnSpPr>
            <a:endCxn id="488" idx="1"/>
          </p:cNvCxnSpPr>
          <p:nvPr/>
        </p:nvCxnSpPr>
        <p:spPr>
          <a:xfrm>
            <a:off x="7870263" y="5562851"/>
            <a:ext cx="1302300" cy="279900"/>
          </a:xfrm>
          <a:prstGeom prst="straightConnector1">
            <a:avLst/>
          </a:prstGeom>
          <a:noFill/>
          <a:ln w="19050" cap="flat" cmpd="sng">
            <a:solidFill>
              <a:srgbClr val="85200C"/>
            </a:solidFill>
            <a:prstDash val="solid"/>
            <a:round/>
            <a:headEnd type="none" w="sm" len="sm"/>
            <a:tailEnd type="triangle"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g2b8b5137f2c_0_243"/>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Self-Attention  | Transformers</a:t>
            </a:r>
            <a:endParaRPr sz="4000" b="1"/>
          </a:p>
        </p:txBody>
      </p:sp>
      <p:sp>
        <p:nvSpPr>
          <p:cNvPr id="498" name="Google Shape;498;g2b8b5137f2c_0_24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23</a:t>
            </a:fld>
            <a:endParaRPr/>
          </a:p>
        </p:txBody>
      </p:sp>
      <p:sp>
        <p:nvSpPr>
          <p:cNvPr id="499" name="Google Shape;499;g2b8b5137f2c_0_243"/>
          <p:cNvSpPr txBox="1">
            <a:spLocks noGrp="1"/>
          </p:cNvSpPr>
          <p:nvPr>
            <p:ph type="body" idx="1"/>
          </p:nvPr>
        </p:nvSpPr>
        <p:spPr>
          <a:xfrm>
            <a:off x="838200" y="3036850"/>
            <a:ext cx="3776400" cy="2815500"/>
          </a:xfrm>
          <a:prstGeom prst="rect">
            <a:avLst/>
          </a:prstGeom>
          <a:noFill/>
          <a:ln>
            <a:noFill/>
          </a:ln>
        </p:spPr>
        <p:txBody>
          <a:bodyPr spcFirstLastPara="1" wrap="square" lIns="91425" tIns="45700" rIns="91425" bIns="45700" anchor="t" anchorCtr="0">
            <a:normAutofit/>
          </a:bodyPr>
          <a:lstStyle/>
          <a:p>
            <a:pPr marL="457200" lvl="0" indent="-374650" algn="l" rtl="0">
              <a:lnSpc>
                <a:spcPct val="100000"/>
              </a:lnSpc>
              <a:spcBef>
                <a:spcPts val="1000"/>
              </a:spcBef>
              <a:spcAft>
                <a:spcPts val="0"/>
              </a:spcAft>
              <a:buSzPts val="2300"/>
              <a:buFont typeface="Proxima Nova"/>
              <a:buChar char="•"/>
            </a:pPr>
            <a:r>
              <a:rPr lang="en-US" sz="2300">
                <a:latin typeface="Proxima Nova"/>
                <a:ea typeface="Proxima Nova"/>
                <a:cs typeface="Proxima Nova"/>
                <a:sym typeface="Proxima Nova"/>
              </a:rPr>
              <a:t>Each output, y</a:t>
            </a:r>
            <a:r>
              <a:rPr lang="en-US" sz="2300" baseline="-25000">
                <a:latin typeface="Proxima Nova"/>
                <a:ea typeface="Proxima Nova"/>
                <a:cs typeface="Proxima Nova"/>
                <a:sym typeface="Proxima Nova"/>
              </a:rPr>
              <a:t>i</a:t>
            </a:r>
            <a:r>
              <a:rPr lang="en-US" sz="2300">
                <a:latin typeface="Proxima Nova"/>
                <a:ea typeface="Proxima Nova"/>
                <a:cs typeface="Proxima Nova"/>
                <a:sym typeface="Proxima Nova"/>
              </a:rPr>
              <a:t> , is computed independently </a:t>
            </a:r>
            <a:endParaRPr sz="2300">
              <a:latin typeface="Proxima Nova"/>
              <a:ea typeface="Proxima Nova"/>
              <a:cs typeface="Proxima Nova"/>
              <a:sym typeface="Proxima Nova"/>
            </a:endParaRPr>
          </a:p>
          <a:p>
            <a:pPr marL="457200" lvl="0" indent="-374650" algn="l" rtl="0">
              <a:lnSpc>
                <a:spcPct val="100000"/>
              </a:lnSpc>
              <a:spcBef>
                <a:spcPts val="0"/>
              </a:spcBef>
              <a:spcAft>
                <a:spcPts val="0"/>
              </a:spcAft>
              <a:buSzPts val="2300"/>
              <a:buFont typeface="Proxima Nova"/>
              <a:buChar char="•"/>
            </a:pPr>
            <a:r>
              <a:rPr lang="en-US" sz="2300">
                <a:latin typeface="Proxima Nova"/>
                <a:ea typeface="Proxima Nova"/>
                <a:cs typeface="Proxima Nova"/>
                <a:sym typeface="Proxima Nova"/>
              </a:rPr>
              <a:t>Entire process can be parallelized</a:t>
            </a:r>
            <a:endParaRPr sz="2300">
              <a:latin typeface="Proxima Nova"/>
              <a:ea typeface="Proxima Nova"/>
              <a:cs typeface="Proxima Nova"/>
              <a:sym typeface="Proxima Nova"/>
            </a:endParaRPr>
          </a:p>
          <a:p>
            <a:pPr marL="914400" lvl="0" indent="0" algn="l" rtl="0">
              <a:lnSpc>
                <a:spcPct val="100000"/>
              </a:lnSpc>
              <a:spcBef>
                <a:spcPts val="1000"/>
              </a:spcBef>
              <a:spcAft>
                <a:spcPts val="0"/>
              </a:spcAft>
              <a:buSzPts val="2800"/>
              <a:buNone/>
            </a:pPr>
            <a:endParaRPr sz="1900">
              <a:latin typeface="Proxima Nova"/>
              <a:ea typeface="Proxima Nova"/>
              <a:cs typeface="Proxima Nova"/>
              <a:sym typeface="Proxima Nova"/>
            </a:endParaRPr>
          </a:p>
        </p:txBody>
      </p:sp>
      <p:pic>
        <p:nvPicPr>
          <p:cNvPr id="500" name="Google Shape;500;g2b8b5137f2c_0_243"/>
          <p:cNvPicPr preferRelativeResize="0"/>
          <p:nvPr/>
        </p:nvPicPr>
        <p:blipFill rotWithShape="1">
          <a:blip r:embed="rId3">
            <a:alphaModFix/>
          </a:blip>
          <a:srcRect/>
          <a:stretch/>
        </p:blipFill>
        <p:spPr>
          <a:xfrm>
            <a:off x="5125250" y="1102550"/>
            <a:ext cx="7066750" cy="5755450"/>
          </a:xfrm>
          <a:prstGeom prst="rect">
            <a:avLst/>
          </a:prstGeom>
          <a:noFill/>
          <a:ln>
            <a:noFill/>
          </a:ln>
        </p:spPr>
      </p:pic>
      <p:sp>
        <p:nvSpPr>
          <p:cNvPr id="501" name="Google Shape;501;g2b8b5137f2c_0_243"/>
          <p:cNvSpPr txBox="1"/>
          <p:nvPr/>
        </p:nvSpPr>
        <p:spPr>
          <a:xfrm>
            <a:off x="45150" y="5763800"/>
            <a:ext cx="54267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E65F0"/>
                </a:solidFill>
                <a:highlight>
                  <a:srgbClr val="FFFF00"/>
                </a:highlight>
                <a:latin typeface="Proxima Nova"/>
                <a:ea typeface="Proxima Nova"/>
                <a:cs typeface="Proxima Nova"/>
                <a:sym typeface="Proxima Nova"/>
              </a:rPr>
              <a:t>Calculating the value of y3, the third element of a sequence using causal (left-to-right) self-attention </a:t>
            </a:r>
            <a:endParaRPr sz="1400" b="0" i="0" u="none" strike="noStrike" cap="none">
              <a:solidFill>
                <a:srgbClr val="0E65F0"/>
              </a:solidFill>
              <a:highlight>
                <a:srgbClr val="FFFF00"/>
              </a:highlight>
              <a:latin typeface="Proxima Nova"/>
              <a:ea typeface="Proxima Nova"/>
              <a:cs typeface="Proxima Nova"/>
              <a:sym typeface="Proxima Nov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g2b8b5137f2c_0_252"/>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Self-Attention  | Transformers</a:t>
            </a:r>
            <a:endParaRPr sz="4000" b="1"/>
          </a:p>
        </p:txBody>
      </p:sp>
      <p:sp>
        <p:nvSpPr>
          <p:cNvPr id="508" name="Google Shape;508;g2b8b5137f2c_0_25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24</a:t>
            </a:fld>
            <a:endParaRPr/>
          </a:p>
        </p:txBody>
      </p:sp>
      <p:sp>
        <p:nvSpPr>
          <p:cNvPr id="509" name="Google Shape;509;g2b8b5137f2c_0_252"/>
          <p:cNvSpPr txBox="1">
            <a:spLocks noGrp="1"/>
          </p:cNvSpPr>
          <p:nvPr>
            <p:ph type="body" idx="1"/>
          </p:nvPr>
        </p:nvSpPr>
        <p:spPr>
          <a:xfrm>
            <a:off x="838200" y="1632850"/>
            <a:ext cx="10880400" cy="4256100"/>
          </a:xfrm>
          <a:prstGeom prst="rect">
            <a:avLst/>
          </a:prstGeom>
          <a:noFill/>
          <a:ln>
            <a:noFill/>
          </a:ln>
        </p:spPr>
        <p:txBody>
          <a:bodyPr spcFirstLastPara="1" wrap="square" lIns="91425" tIns="45700" rIns="91425" bIns="45700" anchor="t" anchorCtr="0">
            <a:normAutofit/>
          </a:bodyPr>
          <a:lstStyle/>
          <a:p>
            <a:pPr marL="457200" lvl="0" indent="-400050" algn="l" rtl="0">
              <a:lnSpc>
                <a:spcPct val="100000"/>
              </a:lnSpc>
              <a:spcBef>
                <a:spcPts val="1000"/>
              </a:spcBef>
              <a:spcAft>
                <a:spcPts val="0"/>
              </a:spcAft>
              <a:buSzPts val="2700"/>
              <a:buFont typeface="Proxima Nova"/>
              <a:buChar char="•"/>
            </a:pPr>
            <a:r>
              <a:rPr lang="en-US" sz="2700">
                <a:latin typeface="Proxima Nova"/>
                <a:ea typeface="Proxima Nova"/>
                <a:cs typeface="Proxima Nova"/>
                <a:sym typeface="Proxima Nova"/>
              </a:rPr>
              <a:t>Pack the input embeddings of the N input tokens into a single matrix</a:t>
            </a:r>
            <a:endParaRPr sz="2700">
              <a:latin typeface="Proxima Nova"/>
              <a:ea typeface="Proxima Nova"/>
              <a:cs typeface="Proxima Nova"/>
              <a:sym typeface="Proxima Nova"/>
            </a:endParaRPr>
          </a:p>
          <a:p>
            <a:pPr marL="457200" lvl="0" indent="0" algn="l" rtl="0">
              <a:lnSpc>
                <a:spcPct val="100000"/>
              </a:lnSpc>
              <a:spcBef>
                <a:spcPts val="1000"/>
              </a:spcBef>
              <a:spcAft>
                <a:spcPts val="0"/>
              </a:spcAft>
              <a:buSzPts val="2800"/>
              <a:buNone/>
            </a:pPr>
            <a:endParaRPr sz="2700">
              <a:latin typeface="Proxima Nova"/>
              <a:ea typeface="Proxima Nova"/>
              <a:cs typeface="Proxima Nova"/>
              <a:sym typeface="Proxima Nova"/>
            </a:endParaRPr>
          </a:p>
          <a:p>
            <a:pPr marL="914400" lvl="0" indent="457200" algn="l" rtl="0">
              <a:lnSpc>
                <a:spcPct val="100000"/>
              </a:lnSpc>
              <a:spcBef>
                <a:spcPts val="1000"/>
              </a:spcBef>
              <a:spcAft>
                <a:spcPts val="0"/>
              </a:spcAft>
              <a:buSzPts val="2800"/>
              <a:buNone/>
            </a:pPr>
            <a:r>
              <a:rPr lang="en-US" sz="2400">
                <a:latin typeface="Proxima Nova"/>
                <a:ea typeface="Proxima Nova"/>
                <a:cs typeface="Proxima Nova"/>
                <a:sym typeface="Proxima Nova"/>
              </a:rPr>
              <a:t>&gt; Each row of X is the embedding of one token of the input</a:t>
            </a:r>
            <a:endParaRPr sz="2400">
              <a:latin typeface="Proxima Nova"/>
              <a:ea typeface="Proxima Nova"/>
              <a:cs typeface="Proxima Nova"/>
              <a:sym typeface="Proxima Nova"/>
            </a:endParaRPr>
          </a:p>
          <a:p>
            <a:pPr marL="457200" lvl="0" indent="0" algn="l" rtl="0">
              <a:lnSpc>
                <a:spcPct val="100000"/>
              </a:lnSpc>
              <a:spcBef>
                <a:spcPts val="1000"/>
              </a:spcBef>
              <a:spcAft>
                <a:spcPts val="0"/>
              </a:spcAft>
              <a:buSzPts val="2800"/>
              <a:buNone/>
            </a:pPr>
            <a:endParaRPr sz="2700">
              <a:latin typeface="Proxima Nova"/>
              <a:ea typeface="Proxima Nova"/>
              <a:cs typeface="Proxima Nova"/>
              <a:sym typeface="Proxima Nova"/>
            </a:endParaRPr>
          </a:p>
          <a:p>
            <a:pPr marL="457200" lvl="0" indent="-400050" algn="l" rtl="0">
              <a:lnSpc>
                <a:spcPct val="100000"/>
              </a:lnSpc>
              <a:spcBef>
                <a:spcPts val="1000"/>
              </a:spcBef>
              <a:spcAft>
                <a:spcPts val="0"/>
              </a:spcAft>
              <a:buSzPts val="2700"/>
              <a:buFont typeface="Proxima Nova"/>
              <a:buChar char="•"/>
            </a:pPr>
            <a:r>
              <a:rPr lang="en-US" sz="2700">
                <a:latin typeface="Proxima Nova"/>
                <a:ea typeface="Proxima Nova"/>
                <a:cs typeface="Proxima Nova"/>
                <a:sym typeface="Proxima Nova"/>
              </a:rPr>
              <a:t>Multiply X by the key, query, and value (dxd) matrices</a:t>
            </a:r>
            <a:endParaRPr sz="2700">
              <a:latin typeface="Proxima Nova"/>
              <a:ea typeface="Proxima Nova"/>
              <a:cs typeface="Proxima Nova"/>
              <a:sym typeface="Proxima Nova"/>
            </a:endParaRPr>
          </a:p>
        </p:txBody>
      </p:sp>
      <p:pic>
        <p:nvPicPr>
          <p:cNvPr id="510" name="Google Shape;510;g2b8b5137f2c_0_252"/>
          <p:cNvPicPr preferRelativeResize="0"/>
          <p:nvPr/>
        </p:nvPicPr>
        <p:blipFill rotWithShape="1">
          <a:blip r:embed="rId3">
            <a:alphaModFix/>
          </a:blip>
          <a:srcRect/>
          <a:stretch/>
        </p:blipFill>
        <p:spPr>
          <a:xfrm>
            <a:off x="5405350" y="2211087"/>
            <a:ext cx="1808325" cy="514000"/>
          </a:xfrm>
          <a:prstGeom prst="rect">
            <a:avLst/>
          </a:prstGeom>
          <a:noFill/>
          <a:ln>
            <a:noFill/>
          </a:ln>
        </p:spPr>
      </p:pic>
      <p:pic>
        <p:nvPicPr>
          <p:cNvPr id="511" name="Google Shape;511;g2b8b5137f2c_0_252"/>
          <p:cNvPicPr preferRelativeResize="0"/>
          <p:nvPr/>
        </p:nvPicPr>
        <p:blipFill rotWithShape="1">
          <a:blip r:embed="rId4">
            <a:alphaModFix/>
          </a:blip>
          <a:srcRect/>
          <a:stretch/>
        </p:blipFill>
        <p:spPr>
          <a:xfrm>
            <a:off x="2454124" y="4899000"/>
            <a:ext cx="6156476" cy="6523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g2b8b5137f2c_0_261"/>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Self-Attention  | Transformers</a:t>
            </a:r>
            <a:endParaRPr sz="4000" b="1"/>
          </a:p>
        </p:txBody>
      </p:sp>
      <p:sp>
        <p:nvSpPr>
          <p:cNvPr id="518" name="Google Shape;518;g2b8b5137f2c_0_26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25</a:t>
            </a:fld>
            <a:endParaRPr/>
          </a:p>
        </p:txBody>
      </p:sp>
      <p:pic>
        <p:nvPicPr>
          <p:cNvPr id="519" name="Google Shape;519;g2b8b5137f2c_0_261"/>
          <p:cNvPicPr preferRelativeResize="0"/>
          <p:nvPr/>
        </p:nvPicPr>
        <p:blipFill rotWithShape="1">
          <a:blip r:embed="rId3">
            <a:alphaModFix/>
          </a:blip>
          <a:srcRect/>
          <a:stretch/>
        </p:blipFill>
        <p:spPr>
          <a:xfrm>
            <a:off x="781650" y="1855400"/>
            <a:ext cx="8037075" cy="1305325"/>
          </a:xfrm>
          <a:prstGeom prst="rect">
            <a:avLst/>
          </a:prstGeom>
          <a:noFill/>
          <a:ln>
            <a:noFill/>
          </a:ln>
        </p:spPr>
      </p:pic>
      <p:pic>
        <p:nvPicPr>
          <p:cNvPr id="520" name="Google Shape;520;g2b8b5137f2c_0_261"/>
          <p:cNvPicPr preferRelativeResize="0"/>
          <p:nvPr/>
        </p:nvPicPr>
        <p:blipFill rotWithShape="1">
          <a:blip r:embed="rId4">
            <a:alphaModFix/>
          </a:blip>
          <a:srcRect/>
          <a:stretch/>
        </p:blipFill>
        <p:spPr>
          <a:xfrm>
            <a:off x="3061013" y="3082750"/>
            <a:ext cx="3517673" cy="3392474"/>
          </a:xfrm>
          <a:prstGeom prst="rect">
            <a:avLst/>
          </a:prstGeom>
          <a:noFill/>
          <a:ln>
            <a:noFill/>
          </a:ln>
        </p:spPr>
      </p:pic>
      <p:pic>
        <p:nvPicPr>
          <p:cNvPr id="521" name="Google Shape;521;g2b8b5137f2c_0_261"/>
          <p:cNvPicPr preferRelativeResize="0"/>
          <p:nvPr/>
        </p:nvPicPr>
        <p:blipFill rotWithShape="1">
          <a:blip r:embed="rId5">
            <a:alphaModFix/>
          </a:blip>
          <a:srcRect/>
          <a:stretch/>
        </p:blipFill>
        <p:spPr>
          <a:xfrm>
            <a:off x="362150" y="4299450"/>
            <a:ext cx="1078750" cy="516575"/>
          </a:xfrm>
          <a:prstGeom prst="rect">
            <a:avLst/>
          </a:prstGeom>
          <a:noFill/>
          <a:ln>
            <a:noFill/>
          </a:ln>
        </p:spPr>
      </p:pic>
      <p:sp>
        <p:nvSpPr>
          <p:cNvPr id="522" name="Google Shape;522;g2b8b5137f2c_0_261"/>
          <p:cNvSpPr txBox="1"/>
          <p:nvPr/>
        </p:nvSpPr>
        <p:spPr>
          <a:xfrm>
            <a:off x="1440900" y="4188025"/>
            <a:ext cx="1550400" cy="708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400"/>
              <a:buFont typeface="Arial"/>
              <a:buNone/>
            </a:pPr>
            <a:r>
              <a:rPr lang="en-US" sz="3400" b="1" i="0" u="none" strike="noStrike" cap="none">
                <a:solidFill>
                  <a:srgbClr val="000000"/>
                </a:solidFill>
                <a:latin typeface="Calibri"/>
                <a:ea typeface="Calibri"/>
                <a:cs typeface="Calibri"/>
                <a:sym typeface="Calibri"/>
              </a:rPr>
              <a:t>Matrix</a:t>
            </a:r>
            <a:endParaRPr sz="3400" b="1" i="0" u="none" strike="noStrike" cap="none">
              <a:solidFill>
                <a:srgbClr val="000000"/>
              </a:solidFill>
              <a:latin typeface="Calibri"/>
              <a:ea typeface="Calibri"/>
              <a:cs typeface="Calibri"/>
              <a:sym typeface="Calibri"/>
            </a:endParaRPr>
          </a:p>
        </p:txBody>
      </p:sp>
      <p:sp>
        <p:nvSpPr>
          <p:cNvPr id="523" name="Google Shape;523;g2b8b5137f2c_0_261"/>
          <p:cNvSpPr txBox="1"/>
          <p:nvPr/>
        </p:nvSpPr>
        <p:spPr>
          <a:xfrm>
            <a:off x="6730300" y="5519500"/>
            <a:ext cx="48336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highlight>
                  <a:srgbClr val="FFE599"/>
                </a:highlight>
                <a:latin typeface="Arial"/>
                <a:ea typeface="Arial"/>
                <a:cs typeface="Arial"/>
                <a:sym typeface="Arial"/>
              </a:rPr>
              <a:t>Note</a:t>
            </a:r>
            <a:r>
              <a:rPr lang="en-US" sz="1400" b="0" i="0" u="none" strike="noStrike" cap="none">
                <a:solidFill>
                  <a:srgbClr val="000000"/>
                </a:solidFill>
                <a:highlight>
                  <a:srgbClr val="FFE599"/>
                </a:highlight>
                <a:latin typeface="Arial"/>
                <a:ea typeface="Arial"/>
                <a:cs typeface="Arial"/>
                <a:sym typeface="Arial"/>
              </a:rPr>
              <a:t>: Upper-triangle portion of the comparisons matrix zeroed out (set to −∞, which the softmax will turn to zero)</a:t>
            </a:r>
            <a:endParaRPr sz="1400" b="0" i="0" u="none" strike="noStrike" cap="none">
              <a:solidFill>
                <a:srgbClr val="000000"/>
              </a:solidFill>
              <a:highlight>
                <a:srgbClr val="FFE599"/>
              </a:highlight>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g2b8b5137f2c_0_272"/>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Transformer Blocks  | Transformers</a:t>
            </a:r>
            <a:endParaRPr>
              <a:latin typeface="Proxima Nova"/>
              <a:ea typeface="Proxima Nova"/>
              <a:cs typeface="Proxima Nova"/>
              <a:sym typeface="Proxima Nova"/>
            </a:endParaRPr>
          </a:p>
        </p:txBody>
      </p:sp>
      <p:sp>
        <p:nvSpPr>
          <p:cNvPr id="530" name="Google Shape;530;g2b8b5137f2c_0_27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26</a:t>
            </a:fld>
            <a:endParaRPr/>
          </a:p>
        </p:txBody>
      </p:sp>
      <p:pic>
        <p:nvPicPr>
          <p:cNvPr id="531" name="Google Shape;531;g2b8b5137f2c_0_272"/>
          <p:cNvPicPr preferRelativeResize="0"/>
          <p:nvPr/>
        </p:nvPicPr>
        <p:blipFill rotWithShape="1">
          <a:blip r:embed="rId3">
            <a:alphaModFix/>
          </a:blip>
          <a:srcRect/>
          <a:stretch/>
        </p:blipFill>
        <p:spPr>
          <a:xfrm>
            <a:off x="152400" y="1316726"/>
            <a:ext cx="7402273" cy="5160274"/>
          </a:xfrm>
          <a:prstGeom prst="rect">
            <a:avLst/>
          </a:prstGeom>
          <a:noFill/>
          <a:ln>
            <a:noFill/>
          </a:ln>
        </p:spPr>
      </p:pic>
      <p:pic>
        <p:nvPicPr>
          <p:cNvPr id="532" name="Google Shape;532;g2b8b5137f2c_0_272"/>
          <p:cNvPicPr preferRelativeResize="0"/>
          <p:nvPr/>
        </p:nvPicPr>
        <p:blipFill rotWithShape="1">
          <a:blip r:embed="rId4">
            <a:alphaModFix/>
          </a:blip>
          <a:srcRect/>
          <a:stretch/>
        </p:blipFill>
        <p:spPr>
          <a:xfrm>
            <a:off x="7696850" y="1258496"/>
            <a:ext cx="4386724" cy="8865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536"/>
        <p:cNvGrpSpPr/>
        <p:nvPr/>
      </p:nvGrpSpPr>
      <p:grpSpPr>
        <a:xfrm>
          <a:off x="0" y="0"/>
          <a:ext cx="0" cy="0"/>
          <a:chOff x="0" y="0"/>
          <a:chExt cx="0" cy="0"/>
        </a:xfrm>
      </p:grpSpPr>
      <p:sp>
        <p:nvSpPr>
          <p:cNvPr id="537" name="Google Shape;537;g3292fd40077_1_492"/>
          <p:cNvSpPr txBox="1">
            <a:spLocks noGrp="1"/>
          </p:cNvSpPr>
          <p:nvPr>
            <p:ph type="title"/>
          </p:nvPr>
        </p:nvSpPr>
        <p:spPr>
          <a:xfrm>
            <a:off x="4631604" y="262255"/>
            <a:ext cx="2929467" cy="70104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SzPts val="1400"/>
              <a:buNone/>
            </a:pPr>
            <a:r>
              <a:rPr lang="en-US"/>
              <a:t>Summary</a:t>
            </a:r>
            <a:endParaRPr/>
          </a:p>
        </p:txBody>
      </p:sp>
      <p:sp>
        <p:nvSpPr>
          <p:cNvPr id="538" name="Google Shape;538;g3292fd40077_1_492"/>
          <p:cNvSpPr txBox="1"/>
          <p:nvPr/>
        </p:nvSpPr>
        <p:spPr>
          <a:xfrm>
            <a:off x="715433" y="1044940"/>
            <a:ext cx="9412393" cy="3082925"/>
          </a:xfrm>
          <a:prstGeom prst="rect">
            <a:avLst/>
          </a:prstGeom>
          <a:noFill/>
          <a:ln>
            <a:noFill/>
          </a:ln>
        </p:spPr>
        <p:txBody>
          <a:bodyPr spcFirstLastPara="1" wrap="square" lIns="0" tIns="120650" rIns="0" bIns="0" anchor="t" anchorCtr="0">
            <a:spAutoFit/>
          </a:bodyPr>
          <a:lstStyle/>
          <a:p>
            <a:pPr marL="355600" marR="0" lvl="0" indent="-342900" algn="l" rtl="0">
              <a:lnSpc>
                <a:spcPct val="100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Have score function and loss function</a:t>
            </a:r>
            <a:endParaRPr sz="3200" b="0" i="0" u="none" strike="noStrike" cap="none">
              <a:solidFill>
                <a:srgbClr val="000000"/>
              </a:solidFill>
              <a:latin typeface="Calibri"/>
              <a:ea typeface="Calibri"/>
              <a:cs typeface="Calibri"/>
              <a:sym typeface="Calibri"/>
            </a:endParaRPr>
          </a:p>
          <a:p>
            <a:pPr marL="755015" marR="164465" lvl="1" indent="-285115" algn="l" rtl="0">
              <a:lnSpc>
                <a:spcPct val="102400"/>
              </a:lnSpc>
              <a:spcBef>
                <a:spcPts val="660"/>
              </a:spcBef>
              <a:spcAft>
                <a:spcPts val="0"/>
              </a:spcAft>
              <a:buClr>
                <a:srgbClr val="000000"/>
              </a:buClr>
              <a:buSzPts val="2750"/>
              <a:buFont typeface="Arial"/>
              <a:buChar char="–"/>
            </a:pPr>
            <a:r>
              <a:rPr lang="en-US" sz="2750" b="0" i="0" u="none" strike="noStrike" cap="none">
                <a:solidFill>
                  <a:srgbClr val="000000"/>
                </a:solidFill>
                <a:latin typeface="Calibri"/>
                <a:ea typeface="Calibri"/>
                <a:cs typeface="Calibri"/>
                <a:sym typeface="Calibri"/>
              </a:rPr>
              <a:t>Currently, score function is based on linear 	classifier</a:t>
            </a:r>
            <a:endParaRPr sz="2750" b="0" i="0" u="none" strike="noStrike" cap="none">
              <a:solidFill>
                <a:srgbClr val="000000"/>
              </a:solidFill>
              <a:latin typeface="Calibri"/>
              <a:ea typeface="Calibri"/>
              <a:cs typeface="Calibri"/>
              <a:sym typeface="Calibri"/>
            </a:endParaRPr>
          </a:p>
          <a:p>
            <a:pPr marL="755015" marR="5080" lvl="1" indent="-285115" algn="l" rtl="0">
              <a:lnSpc>
                <a:spcPct val="100000"/>
              </a:lnSpc>
              <a:spcBef>
                <a:spcPts val="755"/>
              </a:spcBef>
              <a:spcAft>
                <a:spcPts val="0"/>
              </a:spcAft>
              <a:buClr>
                <a:srgbClr val="000000"/>
              </a:buClr>
              <a:buSzPts val="2750"/>
              <a:buFont typeface="Arial"/>
              <a:buChar char="–"/>
            </a:pPr>
            <a:r>
              <a:rPr lang="en-US" sz="2750" b="0" i="0" u="none" strike="noStrike" cap="none">
                <a:solidFill>
                  <a:srgbClr val="000000"/>
                </a:solidFill>
                <a:latin typeface="Calibri"/>
                <a:ea typeface="Calibri"/>
                <a:cs typeface="Calibri"/>
                <a:sym typeface="Calibri"/>
              </a:rPr>
              <a:t>Next, will generalize to convolutional neural 	networks</a:t>
            </a:r>
            <a:endParaRPr sz="2750" b="0" i="0" u="none" strike="noStrike" cap="none">
              <a:solidFill>
                <a:srgbClr val="000000"/>
              </a:solidFill>
              <a:latin typeface="Calibri"/>
              <a:ea typeface="Calibri"/>
              <a:cs typeface="Calibri"/>
              <a:sym typeface="Calibri"/>
            </a:endParaRPr>
          </a:p>
          <a:p>
            <a:pPr marL="355600" marR="0" lvl="0" indent="-342900" algn="l" rtl="0">
              <a:lnSpc>
                <a:spcPct val="100000"/>
              </a:lnSpc>
              <a:spcBef>
                <a:spcPts val="76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Find W and b to minimize loss</a:t>
            </a:r>
            <a:endParaRPr sz="3200" b="0" i="0" u="none" strike="noStrike" cap="none">
              <a:solidFill>
                <a:srgbClr val="000000"/>
              </a:solidFill>
              <a:latin typeface="Calibri"/>
              <a:ea typeface="Calibri"/>
              <a:cs typeface="Calibri"/>
              <a:sym typeface="Calibri"/>
            </a:endParaRPr>
          </a:p>
        </p:txBody>
      </p:sp>
      <p:pic>
        <p:nvPicPr>
          <p:cNvPr id="539" name="Google Shape;539;g3292fd40077_1_492"/>
          <p:cNvPicPr preferRelativeResize="0"/>
          <p:nvPr/>
        </p:nvPicPr>
        <p:blipFill rotWithShape="1">
          <a:blip r:embed="rId3">
            <a:alphaModFix/>
          </a:blip>
          <a:srcRect/>
          <a:stretch/>
        </p:blipFill>
        <p:spPr>
          <a:xfrm>
            <a:off x="1775480" y="4589689"/>
            <a:ext cx="4791965" cy="91984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g2b8b5137f2c_0_280"/>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Transformer Blocks  | Transformers</a:t>
            </a:r>
            <a:endParaRPr>
              <a:latin typeface="Proxima Nova"/>
              <a:ea typeface="Proxima Nova"/>
              <a:cs typeface="Proxima Nova"/>
              <a:sym typeface="Proxima Nova"/>
            </a:endParaRPr>
          </a:p>
        </p:txBody>
      </p:sp>
      <p:sp>
        <p:nvSpPr>
          <p:cNvPr id="546" name="Google Shape;546;g2b8b5137f2c_0_28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28</a:t>
            </a:fld>
            <a:endParaRPr/>
          </a:p>
        </p:txBody>
      </p:sp>
      <p:pic>
        <p:nvPicPr>
          <p:cNvPr id="547" name="Google Shape;547;g2b8b5137f2c_0_280"/>
          <p:cNvPicPr preferRelativeResize="0"/>
          <p:nvPr/>
        </p:nvPicPr>
        <p:blipFill rotWithShape="1">
          <a:blip r:embed="rId3">
            <a:alphaModFix/>
          </a:blip>
          <a:srcRect/>
          <a:stretch/>
        </p:blipFill>
        <p:spPr>
          <a:xfrm>
            <a:off x="152400" y="1316726"/>
            <a:ext cx="7402273" cy="5160274"/>
          </a:xfrm>
          <a:prstGeom prst="rect">
            <a:avLst/>
          </a:prstGeom>
          <a:noFill/>
          <a:ln>
            <a:noFill/>
          </a:ln>
        </p:spPr>
      </p:pic>
      <p:pic>
        <p:nvPicPr>
          <p:cNvPr id="548" name="Google Shape;548;g2b8b5137f2c_0_280"/>
          <p:cNvPicPr preferRelativeResize="0"/>
          <p:nvPr/>
        </p:nvPicPr>
        <p:blipFill rotWithShape="1">
          <a:blip r:embed="rId4">
            <a:alphaModFix/>
          </a:blip>
          <a:srcRect/>
          <a:stretch/>
        </p:blipFill>
        <p:spPr>
          <a:xfrm>
            <a:off x="7696850" y="1258496"/>
            <a:ext cx="4386724" cy="886550"/>
          </a:xfrm>
          <a:prstGeom prst="rect">
            <a:avLst/>
          </a:prstGeom>
          <a:noFill/>
          <a:ln>
            <a:noFill/>
          </a:ln>
        </p:spPr>
      </p:pic>
      <p:sp>
        <p:nvSpPr>
          <p:cNvPr id="549" name="Google Shape;549;g2b8b5137f2c_0_280"/>
          <p:cNvSpPr txBox="1"/>
          <p:nvPr/>
        </p:nvSpPr>
        <p:spPr>
          <a:xfrm>
            <a:off x="7696850" y="2289025"/>
            <a:ext cx="1532100" cy="477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US" sz="1900" b="1" i="0" u="sng" strike="noStrike" cap="none">
                <a:solidFill>
                  <a:srgbClr val="000000"/>
                </a:solidFill>
                <a:highlight>
                  <a:srgbClr val="FFFF00"/>
                </a:highlight>
                <a:latin typeface="Calibri"/>
                <a:ea typeface="Calibri"/>
                <a:cs typeface="Calibri"/>
                <a:sym typeface="Calibri"/>
              </a:rPr>
              <a:t>LayerNorm: </a:t>
            </a:r>
            <a:endParaRPr sz="1900" b="1" i="0" u="sng" strike="noStrike" cap="none">
              <a:solidFill>
                <a:srgbClr val="000000"/>
              </a:solidFill>
              <a:highlight>
                <a:srgbClr val="FFFF00"/>
              </a:highlight>
              <a:latin typeface="Calibri"/>
              <a:ea typeface="Calibri"/>
              <a:cs typeface="Calibri"/>
              <a:sym typeface="Calibri"/>
            </a:endParaRPr>
          </a:p>
        </p:txBody>
      </p:sp>
      <p:pic>
        <p:nvPicPr>
          <p:cNvPr id="550" name="Google Shape;550;g2b8b5137f2c_0_280"/>
          <p:cNvPicPr preferRelativeResize="0"/>
          <p:nvPr/>
        </p:nvPicPr>
        <p:blipFill rotWithShape="1">
          <a:blip r:embed="rId5">
            <a:alphaModFix/>
          </a:blip>
          <a:srcRect/>
          <a:stretch/>
        </p:blipFill>
        <p:spPr>
          <a:xfrm>
            <a:off x="7707075" y="2918425"/>
            <a:ext cx="2516075" cy="1756800"/>
          </a:xfrm>
          <a:prstGeom prst="rect">
            <a:avLst/>
          </a:prstGeom>
          <a:noFill/>
          <a:ln>
            <a:noFill/>
          </a:ln>
        </p:spPr>
      </p:pic>
      <p:pic>
        <p:nvPicPr>
          <p:cNvPr id="551" name="Google Shape;551;g2b8b5137f2c_0_280"/>
          <p:cNvPicPr preferRelativeResize="0"/>
          <p:nvPr/>
        </p:nvPicPr>
        <p:blipFill rotWithShape="1">
          <a:blip r:embed="rId6">
            <a:alphaModFix/>
          </a:blip>
          <a:srcRect/>
          <a:stretch/>
        </p:blipFill>
        <p:spPr>
          <a:xfrm>
            <a:off x="7788512" y="4827625"/>
            <a:ext cx="1348775" cy="658700"/>
          </a:xfrm>
          <a:prstGeom prst="rect">
            <a:avLst/>
          </a:prstGeom>
          <a:noFill/>
          <a:ln>
            <a:noFill/>
          </a:ln>
        </p:spPr>
      </p:pic>
      <p:pic>
        <p:nvPicPr>
          <p:cNvPr id="552" name="Google Shape;552;g2b8b5137f2c_0_280"/>
          <p:cNvPicPr preferRelativeResize="0"/>
          <p:nvPr/>
        </p:nvPicPr>
        <p:blipFill rotWithShape="1">
          <a:blip r:embed="rId7">
            <a:alphaModFix/>
          </a:blip>
          <a:srcRect/>
          <a:stretch/>
        </p:blipFill>
        <p:spPr>
          <a:xfrm>
            <a:off x="7707073" y="5638725"/>
            <a:ext cx="2884098" cy="5652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g2b8b5137f2c_0_292"/>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Multihead-Attention  | Transformers</a:t>
            </a:r>
            <a:endParaRPr>
              <a:latin typeface="Proxima Nova"/>
              <a:ea typeface="Proxima Nova"/>
              <a:cs typeface="Proxima Nova"/>
              <a:sym typeface="Proxima Nova"/>
            </a:endParaRPr>
          </a:p>
        </p:txBody>
      </p:sp>
      <p:sp>
        <p:nvSpPr>
          <p:cNvPr id="559" name="Google Shape;559;g2b8b5137f2c_0_29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29</a:t>
            </a:fld>
            <a:endParaRPr/>
          </a:p>
        </p:txBody>
      </p:sp>
      <p:sp>
        <p:nvSpPr>
          <p:cNvPr id="560" name="Google Shape;560;g2b8b5137f2c_0_292"/>
          <p:cNvSpPr txBox="1">
            <a:spLocks noGrp="1"/>
          </p:cNvSpPr>
          <p:nvPr>
            <p:ph type="body" idx="1"/>
          </p:nvPr>
        </p:nvSpPr>
        <p:spPr>
          <a:xfrm>
            <a:off x="838200" y="1632850"/>
            <a:ext cx="10880400" cy="4256100"/>
          </a:xfrm>
          <a:prstGeom prst="rect">
            <a:avLst/>
          </a:prstGeom>
          <a:noFill/>
          <a:ln>
            <a:noFill/>
          </a:ln>
        </p:spPr>
        <p:txBody>
          <a:bodyPr spcFirstLastPara="1" wrap="square" lIns="91425" tIns="45700" rIns="91425" bIns="45700" anchor="t" anchorCtr="0">
            <a:normAutofit/>
          </a:bodyPr>
          <a:lstStyle/>
          <a:p>
            <a:pPr marL="457200" lvl="0" indent="-387350" algn="l" rtl="0">
              <a:lnSpc>
                <a:spcPct val="100000"/>
              </a:lnSpc>
              <a:spcBef>
                <a:spcPts val="1000"/>
              </a:spcBef>
              <a:spcAft>
                <a:spcPts val="0"/>
              </a:spcAft>
              <a:buSzPts val="2500"/>
              <a:buFont typeface="Proxima Nova"/>
              <a:buChar char="•"/>
            </a:pPr>
            <a:r>
              <a:rPr lang="en-US" sz="2500">
                <a:latin typeface="Proxima Nova"/>
                <a:ea typeface="Proxima Nova"/>
                <a:cs typeface="Proxima Nova"/>
                <a:sym typeface="Proxima Nova"/>
              </a:rPr>
              <a:t>Different words in a sentence can relate to each other in many different ways simultaneously</a:t>
            </a:r>
            <a:endParaRPr sz="2500">
              <a:latin typeface="Proxima Nova"/>
              <a:ea typeface="Proxima Nova"/>
              <a:cs typeface="Proxima Nova"/>
              <a:sym typeface="Proxima Nova"/>
            </a:endParaRPr>
          </a:p>
          <a:p>
            <a:pPr marL="1371600" lvl="0" indent="0" algn="l" rtl="0">
              <a:lnSpc>
                <a:spcPct val="100000"/>
              </a:lnSpc>
              <a:spcBef>
                <a:spcPts val="1000"/>
              </a:spcBef>
              <a:spcAft>
                <a:spcPts val="0"/>
              </a:spcAft>
              <a:buSzPts val="2800"/>
              <a:buNone/>
            </a:pPr>
            <a:r>
              <a:rPr lang="en-US" sz="2100">
                <a:latin typeface="Proxima Nova"/>
                <a:ea typeface="Proxima Nova"/>
                <a:cs typeface="Proxima Nova"/>
                <a:sym typeface="Proxima Nova"/>
              </a:rPr>
              <a:t>&gt;&gt; A single transformer block to learn to capture all of the different kinds of parallel relations among its inputs is inadequate. </a:t>
            </a:r>
            <a:endParaRPr sz="2100">
              <a:latin typeface="Proxima Nova"/>
              <a:ea typeface="Proxima Nova"/>
              <a:cs typeface="Proxima Nova"/>
              <a:sym typeface="Proxima Nova"/>
            </a:endParaRPr>
          </a:p>
          <a:p>
            <a:pPr marL="457200" lvl="0" indent="-387350" algn="l" rtl="0">
              <a:lnSpc>
                <a:spcPct val="100000"/>
              </a:lnSpc>
              <a:spcBef>
                <a:spcPts val="1000"/>
              </a:spcBef>
              <a:spcAft>
                <a:spcPts val="0"/>
              </a:spcAft>
              <a:buSzPts val="2500"/>
              <a:buFont typeface="Proxima Nova"/>
              <a:buChar char="•"/>
            </a:pPr>
            <a:r>
              <a:rPr lang="en-US" sz="2500">
                <a:highlight>
                  <a:srgbClr val="FF9900"/>
                </a:highlight>
                <a:latin typeface="Proxima Nova"/>
                <a:ea typeface="Proxima Nova"/>
                <a:cs typeface="Proxima Nova"/>
                <a:sym typeface="Proxima Nova"/>
              </a:rPr>
              <a:t>Multi</a:t>
            </a:r>
            <a:r>
              <a:rPr lang="en-US" sz="2500">
                <a:highlight>
                  <a:srgbClr val="FFFF00"/>
                </a:highlight>
                <a:latin typeface="Proxima Nova"/>
                <a:ea typeface="Proxima Nova"/>
                <a:cs typeface="Proxima Nova"/>
                <a:sym typeface="Proxima Nova"/>
              </a:rPr>
              <a:t>head</a:t>
            </a:r>
            <a:r>
              <a:rPr lang="en-US" sz="2500">
                <a:latin typeface="Proxima Nova"/>
                <a:ea typeface="Proxima Nova"/>
                <a:cs typeface="Proxima Nova"/>
                <a:sym typeface="Proxima Nova"/>
              </a:rPr>
              <a:t> self-attention layers</a:t>
            </a:r>
            <a:endParaRPr sz="2500">
              <a:latin typeface="Proxima Nova"/>
              <a:ea typeface="Proxima Nova"/>
              <a:cs typeface="Proxima Nova"/>
              <a:sym typeface="Proxima Nova"/>
            </a:endParaRPr>
          </a:p>
          <a:p>
            <a:pPr marL="1371600" lvl="0" indent="0" algn="l" rtl="0">
              <a:lnSpc>
                <a:spcPct val="100000"/>
              </a:lnSpc>
              <a:spcBef>
                <a:spcPts val="1000"/>
              </a:spcBef>
              <a:spcAft>
                <a:spcPts val="0"/>
              </a:spcAft>
              <a:buSzPts val="2800"/>
              <a:buNone/>
            </a:pPr>
            <a:r>
              <a:rPr lang="en-US" sz="1900">
                <a:latin typeface="Proxima Nova"/>
                <a:ea typeface="Proxima Nova"/>
                <a:cs typeface="Proxima Nova"/>
                <a:sym typeface="Proxima Nova"/>
              </a:rPr>
              <a:t>&gt;</a:t>
            </a:r>
            <a:r>
              <a:rPr lang="en-US" sz="2100">
                <a:latin typeface="Proxima Nova"/>
                <a:ea typeface="Proxima Nova"/>
                <a:cs typeface="Proxima Nova"/>
                <a:sym typeface="Proxima Nova"/>
              </a:rPr>
              <a:t>&gt; </a:t>
            </a:r>
            <a:r>
              <a:rPr lang="en-US" sz="2100">
                <a:highlight>
                  <a:srgbClr val="FFFF00"/>
                </a:highlight>
                <a:latin typeface="Proxima Nova"/>
                <a:ea typeface="Proxima Nova"/>
                <a:cs typeface="Proxima Nova"/>
                <a:sym typeface="Proxima Nova"/>
              </a:rPr>
              <a:t>Heads</a:t>
            </a:r>
            <a:r>
              <a:rPr lang="en-US" sz="2100">
                <a:latin typeface="Proxima Nova"/>
                <a:ea typeface="Proxima Nova"/>
                <a:cs typeface="Proxima Nova"/>
                <a:sym typeface="Proxima Nova"/>
              </a:rPr>
              <a:t> ⇒ sets of self-attention layers, that reside in parallel layers at the same depth in a model, each with its own set of parameters.</a:t>
            </a:r>
            <a:endParaRPr sz="2100">
              <a:latin typeface="Proxima Nova"/>
              <a:ea typeface="Proxima Nova"/>
              <a:cs typeface="Proxima Nova"/>
              <a:sym typeface="Proxima Nova"/>
            </a:endParaRPr>
          </a:p>
          <a:p>
            <a:pPr marL="1371600" lvl="0" indent="0" algn="l" rtl="0">
              <a:lnSpc>
                <a:spcPct val="100000"/>
              </a:lnSpc>
              <a:spcBef>
                <a:spcPts val="1000"/>
              </a:spcBef>
              <a:spcAft>
                <a:spcPts val="0"/>
              </a:spcAft>
              <a:buSzPts val="2800"/>
              <a:buNone/>
            </a:pPr>
            <a:r>
              <a:rPr lang="en-US" sz="2100">
                <a:latin typeface="Proxima Nova"/>
                <a:ea typeface="Proxima Nova"/>
                <a:cs typeface="Proxima Nova"/>
                <a:sym typeface="Proxima Nova"/>
              </a:rPr>
              <a:t>&gt;&gt; Each head learn different aspects of the relationships that exist among inputs at the same level of abstraction</a:t>
            </a:r>
            <a:endParaRPr sz="2100">
              <a:latin typeface="Proxima Nova"/>
              <a:ea typeface="Proxima Nova"/>
              <a:cs typeface="Proxima Nova"/>
              <a:sym typeface="Proxima Nov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g2b8b5137f2c_0_299"/>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Multihead-Attention  | Transformers</a:t>
            </a:r>
            <a:endParaRPr sz="4000" b="1"/>
          </a:p>
        </p:txBody>
      </p:sp>
      <p:sp>
        <p:nvSpPr>
          <p:cNvPr id="567" name="Google Shape;567;g2b8b5137f2c_0_29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30</a:t>
            </a:fld>
            <a:endParaRPr/>
          </a:p>
        </p:txBody>
      </p:sp>
      <p:sp>
        <p:nvSpPr>
          <p:cNvPr id="568" name="Google Shape;568;g2b8b5137f2c_0_299"/>
          <p:cNvSpPr txBox="1">
            <a:spLocks noGrp="1"/>
          </p:cNvSpPr>
          <p:nvPr>
            <p:ph type="body" idx="1"/>
          </p:nvPr>
        </p:nvSpPr>
        <p:spPr>
          <a:xfrm>
            <a:off x="838200" y="1632850"/>
            <a:ext cx="10880400" cy="4256100"/>
          </a:xfrm>
          <a:prstGeom prst="rect">
            <a:avLst/>
          </a:prstGeom>
          <a:noFill/>
          <a:ln>
            <a:noFill/>
          </a:ln>
        </p:spPr>
        <p:txBody>
          <a:bodyPr spcFirstLastPara="1" wrap="square" lIns="91425" tIns="45700" rIns="91425" bIns="45700" anchor="t" anchorCtr="0">
            <a:normAutofit/>
          </a:bodyPr>
          <a:lstStyle/>
          <a:p>
            <a:pPr marL="457200" lvl="0" indent="-387350" algn="l" rtl="0">
              <a:lnSpc>
                <a:spcPct val="100000"/>
              </a:lnSpc>
              <a:spcBef>
                <a:spcPts val="1000"/>
              </a:spcBef>
              <a:spcAft>
                <a:spcPts val="0"/>
              </a:spcAft>
              <a:buSzPts val="2500"/>
              <a:buFont typeface="Proxima Nova"/>
              <a:buChar char="•"/>
            </a:pPr>
            <a:r>
              <a:rPr lang="en-US" sz="2500">
                <a:latin typeface="Proxima Nova"/>
                <a:ea typeface="Proxima Nova"/>
                <a:cs typeface="Proxima Nova"/>
                <a:sym typeface="Proxima Nova"/>
              </a:rPr>
              <a:t>Different words in a sentence can relate to each other in many different ways simultaneously</a:t>
            </a:r>
            <a:endParaRPr sz="2500">
              <a:latin typeface="Proxima Nova"/>
              <a:ea typeface="Proxima Nova"/>
              <a:cs typeface="Proxima Nova"/>
              <a:sym typeface="Proxima Nova"/>
            </a:endParaRPr>
          </a:p>
          <a:p>
            <a:pPr marL="1371600" lvl="0" indent="0" algn="l" rtl="0">
              <a:lnSpc>
                <a:spcPct val="100000"/>
              </a:lnSpc>
              <a:spcBef>
                <a:spcPts val="1000"/>
              </a:spcBef>
              <a:spcAft>
                <a:spcPts val="0"/>
              </a:spcAft>
              <a:buSzPts val="2800"/>
              <a:buNone/>
            </a:pPr>
            <a:r>
              <a:rPr lang="en-US" sz="2100">
                <a:latin typeface="Proxima Nova"/>
                <a:ea typeface="Proxima Nova"/>
                <a:cs typeface="Proxima Nova"/>
                <a:sym typeface="Proxima Nova"/>
              </a:rPr>
              <a:t>&gt;&gt; A single transformer block to learn to capture all of the different kinds of parallel relations among its inputs is inadequate. </a:t>
            </a:r>
            <a:endParaRPr sz="2100">
              <a:latin typeface="Proxima Nova"/>
              <a:ea typeface="Proxima Nova"/>
              <a:cs typeface="Proxima Nova"/>
              <a:sym typeface="Proxima Nova"/>
            </a:endParaRPr>
          </a:p>
          <a:p>
            <a:pPr marL="457200" lvl="0" indent="-387350" algn="l" rtl="0">
              <a:lnSpc>
                <a:spcPct val="100000"/>
              </a:lnSpc>
              <a:spcBef>
                <a:spcPts val="1000"/>
              </a:spcBef>
              <a:spcAft>
                <a:spcPts val="0"/>
              </a:spcAft>
              <a:buSzPts val="2500"/>
              <a:buFont typeface="Proxima Nova"/>
              <a:buChar char="•"/>
            </a:pPr>
            <a:r>
              <a:rPr lang="en-US" sz="2500">
                <a:highlight>
                  <a:srgbClr val="FF9900"/>
                </a:highlight>
                <a:latin typeface="Proxima Nova"/>
                <a:ea typeface="Proxima Nova"/>
                <a:cs typeface="Proxima Nova"/>
                <a:sym typeface="Proxima Nova"/>
              </a:rPr>
              <a:t>Multi</a:t>
            </a:r>
            <a:r>
              <a:rPr lang="en-US" sz="2500">
                <a:highlight>
                  <a:srgbClr val="FFFF00"/>
                </a:highlight>
                <a:latin typeface="Proxima Nova"/>
                <a:ea typeface="Proxima Nova"/>
                <a:cs typeface="Proxima Nova"/>
                <a:sym typeface="Proxima Nova"/>
              </a:rPr>
              <a:t>head</a:t>
            </a:r>
            <a:r>
              <a:rPr lang="en-US" sz="2500">
                <a:latin typeface="Proxima Nova"/>
                <a:ea typeface="Proxima Nova"/>
                <a:cs typeface="Proxima Nova"/>
                <a:sym typeface="Proxima Nova"/>
              </a:rPr>
              <a:t> self-attention layers</a:t>
            </a:r>
            <a:endParaRPr sz="2500">
              <a:latin typeface="Proxima Nova"/>
              <a:ea typeface="Proxima Nova"/>
              <a:cs typeface="Proxima Nova"/>
              <a:sym typeface="Proxima Nova"/>
            </a:endParaRPr>
          </a:p>
          <a:p>
            <a:pPr marL="1371600" lvl="0" indent="0" algn="l" rtl="0">
              <a:lnSpc>
                <a:spcPct val="100000"/>
              </a:lnSpc>
              <a:spcBef>
                <a:spcPts val="1000"/>
              </a:spcBef>
              <a:spcAft>
                <a:spcPts val="0"/>
              </a:spcAft>
              <a:buSzPts val="2800"/>
              <a:buNone/>
            </a:pPr>
            <a:r>
              <a:rPr lang="en-US" sz="1900">
                <a:latin typeface="Proxima Nova"/>
                <a:ea typeface="Proxima Nova"/>
                <a:cs typeface="Proxima Nova"/>
                <a:sym typeface="Proxima Nova"/>
              </a:rPr>
              <a:t>&gt;</a:t>
            </a:r>
            <a:r>
              <a:rPr lang="en-US" sz="2100">
                <a:latin typeface="Proxima Nova"/>
                <a:ea typeface="Proxima Nova"/>
                <a:cs typeface="Proxima Nova"/>
                <a:sym typeface="Proxima Nova"/>
              </a:rPr>
              <a:t>&gt; </a:t>
            </a:r>
            <a:r>
              <a:rPr lang="en-US" sz="2100">
                <a:highlight>
                  <a:srgbClr val="FFFF00"/>
                </a:highlight>
                <a:latin typeface="Proxima Nova"/>
                <a:ea typeface="Proxima Nova"/>
                <a:cs typeface="Proxima Nova"/>
                <a:sym typeface="Proxima Nova"/>
              </a:rPr>
              <a:t>Heads</a:t>
            </a:r>
            <a:r>
              <a:rPr lang="en-US" sz="2100">
                <a:latin typeface="Proxima Nova"/>
                <a:ea typeface="Proxima Nova"/>
                <a:cs typeface="Proxima Nova"/>
                <a:sym typeface="Proxima Nova"/>
              </a:rPr>
              <a:t> ⇒ sets of self-attention layers, that reside in parallel layers at the same depth in a model, each with its own set of parameters.</a:t>
            </a:r>
            <a:endParaRPr sz="2100">
              <a:latin typeface="Proxima Nova"/>
              <a:ea typeface="Proxima Nova"/>
              <a:cs typeface="Proxima Nova"/>
              <a:sym typeface="Proxima Nova"/>
            </a:endParaRPr>
          </a:p>
          <a:p>
            <a:pPr marL="1371600" lvl="0" indent="0" algn="l" rtl="0">
              <a:lnSpc>
                <a:spcPct val="100000"/>
              </a:lnSpc>
              <a:spcBef>
                <a:spcPts val="1000"/>
              </a:spcBef>
              <a:spcAft>
                <a:spcPts val="0"/>
              </a:spcAft>
              <a:buSzPts val="2800"/>
              <a:buNone/>
            </a:pPr>
            <a:r>
              <a:rPr lang="en-US" sz="2100">
                <a:latin typeface="Proxima Nova"/>
                <a:ea typeface="Proxima Nova"/>
                <a:cs typeface="Proxima Nova"/>
                <a:sym typeface="Proxima Nova"/>
              </a:rPr>
              <a:t>&gt;&gt; Each head learn different aspects of the relationships that exist among inputs at the same level of abstraction</a:t>
            </a:r>
            <a:endParaRPr sz="2100">
              <a:latin typeface="Proxima Nova"/>
              <a:ea typeface="Proxima Nova"/>
              <a:cs typeface="Proxima Nova"/>
              <a:sym typeface="Proxima Nova"/>
            </a:endParaRPr>
          </a:p>
        </p:txBody>
      </p:sp>
      <p:pic>
        <p:nvPicPr>
          <p:cNvPr id="569" name="Google Shape;569;g2b8b5137f2c_0_299"/>
          <p:cNvPicPr preferRelativeResize="0"/>
          <p:nvPr/>
        </p:nvPicPr>
        <p:blipFill rotWithShape="1">
          <a:blip r:embed="rId3">
            <a:alphaModFix/>
          </a:blip>
          <a:srcRect/>
          <a:stretch/>
        </p:blipFill>
        <p:spPr>
          <a:xfrm>
            <a:off x="3126250" y="5476923"/>
            <a:ext cx="6458551" cy="12445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g2b8b5137f2c_0_307"/>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Multihead-Attention  | Transformers</a:t>
            </a:r>
            <a:endParaRPr sz="4000" b="1"/>
          </a:p>
        </p:txBody>
      </p:sp>
      <p:sp>
        <p:nvSpPr>
          <p:cNvPr id="576" name="Google Shape;576;g2b8b5137f2c_0_30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31</a:t>
            </a:fld>
            <a:endParaRPr/>
          </a:p>
        </p:txBody>
      </p:sp>
      <p:pic>
        <p:nvPicPr>
          <p:cNvPr id="577" name="Google Shape;577;g2b8b5137f2c_0_307"/>
          <p:cNvPicPr preferRelativeResize="0"/>
          <p:nvPr/>
        </p:nvPicPr>
        <p:blipFill rotWithShape="1">
          <a:blip r:embed="rId3">
            <a:alphaModFix/>
          </a:blip>
          <a:srcRect/>
          <a:stretch/>
        </p:blipFill>
        <p:spPr>
          <a:xfrm>
            <a:off x="1781600" y="1211625"/>
            <a:ext cx="8552576" cy="4647900"/>
          </a:xfrm>
          <a:prstGeom prst="rect">
            <a:avLst/>
          </a:prstGeom>
          <a:noFill/>
          <a:ln>
            <a:noFill/>
          </a:ln>
        </p:spPr>
      </p:pic>
      <p:sp>
        <p:nvSpPr>
          <p:cNvPr id="578" name="Google Shape;578;g2b8b5137f2c_0_307"/>
          <p:cNvSpPr txBox="1"/>
          <p:nvPr/>
        </p:nvSpPr>
        <p:spPr>
          <a:xfrm>
            <a:off x="105200" y="5829675"/>
            <a:ext cx="11304600" cy="87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500" b="0" i="0" u="none" strike="noStrike" cap="none">
                <a:solidFill>
                  <a:srgbClr val="CC0000"/>
                </a:solidFill>
                <a:highlight>
                  <a:srgbClr val="FFFF00"/>
                </a:highlight>
                <a:latin typeface="Proxima Nova"/>
                <a:ea typeface="Proxima Nova"/>
                <a:cs typeface="Proxima Nova"/>
                <a:sym typeface="Proxima Nova"/>
              </a:rPr>
              <a:t>Each of the multihead self-attention layers is provided with its own set of key, query and value weight matrices. </a:t>
            </a:r>
            <a:endParaRPr sz="1500" b="0" i="0" u="none" strike="noStrike" cap="none">
              <a:solidFill>
                <a:srgbClr val="CC0000"/>
              </a:solidFill>
              <a:highlight>
                <a:srgbClr val="FFFF00"/>
              </a:highlight>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600"/>
              <a:buFont typeface="Arial"/>
              <a:buNone/>
            </a:pPr>
            <a:r>
              <a:rPr lang="en-US" sz="1500" b="0" i="0" u="none" strike="noStrike" cap="none">
                <a:solidFill>
                  <a:srgbClr val="CC0000"/>
                </a:solidFill>
                <a:highlight>
                  <a:srgbClr val="FFFF00"/>
                </a:highlight>
                <a:latin typeface="Proxima Nova"/>
                <a:ea typeface="Proxima Nova"/>
                <a:cs typeface="Proxima Nova"/>
                <a:sym typeface="Proxima Nova"/>
              </a:rPr>
              <a:t>The outputs from each of the layers are concatenated and then projected down to d, thus producing an output of the same size as the input so layers can be stacked.</a:t>
            </a:r>
            <a:endParaRPr sz="1500" b="0" i="0" u="none" strike="noStrike" cap="none">
              <a:solidFill>
                <a:srgbClr val="CC0000"/>
              </a:solidFill>
              <a:highlight>
                <a:srgbClr val="FFFF00"/>
              </a:highlight>
              <a:latin typeface="Proxima Nova"/>
              <a:ea typeface="Proxima Nova"/>
              <a:cs typeface="Proxima Nova"/>
              <a:sym typeface="Proxima Nov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g2b8b5137f2c_0_315"/>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Positional Embeddings | Transformers</a:t>
            </a:r>
            <a:endParaRPr>
              <a:latin typeface="Proxima Nova"/>
              <a:ea typeface="Proxima Nova"/>
              <a:cs typeface="Proxima Nova"/>
              <a:sym typeface="Proxima Nova"/>
            </a:endParaRPr>
          </a:p>
        </p:txBody>
      </p:sp>
      <p:sp>
        <p:nvSpPr>
          <p:cNvPr id="585" name="Google Shape;585;g2b8b5137f2c_0_3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32</a:t>
            </a:fld>
            <a:endParaRPr/>
          </a:p>
        </p:txBody>
      </p:sp>
      <p:pic>
        <p:nvPicPr>
          <p:cNvPr id="586" name="Google Shape;586;g2b8b5137f2c_0_315"/>
          <p:cNvPicPr preferRelativeResize="0"/>
          <p:nvPr/>
        </p:nvPicPr>
        <p:blipFill rotWithShape="1">
          <a:blip r:embed="rId3">
            <a:alphaModFix/>
          </a:blip>
          <a:srcRect/>
          <a:stretch/>
        </p:blipFill>
        <p:spPr>
          <a:xfrm>
            <a:off x="152400" y="1545326"/>
            <a:ext cx="7658439" cy="5160273"/>
          </a:xfrm>
          <a:prstGeom prst="rect">
            <a:avLst/>
          </a:prstGeom>
          <a:noFill/>
          <a:ln>
            <a:noFill/>
          </a:ln>
        </p:spPr>
      </p:pic>
      <p:sp>
        <p:nvSpPr>
          <p:cNvPr id="587" name="Google Shape;587;g2b8b5137f2c_0_315"/>
          <p:cNvSpPr txBox="1"/>
          <p:nvPr/>
        </p:nvSpPr>
        <p:spPr>
          <a:xfrm>
            <a:off x="7168175" y="3510900"/>
            <a:ext cx="4910100" cy="1108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000000"/>
                </a:solidFill>
                <a:highlight>
                  <a:srgbClr val="FFFF00"/>
                </a:highlight>
                <a:latin typeface="Proxima Nova"/>
                <a:ea typeface="Proxima Nova"/>
                <a:cs typeface="Proxima Nova"/>
                <a:sym typeface="Proxima Nova"/>
              </a:rPr>
              <a:t>A simple way to model position</a:t>
            </a:r>
            <a:r>
              <a:rPr lang="en-US" sz="1500" b="0" i="0" u="none" strike="noStrike" cap="none">
                <a:solidFill>
                  <a:srgbClr val="000000"/>
                </a:solidFill>
                <a:latin typeface="Proxima Nova"/>
                <a:ea typeface="Proxima Nova"/>
                <a:cs typeface="Proxima Nova"/>
                <a:sym typeface="Proxima Nova"/>
              </a:rPr>
              <a:t>: </a:t>
            </a:r>
            <a:endParaRPr sz="1500" b="0" i="0" u="none" strike="noStrike" cap="none">
              <a:solidFill>
                <a:srgbClr val="000000"/>
              </a:solidFill>
              <a:latin typeface="Proxima Nova"/>
              <a:ea typeface="Proxima Nova"/>
              <a:cs typeface="Proxima Nova"/>
              <a:sym typeface="Proxima Nova"/>
            </a:endParaRPr>
          </a:p>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000000"/>
                </a:solidFill>
                <a:latin typeface="Proxima Nova"/>
                <a:ea typeface="Proxima Nova"/>
                <a:cs typeface="Proxima Nova"/>
                <a:sym typeface="Proxima Nova"/>
              </a:rPr>
              <a:t>Add an embedding representation of the absolute position to the input word embedding to produce a new embedding of the same dimensionality.</a:t>
            </a:r>
            <a:endParaRPr sz="1500" b="0" i="0" u="none" strike="noStrike" cap="none">
              <a:solidFill>
                <a:srgbClr val="000000"/>
              </a:solidFill>
              <a:latin typeface="Proxima Nova"/>
              <a:ea typeface="Proxima Nova"/>
              <a:cs typeface="Proxima Nova"/>
              <a:sym typeface="Proxima Nova"/>
            </a:endParaRPr>
          </a:p>
        </p:txBody>
      </p:sp>
      <p:sp>
        <p:nvSpPr>
          <p:cNvPr id="588" name="Google Shape;588;g2b8b5137f2c_0_315"/>
          <p:cNvSpPr txBox="1"/>
          <p:nvPr/>
        </p:nvSpPr>
        <p:spPr>
          <a:xfrm>
            <a:off x="7386925" y="4815175"/>
            <a:ext cx="4486800" cy="831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highlight>
                  <a:srgbClr val="FF9900"/>
                </a:highlight>
                <a:latin typeface="Proxima Nova"/>
                <a:ea typeface="Proxima Nova"/>
                <a:cs typeface="Proxima Nova"/>
                <a:sym typeface="Proxima Nova"/>
              </a:rPr>
              <a:t>A combination of sine and cosine functions with differing frequencies was used in the original transformer work.</a:t>
            </a:r>
            <a:endParaRPr sz="1400" b="0" i="0" u="none" strike="noStrike" cap="none">
              <a:solidFill>
                <a:srgbClr val="000000"/>
              </a:solidFill>
              <a:highlight>
                <a:srgbClr val="FF9900"/>
              </a:highlight>
              <a:latin typeface="Proxima Nova"/>
              <a:ea typeface="Proxima Nova"/>
              <a:cs typeface="Proxima Nova"/>
              <a:sym typeface="Proxima Nov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g2b8b5137f2c_0_324"/>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a:t>
            </a:r>
            <a:r>
              <a:rPr lang="en-US">
                <a:solidFill>
                  <a:srgbClr val="980000"/>
                </a:solidFill>
                <a:latin typeface="Proxima Nova"/>
                <a:ea typeface="Proxima Nova"/>
                <a:cs typeface="Proxima Nova"/>
                <a:sym typeface="Proxima Nova"/>
              </a:rPr>
              <a:t>Review</a:t>
            </a:r>
            <a:r>
              <a:rPr lang="en-US">
                <a:latin typeface="Proxima Nova"/>
                <a:ea typeface="Proxima Nova"/>
                <a:cs typeface="Proxima Nova"/>
                <a:sym typeface="Proxima Nova"/>
              </a:rPr>
              <a:t>) Transformers as Language Models</a:t>
            </a:r>
            <a:endParaRPr>
              <a:latin typeface="Proxima Nova"/>
              <a:ea typeface="Proxima Nova"/>
              <a:cs typeface="Proxima Nova"/>
              <a:sym typeface="Proxima Nova"/>
            </a:endParaRPr>
          </a:p>
        </p:txBody>
      </p:sp>
      <p:sp>
        <p:nvSpPr>
          <p:cNvPr id="595" name="Google Shape;595;g2b8b5137f2c_0_32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33</a:t>
            </a:fld>
            <a:endParaRPr/>
          </a:p>
        </p:txBody>
      </p:sp>
      <p:pic>
        <p:nvPicPr>
          <p:cNvPr id="596" name="Google Shape;596;g2b8b5137f2c_0_324"/>
          <p:cNvPicPr preferRelativeResize="0"/>
          <p:nvPr/>
        </p:nvPicPr>
        <p:blipFill rotWithShape="1">
          <a:blip r:embed="rId3">
            <a:alphaModFix/>
          </a:blip>
          <a:srcRect/>
          <a:stretch/>
        </p:blipFill>
        <p:spPr>
          <a:xfrm>
            <a:off x="152400" y="1545326"/>
            <a:ext cx="10478548" cy="465862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g2b8b5137f2c_0_1"/>
          <p:cNvSpPr txBox="1">
            <a:spLocks noGrp="1"/>
          </p:cNvSpPr>
          <p:nvPr>
            <p:ph type="title"/>
          </p:nvPr>
        </p:nvSpPr>
        <p:spPr>
          <a:xfrm>
            <a:off x="838200" y="365126"/>
            <a:ext cx="10200000" cy="102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2800"/>
              <a:buNone/>
            </a:pPr>
            <a:r>
              <a:rPr lang="en-US">
                <a:latin typeface="Proxima Nova"/>
                <a:ea typeface="Proxima Nova"/>
                <a:cs typeface="Proxima Nova"/>
                <a:sym typeface="Proxima Nova"/>
              </a:rPr>
              <a:t>Vision Transformers </a:t>
            </a:r>
            <a:endParaRPr>
              <a:latin typeface="Proxima Nova"/>
              <a:ea typeface="Proxima Nova"/>
              <a:cs typeface="Proxima Nova"/>
              <a:sym typeface="Proxima Nova"/>
            </a:endParaRPr>
          </a:p>
        </p:txBody>
      </p:sp>
      <p:sp>
        <p:nvSpPr>
          <p:cNvPr id="603" name="Google Shape;603;g2b8b5137f2c_0_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grpSp>
        <p:nvGrpSpPr>
          <p:cNvPr id="608" name="Google Shape;608;p2"/>
          <p:cNvGrpSpPr/>
          <p:nvPr/>
        </p:nvGrpSpPr>
        <p:grpSpPr>
          <a:xfrm>
            <a:off x="4449758" y="1893816"/>
            <a:ext cx="3292482" cy="3291838"/>
            <a:chOff x="4449758" y="1893816"/>
            <a:chExt cx="3292482" cy="3291838"/>
          </a:xfrm>
        </p:grpSpPr>
        <p:pic>
          <p:nvPicPr>
            <p:cNvPr id="609" name="Google Shape;609;p2"/>
            <p:cNvPicPr preferRelativeResize="0"/>
            <p:nvPr/>
          </p:nvPicPr>
          <p:blipFill rotWithShape="1">
            <a:blip r:embed="rId3">
              <a:alphaModFix/>
            </a:blip>
            <a:srcRect/>
            <a:stretch/>
          </p:blipFill>
          <p:spPr>
            <a:xfrm>
              <a:off x="6643034" y="1893816"/>
              <a:ext cx="1099206" cy="3291838"/>
            </a:xfrm>
            <a:prstGeom prst="rect">
              <a:avLst/>
            </a:prstGeom>
            <a:noFill/>
            <a:ln>
              <a:noFill/>
            </a:ln>
          </p:spPr>
        </p:pic>
        <p:pic>
          <p:nvPicPr>
            <p:cNvPr id="610" name="Google Shape;610;p2"/>
            <p:cNvPicPr preferRelativeResize="0"/>
            <p:nvPr/>
          </p:nvPicPr>
          <p:blipFill rotWithShape="1">
            <a:blip r:embed="rId4">
              <a:alphaModFix/>
            </a:blip>
            <a:srcRect/>
            <a:stretch/>
          </p:blipFill>
          <p:spPr>
            <a:xfrm>
              <a:off x="5546397" y="1893816"/>
              <a:ext cx="1096637" cy="3291838"/>
            </a:xfrm>
            <a:prstGeom prst="rect">
              <a:avLst/>
            </a:prstGeom>
            <a:noFill/>
            <a:ln>
              <a:noFill/>
            </a:ln>
          </p:spPr>
        </p:pic>
        <p:pic>
          <p:nvPicPr>
            <p:cNvPr id="611" name="Google Shape;611;p2"/>
            <p:cNvPicPr preferRelativeResize="0"/>
            <p:nvPr/>
          </p:nvPicPr>
          <p:blipFill rotWithShape="1">
            <a:blip r:embed="rId5">
              <a:alphaModFix/>
            </a:blip>
            <a:srcRect/>
            <a:stretch/>
          </p:blipFill>
          <p:spPr>
            <a:xfrm>
              <a:off x="4449758" y="1893816"/>
              <a:ext cx="1096637" cy="3291838"/>
            </a:xfrm>
            <a:prstGeom prst="rect">
              <a:avLst/>
            </a:prstGeom>
            <a:noFill/>
            <a:ln>
              <a:noFill/>
            </a:ln>
          </p:spPr>
        </p:pic>
      </p:grpSp>
      <p:sp>
        <p:nvSpPr>
          <p:cNvPr id="612" name="Google Shape;612;p2"/>
          <p:cNvSpPr txBox="1"/>
          <p:nvPr/>
        </p:nvSpPr>
        <p:spPr>
          <a:xfrm>
            <a:off x="10251213" y="5962476"/>
            <a:ext cx="1861185" cy="375920"/>
          </a:xfrm>
          <a:prstGeom prst="rect">
            <a:avLst/>
          </a:prstGeom>
          <a:noFill/>
          <a:ln>
            <a:noFill/>
          </a:ln>
        </p:spPr>
        <p:txBody>
          <a:bodyPr spcFirstLastPara="1" wrap="square" lIns="0" tIns="1250" rIns="0" bIns="0" anchor="t" anchorCtr="0">
            <a:spAutoFit/>
          </a:bodyPr>
          <a:lstStyle/>
          <a:p>
            <a:pPr marL="296545" marR="5080" lvl="0" indent="-284480" algn="l" rtl="0">
              <a:lnSpc>
                <a:spcPct val="129090"/>
              </a:lnSpc>
              <a:spcBef>
                <a:spcPts val="0"/>
              </a:spcBef>
              <a:spcAft>
                <a:spcPts val="0"/>
              </a:spcAft>
              <a:buClr>
                <a:srgbClr val="0563C1"/>
              </a:buClr>
              <a:buSzPts val="1100"/>
              <a:buFont typeface="Arial"/>
              <a:buNone/>
            </a:pPr>
            <a:r>
              <a:rPr lang="en-US" sz="1100" b="0" i="0" u="sng" strike="noStrike" cap="none">
                <a:solidFill>
                  <a:srgbClr val="0563C1"/>
                </a:solidFill>
                <a:latin typeface="Calibri"/>
                <a:ea typeface="Calibri"/>
                <a:cs typeface="Calibri"/>
                <a:sym typeface="Calibri"/>
              </a:rPr>
              <a:t>Cat image</a:t>
            </a:r>
            <a:r>
              <a:rPr lang="en-US" sz="1100" b="0" i="0" u="none" strike="noStrike" cap="none">
                <a:solidFill>
                  <a:srgbClr val="0563C1"/>
                </a:solidFill>
                <a:latin typeface="Calibri"/>
                <a:ea typeface="Calibri"/>
                <a:cs typeface="Calibri"/>
                <a:sym typeface="Calibri"/>
              </a:rPr>
              <a:t> </a:t>
            </a:r>
            <a:r>
              <a:rPr lang="en-US" sz="1100" b="0" i="0" u="none" strike="noStrike" cap="none">
                <a:solidFill>
                  <a:srgbClr val="000000"/>
                </a:solidFill>
                <a:latin typeface="Calibri"/>
                <a:ea typeface="Calibri"/>
                <a:cs typeface="Calibri"/>
                <a:sym typeface="Calibri"/>
              </a:rPr>
              <a:t>is free for commercial use under a </a:t>
            </a:r>
            <a:r>
              <a:rPr lang="en-US" sz="1100" b="0" i="0" u="sng" strike="noStrike" cap="none">
                <a:solidFill>
                  <a:srgbClr val="0563C1"/>
                </a:solidFill>
                <a:latin typeface="Calibri"/>
                <a:ea typeface="Calibri"/>
                <a:cs typeface="Calibri"/>
                <a:sym typeface="Calibri"/>
              </a:rPr>
              <a:t>Pixabay license</a:t>
            </a:r>
            <a:endParaRPr sz="1100" b="0" i="0" u="none" strike="noStrike" cap="none">
              <a:solidFill>
                <a:srgbClr val="000000"/>
              </a:solidFill>
              <a:latin typeface="Calibri"/>
              <a:ea typeface="Calibri"/>
              <a:cs typeface="Calibri"/>
              <a:sym typeface="Calibri"/>
            </a:endParaRPr>
          </a:p>
        </p:txBody>
      </p:sp>
      <p:sp>
        <p:nvSpPr>
          <p:cNvPr id="613" name="Google Shape;613;p2"/>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614" name="Google Shape;614;p2"/>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a:t>
            </a:r>
            <a:endParaRPr/>
          </a:p>
        </p:txBody>
      </p:sp>
      <p:sp>
        <p:nvSpPr>
          <p:cNvPr id="615" name="Google Shape;615;p2"/>
          <p:cNvSpPr/>
          <p:nvPr/>
        </p:nvSpPr>
        <p:spPr>
          <a:xfrm>
            <a:off x="2550" y="6466475"/>
            <a:ext cx="3467400" cy="37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616" name="Google Shape;616;p2"/>
          <p:cNvSpPr txBox="1"/>
          <p:nvPr/>
        </p:nvSpPr>
        <p:spPr>
          <a:xfrm>
            <a:off x="7936200" y="28575"/>
            <a:ext cx="40176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a:t>CV10 Attention - Transformers - Vision Transformer</a:t>
            </a:r>
            <a:endParaRPr sz="1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pic>
        <p:nvPicPr>
          <p:cNvPr id="621" name="Google Shape;621;p3"/>
          <p:cNvPicPr preferRelativeResize="0"/>
          <p:nvPr/>
        </p:nvPicPr>
        <p:blipFill rotWithShape="1">
          <a:blip r:embed="rId3">
            <a:alphaModFix/>
          </a:blip>
          <a:srcRect/>
          <a:stretch/>
        </p:blipFill>
        <p:spPr>
          <a:xfrm>
            <a:off x="6816659" y="4261989"/>
            <a:ext cx="1099205" cy="1097290"/>
          </a:xfrm>
          <a:prstGeom prst="rect">
            <a:avLst/>
          </a:prstGeom>
          <a:noFill/>
          <a:ln>
            <a:noFill/>
          </a:ln>
        </p:spPr>
      </p:pic>
      <p:pic>
        <p:nvPicPr>
          <p:cNvPr id="622" name="Google Shape;622;p3"/>
          <p:cNvPicPr preferRelativeResize="0"/>
          <p:nvPr/>
        </p:nvPicPr>
        <p:blipFill rotWithShape="1">
          <a:blip r:embed="rId4">
            <a:alphaModFix/>
          </a:blip>
          <a:srcRect/>
          <a:stretch/>
        </p:blipFill>
        <p:spPr>
          <a:xfrm>
            <a:off x="6816659" y="2991090"/>
            <a:ext cx="1099205" cy="1097274"/>
          </a:xfrm>
          <a:prstGeom prst="rect">
            <a:avLst/>
          </a:prstGeom>
          <a:noFill/>
          <a:ln>
            <a:noFill/>
          </a:ln>
        </p:spPr>
      </p:pic>
      <p:pic>
        <p:nvPicPr>
          <p:cNvPr id="623" name="Google Shape;623;p3"/>
          <p:cNvPicPr preferRelativeResize="0"/>
          <p:nvPr/>
        </p:nvPicPr>
        <p:blipFill rotWithShape="1">
          <a:blip r:embed="rId5">
            <a:alphaModFix/>
          </a:blip>
          <a:srcRect/>
          <a:stretch/>
        </p:blipFill>
        <p:spPr>
          <a:xfrm>
            <a:off x="6816659" y="1720190"/>
            <a:ext cx="1099205" cy="1097274"/>
          </a:xfrm>
          <a:prstGeom prst="rect">
            <a:avLst/>
          </a:prstGeom>
          <a:noFill/>
          <a:ln>
            <a:noFill/>
          </a:ln>
        </p:spPr>
      </p:pic>
      <p:pic>
        <p:nvPicPr>
          <p:cNvPr id="624" name="Google Shape;624;p3"/>
          <p:cNvPicPr preferRelativeResize="0"/>
          <p:nvPr/>
        </p:nvPicPr>
        <p:blipFill rotWithShape="1">
          <a:blip r:embed="rId6">
            <a:alphaModFix/>
          </a:blip>
          <a:srcRect/>
          <a:stretch/>
        </p:blipFill>
        <p:spPr>
          <a:xfrm>
            <a:off x="5546397" y="4261996"/>
            <a:ext cx="1096637" cy="1097282"/>
          </a:xfrm>
          <a:prstGeom prst="rect">
            <a:avLst/>
          </a:prstGeom>
          <a:noFill/>
          <a:ln>
            <a:noFill/>
          </a:ln>
        </p:spPr>
      </p:pic>
      <p:pic>
        <p:nvPicPr>
          <p:cNvPr id="625" name="Google Shape;625;p3"/>
          <p:cNvPicPr preferRelativeResize="0"/>
          <p:nvPr/>
        </p:nvPicPr>
        <p:blipFill rotWithShape="1">
          <a:blip r:embed="rId7">
            <a:alphaModFix/>
          </a:blip>
          <a:srcRect/>
          <a:stretch/>
        </p:blipFill>
        <p:spPr>
          <a:xfrm>
            <a:off x="5546397" y="2991093"/>
            <a:ext cx="1096637" cy="1097278"/>
          </a:xfrm>
          <a:prstGeom prst="rect">
            <a:avLst/>
          </a:prstGeom>
          <a:noFill/>
          <a:ln>
            <a:noFill/>
          </a:ln>
        </p:spPr>
      </p:pic>
      <p:pic>
        <p:nvPicPr>
          <p:cNvPr id="626" name="Google Shape;626;p3"/>
          <p:cNvPicPr preferRelativeResize="0"/>
          <p:nvPr/>
        </p:nvPicPr>
        <p:blipFill rotWithShape="1">
          <a:blip r:embed="rId8">
            <a:alphaModFix/>
          </a:blip>
          <a:srcRect/>
          <a:stretch/>
        </p:blipFill>
        <p:spPr>
          <a:xfrm>
            <a:off x="5546397" y="1720190"/>
            <a:ext cx="1096637" cy="1097278"/>
          </a:xfrm>
          <a:prstGeom prst="rect">
            <a:avLst/>
          </a:prstGeom>
          <a:noFill/>
          <a:ln>
            <a:noFill/>
          </a:ln>
        </p:spPr>
      </p:pic>
      <p:pic>
        <p:nvPicPr>
          <p:cNvPr id="627" name="Google Shape;627;p3"/>
          <p:cNvPicPr preferRelativeResize="0"/>
          <p:nvPr/>
        </p:nvPicPr>
        <p:blipFill rotWithShape="1">
          <a:blip r:embed="rId9">
            <a:alphaModFix/>
          </a:blip>
          <a:srcRect/>
          <a:stretch/>
        </p:blipFill>
        <p:spPr>
          <a:xfrm>
            <a:off x="4276134" y="4261999"/>
            <a:ext cx="1096637" cy="1097280"/>
          </a:xfrm>
          <a:prstGeom prst="rect">
            <a:avLst/>
          </a:prstGeom>
          <a:noFill/>
          <a:ln>
            <a:noFill/>
          </a:ln>
        </p:spPr>
      </p:pic>
      <p:pic>
        <p:nvPicPr>
          <p:cNvPr id="628" name="Google Shape;628;p3"/>
          <p:cNvPicPr preferRelativeResize="0"/>
          <p:nvPr/>
        </p:nvPicPr>
        <p:blipFill rotWithShape="1">
          <a:blip r:embed="rId10">
            <a:alphaModFix/>
          </a:blip>
          <a:srcRect/>
          <a:stretch/>
        </p:blipFill>
        <p:spPr>
          <a:xfrm>
            <a:off x="4276134" y="2991096"/>
            <a:ext cx="1096637" cy="1097279"/>
          </a:xfrm>
          <a:prstGeom prst="rect">
            <a:avLst/>
          </a:prstGeom>
          <a:noFill/>
          <a:ln>
            <a:noFill/>
          </a:ln>
        </p:spPr>
      </p:pic>
      <p:pic>
        <p:nvPicPr>
          <p:cNvPr id="629" name="Google Shape;629;p3"/>
          <p:cNvPicPr preferRelativeResize="0"/>
          <p:nvPr/>
        </p:nvPicPr>
        <p:blipFill rotWithShape="1">
          <a:blip r:embed="rId11">
            <a:alphaModFix/>
          </a:blip>
          <a:srcRect/>
          <a:stretch/>
        </p:blipFill>
        <p:spPr>
          <a:xfrm>
            <a:off x="4276134" y="1720190"/>
            <a:ext cx="1096637" cy="1097279"/>
          </a:xfrm>
          <a:prstGeom prst="rect">
            <a:avLst/>
          </a:prstGeom>
          <a:noFill/>
          <a:ln>
            <a:noFill/>
          </a:ln>
        </p:spPr>
      </p:pic>
      <p:sp>
        <p:nvSpPr>
          <p:cNvPr id="630" name="Google Shape;630;p3"/>
          <p:cNvSpPr txBox="1"/>
          <p:nvPr/>
        </p:nvSpPr>
        <p:spPr>
          <a:xfrm>
            <a:off x="10251213" y="5962476"/>
            <a:ext cx="1861185" cy="375920"/>
          </a:xfrm>
          <a:prstGeom prst="rect">
            <a:avLst/>
          </a:prstGeom>
          <a:noFill/>
          <a:ln>
            <a:noFill/>
          </a:ln>
        </p:spPr>
        <p:txBody>
          <a:bodyPr spcFirstLastPara="1" wrap="square" lIns="0" tIns="1250" rIns="0" bIns="0" anchor="t" anchorCtr="0">
            <a:spAutoFit/>
          </a:bodyPr>
          <a:lstStyle/>
          <a:p>
            <a:pPr marL="296545" marR="5080" lvl="0" indent="-284480" algn="l" rtl="0">
              <a:lnSpc>
                <a:spcPct val="129090"/>
              </a:lnSpc>
              <a:spcBef>
                <a:spcPts val="0"/>
              </a:spcBef>
              <a:spcAft>
                <a:spcPts val="0"/>
              </a:spcAft>
              <a:buClr>
                <a:srgbClr val="0563C1"/>
              </a:buClr>
              <a:buSzPts val="1100"/>
              <a:buFont typeface="Arial"/>
              <a:buNone/>
            </a:pPr>
            <a:r>
              <a:rPr lang="en-US" sz="1100" b="0" i="0" u="sng" strike="noStrike" cap="none">
                <a:solidFill>
                  <a:srgbClr val="0563C1"/>
                </a:solidFill>
                <a:latin typeface="Calibri"/>
                <a:ea typeface="Calibri"/>
                <a:cs typeface="Calibri"/>
                <a:sym typeface="Calibri"/>
              </a:rPr>
              <a:t>Cat image</a:t>
            </a:r>
            <a:r>
              <a:rPr lang="en-US" sz="1100" b="0" i="0" u="none" strike="noStrike" cap="none">
                <a:solidFill>
                  <a:srgbClr val="0563C1"/>
                </a:solidFill>
                <a:latin typeface="Calibri"/>
                <a:ea typeface="Calibri"/>
                <a:cs typeface="Calibri"/>
                <a:sym typeface="Calibri"/>
              </a:rPr>
              <a:t> </a:t>
            </a:r>
            <a:r>
              <a:rPr lang="en-US" sz="1100" b="0" i="0" u="none" strike="noStrike" cap="none">
                <a:solidFill>
                  <a:srgbClr val="000000"/>
                </a:solidFill>
                <a:latin typeface="Calibri"/>
                <a:ea typeface="Calibri"/>
                <a:cs typeface="Calibri"/>
                <a:sym typeface="Calibri"/>
              </a:rPr>
              <a:t>is free for commercial use under a </a:t>
            </a:r>
            <a:r>
              <a:rPr lang="en-US" sz="1100" b="0" i="0" u="sng" strike="noStrike" cap="none">
                <a:solidFill>
                  <a:srgbClr val="0563C1"/>
                </a:solidFill>
                <a:latin typeface="Calibri"/>
                <a:ea typeface="Calibri"/>
                <a:cs typeface="Calibri"/>
                <a:sym typeface="Calibri"/>
              </a:rPr>
              <a:t>Pixabay license</a:t>
            </a:r>
            <a:endParaRPr sz="1100" b="0" i="0" u="none" strike="noStrike" cap="none">
              <a:solidFill>
                <a:srgbClr val="000000"/>
              </a:solidFill>
              <a:latin typeface="Calibri"/>
              <a:ea typeface="Calibri"/>
              <a:cs typeface="Calibri"/>
              <a:sym typeface="Calibri"/>
            </a:endParaRPr>
          </a:p>
        </p:txBody>
      </p:sp>
      <p:sp>
        <p:nvSpPr>
          <p:cNvPr id="631" name="Google Shape;631;p3"/>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632" name="Google Shape;632;p3"/>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a:t>
            </a:r>
            <a:endParaRPr/>
          </a:p>
        </p:txBody>
      </p:sp>
      <p:sp>
        <p:nvSpPr>
          <p:cNvPr id="633" name="Google Shape;633;p3"/>
          <p:cNvSpPr/>
          <p:nvPr/>
        </p:nvSpPr>
        <p:spPr>
          <a:xfrm>
            <a:off x="2550" y="6466475"/>
            <a:ext cx="3467400" cy="37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634" name="Google Shape;634;p3"/>
          <p:cNvSpPr txBox="1"/>
          <p:nvPr/>
        </p:nvSpPr>
        <p:spPr>
          <a:xfrm>
            <a:off x="7936200" y="28575"/>
            <a:ext cx="40176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a:t>CV10 Attention - Transformers - Vision Transformer</a:t>
            </a:r>
            <a:endParaRPr sz="10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pic>
        <p:nvPicPr>
          <p:cNvPr id="639" name="Google Shape;639;p4"/>
          <p:cNvPicPr preferRelativeResize="0"/>
          <p:nvPr/>
        </p:nvPicPr>
        <p:blipFill rotWithShape="1">
          <a:blip r:embed="rId3">
            <a:alphaModFix/>
          </a:blip>
          <a:srcRect/>
          <a:stretch/>
        </p:blipFill>
        <p:spPr>
          <a:xfrm>
            <a:off x="5645272" y="5235200"/>
            <a:ext cx="639705" cy="640079"/>
          </a:xfrm>
          <a:prstGeom prst="rect">
            <a:avLst/>
          </a:prstGeom>
          <a:noFill/>
          <a:ln>
            <a:noFill/>
          </a:ln>
        </p:spPr>
      </p:pic>
      <p:pic>
        <p:nvPicPr>
          <p:cNvPr id="640" name="Google Shape;640;p4"/>
          <p:cNvPicPr preferRelativeResize="0"/>
          <p:nvPr/>
        </p:nvPicPr>
        <p:blipFill rotWithShape="1">
          <a:blip r:embed="rId4">
            <a:alphaModFix/>
          </a:blip>
          <a:srcRect/>
          <a:stretch/>
        </p:blipFill>
        <p:spPr>
          <a:xfrm>
            <a:off x="6419682" y="5235200"/>
            <a:ext cx="639705" cy="640079"/>
          </a:xfrm>
          <a:prstGeom prst="rect">
            <a:avLst/>
          </a:prstGeom>
          <a:noFill/>
          <a:ln>
            <a:noFill/>
          </a:ln>
        </p:spPr>
      </p:pic>
      <p:pic>
        <p:nvPicPr>
          <p:cNvPr id="641" name="Google Shape;641;p4"/>
          <p:cNvPicPr preferRelativeResize="0"/>
          <p:nvPr/>
        </p:nvPicPr>
        <p:blipFill rotWithShape="1">
          <a:blip r:embed="rId5">
            <a:alphaModFix/>
          </a:blip>
          <a:srcRect/>
          <a:stretch/>
        </p:blipFill>
        <p:spPr>
          <a:xfrm>
            <a:off x="4089432" y="5235200"/>
            <a:ext cx="639705" cy="640079"/>
          </a:xfrm>
          <a:prstGeom prst="rect">
            <a:avLst/>
          </a:prstGeom>
          <a:noFill/>
          <a:ln>
            <a:noFill/>
          </a:ln>
        </p:spPr>
      </p:pic>
      <p:pic>
        <p:nvPicPr>
          <p:cNvPr id="642" name="Google Shape;642;p4"/>
          <p:cNvPicPr preferRelativeResize="0"/>
          <p:nvPr/>
        </p:nvPicPr>
        <p:blipFill rotWithShape="1">
          <a:blip r:embed="rId6">
            <a:alphaModFix/>
          </a:blip>
          <a:srcRect/>
          <a:stretch/>
        </p:blipFill>
        <p:spPr>
          <a:xfrm>
            <a:off x="3312686" y="5235200"/>
            <a:ext cx="639705" cy="640079"/>
          </a:xfrm>
          <a:prstGeom prst="rect">
            <a:avLst/>
          </a:prstGeom>
          <a:noFill/>
          <a:ln>
            <a:noFill/>
          </a:ln>
        </p:spPr>
      </p:pic>
      <p:pic>
        <p:nvPicPr>
          <p:cNvPr id="643" name="Google Shape;643;p4"/>
          <p:cNvPicPr preferRelativeResize="0"/>
          <p:nvPr/>
        </p:nvPicPr>
        <p:blipFill rotWithShape="1">
          <a:blip r:embed="rId7">
            <a:alphaModFix/>
          </a:blip>
          <a:srcRect/>
          <a:stretch/>
        </p:blipFill>
        <p:spPr>
          <a:xfrm>
            <a:off x="2535941" y="5235200"/>
            <a:ext cx="639705" cy="640079"/>
          </a:xfrm>
          <a:prstGeom prst="rect">
            <a:avLst/>
          </a:prstGeom>
          <a:noFill/>
          <a:ln>
            <a:noFill/>
          </a:ln>
        </p:spPr>
      </p:pic>
      <p:pic>
        <p:nvPicPr>
          <p:cNvPr id="644" name="Google Shape;644;p4"/>
          <p:cNvPicPr preferRelativeResize="0"/>
          <p:nvPr/>
        </p:nvPicPr>
        <p:blipFill rotWithShape="1">
          <a:blip r:embed="rId8">
            <a:alphaModFix/>
          </a:blip>
          <a:srcRect/>
          <a:stretch/>
        </p:blipFill>
        <p:spPr>
          <a:xfrm>
            <a:off x="8744502" y="5235200"/>
            <a:ext cx="641206" cy="640079"/>
          </a:xfrm>
          <a:prstGeom prst="rect">
            <a:avLst/>
          </a:prstGeom>
          <a:noFill/>
          <a:ln>
            <a:noFill/>
          </a:ln>
        </p:spPr>
      </p:pic>
      <p:pic>
        <p:nvPicPr>
          <p:cNvPr id="645" name="Google Shape;645;p4"/>
          <p:cNvPicPr preferRelativeResize="0"/>
          <p:nvPr/>
        </p:nvPicPr>
        <p:blipFill rotWithShape="1">
          <a:blip r:embed="rId9">
            <a:alphaModFix/>
          </a:blip>
          <a:srcRect/>
          <a:stretch/>
        </p:blipFill>
        <p:spPr>
          <a:xfrm>
            <a:off x="4866180" y="5235200"/>
            <a:ext cx="639705" cy="640079"/>
          </a:xfrm>
          <a:prstGeom prst="rect">
            <a:avLst/>
          </a:prstGeom>
          <a:noFill/>
          <a:ln>
            <a:noFill/>
          </a:ln>
        </p:spPr>
      </p:pic>
      <p:pic>
        <p:nvPicPr>
          <p:cNvPr id="646" name="Google Shape;646;p4"/>
          <p:cNvPicPr preferRelativeResize="0"/>
          <p:nvPr/>
        </p:nvPicPr>
        <p:blipFill rotWithShape="1">
          <a:blip r:embed="rId10">
            <a:alphaModFix/>
          </a:blip>
          <a:srcRect/>
          <a:stretch/>
        </p:blipFill>
        <p:spPr>
          <a:xfrm>
            <a:off x="7207347" y="5235200"/>
            <a:ext cx="641197" cy="640079"/>
          </a:xfrm>
          <a:prstGeom prst="rect">
            <a:avLst/>
          </a:prstGeom>
          <a:noFill/>
          <a:ln>
            <a:noFill/>
          </a:ln>
        </p:spPr>
      </p:pic>
      <p:pic>
        <p:nvPicPr>
          <p:cNvPr id="647" name="Google Shape;647;p4"/>
          <p:cNvPicPr preferRelativeResize="0"/>
          <p:nvPr/>
        </p:nvPicPr>
        <p:blipFill rotWithShape="1">
          <a:blip r:embed="rId11">
            <a:alphaModFix/>
          </a:blip>
          <a:srcRect/>
          <a:stretch/>
        </p:blipFill>
        <p:spPr>
          <a:xfrm>
            <a:off x="7970093" y="5235200"/>
            <a:ext cx="641205" cy="640079"/>
          </a:xfrm>
          <a:prstGeom prst="rect">
            <a:avLst/>
          </a:prstGeom>
          <a:noFill/>
          <a:ln>
            <a:noFill/>
          </a:ln>
        </p:spPr>
      </p:pic>
      <p:sp>
        <p:nvSpPr>
          <p:cNvPr id="648" name="Google Shape;648;p4"/>
          <p:cNvSpPr txBox="1"/>
          <p:nvPr/>
        </p:nvSpPr>
        <p:spPr>
          <a:xfrm>
            <a:off x="276038" y="5265182"/>
            <a:ext cx="2040889" cy="572770"/>
          </a:xfrm>
          <a:prstGeom prst="rect">
            <a:avLst/>
          </a:prstGeom>
          <a:noFill/>
          <a:ln>
            <a:noFill/>
          </a:ln>
        </p:spPr>
        <p:txBody>
          <a:bodyPr spcFirstLastPara="1" wrap="square" lIns="0" tIns="15875" rIns="0" bIns="0" anchor="t" anchorCtr="0">
            <a:spAutoFit/>
          </a:bodyPr>
          <a:lstStyle/>
          <a:p>
            <a:pPr marL="12700" marR="5080" lvl="0" indent="0" algn="l" rtl="0">
              <a:lnSpc>
                <a:spcPct val="117222"/>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N input patches, each of shape 3x16x16</a:t>
            </a:r>
            <a:endParaRPr sz="1800" b="0" i="0" u="none" strike="noStrike" cap="none">
              <a:solidFill>
                <a:srgbClr val="000000"/>
              </a:solidFill>
              <a:latin typeface="Calibri"/>
              <a:ea typeface="Calibri"/>
              <a:cs typeface="Calibri"/>
              <a:sym typeface="Calibri"/>
            </a:endParaRPr>
          </a:p>
        </p:txBody>
      </p:sp>
      <p:sp>
        <p:nvSpPr>
          <p:cNvPr id="649" name="Google Shape;649;p4"/>
          <p:cNvSpPr txBox="1"/>
          <p:nvPr/>
        </p:nvSpPr>
        <p:spPr>
          <a:xfrm>
            <a:off x="10251213" y="5962476"/>
            <a:ext cx="1861185" cy="375920"/>
          </a:xfrm>
          <a:prstGeom prst="rect">
            <a:avLst/>
          </a:prstGeom>
          <a:noFill/>
          <a:ln>
            <a:noFill/>
          </a:ln>
        </p:spPr>
        <p:txBody>
          <a:bodyPr spcFirstLastPara="1" wrap="square" lIns="0" tIns="1250" rIns="0" bIns="0" anchor="t" anchorCtr="0">
            <a:spAutoFit/>
          </a:bodyPr>
          <a:lstStyle/>
          <a:p>
            <a:pPr marL="296545" marR="5080" lvl="0" indent="-284480" algn="l" rtl="0">
              <a:lnSpc>
                <a:spcPct val="129090"/>
              </a:lnSpc>
              <a:spcBef>
                <a:spcPts val="0"/>
              </a:spcBef>
              <a:spcAft>
                <a:spcPts val="0"/>
              </a:spcAft>
              <a:buClr>
                <a:srgbClr val="0563C1"/>
              </a:buClr>
              <a:buSzPts val="1100"/>
              <a:buFont typeface="Arial"/>
              <a:buNone/>
            </a:pPr>
            <a:r>
              <a:rPr lang="en-US" sz="1100" b="0" i="0" u="sng" strike="noStrike" cap="none">
                <a:solidFill>
                  <a:srgbClr val="0563C1"/>
                </a:solidFill>
                <a:latin typeface="Calibri"/>
                <a:ea typeface="Calibri"/>
                <a:cs typeface="Calibri"/>
                <a:sym typeface="Calibri"/>
              </a:rPr>
              <a:t>Cat image</a:t>
            </a:r>
            <a:r>
              <a:rPr lang="en-US" sz="1100" b="0" i="0" u="none" strike="noStrike" cap="none">
                <a:solidFill>
                  <a:srgbClr val="0563C1"/>
                </a:solidFill>
                <a:latin typeface="Calibri"/>
                <a:ea typeface="Calibri"/>
                <a:cs typeface="Calibri"/>
                <a:sym typeface="Calibri"/>
              </a:rPr>
              <a:t> </a:t>
            </a:r>
            <a:r>
              <a:rPr lang="en-US" sz="1100" b="0" i="0" u="none" strike="noStrike" cap="none">
                <a:solidFill>
                  <a:srgbClr val="000000"/>
                </a:solidFill>
                <a:latin typeface="Calibri"/>
                <a:ea typeface="Calibri"/>
                <a:cs typeface="Calibri"/>
                <a:sym typeface="Calibri"/>
              </a:rPr>
              <a:t>is free for commercial use under a </a:t>
            </a:r>
            <a:r>
              <a:rPr lang="en-US" sz="1100" b="0" i="0" u="sng" strike="noStrike" cap="none">
                <a:solidFill>
                  <a:srgbClr val="0563C1"/>
                </a:solidFill>
                <a:latin typeface="Calibri"/>
                <a:ea typeface="Calibri"/>
                <a:cs typeface="Calibri"/>
                <a:sym typeface="Calibri"/>
              </a:rPr>
              <a:t>Pixabay license</a:t>
            </a:r>
            <a:endParaRPr sz="1100" b="0" i="0" u="none" strike="noStrike" cap="none">
              <a:solidFill>
                <a:srgbClr val="000000"/>
              </a:solidFill>
              <a:latin typeface="Calibri"/>
              <a:ea typeface="Calibri"/>
              <a:cs typeface="Calibri"/>
              <a:sym typeface="Calibri"/>
            </a:endParaRPr>
          </a:p>
        </p:txBody>
      </p:sp>
      <p:sp>
        <p:nvSpPr>
          <p:cNvPr id="650" name="Google Shape;650;p4"/>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651" name="Google Shape;651;p4"/>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a:t>
            </a:r>
            <a:endParaRPr/>
          </a:p>
        </p:txBody>
      </p:sp>
      <p:sp>
        <p:nvSpPr>
          <p:cNvPr id="652" name="Google Shape;652;p4"/>
          <p:cNvSpPr/>
          <p:nvPr/>
        </p:nvSpPr>
        <p:spPr>
          <a:xfrm>
            <a:off x="2550" y="6466475"/>
            <a:ext cx="3467400" cy="37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653" name="Google Shape;653;p4"/>
          <p:cNvSpPr txBox="1"/>
          <p:nvPr/>
        </p:nvSpPr>
        <p:spPr>
          <a:xfrm>
            <a:off x="7936200" y="28575"/>
            <a:ext cx="40176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a:t>CV10 Attention - Transformers - Vision Transformer</a:t>
            </a:r>
            <a:endParaRPr sz="1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grpSp>
        <p:nvGrpSpPr>
          <p:cNvPr id="658" name="Google Shape;658;p22"/>
          <p:cNvGrpSpPr/>
          <p:nvPr/>
        </p:nvGrpSpPr>
        <p:grpSpPr>
          <a:xfrm>
            <a:off x="2535941" y="4400222"/>
            <a:ext cx="639705" cy="1475057"/>
            <a:chOff x="2535941" y="4400222"/>
            <a:chExt cx="639705" cy="1475057"/>
          </a:xfrm>
        </p:grpSpPr>
        <p:sp>
          <p:nvSpPr>
            <p:cNvPr id="659" name="Google Shape;659;p22"/>
            <p:cNvSpPr/>
            <p:nvPr/>
          </p:nvSpPr>
          <p:spPr>
            <a:xfrm>
              <a:off x="2802577"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60" name="Google Shape;660;p22"/>
            <p:cNvSpPr/>
            <p:nvPr/>
          </p:nvSpPr>
          <p:spPr>
            <a:xfrm>
              <a:off x="2802577"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61" name="Google Shape;661;p22"/>
            <p:cNvSpPr/>
            <p:nvPr/>
          </p:nvSpPr>
          <p:spPr>
            <a:xfrm>
              <a:off x="2829572" y="4831110"/>
              <a:ext cx="76200" cy="404495"/>
            </a:xfrm>
            <a:custGeom>
              <a:avLst/>
              <a:gdLst/>
              <a:ahLst/>
              <a:cxnLst/>
              <a:rect l="l" t="t" r="r" b="b"/>
              <a:pathLst>
                <a:path w="76200" h="404495" extrusionOk="0">
                  <a:moveTo>
                    <a:pt x="50799" y="76183"/>
                  </a:moveTo>
                  <a:lnTo>
                    <a:pt x="25399" y="76217"/>
                  </a:lnTo>
                  <a:lnTo>
                    <a:pt x="25840" y="404106"/>
                  </a:lnTo>
                  <a:lnTo>
                    <a:pt x="51240" y="404072"/>
                  </a:lnTo>
                  <a:lnTo>
                    <a:pt x="50799" y="76183"/>
                  </a:lnTo>
                  <a:close/>
                </a:path>
                <a:path w="76200" h="404495" extrusionOk="0">
                  <a:moveTo>
                    <a:pt x="37997" y="0"/>
                  </a:moveTo>
                  <a:lnTo>
                    <a:pt x="0" y="76252"/>
                  </a:lnTo>
                  <a:lnTo>
                    <a:pt x="25399" y="76217"/>
                  </a:lnTo>
                  <a:lnTo>
                    <a:pt x="25382" y="63517"/>
                  </a:lnTo>
                  <a:lnTo>
                    <a:pt x="69845" y="63483"/>
                  </a:lnTo>
                  <a:lnTo>
                    <a:pt x="37997" y="0"/>
                  </a:lnTo>
                  <a:close/>
                </a:path>
                <a:path w="76200" h="404495" extrusionOk="0">
                  <a:moveTo>
                    <a:pt x="50782" y="63483"/>
                  </a:moveTo>
                  <a:lnTo>
                    <a:pt x="25382" y="63517"/>
                  </a:lnTo>
                  <a:lnTo>
                    <a:pt x="25399" y="76217"/>
                  </a:lnTo>
                  <a:lnTo>
                    <a:pt x="50799" y="76183"/>
                  </a:lnTo>
                  <a:lnTo>
                    <a:pt x="50782" y="63483"/>
                  </a:lnTo>
                  <a:close/>
                </a:path>
                <a:path w="76200" h="404495" extrusionOk="0">
                  <a:moveTo>
                    <a:pt x="69845" y="63483"/>
                  </a:moveTo>
                  <a:lnTo>
                    <a:pt x="50782" y="63483"/>
                  </a:lnTo>
                  <a:lnTo>
                    <a:pt x="50799" y="76183"/>
                  </a:lnTo>
                  <a:lnTo>
                    <a:pt x="76200" y="76149"/>
                  </a:lnTo>
                  <a:lnTo>
                    <a:pt x="69845" y="6348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662" name="Google Shape;662;p22"/>
            <p:cNvPicPr preferRelativeResize="0"/>
            <p:nvPr/>
          </p:nvPicPr>
          <p:blipFill rotWithShape="1">
            <a:blip r:embed="rId3">
              <a:alphaModFix/>
            </a:blip>
            <a:srcRect/>
            <a:stretch/>
          </p:blipFill>
          <p:spPr>
            <a:xfrm>
              <a:off x="2535941" y="5235200"/>
              <a:ext cx="639705" cy="640079"/>
            </a:xfrm>
            <a:prstGeom prst="rect">
              <a:avLst/>
            </a:prstGeom>
            <a:noFill/>
            <a:ln>
              <a:noFill/>
            </a:ln>
          </p:spPr>
        </p:pic>
      </p:grpSp>
      <p:grpSp>
        <p:nvGrpSpPr>
          <p:cNvPr id="663" name="Google Shape;663;p22"/>
          <p:cNvGrpSpPr/>
          <p:nvPr/>
        </p:nvGrpSpPr>
        <p:grpSpPr>
          <a:xfrm>
            <a:off x="3312686" y="4404013"/>
            <a:ext cx="639705" cy="1471266"/>
            <a:chOff x="3312686" y="4404013"/>
            <a:chExt cx="639705" cy="1471266"/>
          </a:xfrm>
        </p:grpSpPr>
        <p:sp>
          <p:nvSpPr>
            <p:cNvPr id="664" name="Google Shape;664;p22"/>
            <p:cNvSpPr/>
            <p:nvPr/>
          </p:nvSpPr>
          <p:spPr>
            <a:xfrm>
              <a:off x="3578800" y="4404013"/>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65" name="Google Shape;665;p22"/>
            <p:cNvSpPr/>
            <p:nvPr/>
          </p:nvSpPr>
          <p:spPr>
            <a:xfrm>
              <a:off x="3578800"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66" name="Google Shape;666;p22"/>
            <p:cNvSpPr/>
            <p:nvPr/>
          </p:nvSpPr>
          <p:spPr>
            <a:xfrm>
              <a:off x="3605753" y="4834901"/>
              <a:ext cx="76200" cy="400685"/>
            </a:xfrm>
            <a:custGeom>
              <a:avLst/>
              <a:gdLst/>
              <a:ahLst/>
              <a:cxnLst/>
              <a:rect l="l" t="t" r="r" b="b"/>
              <a:pathLst>
                <a:path w="76200" h="400685" extrusionOk="0">
                  <a:moveTo>
                    <a:pt x="50800" y="76190"/>
                  </a:moveTo>
                  <a:lnTo>
                    <a:pt x="25400" y="76211"/>
                  </a:lnTo>
                  <a:lnTo>
                    <a:pt x="25660" y="400309"/>
                  </a:lnTo>
                  <a:lnTo>
                    <a:pt x="51060" y="400288"/>
                  </a:lnTo>
                  <a:lnTo>
                    <a:pt x="50800" y="76190"/>
                  </a:lnTo>
                  <a:close/>
                </a:path>
                <a:path w="76200" h="400685" extrusionOk="0">
                  <a:moveTo>
                    <a:pt x="38037" y="0"/>
                  </a:moveTo>
                  <a:lnTo>
                    <a:pt x="0" y="76231"/>
                  </a:lnTo>
                  <a:lnTo>
                    <a:pt x="25400" y="76211"/>
                  </a:lnTo>
                  <a:lnTo>
                    <a:pt x="25389" y="63510"/>
                  </a:lnTo>
                  <a:lnTo>
                    <a:pt x="69847" y="63489"/>
                  </a:lnTo>
                  <a:lnTo>
                    <a:pt x="38037"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667" name="Google Shape;667;p22"/>
            <p:cNvPicPr preferRelativeResize="0"/>
            <p:nvPr/>
          </p:nvPicPr>
          <p:blipFill rotWithShape="1">
            <a:blip r:embed="rId4">
              <a:alphaModFix/>
            </a:blip>
            <a:srcRect/>
            <a:stretch/>
          </p:blipFill>
          <p:spPr>
            <a:xfrm>
              <a:off x="3312686" y="5235200"/>
              <a:ext cx="639705" cy="640079"/>
            </a:xfrm>
            <a:prstGeom prst="rect">
              <a:avLst/>
            </a:prstGeom>
            <a:noFill/>
            <a:ln>
              <a:noFill/>
            </a:ln>
          </p:spPr>
        </p:pic>
      </p:grpSp>
      <p:grpSp>
        <p:nvGrpSpPr>
          <p:cNvPr id="668" name="Google Shape;668;p22"/>
          <p:cNvGrpSpPr/>
          <p:nvPr/>
        </p:nvGrpSpPr>
        <p:grpSpPr>
          <a:xfrm>
            <a:off x="4089432" y="4400222"/>
            <a:ext cx="639705" cy="1475057"/>
            <a:chOff x="4089432" y="4400222"/>
            <a:chExt cx="639705" cy="1475057"/>
          </a:xfrm>
        </p:grpSpPr>
        <p:sp>
          <p:nvSpPr>
            <p:cNvPr id="669" name="Google Shape;669;p22"/>
            <p:cNvSpPr/>
            <p:nvPr/>
          </p:nvSpPr>
          <p:spPr>
            <a:xfrm>
              <a:off x="4355021"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70" name="Google Shape;670;p22"/>
            <p:cNvSpPr/>
            <p:nvPr/>
          </p:nvSpPr>
          <p:spPr>
            <a:xfrm>
              <a:off x="4355021"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71" name="Google Shape;671;p22"/>
            <p:cNvSpPr/>
            <p:nvPr/>
          </p:nvSpPr>
          <p:spPr>
            <a:xfrm>
              <a:off x="4382073" y="4831110"/>
              <a:ext cx="76200" cy="404495"/>
            </a:xfrm>
            <a:custGeom>
              <a:avLst/>
              <a:gdLst/>
              <a:ahLst/>
              <a:cxnLst/>
              <a:rect l="l" t="t" r="r" b="b"/>
              <a:pathLst>
                <a:path w="76200" h="404495" extrusionOk="0">
                  <a:moveTo>
                    <a:pt x="50799" y="76173"/>
                  </a:moveTo>
                  <a:lnTo>
                    <a:pt x="25399" y="76226"/>
                  </a:lnTo>
                  <a:lnTo>
                    <a:pt x="26087" y="404116"/>
                  </a:lnTo>
                  <a:lnTo>
                    <a:pt x="51487" y="404063"/>
                  </a:lnTo>
                  <a:lnTo>
                    <a:pt x="50799" y="76173"/>
                  </a:lnTo>
                  <a:close/>
                </a:path>
                <a:path w="76200" h="404495" extrusionOk="0">
                  <a:moveTo>
                    <a:pt x="37939" y="0"/>
                  </a:moveTo>
                  <a:lnTo>
                    <a:pt x="0" y="76280"/>
                  </a:lnTo>
                  <a:lnTo>
                    <a:pt x="25399" y="76226"/>
                  </a:lnTo>
                  <a:lnTo>
                    <a:pt x="25373" y="63526"/>
                  </a:lnTo>
                  <a:lnTo>
                    <a:pt x="69843" y="63473"/>
                  </a:lnTo>
                  <a:lnTo>
                    <a:pt x="37939" y="0"/>
                  </a:lnTo>
                  <a:close/>
                </a:path>
                <a:path w="76200" h="404495" extrusionOk="0">
                  <a:moveTo>
                    <a:pt x="50773" y="63473"/>
                  </a:moveTo>
                  <a:lnTo>
                    <a:pt x="25373" y="63526"/>
                  </a:lnTo>
                  <a:lnTo>
                    <a:pt x="25399" y="76226"/>
                  </a:lnTo>
                  <a:lnTo>
                    <a:pt x="50799" y="76173"/>
                  </a:lnTo>
                  <a:lnTo>
                    <a:pt x="50773" y="63473"/>
                  </a:lnTo>
                  <a:close/>
                </a:path>
                <a:path w="76200" h="404495" extrusionOk="0">
                  <a:moveTo>
                    <a:pt x="69843" y="63473"/>
                  </a:moveTo>
                  <a:lnTo>
                    <a:pt x="50773" y="63473"/>
                  </a:lnTo>
                  <a:lnTo>
                    <a:pt x="50799" y="76173"/>
                  </a:lnTo>
                  <a:lnTo>
                    <a:pt x="76200" y="76119"/>
                  </a:lnTo>
                  <a:lnTo>
                    <a:pt x="69843" y="6347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672" name="Google Shape;672;p22"/>
            <p:cNvPicPr preferRelativeResize="0"/>
            <p:nvPr/>
          </p:nvPicPr>
          <p:blipFill rotWithShape="1">
            <a:blip r:embed="rId5">
              <a:alphaModFix/>
            </a:blip>
            <a:srcRect/>
            <a:stretch/>
          </p:blipFill>
          <p:spPr>
            <a:xfrm>
              <a:off x="4089432" y="5235200"/>
              <a:ext cx="639705" cy="640079"/>
            </a:xfrm>
            <a:prstGeom prst="rect">
              <a:avLst/>
            </a:prstGeom>
            <a:noFill/>
            <a:ln>
              <a:noFill/>
            </a:ln>
          </p:spPr>
        </p:pic>
      </p:grpSp>
      <p:grpSp>
        <p:nvGrpSpPr>
          <p:cNvPr id="673" name="Google Shape;673;p22"/>
          <p:cNvGrpSpPr/>
          <p:nvPr/>
        </p:nvGrpSpPr>
        <p:grpSpPr>
          <a:xfrm>
            <a:off x="4866180" y="4404013"/>
            <a:ext cx="639705" cy="1471266"/>
            <a:chOff x="4866180" y="4404013"/>
            <a:chExt cx="639705" cy="1471266"/>
          </a:xfrm>
        </p:grpSpPr>
        <p:sp>
          <p:nvSpPr>
            <p:cNvPr id="674" name="Google Shape;674;p22"/>
            <p:cNvSpPr/>
            <p:nvPr/>
          </p:nvSpPr>
          <p:spPr>
            <a:xfrm>
              <a:off x="5132292" y="4404013"/>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75" name="Google Shape;675;p22"/>
            <p:cNvSpPr/>
            <p:nvPr/>
          </p:nvSpPr>
          <p:spPr>
            <a:xfrm>
              <a:off x="5132292"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76" name="Google Shape;676;p22"/>
            <p:cNvSpPr/>
            <p:nvPr/>
          </p:nvSpPr>
          <p:spPr>
            <a:xfrm>
              <a:off x="5159245" y="4834901"/>
              <a:ext cx="76200" cy="400685"/>
            </a:xfrm>
            <a:custGeom>
              <a:avLst/>
              <a:gdLst/>
              <a:ahLst/>
              <a:cxnLst/>
              <a:rect l="l" t="t" r="r" b="b"/>
              <a:pathLst>
                <a:path w="76200" h="400685" extrusionOk="0">
                  <a:moveTo>
                    <a:pt x="50800" y="76190"/>
                  </a:moveTo>
                  <a:lnTo>
                    <a:pt x="25400" y="76211"/>
                  </a:lnTo>
                  <a:lnTo>
                    <a:pt x="25661" y="400319"/>
                  </a:lnTo>
                  <a:lnTo>
                    <a:pt x="51061" y="400298"/>
                  </a:lnTo>
                  <a:lnTo>
                    <a:pt x="50800" y="76190"/>
                  </a:lnTo>
                  <a:close/>
                </a:path>
                <a:path w="76200" h="400685" extrusionOk="0">
                  <a:moveTo>
                    <a:pt x="38039" y="0"/>
                  </a:moveTo>
                  <a:lnTo>
                    <a:pt x="0" y="76231"/>
                  </a:lnTo>
                  <a:lnTo>
                    <a:pt x="25400" y="76211"/>
                  </a:lnTo>
                  <a:lnTo>
                    <a:pt x="25389" y="63510"/>
                  </a:lnTo>
                  <a:lnTo>
                    <a:pt x="69847" y="63489"/>
                  </a:lnTo>
                  <a:lnTo>
                    <a:pt x="38039"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677" name="Google Shape;677;p22"/>
            <p:cNvPicPr preferRelativeResize="0"/>
            <p:nvPr/>
          </p:nvPicPr>
          <p:blipFill rotWithShape="1">
            <a:blip r:embed="rId6">
              <a:alphaModFix/>
            </a:blip>
            <a:srcRect/>
            <a:stretch/>
          </p:blipFill>
          <p:spPr>
            <a:xfrm>
              <a:off x="4866180" y="5235200"/>
              <a:ext cx="639705" cy="640079"/>
            </a:xfrm>
            <a:prstGeom prst="rect">
              <a:avLst/>
            </a:prstGeom>
            <a:noFill/>
            <a:ln>
              <a:noFill/>
            </a:ln>
          </p:spPr>
        </p:pic>
      </p:grpSp>
      <p:grpSp>
        <p:nvGrpSpPr>
          <p:cNvPr id="678" name="Google Shape;678;p22"/>
          <p:cNvGrpSpPr/>
          <p:nvPr/>
        </p:nvGrpSpPr>
        <p:grpSpPr>
          <a:xfrm>
            <a:off x="5645272" y="4400222"/>
            <a:ext cx="639705" cy="1475057"/>
            <a:chOff x="5645272" y="4400222"/>
            <a:chExt cx="639705" cy="1475057"/>
          </a:xfrm>
        </p:grpSpPr>
        <p:sp>
          <p:nvSpPr>
            <p:cNvPr id="679" name="Google Shape;679;p22"/>
            <p:cNvSpPr/>
            <p:nvPr/>
          </p:nvSpPr>
          <p:spPr>
            <a:xfrm>
              <a:off x="5904509"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80" name="Google Shape;680;p22"/>
            <p:cNvSpPr/>
            <p:nvPr/>
          </p:nvSpPr>
          <p:spPr>
            <a:xfrm>
              <a:off x="5904509"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81" name="Google Shape;681;p22"/>
            <p:cNvSpPr/>
            <p:nvPr/>
          </p:nvSpPr>
          <p:spPr>
            <a:xfrm>
              <a:off x="5932177" y="4831110"/>
              <a:ext cx="76200" cy="404495"/>
            </a:xfrm>
            <a:custGeom>
              <a:avLst/>
              <a:gdLst/>
              <a:ahLst/>
              <a:cxnLst/>
              <a:rect l="l" t="t" r="r" b="b"/>
              <a:pathLst>
                <a:path w="76200" h="404495" extrusionOk="0">
                  <a:moveTo>
                    <a:pt x="50796" y="76067"/>
                  </a:moveTo>
                  <a:lnTo>
                    <a:pt x="25398" y="76325"/>
                  </a:lnTo>
                  <a:lnTo>
                    <a:pt x="28731" y="404228"/>
                  </a:lnTo>
                  <a:lnTo>
                    <a:pt x="54129" y="403970"/>
                  </a:lnTo>
                  <a:lnTo>
                    <a:pt x="50796" y="76067"/>
                  </a:lnTo>
                  <a:close/>
                </a:path>
                <a:path w="76200" h="404495" extrusionOk="0">
                  <a:moveTo>
                    <a:pt x="37322" y="0"/>
                  </a:moveTo>
                  <a:lnTo>
                    <a:pt x="0" y="76583"/>
                  </a:lnTo>
                  <a:lnTo>
                    <a:pt x="25398" y="76325"/>
                  </a:lnTo>
                  <a:lnTo>
                    <a:pt x="25269" y="63626"/>
                  </a:lnTo>
                  <a:lnTo>
                    <a:pt x="50667" y="63367"/>
                  </a:lnTo>
                  <a:lnTo>
                    <a:pt x="69815" y="63367"/>
                  </a:lnTo>
                  <a:lnTo>
                    <a:pt x="37322" y="0"/>
                  </a:lnTo>
                  <a:close/>
                </a:path>
                <a:path w="76200" h="404495" extrusionOk="0">
                  <a:moveTo>
                    <a:pt x="50667" y="63367"/>
                  </a:moveTo>
                  <a:lnTo>
                    <a:pt x="25269" y="63626"/>
                  </a:lnTo>
                  <a:lnTo>
                    <a:pt x="25398" y="76325"/>
                  </a:lnTo>
                  <a:lnTo>
                    <a:pt x="50796" y="76067"/>
                  </a:lnTo>
                  <a:lnTo>
                    <a:pt x="50667" y="63367"/>
                  </a:lnTo>
                  <a:close/>
                </a:path>
                <a:path w="76200" h="404495" extrusionOk="0">
                  <a:moveTo>
                    <a:pt x="69815" y="63367"/>
                  </a:moveTo>
                  <a:lnTo>
                    <a:pt x="50667" y="63367"/>
                  </a:lnTo>
                  <a:lnTo>
                    <a:pt x="50796" y="76067"/>
                  </a:lnTo>
                  <a:lnTo>
                    <a:pt x="76194" y="75808"/>
                  </a:lnTo>
                  <a:lnTo>
                    <a:pt x="69815" y="6336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682" name="Google Shape;682;p22"/>
            <p:cNvPicPr preferRelativeResize="0"/>
            <p:nvPr/>
          </p:nvPicPr>
          <p:blipFill rotWithShape="1">
            <a:blip r:embed="rId7">
              <a:alphaModFix/>
            </a:blip>
            <a:srcRect/>
            <a:stretch/>
          </p:blipFill>
          <p:spPr>
            <a:xfrm>
              <a:off x="5645272" y="5235200"/>
              <a:ext cx="639705" cy="640079"/>
            </a:xfrm>
            <a:prstGeom prst="rect">
              <a:avLst/>
            </a:prstGeom>
            <a:noFill/>
            <a:ln>
              <a:noFill/>
            </a:ln>
          </p:spPr>
        </p:pic>
      </p:grpSp>
      <p:grpSp>
        <p:nvGrpSpPr>
          <p:cNvPr id="683" name="Google Shape;683;p22"/>
          <p:cNvGrpSpPr/>
          <p:nvPr/>
        </p:nvGrpSpPr>
        <p:grpSpPr>
          <a:xfrm>
            <a:off x="6419682" y="4400222"/>
            <a:ext cx="639705" cy="1475057"/>
            <a:chOff x="6419682" y="4400222"/>
            <a:chExt cx="639705" cy="1475057"/>
          </a:xfrm>
        </p:grpSpPr>
        <p:sp>
          <p:nvSpPr>
            <p:cNvPr id="684" name="Google Shape;684;p22"/>
            <p:cNvSpPr/>
            <p:nvPr/>
          </p:nvSpPr>
          <p:spPr>
            <a:xfrm>
              <a:off x="6691232"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85" name="Google Shape;685;p22"/>
            <p:cNvSpPr/>
            <p:nvPr/>
          </p:nvSpPr>
          <p:spPr>
            <a:xfrm>
              <a:off x="6691232"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86" name="Google Shape;686;p22"/>
            <p:cNvSpPr/>
            <p:nvPr/>
          </p:nvSpPr>
          <p:spPr>
            <a:xfrm>
              <a:off x="6717023" y="4831110"/>
              <a:ext cx="76200" cy="404495"/>
            </a:xfrm>
            <a:custGeom>
              <a:avLst/>
              <a:gdLst/>
              <a:ahLst/>
              <a:cxnLst/>
              <a:rect l="l" t="t" r="r" b="b"/>
              <a:pathLst>
                <a:path w="76200" h="404495" extrusionOk="0">
                  <a:moveTo>
                    <a:pt x="25397" y="76008"/>
                  </a:moveTo>
                  <a:lnTo>
                    <a:pt x="20636" y="403914"/>
                  </a:lnTo>
                  <a:lnTo>
                    <a:pt x="46033" y="404284"/>
                  </a:lnTo>
                  <a:lnTo>
                    <a:pt x="50794" y="76377"/>
                  </a:lnTo>
                  <a:lnTo>
                    <a:pt x="25397" y="76008"/>
                  </a:lnTo>
                  <a:close/>
                </a:path>
                <a:path w="76200" h="404495" extrusionOk="0">
                  <a:moveTo>
                    <a:pt x="69714" y="63309"/>
                  </a:moveTo>
                  <a:lnTo>
                    <a:pt x="25581" y="63309"/>
                  </a:lnTo>
                  <a:lnTo>
                    <a:pt x="50979" y="63677"/>
                  </a:lnTo>
                  <a:lnTo>
                    <a:pt x="50794" y="76377"/>
                  </a:lnTo>
                  <a:lnTo>
                    <a:pt x="76191" y="76746"/>
                  </a:lnTo>
                  <a:lnTo>
                    <a:pt x="69714" y="63309"/>
                  </a:lnTo>
                  <a:close/>
                </a:path>
                <a:path w="76200" h="404495" extrusionOk="0">
                  <a:moveTo>
                    <a:pt x="25581" y="63309"/>
                  </a:moveTo>
                  <a:lnTo>
                    <a:pt x="25397" y="76008"/>
                  </a:lnTo>
                  <a:lnTo>
                    <a:pt x="50794" y="76377"/>
                  </a:lnTo>
                  <a:lnTo>
                    <a:pt x="50979" y="63677"/>
                  </a:lnTo>
                  <a:lnTo>
                    <a:pt x="25581" y="63309"/>
                  </a:lnTo>
                  <a:close/>
                </a:path>
                <a:path w="76200" h="404495" extrusionOk="0">
                  <a:moveTo>
                    <a:pt x="39201" y="0"/>
                  </a:moveTo>
                  <a:lnTo>
                    <a:pt x="0" y="75639"/>
                  </a:lnTo>
                  <a:lnTo>
                    <a:pt x="25397" y="76008"/>
                  </a:lnTo>
                  <a:lnTo>
                    <a:pt x="25581" y="63309"/>
                  </a:lnTo>
                  <a:lnTo>
                    <a:pt x="69714" y="63309"/>
                  </a:lnTo>
                  <a:lnTo>
                    <a:pt x="3920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687" name="Google Shape;687;p22"/>
            <p:cNvPicPr preferRelativeResize="0"/>
            <p:nvPr/>
          </p:nvPicPr>
          <p:blipFill rotWithShape="1">
            <a:blip r:embed="rId8">
              <a:alphaModFix/>
            </a:blip>
            <a:srcRect/>
            <a:stretch/>
          </p:blipFill>
          <p:spPr>
            <a:xfrm>
              <a:off x="6419682" y="5235200"/>
              <a:ext cx="639705" cy="640079"/>
            </a:xfrm>
            <a:prstGeom prst="rect">
              <a:avLst/>
            </a:prstGeom>
            <a:noFill/>
            <a:ln>
              <a:noFill/>
            </a:ln>
          </p:spPr>
        </p:pic>
      </p:grpSp>
      <p:grpSp>
        <p:nvGrpSpPr>
          <p:cNvPr id="688" name="Google Shape;688;p22"/>
          <p:cNvGrpSpPr/>
          <p:nvPr/>
        </p:nvGrpSpPr>
        <p:grpSpPr>
          <a:xfrm>
            <a:off x="7207347" y="4400222"/>
            <a:ext cx="641197" cy="1475057"/>
            <a:chOff x="7207347" y="4400222"/>
            <a:chExt cx="641197" cy="1475057"/>
          </a:xfrm>
        </p:grpSpPr>
        <p:sp>
          <p:nvSpPr>
            <p:cNvPr id="689" name="Google Shape;689;p22"/>
            <p:cNvSpPr/>
            <p:nvPr/>
          </p:nvSpPr>
          <p:spPr>
            <a:xfrm>
              <a:off x="7458613"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0" name="Google Shape;690;p22"/>
            <p:cNvSpPr/>
            <p:nvPr/>
          </p:nvSpPr>
          <p:spPr>
            <a:xfrm>
              <a:off x="7458613"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1" name="Google Shape;691;p22"/>
            <p:cNvSpPr/>
            <p:nvPr/>
          </p:nvSpPr>
          <p:spPr>
            <a:xfrm>
              <a:off x="7485566" y="4831110"/>
              <a:ext cx="76200" cy="404495"/>
            </a:xfrm>
            <a:custGeom>
              <a:avLst/>
              <a:gdLst/>
              <a:ahLst/>
              <a:cxnLst/>
              <a:rect l="l" t="t" r="r" b="b"/>
              <a:pathLst>
                <a:path w="76200" h="404495" extrusionOk="0">
                  <a:moveTo>
                    <a:pt x="50799" y="76190"/>
                  </a:moveTo>
                  <a:lnTo>
                    <a:pt x="25399" y="76210"/>
                  </a:lnTo>
                  <a:lnTo>
                    <a:pt x="25660" y="404110"/>
                  </a:lnTo>
                  <a:lnTo>
                    <a:pt x="51060" y="404089"/>
                  </a:lnTo>
                  <a:lnTo>
                    <a:pt x="50799" y="76190"/>
                  </a:lnTo>
                  <a:close/>
                </a:path>
                <a:path w="76200" h="404495" extrusionOk="0">
                  <a:moveTo>
                    <a:pt x="38039" y="0"/>
                  </a:moveTo>
                  <a:lnTo>
                    <a:pt x="0" y="76230"/>
                  </a:lnTo>
                  <a:lnTo>
                    <a:pt x="25399" y="76210"/>
                  </a:lnTo>
                  <a:lnTo>
                    <a:pt x="25389" y="63510"/>
                  </a:lnTo>
                  <a:lnTo>
                    <a:pt x="69846" y="63489"/>
                  </a:lnTo>
                  <a:lnTo>
                    <a:pt x="38039" y="0"/>
                  </a:lnTo>
                  <a:close/>
                </a:path>
                <a:path w="76200" h="404495" extrusionOk="0">
                  <a:moveTo>
                    <a:pt x="50789" y="63489"/>
                  </a:moveTo>
                  <a:lnTo>
                    <a:pt x="25389" y="63510"/>
                  </a:lnTo>
                  <a:lnTo>
                    <a:pt x="25399" y="76210"/>
                  </a:lnTo>
                  <a:lnTo>
                    <a:pt x="50799" y="76190"/>
                  </a:lnTo>
                  <a:lnTo>
                    <a:pt x="50789" y="63489"/>
                  </a:lnTo>
                  <a:close/>
                </a:path>
                <a:path w="76200" h="404495" extrusionOk="0">
                  <a:moveTo>
                    <a:pt x="69846" y="63489"/>
                  </a:moveTo>
                  <a:lnTo>
                    <a:pt x="50789" y="63489"/>
                  </a:lnTo>
                  <a:lnTo>
                    <a:pt x="50799" y="76190"/>
                  </a:lnTo>
                  <a:lnTo>
                    <a:pt x="76200" y="76170"/>
                  </a:lnTo>
                  <a:lnTo>
                    <a:pt x="69846"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692" name="Google Shape;692;p22"/>
            <p:cNvPicPr preferRelativeResize="0"/>
            <p:nvPr/>
          </p:nvPicPr>
          <p:blipFill rotWithShape="1">
            <a:blip r:embed="rId9">
              <a:alphaModFix/>
            </a:blip>
            <a:srcRect/>
            <a:stretch/>
          </p:blipFill>
          <p:spPr>
            <a:xfrm>
              <a:off x="7207347" y="5235200"/>
              <a:ext cx="641197" cy="640079"/>
            </a:xfrm>
            <a:prstGeom prst="rect">
              <a:avLst/>
            </a:prstGeom>
            <a:noFill/>
            <a:ln>
              <a:noFill/>
            </a:ln>
          </p:spPr>
        </p:pic>
      </p:grpSp>
      <p:grpSp>
        <p:nvGrpSpPr>
          <p:cNvPr id="693" name="Google Shape;693;p22"/>
          <p:cNvGrpSpPr/>
          <p:nvPr/>
        </p:nvGrpSpPr>
        <p:grpSpPr>
          <a:xfrm>
            <a:off x="7970093" y="4400222"/>
            <a:ext cx="641205" cy="1475057"/>
            <a:chOff x="7970093" y="4400222"/>
            <a:chExt cx="641205" cy="1475057"/>
          </a:xfrm>
        </p:grpSpPr>
        <p:sp>
          <p:nvSpPr>
            <p:cNvPr id="694" name="Google Shape;694;p22"/>
            <p:cNvSpPr/>
            <p:nvPr/>
          </p:nvSpPr>
          <p:spPr>
            <a:xfrm>
              <a:off x="8234614"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5" name="Google Shape;695;p22"/>
            <p:cNvSpPr/>
            <p:nvPr/>
          </p:nvSpPr>
          <p:spPr>
            <a:xfrm>
              <a:off x="8234614"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6" name="Google Shape;696;p22"/>
            <p:cNvSpPr/>
            <p:nvPr/>
          </p:nvSpPr>
          <p:spPr>
            <a:xfrm>
              <a:off x="8261567"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697" name="Google Shape;697;p22"/>
            <p:cNvPicPr preferRelativeResize="0"/>
            <p:nvPr/>
          </p:nvPicPr>
          <p:blipFill rotWithShape="1">
            <a:blip r:embed="rId10">
              <a:alphaModFix/>
            </a:blip>
            <a:srcRect/>
            <a:stretch/>
          </p:blipFill>
          <p:spPr>
            <a:xfrm>
              <a:off x="7970093" y="5235200"/>
              <a:ext cx="641205" cy="640079"/>
            </a:xfrm>
            <a:prstGeom prst="rect">
              <a:avLst/>
            </a:prstGeom>
            <a:noFill/>
            <a:ln>
              <a:noFill/>
            </a:ln>
          </p:spPr>
        </p:pic>
      </p:grpSp>
      <p:grpSp>
        <p:nvGrpSpPr>
          <p:cNvPr id="698" name="Google Shape;698;p22"/>
          <p:cNvGrpSpPr/>
          <p:nvPr/>
        </p:nvGrpSpPr>
        <p:grpSpPr>
          <a:xfrm>
            <a:off x="8744502" y="4400222"/>
            <a:ext cx="641206" cy="1475057"/>
            <a:chOff x="8744502" y="4400222"/>
            <a:chExt cx="641206" cy="1475057"/>
          </a:xfrm>
        </p:grpSpPr>
        <p:sp>
          <p:nvSpPr>
            <p:cNvPr id="699" name="Google Shape;699;p22"/>
            <p:cNvSpPr/>
            <p:nvPr/>
          </p:nvSpPr>
          <p:spPr>
            <a:xfrm>
              <a:off x="9011366"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00" name="Google Shape;700;p22"/>
            <p:cNvSpPr/>
            <p:nvPr/>
          </p:nvSpPr>
          <p:spPr>
            <a:xfrm>
              <a:off x="9011366"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01" name="Google Shape;701;p22"/>
            <p:cNvSpPr/>
            <p:nvPr/>
          </p:nvSpPr>
          <p:spPr>
            <a:xfrm>
              <a:off x="9038318"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702" name="Google Shape;702;p22"/>
            <p:cNvPicPr preferRelativeResize="0"/>
            <p:nvPr/>
          </p:nvPicPr>
          <p:blipFill rotWithShape="1">
            <a:blip r:embed="rId11">
              <a:alphaModFix/>
            </a:blip>
            <a:srcRect/>
            <a:stretch/>
          </p:blipFill>
          <p:spPr>
            <a:xfrm>
              <a:off x="8744502" y="5235200"/>
              <a:ext cx="641206" cy="640079"/>
            </a:xfrm>
            <a:prstGeom prst="rect">
              <a:avLst/>
            </a:prstGeom>
            <a:noFill/>
            <a:ln>
              <a:noFill/>
            </a:ln>
          </p:spPr>
        </p:pic>
      </p:grpSp>
      <p:sp>
        <p:nvSpPr>
          <p:cNvPr id="703" name="Google Shape;703;p22"/>
          <p:cNvSpPr txBox="1"/>
          <p:nvPr/>
        </p:nvSpPr>
        <p:spPr>
          <a:xfrm>
            <a:off x="276038" y="4548902"/>
            <a:ext cx="2040889" cy="1289050"/>
          </a:xfrm>
          <a:prstGeom prst="rect">
            <a:avLst/>
          </a:prstGeom>
          <a:noFill/>
          <a:ln>
            <a:noFill/>
          </a:ln>
        </p:spPr>
        <p:txBody>
          <a:bodyPr spcFirstLastPara="1" wrap="square" lIns="0" tIns="15875" rIns="0" bIns="0" anchor="t" anchorCtr="0">
            <a:spAutoFit/>
          </a:bodyPr>
          <a:lstStyle/>
          <a:p>
            <a:pPr marL="17145" marR="31115" lvl="0" indent="0" algn="l" rtl="0">
              <a:lnSpc>
                <a:spcPct val="117222"/>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 D-dimensional vector</a:t>
            </a:r>
            <a:endParaRPr sz="1800" b="0" i="0" u="none" strike="noStrike" cap="none">
              <a:solidFill>
                <a:srgbClr val="000000"/>
              </a:solidFill>
              <a:latin typeface="Calibri"/>
              <a:ea typeface="Calibri"/>
              <a:cs typeface="Calibri"/>
              <a:sym typeface="Calibri"/>
            </a:endParaRPr>
          </a:p>
          <a:p>
            <a:pPr marL="12700" marR="5080" lvl="0" indent="0" algn="l" rtl="0">
              <a:lnSpc>
                <a:spcPct val="117222"/>
              </a:lnSpc>
              <a:spcBef>
                <a:spcPts val="142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N input patches, each of shape 3x16x16</a:t>
            </a:r>
            <a:endParaRPr sz="1800" b="0" i="0" u="none" strike="noStrike" cap="none">
              <a:solidFill>
                <a:srgbClr val="000000"/>
              </a:solidFill>
              <a:latin typeface="Calibri"/>
              <a:ea typeface="Calibri"/>
              <a:cs typeface="Calibri"/>
              <a:sym typeface="Calibri"/>
            </a:endParaRPr>
          </a:p>
        </p:txBody>
      </p:sp>
      <p:sp>
        <p:nvSpPr>
          <p:cNvPr id="704" name="Google Shape;704;p22"/>
          <p:cNvSpPr txBox="1"/>
          <p:nvPr/>
        </p:nvSpPr>
        <p:spPr>
          <a:xfrm>
            <a:off x="10251213" y="5962476"/>
            <a:ext cx="1861185" cy="375920"/>
          </a:xfrm>
          <a:prstGeom prst="rect">
            <a:avLst/>
          </a:prstGeom>
          <a:noFill/>
          <a:ln>
            <a:noFill/>
          </a:ln>
        </p:spPr>
        <p:txBody>
          <a:bodyPr spcFirstLastPara="1" wrap="square" lIns="0" tIns="1250" rIns="0" bIns="0" anchor="t" anchorCtr="0">
            <a:spAutoFit/>
          </a:bodyPr>
          <a:lstStyle/>
          <a:p>
            <a:pPr marL="296545" marR="5080" lvl="0" indent="-284480" algn="l" rtl="0">
              <a:lnSpc>
                <a:spcPct val="129090"/>
              </a:lnSpc>
              <a:spcBef>
                <a:spcPts val="0"/>
              </a:spcBef>
              <a:spcAft>
                <a:spcPts val="0"/>
              </a:spcAft>
              <a:buClr>
                <a:srgbClr val="0563C1"/>
              </a:buClr>
              <a:buSzPts val="1100"/>
              <a:buFont typeface="Arial"/>
              <a:buNone/>
            </a:pPr>
            <a:r>
              <a:rPr lang="en-US" sz="1100" b="0" i="0" u="sng" strike="noStrike" cap="none">
                <a:solidFill>
                  <a:srgbClr val="0563C1"/>
                </a:solidFill>
                <a:latin typeface="Calibri"/>
                <a:ea typeface="Calibri"/>
                <a:cs typeface="Calibri"/>
                <a:sym typeface="Calibri"/>
              </a:rPr>
              <a:t>Cat image</a:t>
            </a:r>
            <a:r>
              <a:rPr lang="en-US" sz="1100" b="0" i="0" u="none" strike="noStrike" cap="none">
                <a:solidFill>
                  <a:srgbClr val="0563C1"/>
                </a:solidFill>
                <a:latin typeface="Calibri"/>
                <a:ea typeface="Calibri"/>
                <a:cs typeface="Calibri"/>
                <a:sym typeface="Calibri"/>
              </a:rPr>
              <a:t> </a:t>
            </a:r>
            <a:r>
              <a:rPr lang="en-US" sz="1100" b="0" i="0" u="none" strike="noStrike" cap="none">
                <a:solidFill>
                  <a:srgbClr val="000000"/>
                </a:solidFill>
                <a:latin typeface="Calibri"/>
                <a:ea typeface="Calibri"/>
                <a:cs typeface="Calibri"/>
                <a:sym typeface="Calibri"/>
              </a:rPr>
              <a:t>is free for commercial use under a </a:t>
            </a:r>
            <a:r>
              <a:rPr lang="en-US" sz="1100" b="0" i="0" u="sng" strike="noStrike" cap="none">
                <a:solidFill>
                  <a:srgbClr val="0563C1"/>
                </a:solidFill>
                <a:latin typeface="Calibri"/>
                <a:ea typeface="Calibri"/>
                <a:cs typeface="Calibri"/>
                <a:sym typeface="Calibri"/>
              </a:rPr>
              <a:t>Pixabay license</a:t>
            </a:r>
            <a:endParaRPr sz="1100" b="0" i="0" u="none" strike="noStrike" cap="none">
              <a:solidFill>
                <a:srgbClr val="000000"/>
              </a:solidFill>
              <a:latin typeface="Calibri"/>
              <a:ea typeface="Calibri"/>
              <a:cs typeface="Calibri"/>
              <a:sym typeface="Calibri"/>
            </a:endParaRPr>
          </a:p>
        </p:txBody>
      </p:sp>
      <p:sp>
        <p:nvSpPr>
          <p:cNvPr id="705" name="Google Shape;705;p22"/>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706" name="Google Shape;706;p22"/>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a:t>
            </a:r>
            <a:endParaRPr/>
          </a:p>
        </p:txBody>
      </p:sp>
      <p:sp>
        <p:nvSpPr>
          <p:cNvPr id="707" name="Google Shape;707;p22"/>
          <p:cNvSpPr/>
          <p:nvPr/>
        </p:nvSpPr>
        <p:spPr>
          <a:xfrm>
            <a:off x="2550" y="6466475"/>
            <a:ext cx="3467400" cy="37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708" name="Google Shape;708;p22"/>
          <p:cNvSpPr txBox="1"/>
          <p:nvPr/>
        </p:nvSpPr>
        <p:spPr>
          <a:xfrm>
            <a:off x="7936200" y="28575"/>
            <a:ext cx="40176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a:t>CV10 Attention - Transformers - Vision Transformer</a:t>
            </a:r>
            <a:endParaRPr sz="10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grpSp>
        <p:nvGrpSpPr>
          <p:cNvPr id="713" name="Google Shape;713;p23"/>
          <p:cNvGrpSpPr/>
          <p:nvPr/>
        </p:nvGrpSpPr>
        <p:grpSpPr>
          <a:xfrm>
            <a:off x="2535941" y="4400222"/>
            <a:ext cx="683958" cy="1475057"/>
            <a:chOff x="2535941" y="4400222"/>
            <a:chExt cx="683958" cy="1475057"/>
          </a:xfrm>
        </p:grpSpPr>
        <p:sp>
          <p:nvSpPr>
            <p:cNvPr id="714" name="Google Shape;714;p23"/>
            <p:cNvSpPr/>
            <p:nvPr/>
          </p:nvSpPr>
          <p:spPr>
            <a:xfrm>
              <a:off x="2802577"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5" name="Google Shape;715;p23"/>
            <p:cNvSpPr/>
            <p:nvPr/>
          </p:nvSpPr>
          <p:spPr>
            <a:xfrm>
              <a:off x="2802577"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6" name="Google Shape;716;p23"/>
            <p:cNvSpPr/>
            <p:nvPr/>
          </p:nvSpPr>
          <p:spPr>
            <a:xfrm>
              <a:off x="2829572" y="4831110"/>
              <a:ext cx="76200" cy="404495"/>
            </a:xfrm>
            <a:custGeom>
              <a:avLst/>
              <a:gdLst/>
              <a:ahLst/>
              <a:cxnLst/>
              <a:rect l="l" t="t" r="r" b="b"/>
              <a:pathLst>
                <a:path w="76200" h="404495" extrusionOk="0">
                  <a:moveTo>
                    <a:pt x="50799" y="76183"/>
                  </a:moveTo>
                  <a:lnTo>
                    <a:pt x="25399" y="76217"/>
                  </a:lnTo>
                  <a:lnTo>
                    <a:pt x="25840" y="404106"/>
                  </a:lnTo>
                  <a:lnTo>
                    <a:pt x="51240" y="404072"/>
                  </a:lnTo>
                  <a:lnTo>
                    <a:pt x="50799" y="76183"/>
                  </a:lnTo>
                  <a:close/>
                </a:path>
                <a:path w="76200" h="404495" extrusionOk="0">
                  <a:moveTo>
                    <a:pt x="37997" y="0"/>
                  </a:moveTo>
                  <a:lnTo>
                    <a:pt x="0" y="76252"/>
                  </a:lnTo>
                  <a:lnTo>
                    <a:pt x="25399" y="76217"/>
                  </a:lnTo>
                  <a:lnTo>
                    <a:pt x="25382" y="63517"/>
                  </a:lnTo>
                  <a:lnTo>
                    <a:pt x="69845" y="63483"/>
                  </a:lnTo>
                  <a:lnTo>
                    <a:pt x="37997" y="0"/>
                  </a:lnTo>
                  <a:close/>
                </a:path>
                <a:path w="76200" h="404495" extrusionOk="0">
                  <a:moveTo>
                    <a:pt x="50782" y="63483"/>
                  </a:moveTo>
                  <a:lnTo>
                    <a:pt x="25382" y="63517"/>
                  </a:lnTo>
                  <a:lnTo>
                    <a:pt x="25399" y="76217"/>
                  </a:lnTo>
                  <a:lnTo>
                    <a:pt x="50799" y="76183"/>
                  </a:lnTo>
                  <a:lnTo>
                    <a:pt x="50782" y="63483"/>
                  </a:lnTo>
                  <a:close/>
                </a:path>
                <a:path w="76200" h="404495" extrusionOk="0">
                  <a:moveTo>
                    <a:pt x="69845" y="63483"/>
                  </a:moveTo>
                  <a:lnTo>
                    <a:pt x="50782" y="63483"/>
                  </a:lnTo>
                  <a:lnTo>
                    <a:pt x="50799" y="76183"/>
                  </a:lnTo>
                  <a:lnTo>
                    <a:pt x="76200" y="76149"/>
                  </a:lnTo>
                  <a:lnTo>
                    <a:pt x="69845" y="6348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717" name="Google Shape;717;p23"/>
            <p:cNvPicPr preferRelativeResize="0"/>
            <p:nvPr/>
          </p:nvPicPr>
          <p:blipFill rotWithShape="1">
            <a:blip r:embed="rId3">
              <a:alphaModFix/>
            </a:blip>
            <a:srcRect/>
            <a:stretch/>
          </p:blipFill>
          <p:spPr>
            <a:xfrm>
              <a:off x="2535941" y="5235200"/>
              <a:ext cx="639705" cy="640079"/>
            </a:xfrm>
            <a:prstGeom prst="rect">
              <a:avLst/>
            </a:prstGeom>
            <a:noFill/>
            <a:ln>
              <a:noFill/>
            </a:ln>
          </p:spPr>
        </p:pic>
        <p:sp>
          <p:nvSpPr>
            <p:cNvPr id="718" name="Google Shape;718;p23"/>
            <p:cNvSpPr/>
            <p:nvPr/>
          </p:nvSpPr>
          <p:spPr>
            <a:xfrm>
              <a:off x="3089724"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9" name="Google Shape;719;p23"/>
            <p:cNvSpPr/>
            <p:nvPr/>
          </p:nvSpPr>
          <p:spPr>
            <a:xfrm>
              <a:off x="3089724"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20" name="Google Shape;720;p23"/>
          <p:cNvGrpSpPr/>
          <p:nvPr/>
        </p:nvGrpSpPr>
        <p:grpSpPr>
          <a:xfrm>
            <a:off x="3312686" y="4404013"/>
            <a:ext cx="683436" cy="1471266"/>
            <a:chOff x="3312686" y="4404013"/>
            <a:chExt cx="683436" cy="1471266"/>
          </a:xfrm>
        </p:grpSpPr>
        <p:sp>
          <p:nvSpPr>
            <p:cNvPr id="721" name="Google Shape;721;p23"/>
            <p:cNvSpPr/>
            <p:nvPr/>
          </p:nvSpPr>
          <p:spPr>
            <a:xfrm>
              <a:off x="3578800" y="4404013"/>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2" name="Google Shape;722;p23"/>
            <p:cNvSpPr/>
            <p:nvPr/>
          </p:nvSpPr>
          <p:spPr>
            <a:xfrm>
              <a:off x="3578800"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3" name="Google Shape;723;p23"/>
            <p:cNvSpPr/>
            <p:nvPr/>
          </p:nvSpPr>
          <p:spPr>
            <a:xfrm>
              <a:off x="3605753" y="4834901"/>
              <a:ext cx="76200" cy="400685"/>
            </a:xfrm>
            <a:custGeom>
              <a:avLst/>
              <a:gdLst/>
              <a:ahLst/>
              <a:cxnLst/>
              <a:rect l="l" t="t" r="r" b="b"/>
              <a:pathLst>
                <a:path w="76200" h="400685" extrusionOk="0">
                  <a:moveTo>
                    <a:pt x="50800" y="76190"/>
                  </a:moveTo>
                  <a:lnTo>
                    <a:pt x="25400" y="76211"/>
                  </a:lnTo>
                  <a:lnTo>
                    <a:pt x="25660" y="400309"/>
                  </a:lnTo>
                  <a:lnTo>
                    <a:pt x="51060" y="400288"/>
                  </a:lnTo>
                  <a:lnTo>
                    <a:pt x="50800" y="76190"/>
                  </a:lnTo>
                  <a:close/>
                </a:path>
                <a:path w="76200" h="400685" extrusionOk="0">
                  <a:moveTo>
                    <a:pt x="38037" y="0"/>
                  </a:moveTo>
                  <a:lnTo>
                    <a:pt x="0" y="76231"/>
                  </a:lnTo>
                  <a:lnTo>
                    <a:pt x="25400" y="76211"/>
                  </a:lnTo>
                  <a:lnTo>
                    <a:pt x="25389" y="63510"/>
                  </a:lnTo>
                  <a:lnTo>
                    <a:pt x="69847" y="63489"/>
                  </a:lnTo>
                  <a:lnTo>
                    <a:pt x="38037"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724" name="Google Shape;724;p23"/>
            <p:cNvPicPr preferRelativeResize="0"/>
            <p:nvPr/>
          </p:nvPicPr>
          <p:blipFill rotWithShape="1">
            <a:blip r:embed="rId4">
              <a:alphaModFix/>
            </a:blip>
            <a:srcRect/>
            <a:stretch/>
          </p:blipFill>
          <p:spPr>
            <a:xfrm>
              <a:off x="3312686" y="5235200"/>
              <a:ext cx="639705" cy="640079"/>
            </a:xfrm>
            <a:prstGeom prst="rect">
              <a:avLst/>
            </a:prstGeom>
            <a:noFill/>
            <a:ln>
              <a:noFill/>
            </a:ln>
          </p:spPr>
        </p:pic>
        <p:sp>
          <p:nvSpPr>
            <p:cNvPr id="725" name="Google Shape;725;p23"/>
            <p:cNvSpPr/>
            <p:nvPr/>
          </p:nvSpPr>
          <p:spPr>
            <a:xfrm>
              <a:off x="3865947" y="440599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6" name="Google Shape;726;p23"/>
            <p:cNvSpPr/>
            <p:nvPr/>
          </p:nvSpPr>
          <p:spPr>
            <a:xfrm>
              <a:off x="3865947"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27" name="Google Shape;727;p23"/>
          <p:cNvGrpSpPr/>
          <p:nvPr/>
        </p:nvGrpSpPr>
        <p:grpSpPr>
          <a:xfrm>
            <a:off x="4089432" y="4400222"/>
            <a:ext cx="682911" cy="1475057"/>
            <a:chOff x="4089432" y="4400222"/>
            <a:chExt cx="682911" cy="1475057"/>
          </a:xfrm>
        </p:grpSpPr>
        <p:sp>
          <p:nvSpPr>
            <p:cNvPr id="728" name="Google Shape;728;p23"/>
            <p:cNvSpPr/>
            <p:nvPr/>
          </p:nvSpPr>
          <p:spPr>
            <a:xfrm>
              <a:off x="4355021"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9" name="Google Shape;729;p23"/>
            <p:cNvSpPr/>
            <p:nvPr/>
          </p:nvSpPr>
          <p:spPr>
            <a:xfrm>
              <a:off x="4355021"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30" name="Google Shape;730;p23"/>
            <p:cNvSpPr/>
            <p:nvPr/>
          </p:nvSpPr>
          <p:spPr>
            <a:xfrm>
              <a:off x="4382073" y="4831110"/>
              <a:ext cx="76200" cy="404495"/>
            </a:xfrm>
            <a:custGeom>
              <a:avLst/>
              <a:gdLst/>
              <a:ahLst/>
              <a:cxnLst/>
              <a:rect l="l" t="t" r="r" b="b"/>
              <a:pathLst>
                <a:path w="76200" h="404495" extrusionOk="0">
                  <a:moveTo>
                    <a:pt x="50799" y="76173"/>
                  </a:moveTo>
                  <a:lnTo>
                    <a:pt x="25399" y="76226"/>
                  </a:lnTo>
                  <a:lnTo>
                    <a:pt x="26087" y="404116"/>
                  </a:lnTo>
                  <a:lnTo>
                    <a:pt x="51487" y="404063"/>
                  </a:lnTo>
                  <a:lnTo>
                    <a:pt x="50799" y="76173"/>
                  </a:lnTo>
                  <a:close/>
                </a:path>
                <a:path w="76200" h="404495" extrusionOk="0">
                  <a:moveTo>
                    <a:pt x="37939" y="0"/>
                  </a:moveTo>
                  <a:lnTo>
                    <a:pt x="0" y="76280"/>
                  </a:lnTo>
                  <a:lnTo>
                    <a:pt x="25399" y="76226"/>
                  </a:lnTo>
                  <a:lnTo>
                    <a:pt x="25373" y="63526"/>
                  </a:lnTo>
                  <a:lnTo>
                    <a:pt x="69843" y="63473"/>
                  </a:lnTo>
                  <a:lnTo>
                    <a:pt x="37939" y="0"/>
                  </a:lnTo>
                  <a:close/>
                </a:path>
                <a:path w="76200" h="404495" extrusionOk="0">
                  <a:moveTo>
                    <a:pt x="50773" y="63473"/>
                  </a:moveTo>
                  <a:lnTo>
                    <a:pt x="25373" y="63526"/>
                  </a:lnTo>
                  <a:lnTo>
                    <a:pt x="25399" y="76226"/>
                  </a:lnTo>
                  <a:lnTo>
                    <a:pt x="50799" y="76173"/>
                  </a:lnTo>
                  <a:lnTo>
                    <a:pt x="50773" y="63473"/>
                  </a:lnTo>
                  <a:close/>
                </a:path>
                <a:path w="76200" h="404495" extrusionOk="0">
                  <a:moveTo>
                    <a:pt x="69843" y="63473"/>
                  </a:moveTo>
                  <a:lnTo>
                    <a:pt x="50773" y="63473"/>
                  </a:lnTo>
                  <a:lnTo>
                    <a:pt x="50799" y="76173"/>
                  </a:lnTo>
                  <a:lnTo>
                    <a:pt x="76200" y="76119"/>
                  </a:lnTo>
                  <a:lnTo>
                    <a:pt x="69843" y="6347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731" name="Google Shape;731;p23"/>
            <p:cNvPicPr preferRelativeResize="0"/>
            <p:nvPr/>
          </p:nvPicPr>
          <p:blipFill rotWithShape="1">
            <a:blip r:embed="rId5">
              <a:alphaModFix/>
            </a:blip>
            <a:srcRect/>
            <a:stretch/>
          </p:blipFill>
          <p:spPr>
            <a:xfrm>
              <a:off x="4089432" y="5235200"/>
              <a:ext cx="639705" cy="640079"/>
            </a:xfrm>
            <a:prstGeom prst="rect">
              <a:avLst/>
            </a:prstGeom>
            <a:noFill/>
            <a:ln>
              <a:noFill/>
            </a:ln>
          </p:spPr>
        </p:pic>
        <p:sp>
          <p:nvSpPr>
            <p:cNvPr id="732" name="Google Shape;732;p23"/>
            <p:cNvSpPr/>
            <p:nvPr/>
          </p:nvSpPr>
          <p:spPr>
            <a:xfrm>
              <a:off x="4642168"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33" name="Google Shape;733;p23"/>
            <p:cNvSpPr/>
            <p:nvPr/>
          </p:nvSpPr>
          <p:spPr>
            <a:xfrm>
              <a:off x="4642168"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34" name="Google Shape;734;p23"/>
          <p:cNvGrpSpPr/>
          <p:nvPr/>
        </p:nvGrpSpPr>
        <p:grpSpPr>
          <a:xfrm>
            <a:off x="4866180" y="4404013"/>
            <a:ext cx="683434" cy="1471266"/>
            <a:chOff x="4866180" y="4404013"/>
            <a:chExt cx="683434" cy="1471266"/>
          </a:xfrm>
        </p:grpSpPr>
        <p:sp>
          <p:nvSpPr>
            <p:cNvPr id="735" name="Google Shape;735;p23"/>
            <p:cNvSpPr/>
            <p:nvPr/>
          </p:nvSpPr>
          <p:spPr>
            <a:xfrm>
              <a:off x="5132292" y="4404013"/>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36" name="Google Shape;736;p23"/>
            <p:cNvSpPr/>
            <p:nvPr/>
          </p:nvSpPr>
          <p:spPr>
            <a:xfrm>
              <a:off x="5132292"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37" name="Google Shape;737;p23"/>
            <p:cNvSpPr/>
            <p:nvPr/>
          </p:nvSpPr>
          <p:spPr>
            <a:xfrm>
              <a:off x="5159245" y="4834901"/>
              <a:ext cx="76200" cy="400685"/>
            </a:xfrm>
            <a:custGeom>
              <a:avLst/>
              <a:gdLst/>
              <a:ahLst/>
              <a:cxnLst/>
              <a:rect l="l" t="t" r="r" b="b"/>
              <a:pathLst>
                <a:path w="76200" h="400685" extrusionOk="0">
                  <a:moveTo>
                    <a:pt x="50800" y="76190"/>
                  </a:moveTo>
                  <a:lnTo>
                    <a:pt x="25400" y="76211"/>
                  </a:lnTo>
                  <a:lnTo>
                    <a:pt x="25661" y="400319"/>
                  </a:lnTo>
                  <a:lnTo>
                    <a:pt x="51061" y="400298"/>
                  </a:lnTo>
                  <a:lnTo>
                    <a:pt x="50800" y="76190"/>
                  </a:lnTo>
                  <a:close/>
                </a:path>
                <a:path w="76200" h="400685" extrusionOk="0">
                  <a:moveTo>
                    <a:pt x="38039" y="0"/>
                  </a:moveTo>
                  <a:lnTo>
                    <a:pt x="0" y="76231"/>
                  </a:lnTo>
                  <a:lnTo>
                    <a:pt x="25400" y="76211"/>
                  </a:lnTo>
                  <a:lnTo>
                    <a:pt x="25389" y="63510"/>
                  </a:lnTo>
                  <a:lnTo>
                    <a:pt x="69847" y="63489"/>
                  </a:lnTo>
                  <a:lnTo>
                    <a:pt x="38039"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738" name="Google Shape;738;p23"/>
            <p:cNvPicPr preferRelativeResize="0"/>
            <p:nvPr/>
          </p:nvPicPr>
          <p:blipFill rotWithShape="1">
            <a:blip r:embed="rId6">
              <a:alphaModFix/>
            </a:blip>
            <a:srcRect/>
            <a:stretch/>
          </p:blipFill>
          <p:spPr>
            <a:xfrm>
              <a:off x="4866180" y="5235200"/>
              <a:ext cx="639705" cy="640079"/>
            </a:xfrm>
            <a:prstGeom prst="rect">
              <a:avLst/>
            </a:prstGeom>
            <a:noFill/>
            <a:ln>
              <a:noFill/>
            </a:ln>
          </p:spPr>
        </p:pic>
        <p:sp>
          <p:nvSpPr>
            <p:cNvPr id="739" name="Google Shape;739;p23"/>
            <p:cNvSpPr/>
            <p:nvPr/>
          </p:nvSpPr>
          <p:spPr>
            <a:xfrm>
              <a:off x="5419439" y="440599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0" name="Google Shape;740;p23"/>
            <p:cNvSpPr/>
            <p:nvPr/>
          </p:nvSpPr>
          <p:spPr>
            <a:xfrm>
              <a:off x="5419439"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41" name="Google Shape;741;p23"/>
          <p:cNvGrpSpPr/>
          <p:nvPr/>
        </p:nvGrpSpPr>
        <p:grpSpPr>
          <a:xfrm>
            <a:off x="5645272" y="4400222"/>
            <a:ext cx="676559" cy="1475057"/>
            <a:chOff x="5645272" y="4400222"/>
            <a:chExt cx="676559" cy="1475057"/>
          </a:xfrm>
        </p:grpSpPr>
        <p:sp>
          <p:nvSpPr>
            <p:cNvPr id="742" name="Google Shape;742;p23"/>
            <p:cNvSpPr/>
            <p:nvPr/>
          </p:nvSpPr>
          <p:spPr>
            <a:xfrm>
              <a:off x="5904509"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3" name="Google Shape;743;p23"/>
            <p:cNvSpPr/>
            <p:nvPr/>
          </p:nvSpPr>
          <p:spPr>
            <a:xfrm>
              <a:off x="5904509"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4" name="Google Shape;744;p23"/>
            <p:cNvSpPr/>
            <p:nvPr/>
          </p:nvSpPr>
          <p:spPr>
            <a:xfrm>
              <a:off x="5932177" y="4831110"/>
              <a:ext cx="76200" cy="404495"/>
            </a:xfrm>
            <a:custGeom>
              <a:avLst/>
              <a:gdLst/>
              <a:ahLst/>
              <a:cxnLst/>
              <a:rect l="l" t="t" r="r" b="b"/>
              <a:pathLst>
                <a:path w="76200" h="404495" extrusionOk="0">
                  <a:moveTo>
                    <a:pt x="50796" y="76067"/>
                  </a:moveTo>
                  <a:lnTo>
                    <a:pt x="25398" y="76325"/>
                  </a:lnTo>
                  <a:lnTo>
                    <a:pt x="28731" y="404228"/>
                  </a:lnTo>
                  <a:lnTo>
                    <a:pt x="54129" y="403970"/>
                  </a:lnTo>
                  <a:lnTo>
                    <a:pt x="50796" y="76067"/>
                  </a:lnTo>
                  <a:close/>
                </a:path>
                <a:path w="76200" h="404495" extrusionOk="0">
                  <a:moveTo>
                    <a:pt x="37322" y="0"/>
                  </a:moveTo>
                  <a:lnTo>
                    <a:pt x="0" y="76583"/>
                  </a:lnTo>
                  <a:lnTo>
                    <a:pt x="25398" y="76325"/>
                  </a:lnTo>
                  <a:lnTo>
                    <a:pt x="25269" y="63626"/>
                  </a:lnTo>
                  <a:lnTo>
                    <a:pt x="50667" y="63367"/>
                  </a:lnTo>
                  <a:lnTo>
                    <a:pt x="69815" y="63367"/>
                  </a:lnTo>
                  <a:lnTo>
                    <a:pt x="37322" y="0"/>
                  </a:lnTo>
                  <a:close/>
                </a:path>
                <a:path w="76200" h="404495" extrusionOk="0">
                  <a:moveTo>
                    <a:pt x="50667" y="63367"/>
                  </a:moveTo>
                  <a:lnTo>
                    <a:pt x="25269" y="63626"/>
                  </a:lnTo>
                  <a:lnTo>
                    <a:pt x="25398" y="76325"/>
                  </a:lnTo>
                  <a:lnTo>
                    <a:pt x="50796" y="76067"/>
                  </a:lnTo>
                  <a:lnTo>
                    <a:pt x="50667" y="63367"/>
                  </a:lnTo>
                  <a:close/>
                </a:path>
                <a:path w="76200" h="404495" extrusionOk="0">
                  <a:moveTo>
                    <a:pt x="69815" y="63367"/>
                  </a:moveTo>
                  <a:lnTo>
                    <a:pt x="50667" y="63367"/>
                  </a:lnTo>
                  <a:lnTo>
                    <a:pt x="50796" y="76067"/>
                  </a:lnTo>
                  <a:lnTo>
                    <a:pt x="76194" y="75808"/>
                  </a:lnTo>
                  <a:lnTo>
                    <a:pt x="69815" y="6336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745" name="Google Shape;745;p23"/>
            <p:cNvPicPr preferRelativeResize="0"/>
            <p:nvPr/>
          </p:nvPicPr>
          <p:blipFill rotWithShape="1">
            <a:blip r:embed="rId7">
              <a:alphaModFix/>
            </a:blip>
            <a:srcRect/>
            <a:stretch/>
          </p:blipFill>
          <p:spPr>
            <a:xfrm>
              <a:off x="5645272" y="5235200"/>
              <a:ext cx="639705" cy="640079"/>
            </a:xfrm>
            <a:prstGeom prst="rect">
              <a:avLst/>
            </a:prstGeom>
            <a:noFill/>
            <a:ln>
              <a:noFill/>
            </a:ln>
          </p:spPr>
        </p:pic>
        <p:sp>
          <p:nvSpPr>
            <p:cNvPr id="746" name="Google Shape;746;p23"/>
            <p:cNvSpPr/>
            <p:nvPr/>
          </p:nvSpPr>
          <p:spPr>
            <a:xfrm>
              <a:off x="6191656"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7" name="Google Shape;747;p23"/>
            <p:cNvSpPr/>
            <p:nvPr/>
          </p:nvSpPr>
          <p:spPr>
            <a:xfrm>
              <a:off x="6191656"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48" name="Google Shape;748;p23"/>
          <p:cNvGrpSpPr/>
          <p:nvPr/>
        </p:nvGrpSpPr>
        <p:grpSpPr>
          <a:xfrm>
            <a:off x="6419682" y="4400222"/>
            <a:ext cx="688872" cy="1475057"/>
            <a:chOff x="6419682" y="4400222"/>
            <a:chExt cx="688872" cy="1475057"/>
          </a:xfrm>
        </p:grpSpPr>
        <p:sp>
          <p:nvSpPr>
            <p:cNvPr id="749" name="Google Shape;749;p23"/>
            <p:cNvSpPr/>
            <p:nvPr/>
          </p:nvSpPr>
          <p:spPr>
            <a:xfrm>
              <a:off x="6691232"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0" name="Google Shape;750;p23"/>
            <p:cNvSpPr/>
            <p:nvPr/>
          </p:nvSpPr>
          <p:spPr>
            <a:xfrm>
              <a:off x="6691232"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1" name="Google Shape;751;p23"/>
            <p:cNvSpPr/>
            <p:nvPr/>
          </p:nvSpPr>
          <p:spPr>
            <a:xfrm>
              <a:off x="6717023" y="4831110"/>
              <a:ext cx="76200" cy="404495"/>
            </a:xfrm>
            <a:custGeom>
              <a:avLst/>
              <a:gdLst/>
              <a:ahLst/>
              <a:cxnLst/>
              <a:rect l="l" t="t" r="r" b="b"/>
              <a:pathLst>
                <a:path w="76200" h="404495" extrusionOk="0">
                  <a:moveTo>
                    <a:pt x="25397" y="76008"/>
                  </a:moveTo>
                  <a:lnTo>
                    <a:pt x="20636" y="403914"/>
                  </a:lnTo>
                  <a:lnTo>
                    <a:pt x="46033" y="404284"/>
                  </a:lnTo>
                  <a:lnTo>
                    <a:pt x="50794" y="76377"/>
                  </a:lnTo>
                  <a:lnTo>
                    <a:pt x="25397" y="76008"/>
                  </a:lnTo>
                  <a:close/>
                </a:path>
                <a:path w="76200" h="404495" extrusionOk="0">
                  <a:moveTo>
                    <a:pt x="69714" y="63309"/>
                  </a:moveTo>
                  <a:lnTo>
                    <a:pt x="25581" y="63309"/>
                  </a:lnTo>
                  <a:lnTo>
                    <a:pt x="50979" y="63677"/>
                  </a:lnTo>
                  <a:lnTo>
                    <a:pt x="50794" y="76377"/>
                  </a:lnTo>
                  <a:lnTo>
                    <a:pt x="76191" y="76746"/>
                  </a:lnTo>
                  <a:lnTo>
                    <a:pt x="69714" y="63309"/>
                  </a:lnTo>
                  <a:close/>
                </a:path>
                <a:path w="76200" h="404495" extrusionOk="0">
                  <a:moveTo>
                    <a:pt x="25581" y="63309"/>
                  </a:moveTo>
                  <a:lnTo>
                    <a:pt x="25397" y="76008"/>
                  </a:lnTo>
                  <a:lnTo>
                    <a:pt x="50794" y="76377"/>
                  </a:lnTo>
                  <a:lnTo>
                    <a:pt x="50979" y="63677"/>
                  </a:lnTo>
                  <a:lnTo>
                    <a:pt x="25581" y="63309"/>
                  </a:lnTo>
                  <a:close/>
                </a:path>
                <a:path w="76200" h="404495" extrusionOk="0">
                  <a:moveTo>
                    <a:pt x="39201" y="0"/>
                  </a:moveTo>
                  <a:lnTo>
                    <a:pt x="0" y="75639"/>
                  </a:lnTo>
                  <a:lnTo>
                    <a:pt x="25397" y="76008"/>
                  </a:lnTo>
                  <a:lnTo>
                    <a:pt x="25581" y="63309"/>
                  </a:lnTo>
                  <a:lnTo>
                    <a:pt x="69714" y="63309"/>
                  </a:lnTo>
                  <a:lnTo>
                    <a:pt x="3920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752" name="Google Shape;752;p23"/>
            <p:cNvPicPr preferRelativeResize="0"/>
            <p:nvPr/>
          </p:nvPicPr>
          <p:blipFill rotWithShape="1">
            <a:blip r:embed="rId8">
              <a:alphaModFix/>
            </a:blip>
            <a:srcRect/>
            <a:stretch/>
          </p:blipFill>
          <p:spPr>
            <a:xfrm>
              <a:off x="6419682" y="5235200"/>
              <a:ext cx="639705" cy="640079"/>
            </a:xfrm>
            <a:prstGeom prst="rect">
              <a:avLst/>
            </a:prstGeom>
            <a:noFill/>
            <a:ln>
              <a:noFill/>
            </a:ln>
          </p:spPr>
        </p:pic>
        <p:sp>
          <p:nvSpPr>
            <p:cNvPr id="753" name="Google Shape;753;p23"/>
            <p:cNvSpPr/>
            <p:nvPr/>
          </p:nvSpPr>
          <p:spPr>
            <a:xfrm>
              <a:off x="6978379"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4" name="Google Shape;754;p23"/>
            <p:cNvSpPr/>
            <p:nvPr/>
          </p:nvSpPr>
          <p:spPr>
            <a:xfrm>
              <a:off x="6978379"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55" name="Google Shape;755;p23"/>
          <p:cNvGrpSpPr/>
          <p:nvPr/>
        </p:nvGrpSpPr>
        <p:grpSpPr>
          <a:xfrm>
            <a:off x="7207347" y="4400222"/>
            <a:ext cx="668588" cy="1475057"/>
            <a:chOff x="7207347" y="4400222"/>
            <a:chExt cx="668588" cy="1475057"/>
          </a:xfrm>
        </p:grpSpPr>
        <p:sp>
          <p:nvSpPr>
            <p:cNvPr id="756" name="Google Shape;756;p23"/>
            <p:cNvSpPr/>
            <p:nvPr/>
          </p:nvSpPr>
          <p:spPr>
            <a:xfrm>
              <a:off x="7458613"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7" name="Google Shape;757;p23"/>
            <p:cNvSpPr/>
            <p:nvPr/>
          </p:nvSpPr>
          <p:spPr>
            <a:xfrm>
              <a:off x="7458613"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8" name="Google Shape;758;p23"/>
            <p:cNvSpPr/>
            <p:nvPr/>
          </p:nvSpPr>
          <p:spPr>
            <a:xfrm>
              <a:off x="7485566" y="4831110"/>
              <a:ext cx="76200" cy="404495"/>
            </a:xfrm>
            <a:custGeom>
              <a:avLst/>
              <a:gdLst/>
              <a:ahLst/>
              <a:cxnLst/>
              <a:rect l="l" t="t" r="r" b="b"/>
              <a:pathLst>
                <a:path w="76200" h="404495" extrusionOk="0">
                  <a:moveTo>
                    <a:pt x="50799" y="76190"/>
                  </a:moveTo>
                  <a:lnTo>
                    <a:pt x="25399" y="76210"/>
                  </a:lnTo>
                  <a:lnTo>
                    <a:pt x="25660" y="404110"/>
                  </a:lnTo>
                  <a:lnTo>
                    <a:pt x="51060" y="404089"/>
                  </a:lnTo>
                  <a:lnTo>
                    <a:pt x="50799" y="76190"/>
                  </a:lnTo>
                  <a:close/>
                </a:path>
                <a:path w="76200" h="404495" extrusionOk="0">
                  <a:moveTo>
                    <a:pt x="38039" y="0"/>
                  </a:moveTo>
                  <a:lnTo>
                    <a:pt x="0" y="76230"/>
                  </a:lnTo>
                  <a:lnTo>
                    <a:pt x="25399" y="76210"/>
                  </a:lnTo>
                  <a:lnTo>
                    <a:pt x="25389" y="63510"/>
                  </a:lnTo>
                  <a:lnTo>
                    <a:pt x="69846" y="63489"/>
                  </a:lnTo>
                  <a:lnTo>
                    <a:pt x="38039" y="0"/>
                  </a:lnTo>
                  <a:close/>
                </a:path>
                <a:path w="76200" h="404495" extrusionOk="0">
                  <a:moveTo>
                    <a:pt x="50789" y="63489"/>
                  </a:moveTo>
                  <a:lnTo>
                    <a:pt x="25389" y="63510"/>
                  </a:lnTo>
                  <a:lnTo>
                    <a:pt x="25399" y="76210"/>
                  </a:lnTo>
                  <a:lnTo>
                    <a:pt x="50799" y="76190"/>
                  </a:lnTo>
                  <a:lnTo>
                    <a:pt x="50789" y="63489"/>
                  </a:lnTo>
                  <a:close/>
                </a:path>
                <a:path w="76200" h="404495" extrusionOk="0">
                  <a:moveTo>
                    <a:pt x="69846" y="63489"/>
                  </a:moveTo>
                  <a:lnTo>
                    <a:pt x="50789" y="63489"/>
                  </a:lnTo>
                  <a:lnTo>
                    <a:pt x="50799" y="76190"/>
                  </a:lnTo>
                  <a:lnTo>
                    <a:pt x="76200" y="76170"/>
                  </a:lnTo>
                  <a:lnTo>
                    <a:pt x="69846"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759" name="Google Shape;759;p23"/>
            <p:cNvPicPr preferRelativeResize="0"/>
            <p:nvPr/>
          </p:nvPicPr>
          <p:blipFill rotWithShape="1">
            <a:blip r:embed="rId9">
              <a:alphaModFix/>
            </a:blip>
            <a:srcRect/>
            <a:stretch/>
          </p:blipFill>
          <p:spPr>
            <a:xfrm>
              <a:off x="7207347" y="5235200"/>
              <a:ext cx="641197" cy="640079"/>
            </a:xfrm>
            <a:prstGeom prst="rect">
              <a:avLst/>
            </a:prstGeom>
            <a:noFill/>
            <a:ln>
              <a:noFill/>
            </a:ln>
          </p:spPr>
        </p:pic>
        <p:sp>
          <p:nvSpPr>
            <p:cNvPr id="760" name="Google Shape;760;p23"/>
            <p:cNvSpPr/>
            <p:nvPr/>
          </p:nvSpPr>
          <p:spPr>
            <a:xfrm>
              <a:off x="7745760"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61" name="Google Shape;761;p23"/>
            <p:cNvSpPr/>
            <p:nvPr/>
          </p:nvSpPr>
          <p:spPr>
            <a:xfrm>
              <a:off x="7745760"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62" name="Google Shape;762;p23"/>
          <p:cNvGrpSpPr/>
          <p:nvPr/>
        </p:nvGrpSpPr>
        <p:grpSpPr>
          <a:xfrm>
            <a:off x="7970093" y="4400222"/>
            <a:ext cx="681844" cy="1475057"/>
            <a:chOff x="7970093" y="4400222"/>
            <a:chExt cx="681844" cy="1475057"/>
          </a:xfrm>
        </p:grpSpPr>
        <p:sp>
          <p:nvSpPr>
            <p:cNvPr id="763" name="Google Shape;763;p23"/>
            <p:cNvSpPr/>
            <p:nvPr/>
          </p:nvSpPr>
          <p:spPr>
            <a:xfrm>
              <a:off x="8234614"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64" name="Google Shape;764;p23"/>
            <p:cNvSpPr/>
            <p:nvPr/>
          </p:nvSpPr>
          <p:spPr>
            <a:xfrm>
              <a:off x="8234614"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65" name="Google Shape;765;p23"/>
            <p:cNvSpPr/>
            <p:nvPr/>
          </p:nvSpPr>
          <p:spPr>
            <a:xfrm>
              <a:off x="8261567"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766" name="Google Shape;766;p23"/>
            <p:cNvPicPr preferRelativeResize="0"/>
            <p:nvPr/>
          </p:nvPicPr>
          <p:blipFill rotWithShape="1">
            <a:blip r:embed="rId10">
              <a:alphaModFix/>
            </a:blip>
            <a:srcRect/>
            <a:stretch/>
          </p:blipFill>
          <p:spPr>
            <a:xfrm>
              <a:off x="7970093" y="5235200"/>
              <a:ext cx="641205" cy="640079"/>
            </a:xfrm>
            <a:prstGeom prst="rect">
              <a:avLst/>
            </a:prstGeom>
            <a:noFill/>
            <a:ln>
              <a:noFill/>
            </a:ln>
          </p:spPr>
        </p:pic>
        <p:sp>
          <p:nvSpPr>
            <p:cNvPr id="767" name="Google Shape;767;p23"/>
            <p:cNvSpPr/>
            <p:nvPr/>
          </p:nvSpPr>
          <p:spPr>
            <a:xfrm>
              <a:off x="8521762"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68" name="Google Shape;768;p23"/>
            <p:cNvSpPr/>
            <p:nvPr/>
          </p:nvSpPr>
          <p:spPr>
            <a:xfrm>
              <a:off x="8521762"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69" name="Google Shape;769;p23"/>
          <p:cNvGrpSpPr/>
          <p:nvPr/>
        </p:nvGrpSpPr>
        <p:grpSpPr>
          <a:xfrm>
            <a:off x="8744502" y="4400222"/>
            <a:ext cx="684186" cy="1475057"/>
            <a:chOff x="8744502" y="4400222"/>
            <a:chExt cx="684186" cy="1475057"/>
          </a:xfrm>
        </p:grpSpPr>
        <p:sp>
          <p:nvSpPr>
            <p:cNvPr id="770" name="Google Shape;770;p23"/>
            <p:cNvSpPr/>
            <p:nvPr/>
          </p:nvSpPr>
          <p:spPr>
            <a:xfrm>
              <a:off x="9011366"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71" name="Google Shape;771;p23"/>
            <p:cNvSpPr/>
            <p:nvPr/>
          </p:nvSpPr>
          <p:spPr>
            <a:xfrm>
              <a:off x="9011366"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72" name="Google Shape;772;p23"/>
            <p:cNvSpPr/>
            <p:nvPr/>
          </p:nvSpPr>
          <p:spPr>
            <a:xfrm>
              <a:off x="9038318"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773" name="Google Shape;773;p23"/>
            <p:cNvPicPr preferRelativeResize="0"/>
            <p:nvPr/>
          </p:nvPicPr>
          <p:blipFill rotWithShape="1">
            <a:blip r:embed="rId11">
              <a:alphaModFix/>
            </a:blip>
            <a:srcRect/>
            <a:stretch/>
          </p:blipFill>
          <p:spPr>
            <a:xfrm>
              <a:off x="8744502" y="5235200"/>
              <a:ext cx="641206" cy="640079"/>
            </a:xfrm>
            <a:prstGeom prst="rect">
              <a:avLst/>
            </a:prstGeom>
            <a:noFill/>
            <a:ln>
              <a:noFill/>
            </a:ln>
          </p:spPr>
        </p:pic>
        <p:sp>
          <p:nvSpPr>
            <p:cNvPr id="774" name="Google Shape;774;p23"/>
            <p:cNvSpPr/>
            <p:nvPr/>
          </p:nvSpPr>
          <p:spPr>
            <a:xfrm>
              <a:off x="9298513"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75" name="Google Shape;775;p23"/>
            <p:cNvSpPr/>
            <p:nvPr/>
          </p:nvSpPr>
          <p:spPr>
            <a:xfrm>
              <a:off x="9298513"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76" name="Google Shape;776;p23"/>
          <p:cNvGrpSpPr/>
          <p:nvPr/>
        </p:nvGrpSpPr>
        <p:grpSpPr>
          <a:xfrm>
            <a:off x="2959741" y="3627475"/>
            <a:ext cx="130175" cy="431165"/>
            <a:chOff x="2959741" y="3627475"/>
            <a:chExt cx="130175" cy="431165"/>
          </a:xfrm>
        </p:grpSpPr>
        <p:sp>
          <p:nvSpPr>
            <p:cNvPr id="777" name="Google Shape;777;p23"/>
            <p:cNvSpPr/>
            <p:nvPr/>
          </p:nvSpPr>
          <p:spPr>
            <a:xfrm>
              <a:off x="2959741"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78" name="Google Shape;778;p23"/>
            <p:cNvSpPr/>
            <p:nvPr/>
          </p:nvSpPr>
          <p:spPr>
            <a:xfrm>
              <a:off x="295974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79" name="Google Shape;779;p23"/>
          <p:cNvGrpSpPr/>
          <p:nvPr/>
        </p:nvGrpSpPr>
        <p:grpSpPr>
          <a:xfrm>
            <a:off x="3735962" y="3631266"/>
            <a:ext cx="130175" cy="431165"/>
            <a:chOff x="3735962" y="3631266"/>
            <a:chExt cx="130175" cy="431165"/>
          </a:xfrm>
        </p:grpSpPr>
        <p:sp>
          <p:nvSpPr>
            <p:cNvPr id="780" name="Google Shape;780;p23"/>
            <p:cNvSpPr/>
            <p:nvPr/>
          </p:nvSpPr>
          <p:spPr>
            <a:xfrm>
              <a:off x="3735962"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81" name="Google Shape;781;p23"/>
            <p:cNvSpPr/>
            <p:nvPr/>
          </p:nvSpPr>
          <p:spPr>
            <a:xfrm>
              <a:off x="3735962"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82" name="Google Shape;782;p23"/>
          <p:cNvGrpSpPr/>
          <p:nvPr/>
        </p:nvGrpSpPr>
        <p:grpSpPr>
          <a:xfrm>
            <a:off x="4512184" y="3627475"/>
            <a:ext cx="130175" cy="431165"/>
            <a:chOff x="4512184" y="3627475"/>
            <a:chExt cx="130175" cy="431165"/>
          </a:xfrm>
        </p:grpSpPr>
        <p:sp>
          <p:nvSpPr>
            <p:cNvPr id="783" name="Google Shape;783;p23"/>
            <p:cNvSpPr/>
            <p:nvPr/>
          </p:nvSpPr>
          <p:spPr>
            <a:xfrm>
              <a:off x="4512184"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84" name="Google Shape;784;p23"/>
            <p:cNvSpPr/>
            <p:nvPr/>
          </p:nvSpPr>
          <p:spPr>
            <a:xfrm>
              <a:off x="4512184"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85" name="Google Shape;785;p23"/>
          <p:cNvGrpSpPr/>
          <p:nvPr/>
        </p:nvGrpSpPr>
        <p:grpSpPr>
          <a:xfrm>
            <a:off x="5289456" y="3631266"/>
            <a:ext cx="130175" cy="431165"/>
            <a:chOff x="5289456" y="3631266"/>
            <a:chExt cx="130175" cy="431165"/>
          </a:xfrm>
        </p:grpSpPr>
        <p:sp>
          <p:nvSpPr>
            <p:cNvPr id="786" name="Google Shape;786;p23"/>
            <p:cNvSpPr/>
            <p:nvPr/>
          </p:nvSpPr>
          <p:spPr>
            <a:xfrm>
              <a:off x="5289456"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87" name="Google Shape;787;p23"/>
            <p:cNvSpPr/>
            <p:nvPr/>
          </p:nvSpPr>
          <p:spPr>
            <a:xfrm>
              <a:off x="5289456"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88" name="Google Shape;788;p23"/>
          <p:cNvGrpSpPr/>
          <p:nvPr/>
        </p:nvGrpSpPr>
        <p:grpSpPr>
          <a:xfrm>
            <a:off x="6061671" y="3627475"/>
            <a:ext cx="130175" cy="431165"/>
            <a:chOff x="6061671" y="3627475"/>
            <a:chExt cx="130175" cy="431165"/>
          </a:xfrm>
        </p:grpSpPr>
        <p:sp>
          <p:nvSpPr>
            <p:cNvPr id="789" name="Google Shape;789;p23"/>
            <p:cNvSpPr/>
            <p:nvPr/>
          </p:nvSpPr>
          <p:spPr>
            <a:xfrm>
              <a:off x="6061671"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0" name="Google Shape;790;p23"/>
            <p:cNvSpPr/>
            <p:nvPr/>
          </p:nvSpPr>
          <p:spPr>
            <a:xfrm>
              <a:off x="606167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91" name="Google Shape;791;p23"/>
          <p:cNvGrpSpPr/>
          <p:nvPr/>
        </p:nvGrpSpPr>
        <p:grpSpPr>
          <a:xfrm>
            <a:off x="6848395" y="3627475"/>
            <a:ext cx="130175" cy="431165"/>
            <a:chOff x="6848395" y="3627475"/>
            <a:chExt cx="130175" cy="431165"/>
          </a:xfrm>
        </p:grpSpPr>
        <p:sp>
          <p:nvSpPr>
            <p:cNvPr id="792" name="Google Shape;792;p23"/>
            <p:cNvSpPr/>
            <p:nvPr/>
          </p:nvSpPr>
          <p:spPr>
            <a:xfrm>
              <a:off x="6848395"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3" name="Google Shape;793;p23"/>
            <p:cNvSpPr/>
            <p:nvPr/>
          </p:nvSpPr>
          <p:spPr>
            <a:xfrm>
              <a:off x="684839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94" name="Google Shape;794;p23"/>
          <p:cNvGrpSpPr/>
          <p:nvPr/>
        </p:nvGrpSpPr>
        <p:grpSpPr>
          <a:xfrm>
            <a:off x="7615777" y="3627475"/>
            <a:ext cx="130175" cy="431165"/>
            <a:chOff x="7615777" y="3627475"/>
            <a:chExt cx="130175" cy="431165"/>
          </a:xfrm>
        </p:grpSpPr>
        <p:sp>
          <p:nvSpPr>
            <p:cNvPr id="795" name="Google Shape;795;p23"/>
            <p:cNvSpPr/>
            <p:nvPr/>
          </p:nvSpPr>
          <p:spPr>
            <a:xfrm>
              <a:off x="7615777"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6" name="Google Shape;796;p23"/>
            <p:cNvSpPr/>
            <p:nvPr/>
          </p:nvSpPr>
          <p:spPr>
            <a:xfrm>
              <a:off x="7615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97" name="Google Shape;797;p23"/>
          <p:cNvGrpSpPr/>
          <p:nvPr/>
        </p:nvGrpSpPr>
        <p:grpSpPr>
          <a:xfrm>
            <a:off x="8391777" y="3627475"/>
            <a:ext cx="130175" cy="431165"/>
            <a:chOff x="8391777" y="3627475"/>
            <a:chExt cx="130175" cy="431165"/>
          </a:xfrm>
        </p:grpSpPr>
        <p:sp>
          <p:nvSpPr>
            <p:cNvPr id="798" name="Google Shape;798;p23"/>
            <p:cNvSpPr/>
            <p:nvPr/>
          </p:nvSpPr>
          <p:spPr>
            <a:xfrm>
              <a:off x="8391777"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9" name="Google Shape;799;p23"/>
            <p:cNvSpPr/>
            <p:nvPr/>
          </p:nvSpPr>
          <p:spPr>
            <a:xfrm>
              <a:off x="8391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00" name="Google Shape;800;p23"/>
          <p:cNvGrpSpPr/>
          <p:nvPr/>
        </p:nvGrpSpPr>
        <p:grpSpPr>
          <a:xfrm>
            <a:off x="9168528" y="3627475"/>
            <a:ext cx="130175" cy="431165"/>
            <a:chOff x="9168528" y="3627475"/>
            <a:chExt cx="130175" cy="431165"/>
          </a:xfrm>
        </p:grpSpPr>
        <p:sp>
          <p:nvSpPr>
            <p:cNvPr id="801" name="Google Shape;801;p23"/>
            <p:cNvSpPr/>
            <p:nvPr/>
          </p:nvSpPr>
          <p:spPr>
            <a:xfrm>
              <a:off x="9168528"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2" name="Google Shape;802;p23"/>
            <p:cNvSpPr/>
            <p:nvPr/>
          </p:nvSpPr>
          <p:spPr>
            <a:xfrm>
              <a:off x="9168528"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03" name="Google Shape;803;p23"/>
          <p:cNvSpPr txBox="1"/>
          <p:nvPr/>
        </p:nvSpPr>
        <p:spPr>
          <a:xfrm>
            <a:off x="2936516" y="4004564"/>
            <a:ext cx="638429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	+	+	+	+	+	+	+	+</a:t>
            </a:r>
            <a:endParaRPr sz="2400" b="0" i="0" u="none" strike="noStrike" cap="none">
              <a:solidFill>
                <a:srgbClr val="000000"/>
              </a:solidFill>
              <a:latin typeface="Calibri"/>
              <a:ea typeface="Calibri"/>
              <a:cs typeface="Calibri"/>
              <a:sym typeface="Calibri"/>
            </a:endParaRPr>
          </a:p>
        </p:txBody>
      </p:sp>
      <p:sp>
        <p:nvSpPr>
          <p:cNvPr id="804" name="Google Shape;804;p23"/>
          <p:cNvSpPr txBox="1"/>
          <p:nvPr/>
        </p:nvSpPr>
        <p:spPr>
          <a:xfrm>
            <a:off x="276038" y="4548902"/>
            <a:ext cx="2040889" cy="1289050"/>
          </a:xfrm>
          <a:prstGeom prst="rect">
            <a:avLst/>
          </a:prstGeom>
          <a:noFill/>
          <a:ln>
            <a:noFill/>
          </a:ln>
        </p:spPr>
        <p:txBody>
          <a:bodyPr spcFirstLastPara="1" wrap="square" lIns="0" tIns="15875" rIns="0" bIns="0" anchor="t" anchorCtr="0">
            <a:spAutoFit/>
          </a:bodyPr>
          <a:lstStyle/>
          <a:p>
            <a:pPr marL="17145" marR="31115" lvl="0" indent="0" algn="l" rtl="0">
              <a:lnSpc>
                <a:spcPct val="117222"/>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 D-dimensional vector</a:t>
            </a:r>
            <a:endParaRPr sz="1800" b="0" i="0" u="none" strike="noStrike" cap="none">
              <a:solidFill>
                <a:srgbClr val="000000"/>
              </a:solidFill>
              <a:latin typeface="Calibri"/>
              <a:ea typeface="Calibri"/>
              <a:cs typeface="Calibri"/>
              <a:sym typeface="Calibri"/>
            </a:endParaRPr>
          </a:p>
          <a:p>
            <a:pPr marL="12700" marR="5080" lvl="0" indent="0" algn="l" rtl="0">
              <a:lnSpc>
                <a:spcPct val="117222"/>
              </a:lnSpc>
              <a:spcBef>
                <a:spcPts val="142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N input patches, each of shape 3x16x16</a:t>
            </a:r>
            <a:endParaRPr sz="1800" b="0" i="0" u="none" strike="noStrike" cap="none">
              <a:solidFill>
                <a:srgbClr val="000000"/>
              </a:solidFill>
              <a:latin typeface="Calibri"/>
              <a:ea typeface="Calibri"/>
              <a:cs typeface="Calibri"/>
              <a:sym typeface="Calibri"/>
            </a:endParaRPr>
          </a:p>
        </p:txBody>
      </p:sp>
      <p:sp>
        <p:nvSpPr>
          <p:cNvPr id="805" name="Google Shape;805;p23"/>
          <p:cNvSpPr txBox="1"/>
          <p:nvPr/>
        </p:nvSpPr>
        <p:spPr>
          <a:xfrm>
            <a:off x="10251213" y="5962476"/>
            <a:ext cx="1861185" cy="375920"/>
          </a:xfrm>
          <a:prstGeom prst="rect">
            <a:avLst/>
          </a:prstGeom>
          <a:noFill/>
          <a:ln>
            <a:noFill/>
          </a:ln>
        </p:spPr>
        <p:txBody>
          <a:bodyPr spcFirstLastPara="1" wrap="square" lIns="0" tIns="1250" rIns="0" bIns="0" anchor="t" anchorCtr="0">
            <a:spAutoFit/>
          </a:bodyPr>
          <a:lstStyle/>
          <a:p>
            <a:pPr marL="296545" marR="5080" lvl="0" indent="-284480" algn="l" rtl="0">
              <a:lnSpc>
                <a:spcPct val="129090"/>
              </a:lnSpc>
              <a:spcBef>
                <a:spcPts val="0"/>
              </a:spcBef>
              <a:spcAft>
                <a:spcPts val="0"/>
              </a:spcAft>
              <a:buClr>
                <a:srgbClr val="0563C1"/>
              </a:buClr>
              <a:buSzPts val="1100"/>
              <a:buFont typeface="Arial"/>
              <a:buNone/>
            </a:pPr>
            <a:r>
              <a:rPr lang="en-US" sz="1100" b="0" i="0" u="sng" strike="noStrike" cap="none">
                <a:solidFill>
                  <a:srgbClr val="0563C1"/>
                </a:solidFill>
                <a:latin typeface="Calibri"/>
                <a:ea typeface="Calibri"/>
                <a:cs typeface="Calibri"/>
                <a:sym typeface="Calibri"/>
              </a:rPr>
              <a:t>Cat image</a:t>
            </a:r>
            <a:r>
              <a:rPr lang="en-US" sz="1100" b="0" i="0" u="none" strike="noStrike" cap="none">
                <a:solidFill>
                  <a:srgbClr val="0563C1"/>
                </a:solidFill>
                <a:latin typeface="Calibri"/>
                <a:ea typeface="Calibri"/>
                <a:cs typeface="Calibri"/>
                <a:sym typeface="Calibri"/>
              </a:rPr>
              <a:t> </a:t>
            </a:r>
            <a:r>
              <a:rPr lang="en-US" sz="1100" b="0" i="0" u="none" strike="noStrike" cap="none">
                <a:solidFill>
                  <a:srgbClr val="000000"/>
                </a:solidFill>
                <a:latin typeface="Calibri"/>
                <a:ea typeface="Calibri"/>
                <a:cs typeface="Calibri"/>
                <a:sym typeface="Calibri"/>
              </a:rPr>
              <a:t>is free for commercial use under a </a:t>
            </a:r>
            <a:r>
              <a:rPr lang="en-US" sz="1100" b="0" i="0" u="sng" strike="noStrike" cap="none">
                <a:solidFill>
                  <a:srgbClr val="0563C1"/>
                </a:solidFill>
                <a:latin typeface="Calibri"/>
                <a:ea typeface="Calibri"/>
                <a:cs typeface="Calibri"/>
                <a:sym typeface="Calibri"/>
              </a:rPr>
              <a:t>Pixabay license</a:t>
            </a:r>
            <a:endParaRPr sz="1100" b="0" i="0" u="none" strike="noStrike" cap="none">
              <a:solidFill>
                <a:srgbClr val="000000"/>
              </a:solidFill>
              <a:latin typeface="Calibri"/>
              <a:ea typeface="Calibri"/>
              <a:cs typeface="Calibri"/>
              <a:sym typeface="Calibri"/>
            </a:endParaRPr>
          </a:p>
        </p:txBody>
      </p:sp>
      <p:sp>
        <p:nvSpPr>
          <p:cNvPr id="806" name="Google Shape;806;p23"/>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807" name="Google Shape;807;p23"/>
          <p:cNvSpPr txBox="1"/>
          <p:nvPr/>
        </p:nvSpPr>
        <p:spPr>
          <a:xfrm>
            <a:off x="273194" y="3559555"/>
            <a:ext cx="2190115" cy="845819"/>
          </a:xfrm>
          <a:prstGeom prst="rect">
            <a:avLst/>
          </a:prstGeom>
          <a:noFill/>
          <a:ln>
            <a:noFill/>
          </a:ln>
        </p:spPr>
        <p:txBody>
          <a:bodyPr spcFirstLastPara="1" wrap="square" lIns="0" tIns="13950" rIns="0" bIns="0" anchor="t" anchorCtr="0">
            <a:spAutoFit/>
          </a:bodyPr>
          <a:lstStyle/>
          <a:p>
            <a:pPr marL="12700" marR="5080" lvl="0" indent="0" algn="l"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Add positional embedding: learned D- dim vector per position</a:t>
            </a:r>
            <a:endParaRPr sz="1800" b="0" i="0" u="none" strike="noStrike" cap="none">
              <a:solidFill>
                <a:srgbClr val="000000"/>
              </a:solidFill>
              <a:latin typeface="Calibri"/>
              <a:ea typeface="Calibri"/>
              <a:cs typeface="Calibri"/>
              <a:sym typeface="Calibri"/>
            </a:endParaRPr>
          </a:p>
        </p:txBody>
      </p:sp>
      <p:sp>
        <p:nvSpPr>
          <p:cNvPr id="808" name="Google Shape;808;p23"/>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a:t>
            </a:r>
            <a:endParaRPr/>
          </a:p>
        </p:txBody>
      </p:sp>
      <p:sp>
        <p:nvSpPr>
          <p:cNvPr id="809" name="Google Shape;809;p23"/>
          <p:cNvSpPr txBox="1">
            <a:spLocks noGrp="1"/>
          </p:cNvSpPr>
          <p:nvPr>
            <p:ph type="body" idx="1"/>
          </p:nvPr>
        </p:nvSpPr>
        <p:spPr>
          <a:xfrm>
            <a:off x="904239" y="1218691"/>
            <a:ext cx="9774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810" name="Google Shape;810;p23"/>
          <p:cNvSpPr txBox="1"/>
          <p:nvPr/>
        </p:nvSpPr>
        <p:spPr>
          <a:xfrm>
            <a:off x="7936200" y="28575"/>
            <a:ext cx="40176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a:t>CV10 Attention - Transformers - Vision Transformer</a:t>
            </a:r>
            <a:endParaRPr sz="10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grpSp>
        <p:nvGrpSpPr>
          <p:cNvPr id="815" name="Google Shape;815;p24"/>
          <p:cNvGrpSpPr/>
          <p:nvPr/>
        </p:nvGrpSpPr>
        <p:grpSpPr>
          <a:xfrm>
            <a:off x="2535941" y="4400222"/>
            <a:ext cx="683958" cy="1475057"/>
            <a:chOff x="2535941" y="4400222"/>
            <a:chExt cx="683958" cy="1475057"/>
          </a:xfrm>
        </p:grpSpPr>
        <p:sp>
          <p:nvSpPr>
            <p:cNvPr id="816" name="Google Shape;816;p24"/>
            <p:cNvSpPr/>
            <p:nvPr/>
          </p:nvSpPr>
          <p:spPr>
            <a:xfrm>
              <a:off x="2802577"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7" name="Google Shape;817;p24"/>
            <p:cNvSpPr/>
            <p:nvPr/>
          </p:nvSpPr>
          <p:spPr>
            <a:xfrm>
              <a:off x="2802577"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8" name="Google Shape;818;p24"/>
            <p:cNvSpPr/>
            <p:nvPr/>
          </p:nvSpPr>
          <p:spPr>
            <a:xfrm>
              <a:off x="2829572" y="4831110"/>
              <a:ext cx="76200" cy="404495"/>
            </a:xfrm>
            <a:custGeom>
              <a:avLst/>
              <a:gdLst/>
              <a:ahLst/>
              <a:cxnLst/>
              <a:rect l="l" t="t" r="r" b="b"/>
              <a:pathLst>
                <a:path w="76200" h="404495" extrusionOk="0">
                  <a:moveTo>
                    <a:pt x="50799" y="76183"/>
                  </a:moveTo>
                  <a:lnTo>
                    <a:pt x="25399" y="76217"/>
                  </a:lnTo>
                  <a:lnTo>
                    <a:pt x="25840" y="404106"/>
                  </a:lnTo>
                  <a:lnTo>
                    <a:pt x="51240" y="404072"/>
                  </a:lnTo>
                  <a:lnTo>
                    <a:pt x="50799" y="76183"/>
                  </a:lnTo>
                  <a:close/>
                </a:path>
                <a:path w="76200" h="404495" extrusionOk="0">
                  <a:moveTo>
                    <a:pt x="37997" y="0"/>
                  </a:moveTo>
                  <a:lnTo>
                    <a:pt x="0" y="76252"/>
                  </a:lnTo>
                  <a:lnTo>
                    <a:pt x="25399" y="76217"/>
                  </a:lnTo>
                  <a:lnTo>
                    <a:pt x="25382" y="63517"/>
                  </a:lnTo>
                  <a:lnTo>
                    <a:pt x="69845" y="63483"/>
                  </a:lnTo>
                  <a:lnTo>
                    <a:pt x="37997" y="0"/>
                  </a:lnTo>
                  <a:close/>
                </a:path>
                <a:path w="76200" h="404495" extrusionOk="0">
                  <a:moveTo>
                    <a:pt x="50782" y="63483"/>
                  </a:moveTo>
                  <a:lnTo>
                    <a:pt x="25382" y="63517"/>
                  </a:lnTo>
                  <a:lnTo>
                    <a:pt x="25399" y="76217"/>
                  </a:lnTo>
                  <a:lnTo>
                    <a:pt x="50799" y="76183"/>
                  </a:lnTo>
                  <a:lnTo>
                    <a:pt x="50782" y="63483"/>
                  </a:lnTo>
                  <a:close/>
                </a:path>
                <a:path w="76200" h="404495" extrusionOk="0">
                  <a:moveTo>
                    <a:pt x="69845" y="63483"/>
                  </a:moveTo>
                  <a:lnTo>
                    <a:pt x="50782" y="63483"/>
                  </a:lnTo>
                  <a:lnTo>
                    <a:pt x="50799" y="76183"/>
                  </a:lnTo>
                  <a:lnTo>
                    <a:pt x="76200" y="76149"/>
                  </a:lnTo>
                  <a:lnTo>
                    <a:pt x="69845" y="6348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819" name="Google Shape;819;p24"/>
            <p:cNvPicPr preferRelativeResize="0"/>
            <p:nvPr/>
          </p:nvPicPr>
          <p:blipFill rotWithShape="1">
            <a:blip r:embed="rId3">
              <a:alphaModFix/>
            </a:blip>
            <a:srcRect/>
            <a:stretch/>
          </p:blipFill>
          <p:spPr>
            <a:xfrm>
              <a:off x="2535941" y="5235200"/>
              <a:ext cx="639705" cy="640079"/>
            </a:xfrm>
            <a:prstGeom prst="rect">
              <a:avLst/>
            </a:prstGeom>
            <a:noFill/>
            <a:ln>
              <a:noFill/>
            </a:ln>
          </p:spPr>
        </p:pic>
        <p:sp>
          <p:nvSpPr>
            <p:cNvPr id="820" name="Google Shape;820;p24"/>
            <p:cNvSpPr/>
            <p:nvPr/>
          </p:nvSpPr>
          <p:spPr>
            <a:xfrm>
              <a:off x="3089724"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1" name="Google Shape;821;p24"/>
            <p:cNvSpPr/>
            <p:nvPr/>
          </p:nvSpPr>
          <p:spPr>
            <a:xfrm>
              <a:off x="3089724"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22" name="Google Shape;822;p24"/>
          <p:cNvGrpSpPr/>
          <p:nvPr/>
        </p:nvGrpSpPr>
        <p:grpSpPr>
          <a:xfrm>
            <a:off x="3312686" y="4404013"/>
            <a:ext cx="683436" cy="1471266"/>
            <a:chOff x="3312686" y="4404013"/>
            <a:chExt cx="683436" cy="1471266"/>
          </a:xfrm>
        </p:grpSpPr>
        <p:sp>
          <p:nvSpPr>
            <p:cNvPr id="823" name="Google Shape;823;p24"/>
            <p:cNvSpPr/>
            <p:nvPr/>
          </p:nvSpPr>
          <p:spPr>
            <a:xfrm>
              <a:off x="3578800" y="4404013"/>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4" name="Google Shape;824;p24"/>
            <p:cNvSpPr/>
            <p:nvPr/>
          </p:nvSpPr>
          <p:spPr>
            <a:xfrm>
              <a:off x="3578800"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5" name="Google Shape;825;p24"/>
            <p:cNvSpPr/>
            <p:nvPr/>
          </p:nvSpPr>
          <p:spPr>
            <a:xfrm>
              <a:off x="3605753" y="4834901"/>
              <a:ext cx="76200" cy="400685"/>
            </a:xfrm>
            <a:custGeom>
              <a:avLst/>
              <a:gdLst/>
              <a:ahLst/>
              <a:cxnLst/>
              <a:rect l="l" t="t" r="r" b="b"/>
              <a:pathLst>
                <a:path w="76200" h="400685" extrusionOk="0">
                  <a:moveTo>
                    <a:pt x="50800" y="76190"/>
                  </a:moveTo>
                  <a:lnTo>
                    <a:pt x="25400" y="76211"/>
                  </a:lnTo>
                  <a:lnTo>
                    <a:pt x="25660" y="400309"/>
                  </a:lnTo>
                  <a:lnTo>
                    <a:pt x="51060" y="400288"/>
                  </a:lnTo>
                  <a:lnTo>
                    <a:pt x="50800" y="76190"/>
                  </a:lnTo>
                  <a:close/>
                </a:path>
                <a:path w="76200" h="400685" extrusionOk="0">
                  <a:moveTo>
                    <a:pt x="38037" y="0"/>
                  </a:moveTo>
                  <a:lnTo>
                    <a:pt x="0" y="76231"/>
                  </a:lnTo>
                  <a:lnTo>
                    <a:pt x="25400" y="76211"/>
                  </a:lnTo>
                  <a:lnTo>
                    <a:pt x="25389" y="63510"/>
                  </a:lnTo>
                  <a:lnTo>
                    <a:pt x="69847" y="63489"/>
                  </a:lnTo>
                  <a:lnTo>
                    <a:pt x="38037"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826" name="Google Shape;826;p24"/>
            <p:cNvPicPr preferRelativeResize="0"/>
            <p:nvPr/>
          </p:nvPicPr>
          <p:blipFill rotWithShape="1">
            <a:blip r:embed="rId4">
              <a:alphaModFix/>
            </a:blip>
            <a:srcRect/>
            <a:stretch/>
          </p:blipFill>
          <p:spPr>
            <a:xfrm>
              <a:off x="3312686" y="5235200"/>
              <a:ext cx="639705" cy="640079"/>
            </a:xfrm>
            <a:prstGeom prst="rect">
              <a:avLst/>
            </a:prstGeom>
            <a:noFill/>
            <a:ln>
              <a:noFill/>
            </a:ln>
          </p:spPr>
        </p:pic>
        <p:sp>
          <p:nvSpPr>
            <p:cNvPr id="827" name="Google Shape;827;p24"/>
            <p:cNvSpPr/>
            <p:nvPr/>
          </p:nvSpPr>
          <p:spPr>
            <a:xfrm>
              <a:off x="3865947" y="440599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8" name="Google Shape;828;p24"/>
            <p:cNvSpPr/>
            <p:nvPr/>
          </p:nvSpPr>
          <p:spPr>
            <a:xfrm>
              <a:off x="3865947"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29" name="Google Shape;829;p24"/>
          <p:cNvGrpSpPr/>
          <p:nvPr/>
        </p:nvGrpSpPr>
        <p:grpSpPr>
          <a:xfrm>
            <a:off x="4089432" y="4400222"/>
            <a:ext cx="682911" cy="1475057"/>
            <a:chOff x="4089432" y="4400222"/>
            <a:chExt cx="682911" cy="1475057"/>
          </a:xfrm>
        </p:grpSpPr>
        <p:sp>
          <p:nvSpPr>
            <p:cNvPr id="830" name="Google Shape;830;p24"/>
            <p:cNvSpPr/>
            <p:nvPr/>
          </p:nvSpPr>
          <p:spPr>
            <a:xfrm>
              <a:off x="4355021"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1" name="Google Shape;831;p24"/>
            <p:cNvSpPr/>
            <p:nvPr/>
          </p:nvSpPr>
          <p:spPr>
            <a:xfrm>
              <a:off x="4355021"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2" name="Google Shape;832;p24"/>
            <p:cNvSpPr/>
            <p:nvPr/>
          </p:nvSpPr>
          <p:spPr>
            <a:xfrm>
              <a:off x="4382073" y="4831110"/>
              <a:ext cx="76200" cy="404495"/>
            </a:xfrm>
            <a:custGeom>
              <a:avLst/>
              <a:gdLst/>
              <a:ahLst/>
              <a:cxnLst/>
              <a:rect l="l" t="t" r="r" b="b"/>
              <a:pathLst>
                <a:path w="76200" h="404495" extrusionOk="0">
                  <a:moveTo>
                    <a:pt x="50799" y="76173"/>
                  </a:moveTo>
                  <a:lnTo>
                    <a:pt x="25399" y="76226"/>
                  </a:lnTo>
                  <a:lnTo>
                    <a:pt x="26087" y="404116"/>
                  </a:lnTo>
                  <a:lnTo>
                    <a:pt x="51487" y="404063"/>
                  </a:lnTo>
                  <a:lnTo>
                    <a:pt x="50799" y="76173"/>
                  </a:lnTo>
                  <a:close/>
                </a:path>
                <a:path w="76200" h="404495" extrusionOk="0">
                  <a:moveTo>
                    <a:pt x="37939" y="0"/>
                  </a:moveTo>
                  <a:lnTo>
                    <a:pt x="0" y="76280"/>
                  </a:lnTo>
                  <a:lnTo>
                    <a:pt x="25399" y="76226"/>
                  </a:lnTo>
                  <a:lnTo>
                    <a:pt x="25373" y="63526"/>
                  </a:lnTo>
                  <a:lnTo>
                    <a:pt x="69843" y="63473"/>
                  </a:lnTo>
                  <a:lnTo>
                    <a:pt x="37939" y="0"/>
                  </a:lnTo>
                  <a:close/>
                </a:path>
                <a:path w="76200" h="404495" extrusionOk="0">
                  <a:moveTo>
                    <a:pt x="50773" y="63473"/>
                  </a:moveTo>
                  <a:lnTo>
                    <a:pt x="25373" y="63526"/>
                  </a:lnTo>
                  <a:lnTo>
                    <a:pt x="25399" y="76226"/>
                  </a:lnTo>
                  <a:lnTo>
                    <a:pt x="50799" y="76173"/>
                  </a:lnTo>
                  <a:lnTo>
                    <a:pt x="50773" y="63473"/>
                  </a:lnTo>
                  <a:close/>
                </a:path>
                <a:path w="76200" h="404495" extrusionOk="0">
                  <a:moveTo>
                    <a:pt x="69843" y="63473"/>
                  </a:moveTo>
                  <a:lnTo>
                    <a:pt x="50773" y="63473"/>
                  </a:lnTo>
                  <a:lnTo>
                    <a:pt x="50799" y="76173"/>
                  </a:lnTo>
                  <a:lnTo>
                    <a:pt x="76200" y="76119"/>
                  </a:lnTo>
                  <a:lnTo>
                    <a:pt x="69843" y="6347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833" name="Google Shape;833;p24"/>
            <p:cNvPicPr preferRelativeResize="0"/>
            <p:nvPr/>
          </p:nvPicPr>
          <p:blipFill rotWithShape="1">
            <a:blip r:embed="rId5">
              <a:alphaModFix/>
            </a:blip>
            <a:srcRect/>
            <a:stretch/>
          </p:blipFill>
          <p:spPr>
            <a:xfrm>
              <a:off x="4089432" y="5235200"/>
              <a:ext cx="639705" cy="640079"/>
            </a:xfrm>
            <a:prstGeom prst="rect">
              <a:avLst/>
            </a:prstGeom>
            <a:noFill/>
            <a:ln>
              <a:noFill/>
            </a:ln>
          </p:spPr>
        </p:pic>
        <p:sp>
          <p:nvSpPr>
            <p:cNvPr id="834" name="Google Shape;834;p24"/>
            <p:cNvSpPr/>
            <p:nvPr/>
          </p:nvSpPr>
          <p:spPr>
            <a:xfrm>
              <a:off x="4642168"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5" name="Google Shape;835;p24"/>
            <p:cNvSpPr/>
            <p:nvPr/>
          </p:nvSpPr>
          <p:spPr>
            <a:xfrm>
              <a:off x="4642168"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36" name="Google Shape;836;p24"/>
          <p:cNvGrpSpPr/>
          <p:nvPr/>
        </p:nvGrpSpPr>
        <p:grpSpPr>
          <a:xfrm>
            <a:off x="4866180" y="4404013"/>
            <a:ext cx="683434" cy="1471266"/>
            <a:chOff x="4866180" y="4404013"/>
            <a:chExt cx="683434" cy="1471266"/>
          </a:xfrm>
        </p:grpSpPr>
        <p:sp>
          <p:nvSpPr>
            <p:cNvPr id="837" name="Google Shape;837;p24"/>
            <p:cNvSpPr/>
            <p:nvPr/>
          </p:nvSpPr>
          <p:spPr>
            <a:xfrm>
              <a:off x="5132292" y="4404013"/>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8" name="Google Shape;838;p24"/>
            <p:cNvSpPr/>
            <p:nvPr/>
          </p:nvSpPr>
          <p:spPr>
            <a:xfrm>
              <a:off x="5132292"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9" name="Google Shape;839;p24"/>
            <p:cNvSpPr/>
            <p:nvPr/>
          </p:nvSpPr>
          <p:spPr>
            <a:xfrm>
              <a:off x="5159245" y="4834901"/>
              <a:ext cx="76200" cy="400685"/>
            </a:xfrm>
            <a:custGeom>
              <a:avLst/>
              <a:gdLst/>
              <a:ahLst/>
              <a:cxnLst/>
              <a:rect l="l" t="t" r="r" b="b"/>
              <a:pathLst>
                <a:path w="76200" h="400685" extrusionOk="0">
                  <a:moveTo>
                    <a:pt x="50800" y="76190"/>
                  </a:moveTo>
                  <a:lnTo>
                    <a:pt x="25400" y="76211"/>
                  </a:lnTo>
                  <a:lnTo>
                    <a:pt x="25661" y="400319"/>
                  </a:lnTo>
                  <a:lnTo>
                    <a:pt x="51061" y="400298"/>
                  </a:lnTo>
                  <a:lnTo>
                    <a:pt x="50800" y="76190"/>
                  </a:lnTo>
                  <a:close/>
                </a:path>
                <a:path w="76200" h="400685" extrusionOk="0">
                  <a:moveTo>
                    <a:pt x="38039" y="0"/>
                  </a:moveTo>
                  <a:lnTo>
                    <a:pt x="0" y="76231"/>
                  </a:lnTo>
                  <a:lnTo>
                    <a:pt x="25400" y="76211"/>
                  </a:lnTo>
                  <a:lnTo>
                    <a:pt x="25389" y="63510"/>
                  </a:lnTo>
                  <a:lnTo>
                    <a:pt x="69847" y="63489"/>
                  </a:lnTo>
                  <a:lnTo>
                    <a:pt x="38039"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840" name="Google Shape;840;p24"/>
            <p:cNvPicPr preferRelativeResize="0"/>
            <p:nvPr/>
          </p:nvPicPr>
          <p:blipFill rotWithShape="1">
            <a:blip r:embed="rId6">
              <a:alphaModFix/>
            </a:blip>
            <a:srcRect/>
            <a:stretch/>
          </p:blipFill>
          <p:spPr>
            <a:xfrm>
              <a:off x="4866180" y="5235200"/>
              <a:ext cx="639705" cy="640079"/>
            </a:xfrm>
            <a:prstGeom prst="rect">
              <a:avLst/>
            </a:prstGeom>
            <a:noFill/>
            <a:ln>
              <a:noFill/>
            </a:ln>
          </p:spPr>
        </p:pic>
        <p:sp>
          <p:nvSpPr>
            <p:cNvPr id="841" name="Google Shape;841;p24"/>
            <p:cNvSpPr/>
            <p:nvPr/>
          </p:nvSpPr>
          <p:spPr>
            <a:xfrm>
              <a:off x="5419439" y="440599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2" name="Google Shape;842;p24"/>
            <p:cNvSpPr/>
            <p:nvPr/>
          </p:nvSpPr>
          <p:spPr>
            <a:xfrm>
              <a:off x="5419439"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43" name="Google Shape;843;p24"/>
          <p:cNvGrpSpPr/>
          <p:nvPr/>
        </p:nvGrpSpPr>
        <p:grpSpPr>
          <a:xfrm>
            <a:off x="5645272" y="4400222"/>
            <a:ext cx="676559" cy="1475057"/>
            <a:chOff x="5645272" y="4400222"/>
            <a:chExt cx="676559" cy="1475057"/>
          </a:xfrm>
        </p:grpSpPr>
        <p:sp>
          <p:nvSpPr>
            <p:cNvPr id="844" name="Google Shape;844;p24"/>
            <p:cNvSpPr/>
            <p:nvPr/>
          </p:nvSpPr>
          <p:spPr>
            <a:xfrm>
              <a:off x="5904509"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5" name="Google Shape;845;p24"/>
            <p:cNvSpPr/>
            <p:nvPr/>
          </p:nvSpPr>
          <p:spPr>
            <a:xfrm>
              <a:off x="5904509"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6" name="Google Shape;846;p24"/>
            <p:cNvSpPr/>
            <p:nvPr/>
          </p:nvSpPr>
          <p:spPr>
            <a:xfrm>
              <a:off x="5932177" y="4831110"/>
              <a:ext cx="76200" cy="404495"/>
            </a:xfrm>
            <a:custGeom>
              <a:avLst/>
              <a:gdLst/>
              <a:ahLst/>
              <a:cxnLst/>
              <a:rect l="l" t="t" r="r" b="b"/>
              <a:pathLst>
                <a:path w="76200" h="404495" extrusionOk="0">
                  <a:moveTo>
                    <a:pt x="50796" y="76067"/>
                  </a:moveTo>
                  <a:lnTo>
                    <a:pt x="25398" y="76325"/>
                  </a:lnTo>
                  <a:lnTo>
                    <a:pt x="28731" y="404228"/>
                  </a:lnTo>
                  <a:lnTo>
                    <a:pt x="54129" y="403970"/>
                  </a:lnTo>
                  <a:lnTo>
                    <a:pt x="50796" y="76067"/>
                  </a:lnTo>
                  <a:close/>
                </a:path>
                <a:path w="76200" h="404495" extrusionOk="0">
                  <a:moveTo>
                    <a:pt x="37322" y="0"/>
                  </a:moveTo>
                  <a:lnTo>
                    <a:pt x="0" y="76583"/>
                  </a:lnTo>
                  <a:lnTo>
                    <a:pt x="25398" y="76325"/>
                  </a:lnTo>
                  <a:lnTo>
                    <a:pt x="25269" y="63626"/>
                  </a:lnTo>
                  <a:lnTo>
                    <a:pt x="50667" y="63367"/>
                  </a:lnTo>
                  <a:lnTo>
                    <a:pt x="69815" y="63367"/>
                  </a:lnTo>
                  <a:lnTo>
                    <a:pt x="37322" y="0"/>
                  </a:lnTo>
                  <a:close/>
                </a:path>
                <a:path w="76200" h="404495" extrusionOk="0">
                  <a:moveTo>
                    <a:pt x="50667" y="63367"/>
                  </a:moveTo>
                  <a:lnTo>
                    <a:pt x="25269" y="63626"/>
                  </a:lnTo>
                  <a:lnTo>
                    <a:pt x="25398" y="76325"/>
                  </a:lnTo>
                  <a:lnTo>
                    <a:pt x="50796" y="76067"/>
                  </a:lnTo>
                  <a:lnTo>
                    <a:pt x="50667" y="63367"/>
                  </a:lnTo>
                  <a:close/>
                </a:path>
                <a:path w="76200" h="404495" extrusionOk="0">
                  <a:moveTo>
                    <a:pt x="69815" y="63367"/>
                  </a:moveTo>
                  <a:lnTo>
                    <a:pt x="50667" y="63367"/>
                  </a:lnTo>
                  <a:lnTo>
                    <a:pt x="50796" y="76067"/>
                  </a:lnTo>
                  <a:lnTo>
                    <a:pt x="76194" y="75808"/>
                  </a:lnTo>
                  <a:lnTo>
                    <a:pt x="69815" y="6336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847" name="Google Shape;847;p24"/>
            <p:cNvPicPr preferRelativeResize="0"/>
            <p:nvPr/>
          </p:nvPicPr>
          <p:blipFill rotWithShape="1">
            <a:blip r:embed="rId7">
              <a:alphaModFix/>
            </a:blip>
            <a:srcRect/>
            <a:stretch/>
          </p:blipFill>
          <p:spPr>
            <a:xfrm>
              <a:off x="5645272" y="5235200"/>
              <a:ext cx="639705" cy="640079"/>
            </a:xfrm>
            <a:prstGeom prst="rect">
              <a:avLst/>
            </a:prstGeom>
            <a:noFill/>
            <a:ln>
              <a:noFill/>
            </a:ln>
          </p:spPr>
        </p:pic>
        <p:sp>
          <p:nvSpPr>
            <p:cNvPr id="848" name="Google Shape;848;p24"/>
            <p:cNvSpPr/>
            <p:nvPr/>
          </p:nvSpPr>
          <p:spPr>
            <a:xfrm>
              <a:off x="6191656"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9" name="Google Shape;849;p24"/>
            <p:cNvSpPr/>
            <p:nvPr/>
          </p:nvSpPr>
          <p:spPr>
            <a:xfrm>
              <a:off x="6191656"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50" name="Google Shape;850;p24"/>
          <p:cNvGrpSpPr/>
          <p:nvPr/>
        </p:nvGrpSpPr>
        <p:grpSpPr>
          <a:xfrm>
            <a:off x="6419682" y="4400222"/>
            <a:ext cx="688872" cy="1475057"/>
            <a:chOff x="6419682" y="4400222"/>
            <a:chExt cx="688872" cy="1475057"/>
          </a:xfrm>
        </p:grpSpPr>
        <p:sp>
          <p:nvSpPr>
            <p:cNvPr id="851" name="Google Shape;851;p24"/>
            <p:cNvSpPr/>
            <p:nvPr/>
          </p:nvSpPr>
          <p:spPr>
            <a:xfrm>
              <a:off x="6691232"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2" name="Google Shape;852;p24"/>
            <p:cNvSpPr/>
            <p:nvPr/>
          </p:nvSpPr>
          <p:spPr>
            <a:xfrm>
              <a:off x="6691232"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3" name="Google Shape;853;p24"/>
            <p:cNvSpPr/>
            <p:nvPr/>
          </p:nvSpPr>
          <p:spPr>
            <a:xfrm>
              <a:off x="6717023" y="4831110"/>
              <a:ext cx="76200" cy="404495"/>
            </a:xfrm>
            <a:custGeom>
              <a:avLst/>
              <a:gdLst/>
              <a:ahLst/>
              <a:cxnLst/>
              <a:rect l="l" t="t" r="r" b="b"/>
              <a:pathLst>
                <a:path w="76200" h="404495" extrusionOk="0">
                  <a:moveTo>
                    <a:pt x="25397" y="76008"/>
                  </a:moveTo>
                  <a:lnTo>
                    <a:pt x="20636" y="403914"/>
                  </a:lnTo>
                  <a:lnTo>
                    <a:pt x="46033" y="404284"/>
                  </a:lnTo>
                  <a:lnTo>
                    <a:pt x="50794" y="76377"/>
                  </a:lnTo>
                  <a:lnTo>
                    <a:pt x="25397" y="76008"/>
                  </a:lnTo>
                  <a:close/>
                </a:path>
                <a:path w="76200" h="404495" extrusionOk="0">
                  <a:moveTo>
                    <a:pt x="69714" y="63309"/>
                  </a:moveTo>
                  <a:lnTo>
                    <a:pt x="25581" y="63309"/>
                  </a:lnTo>
                  <a:lnTo>
                    <a:pt x="50979" y="63677"/>
                  </a:lnTo>
                  <a:lnTo>
                    <a:pt x="50794" y="76377"/>
                  </a:lnTo>
                  <a:lnTo>
                    <a:pt x="76191" y="76746"/>
                  </a:lnTo>
                  <a:lnTo>
                    <a:pt x="69714" y="63309"/>
                  </a:lnTo>
                  <a:close/>
                </a:path>
                <a:path w="76200" h="404495" extrusionOk="0">
                  <a:moveTo>
                    <a:pt x="25581" y="63309"/>
                  </a:moveTo>
                  <a:lnTo>
                    <a:pt x="25397" y="76008"/>
                  </a:lnTo>
                  <a:lnTo>
                    <a:pt x="50794" y="76377"/>
                  </a:lnTo>
                  <a:lnTo>
                    <a:pt x="50979" y="63677"/>
                  </a:lnTo>
                  <a:lnTo>
                    <a:pt x="25581" y="63309"/>
                  </a:lnTo>
                  <a:close/>
                </a:path>
                <a:path w="76200" h="404495" extrusionOk="0">
                  <a:moveTo>
                    <a:pt x="39201" y="0"/>
                  </a:moveTo>
                  <a:lnTo>
                    <a:pt x="0" y="75639"/>
                  </a:lnTo>
                  <a:lnTo>
                    <a:pt x="25397" y="76008"/>
                  </a:lnTo>
                  <a:lnTo>
                    <a:pt x="25581" y="63309"/>
                  </a:lnTo>
                  <a:lnTo>
                    <a:pt x="69714" y="63309"/>
                  </a:lnTo>
                  <a:lnTo>
                    <a:pt x="3920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854" name="Google Shape;854;p24"/>
            <p:cNvPicPr preferRelativeResize="0"/>
            <p:nvPr/>
          </p:nvPicPr>
          <p:blipFill rotWithShape="1">
            <a:blip r:embed="rId8">
              <a:alphaModFix/>
            </a:blip>
            <a:srcRect/>
            <a:stretch/>
          </p:blipFill>
          <p:spPr>
            <a:xfrm>
              <a:off x="6419682" y="5235200"/>
              <a:ext cx="639705" cy="640079"/>
            </a:xfrm>
            <a:prstGeom prst="rect">
              <a:avLst/>
            </a:prstGeom>
            <a:noFill/>
            <a:ln>
              <a:noFill/>
            </a:ln>
          </p:spPr>
        </p:pic>
        <p:sp>
          <p:nvSpPr>
            <p:cNvPr id="855" name="Google Shape;855;p24"/>
            <p:cNvSpPr/>
            <p:nvPr/>
          </p:nvSpPr>
          <p:spPr>
            <a:xfrm>
              <a:off x="6978379"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6" name="Google Shape;856;p24"/>
            <p:cNvSpPr/>
            <p:nvPr/>
          </p:nvSpPr>
          <p:spPr>
            <a:xfrm>
              <a:off x="6978379"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57" name="Google Shape;857;p24"/>
          <p:cNvGrpSpPr/>
          <p:nvPr/>
        </p:nvGrpSpPr>
        <p:grpSpPr>
          <a:xfrm>
            <a:off x="7207347" y="4400222"/>
            <a:ext cx="668588" cy="1475057"/>
            <a:chOff x="7207347" y="4400222"/>
            <a:chExt cx="668588" cy="1475057"/>
          </a:xfrm>
        </p:grpSpPr>
        <p:sp>
          <p:nvSpPr>
            <p:cNvPr id="858" name="Google Shape;858;p24"/>
            <p:cNvSpPr/>
            <p:nvPr/>
          </p:nvSpPr>
          <p:spPr>
            <a:xfrm>
              <a:off x="7458613"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9" name="Google Shape;859;p24"/>
            <p:cNvSpPr/>
            <p:nvPr/>
          </p:nvSpPr>
          <p:spPr>
            <a:xfrm>
              <a:off x="7458613"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0" name="Google Shape;860;p24"/>
            <p:cNvSpPr/>
            <p:nvPr/>
          </p:nvSpPr>
          <p:spPr>
            <a:xfrm>
              <a:off x="7485566" y="4831110"/>
              <a:ext cx="76200" cy="404495"/>
            </a:xfrm>
            <a:custGeom>
              <a:avLst/>
              <a:gdLst/>
              <a:ahLst/>
              <a:cxnLst/>
              <a:rect l="l" t="t" r="r" b="b"/>
              <a:pathLst>
                <a:path w="76200" h="404495" extrusionOk="0">
                  <a:moveTo>
                    <a:pt x="50799" y="76190"/>
                  </a:moveTo>
                  <a:lnTo>
                    <a:pt x="25399" y="76210"/>
                  </a:lnTo>
                  <a:lnTo>
                    <a:pt x="25660" y="404110"/>
                  </a:lnTo>
                  <a:lnTo>
                    <a:pt x="51060" y="404089"/>
                  </a:lnTo>
                  <a:lnTo>
                    <a:pt x="50799" y="76190"/>
                  </a:lnTo>
                  <a:close/>
                </a:path>
                <a:path w="76200" h="404495" extrusionOk="0">
                  <a:moveTo>
                    <a:pt x="38039" y="0"/>
                  </a:moveTo>
                  <a:lnTo>
                    <a:pt x="0" y="76230"/>
                  </a:lnTo>
                  <a:lnTo>
                    <a:pt x="25399" y="76210"/>
                  </a:lnTo>
                  <a:lnTo>
                    <a:pt x="25389" y="63510"/>
                  </a:lnTo>
                  <a:lnTo>
                    <a:pt x="69846" y="63489"/>
                  </a:lnTo>
                  <a:lnTo>
                    <a:pt x="38039" y="0"/>
                  </a:lnTo>
                  <a:close/>
                </a:path>
                <a:path w="76200" h="404495" extrusionOk="0">
                  <a:moveTo>
                    <a:pt x="50789" y="63489"/>
                  </a:moveTo>
                  <a:lnTo>
                    <a:pt x="25389" y="63510"/>
                  </a:lnTo>
                  <a:lnTo>
                    <a:pt x="25399" y="76210"/>
                  </a:lnTo>
                  <a:lnTo>
                    <a:pt x="50799" y="76190"/>
                  </a:lnTo>
                  <a:lnTo>
                    <a:pt x="50789" y="63489"/>
                  </a:lnTo>
                  <a:close/>
                </a:path>
                <a:path w="76200" h="404495" extrusionOk="0">
                  <a:moveTo>
                    <a:pt x="69846" y="63489"/>
                  </a:moveTo>
                  <a:lnTo>
                    <a:pt x="50789" y="63489"/>
                  </a:lnTo>
                  <a:lnTo>
                    <a:pt x="50799" y="76190"/>
                  </a:lnTo>
                  <a:lnTo>
                    <a:pt x="76200" y="76170"/>
                  </a:lnTo>
                  <a:lnTo>
                    <a:pt x="69846"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861" name="Google Shape;861;p24"/>
            <p:cNvPicPr preferRelativeResize="0"/>
            <p:nvPr/>
          </p:nvPicPr>
          <p:blipFill rotWithShape="1">
            <a:blip r:embed="rId9">
              <a:alphaModFix/>
            </a:blip>
            <a:srcRect/>
            <a:stretch/>
          </p:blipFill>
          <p:spPr>
            <a:xfrm>
              <a:off x="7207347" y="5235200"/>
              <a:ext cx="641197" cy="640079"/>
            </a:xfrm>
            <a:prstGeom prst="rect">
              <a:avLst/>
            </a:prstGeom>
            <a:noFill/>
            <a:ln>
              <a:noFill/>
            </a:ln>
          </p:spPr>
        </p:pic>
        <p:sp>
          <p:nvSpPr>
            <p:cNvPr id="862" name="Google Shape;862;p24"/>
            <p:cNvSpPr/>
            <p:nvPr/>
          </p:nvSpPr>
          <p:spPr>
            <a:xfrm>
              <a:off x="7745760"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3" name="Google Shape;863;p24"/>
            <p:cNvSpPr/>
            <p:nvPr/>
          </p:nvSpPr>
          <p:spPr>
            <a:xfrm>
              <a:off x="7745760"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64" name="Google Shape;864;p24"/>
          <p:cNvGrpSpPr/>
          <p:nvPr/>
        </p:nvGrpSpPr>
        <p:grpSpPr>
          <a:xfrm>
            <a:off x="7970093" y="4400222"/>
            <a:ext cx="681844" cy="1475057"/>
            <a:chOff x="7970093" y="4400222"/>
            <a:chExt cx="681844" cy="1475057"/>
          </a:xfrm>
        </p:grpSpPr>
        <p:sp>
          <p:nvSpPr>
            <p:cNvPr id="865" name="Google Shape;865;p24"/>
            <p:cNvSpPr/>
            <p:nvPr/>
          </p:nvSpPr>
          <p:spPr>
            <a:xfrm>
              <a:off x="8234614"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6" name="Google Shape;866;p24"/>
            <p:cNvSpPr/>
            <p:nvPr/>
          </p:nvSpPr>
          <p:spPr>
            <a:xfrm>
              <a:off x="8234614"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7" name="Google Shape;867;p24"/>
            <p:cNvSpPr/>
            <p:nvPr/>
          </p:nvSpPr>
          <p:spPr>
            <a:xfrm>
              <a:off x="8261567"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868" name="Google Shape;868;p24"/>
            <p:cNvPicPr preferRelativeResize="0"/>
            <p:nvPr/>
          </p:nvPicPr>
          <p:blipFill rotWithShape="1">
            <a:blip r:embed="rId10">
              <a:alphaModFix/>
            </a:blip>
            <a:srcRect/>
            <a:stretch/>
          </p:blipFill>
          <p:spPr>
            <a:xfrm>
              <a:off x="7970093" y="5235200"/>
              <a:ext cx="641205" cy="640079"/>
            </a:xfrm>
            <a:prstGeom prst="rect">
              <a:avLst/>
            </a:prstGeom>
            <a:noFill/>
            <a:ln>
              <a:noFill/>
            </a:ln>
          </p:spPr>
        </p:pic>
        <p:sp>
          <p:nvSpPr>
            <p:cNvPr id="869" name="Google Shape;869;p24"/>
            <p:cNvSpPr/>
            <p:nvPr/>
          </p:nvSpPr>
          <p:spPr>
            <a:xfrm>
              <a:off x="8521762"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0" name="Google Shape;870;p24"/>
            <p:cNvSpPr/>
            <p:nvPr/>
          </p:nvSpPr>
          <p:spPr>
            <a:xfrm>
              <a:off x="8521762"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71" name="Google Shape;871;p24"/>
          <p:cNvGrpSpPr/>
          <p:nvPr/>
        </p:nvGrpSpPr>
        <p:grpSpPr>
          <a:xfrm>
            <a:off x="8744502" y="4400222"/>
            <a:ext cx="684186" cy="1475057"/>
            <a:chOff x="8744502" y="4400222"/>
            <a:chExt cx="684186" cy="1475057"/>
          </a:xfrm>
        </p:grpSpPr>
        <p:sp>
          <p:nvSpPr>
            <p:cNvPr id="872" name="Google Shape;872;p24"/>
            <p:cNvSpPr/>
            <p:nvPr/>
          </p:nvSpPr>
          <p:spPr>
            <a:xfrm>
              <a:off x="9011366"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3" name="Google Shape;873;p24"/>
            <p:cNvSpPr/>
            <p:nvPr/>
          </p:nvSpPr>
          <p:spPr>
            <a:xfrm>
              <a:off x="9011366"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4" name="Google Shape;874;p24"/>
            <p:cNvSpPr/>
            <p:nvPr/>
          </p:nvSpPr>
          <p:spPr>
            <a:xfrm>
              <a:off x="9038318"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875" name="Google Shape;875;p24"/>
            <p:cNvPicPr preferRelativeResize="0"/>
            <p:nvPr/>
          </p:nvPicPr>
          <p:blipFill rotWithShape="1">
            <a:blip r:embed="rId11">
              <a:alphaModFix/>
            </a:blip>
            <a:srcRect/>
            <a:stretch/>
          </p:blipFill>
          <p:spPr>
            <a:xfrm>
              <a:off x="8744502" y="5235200"/>
              <a:ext cx="641206" cy="640079"/>
            </a:xfrm>
            <a:prstGeom prst="rect">
              <a:avLst/>
            </a:prstGeom>
            <a:noFill/>
            <a:ln>
              <a:noFill/>
            </a:ln>
          </p:spPr>
        </p:pic>
        <p:sp>
          <p:nvSpPr>
            <p:cNvPr id="876" name="Google Shape;876;p24"/>
            <p:cNvSpPr/>
            <p:nvPr/>
          </p:nvSpPr>
          <p:spPr>
            <a:xfrm>
              <a:off x="9298513"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7" name="Google Shape;877;p24"/>
            <p:cNvSpPr/>
            <p:nvPr/>
          </p:nvSpPr>
          <p:spPr>
            <a:xfrm>
              <a:off x="9298513"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78" name="Google Shape;878;p24"/>
          <p:cNvSpPr txBox="1"/>
          <p:nvPr/>
        </p:nvSpPr>
        <p:spPr>
          <a:xfrm>
            <a:off x="273194" y="3559555"/>
            <a:ext cx="2190115" cy="1278255"/>
          </a:xfrm>
          <a:prstGeom prst="rect">
            <a:avLst/>
          </a:prstGeom>
          <a:noFill/>
          <a:ln>
            <a:noFill/>
          </a:ln>
        </p:spPr>
        <p:txBody>
          <a:bodyPr spcFirstLastPara="1" wrap="square" lIns="0" tIns="13950" rIns="0" bIns="0" anchor="t" anchorCtr="0">
            <a:spAutoFit/>
          </a:bodyPr>
          <a:lstStyle/>
          <a:p>
            <a:pPr marL="12700" marR="5080" lvl="0" indent="0" algn="l"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Add positional embedding: learned D- dim vector per position</a:t>
            </a:r>
            <a:endParaRPr sz="1800" b="0" i="0" u="none" strike="noStrike" cap="none">
              <a:solidFill>
                <a:srgbClr val="000000"/>
              </a:solidFill>
              <a:latin typeface="Calibri"/>
              <a:ea typeface="Calibri"/>
              <a:cs typeface="Calibri"/>
              <a:sym typeface="Calibri"/>
            </a:endParaRPr>
          </a:p>
          <a:p>
            <a:pPr marL="19685" marR="0" lvl="0" indent="0" algn="l" rtl="0">
              <a:lnSpc>
                <a:spcPct val="100000"/>
              </a:lnSpc>
              <a:spcBef>
                <a:spcPts val="125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a:t>
            </a:r>
            <a:endParaRPr sz="1800" b="0" i="0" u="none" strike="noStrike" cap="none">
              <a:solidFill>
                <a:srgbClr val="000000"/>
              </a:solidFill>
              <a:latin typeface="Calibri"/>
              <a:ea typeface="Calibri"/>
              <a:cs typeface="Calibri"/>
              <a:sym typeface="Calibri"/>
            </a:endParaRPr>
          </a:p>
        </p:txBody>
      </p:sp>
      <p:grpSp>
        <p:nvGrpSpPr>
          <p:cNvPr id="879" name="Google Shape;879;p24"/>
          <p:cNvGrpSpPr/>
          <p:nvPr/>
        </p:nvGrpSpPr>
        <p:grpSpPr>
          <a:xfrm>
            <a:off x="2535941" y="2675707"/>
            <a:ext cx="7106284" cy="769620"/>
            <a:chOff x="2535941" y="2675707"/>
            <a:chExt cx="7106284" cy="769620"/>
          </a:xfrm>
        </p:grpSpPr>
        <p:sp>
          <p:nvSpPr>
            <p:cNvPr id="880" name="Google Shape;880;p24"/>
            <p:cNvSpPr/>
            <p:nvPr/>
          </p:nvSpPr>
          <p:spPr>
            <a:xfrm>
              <a:off x="2535941" y="2675707"/>
              <a:ext cx="7106284" cy="769620"/>
            </a:xfrm>
            <a:custGeom>
              <a:avLst/>
              <a:gdLst/>
              <a:ahLst/>
              <a:cxnLst/>
              <a:rect l="l" t="t" r="r" b="b"/>
              <a:pathLst>
                <a:path w="7106284" h="769620" extrusionOk="0">
                  <a:moveTo>
                    <a:pt x="6977533" y="0"/>
                  </a:moveTo>
                  <a:lnTo>
                    <a:pt x="128235" y="0"/>
                  </a:lnTo>
                  <a:lnTo>
                    <a:pt x="78320" y="10077"/>
                  </a:lnTo>
                  <a:lnTo>
                    <a:pt x="37559" y="37559"/>
                  </a:lnTo>
                  <a:lnTo>
                    <a:pt x="10077" y="78321"/>
                  </a:lnTo>
                  <a:lnTo>
                    <a:pt x="0" y="128236"/>
                  </a:lnTo>
                  <a:lnTo>
                    <a:pt x="0" y="641183"/>
                  </a:lnTo>
                  <a:lnTo>
                    <a:pt x="10077" y="691098"/>
                  </a:lnTo>
                  <a:lnTo>
                    <a:pt x="37559" y="731860"/>
                  </a:lnTo>
                  <a:lnTo>
                    <a:pt x="78320" y="759341"/>
                  </a:lnTo>
                  <a:lnTo>
                    <a:pt x="128235" y="769419"/>
                  </a:lnTo>
                  <a:lnTo>
                    <a:pt x="6977533" y="769419"/>
                  </a:lnTo>
                  <a:lnTo>
                    <a:pt x="7027448" y="759341"/>
                  </a:lnTo>
                  <a:lnTo>
                    <a:pt x="7068210" y="731860"/>
                  </a:lnTo>
                  <a:lnTo>
                    <a:pt x="7095692" y="691098"/>
                  </a:lnTo>
                  <a:lnTo>
                    <a:pt x="7105769" y="641183"/>
                  </a:lnTo>
                  <a:lnTo>
                    <a:pt x="7105769" y="128236"/>
                  </a:lnTo>
                  <a:lnTo>
                    <a:pt x="7095692" y="78321"/>
                  </a:lnTo>
                  <a:lnTo>
                    <a:pt x="7068210" y="37559"/>
                  </a:lnTo>
                  <a:lnTo>
                    <a:pt x="7027448" y="10077"/>
                  </a:lnTo>
                  <a:lnTo>
                    <a:pt x="6977533" y="0"/>
                  </a:lnTo>
                  <a:close/>
                </a:path>
              </a:pathLst>
            </a:custGeom>
            <a:solidFill>
              <a:srgbClr val="E2F0D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1" name="Google Shape;881;p24"/>
            <p:cNvSpPr/>
            <p:nvPr/>
          </p:nvSpPr>
          <p:spPr>
            <a:xfrm>
              <a:off x="2535941" y="2675707"/>
              <a:ext cx="7106284" cy="769620"/>
            </a:xfrm>
            <a:custGeom>
              <a:avLst/>
              <a:gdLst/>
              <a:ahLst/>
              <a:cxnLst/>
              <a:rect l="l" t="t" r="r" b="b"/>
              <a:pathLst>
                <a:path w="7106284" h="769620" extrusionOk="0">
                  <a:moveTo>
                    <a:pt x="0" y="128236"/>
                  </a:moveTo>
                  <a:lnTo>
                    <a:pt x="10077" y="78321"/>
                  </a:lnTo>
                  <a:lnTo>
                    <a:pt x="37559" y="37559"/>
                  </a:lnTo>
                  <a:lnTo>
                    <a:pt x="78321" y="10077"/>
                  </a:lnTo>
                  <a:lnTo>
                    <a:pt x="128236" y="0"/>
                  </a:lnTo>
                  <a:lnTo>
                    <a:pt x="6977534" y="0"/>
                  </a:lnTo>
                  <a:lnTo>
                    <a:pt x="7027449" y="10077"/>
                  </a:lnTo>
                  <a:lnTo>
                    <a:pt x="7068210" y="37559"/>
                  </a:lnTo>
                  <a:lnTo>
                    <a:pt x="7095692" y="78321"/>
                  </a:lnTo>
                  <a:lnTo>
                    <a:pt x="7105770" y="128236"/>
                  </a:lnTo>
                  <a:lnTo>
                    <a:pt x="7105770" y="641183"/>
                  </a:lnTo>
                  <a:lnTo>
                    <a:pt x="7095692" y="691098"/>
                  </a:lnTo>
                  <a:lnTo>
                    <a:pt x="7068210" y="731860"/>
                  </a:lnTo>
                  <a:lnTo>
                    <a:pt x="7027449" y="759342"/>
                  </a:lnTo>
                  <a:lnTo>
                    <a:pt x="6977534" y="769420"/>
                  </a:lnTo>
                  <a:lnTo>
                    <a:pt x="128236" y="769420"/>
                  </a:lnTo>
                  <a:lnTo>
                    <a:pt x="78321" y="759342"/>
                  </a:lnTo>
                  <a:lnTo>
                    <a:pt x="37559" y="731860"/>
                  </a:lnTo>
                  <a:lnTo>
                    <a:pt x="10077" y="691098"/>
                  </a:lnTo>
                  <a:lnTo>
                    <a:pt x="0" y="641183"/>
                  </a:lnTo>
                  <a:lnTo>
                    <a:pt x="0" y="128236"/>
                  </a:lnTo>
                  <a:close/>
                </a:path>
              </a:pathLst>
            </a:custGeom>
            <a:noFill/>
            <a:ln w="12700" cap="flat" cmpd="sng">
              <a:solidFill>
                <a:srgbClr val="70AD47"/>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82" name="Google Shape;882;p24"/>
          <p:cNvSpPr txBox="1"/>
          <p:nvPr/>
        </p:nvSpPr>
        <p:spPr>
          <a:xfrm>
            <a:off x="5197666" y="2807715"/>
            <a:ext cx="178308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Transformer</a:t>
            </a:r>
            <a:endParaRPr sz="2800" b="0" i="0" u="none" strike="noStrike" cap="none">
              <a:solidFill>
                <a:srgbClr val="000000"/>
              </a:solidFill>
              <a:latin typeface="Calibri"/>
              <a:ea typeface="Calibri"/>
              <a:cs typeface="Calibri"/>
              <a:sym typeface="Calibri"/>
            </a:endParaRPr>
          </a:p>
        </p:txBody>
      </p:sp>
      <p:grpSp>
        <p:nvGrpSpPr>
          <p:cNvPr id="883" name="Google Shape;883;p24"/>
          <p:cNvGrpSpPr/>
          <p:nvPr/>
        </p:nvGrpSpPr>
        <p:grpSpPr>
          <a:xfrm>
            <a:off x="2961547" y="2096159"/>
            <a:ext cx="130810" cy="429895"/>
            <a:chOff x="2961547" y="2096159"/>
            <a:chExt cx="130810" cy="429895"/>
          </a:xfrm>
        </p:grpSpPr>
        <p:sp>
          <p:nvSpPr>
            <p:cNvPr id="884" name="Google Shape;884;p24"/>
            <p:cNvSpPr/>
            <p:nvPr/>
          </p:nvSpPr>
          <p:spPr>
            <a:xfrm>
              <a:off x="2961547" y="2096159"/>
              <a:ext cx="130810" cy="429895"/>
            </a:xfrm>
            <a:custGeom>
              <a:avLst/>
              <a:gdLst/>
              <a:ahLst/>
              <a:cxnLst/>
              <a:rect l="l" t="t" r="r" b="b"/>
              <a:pathLst>
                <a:path w="130810"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5" name="Google Shape;885;p24"/>
            <p:cNvSpPr/>
            <p:nvPr/>
          </p:nvSpPr>
          <p:spPr>
            <a:xfrm>
              <a:off x="296154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86" name="Google Shape;886;p24"/>
          <p:cNvGrpSpPr/>
          <p:nvPr/>
        </p:nvGrpSpPr>
        <p:grpSpPr>
          <a:xfrm>
            <a:off x="3737768" y="2099950"/>
            <a:ext cx="130810" cy="429895"/>
            <a:chOff x="3737768" y="2099950"/>
            <a:chExt cx="130810" cy="429895"/>
          </a:xfrm>
        </p:grpSpPr>
        <p:sp>
          <p:nvSpPr>
            <p:cNvPr id="887" name="Google Shape;887;p24"/>
            <p:cNvSpPr/>
            <p:nvPr/>
          </p:nvSpPr>
          <p:spPr>
            <a:xfrm>
              <a:off x="3737768"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8" name="Google Shape;888;p24"/>
            <p:cNvSpPr/>
            <p:nvPr/>
          </p:nvSpPr>
          <p:spPr>
            <a:xfrm>
              <a:off x="3737768"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89" name="Google Shape;889;p24"/>
          <p:cNvGrpSpPr/>
          <p:nvPr/>
        </p:nvGrpSpPr>
        <p:grpSpPr>
          <a:xfrm>
            <a:off x="4513990" y="2096159"/>
            <a:ext cx="130810" cy="429895"/>
            <a:chOff x="4513990" y="2096159"/>
            <a:chExt cx="130810" cy="429895"/>
          </a:xfrm>
        </p:grpSpPr>
        <p:sp>
          <p:nvSpPr>
            <p:cNvPr id="890" name="Google Shape;890;p24"/>
            <p:cNvSpPr/>
            <p:nvPr/>
          </p:nvSpPr>
          <p:spPr>
            <a:xfrm>
              <a:off x="4513990"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1" name="Google Shape;891;p24"/>
            <p:cNvSpPr/>
            <p:nvPr/>
          </p:nvSpPr>
          <p:spPr>
            <a:xfrm>
              <a:off x="4513990"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92" name="Google Shape;892;p24"/>
          <p:cNvGrpSpPr/>
          <p:nvPr/>
        </p:nvGrpSpPr>
        <p:grpSpPr>
          <a:xfrm>
            <a:off x="5291261" y="2099950"/>
            <a:ext cx="130810" cy="429895"/>
            <a:chOff x="5291261" y="2099950"/>
            <a:chExt cx="130810" cy="429895"/>
          </a:xfrm>
        </p:grpSpPr>
        <p:sp>
          <p:nvSpPr>
            <p:cNvPr id="893" name="Google Shape;893;p24"/>
            <p:cNvSpPr/>
            <p:nvPr/>
          </p:nvSpPr>
          <p:spPr>
            <a:xfrm>
              <a:off x="5291261"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4" name="Google Shape;894;p24"/>
            <p:cNvSpPr/>
            <p:nvPr/>
          </p:nvSpPr>
          <p:spPr>
            <a:xfrm>
              <a:off x="5291261"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95" name="Google Shape;895;p24"/>
          <p:cNvGrpSpPr/>
          <p:nvPr/>
        </p:nvGrpSpPr>
        <p:grpSpPr>
          <a:xfrm>
            <a:off x="6063477" y="2096159"/>
            <a:ext cx="130810" cy="429895"/>
            <a:chOff x="6063477" y="2096159"/>
            <a:chExt cx="130810" cy="429895"/>
          </a:xfrm>
        </p:grpSpPr>
        <p:sp>
          <p:nvSpPr>
            <p:cNvPr id="896" name="Google Shape;896;p24"/>
            <p:cNvSpPr/>
            <p:nvPr/>
          </p:nvSpPr>
          <p:spPr>
            <a:xfrm>
              <a:off x="6063477"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7" name="Google Shape;897;p24"/>
            <p:cNvSpPr/>
            <p:nvPr/>
          </p:nvSpPr>
          <p:spPr>
            <a:xfrm>
              <a:off x="606347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98" name="Google Shape;898;p24"/>
          <p:cNvGrpSpPr/>
          <p:nvPr/>
        </p:nvGrpSpPr>
        <p:grpSpPr>
          <a:xfrm>
            <a:off x="6850202" y="2096159"/>
            <a:ext cx="130810" cy="429895"/>
            <a:chOff x="6850202" y="2096159"/>
            <a:chExt cx="130810" cy="429895"/>
          </a:xfrm>
        </p:grpSpPr>
        <p:sp>
          <p:nvSpPr>
            <p:cNvPr id="899" name="Google Shape;899;p24"/>
            <p:cNvSpPr/>
            <p:nvPr/>
          </p:nvSpPr>
          <p:spPr>
            <a:xfrm>
              <a:off x="6850202"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0" name="Google Shape;900;p24"/>
            <p:cNvSpPr/>
            <p:nvPr/>
          </p:nvSpPr>
          <p:spPr>
            <a:xfrm>
              <a:off x="6850202"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01" name="Google Shape;901;p24"/>
          <p:cNvGrpSpPr/>
          <p:nvPr/>
        </p:nvGrpSpPr>
        <p:grpSpPr>
          <a:xfrm>
            <a:off x="7617583" y="2096159"/>
            <a:ext cx="130810" cy="429895"/>
            <a:chOff x="7617583" y="2096159"/>
            <a:chExt cx="130810" cy="429895"/>
          </a:xfrm>
        </p:grpSpPr>
        <p:sp>
          <p:nvSpPr>
            <p:cNvPr id="902" name="Google Shape;902;p24"/>
            <p:cNvSpPr/>
            <p:nvPr/>
          </p:nvSpPr>
          <p:spPr>
            <a:xfrm>
              <a:off x="7617583"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3" name="Google Shape;903;p24"/>
            <p:cNvSpPr/>
            <p:nvPr/>
          </p:nvSpPr>
          <p:spPr>
            <a:xfrm>
              <a:off x="7617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04" name="Google Shape;904;p24"/>
          <p:cNvGrpSpPr/>
          <p:nvPr/>
        </p:nvGrpSpPr>
        <p:grpSpPr>
          <a:xfrm>
            <a:off x="8393583" y="2096159"/>
            <a:ext cx="130810" cy="429895"/>
            <a:chOff x="8393583" y="2096159"/>
            <a:chExt cx="130810" cy="429895"/>
          </a:xfrm>
        </p:grpSpPr>
        <p:sp>
          <p:nvSpPr>
            <p:cNvPr id="905" name="Google Shape;905;p24"/>
            <p:cNvSpPr/>
            <p:nvPr/>
          </p:nvSpPr>
          <p:spPr>
            <a:xfrm>
              <a:off x="8393583"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6" name="Google Shape;906;p24"/>
            <p:cNvSpPr/>
            <p:nvPr/>
          </p:nvSpPr>
          <p:spPr>
            <a:xfrm>
              <a:off x="8393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07" name="Google Shape;907;p24"/>
          <p:cNvGrpSpPr/>
          <p:nvPr/>
        </p:nvGrpSpPr>
        <p:grpSpPr>
          <a:xfrm>
            <a:off x="9170334" y="2096159"/>
            <a:ext cx="130810" cy="429895"/>
            <a:chOff x="9170334" y="2096159"/>
            <a:chExt cx="130810" cy="429895"/>
          </a:xfrm>
        </p:grpSpPr>
        <p:sp>
          <p:nvSpPr>
            <p:cNvPr id="908" name="Google Shape;908;p24"/>
            <p:cNvSpPr/>
            <p:nvPr/>
          </p:nvSpPr>
          <p:spPr>
            <a:xfrm>
              <a:off x="9170334"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9" name="Google Shape;909;p24"/>
            <p:cNvSpPr/>
            <p:nvPr/>
          </p:nvSpPr>
          <p:spPr>
            <a:xfrm>
              <a:off x="9170334"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910" name="Google Shape;910;p24"/>
          <p:cNvSpPr txBox="1"/>
          <p:nvPr/>
        </p:nvSpPr>
        <p:spPr>
          <a:xfrm>
            <a:off x="451943" y="2038603"/>
            <a:ext cx="141478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Output vectors</a:t>
            </a:r>
            <a:endParaRPr sz="1800" b="0" i="0" u="none" strike="noStrike" cap="none">
              <a:solidFill>
                <a:srgbClr val="000000"/>
              </a:solidFill>
              <a:latin typeface="Calibri"/>
              <a:ea typeface="Calibri"/>
              <a:cs typeface="Calibri"/>
              <a:sym typeface="Calibri"/>
            </a:endParaRPr>
          </a:p>
        </p:txBody>
      </p:sp>
      <p:sp>
        <p:nvSpPr>
          <p:cNvPr id="911" name="Google Shape;911;p24"/>
          <p:cNvSpPr txBox="1"/>
          <p:nvPr/>
        </p:nvSpPr>
        <p:spPr>
          <a:xfrm>
            <a:off x="282081" y="2757932"/>
            <a:ext cx="1644014" cy="565150"/>
          </a:xfrm>
          <a:prstGeom prst="rect">
            <a:avLst/>
          </a:prstGeom>
          <a:noFill/>
          <a:ln>
            <a:noFill/>
          </a:ln>
        </p:spPr>
        <p:txBody>
          <a:bodyPr spcFirstLastPara="1" wrap="square" lIns="0" tIns="28575" rIns="0" bIns="0" anchor="t" anchorCtr="0">
            <a:spAutoFit/>
          </a:bodyPr>
          <a:lstStyle/>
          <a:p>
            <a:pPr marL="12700" marR="5080" lvl="0" indent="165735" algn="l" rtl="0">
              <a:lnSpc>
                <a:spcPct val="116111"/>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Exact same as NLP Transformer!</a:t>
            </a:r>
            <a:endParaRPr sz="1800" b="0" i="0" u="none" strike="noStrike" cap="none">
              <a:solidFill>
                <a:srgbClr val="000000"/>
              </a:solidFill>
              <a:latin typeface="Calibri"/>
              <a:ea typeface="Calibri"/>
              <a:cs typeface="Calibri"/>
              <a:sym typeface="Calibri"/>
            </a:endParaRPr>
          </a:p>
        </p:txBody>
      </p:sp>
      <p:grpSp>
        <p:nvGrpSpPr>
          <p:cNvPr id="912" name="Google Shape;912;p24"/>
          <p:cNvGrpSpPr/>
          <p:nvPr/>
        </p:nvGrpSpPr>
        <p:grpSpPr>
          <a:xfrm>
            <a:off x="2959741" y="3627475"/>
            <a:ext cx="130175" cy="431165"/>
            <a:chOff x="2959741" y="3627475"/>
            <a:chExt cx="130175" cy="431165"/>
          </a:xfrm>
        </p:grpSpPr>
        <p:sp>
          <p:nvSpPr>
            <p:cNvPr id="913" name="Google Shape;913;p24"/>
            <p:cNvSpPr/>
            <p:nvPr/>
          </p:nvSpPr>
          <p:spPr>
            <a:xfrm>
              <a:off x="2959741"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4" name="Google Shape;914;p24"/>
            <p:cNvSpPr/>
            <p:nvPr/>
          </p:nvSpPr>
          <p:spPr>
            <a:xfrm>
              <a:off x="295974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15" name="Google Shape;915;p24"/>
          <p:cNvGrpSpPr/>
          <p:nvPr/>
        </p:nvGrpSpPr>
        <p:grpSpPr>
          <a:xfrm>
            <a:off x="3735962" y="3631266"/>
            <a:ext cx="130175" cy="431165"/>
            <a:chOff x="3735962" y="3631266"/>
            <a:chExt cx="130175" cy="431165"/>
          </a:xfrm>
        </p:grpSpPr>
        <p:sp>
          <p:nvSpPr>
            <p:cNvPr id="916" name="Google Shape;916;p24"/>
            <p:cNvSpPr/>
            <p:nvPr/>
          </p:nvSpPr>
          <p:spPr>
            <a:xfrm>
              <a:off x="3735962"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7" name="Google Shape;917;p24"/>
            <p:cNvSpPr/>
            <p:nvPr/>
          </p:nvSpPr>
          <p:spPr>
            <a:xfrm>
              <a:off x="3735962"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18" name="Google Shape;918;p24"/>
          <p:cNvGrpSpPr/>
          <p:nvPr/>
        </p:nvGrpSpPr>
        <p:grpSpPr>
          <a:xfrm>
            <a:off x="4512184" y="3627475"/>
            <a:ext cx="130175" cy="431165"/>
            <a:chOff x="4512184" y="3627475"/>
            <a:chExt cx="130175" cy="431165"/>
          </a:xfrm>
        </p:grpSpPr>
        <p:sp>
          <p:nvSpPr>
            <p:cNvPr id="919" name="Google Shape;919;p24"/>
            <p:cNvSpPr/>
            <p:nvPr/>
          </p:nvSpPr>
          <p:spPr>
            <a:xfrm>
              <a:off x="4512184"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0" name="Google Shape;920;p24"/>
            <p:cNvSpPr/>
            <p:nvPr/>
          </p:nvSpPr>
          <p:spPr>
            <a:xfrm>
              <a:off x="4512184"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21" name="Google Shape;921;p24"/>
          <p:cNvGrpSpPr/>
          <p:nvPr/>
        </p:nvGrpSpPr>
        <p:grpSpPr>
          <a:xfrm>
            <a:off x="5289456" y="3631266"/>
            <a:ext cx="130175" cy="431165"/>
            <a:chOff x="5289456" y="3631266"/>
            <a:chExt cx="130175" cy="431165"/>
          </a:xfrm>
        </p:grpSpPr>
        <p:sp>
          <p:nvSpPr>
            <p:cNvPr id="922" name="Google Shape;922;p24"/>
            <p:cNvSpPr/>
            <p:nvPr/>
          </p:nvSpPr>
          <p:spPr>
            <a:xfrm>
              <a:off x="5289456"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3" name="Google Shape;923;p24"/>
            <p:cNvSpPr/>
            <p:nvPr/>
          </p:nvSpPr>
          <p:spPr>
            <a:xfrm>
              <a:off x="5289456"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24" name="Google Shape;924;p24"/>
          <p:cNvGrpSpPr/>
          <p:nvPr/>
        </p:nvGrpSpPr>
        <p:grpSpPr>
          <a:xfrm>
            <a:off x="6061671" y="3627475"/>
            <a:ext cx="130175" cy="431165"/>
            <a:chOff x="6061671" y="3627475"/>
            <a:chExt cx="130175" cy="431165"/>
          </a:xfrm>
        </p:grpSpPr>
        <p:sp>
          <p:nvSpPr>
            <p:cNvPr id="925" name="Google Shape;925;p24"/>
            <p:cNvSpPr/>
            <p:nvPr/>
          </p:nvSpPr>
          <p:spPr>
            <a:xfrm>
              <a:off x="6061671"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6" name="Google Shape;926;p24"/>
            <p:cNvSpPr/>
            <p:nvPr/>
          </p:nvSpPr>
          <p:spPr>
            <a:xfrm>
              <a:off x="606167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27" name="Google Shape;927;p24"/>
          <p:cNvGrpSpPr/>
          <p:nvPr/>
        </p:nvGrpSpPr>
        <p:grpSpPr>
          <a:xfrm>
            <a:off x="6848395" y="3627475"/>
            <a:ext cx="130175" cy="431165"/>
            <a:chOff x="6848395" y="3627475"/>
            <a:chExt cx="130175" cy="431165"/>
          </a:xfrm>
        </p:grpSpPr>
        <p:sp>
          <p:nvSpPr>
            <p:cNvPr id="928" name="Google Shape;928;p24"/>
            <p:cNvSpPr/>
            <p:nvPr/>
          </p:nvSpPr>
          <p:spPr>
            <a:xfrm>
              <a:off x="6848395"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9" name="Google Shape;929;p24"/>
            <p:cNvSpPr/>
            <p:nvPr/>
          </p:nvSpPr>
          <p:spPr>
            <a:xfrm>
              <a:off x="684839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30" name="Google Shape;930;p24"/>
          <p:cNvGrpSpPr/>
          <p:nvPr/>
        </p:nvGrpSpPr>
        <p:grpSpPr>
          <a:xfrm>
            <a:off x="7615777" y="3627475"/>
            <a:ext cx="130175" cy="431165"/>
            <a:chOff x="7615777" y="3627475"/>
            <a:chExt cx="130175" cy="431165"/>
          </a:xfrm>
        </p:grpSpPr>
        <p:sp>
          <p:nvSpPr>
            <p:cNvPr id="931" name="Google Shape;931;p24"/>
            <p:cNvSpPr/>
            <p:nvPr/>
          </p:nvSpPr>
          <p:spPr>
            <a:xfrm>
              <a:off x="7615777"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2" name="Google Shape;932;p24"/>
            <p:cNvSpPr/>
            <p:nvPr/>
          </p:nvSpPr>
          <p:spPr>
            <a:xfrm>
              <a:off x="7615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33" name="Google Shape;933;p24"/>
          <p:cNvGrpSpPr/>
          <p:nvPr/>
        </p:nvGrpSpPr>
        <p:grpSpPr>
          <a:xfrm>
            <a:off x="8391777" y="3627475"/>
            <a:ext cx="130175" cy="431165"/>
            <a:chOff x="8391777" y="3627475"/>
            <a:chExt cx="130175" cy="431165"/>
          </a:xfrm>
        </p:grpSpPr>
        <p:sp>
          <p:nvSpPr>
            <p:cNvPr id="934" name="Google Shape;934;p24"/>
            <p:cNvSpPr/>
            <p:nvPr/>
          </p:nvSpPr>
          <p:spPr>
            <a:xfrm>
              <a:off x="8391777"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5" name="Google Shape;935;p24"/>
            <p:cNvSpPr/>
            <p:nvPr/>
          </p:nvSpPr>
          <p:spPr>
            <a:xfrm>
              <a:off x="8391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36" name="Google Shape;936;p24"/>
          <p:cNvGrpSpPr/>
          <p:nvPr/>
        </p:nvGrpSpPr>
        <p:grpSpPr>
          <a:xfrm>
            <a:off x="9168528" y="3627475"/>
            <a:ext cx="130175" cy="431165"/>
            <a:chOff x="9168528" y="3627475"/>
            <a:chExt cx="130175" cy="431165"/>
          </a:xfrm>
        </p:grpSpPr>
        <p:sp>
          <p:nvSpPr>
            <p:cNvPr id="937" name="Google Shape;937;p24"/>
            <p:cNvSpPr/>
            <p:nvPr/>
          </p:nvSpPr>
          <p:spPr>
            <a:xfrm>
              <a:off x="9168528"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8" name="Google Shape;938;p24"/>
            <p:cNvSpPr/>
            <p:nvPr/>
          </p:nvSpPr>
          <p:spPr>
            <a:xfrm>
              <a:off x="9168528"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939" name="Google Shape;939;p24"/>
          <p:cNvSpPr txBox="1"/>
          <p:nvPr/>
        </p:nvSpPr>
        <p:spPr>
          <a:xfrm>
            <a:off x="2936516" y="4004564"/>
            <a:ext cx="638429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	+	+	+	+	+	+	+	+</a:t>
            </a:r>
            <a:endParaRPr sz="2400" b="0" i="0" u="none" strike="noStrike" cap="none">
              <a:solidFill>
                <a:srgbClr val="000000"/>
              </a:solidFill>
              <a:latin typeface="Calibri"/>
              <a:ea typeface="Calibri"/>
              <a:cs typeface="Calibri"/>
              <a:sym typeface="Calibri"/>
            </a:endParaRPr>
          </a:p>
        </p:txBody>
      </p:sp>
      <p:sp>
        <p:nvSpPr>
          <p:cNvPr id="940" name="Google Shape;940;p24"/>
          <p:cNvSpPr txBox="1"/>
          <p:nvPr/>
        </p:nvSpPr>
        <p:spPr>
          <a:xfrm>
            <a:off x="276038" y="4817126"/>
            <a:ext cx="2040889" cy="1021080"/>
          </a:xfrm>
          <a:prstGeom prst="rect">
            <a:avLst/>
          </a:prstGeom>
          <a:noFill/>
          <a:ln>
            <a:noFill/>
          </a:ln>
        </p:spPr>
        <p:txBody>
          <a:bodyPr spcFirstLastPara="1" wrap="square" lIns="0" tIns="1250" rIns="0" bIns="0" anchor="t" anchorCtr="0">
            <a:spAutoFit/>
          </a:bodyPr>
          <a:lstStyle/>
          <a:p>
            <a:pPr marL="17145"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D-dimensional vector</a:t>
            </a:r>
            <a:endParaRPr sz="1800" b="0" i="0" u="none" strike="noStrike" cap="none">
              <a:solidFill>
                <a:srgbClr val="000000"/>
              </a:solidFill>
              <a:latin typeface="Calibri"/>
              <a:ea typeface="Calibri"/>
              <a:cs typeface="Calibri"/>
              <a:sym typeface="Calibri"/>
            </a:endParaRPr>
          </a:p>
          <a:p>
            <a:pPr marL="12700" marR="5080" lvl="0" indent="0" algn="l" rtl="0">
              <a:lnSpc>
                <a:spcPct val="117222"/>
              </a:lnSpc>
              <a:spcBef>
                <a:spcPts val="148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N input patches, each of shape 3x16x16</a:t>
            </a:r>
            <a:endParaRPr sz="1800" b="0" i="0" u="none" strike="noStrike" cap="none">
              <a:solidFill>
                <a:srgbClr val="000000"/>
              </a:solidFill>
              <a:latin typeface="Calibri"/>
              <a:ea typeface="Calibri"/>
              <a:cs typeface="Calibri"/>
              <a:sym typeface="Calibri"/>
            </a:endParaRPr>
          </a:p>
        </p:txBody>
      </p:sp>
      <p:sp>
        <p:nvSpPr>
          <p:cNvPr id="941" name="Google Shape;941;p24"/>
          <p:cNvSpPr txBox="1"/>
          <p:nvPr/>
        </p:nvSpPr>
        <p:spPr>
          <a:xfrm>
            <a:off x="10251213" y="5962476"/>
            <a:ext cx="1861185" cy="375920"/>
          </a:xfrm>
          <a:prstGeom prst="rect">
            <a:avLst/>
          </a:prstGeom>
          <a:noFill/>
          <a:ln>
            <a:noFill/>
          </a:ln>
        </p:spPr>
        <p:txBody>
          <a:bodyPr spcFirstLastPara="1" wrap="square" lIns="0" tIns="1250" rIns="0" bIns="0" anchor="t" anchorCtr="0">
            <a:spAutoFit/>
          </a:bodyPr>
          <a:lstStyle/>
          <a:p>
            <a:pPr marL="296545" marR="5080" lvl="0" indent="-284480" algn="l" rtl="0">
              <a:lnSpc>
                <a:spcPct val="129090"/>
              </a:lnSpc>
              <a:spcBef>
                <a:spcPts val="0"/>
              </a:spcBef>
              <a:spcAft>
                <a:spcPts val="0"/>
              </a:spcAft>
              <a:buClr>
                <a:srgbClr val="0563C1"/>
              </a:buClr>
              <a:buSzPts val="1100"/>
              <a:buFont typeface="Arial"/>
              <a:buNone/>
            </a:pPr>
            <a:r>
              <a:rPr lang="en-US" sz="1100" b="0" i="0" u="sng" strike="noStrike" cap="none">
                <a:solidFill>
                  <a:srgbClr val="0563C1"/>
                </a:solidFill>
                <a:latin typeface="Calibri"/>
                <a:ea typeface="Calibri"/>
                <a:cs typeface="Calibri"/>
                <a:sym typeface="Calibri"/>
              </a:rPr>
              <a:t>Cat image</a:t>
            </a:r>
            <a:r>
              <a:rPr lang="en-US" sz="1100" b="0" i="0" u="none" strike="noStrike" cap="none">
                <a:solidFill>
                  <a:srgbClr val="0563C1"/>
                </a:solidFill>
                <a:latin typeface="Calibri"/>
                <a:ea typeface="Calibri"/>
                <a:cs typeface="Calibri"/>
                <a:sym typeface="Calibri"/>
              </a:rPr>
              <a:t> </a:t>
            </a:r>
            <a:r>
              <a:rPr lang="en-US" sz="1100" b="0" i="0" u="none" strike="noStrike" cap="none">
                <a:solidFill>
                  <a:srgbClr val="000000"/>
                </a:solidFill>
                <a:latin typeface="Calibri"/>
                <a:ea typeface="Calibri"/>
                <a:cs typeface="Calibri"/>
                <a:sym typeface="Calibri"/>
              </a:rPr>
              <a:t>is free for commercial use under a </a:t>
            </a:r>
            <a:r>
              <a:rPr lang="en-US" sz="1100" b="0" i="0" u="sng" strike="noStrike" cap="none">
                <a:solidFill>
                  <a:srgbClr val="0563C1"/>
                </a:solidFill>
                <a:latin typeface="Calibri"/>
                <a:ea typeface="Calibri"/>
                <a:cs typeface="Calibri"/>
                <a:sym typeface="Calibri"/>
              </a:rPr>
              <a:t>Pixabay license</a:t>
            </a:r>
            <a:endParaRPr sz="1100" b="0" i="0" u="none" strike="noStrike" cap="none">
              <a:solidFill>
                <a:srgbClr val="000000"/>
              </a:solidFill>
              <a:latin typeface="Calibri"/>
              <a:ea typeface="Calibri"/>
              <a:cs typeface="Calibri"/>
              <a:sym typeface="Calibri"/>
            </a:endParaRPr>
          </a:p>
        </p:txBody>
      </p:sp>
      <p:sp>
        <p:nvSpPr>
          <p:cNvPr id="942" name="Google Shape;942;p24"/>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943" name="Google Shape;943;p24"/>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grpSp>
        <p:nvGrpSpPr>
          <p:cNvPr id="948" name="Google Shape;948;p25"/>
          <p:cNvGrpSpPr/>
          <p:nvPr/>
        </p:nvGrpSpPr>
        <p:grpSpPr>
          <a:xfrm>
            <a:off x="2535941" y="4400222"/>
            <a:ext cx="683958" cy="1475057"/>
            <a:chOff x="2535941" y="4400222"/>
            <a:chExt cx="683958" cy="1475057"/>
          </a:xfrm>
        </p:grpSpPr>
        <p:sp>
          <p:nvSpPr>
            <p:cNvPr id="949" name="Google Shape;949;p25"/>
            <p:cNvSpPr/>
            <p:nvPr/>
          </p:nvSpPr>
          <p:spPr>
            <a:xfrm>
              <a:off x="2802577"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0" name="Google Shape;950;p25"/>
            <p:cNvSpPr/>
            <p:nvPr/>
          </p:nvSpPr>
          <p:spPr>
            <a:xfrm>
              <a:off x="2802577"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1" name="Google Shape;951;p25"/>
            <p:cNvSpPr/>
            <p:nvPr/>
          </p:nvSpPr>
          <p:spPr>
            <a:xfrm>
              <a:off x="2829572" y="4831110"/>
              <a:ext cx="76200" cy="404495"/>
            </a:xfrm>
            <a:custGeom>
              <a:avLst/>
              <a:gdLst/>
              <a:ahLst/>
              <a:cxnLst/>
              <a:rect l="l" t="t" r="r" b="b"/>
              <a:pathLst>
                <a:path w="76200" h="404495" extrusionOk="0">
                  <a:moveTo>
                    <a:pt x="50799" y="76183"/>
                  </a:moveTo>
                  <a:lnTo>
                    <a:pt x="25399" y="76217"/>
                  </a:lnTo>
                  <a:lnTo>
                    <a:pt x="25840" y="404106"/>
                  </a:lnTo>
                  <a:lnTo>
                    <a:pt x="51240" y="404072"/>
                  </a:lnTo>
                  <a:lnTo>
                    <a:pt x="50799" y="76183"/>
                  </a:lnTo>
                  <a:close/>
                </a:path>
                <a:path w="76200" h="404495" extrusionOk="0">
                  <a:moveTo>
                    <a:pt x="37997" y="0"/>
                  </a:moveTo>
                  <a:lnTo>
                    <a:pt x="0" y="76252"/>
                  </a:lnTo>
                  <a:lnTo>
                    <a:pt x="25399" y="76217"/>
                  </a:lnTo>
                  <a:lnTo>
                    <a:pt x="25382" y="63517"/>
                  </a:lnTo>
                  <a:lnTo>
                    <a:pt x="69845" y="63483"/>
                  </a:lnTo>
                  <a:lnTo>
                    <a:pt x="37997" y="0"/>
                  </a:lnTo>
                  <a:close/>
                </a:path>
                <a:path w="76200" h="404495" extrusionOk="0">
                  <a:moveTo>
                    <a:pt x="50782" y="63483"/>
                  </a:moveTo>
                  <a:lnTo>
                    <a:pt x="25382" y="63517"/>
                  </a:lnTo>
                  <a:lnTo>
                    <a:pt x="25399" y="76217"/>
                  </a:lnTo>
                  <a:lnTo>
                    <a:pt x="50799" y="76183"/>
                  </a:lnTo>
                  <a:lnTo>
                    <a:pt x="50782" y="63483"/>
                  </a:lnTo>
                  <a:close/>
                </a:path>
                <a:path w="76200" h="404495" extrusionOk="0">
                  <a:moveTo>
                    <a:pt x="69845" y="63483"/>
                  </a:moveTo>
                  <a:lnTo>
                    <a:pt x="50782" y="63483"/>
                  </a:lnTo>
                  <a:lnTo>
                    <a:pt x="50799" y="76183"/>
                  </a:lnTo>
                  <a:lnTo>
                    <a:pt x="76200" y="76149"/>
                  </a:lnTo>
                  <a:lnTo>
                    <a:pt x="69845" y="6348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952" name="Google Shape;952;p25"/>
            <p:cNvPicPr preferRelativeResize="0"/>
            <p:nvPr/>
          </p:nvPicPr>
          <p:blipFill rotWithShape="1">
            <a:blip r:embed="rId3">
              <a:alphaModFix/>
            </a:blip>
            <a:srcRect/>
            <a:stretch/>
          </p:blipFill>
          <p:spPr>
            <a:xfrm>
              <a:off x="2535941" y="5235200"/>
              <a:ext cx="639705" cy="640079"/>
            </a:xfrm>
            <a:prstGeom prst="rect">
              <a:avLst/>
            </a:prstGeom>
            <a:noFill/>
            <a:ln>
              <a:noFill/>
            </a:ln>
          </p:spPr>
        </p:pic>
        <p:sp>
          <p:nvSpPr>
            <p:cNvPr id="953" name="Google Shape;953;p25"/>
            <p:cNvSpPr/>
            <p:nvPr/>
          </p:nvSpPr>
          <p:spPr>
            <a:xfrm>
              <a:off x="3089724"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4" name="Google Shape;954;p25"/>
            <p:cNvSpPr/>
            <p:nvPr/>
          </p:nvSpPr>
          <p:spPr>
            <a:xfrm>
              <a:off x="3089724"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55" name="Google Shape;955;p25"/>
          <p:cNvGrpSpPr/>
          <p:nvPr/>
        </p:nvGrpSpPr>
        <p:grpSpPr>
          <a:xfrm>
            <a:off x="3312686" y="4404013"/>
            <a:ext cx="683436" cy="1471266"/>
            <a:chOff x="3312686" y="4404013"/>
            <a:chExt cx="683436" cy="1471266"/>
          </a:xfrm>
        </p:grpSpPr>
        <p:sp>
          <p:nvSpPr>
            <p:cNvPr id="956" name="Google Shape;956;p25"/>
            <p:cNvSpPr/>
            <p:nvPr/>
          </p:nvSpPr>
          <p:spPr>
            <a:xfrm>
              <a:off x="3578800" y="4404013"/>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7" name="Google Shape;957;p25"/>
            <p:cNvSpPr/>
            <p:nvPr/>
          </p:nvSpPr>
          <p:spPr>
            <a:xfrm>
              <a:off x="3578800"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8" name="Google Shape;958;p25"/>
            <p:cNvSpPr/>
            <p:nvPr/>
          </p:nvSpPr>
          <p:spPr>
            <a:xfrm>
              <a:off x="3605753" y="4834901"/>
              <a:ext cx="76200" cy="400685"/>
            </a:xfrm>
            <a:custGeom>
              <a:avLst/>
              <a:gdLst/>
              <a:ahLst/>
              <a:cxnLst/>
              <a:rect l="l" t="t" r="r" b="b"/>
              <a:pathLst>
                <a:path w="76200" h="400685" extrusionOk="0">
                  <a:moveTo>
                    <a:pt x="50800" y="76190"/>
                  </a:moveTo>
                  <a:lnTo>
                    <a:pt x="25400" y="76211"/>
                  </a:lnTo>
                  <a:lnTo>
                    <a:pt x="25660" y="400309"/>
                  </a:lnTo>
                  <a:lnTo>
                    <a:pt x="51060" y="400288"/>
                  </a:lnTo>
                  <a:lnTo>
                    <a:pt x="50800" y="76190"/>
                  </a:lnTo>
                  <a:close/>
                </a:path>
                <a:path w="76200" h="400685" extrusionOk="0">
                  <a:moveTo>
                    <a:pt x="38037" y="0"/>
                  </a:moveTo>
                  <a:lnTo>
                    <a:pt x="0" y="76231"/>
                  </a:lnTo>
                  <a:lnTo>
                    <a:pt x="25400" y="76211"/>
                  </a:lnTo>
                  <a:lnTo>
                    <a:pt x="25389" y="63510"/>
                  </a:lnTo>
                  <a:lnTo>
                    <a:pt x="69847" y="63489"/>
                  </a:lnTo>
                  <a:lnTo>
                    <a:pt x="38037"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959" name="Google Shape;959;p25"/>
            <p:cNvPicPr preferRelativeResize="0"/>
            <p:nvPr/>
          </p:nvPicPr>
          <p:blipFill rotWithShape="1">
            <a:blip r:embed="rId4">
              <a:alphaModFix/>
            </a:blip>
            <a:srcRect/>
            <a:stretch/>
          </p:blipFill>
          <p:spPr>
            <a:xfrm>
              <a:off x="3312686" y="5235200"/>
              <a:ext cx="639705" cy="640079"/>
            </a:xfrm>
            <a:prstGeom prst="rect">
              <a:avLst/>
            </a:prstGeom>
            <a:noFill/>
            <a:ln>
              <a:noFill/>
            </a:ln>
          </p:spPr>
        </p:pic>
        <p:sp>
          <p:nvSpPr>
            <p:cNvPr id="960" name="Google Shape;960;p25"/>
            <p:cNvSpPr/>
            <p:nvPr/>
          </p:nvSpPr>
          <p:spPr>
            <a:xfrm>
              <a:off x="3865947" y="440599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1" name="Google Shape;961;p25"/>
            <p:cNvSpPr/>
            <p:nvPr/>
          </p:nvSpPr>
          <p:spPr>
            <a:xfrm>
              <a:off x="3865947"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62" name="Google Shape;962;p25"/>
          <p:cNvGrpSpPr/>
          <p:nvPr/>
        </p:nvGrpSpPr>
        <p:grpSpPr>
          <a:xfrm>
            <a:off x="4089432" y="4400222"/>
            <a:ext cx="682911" cy="1475057"/>
            <a:chOff x="4089432" y="4400222"/>
            <a:chExt cx="682911" cy="1475057"/>
          </a:xfrm>
        </p:grpSpPr>
        <p:sp>
          <p:nvSpPr>
            <p:cNvPr id="963" name="Google Shape;963;p25"/>
            <p:cNvSpPr/>
            <p:nvPr/>
          </p:nvSpPr>
          <p:spPr>
            <a:xfrm>
              <a:off x="4355021"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4" name="Google Shape;964;p25"/>
            <p:cNvSpPr/>
            <p:nvPr/>
          </p:nvSpPr>
          <p:spPr>
            <a:xfrm>
              <a:off x="4355021"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5" name="Google Shape;965;p25"/>
            <p:cNvSpPr/>
            <p:nvPr/>
          </p:nvSpPr>
          <p:spPr>
            <a:xfrm>
              <a:off x="4382073" y="4831110"/>
              <a:ext cx="76200" cy="404495"/>
            </a:xfrm>
            <a:custGeom>
              <a:avLst/>
              <a:gdLst/>
              <a:ahLst/>
              <a:cxnLst/>
              <a:rect l="l" t="t" r="r" b="b"/>
              <a:pathLst>
                <a:path w="76200" h="404495" extrusionOk="0">
                  <a:moveTo>
                    <a:pt x="50799" y="76173"/>
                  </a:moveTo>
                  <a:lnTo>
                    <a:pt x="25399" y="76226"/>
                  </a:lnTo>
                  <a:lnTo>
                    <a:pt x="26087" y="404116"/>
                  </a:lnTo>
                  <a:lnTo>
                    <a:pt x="51487" y="404063"/>
                  </a:lnTo>
                  <a:lnTo>
                    <a:pt x="50799" y="76173"/>
                  </a:lnTo>
                  <a:close/>
                </a:path>
                <a:path w="76200" h="404495" extrusionOk="0">
                  <a:moveTo>
                    <a:pt x="37939" y="0"/>
                  </a:moveTo>
                  <a:lnTo>
                    <a:pt x="0" y="76280"/>
                  </a:lnTo>
                  <a:lnTo>
                    <a:pt x="25399" y="76226"/>
                  </a:lnTo>
                  <a:lnTo>
                    <a:pt x="25373" y="63526"/>
                  </a:lnTo>
                  <a:lnTo>
                    <a:pt x="69843" y="63473"/>
                  </a:lnTo>
                  <a:lnTo>
                    <a:pt x="37939" y="0"/>
                  </a:lnTo>
                  <a:close/>
                </a:path>
                <a:path w="76200" h="404495" extrusionOk="0">
                  <a:moveTo>
                    <a:pt x="50773" y="63473"/>
                  </a:moveTo>
                  <a:lnTo>
                    <a:pt x="25373" y="63526"/>
                  </a:lnTo>
                  <a:lnTo>
                    <a:pt x="25399" y="76226"/>
                  </a:lnTo>
                  <a:lnTo>
                    <a:pt x="50799" y="76173"/>
                  </a:lnTo>
                  <a:lnTo>
                    <a:pt x="50773" y="63473"/>
                  </a:lnTo>
                  <a:close/>
                </a:path>
                <a:path w="76200" h="404495" extrusionOk="0">
                  <a:moveTo>
                    <a:pt x="69843" y="63473"/>
                  </a:moveTo>
                  <a:lnTo>
                    <a:pt x="50773" y="63473"/>
                  </a:lnTo>
                  <a:lnTo>
                    <a:pt x="50799" y="76173"/>
                  </a:lnTo>
                  <a:lnTo>
                    <a:pt x="76200" y="76119"/>
                  </a:lnTo>
                  <a:lnTo>
                    <a:pt x="69843" y="6347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966" name="Google Shape;966;p25"/>
            <p:cNvPicPr preferRelativeResize="0"/>
            <p:nvPr/>
          </p:nvPicPr>
          <p:blipFill rotWithShape="1">
            <a:blip r:embed="rId5">
              <a:alphaModFix/>
            </a:blip>
            <a:srcRect/>
            <a:stretch/>
          </p:blipFill>
          <p:spPr>
            <a:xfrm>
              <a:off x="4089432" y="5235200"/>
              <a:ext cx="639705" cy="640079"/>
            </a:xfrm>
            <a:prstGeom prst="rect">
              <a:avLst/>
            </a:prstGeom>
            <a:noFill/>
            <a:ln>
              <a:noFill/>
            </a:ln>
          </p:spPr>
        </p:pic>
        <p:sp>
          <p:nvSpPr>
            <p:cNvPr id="967" name="Google Shape;967;p25"/>
            <p:cNvSpPr/>
            <p:nvPr/>
          </p:nvSpPr>
          <p:spPr>
            <a:xfrm>
              <a:off x="4642168"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8" name="Google Shape;968;p25"/>
            <p:cNvSpPr/>
            <p:nvPr/>
          </p:nvSpPr>
          <p:spPr>
            <a:xfrm>
              <a:off x="4642168"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69" name="Google Shape;969;p25"/>
          <p:cNvGrpSpPr/>
          <p:nvPr/>
        </p:nvGrpSpPr>
        <p:grpSpPr>
          <a:xfrm>
            <a:off x="4866180" y="4404013"/>
            <a:ext cx="683434" cy="1471266"/>
            <a:chOff x="4866180" y="4404013"/>
            <a:chExt cx="683434" cy="1471266"/>
          </a:xfrm>
        </p:grpSpPr>
        <p:sp>
          <p:nvSpPr>
            <p:cNvPr id="970" name="Google Shape;970;p25"/>
            <p:cNvSpPr/>
            <p:nvPr/>
          </p:nvSpPr>
          <p:spPr>
            <a:xfrm>
              <a:off x="5132292" y="4404013"/>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71" name="Google Shape;971;p25"/>
            <p:cNvSpPr/>
            <p:nvPr/>
          </p:nvSpPr>
          <p:spPr>
            <a:xfrm>
              <a:off x="5132292"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72" name="Google Shape;972;p25"/>
            <p:cNvSpPr/>
            <p:nvPr/>
          </p:nvSpPr>
          <p:spPr>
            <a:xfrm>
              <a:off x="5159245" y="4834901"/>
              <a:ext cx="76200" cy="400685"/>
            </a:xfrm>
            <a:custGeom>
              <a:avLst/>
              <a:gdLst/>
              <a:ahLst/>
              <a:cxnLst/>
              <a:rect l="l" t="t" r="r" b="b"/>
              <a:pathLst>
                <a:path w="76200" h="400685" extrusionOk="0">
                  <a:moveTo>
                    <a:pt x="50800" y="76190"/>
                  </a:moveTo>
                  <a:lnTo>
                    <a:pt x="25400" y="76211"/>
                  </a:lnTo>
                  <a:lnTo>
                    <a:pt x="25661" y="400319"/>
                  </a:lnTo>
                  <a:lnTo>
                    <a:pt x="51061" y="400298"/>
                  </a:lnTo>
                  <a:lnTo>
                    <a:pt x="50800" y="76190"/>
                  </a:lnTo>
                  <a:close/>
                </a:path>
                <a:path w="76200" h="400685" extrusionOk="0">
                  <a:moveTo>
                    <a:pt x="38039" y="0"/>
                  </a:moveTo>
                  <a:lnTo>
                    <a:pt x="0" y="76231"/>
                  </a:lnTo>
                  <a:lnTo>
                    <a:pt x="25400" y="76211"/>
                  </a:lnTo>
                  <a:lnTo>
                    <a:pt x="25389" y="63510"/>
                  </a:lnTo>
                  <a:lnTo>
                    <a:pt x="69847" y="63489"/>
                  </a:lnTo>
                  <a:lnTo>
                    <a:pt x="38039"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973" name="Google Shape;973;p25"/>
            <p:cNvPicPr preferRelativeResize="0"/>
            <p:nvPr/>
          </p:nvPicPr>
          <p:blipFill rotWithShape="1">
            <a:blip r:embed="rId6">
              <a:alphaModFix/>
            </a:blip>
            <a:srcRect/>
            <a:stretch/>
          </p:blipFill>
          <p:spPr>
            <a:xfrm>
              <a:off x="4866180" y="5235200"/>
              <a:ext cx="639705" cy="640079"/>
            </a:xfrm>
            <a:prstGeom prst="rect">
              <a:avLst/>
            </a:prstGeom>
            <a:noFill/>
            <a:ln>
              <a:noFill/>
            </a:ln>
          </p:spPr>
        </p:pic>
        <p:sp>
          <p:nvSpPr>
            <p:cNvPr id="974" name="Google Shape;974;p25"/>
            <p:cNvSpPr/>
            <p:nvPr/>
          </p:nvSpPr>
          <p:spPr>
            <a:xfrm>
              <a:off x="5419439" y="440599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75" name="Google Shape;975;p25"/>
            <p:cNvSpPr/>
            <p:nvPr/>
          </p:nvSpPr>
          <p:spPr>
            <a:xfrm>
              <a:off x="5419439"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76" name="Google Shape;976;p25"/>
          <p:cNvGrpSpPr/>
          <p:nvPr/>
        </p:nvGrpSpPr>
        <p:grpSpPr>
          <a:xfrm>
            <a:off x="5645272" y="4400222"/>
            <a:ext cx="676559" cy="1475057"/>
            <a:chOff x="5645272" y="4400222"/>
            <a:chExt cx="676559" cy="1475057"/>
          </a:xfrm>
        </p:grpSpPr>
        <p:sp>
          <p:nvSpPr>
            <p:cNvPr id="977" name="Google Shape;977;p25"/>
            <p:cNvSpPr/>
            <p:nvPr/>
          </p:nvSpPr>
          <p:spPr>
            <a:xfrm>
              <a:off x="5904509"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78" name="Google Shape;978;p25"/>
            <p:cNvSpPr/>
            <p:nvPr/>
          </p:nvSpPr>
          <p:spPr>
            <a:xfrm>
              <a:off x="5904509"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79" name="Google Shape;979;p25"/>
            <p:cNvSpPr/>
            <p:nvPr/>
          </p:nvSpPr>
          <p:spPr>
            <a:xfrm>
              <a:off x="5932177" y="4831110"/>
              <a:ext cx="76200" cy="404495"/>
            </a:xfrm>
            <a:custGeom>
              <a:avLst/>
              <a:gdLst/>
              <a:ahLst/>
              <a:cxnLst/>
              <a:rect l="l" t="t" r="r" b="b"/>
              <a:pathLst>
                <a:path w="76200" h="404495" extrusionOk="0">
                  <a:moveTo>
                    <a:pt x="50796" y="76067"/>
                  </a:moveTo>
                  <a:lnTo>
                    <a:pt x="25398" y="76325"/>
                  </a:lnTo>
                  <a:lnTo>
                    <a:pt x="28731" y="404228"/>
                  </a:lnTo>
                  <a:lnTo>
                    <a:pt x="54129" y="403970"/>
                  </a:lnTo>
                  <a:lnTo>
                    <a:pt x="50796" y="76067"/>
                  </a:lnTo>
                  <a:close/>
                </a:path>
                <a:path w="76200" h="404495" extrusionOk="0">
                  <a:moveTo>
                    <a:pt x="37322" y="0"/>
                  </a:moveTo>
                  <a:lnTo>
                    <a:pt x="0" y="76583"/>
                  </a:lnTo>
                  <a:lnTo>
                    <a:pt x="25398" y="76325"/>
                  </a:lnTo>
                  <a:lnTo>
                    <a:pt x="25269" y="63626"/>
                  </a:lnTo>
                  <a:lnTo>
                    <a:pt x="50667" y="63367"/>
                  </a:lnTo>
                  <a:lnTo>
                    <a:pt x="69815" y="63367"/>
                  </a:lnTo>
                  <a:lnTo>
                    <a:pt x="37322" y="0"/>
                  </a:lnTo>
                  <a:close/>
                </a:path>
                <a:path w="76200" h="404495" extrusionOk="0">
                  <a:moveTo>
                    <a:pt x="50667" y="63367"/>
                  </a:moveTo>
                  <a:lnTo>
                    <a:pt x="25269" y="63626"/>
                  </a:lnTo>
                  <a:lnTo>
                    <a:pt x="25398" y="76325"/>
                  </a:lnTo>
                  <a:lnTo>
                    <a:pt x="50796" y="76067"/>
                  </a:lnTo>
                  <a:lnTo>
                    <a:pt x="50667" y="63367"/>
                  </a:lnTo>
                  <a:close/>
                </a:path>
                <a:path w="76200" h="404495" extrusionOk="0">
                  <a:moveTo>
                    <a:pt x="69815" y="63367"/>
                  </a:moveTo>
                  <a:lnTo>
                    <a:pt x="50667" y="63367"/>
                  </a:lnTo>
                  <a:lnTo>
                    <a:pt x="50796" y="76067"/>
                  </a:lnTo>
                  <a:lnTo>
                    <a:pt x="76194" y="75808"/>
                  </a:lnTo>
                  <a:lnTo>
                    <a:pt x="69815" y="6336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980" name="Google Shape;980;p25"/>
            <p:cNvPicPr preferRelativeResize="0"/>
            <p:nvPr/>
          </p:nvPicPr>
          <p:blipFill rotWithShape="1">
            <a:blip r:embed="rId7">
              <a:alphaModFix/>
            </a:blip>
            <a:srcRect/>
            <a:stretch/>
          </p:blipFill>
          <p:spPr>
            <a:xfrm>
              <a:off x="5645272" y="5235200"/>
              <a:ext cx="639705" cy="640079"/>
            </a:xfrm>
            <a:prstGeom prst="rect">
              <a:avLst/>
            </a:prstGeom>
            <a:noFill/>
            <a:ln>
              <a:noFill/>
            </a:ln>
          </p:spPr>
        </p:pic>
        <p:sp>
          <p:nvSpPr>
            <p:cNvPr id="981" name="Google Shape;981;p25"/>
            <p:cNvSpPr/>
            <p:nvPr/>
          </p:nvSpPr>
          <p:spPr>
            <a:xfrm>
              <a:off x="6191656"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2" name="Google Shape;982;p25"/>
            <p:cNvSpPr/>
            <p:nvPr/>
          </p:nvSpPr>
          <p:spPr>
            <a:xfrm>
              <a:off x="6191656"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83" name="Google Shape;983;p25"/>
          <p:cNvGrpSpPr/>
          <p:nvPr/>
        </p:nvGrpSpPr>
        <p:grpSpPr>
          <a:xfrm>
            <a:off x="6419682" y="4400222"/>
            <a:ext cx="688872" cy="1475057"/>
            <a:chOff x="6419682" y="4400222"/>
            <a:chExt cx="688872" cy="1475057"/>
          </a:xfrm>
        </p:grpSpPr>
        <p:sp>
          <p:nvSpPr>
            <p:cNvPr id="984" name="Google Shape;984;p25"/>
            <p:cNvSpPr/>
            <p:nvPr/>
          </p:nvSpPr>
          <p:spPr>
            <a:xfrm>
              <a:off x="6691232"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5" name="Google Shape;985;p25"/>
            <p:cNvSpPr/>
            <p:nvPr/>
          </p:nvSpPr>
          <p:spPr>
            <a:xfrm>
              <a:off x="6691232"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6" name="Google Shape;986;p25"/>
            <p:cNvSpPr/>
            <p:nvPr/>
          </p:nvSpPr>
          <p:spPr>
            <a:xfrm>
              <a:off x="6717023" y="4831110"/>
              <a:ext cx="76200" cy="404495"/>
            </a:xfrm>
            <a:custGeom>
              <a:avLst/>
              <a:gdLst/>
              <a:ahLst/>
              <a:cxnLst/>
              <a:rect l="l" t="t" r="r" b="b"/>
              <a:pathLst>
                <a:path w="76200" h="404495" extrusionOk="0">
                  <a:moveTo>
                    <a:pt x="25397" y="76008"/>
                  </a:moveTo>
                  <a:lnTo>
                    <a:pt x="20636" y="403914"/>
                  </a:lnTo>
                  <a:lnTo>
                    <a:pt x="46033" y="404284"/>
                  </a:lnTo>
                  <a:lnTo>
                    <a:pt x="50794" y="76377"/>
                  </a:lnTo>
                  <a:lnTo>
                    <a:pt x="25397" y="76008"/>
                  </a:lnTo>
                  <a:close/>
                </a:path>
                <a:path w="76200" h="404495" extrusionOk="0">
                  <a:moveTo>
                    <a:pt x="69714" y="63309"/>
                  </a:moveTo>
                  <a:lnTo>
                    <a:pt x="25581" y="63309"/>
                  </a:lnTo>
                  <a:lnTo>
                    <a:pt x="50979" y="63677"/>
                  </a:lnTo>
                  <a:lnTo>
                    <a:pt x="50794" y="76377"/>
                  </a:lnTo>
                  <a:lnTo>
                    <a:pt x="76191" y="76746"/>
                  </a:lnTo>
                  <a:lnTo>
                    <a:pt x="69714" y="63309"/>
                  </a:lnTo>
                  <a:close/>
                </a:path>
                <a:path w="76200" h="404495" extrusionOk="0">
                  <a:moveTo>
                    <a:pt x="25581" y="63309"/>
                  </a:moveTo>
                  <a:lnTo>
                    <a:pt x="25397" y="76008"/>
                  </a:lnTo>
                  <a:lnTo>
                    <a:pt x="50794" y="76377"/>
                  </a:lnTo>
                  <a:lnTo>
                    <a:pt x="50979" y="63677"/>
                  </a:lnTo>
                  <a:lnTo>
                    <a:pt x="25581" y="63309"/>
                  </a:lnTo>
                  <a:close/>
                </a:path>
                <a:path w="76200" h="404495" extrusionOk="0">
                  <a:moveTo>
                    <a:pt x="39201" y="0"/>
                  </a:moveTo>
                  <a:lnTo>
                    <a:pt x="0" y="75639"/>
                  </a:lnTo>
                  <a:lnTo>
                    <a:pt x="25397" y="76008"/>
                  </a:lnTo>
                  <a:lnTo>
                    <a:pt x="25581" y="63309"/>
                  </a:lnTo>
                  <a:lnTo>
                    <a:pt x="69714" y="63309"/>
                  </a:lnTo>
                  <a:lnTo>
                    <a:pt x="3920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987" name="Google Shape;987;p25"/>
            <p:cNvPicPr preferRelativeResize="0"/>
            <p:nvPr/>
          </p:nvPicPr>
          <p:blipFill rotWithShape="1">
            <a:blip r:embed="rId8">
              <a:alphaModFix/>
            </a:blip>
            <a:srcRect/>
            <a:stretch/>
          </p:blipFill>
          <p:spPr>
            <a:xfrm>
              <a:off x="6419682" y="5235200"/>
              <a:ext cx="639705" cy="640079"/>
            </a:xfrm>
            <a:prstGeom prst="rect">
              <a:avLst/>
            </a:prstGeom>
            <a:noFill/>
            <a:ln>
              <a:noFill/>
            </a:ln>
          </p:spPr>
        </p:pic>
        <p:sp>
          <p:nvSpPr>
            <p:cNvPr id="988" name="Google Shape;988;p25"/>
            <p:cNvSpPr/>
            <p:nvPr/>
          </p:nvSpPr>
          <p:spPr>
            <a:xfrm>
              <a:off x="6978379"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9" name="Google Shape;989;p25"/>
            <p:cNvSpPr/>
            <p:nvPr/>
          </p:nvSpPr>
          <p:spPr>
            <a:xfrm>
              <a:off x="6978379"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90" name="Google Shape;990;p25"/>
          <p:cNvGrpSpPr/>
          <p:nvPr/>
        </p:nvGrpSpPr>
        <p:grpSpPr>
          <a:xfrm>
            <a:off x="7207347" y="4400222"/>
            <a:ext cx="668588" cy="1475057"/>
            <a:chOff x="7207347" y="4400222"/>
            <a:chExt cx="668588" cy="1475057"/>
          </a:xfrm>
        </p:grpSpPr>
        <p:sp>
          <p:nvSpPr>
            <p:cNvPr id="991" name="Google Shape;991;p25"/>
            <p:cNvSpPr/>
            <p:nvPr/>
          </p:nvSpPr>
          <p:spPr>
            <a:xfrm>
              <a:off x="7458613"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2" name="Google Shape;992;p25"/>
            <p:cNvSpPr/>
            <p:nvPr/>
          </p:nvSpPr>
          <p:spPr>
            <a:xfrm>
              <a:off x="7458613"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3" name="Google Shape;993;p25"/>
            <p:cNvSpPr/>
            <p:nvPr/>
          </p:nvSpPr>
          <p:spPr>
            <a:xfrm>
              <a:off x="7485566" y="4831110"/>
              <a:ext cx="76200" cy="404495"/>
            </a:xfrm>
            <a:custGeom>
              <a:avLst/>
              <a:gdLst/>
              <a:ahLst/>
              <a:cxnLst/>
              <a:rect l="l" t="t" r="r" b="b"/>
              <a:pathLst>
                <a:path w="76200" h="404495" extrusionOk="0">
                  <a:moveTo>
                    <a:pt x="50799" y="76190"/>
                  </a:moveTo>
                  <a:lnTo>
                    <a:pt x="25399" y="76210"/>
                  </a:lnTo>
                  <a:lnTo>
                    <a:pt x="25660" y="404110"/>
                  </a:lnTo>
                  <a:lnTo>
                    <a:pt x="51060" y="404089"/>
                  </a:lnTo>
                  <a:lnTo>
                    <a:pt x="50799" y="76190"/>
                  </a:lnTo>
                  <a:close/>
                </a:path>
                <a:path w="76200" h="404495" extrusionOk="0">
                  <a:moveTo>
                    <a:pt x="38039" y="0"/>
                  </a:moveTo>
                  <a:lnTo>
                    <a:pt x="0" y="76230"/>
                  </a:lnTo>
                  <a:lnTo>
                    <a:pt x="25399" y="76210"/>
                  </a:lnTo>
                  <a:lnTo>
                    <a:pt x="25389" y="63510"/>
                  </a:lnTo>
                  <a:lnTo>
                    <a:pt x="69846" y="63489"/>
                  </a:lnTo>
                  <a:lnTo>
                    <a:pt x="38039" y="0"/>
                  </a:lnTo>
                  <a:close/>
                </a:path>
                <a:path w="76200" h="404495" extrusionOk="0">
                  <a:moveTo>
                    <a:pt x="50789" y="63489"/>
                  </a:moveTo>
                  <a:lnTo>
                    <a:pt x="25389" y="63510"/>
                  </a:lnTo>
                  <a:lnTo>
                    <a:pt x="25399" y="76210"/>
                  </a:lnTo>
                  <a:lnTo>
                    <a:pt x="50799" y="76190"/>
                  </a:lnTo>
                  <a:lnTo>
                    <a:pt x="50789" y="63489"/>
                  </a:lnTo>
                  <a:close/>
                </a:path>
                <a:path w="76200" h="404495" extrusionOk="0">
                  <a:moveTo>
                    <a:pt x="69846" y="63489"/>
                  </a:moveTo>
                  <a:lnTo>
                    <a:pt x="50789" y="63489"/>
                  </a:lnTo>
                  <a:lnTo>
                    <a:pt x="50799" y="76190"/>
                  </a:lnTo>
                  <a:lnTo>
                    <a:pt x="76200" y="76170"/>
                  </a:lnTo>
                  <a:lnTo>
                    <a:pt x="69846"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994" name="Google Shape;994;p25"/>
            <p:cNvPicPr preferRelativeResize="0"/>
            <p:nvPr/>
          </p:nvPicPr>
          <p:blipFill rotWithShape="1">
            <a:blip r:embed="rId9">
              <a:alphaModFix/>
            </a:blip>
            <a:srcRect/>
            <a:stretch/>
          </p:blipFill>
          <p:spPr>
            <a:xfrm>
              <a:off x="7207347" y="5235200"/>
              <a:ext cx="641197" cy="640079"/>
            </a:xfrm>
            <a:prstGeom prst="rect">
              <a:avLst/>
            </a:prstGeom>
            <a:noFill/>
            <a:ln>
              <a:noFill/>
            </a:ln>
          </p:spPr>
        </p:pic>
        <p:sp>
          <p:nvSpPr>
            <p:cNvPr id="995" name="Google Shape;995;p25"/>
            <p:cNvSpPr/>
            <p:nvPr/>
          </p:nvSpPr>
          <p:spPr>
            <a:xfrm>
              <a:off x="7745760"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6" name="Google Shape;996;p25"/>
            <p:cNvSpPr/>
            <p:nvPr/>
          </p:nvSpPr>
          <p:spPr>
            <a:xfrm>
              <a:off x="7745760"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97" name="Google Shape;997;p25"/>
          <p:cNvGrpSpPr/>
          <p:nvPr/>
        </p:nvGrpSpPr>
        <p:grpSpPr>
          <a:xfrm>
            <a:off x="7970093" y="4400222"/>
            <a:ext cx="681844" cy="1475057"/>
            <a:chOff x="7970093" y="4400222"/>
            <a:chExt cx="681844" cy="1475057"/>
          </a:xfrm>
        </p:grpSpPr>
        <p:sp>
          <p:nvSpPr>
            <p:cNvPr id="998" name="Google Shape;998;p25"/>
            <p:cNvSpPr/>
            <p:nvPr/>
          </p:nvSpPr>
          <p:spPr>
            <a:xfrm>
              <a:off x="8234614"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9" name="Google Shape;999;p25"/>
            <p:cNvSpPr/>
            <p:nvPr/>
          </p:nvSpPr>
          <p:spPr>
            <a:xfrm>
              <a:off x="8234614"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0" name="Google Shape;1000;p25"/>
            <p:cNvSpPr/>
            <p:nvPr/>
          </p:nvSpPr>
          <p:spPr>
            <a:xfrm>
              <a:off x="8261567"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001" name="Google Shape;1001;p25"/>
            <p:cNvPicPr preferRelativeResize="0"/>
            <p:nvPr/>
          </p:nvPicPr>
          <p:blipFill rotWithShape="1">
            <a:blip r:embed="rId10">
              <a:alphaModFix/>
            </a:blip>
            <a:srcRect/>
            <a:stretch/>
          </p:blipFill>
          <p:spPr>
            <a:xfrm>
              <a:off x="7970093" y="5235200"/>
              <a:ext cx="641205" cy="640079"/>
            </a:xfrm>
            <a:prstGeom prst="rect">
              <a:avLst/>
            </a:prstGeom>
            <a:noFill/>
            <a:ln>
              <a:noFill/>
            </a:ln>
          </p:spPr>
        </p:pic>
        <p:sp>
          <p:nvSpPr>
            <p:cNvPr id="1002" name="Google Shape;1002;p25"/>
            <p:cNvSpPr/>
            <p:nvPr/>
          </p:nvSpPr>
          <p:spPr>
            <a:xfrm>
              <a:off x="8521762"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3" name="Google Shape;1003;p25"/>
            <p:cNvSpPr/>
            <p:nvPr/>
          </p:nvSpPr>
          <p:spPr>
            <a:xfrm>
              <a:off x="8521762"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04" name="Google Shape;1004;p25"/>
          <p:cNvGrpSpPr/>
          <p:nvPr/>
        </p:nvGrpSpPr>
        <p:grpSpPr>
          <a:xfrm>
            <a:off x="8744502" y="4400222"/>
            <a:ext cx="684186" cy="1475057"/>
            <a:chOff x="8744502" y="4400222"/>
            <a:chExt cx="684186" cy="1475057"/>
          </a:xfrm>
        </p:grpSpPr>
        <p:sp>
          <p:nvSpPr>
            <p:cNvPr id="1005" name="Google Shape;1005;p25"/>
            <p:cNvSpPr/>
            <p:nvPr/>
          </p:nvSpPr>
          <p:spPr>
            <a:xfrm>
              <a:off x="9011366"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6" name="Google Shape;1006;p25"/>
            <p:cNvSpPr/>
            <p:nvPr/>
          </p:nvSpPr>
          <p:spPr>
            <a:xfrm>
              <a:off x="9011366"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7" name="Google Shape;1007;p25"/>
            <p:cNvSpPr/>
            <p:nvPr/>
          </p:nvSpPr>
          <p:spPr>
            <a:xfrm>
              <a:off x="9038318"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008" name="Google Shape;1008;p25"/>
            <p:cNvPicPr preferRelativeResize="0"/>
            <p:nvPr/>
          </p:nvPicPr>
          <p:blipFill rotWithShape="1">
            <a:blip r:embed="rId11">
              <a:alphaModFix/>
            </a:blip>
            <a:srcRect/>
            <a:stretch/>
          </p:blipFill>
          <p:spPr>
            <a:xfrm>
              <a:off x="8744502" y="5235200"/>
              <a:ext cx="641206" cy="640079"/>
            </a:xfrm>
            <a:prstGeom prst="rect">
              <a:avLst/>
            </a:prstGeom>
            <a:noFill/>
            <a:ln>
              <a:noFill/>
            </a:ln>
          </p:spPr>
        </p:pic>
        <p:sp>
          <p:nvSpPr>
            <p:cNvPr id="1009" name="Google Shape;1009;p25"/>
            <p:cNvSpPr/>
            <p:nvPr/>
          </p:nvSpPr>
          <p:spPr>
            <a:xfrm>
              <a:off x="9298513"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0" name="Google Shape;1010;p25"/>
            <p:cNvSpPr/>
            <p:nvPr/>
          </p:nvSpPr>
          <p:spPr>
            <a:xfrm>
              <a:off x="9298513"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011" name="Google Shape;1011;p25"/>
          <p:cNvSpPr txBox="1"/>
          <p:nvPr/>
        </p:nvSpPr>
        <p:spPr>
          <a:xfrm>
            <a:off x="273194" y="3559555"/>
            <a:ext cx="2190115" cy="1278255"/>
          </a:xfrm>
          <a:prstGeom prst="rect">
            <a:avLst/>
          </a:prstGeom>
          <a:noFill/>
          <a:ln>
            <a:noFill/>
          </a:ln>
        </p:spPr>
        <p:txBody>
          <a:bodyPr spcFirstLastPara="1" wrap="square" lIns="0" tIns="13950" rIns="0" bIns="0" anchor="t" anchorCtr="0">
            <a:spAutoFit/>
          </a:bodyPr>
          <a:lstStyle/>
          <a:p>
            <a:pPr marL="12700" marR="5080" lvl="0" indent="0" algn="l"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Add positional embedding: learned D- dim vector per position</a:t>
            </a:r>
            <a:endParaRPr sz="1800" b="0" i="0" u="none" strike="noStrike" cap="none">
              <a:solidFill>
                <a:srgbClr val="000000"/>
              </a:solidFill>
              <a:latin typeface="Calibri"/>
              <a:ea typeface="Calibri"/>
              <a:cs typeface="Calibri"/>
              <a:sym typeface="Calibri"/>
            </a:endParaRPr>
          </a:p>
          <a:p>
            <a:pPr marL="19685" marR="0" lvl="0" indent="0" algn="l" rtl="0">
              <a:lnSpc>
                <a:spcPct val="100000"/>
              </a:lnSpc>
              <a:spcBef>
                <a:spcPts val="125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a:t>
            </a:r>
            <a:endParaRPr sz="1800" b="0" i="0" u="none" strike="noStrike" cap="none">
              <a:solidFill>
                <a:srgbClr val="000000"/>
              </a:solidFill>
              <a:latin typeface="Calibri"/>
              <a:ea typeface="Calibri"/>
              <a:cs typeface="Calibri"/>
              <a:sym typeface="Calibri"/>
            </a:endParaRPr>
          </a:p>
        </p:txBody>
      </p:sp>
      <p:grpSp>
        <p:nvGrpSpPr>
          <p:cNvPr id="1012" name="Google Shape;1012;p25"/>
          <p:cNvGrpSpPr/>
          <p:nvPr/>
        </p:nvGrpSpPr>
        <p:grpSpPr>
          <a:xfrm>
            <a:off x="2961547" y="2096159"/>
            <a:ext cx="130810" cy="429895"/>
            <a:chOff x="2961547" y="2096159"/>
            <a:chExt cx="130810" cy="429895"/>
          </a:xfrm>
        </p:grpSpPr>
        <p:sp>
          <p:nvSpPr>
            <p:cNvPr id="1013" name="Google Shape;1013;p25"/>
            <p:cNvSpPr/>
            <p:nvPr/>
          </p:nvSpPr>
          <p:spPr>
            <a:xfrm>
              <a:off x="2961547" y="2096159"/>
              <a:ext cx="130810" cy="429895"/>
            </a:xfrm>
            <a:custGeom>
              <a:avLst/>
              <a:gdLst/>
              <a:ahLst/>
              <a:cxnLst/>
              <a:rect l="l" t="t" r="r" b="b"/>
              <a:pathLst>
                <a:path w="130810"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4" name="Google Shape;1014;p25"/>
            <p:cNvSpPr/>
            <p:nvPr/>
          </p:nvSpPr>
          <p:spPr>
            <a:xfrm>
              <a:off x="296154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15" name="Google Shape;1015;p25"/>
          <p:cNvGrpSpPr/>
          <p:nvPr/>
        </p:nvGrpSpPr>
        <p:grpSpPr>
          <a:xfrm>
            <a:off x="3737768" y="2099950"/>
            <a:ext cx="130810" cy="429895"/>
            <a:chOff x="3737768" y="2099950"/>
            <a:chExt cx="130810" cy="429895"/>
          </a:xfrm>
        </p:grpSpPr>
        <p:sp>
          <p:nvSpPr>
            <p:cNvPr id="1016" name="Google Shape;1016;p25"/>
            <p:cNvSpPr/>
            <p:nvPr/>
          </p:nvSpPr>
          <p:spPr>
            <a:xfrm>
              <a:off x="3737768"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7" name="Google Shape;1017;p25"/>
            <p:cNvSpPr/>
            <p:nvPr/>
          </p:nvSpPr>
          <p:spPr>
            <a:xfrm>
              <a:off x="3737768"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18" name="Google Shape;1018;p25"/>
          <p:cNvGrpSpPr/>
          <p:nvPr/>
        </p:nvGrpSpPr>
        <p:grpSpPr>
          <a:xfrm>
            <a:off x="4513990" y="2096159"/>
            <a:ext cx="130810" cy="429895"/>
            <a:chOff x="4513990" y="2096159"/>
            <a:chExt cx="130810" cy="429895"/>
          </a:xfrm>
        </p:grpSpPr>
        <p:sp>
          <p:nvSpPr>
            <p:cNvPr id="1019" name="Google Shape;1019;p25"/>
            <p:cNvSpPr/>
            <p:nvPr/>
          </p:nvSpPr>
          <p:spPr>
            <a:xfrm>
              <a:off x="4513990"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20" name="Google Shape;1020;p25"/>
            <p:cNvSpPr/>
            <p:nvPr/>
          </p:nvSpPr>
          <p:spPr>
            <a:xfrm>
              <a:off x="4513990"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21" name="Google Shape;1021;p25"/>
          <p:cNvGrpSpPr/>
          <p:nvPr/>
        </p:nvGrpSpPr>
        <p:grpSpPr>
          <a:xfrm>
            <a:off x="5291261" y="2099950"/>
            <a:ext cx="130810" cy="429895"/>
            <a:chOff x="5291261" y="2099950"/>
            <a:chExt cx="130810" cy="429895"/>
          </a:xfrm>
        </p:grpSpPr>
        <p:sp>
          <p:nvSpPr>
            <p:cNvPr id="1022" name="Google Shape;1022;p25"/>
            <p:cNvSpPr/>
            <p:nvPr/>
          </p:nvSpPr>
          <p:spPr>
            <a:xfrm>
              <a:off x="5291261"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23" name="Google Shape;1023;p25"/>
            <p:cNvSpPr/>
            <p:nvPr/>
          </p:nvSpPr>
          <p:spPr>
            <a:xfrm>
              <a:off x="5291261"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24" name="Google Shape;1024;p25"/>
          <p:cNvGrpSpPr/>
          <p:nvPr/>
        </p:nvGrpSpPr>
        <p:grpSpPr>
          <a:xfrm>
            <a:off x="6063477" y="2096159"/>
            <a:ext cx="130810" cy="429895"/>
            <a:chOff x="6063477" y="2096159"/>
            <a:chExt cx="130810" cy="429895"/>
          </a:xfrm>
        </p:grpSpPr>
        <p:sp>
          <p:nvSpPr>
            <p:cNvPr id="1025" name="Google Shape;1025;p25"/>
            <p:cNvSpPr/>
            <p:nvPr/>
          </p:nvSpPr>
          <p:spPr>
            <a:xfrm>
              <a:off x="6063477"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26" name="Google Shape;1026;p25"/>
            <p:cNvSpPr/>
            <p:nvPr/>
          </p:nvSpPr>
          <p:spPr>
            <a:xfrm>
              <a:off x="606347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27" name="Google Shape;1027;p25"/>
          <p:cNvGrpSpPr/>
          <p:nvPr/>
        </p:nvGrpSpPr>
        <p:grpSpPr>
          <a:xfrm>
            <a:off x="6850202" y="2096159"/>
            <a:ext cx="130810" cy="429895"/>
            <a:chOff x="6850202" y="2096159"/>
            <a:chExt cx="130810" cy="429895"/>
          </a:xfrm>
        </p:grpSpPr>
        <p:sp>
          <p:nvSpPr>
            <p:cNvPr id="1028" name="Google Shape;1028;p25"/>
            <p:cNvSpPr/>
            <p:nvPr/>
          </p:nvSpPr>
          <p:spPr>
            <a:xfrm>
              <a:off x="6850202"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29" name="Google Shape;1029;p25"/>
            <p:cNvSpPr/>
            <p:nvPr/>
          </p:nvSpPr>
          <p:spPr>
            <a:xfrm>
              <a:off x="6850202"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30" name="Google Shape;1030;p25"/>
          <p:cNvGrpSpPr/>
          <p:nvPr/>
        </p:nvGrpSpPr>
        <p:grpSpPr>
          <a:xfrm>
            <a:off x="7617583" y="2096159"/>
            <a:ext cx="130810" cy="429895"/>
            <a:chOff x="7617583" y="2096159"/>
            <a:chExt cx="130810" cy="429895"/>
          </a:xfrm>
        </p:grpSpPr>
        <p:sp>
          <p:nvSpPr>
            <p:cNvPr id="1031" name="Google Shape;1031;p25"/>
            <p:cNvSpPr/>
            <p:nvPr/>
          </p:nvSpPr>
          <p:spPr>
            <a:xfrm>
              <a:off x="7617583"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32" name="Google Shape;1032;p25"/>
            <p:cNvSpPr/>
            <p:nvPr/>
          </p:nvSpPr>
          <p:spPr>
            <a:xfrm>
              <a:off x="7617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33" name="Google Shape;1033;p25"/>
          <p:cNvGrpSpPr/>
          <p:nvPr/>
        </p:nvGrpSpPr>
        <p:grpSpPr>
          <a:xfrm>
            <a:off x="8393583" y="2096159"/>
            <a:ext cx="130810" cy="429895"/>
            <a:chOff x="8393583" y="2096159"/>
            <a:chExt cx="130810" cy="429895"/>
          </a:xfrm>
        </p:grpSpPr>
        <p:sp>
          <p:nvSpPr>
            <p:cNvPr id="1034" name="Google Shape;1034;p25"/>
            <p:cNvSpPr/>
            <p:nvPr/>
          </p:nvSpPr>
          <p:spPr>
            <a:xfrm>
              <a:off x="8393583"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35" name="Google Shape;1035;p25"/>
            <p:cNvSpPr/>
            <p:nvPr/>
          </p:nvSpPr>
          <p:spPr>
            <a:xfrm>
              <a:off x="8393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36" name="Google Shape;1036;p25"/>
          <p:cNvGrpSpPr/>
          <p:nvPr/>
        </p:nvGrpSpPr>
        <p:grpSpPr>
          <a:xfrm>
            <a:off x="9170334" y="2096159"/>
            <a:ext cx="130810" cy="429895"/>
            <a:chOff x="9170334" y="2096159"/>
            <a:chExt cx="130810" cy="429895"/>
          </a:xfrm>
        </p:grpSpPr>
        <p:sp>
          <p:nvSpPr>
            <p:cNvPr id="1037" name="Google Shape;1037;p25"/>
            <p:cNvSpPr/>
            <p:nvPr/>
          </p:nvSpPr>
          <p:spPr>
            <a:xfrm>
              <a:off x="9170334"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38" name="Google Shape;1038;p25"/>
            <p:cNvSpPr/>
            <p:nvPr/>
          </p:nvSpPr>
          <p:spPr>
            <a:xfrm>
              <a:off x="9170334"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039" name="Google Shape;1039;p25"/>
          <p:cNvSpPr txBox="1"/>
          <p:nvPr/>
        </p:nvSpPr>
        <p:spPr>
          <a:xfrm>
            <a:off x="451943" y="2038603"/>
            <a:ext cx="141478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Output vectors</a:t>
            </a:r>
            <a:endParaRPr sz="1800" b="0" i="0" u="none" strike="noStrike" cap="none">
              <a:solidFill>
                <a:srgbClr val="000000"/>
              </a:solidFill>
              <a:latin typeface="Calibri"/>
              <a:ea typeface="Calibri"/>
              <a:cs typeface="Calibri"/>
              <a:sym typeface="Calibri"/>
            </a:endParaRPr>
          </a:p>
        </p:txBody>
      </p:sp>
      <p:sp>
        <p:nvSpPr>
          <p:cNvPr id="1040" name="Google Shape;1040;p25"/>
          <p:cNvSpPr txBox="1"/>
          <p:nvPr/>
        </p:nvSpPr>
        <p:spPr>
          <a:xfrm>
            <a:off x="282081" y="2757932"/>
            <a:ext cx="1644014" cy="565150"/>
          </a:xfrm>
          <a:prstGeom prst="rect">
            <a:avLst/>
          </a:prstGeom>
          <a:noFill/>
          <a:ln>
            <a:noFill/>
          </a:ln>
        </p:spPr>
        <p:txBody>
          <a:bodyPr spcFirstLastPara="1" wrap="square" lIns="0" tIns="28575" rIns="0" bIns="0" anchor="t" anchorCtr="0">
            <a:spAutoFit/>
          </a:bodyPr>
          <a:lstStyle/>
          <a:p>
            <a:pPr marL="12700" marR="5080" lvl="0" indent="165735" algn="l" rtl="0">
              <a:lnSpc>
                <a:spcPct val="116111"/>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Exact same as NLP Transformer!</a:t>
            </a:r>
            <a:endParaRPr sz="1800" b="0" i="0" u="none" strike="noStrike" cap="none">
              <a:solidFill>
                <a:srgbClr val="000000"/>
              </a:solidFill>
              <a:latin typeface="Calibri"/>
              <a:ea typeface="Calibri"/>
              <a:cs typeface="Calibri"/>
              <a:sym typeface="Calibri"/>
            </a:endParaRPr>
          </a:p>
        </p:txBody>
      </p:sp>
      <p:grpSp>
        <p:nvGrpSpPr>
          <p:cNvPr id="1041" name="Google Shape;1041;p25"/>
          <p:cNvGrpSpPr/>
          <p:nvPr/>
        </p:nvGrpSpPr>
        <p:grpSpPr>
          <a:xfrm>
            <a:off x="9843405" y="3627475"/>
            <a:ext cx="130175" cy="431165"/>
            <a:chOff x="9843405" y="3627475"/>
            <a:chExt cx="130175" cy="431165"/>
          </a:xfrm>
        </p:grpSpPr>
        <p:sp>
          <p:nvSpPr>
            <p:cNvPr id="1042" name="Google Shape;1042;p25"/>
            <p:cNvSpPr/>
            <p:nvPr/>
          </p:nvSpPr>
          <p:spPr>
            <a:xfrm>
              <a:off x="9843405"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8FAAD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43" name="Google Shape;1043;p25"/>
            <p:cNvSpPr/>
            <p:nvPr/>
          </p:nvSpPr>
          <p:spPr>
            <a:xfrm>
              <a:off x="984340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44" name="Google Shape;1044;p25"/>
          <p:cNvGrpSpPr/>
          <p:nvPr/>
        </p:nvGrpSpPr>
        <p:grpSpPr>
          <a:xfrm>
            <a:off x="9842760" y="2096159"/>
            <a:ext cx="130810" cy="429895"/>
            <a:chOff x="9842760" y="2096159"/>
            <a:chExt cx="130810" cy="429895"/>
          </a:xfrm>
        </p:grpSpPr>
        <p:sp>
          <p:nvSpPr>
            <p:cNvPr id="1045" name="Google Shape;1045;p25"/>
            <p:cNvSpPr/>
            <p:nvPr/>
          </p:nvSpPr>
          <p:spPr>
            <a:xfrm>
              <a:off x="9842760"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D96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46" name="Google Shape;1046;p25"/>
            <p:cNvSpPr/>
            <p:nvPr/>
          </p:nvSpPr>
          <p:spPr>
            <a:xfrm>
              <a:off x="9842760"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047" name="Google Shape;1047;p25"/>
          <p:cNvSpPr txBox="1"/>
          <p:nvPr/>
        </p:nvSpPr>
        <p:spPr>
          <a:xfrm>
            <a:off x="10220266" y="3498595"/>
            <a:ext cx="1830070" cy="845819"/>
          </a:xfrm>
          <a:prstGeom prst="rect">
            <a:avLst/>
          </a:prstGeom>
          <a:noFill/>
          <a:ln>
            <a:noFill/>
          </a:ln>
        </p:spPr>
        <p:txBody>
          <a:bodyPr spcFirstLastPara="1" wrap="square" lIns="0" tIns="13950" rIns="0" bIns="0" anchor="t" anchorCtr="0">
            <a:spAutoFit/>
          </a:bodyPr>
          <a:lstStyle/>
          <a:p>
            <a:pPr marL="12700" marR="5080" lvl="0" indent="0" algn="just"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Special extra input: </a:t>
            </a:r>
            <a:r>
              <a:rPr lang="en-US" sz="1800" b="1" i="0" u="none" strike="noStrike" cap="none">
                <a:solidFill>
                  <a:srgbClr val="000000"/>
                </a:solidFill>
                <a:latin typeface="Calibri"/>
                <a:ea typeface="Calibri"/>
                <a:cs typeface="Calibri"/>
                <a:sym typeface="Calibri"/>
              </a:rPr>
              <a:t>classification token </a:t>
            </a:r>
            <a:r>
              <a:rPr lang="en-US" sz="1800" b="0" i="0" u="none" strike="noStrike" cap="none">
                <a:solidFill>
                  <a:srgbClr val="000000"/>
                </a:solidFill>
                <a:latin typeface="Calibri"/>
                <a:ea typeface="Calibri"/>
                <a:cs typeface="Calibri"/>
                <a:sym typeface="Calibri"/>
              </a:rPr>
              <a:t>(D dims, learned)</a:t>
            </a:r>
            <a:endParaRPr sz="1800" b="0" i="0" u="none" strike="noStrike" cap="none">
              <a:solidFill>
                <a:srgbClr val="000000"/>
              </a:solidFill>
              <a:latin typeface="Calibri"/>
              <a:ea typeface="Calibri"/>
              <a:cs typeface="Calibri"/>
              <a:sym typeface="Calibri"/>
            </a:endParaRPr>
          </a:p>
        </p:txBody>
      </p:sp>
      <p:grpSp>
        <p:nvGrpSpPr>
          <p:cNvPr id="1048" name="Google Shape;1048;p25"/>
          <p:cNvGrpSpPr/>
          <p:nvPr/>
        </p:nvGrpSpPr>
        <p:grpSpPr>
          <a:xfrm>
            <a:off x="2959741" y="3627475"/>
            <a:ext cx="130175" cy="431165"/>
            <a:chOff x="2959741" y="3627475"/>
            <a:chExt cx="130175" cy="431165"/>
          </a:xfrm>
        </p:grpSpPr>
        <p:sp>
          <p:nvSpPr>
            <p:cNvPr id="1049" name="Google Shape;1049;p25"/>
            <p:cNvSpPr/>
            <p:nvPr/>
          </p:nvSpPr>
          <p:spPr>
            <a:xfrm>
              <a:off x="2959741"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0" name="Google Shape;1050;p25"/>
            <p:cNvSpPr/>
            <p:nvPr/>
          </p:nvSpPr>
          <p:spPr>
            <a:xfrm>
              <a:off x="295974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51" name="Google Shape;1051;p25"/>
          <p:cNvGrpSpPr/>
          <p:nvPr/>
        </p:nvGrpSpPr>
        <p:grpSpPr>
          <a:xfrm>
            <a:off x="3735962" y="3631266"/>
            <a:ext cx="130175" cy="431165"/>
            <a:chOff x="3735962" y="3631266"/>
            <a:chExt cx="130175" cy="431165"/>
          </a:xfrm>
        </p:grpSpPr>
        <p:sp>
          <p:nvSpPr>
            <p:cNvPr id="1052" name="Google Shape;1052;p25"/>
            <p:cNvSpPr/>
            <p:nvPr/>
          </p:nvSpPr>
          <p:spPr>
            <a:xfrm>
              <a:off x="3735962"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3" name="Google Shape;1053;p25"/>
            <p:cNvSpPr/>
            <p:nvPr/>
          </p:nvSpPr>
          <p:spPr>
            <a:xfrm>
              <a:off x="3735962"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54" name="Google Shape;1054;p25"/>
          <p:cNvGrpSpPr/>
          <p:nvPr/>
        </p:nvGrpSpPr>
        <p:grpSpPr>
          <a:xfrm>
            <a:off x="4512184" y="3627475"/>
            <a:ext cx="130175" cy="431165"/>
            <a:chOff x="4512184" y="3627475"/>
            <a:chExt cx="130175" cy="431165"/>
          </a:xfrm>
        </p:grpSpPr>
        <p:sp>
          <p:nvSpPr>
            <p:cNvPr id="1055" name="Google Shape;1055;p25"/>
            <p:cNvSpPr/>
            <p:nvPr/>
          </p:nvSpPr>
          <p:spPr>
            <a:xfrm>
              <a:off x="4512184"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6" name="Google Shape;1056;p25"/>
            <p:cNvSpPr/>
            <p:nvPr/>
          </p:nvSpPr>
          <p:spPr>
            <a:xfrm>
              <a:off x="4512184"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57" name="Google Shape;1057;p25"/>
          <p:cNvGrpSpPr/>
          <p:nvPr/>
        </p:nvGrpSpPr>
        <p:grpSpPr>
          <a:xfrm>
            <a:off x="5289456" y="3631266"/>
            <a:ext cx="130175" cy="431165"/>
            <a:chOff x="5289456" y="3631266"/>
            <a:chExt cx="130175" cy="431165"/>
          </a:xfrm>
        </p:grpSpPr>
        <p:sp>
          <p:nvSpPr>
            <p:cNvPr id="1058" name="Google Shape;1058;p25"/>
            <p:cNvSpPr/>
            <p:nvPr/>
          </p:nvSpPr>
          <p:spPr>
            <a:xfrm>
              <a:off x="5289456"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9" name="Google Shape;1059;p25"/>
            <p:cNvSpPr/>
            <p:nvPr/>
          </p:nvSpPr>
          <p:spPr>
            <a:xfrm>
              <a:off x="5289456"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60" name="Google Shape;1060;p25"/>
          <p:cNvGrpSpPr/>
          <p:nvPr/>
        </p:nvGrpSpPr>
        <p:grpSpPr>
          <a:xfrm>
            <a:off x="6061671" y="3627475"/>
            <a:ext cx="130175" cy="431165"/>
            <a:chOff x="6061671" y="3627475"/>
            <a:chExt cx="130175" cy="431165"/>
          </a:xfrm>
        </p:grpSpPr>
        <p:sp>
          <p:nvSpPr>
            <p:cNvPr id="1061" name="Google Shape;1061;p25"/>
            <p:cNvSpPr/>
            <p:nvPr/>
          </p:nvSpPr>
          <p:spPr>
            <a:xfrm>
              <a:off x="6061671"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2" name="Google Shape;1062;p25"/>
            <p:cNvSpPr/>
            <p:nvPr/>
          </p:nvSpPr>
          <p:spPr>
            <a:xfrm>
              <a:off x="606167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63" name="Google Shape;1063;p25"/>
          <p:cNvGrpSpPr/>
          <p:nvPr/>
        </p:nvGrpSpPr>
        <p:grpSpPr>
          <a:xfrm>
            <a:off x="6848395" y="3627475"/>
            <a:ext cx="130175" cy="431165"/>
            <a:chOff x="6848395" y="3627475"/>
            <a:chExt cx="130175" cy="431165"/>
          </a:xfrm>
        </p:grpSpPr>
        <p:sp>
          <p:nvSpPr>
            <p:cNvPr id="1064" name="Google Shape;1064;p25"/>
            <p:cNvSpPr/>
            <p:nvPr/>
          </p:nvSpPr>
          <p:spPr>
            <a:xfrm>
              <a:off x="6848395"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5" name="Google Shape;1065;p25"/>
            <p:cNvSpPr/>
            <p:nvPr/>
          </p:nvSpPr>
          <p:spPr>
            <a:xfrm>
              <a:off x="684839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66" name="Google Shape;1066;p25"/>
          <p:cNvGrpSpPr/>
          <p:nvPr/>
        </p:nvGrpSpPr>
        <p:grpSpPr>
          <a:xfrm>
            <a:off x="7615777" y="3627475"/>
            <a:ext cx="130175" cy="431165"/>
            <a:chOff x="7615777" y="3627475"/>
            <a:chExt cx="130175" cy="431165"/>
          </a:xfrm>
        </p:grpSpPr>
        <p:sp>
          <p:nvSpPr>
            <p:cNvPr id="1067" name="Google Shape;1067;p25"/>
            <p:cNvSpPr/>
            <p:nvPr/>
          </p:nvSpPr>
          <p:spPr>
            <a:xfrm>
              <a:off x="7615777"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8" name="Google Shape;1068;p25"/>
            <p:cNvSpPr/>
            <p:nvPr/>
          </p:nvSpPr>
          <p:spPr>
            <a:xfrm>
              <a:off x="7615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69" name="Google Shape;1069;p25"/>
          <p:cNvGrpSpPr/>
          <p:nvPr/>
        </p:nvGrpSpPr>
        <p:grpSpPr>
          <a:xfrm>
            <a:off x="8391777" y="3627475"/>
            <a:ext cx="130175" cy="431165"/>
            <a:chOff x="8391777" y="3627475"/>
            <a:chExt cx="130175" cy="431165"/>
          </a:xfrm>
        </p:grpSpPr>
        <p:sp>
          <p:nvSpPr>
            <p:cNvPr id="1070" name="Google Shape;1070;p25"/>
            <p:cNvSpPr/>
            <p:nvPr/>
          </p:nvSpPr>
          <p:spPr>
            <a:xfrm>
              <a:off x="8391777"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1" name="Google Shape;1071;p25"/>
            <p:cNvSpPr/>
            <p:nvPr/>
          </p:nvSpPr>
          <p:spPr>
            <a:xfrm>
              <a:off x="8391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72" name="Google Shape;1072;p25"/>
          <p:cNvGrpSpPr/>
          <p:nvPr/>
        </p:nvGrpSpPr>
        <p:grpSpPr>
          <a:xfrm>
            <a:off x="9168528" y="3627475"/>
            <a:ext cx="130175" cy="431165"/>
            <a:chOff x="9168528" y="3627475"/>
            <a:chExt cx="130175" cy="431165"/>
          </a:xfrm>
        </p:grpSpPr>
        <p:sp>
          <p:nvSpPr>
            <p:cNvPr id="1073" name="Google Shape;1073;p25"/>
            <p:cNvSpPr/>
            <p:nvPr/>
          </p:nvSpPr>
          <p:spPr>
            <a:xfrm>
              <a:off x="9168528"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4" name="Google Shape;1074;p25"/>
            <p:cNvSpPr/>
            <p:nvPr/>
          </p:nvSpPr>
          <p:spPr>
            <a:xfrm>
              <a:off x="9168528"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075" name="Google Shape;1075;p25"/>
          <p:cNvSpPr txBox="1"/>
          <p:nvPr/>
        </p:nvSpPr>
        <p:spPr>
          <a:xfrm>
            <a:off x="2936516" y="4004564"/>
            <a:ext cx="638429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	+	+	+	+	+	+	+	+</a:t>
            </a:r>
            <a:endParaRPr sz="2400" b="0" i="0" u="none" strike="noStrike" cap="none">
              <a:solidFill>
                <a:srgbClr val="000000"/>
              </a:solidFill>
              <a:latin typeface="Calibri"/>
              <a:ea typeface="Calibri"/>
              <a:cs typeface="Calibri"/>
              <a:sym typeface="Calibri"/>
            </a:endParaRPr>
          </a:p>
        </p:txBody>
      </p:sp>
      <p:grpSp>
        <p:nvGrpSpPr>
          <p:cNvPr id="1076" name="Google Shape;1076;p25"/>
          <p:cNvGrpSpPr/>
          <p:nvPr/>
        </p:nvGrpSpPr>
        <p:grpSpPr>
          <a:xfrm>
            <a:off x="2535941" y="2675707"/>
            <a:ext cx="7881620" cy="769620"/>
            <a:chOff x="2535941" y="2675707"/>
            <a:chExt cx="7881620" cy="769620"/>
          </a:xfrm>
        </p:grpSpPr>
        <p:sp>
          <p:nvSpPr>
            <p:cNvPr id="1077" name="Google Shape;1077;p25"/>
            <p:cNvSpPr/>
            <p:nvPr/>
          </p:nvSpPr>
          <p:spPr>
            <a:xfrm>
              <a:off x="2535941" y="2675707"/>
              <a:ext cx="7881620" cy="769620"/>
            </a:xfrm>
            <a:custGeom>
              <a:avLst/>
              <a:gdLst/>
              <a:ahLst/>
              <a:cxnLst/>
              <a:rect l="l" t="t" r="r" b="b"/>
              <a:pathLst>
                <a:path w="7881620" h="769620" extrusionOk="0">
                  <a:moveTo>
                    <a:pt x="7753038" y="0"/>
                  </a:moveTo>
                  <a:lnTo>
                    <a:pt x="128234" y="0"/>
                  </a:lnTo>
                  <a:lnTo>
                    <a:pt x="78319" y="10077"/>
                  </a:lnTo>
                  <a:lnTo>
                    <a:pt x="37559" y="37559"/>
                  </a:lnTo>
                  <a:lnTo>
                    <a:pt x="10077" y="78319"/>
                  </a:lnTo>
                  <a:lnTo>
                    <a:pt x="0" y="128234"/>
                  </a:lnTo>
                  <a:lnTo>
                    <a:pt x="0" y="641184"/>
                  </a:lnTo>
                  <a:lnTo>
                    <a:pt x="10077" y="691099"/>
                  </a:lnTo>
                  <a:lnTo>
                    <a:pt x="37559" y="731860"/>
                  </a:lnTo>
                  <a:lnTo>
                    <a:pt x="78319" y="759341"/>
                  </a:lnTo>
                  <a:lnTo>
                    <a:pt x="128234" y="769419"/>
                  </a:lnTo>
                  <a:lnTo>
                    <a:pt x="7753038" y="769419"/>
                  </a:lnTo>
                  <a:lnTo>
                    <a:pt x="7802953" y="759341"/>
                  </a:lnTo>
                  <a:lnTo>
                    <a:pt x="7843714" y="731860"/>
                  </a:lnTo>
                  <a:lnTo>
                    <a:pt x="7871196" y="691099"/>
                  </a:lnTo>
                  <a:lnTo>
                    <a:pt x="7881273" y="641184"/>
                  </a:lnTo>
                  <a:lnTo>
                    <a:pt x="7881273" y="128234"/>
                  </a:lnTo>
                  <a:lnTo>
                    <a:pt x="7871196" y="78319"/>
                  </a:lnTo>
                  <a:lnTo>
                    <a:pt x="7843714" y="37559"/>
                  </a:lnTo>
                  <a:lnTo>
                    <a:pt x="7802953" y="10077"/>
                  </a:lnTo>
                  <a:lnTo>
                    <a:pt x="7753038" y="0"/>
                  </a:lnTo>
                  <a:close/>
                </a:path>
              </a:pathLst>
            </a:custGeom>
            <a:solidFill>
              <a:srgbClr val="E2F0D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8" name="Google Shape;1078;p25"/>
            <p:cNvSpPr/>
            <p:nvPr/>
          </p:nvSpPr>
          <p:spPr>
            <a:xfrm>
              <a:off x="2535941" y="2675707"/>
              <a:ext cx="7881620" cy="769620"/>
            </a:xfrm>
            <a:custGeom>
              <a:avLst/>
              <a:gdLst/>
              <a:ahLst/>
              <a:cxnLst/>
              <a:rect l="l" t="t" r="r" b="b"/>
              <a:pathLst>
                <a:path w="7881620" h="769620" extrusionOk="0">
                  <a:moveTo>
                    <a:pt x="0" y="128235"/>
                  </a:moveTo>
                  <a:lnTo>
                    <a:pt x="10077" y="78320"/>
                  </a:lnTo>
                  <a:lnTo>
                    <a:pt x="37559" y="37559"/>
                  </a:lnTo>
                  <a:lnTo>
                    <a:pt x="78319" y="10077"/>
                  </a:lnTo>
                  <a:lnTo>
                    <a:pt x="128234" y="0"/>
                  </a:lnTo>
                  <a:lnTo>
                    <a:pt x="7753040" y="0"/>
                  </a:lnTo>
                  <a:lnTo>
                    <a:pt x="7802954" y="10077"/>
                  </a:lnTo>
                  <a:lnTo>
                    <a:pt x="7843714" y="37559"/>
                  </a:lnTo>
                  <a:lnTo>
                    <a:pt x="7871196" y="78320"/>
                  </a:lnTo>
                  <a:lnTo>
                    <a:pt x="7881274" y="128235"/>
                  </a:lnTo>
                  <a:lnTo>
                    <a:pt x="7881274" y="641184"/>
                  </a:lnTo>
                  <a:lnTo>
                    <a:pt x="7871196" y="691099"/>
                  </a:lnTo>
                  <a:lnTo>
                    <a:pt x="7843714" y="731860"/>
                  </a:lnTo>
                  <a:lnTo>
                    <a:pt x="7802954" y="759342"/>
                  </a:lnTo>
                  <a:lnTo>
                    <a:pt x="7753040" y="769420"/>
                  </a:lnTo>
                  <a:lnTo>
                    <a:pt x="128234" y="769420"/>
                  </a:lnTo>
                  <a:lnTo>
                    <a:pt x="78319" y="759342"/>
                  </a:lnTo>
                  <a:lnTo>
                    <a:pt x="37559" y="731860"/>
                  </a:lnTo>
                  <a:lnTo>
                    <a:pt x="10077" y="691099"/>
                  </a:lnTo>
                  <a:lnTo>
                    <a:pt x="0" y="641184"/>
                  </a:lnTo>
                  <a:lnTo>
                    <a:pt x="0" y="128235"/>
                  </a:lnTo>
                  <a:close/>
                </a:path>
              </a:pathLst>
            </a:custGeom>
            <a:noFill/>
            <a:ln w="12700" cap="flat" cmpd="sng">
              <a:solidFill>
                <a:srgbClr val="70AD47"/>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079" name="Google Shape;1079;p25"/>
          <p:cNvSpPr txBox="1"/>
          <p:nvPr/>
        </p:nvSpPr>
        <p:spPr>
          <a:xfrm>
            <a:off x="5585417" y="2807715"/>
            <a:ext cx="178308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Transformer</a:t>
            </a:r>
            <a:endParaRPr sz="2800" b="0" i="0" u="none" strike="noStrike" cap="none">
              <a:solidFill>
                <a:srgbClr val="000000"/>
              </a:solidFill>
              <a:latin typeface="Calibri"/>
              <a:ea typeface="Calibri"/>
              <a:cs typeface="Calibri"/>
              <a:sym typeface="Calibri"/>
            </a:endParaRPr>
          </a:p>
        </p:txBody>
      </p:sp>
      <p:sp>
        <p:nvSpPr>
          <p:cNvPr id="1080" name="Google Shape;1080;p25"/>
          <p:cNvSpPr txBox="1"/>
          <p:nvPr/>
        </p:nvSpPr>
        <p:spPr>
          <a:xfrm>
            <a:off x="276038" y="4817126"/>
            <a:ext cx="2040889" cy="1021080"/>
          </a:xfrm>
          <a:prstGeom prst="rect">
            <a:avLst/>
          </a:prstGeom>
          <a:noFill/>
          <a:ln>
            <a:noFill/>
          </a:ln>
        </p:spPr>
        <p:txBody>
          <a:bodyPr spcFirstLastPara="1" wrap="square" lIns="0" tIns="1250" rIns="0" bIns="0" anchor="t" anchorCtr="0">
            <a:spAutoFit/>
          </a:bodyPr>
          <a:lstStyle/>
          <a:p>
            <a:pPr marL="17145"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D-dimensional vector</a:t>
            </a:r>
            <a:endParaRPr sz="1800" b="0" i="0" u="none" strike="noStrike" cap="none">
              <a:solidFill>
                <a:srgbClr val="000000"/>
              </a:solidFill>
              <a:latin typeface="Calibri"/>
              <a:ea typeface="Calibri"/>
              <a:cs typeface="Calibri"/>
              <a:sym typeface="Calibri"/>
            </a:endParaRPr>
          </a:p>
          <a:p>
            <a:pPr marL="12700" marR="5080" lvl="0" indent="0" algn="l" rtl="0">
              <a:lnSpc>
                <a:spcPct val="117222"/>
              </a:lnSpc>
              <a:spcBef>
                <a:spcPts val="148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N input patches, each of shape 3x16x16</a:t>
            </a:r>
            <a:endParaRPr sz="1800" b="0" i="0" u="none" strike="noStrike" cap="none">
              <a:solidFill>
                <a:srgbClr val="000000"/>
              </a:solidFill>
              <a:latin typeface="Calibri"/>
              <a:ea typeface="Calibri"/>
              <a:cs typeface="Calibri"/>
              <a:sym typeface="Calibri"/>
            </a:endParaRPr>
          </a:p>
        </p:txBody>
      </p:sp>
      <p:sp>
        <p:nvSpPr>
          <p:cNvPr id="1081" name="Google Shape;1081;p25"/>
          <p:cNvSpPr txBox="1"/>
          <p:nvPr/>
        </p:nvSpPr>
        <p:spPr>
          <a:xfrm>
            <a:off x="10251213" y="5962476"/>
            <a:ext cx="1861185" cy="375920"/>
          </a:xfrm>
          <a:prstGeom prst="rect">
            <a:avLst/>
          </a:prstGeom>
          <a:noFill/>
          <a:ln>
            <a:noFill/>
          </a:ln>
        </p:spPr>
        <p:txBody>
          <a:bodyPr spcFirstLastPara="1" wrap="square" lIns="0" tIns="1250" rIns="0" bIns="0" anchor="t" anchorCtr="0">
            <a:spAutoFit/>
          </a:bodyPr>
          <a:lstStyle/>
          <a:p>
            <a:pPr marL="296545" marR="5080" lvl="0" indent="-284480" algn="l" rtl="0">
              <a:lnSpc>
                <a:spcPct val="129090"/>
              </a:lnSpc>
              <a:spcBef>
                <a:spcPts val="0"/>
              </a:spcBef>
              <a:spcAft>
                <a:spcPts val="0"/>
              </a:spcAft>
              <a:buClr>
                <a:srgbClr val="0563C1"/>
              </a:buClr>
              <a:buSzPts val="1100"/>
              <a:buFont typeface="Arial"/>
              <a:buNone/>
            </a:pPr>
            <a:r>
              <a:rPr lang="en-US" sz="1100" b="0" i="0" u="sng" strike="noStrike" cap="none">
                <a:solidFill>
                  <a:srgbClr val="0563C1"/>
                </a:solidFill>
                <a:latin typeface="Calibri"/>
                <a:ea typeface="Calibri"/>
                <a:cs typeface="Calibri"/>
                <a:sym typeface="Calibri"/>
              </a:rPr>
              <a:t>Cat image</a:t>
            </a:r>
            <a:r>
              <a:rPr lang="en-US" sz="1100" b="0" i="0" u="none" strike="noStrike" cap="none">
                <a:solidFill>
                  <a:srgbClr val="0563C1"/>
                </a:solidFill>
                <a:latin typeface="Calibri"/>
                <a:ea typeface="Calibri"/>
                <a:cs typeface="Calibri"/>
                <a:sym typeface="Calibri"/>
              </a:rPr>
              <a:t> </a:t>
            </a:r>
            <a:r>
              <a:rPr lang="en-US" sz="1100" b="0" i="0" u="none" strike="noStrike" cap="none">
                <a:solidFill>
                  <a:srgbClr val="000000"/>
                </a:solidFill>
                <a:latin typeface="Calibri"/>
                <a:ea typeface="Calibri"/>
                <a:cs typeface="Calibri"/>
                <a:sym typeface="Calibri"/>
              </a:rPr>
              <a:t>is free for commercial use under a </a:t>
            </a:r>
            <a:r>
              <a:rPr lang="en-US" sz="1100" b="0" i="0" u="sng" strike="noStrike" cap="none">
                <a:solidFill>
                  <a:srgbClr val="0563C1"/>
                </a:solidFill>
                <a:latin typeface="Calibri"/>
                <a:ea typeface="Calibri"/>
                <a:cs typeface="Calibri"/>
                <a:sym typeface="Calibri"/>
              </a:rPr>
              <a:t>Pixabay license</a:t>
            </a:r>
            <a:endParaRPr sz="1100" b="0" i="0" u="none" strike="noStrike" cap="none">
              <a:solidFill>
                <a:srgbClr val="000000"/>
              </a:solidFill>
              <a:latin typeface="Calibri"/>
              <a:ea typeface="Calibri"/>
              <a:cs typeface="Calibri"/>
              <a:sym typeface="Calibri"/>
            </a:endParaRPr>
          </a:p>
        </p:txBody>
      </p:sp>
      <p:sp>
        <p:nvSpPr>
          <p:cNvPr id="1082" name="Google Shape;1082;p25"/>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1083" name="Google Shape;1083;p25"/>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grpSp>
        <p:nvGrpSpPr>
          <p:cNvPr id="1088" name="Google Shape;1088;p26"/>
          <p:cNvGrpSpPr/>
          <p:nvPr/>
        </p:nvGrpSpPr>
        <p:grpSpPr>
          <a:xfrm>
            <a:off x="2535941" y="4400222"/>
            <a:ext cx="683958" cy="1475057"/>
            <a:chOff x="2535941" y="4400222"/>
            <a:chExt cx="683958" cy="1475057"/>
          </a:xfrm>
        </p:grpSpPr>
        <p:sp>
          <p:nvSpPr>
            <p:cNvPr id="1089" name="Google Shape;1089;p26"/>
            <p:cNvSpPr/>
            <p:nvPr/>
          </p:nvSpPr>
          <p:spPr>
            <a:xfrm>
              <a:off x="2802577"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0" name="Google Shape;1090;p26"/>
            <p:cNvSpPr/>
            <p:nvPr/>
          </p:nvSpPr>
          <p:spPr>
            <a:xfrm>
              <a:off x="2802577"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1" name="Google Shape;1091;p26"/>
            <p:cNvSpPr/>
            <p:nvPr/>
          </p:nvSpPr>
          <p:spPr>
            <a:xfrm>
              <a:off x="2829572" y="4831110"/>
              <a:ext cx="76200" cy="404495"/>
            </a:xfrm>
            <a:custGeom>
              <a:avLst/>
              <a:gdLst/>
              <a:ahLst/>
              <a:cxnLst/>
              <a:rect l="l" t="t" r="r" b="b"/>
              <a:pathLst>
                <a:path w="76200" h="404495" extrusionOk="0">
                  <a:moveTo>
                    <a:pt x="50799" y="76183"/>
                  </a:moveTo>
                  <a:lnTo>
                    <a:pt x="25399" y="76217"/>
                  </a:lnTo>
                  <a:lnTo>
                    <a:pt x="25840" y="404106"/>
                  </a:lnTo>
                  <a:lnTo>
                    <a:pt x="51240" y="404072"/>
                  </a:lnTo>
                  <a:lnTo>
                    <a:pt x="50799" y="76183"/>
                  </a:lnTo>
                  <a:close/>
                </a:path>
                <a:path w="76200" h="404495" extrusionOk="0">
                  <a:moveTo>
                    <a:pt x="37997" y="0"/>
                  </a:moveTo>
                  <a:lnTo>
                    <a:pt x="0" y="76252"/>
                  </a:lnTo>
                  <a:lnTo>
                    <a:pt x="25399" y="76217"/>
                  </a:lnTo>
                  <a:lnTo>
                    <a:pt x="25382" y="63517"/>
                  </a:lnTo>
                  <a:lnTo>
                    <a:pt x="69845" y="63483"/>
                  </a:lnTo>
                  <a:lnTo>
                    <a:pt x="37997" y="0"/>
                  </a:lnTo>
                  <a:close/>
                </a:path>
                <a:path w="76200" h="404495" extrusionOk="0">
                  <a:moveTo>
                    <a:pt x="50782" y="63483"/>
                  </a:moveTo>
                  <a:lnTo>
                    <a:pt x="25382" y="63517"/>
                  </a:lnTo>
                  <a:lnTo>
                    <a:pt x="25399" y="76217"/>
                  </a:lnTo>
                  <a:lnTo>
                    <a:pt x="50799" y="76183"/>
                  </a:lnTo>
                  <a:lnTo>
                    <a:pt x="50782" y="63483"/>
                  </a:lnTo>
                  <a:close/>
                </a:path>
                <a:path w="76200" h="404495" extrusionOk="0">
                  <a:moveTo>
                    <a:pt x="69845" y="63483"/>
                  </a:moveTo>
                  <a:lnTo>
                    <a:pt x="50782" y="63483"/>
                  </a:lnTo>
                  <a:lnTo>
                    <a:pt x="50799" y="76183"/>
                  </a:lnTo>
                  <a:lnTo>
                    <a:pt x="76200" y="76149"/>
                  </a:lnTo>
                  <a:lnTo>
                    <a:pt x="69845" y="6348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092" name="Google Shape;1092;p26"/>
            <p:cNvPicPr preferRelativeResize="0"/>
            <p:nvPr/>
          </p:nvPicPr>
          <p:blipFill rotWithShape="1">
            <a:blip r:embed="rId3">
              <a:alphaModFix/>
            </a:blip>
            <a:srcRect/>
            <a:stretch/>
          </p:blipFill>
          <p:spPr>
            <a:xfrm>
              <a:off x="2535941" y="5235200"/>
              <a:ext cx="639705" cy="640079"/>
            </a:xfrm>
            <a:prstGeom prst="rect">
              <a:avLst/>
            </a:prstGeom>
            <a:noFill/>
            <a:ln>
              <a:noFill/>
            </a:ln>
          </p:spPr>
        </p:pic>
        <p:sp>
          <p:nvSpPr>
            <p:cNvPr id="1093" name="Google Shape;1093;p26"/>
            <p:cNvSpPr/>
            <p:nvPr/>
          </p:nvSpPr>
          <p:spPr>
            <a:xfrm>
              <a:off x="3089724"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4" name="Google Shape;1094;p26"/>
            <p:cNvSpPr/>
            <p:nvPr/>
          </p:nvSpPr>
          <p:spPr>
            <a:xfrm>
              <a:off x="3089724"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95" name="Google Shape;1095;p26"/>
          <p:cNvGrpSpPr/>
          <p:nvPr/>
        </p:nvGrpSpPr>
        <p:grpSpPr>
          <a:xfrm>
            <a:off x="3312686" y="4404013"/>
            <a:ext cx="683436" cy="1471266"/>
            <a:chOff x="3312686" y="4404013"/>
            <a:chExt cx="683436" cy="1471266"/>
          </a:xfrm>
        </p:grpSpPr>
        <p:sp>
          <p:nvSpPr>
            <p:cNvPr id="1096" name="Google Shape;1096;p26"/>
            <p:cNvSpPr/>
            <p:nvPr/>
          </p:nvSpPr>
          <p:spPr>
            <a:xfrm>
              <a:off x="3578800" y="4404013"/>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7" name="Google Shape;1097;p26"/>
            <p:cNvSpPr/>
            <p:nvPr/>
          </p:nvSpPr>
          <p:spPr>
            <a:xfrm>
              <a:off x="3578800"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8" name="Google Shape;1098;p26"/>
            <p:cNvSpPr/>
            <p:nvPr/>
          </p:nvSpPr>
          <p:spPr>
            <a:xfrm>
              <a:off x="3605753" y="4834901"/>
              <a:ext cx="76200" cy="400685"/>
            </a:xfrm>
            <a:custGeom>
              <a:avLst/>
              <a:gdLst/>
              <a:ahLst/>
              <a:cxnLst/>
              <a:rect l="l" t="t" r="r" b="b"/>
              <a:pathLst>
                <a:path w="76200" h="400685" extrusionOk="0">
                  <a:moveTo>
                    <a:pt x="50800" y="76190"/>
                  </a:moveTo>
                  <a:lnTo>
                    <a:pt x="25400" y="76211"/>
                  </a:lnTo>
                  <a:lnTo>
                    <a:pt x="25660" y="400309"/>
                  </a:lnTo>
                  <a:lnTo>
                    <a:pt x="51060" y="400288"/>
                  </a:lnTo>
                  <a:lnTo>
                    <a:pt x="50800" y="76190"/>
                  </a:lnTo>
                  <a:close/>
                </a:path>
                <a:path w="76200" h="400685" extrusionOk="0">
                  <a:moveTo>
                    <a:pt x="38037" y="0"/>
                  </a:moveTo>
                  <a:lnTo>
                    <a:pt x="0" y="76231"/>
                  </a:lnTo>
                  <a:lnTo>
                    <a:pt x="25400" y="76211"/>
                  </a:lnTo>
                  <a:lnTo>
                    <a:pt x="25389" y="63510"/>
                  </a:lnTo>
                  <a:lnTo>
                    <a:pt x="69847" y="63489"/>
                  </a:lnTo>
                  <a:lnTo>
                    <a:pt x="38037"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099" name="Google Shape;1099;p26"/>
            <p:cNvPicPr preferRelativeResize="0"/>
            <p:nvPr/>
          </p:nvPicPr>
          <p:blipFill rotWithShape="1">
            <a:blip r:embed="rId4">
              <a:alphaModFix/>
            </a:blip>
            <a:srcRect/>
            <a:stretch/>
          </p:blipFill>
          <p:spPr>
            <a:xfrm>
              <a:off x="3312686" y="5235200"/>
              <a:ext cx="639705" cy="640079"/>
            </a:xfrm>
            <a:prstGeom prst="rect">
              <a:avLst/>
            </a:prstGeom>
            <a:noFill/>
            <a:ln>
              <a:noFill/>
            </a:ln>
          </p:spPr>
        </p:pic>
        <p:sp>
          <p:nvSpPr>
            <p:cNvPr id="1100" name="Google Shape;1100;p26"/>
            <p:cNvSpPr/>
            <p:nvPr/>
          </p:nvSpPr>
          <p:spPr>
            <a:xfrm>
              <a:off x="3865947" y="440599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01" name="Google Shape;1101;p26"/>
            <p:cNvSpPr/>
            <p:nvPr/>
          </p:nvSpPr>
          <p:spPr>
            <a:xfrm>
              <a:off x="3865947"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02" name="Google Shape;1102;p26"/>
          <p:cNvGrpSpPr/>
          <p:nvPr/>
        </p:nvGrpSpPr>
        <p:grpSpPr>
          <a:xfrm>
            <a:off x="4089432" y="4400222"/>
            <a:ext cx="682911" cy="1475057"/>
            <a:chOff x="4089432" y="4400222"/>
            <a:chExt cx="682911" cy="1475057"/>
          </a:xfrm>
        </p:grpSpPr>
        <p:sp>
          <p:nvSpPr>
            <p:cNvPr id="1103" name="Google Shape;1103;p26"/>
            <p:cNvSpPr/>
            <p:nvPr/>
          </p:nvSpPr>
          <p:spPr>
            <a:xfrm>
              <a:off x="4355021"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04" name="Google Shape;1104;p26"/>
            <p:cNvSpPr/>
            <p:nvPr/>
          </p:nvSpPr>
          <p:spPr>
            <a:xfrm>
              <a:off x="4355021"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05" name="Google Shape;1105;p26"/>
            <p:cNvSpPr/>
            <p:nvPr/>
          </p:nvSpPr>
          <p:spPr>
            <a:xfrm>
              <a:off x="4382073" y="4831110"/>
              <a:ext cx="76200" cy="404495"/>
            </a:xfrm>
            <a:custGeom>
              <a:avLst/>
              <a:gdLst/>
              <a:ahLst/>
              <a:cxnLst/>
              <a:rect l="l" t="t" r="r" b="b"/>
              <a:pathLst>
                <a:path w="76200" h="404495" extrusionOk="0">
                  <a:moveTo>
                    <a:pt x="50799" y="76173"/>
                  </a:moveTo>
                  <a:lnTo>
                    <a:pt x="25399" y="76226"/>
                  </a:lnTo>
                  <a:lnTo>
                    <a:pt x="26087" y="404116"/>
                  </a:lnTo>
                  <a:lnTo>
                    <a:pt x="51487" y="404063"/>
                  </a:lnTo>
                  <a:lnTo>
                    <a:pt x="50799" y="76173"/>
                  </a:lnTo>
                  <a:close/>
                </a:path>
                <a:path w="76200" h="404495" extrusionOk="0">
                  <a:moveTo>
                    <a:pt x="37939" y="0"/>
                  </a:moveTo>
                  <a:lnTo>
                    <a:pt x="0" y="76280"/>
                  </a:lnTo>
                  <a:lnTo>
                    <a:pt x="25399" y="76226"/>
                  </a:lnTo>
                  <a:lnTo>
                    <a:pt x="25373" y="63526"/>
                  </a:lnTo>
                  <a:lnTo>
                    <a:pt x="69843" y="63473"/>
                  </a:lnTo>
                  <a:lnTo>
                    <a:pt x="37939" y="0"/>
                  </a:lnTo>
                  <a:close/>
                </a:path>
                <a:path w="76200" h="404495" extrusionOk="0">
                  <a:moveTo>
                    <a:pt x="50773" y="63473"/>
                  </a:moveTo>
                  <a:lnTo>
                    <a:pt x="25373" y="63526"/>
                  </a:lnTo>
                  <a:lnTo>
                    <a:pt x="25399" y="76226"/>
                  </a:lnTo>
                  <a:lnTo>
                    <a:pt x="50799" y="76173"/>
                  </a:lnTo>
                  <a:lnTo>
                    <a:pt x="50773" y="63473"/>
                  </a:lnTo>
                  <a:close/>
                </a:path>
                <a:path w="76200" h="404495" extrusionOk="0">
                  <a:moveTo>
                    <a:pt x="69843" y="63473"/>
                  </a:moveTo>
                  <a:lnTo>
                    <a:pt x="50773" y="63473"/>
                  </a:lnTo>
                  <a:lnTo>
                    <a:pt x="50799" y="76173"/>
                  </a:lnTo>
                  <a:lnTo>
                    <a:pt x="76200" y="76119"/>
                  </a:lnTo>
                  <a:lnTo>
                    <a:pt x="69843" y="6347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106" name="Google Shape;1106;p26"/>
            <p:cNvPicPr preferRelativeResize="0"/>
            <p:nvPr/>
          </p:nvPicPr>
          <p:blipFill rotWithShape="1">
            <a:blip r:embed="rId5">
              <a:alphaModFix/>
            </a:blip>
            <a:srcRect/>
            <a:stretch/>
          </p:blipFill>
          <p:spPr>
            <a:xfrm>
              <a:off x="4089432" y="5235200"/>
              <a:ext cx="639705" cy="640079"/>
            </a:xfrm>
            <a:prstGeom prst="rect">
              <a:avLst/>
            </a:prstGeom>
            <a:noFill/>
            <a:ln>
              <a:noFill/>
            </a:ln>
          </p:spPr>
        </p:pic>
        <p:sp>
          <p:nvSpPr>
            <p:cNvPr id="1107" name="Google Shape;1107;p26"/>
            <p:cNvSpPr/>
            <p:nvPr/>
          </p:nvSpPr>
          <p:spPr>
            <a:xfrm>
              <a:off x="4642168"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08" name="Google Shape;1108;p26"/>
            <p:cNvSpPr/>
            <p:nvPr/>
          </p:nvSpPr>
          <p:spPr>
            <a:xfrm>
              <a:off x="4642168"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09" name="Google Shape;1109;p26"/>
          <p:cNvGrpSpPr/>
          <p:nvPr/>
        </p:nvGrpSpPr>
        <p:grpSpPr>
          <a:xfrm>
            <a:off x="4866180" y="4404013"/>
            <a:ext cx="683434" cy="1471266"/>
            <a:chOff x="4866180" y="4404013"/>
            <a:chExt cx="683434" cy="1471266"/>
          </a:xfrm>
        </p:grpSpPr>
        <p:sp>
          <p:nvSpPr>
            <p:cNvPr id="1110" name="Google Shape;1110;p26"/>
            <p:cNvSpPr/>
            <p:nvPr/>
          </p:nvSpPr>
          <p:spPr>
            <a:xfrm>
              <a:off x="5132292" y="4404013"/>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1" name="Google Shape;1111;p26"/>
            <p:cNvSpPr/>
            <p:nvPr/>
          </p:nvSpPr>
          <p:spPr>
            <a:xfrm>
              <a:off x="5132292"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2" name="Google Shape;1112;p26"/>
            <p:cNvSpPr/>
            <p:nvPr/>
          </p:nvSpPr>
          <p:spPr>
            <a:xfrm>
              <a:off x="5159245" y="4834901"/>
              <a:ext cx="76200" cy="400685"/>
            </a:xfrm>
            <a:custGeom>
              <a:avLst/>
              <a:gdLst/>
              <a:ahLst/>
              <a:cxnLst/>
              <a:rect l="l" t="t" r="r" b="b"/>
              <a:pathLst>
                <a:path w="76200" h="400685" extrusionOk="0">
                  <a:moveTo>
                    <a:pt x="50800" y="76190"/>
                  </a:moveTo>
                  <a:lnTo>
                    <a:pt x="25400" y="76211"/>
                  </a:lnTo>
                  <a:lnTo>
                    <a:pt x="25661" y="400319"/>
                  </a:lnTo>
                  <a:lnTo>
                    <a:pt x="51061" y="400298"/>
                  </a:lnTo>
                  <a:lnTo>
                    <a:pt x="50800" y="76190"/>
                  </a:lnTo>
                  <a:close/>
                </a:path>
                <a:path w="76200" h="400685" extrusionOk="0">
                  <a:moveTo>
                    <a:pt x="38039" y="0"/>
                  </a:moveTo>
                  <a:lnTo>
                    <a:pt x="0" y="76231"/>
                  </a:lnTo>
                  <a:lnTo>
                    <a:pt x="25400" y="76211"/>
                  </a:lnTo>
                  <a:lnTo>
                    <a:pt x="25389" y="63510"/>
                  </a:lnTo>
                  <a:lnTo>
                    <a:pt x="69847" y="63489"/>
                  </a:lnTo>
                  <a:lnTo>
                    <a:pt x="38039"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113" name="Google Shape;1113;p26"/>
            <p:cNvPicPr preferRelativeResize="0"/>
            <p:nvPr/>
          </p:nvPicPr>
          <p:blipFill rotWithShape="1">
            <a:blip r:embed="rId6">
              <a:alphaModFix/>
            </a:blip>
            <a:srcRect/>
            <a:stretch/>
          </p:blipFill>
          <p:spPr>
            <a:xfrm>
              <a:off x="4866180" y="5235200"/>
              <a:ext cx="639705" cy="640079"/>
            </a:xfrm>
            <a:prstGeom prst="rect">
              <a:avLst/>
            </a:prstGeom>
            <a:noFill/>
            <a:ln>
              <a:noFill/>
            </a:ln>
          </p:spPr>
        </p:pic>
        <p:sp>
          <p:nvSpPr>
            <p:cNvPr id="1114" name="Google Shape;1114;p26"/>
            <p:cNvSpPr/>
            <p:nvPr/>
          </p:nvSpPr>
          <p:spPr>
            <a:xfrm>
              <a:off x="5419439" y="440599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5" name="Google Shape;1115;p26"/>
            <p:cNvSpPr/>
            <p:nvPr/>
          </p:nvSpPr>
          <p:spPr>
            <a:xfrm>
              <a:off x="5419439"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16" name="Google Shape;1116;p26"/>
          <p:cNvGrpSpPr/>
          <p:nvPr/>
        </p:nvGrpSpPr>
        <p:grpSpPr>
          <a:xfrm>
            <a:off x="5645272" y="4400222"/>
            <a:ext cx="676559" cy="1475057"/>
            <a:chOff x="5645272" y="4400222"/>
            <a:chExt cx="676559" cy="1475057"/>
          </a:xfrm>
        </p:grpSpPr>
        <p:sp>
          <p:nvSpPr>
            <p:cNvPr id="1117" name="Google Shape;1117;p26"/>
            <p:cNvSpPr/>
            <p:nvPr/>
          </p:nvSpPr>
          <p:spPr>
            <a:xfrm>
              <a:off x="5904509"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8" name="Google Shape;1118;p26"/>
            <p:cNvSpPr/>
            <p:nvPr/>
          </p:nvSpPr>
          <p:spPr>
            <a:xfrm>
              <a:off x="5904509"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9" name="Google Shape;1119;p26"/>
            <p:cNvSpPr/>
            <p:nvPr/>
          </p:nvSpPr>
          <p:spPr>
            <a:xfrm>
              <a:off x="5932177" y="4831110"/>
              <a:ext cx="76200" cy="404495"/>
            </a:xfrm>
            <a:custGeom>
              <a:avLst/>
              <a:gdLst/>
              <a:ahLst/>
              <a:cxnLst/>
              <a:rect l="l" t="t" r="r" b="b"/>
              <a:pathLst>
                <a:path w="76200" h="404495" extrusionOk="0">
                  <a:moveTo>
                    <a:pt x="50796" y="76067"/>
                  </a:moveTo>
                  <a:lnTo>
                    <a:pt x="25398" y="76325"/>
                  </a:lnTo>
                  <a:lnTo>
                    <a:pt x="28731" y="404228"/>
                  </a:lnTo>
                  <a:lnTo>
                    <a:pt x="54129" y="403970"/>
                  </a:lnTo>
                  <a:lnTo>
                    <a:pt x="50796" y="76067"/>
                  </a:lnTo>
                  <a:close/>
                </a:path>
                <a:path w="76200" h="404495" extrusionOk="0">
                  <a:moveTo>
                    <a:pt x="37322" y="0"/>
                  </a:moveTo>
                  <a:lnTo>
                    <a:pt x="0" y="76583"/>
                  </a:lnTo>
                  <a:lnTo>
                    <a:pt x="25398" y="76325"/>
                  </a:lnTo>
                  <a:lnTo>
                    <a:pt x="25269" y="63626"/>
                  </a:lnTo>
                  <a:lnTo>
                    <a:pt x="50667" y="63367"/>
                  </a:lnTo>
                  <a:lnTo>
                    <a:pt x="69815" y="63367"/>
                  </a:lnTo>
                  <a:lnTo>
                    <a:pt x="37322" y="0"/>
                  </a:lnTo>
                  <a:close/>
                </a:path>
                <a:path w="76200" h="404495" extrusionOk="0">
                  <a:moveTo>
                    <a:pt x="50667" y="63367"/>
                  </a:moveTo>
                  <a:lnTo>
                    <a:pt x="25269" y="63626"/>
                  </a:lnTo>
                  <a:lnTo>
                    <a:pt x="25398" y="76325"/>
                  </a:lnTo>
                  <a:lnTo>
                    <a:pt x="50796" y="76067"/>
                  </a:lnTo>
                  <a:lnTo>
                    <a:pt x="50667" y="63367"/>
                  </a:lnTo>
                  <a:close/>
                </a:path>
                <a:path w="76200" h="404495" extrusionOk="0">
                  <a:moveTo>
                    <a:pt x="69815" y="63367"/>
                  </a:moveTo>
                  <a:lnTo>
                    <a:pt x="50667" y="63367"/>
                  </a:lnTo>
                  <a:lnTo>
                    <a:pt x="50796" y="76067"/>
                  </a:lnTo>
                  <a:lnTo>
                    <a:pt x="76194" y="75808"/>
                  </a:lnTo>
                  <a:lnTo>
                    <a:pt x="69815" y="6336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120" name="Google Shape;1120;p26"/>
            <p:cNvPicPr preferRelativeResize="0"/>
            <p:nvPr/>
          </p:nvPicPr>
          <p:blipFill rotWithShape="1">
            <a:blip r:embed="rId7">
              <a:alphaModFix/>
            </a:blip>
            <a:srcRect/>
            <a:stretch/>
          </p:blipFill>
          <p:spPr>
            <a:xfrm>
              <a:off x="5645272" y="5235200"/>
              <a:ext cx="639705" cy="640079"/>
            </a:xfrm>
            <a:prstGeom prst="rect">
              <a:avLst/>
            </a:prstGeom>
            <a:noFill/>
            <a:ln>
              <a:noFill/>
            </a:ln>
          </p:spPr>
        </p:pic>
        <p:sp>
          <p:nvSpPr>
            <p:cNvPr id="1121" name="Google Shape;1121;p26"/>
            <p:cNvSpPr/>
            <p:nvPr/>
          </p:nvSpPr>
          <p:spPr>
            <a:xfrm>
              <a:off x="6191656"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2" name="Google Shape;1122;p26"/>
            <p:cNvSpPr/>
            <p:nvPr/>
          </p:nvSpPr>
          <p:spPr>
            <a:xfrm>
              <a:off x="6191656"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23" name="Google Shape;1123;p26"/>
          <p:cNvGrpSpPr/>
          <p:nvPr/>
        </p:nvGrpSpPr>
        <p:grpSpPr>
          <a:xfrm>
            <a:off x="6419682" y="4400222"/>
            <a:ext cx="688872" cy="1475057"/>
            <a:chOff x="6419682" y="4400222"/>
            <a:chExt cx="688872" cy="1475057"/>
          </a:xfrm>
        </p:grpSpPr>
        <p:sp>
          <p:nvSpPr>
            <p:cNvPr id="1124" name="Google Shape;1124;p26"/>
            <p:cNvSpPr/>
            <p:nvPr/>
          </p:nvSpPr>
          <p:spPr>
            <a:xfrm>
              <a:off x="6691232"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5" name="Google Shape;1125;p26"/>
            <p:cNvSpPr/>
            <p:nvPr/>
          </p:nvSpPr>
          <p:spPr>
            <a:xfrm>
              <a:off x="6691232"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6" name="Google Shape;1126;p26"/>
            <p:cNvSpPr/>
            <p:nvPr/>
          </p:nvSpPr>
          <p:spPr>
            <a:xfrm>
              <a:off x="6717023" y="4831110"/>
              <a:ext cx="76200" cy="404495"/>
            </a:xfrm>
            <a:custGeom>
              <a:avLst/>
              <a:gdLst/>
              <a:ahLst/>
              <a:cxnLst/>
              <a:rect l="l" t="t" r="r" b="b"/>
              <a:pathLst>
                <a:path w="76200" h="404495" extrusionOk="0">
                  <a:moveTo>
                    <a:pt x="25397" y="76008"/>
                  </a:moveTo>
                  <a:lnTo>
                    <a:pt x="20636" y="403914"/>
                  </a:lnTo>
                  <a:lnTo>
                    <a:pt x="46033" y="404284"/>
                  </a:lnTo>
                  <a:lnTo>
                    <a:pt x="50794" y="76377"/>
                  </a:lnTo>
                  <a:lnTo>
                    <a:pt x="25397" y="76008"/>
                  </a:lnTo>
                  <a:close/>
                </a:path>
                <a:path w="76200" h="404495" extrusionOk="0">
                  <a:moveTo>
                    <a:pt x="69714" y="63309"/>
                  </a:moveTo>
                  <a:lnTo>
                    <a:pt x="25581" y="63309"/>
                  </a:lnTo>
                  <a:lnTo>
                    <a:pt x="50979" y="63677"/>
                  </a:lnTo>
                  <a:lnTo>
                    <a:pt x="50794" y="76377"/>
                  </a:lnTo>
                  <a:lnTo>
                    <a:pt x="76191" y="76746"/>
                  </a:lnTo>
                  <a:lnTo>
                    <a:pt x="69714" y="63309"/>
                  </a:lnTo>
                  <a:close/>
                </a:path>
                <a:path w="76200" h="404495" extrusionOk="0">
                  <a:moveTo>
                    <a:pt x="25581" y="63309"/>
                  </a:moveTo>
                  <a:lnTo>
                    <a:pt x="25397" y="76008"/>
                  </a:lnTo>
                  <a:lnTo>
                    <a:pt x="50794" y="76377"/>
                  </a:lnTo>
                  <a:lnTo>
                    <a:pt x="50979" y="63677"/>
                  </a:lnTo>
                  <a:lnTo>
                    <a:pt x="25581" y="63309"/>
                  </a:lnTo>
                  <a:close/>
                </a:path>
                <a:path w="76200" h="404495" extrusionOk="0">
                  <a:moveTo>
                    <a:pt x="39201" y="0"/>
                  </a:moveTo>
                  <a:lnTo>
                    <a:pt x="0" y="75639"/>
                  </a:lnTo>
                  <a:lnTo>
                    <a:pt x="25397" y="76008"/>
                  </a:lnTo>
                  <a:lnTo>
                    <a:pt x="25581" y="63309"/>
                  </a:lnTo>
                  <a:lnTo>
                    <a:pt x="69714" y="63309"/>
                  </a:lnTo>
                  <a:lnTo>
                    <a:pt x="3920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127" name="Google Shape;1127;p26"/>
            <p:cNvPicPr preferRelativeResize="0"/>
            <p:nvPr/>
          </p:nvPicPr>
          <p:blipFill rotWithShape="1">
            <a:blip r:embed="rId8">
              <a:alphaModFix/>
            </a:blip>
            <a:srcRect/>
            <a:stretch/>
          </p:blipFill>
          <p:spPr>
            <a:xfrm>
              <a:off x="6419682" y="5235200"/>
              <a:ext cx="639705" cy="640079"/>
            </a:xfrm>
            <a:prstGeom prst="rect">
              <a:avLst/>
            </a:prstGeom>
            <a:noFill/>
            <a:ln>
              <a:noFill/>
            </a:ln>
          </p:spPr>
        </p:pic>
        <p:sp>
          <p:nvSpPr>
            <p:cNvPr id="1128" name="Google Shape;1128;p26"/>
            <p:cNvSpPr/>
            <p:nvPr/>
          </p:nvSpPr>
          <p:spPr>
            <a:xfrm>
              <a:off x="6978379"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9" name="Google Shape;1129;p26"/>
            <p:cNvSpPr/>
            <p:nvPr/>
          </p:nvSpPr>
          <p:spPr>
            <a:xfrm>
              <a:off x="6978379"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30" name="Google Shape;1130;p26"/>
          <p:cNvGrpSpPr/>
          <p:nvPr/>
        </p:nvGrpSpPr>
        <p:grpSpPr>
          <a:xfrm>
            <a:off x="7207347" y="4400222"/>
            <a:ext cx="668588" cy="1475057"/>
            <a:chOff x="7207347" y="4400222"/>
            <a:chExt cx="668588" cy="1475057"/>
          </a:xfrm>
        </p:grpSpPr>
        <p:sp>
          <p:nvSpPr>
            <p:cNvPr id="1131" name="Google Shape;1131;p26"/>
            <p:cNvSpPr/>
            <p:nvPr/>
          </p:nvSpPr>
          <p:spPr>
            <a:xfrm>
              <a:off x="7458613"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2" name="Google Shape;1132;p26"/>
            <p:cNvSpPr/>
            <p:nvPr/>
          </p:nvSpPr>
          <p:spPr>
            <a:xfrm>
              <a:off x="7458613"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3" name="Google Shape;1133;p26"/>
            <p:cNvSpPr/>
            <p:nvPr/>
          </p:nvSpPr>
          <p:spPr>
            <a:xfrm>
              <a:off x="7485566" y="4831110"/>
              <a:ext cx="76200" cy="404495"/>
            </a:xfrm>
            <a:custGeom>
              <a:avLst/>
              <a:gdLst/>
              <a:ahLst/>
              <a:cxnLst/>
              <a:rect l="l" t="t" r="r" b="b"/>
              <a:pathLst>
                <a:path w="76200" h="404495" extrusionOk="0">
                  <a:moveTo>
                    <a:pt x="50799" y="76190"/>
                  </a:moveTo>
                  <a:lnTo>
                    <a:pt x="25399" y="76210"/>
                  </a:lnTo>
                  <a:lnTo>
                    <a:pt x="25660" y="404110"/>
                  </a:lnTo>
                  <a:lnTo>
                    <a:pt x="51060" y="404089"/>
                  </a:lnTo>
                  <a:lnTo>
                    <a:pt x="50799" y="76190"/>
                  </a:lnTo>
                  <a:close/>
                </a:path>
                <a:path w="76200" h="404495" extrusionOk="0">
                  <a:moveTo>
                    <a:pt x="38039" y="0"/>
                  </a:moveTo>
                  <a:lnTo>
                    <a:pt x="0" y="76230"/>
                  </a:lnTo>
                  <a:lnTo>
                    <a:pt x="25399" y="76210"/>
                  </a:lnTo>
                  <a:lnTo>
                    <a:pt x="25389" y="63510"/>
                  </a:lnTo>
                  <a:lnTo>
                    <a:pt x="69846" y="63489"/>
                  </a:lnTo>
                  <a:lnTo>
                    <a:pt x="38039" y="0"/>
                  </a:lnTo>
                  <a:close/>
                </a:path>
                <a:path w="76200" h="404495" extrusionOk="0">
                  <a:moveTo>
                    <a:pt x="50789" y="63489"/>
                  </a:moveTo>
                  <a:lnTo>
                    <a:pt x="25389" y="63510"/>
                  </a:lnTo>
                  <a:lnTo>
                    <a:pt x="25399" y="76210"/>
                  </a:lnTo>
                  <a:lnTo>
                    <a:pt x="50799" y="76190"/>
                  </a:lnTo>
                  <a:lnTo>
                    <a:pt x="50789" y="63489"/>
                  </a:lnTo>
                  <a:close/>
                </a:path>
                <a:path w="76200" h="404495" extrusionOk="0">
                  <a:moveTo>
                    <a:pt x="69846" y="63489"/>
                  </a:moveTo>
                  <a:lnTo>
                    <a:pt x="50789" y="63489"/>
                  </a:lnTo>
                  <a:lnTo>
                    <a:pt x="50799" y="76190"/>
                  </a:lnTo>
                  <a:lnTo>
                    <a:pt x="76200" y="76170"/>
                  </a:lnTo>
                  <a:lnTo>
                    <a:pt x="69846"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134" name="Google Shape;1134;p26"/>
            <p:cNvPicPr preferRelativeResize="0"/>
            <p:nvPr/>
          </p:nvPicPr>
          <p:blipFill rotWithShape="1">
            <a:blip r:embed="rId9">
              <a:alphaModFix/>
            </a:blip>
            <a:srcRect/>
            <a:stretch/>
          </p:blipFill>
          <p:spPr>
            <a:xfrm>
              <a:off x="7207347" y="5235200"/>
              <a:ext cx="641197" cy="640079"/>
            </a:xfrm>
            <a:prstGeom prst="rect">
              <a:avLst/>
            </a:prstGeom>
            <a:noFill/>
            <a:ln>
              <a:noFill/>
            </a:ln>
          </p:spPr>
        </p:pic>
        <p:sp>
          <p:nvSpPr>
            <p:cNvPr id="1135" name="Google Shape;1135;p26"/>
            <p:cNvSpPr/>
            <p:nvPr/>
          </p:nvSpPr>
          <p:spPr>
            <a:xfrm>
              <a:off x="7745760"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6" name="Google Shape;1136;p26"/>
            <p:cNvSpPr/>
            <p:nvPr/>
          </p:nvSpPr>
          <p:spPr>
            <a:xfrm>
              <a:off x="7745760"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37" name="Google Shape;1137;p26"/>
          <p:cNvGrpSpPr/>
          <p:nvPr/>
        </p:nvGrpSpPr>
        <p:grpSpPr>
          <a:xfrm>
            <a:off x="7970093" y="4400222"/>
            <a:ext cx="681844" cy="1475057"/>
            <a:chOff x="7970093" y="4400222"/>
            <a:chExt cx="681844" cy="1475057"/>
          </a:xfrm>
        </p:grpSpPr>
        <p:sp>
          <p:nvSpPr>
            <p:cNvPr id="1138" name="Google Shape;1138;p26"/>
            <p:cNvSpPr/>
            <p:nvPr/>
          </p:nvSpPr>
          <p:spPr>
            <a:xfrm>
              <a:off x="8234614"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9" name="Google Shape;1139;p26"/>
            <p:cNvSpPr/>
            <p:nvPr/>
          </p:nvSpPr>
          <p:spPr>
            <a:xfrm>
              <a:off x="8234614"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0" name="Google Shape;1140;p26"/>
            <p:cNvSpPr/>
            <p:nvPr/>
          </p:nvSpPr>
          <p:spPr>
            <a:xfrm>
              <a:off x="8261567"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141" name="Google Shape;1141;p26"/>
            <p:cNvPicPr preferRelativeResize="0"/>
            <p:nvPr/>
          </p:nvPicPr>
          <p:blipFill rotWithShape="1">
            <a:blip r:embed="rId10">
              <a:alphaModFix/>
            </a:blip>
            <a:srcRect/>
            <a:stretch/>
          </p:blipFill>
          <p:spPr>
            <a:xfrm>
              <a:off x="7970093" y="5235200"/>
              <a:ext cx="641205" cy="640079"/>
            </a:xfrm>
            <a:prstGeom prst="rect">
              <a:avLst/>
            </a:prstGeom>
            <a:noFill/>
            <a:ln>
              <a:noFill/>
            </a:ln>
          </p:spPr>
        </p:pic>
        <p:sp>
          <p:nvSpPr>
            <p:cNvPr id="1142" name="Google Shape;1142;p26"/>
            <p:cNvSpPr/>
            <p:nvPr/>
          </p:nvSpPr>
          <p:spPr>
            <a:xfrm>
              <a:off x="8521762"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3" name="Google Shape;1143;p26"/>
            <p:cNvSpPr/>
            <p:nvPr/>
          </p:nvSpPr>
          <p:spPr>
            <a:xfrm>
              <a:off x="8521762"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44" name="Google Shape;1144;p26"/>
          <p:cNvGrpSpPr/>
          <p:nvPr/>
        </p:nvGrpSpPr>
        <p:grpSpPr>
          <a:xfrm>
            <a:off x="8744502" y="4400222"/>
            <a:ext cx="684186" cy="1475057"/>
            <a:chOff x="8744502" y="4400222"/>
            <a:chExt cx="684186" cy="1475057"/>
          </a:xfrm>
        </p:grpSpPr>
        <p:sp>
          <p:nvSpPr>
            <p:cNvPr id="1145" name="Google Shape;1145;p26"/>
            <p:cNvSpPr/>
            <p:nvPr/>
          </p:nvSpPr>
          <p:spPr>
            <a:xfrm>
              <a:off x="9011366"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6" name="Google Shape;1146;p26"/>
            <p:cNvSpPr/>
            <p:nvPr/>
          </p:nvSpPr>
          <p:spPr>
            <a:xfrm>
              <a:off x="9011366"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7" name="Google Shape;1147;p26"/>
            <p:cNvSpPr/>
            <p:nvPr/>
          </p:nvSpPr>
          <p:spPr>
            <a:xfrm>
              <a:off x="9038318"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148" name="Google Shape;1148;p26"/>
            <p:cNvPicPr preferRelativeResize="0"/>
            <p:nvPr/>
          </p:nvPicPr>
          <p:blipFill rotWithShape="1">
            <a:blip r:embed="rId11">
              <a:alphaModFix/>
            </a:blip>
            <a:srcRect/>
            <a:stretch/>
          </p:blipFill>
          <p:spPr>
            <a:xfrm>
              <a:off x="8744502" y="5235200"/>
              <a:ext cx="641206" cy="640079"/>
            </a:xfrm>
            <a:prstGeom prst="rect">
              <a:avLst/>
            </a:prstGeom>
            <a:noFill/>
            <a:ln>
              <a:noFill/>
            </a:ln>
          </p:spPr>
        </p:pic>
        <p:sp>
          <p:nvSpPr>
            <p:cNvPr id="1149" name="Google Shape;1149;p26"/>
            <p:cNvSpPr/>
            <p:nvPr/>
          </p:nvSpPr>
          <p:spPr>
            <a:xfrm>
              <a:off x="9298513"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0" name="Google Shape;1150;p26"/>
            <p:cNvSpPr/>
            <p:nvPr/>
          </p:nvSpPr>
          <p:spPr>
            <a:xfrm>
              <a:off x="9298513"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151" name="Google Shape;1151;p26"/>
          <p:cNvSpPr txBox="1"/>
          <p:nvPr/>
        </p:nvSpPr>
        <p:spPr>
          <a:xfrm>
            <a:off x="273194" y="3559555"/>
            <a:ext cx="2190115" cy="1278255"/>
          </a:xfrm>
          <a:prstGeom prst="rect">
            <a:avLst/>
          </a:prstGeom>
          <a:noFill/>
          <a:ln>
            <a:noFill/>
          </a:ln>
        </p:spPr>
        <p:txBody>
          <a:bodyPr spcFirstLastPara="1" wrap="square" lIns="0" tIns="13950" rIns="0" bIns="0" anchor="t" anchorCtr="0">
            <a:spAutoFit/>
          </a:bodyPr>
          <a:lstStyle/>
          <a:p>
            <a:pPr marL="12700" marR="5080" lvl="0" indent="0" algn="l"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Add positional embedding: learned D- dim vector per position</a:t>
            </a:r>
            <a:endParaRPr sz="1800" b="0" i="0" u="none" strike="noStrike" cap="none">
              <a:solidFill>
                <a:srgbClr val="000000"/>
              </a:solidFill>
              <a:latin typeface="Calibri"/>
              <a:ea typeface="Calibri"/>
              <a:cs typeface="Calibri"/>
              <a:sym typeface="Calibri"/>
            </a:endParaRPr>
          </a:p>
          <a:p>
            <a:pPr marL="19685" marR="0" lvl="0" indent="0" algn="l" rtl="0">
              <a:lnSpc>
                <a:spcPct val="100000"/>
              </a:lnSpc>
              <a:spcBef>
                <a:spcPts val="125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a:t>
            </a:r>
            <a:endParaRPr sz="1800" b="0" i="0" u="none" strike="noStrike" cap="none">
              <a:solidFill>
                <a:srgbClr val="000000"/>
              </a:solidFill>
              <a:latin typeface="Calibri"/>
              <a:ea typeface="Calibri"/>
              <a:cs typeface="Calibri"/>
              <a:sym typeface="Calibri"/>
            </a:endParaRPr>
          </a:p>
        </p:txBody>
      </p:sp>
      <p:grpSp>
        <p:nvGrpSpPr>
          <p:cNvPr id="1152" name="Google Shape;1152;p26"/>
          <p:cNvGrpSpPr/>
          <p:nvPr/>
        </p:nvGrpSpPr>
        <p:grpSpPr>
          <a:xfrm>
            <a:off x="2961547" y="2096159"/>
            <a:ext cx="130810" cy="429895"/>
            <a:chOff x="2961547" y="2096159"/>
            <a:chExt cx="130810" cy="429895"/>
          </a:xfrm>
        </p:grpSpPr>
        <p:sp>
          <p:nvSpPr>
            <p:cNvPr id="1153" name="Google Shape;1153;p26"/>
            <p:cNvSpPr/>
            <p:nvPr/>
          </p:nvSpPr>
          <p:spPr>
            <a:xfrm>
              <a:off x="2961547" y="2096159"/>
              <a:ext cx="130810" cy="429895"/>
            </a:xfrm>
            <a:custGeom>
              <a:avLst/>
              <a:gdLst/>
              <a:ahLst/>
              <a:cxnLst/>
              <a:rect l="l" t="t" r="r" b="b"/>
              <a:pathLst>
                <a:path w="130810"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4" name="Google Shape;1154;p26"/>
            <p:cNvSpPr/>
            <p:nvPr/>
          </p:nvSpPr>
          <p:spPr>
            <a:xfrm>
              <a:off x="296154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55" name="Google Shape;1155;p26"/>
          <p:cNvGrpSpPr/>
          <p:nvPr/>
        </p:nvGrpSpPr>
        <p:grpSpPr>
          <a:xfrm>
            <a:off x="3737768" y="2099950"/>
            <a:ext cx="130810" cy="429895"/>
            <a:chOff x="3737768" y="2099950"/>
            <a:chExt cx="130810" cy="429895"/>
          </a:xfrm>
        </p:grpSpPr>
        <p:sp>
          <p:nvSpPr>
            <p:cNvPr id="1156" name="Google Shape;1156;p26"/>
            <p:cNvSpPr/>
            <p:nvPr/>
          </p:nvSpPr>
          <p:spPr>
            <a:xfrm>
              <a:off x="3737768"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7" name="Google Shape;1157;p26"/>
            <p:cNvSpPr/>
            <p:nvPr/>
          </p:nvSpPr>
          <p:spPr>
            <a:xfrm>
              <a:off x="3737768"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58" name="Google Shape;1158;p26"/>
          <p:cNvGrpSpPr/>
          <p:nvPr/>
        </p:nvGrpSpPr>
        <p:grpSpPr>
          <a:xfrm>
            <a:off x="4513990" y="2096159"/>
            <a:ext cx="130810" cy="429895"/>
            <a:chOff x="4513990" y="2096159"/>
            <a:chExt cx="130810" cy="429895"/>
          </a:xfrm>
        </p:grpSpPr>
        <p:sp>
          <p:nvSpPr>
            <p:cNvPr id="1159" name="Google Shape;1159;p26"/>
            <p:cNvSpPr/>
            <p:nvPr/>
          </p:nvSpPr>
          <p:spPr>
            <a:xfrm>
              <a:off x="4513990"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0" name="Google Shape;1160;p26"/>
            <p:cNvSpPr/>
            <p:nvPr/>
          </p:nvSpPr>
          <p:spPr>
            <a:xfrm>
              <a:off x="4513990"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61" name="Google Shape;1161;p26"/>
          <p:cNvGrpSpPr/>
          <p:nvPr/>
        </p:nvGrpSpPr>
        <p:grpSpPr>
          <a:xfrm>
            <a:off x="5291261" y="2099950"/>
            <a:ext cx="130810" cy="429895"/>
            <a:chOff x="5291261" y="2099950"/>
            <a:chExt cx="130810" cy="429895"/>
          </a:xfrm>
        </p:grpSpPr>
        <p:sp>
          <p:nvSpPr>
            <p:cNvPr id="1162" name="Google Shape;1162;p26"/>
            <p:cNvSpPr/>
            <p:nvPr/>
          </p:nvSpPr>
          <p:spPr>
            <a:xfrm>
              <a:off x="5291261"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3" name="Google Shape;1163;p26"/>
            <p:cNvSpPr/>
            <p:nvPr/>
          </p:nvSpPr>
          <p:spPr>
            <a:xfrm>
              <a:off x="5291261"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64" name="Google Shape;1164;p26"/>
          <p:cNvGrpSpPr/>
          <p:nvPr/>
        </p:nvGrpSpPr>
        <p:grpSpPr>
          <a:xfrm>
            <a:off x="6063477" y="2096159"/>
            <a:ext cx="130810" cy="429895"/>
            <a:chOff x="6063477" y="2096159"/>
            <a:chExt cx="130810" cy="429895"/>
          </a:xfrm>
        </p:grpSpPr>
        <p:sp>
          <p:nvSpPr>
            <p:cNvPr id="1165" name="Google Shape;1165;p26"/>
            <p:cNvSpPr/>
            <p:nvPr/>
          </p:nvSpPr>
          <p:spPr>
            <a:xfrm>
              <a:off x="6063477"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6" name="Google Shape;1166;p26"/>
            <p:cNvSpPr/>
            <p:nvPr/>
          </p:nvSpPr>
          <p:spPr>
            <a:xfrm>
              <a:off x="606347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67" name="Google Shape;1167;p26"/>
          <p:cNvGrpSpPr/>
          <p:nvPr/>
        </p:nvGrpSpPr>
        <p:grpSpPr>
          <a:xfrm>
            <a:off x="6850202" y="2096159"/>
            <a:ext cx="130810" cy="429895"/>
            <a:chOff x="6850202" y="2096159"/>
            <a:chExt cx="130810" cy="429895"/>
          </a:xfrm>
        </p:grpSpPr>
        <p:sp>
          <p:nvSpPr>
            <p:cNvPr id="1168" name="Google Shape;1168;p26"/>
            <p:cNvSpPr/>
            <p:nvPr/>
          </p:nvSpPr>
          <p:spPr>
            <a:xfrm>
              <a:off x="6850202"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9" name="Google Shape;1169;p26"/>
            <p:cNvSpPr/>
            <p:nvPr/>
          </p:nvSpPr>
          <p:spPr>
            <a:xfrm>
              <a:off x="6850202"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70" name="Google Shape;1170;p26"/>
          <p:cNvGrpSpPr/>
          <p:nvPr/>
        </p:nvGrpSpPr>
        <p:grpSpPr>
          <a:xfrm>
            <a:off x="7617583" y="2096159"/>
            <a:ext cx="130810" cy="429895"/>
            <a:chOff x="7617583" y="2096159"/>
            <a:chExt cx="130810" cy="429895"/>
          </a:xfrm>
        </p:grpSpPr>
        <p:sp>
          <p:nvSpPr>
            <p:cNvPr id="1171" name="Google Shape;1171;p26"/>
            <p:cNvSpPr/>
            <p:nvPr/>
          </p:nvSpPr>
          <p:spPr>
            <a:xfrm>
              <a:off x="7617583"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2" name="Google Shape;1172;p26"/>
            <p:cNvSpPr/>
            <p:nvPr/>
          </p:nvSpPr>
          <p:spPr>
            <a:xfrm>
              <a:off x="7617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73" name="Google Shape;1173;p26"/>
          <p:cNvGrpSpPr/>
          <p:nvPr/>
        </p:nvGrpSpPr>
        <p:grpSpPr>
          <a:xfrm>
            <a:off x="8393583" y="2096159"/>
            <a:ext cx="130810" cy="429895"/>
            <a:chOff x="8393583" y="2096159"/>
            <a:chExt cx="130810" cy="429895"/>
          </a:xfrm>
        </p:grpSpPr>
        <p:sp>
          <p:nvSpPr>
            <p:cNvPr id="1174" name="Google Shape;1174;p26"/>
            <p:cNvSpPr/>
            <p:nvPr/>
          </p:nvSpPr>
          <p:spPr>
            <a:xfrm>
              <a:off x="8393583"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5" name="Google Shape;1175;p26"/>
            <p:cNvSpPr/>
            <p:nvPr/>
          </p:nvSpPr>
          <p:spPr>
            <a:xfrm>
              <a:off x="8393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76" name="Google Shape;1176;p26"/>
          <p:cNvGrpSpPr/>
          <p:nvPr/>
        </p:nvGrpSpPr>
        <p:grpSpPr>
          <a:xfrm>
            <a:off x="9170334" y="2096159"/>
            <a:ext cx="130810" cy="429895"/>
            <a:chOff x="9170334" y="2096159"/>
            <a:chExt cx="130810" cy="429895"/>
          </a:xfrm>
        </p:grpSpPr>
        <p:sp>
          <p:nvSpPr>
            <p:cNvPr id="1177" name="Google Shape;1177;p26"/>
            <p:cNvSpPr/>
            <p:nvPr/>
          </p:nvSpPr>
          <p:spPr>
            <a:xfrm>
              <a:off x="9170334"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8" name="Google Shape;1178;p26"/>
            <p:cNvSpPr/>
            <p:nvPr/>
          </p:nvSpPr>
          <p:spPr>
            <a:xfrm>
              <a:off x="9170334"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179" name="Google Shape;1179;p26"/>
          <p:cNvSpPr txBox="1"/>
          <p:nvPr/>
        </p:nvSpPr>
        <p:spPr>
          <a:xfrm>
            <a:off x="451943" y="2038603"/>
            <a:ext cx="141478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Output vectors</a:t>
            </a:r>
            <a:endParaRPr sz="1800" b="0" i="0" u="none" strike="noStrike" cap="none">
              <a:solidFill>
                <a:srgbClr val="000000"/>
              </a:solidFill>
              <a:latin typeface="Calibri"/>
              <a:ea typeface="Calibri"/>
              <a:cs typeface="Calibri"/>
              <a:sym typeface="Calibri"/>
            </a:endParaRPr>
          </a:p>
        </p:txBody>
      </p:sp>
      <p:sp>
        <p:nvSpPr>
          <p:cNvPr id="1180" name="Google Shape;1180;p26"/>
          <p:cNvSpPr txBox="1"/>
          <p:nvPr/>
        </p:nvSpPr>
        <p:spPr>
          <a:xfrm>
            <a:off x="282081" y="2757932"/>
            <a:ext cx="1644014" cy="565150"/>
          </a:xfrm>
          <a:prstGeom prst="rect">
            <a:avLst/>
          </a:prstGeom>
          <a:noFill/>
          <a:ln>
            <a:noFill/>
          </a:ln>
        </p:spPr>
        <p:txBody>
          <a:bodyPr spcFirstLastPara="1" wrap="square" lIns="0" tIns="28575" rIns="0" bIns="0" anchor="t" anchorCtr="0">
            <a:spAutoFit/>
          </a:bodyPr>
          <a:lstStyle/>
          <a:p>
            <a:pPr marL="12700" marR="5080" lvl="0" indent="165735" algn="l" rtl="0">
              <a:lnSpc>
                <a:spcPct val="116111"/>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Exact same as NLP Transformer!</a:t>
            </a:r>
            <a:endParaRPr sz="1800" b="0" i="0" u="none" strike="noStrike" cap="none">
              <a:solidFill>
                <a:srgbClr val="000000"/>
              </a:solidFill>
              <a:latin typeface="Calibri"/>
              <a:ea typeface="Calibri"/>
              <a:cs typeface="Calibri"/>
              <a:sym typeface="Calibri"/>
            </a:endParaRPr>
          </a:p>
        </p:txBody>
      </p:sp>
      <p:grpSp>
        <p:nvGrpSpPr>
          <p:cNvPr id="1181" name="Google Shape;1181;p26"/>
          <p:cNvGrpSpPr/>
          <p:nvPr/>
        </p:nvGrpSpPr>
        <p:grpSpPr>
          <a:xfrm>
            <a:off x="9843405" y="3627475"/>
            <a:ext cx="130175" cy="431165"/>
            <a:chOff x="9843405" y="3627475"/>
            <a:chExt cx="130175" cy="431165"/>
          </a:xfrm>
        </p:grpSpPr>
        <p:sp>
          <p:nvSpPr>
            <p:cNvPr id="1182" name="Google Shape;1182;p26"/>
            <p:cNvSpPr/>
            <p:nvPr/>
          </p:nvSpPr>
          <p:spPr>
            <a:xfrm>
              <a:off x="9843405"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8FAAD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3" name="Google Shape;1183;p26"/>
            <p:cNvSpPr/>
            <p:nvPr/>
          </p:nvSpPr>
          <p:spPr>
            <a:xfrm>
              <a:off x="984340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84" name="Google Shape;1184;p26"/>
          <p:cNvGrpSpPr/>
          <p:nvPr/>
        </p:nvGrpSpPr>
        <p:grpSpPr>
          <a:xfrm>
            <a:off x="9842760" y="1231831"/>
            <a:ext cx="130810" cy="1294223"/>
            <a:chOff x="9842760" y="1231831"/>
            <a:chExt cx="130810" cy="1294223"/>
          </a:xfrm>
        </p:grpSpPr>
        <p:sp>
          <p:nvSpPr>
            <p:cNvPr id="1185" name="Google Shape;1185;p26"/>
            <p:cNvSpPr/>
            <p:nvPr/>
          </p:nvSpPr>
          <p:spPr>
            <a:xfrm>
              <a:off x="9842760"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D96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6" name="Google Shape;1186;p26"/>
            <p:cNvSpPr/>
            <p:nvPr/>
          </p:nvSpPr>
          <p:spPr>
            <a:xfrm>
              <a:off x="9842760"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7" name="Google Shape;1187;p26"/>
            <p:cNvSpPr/>
            <p:nvPr/>
          </p:nvSpPr>
          <p:spPr>
            <a:xfrm>
              <a:off x="9842760" y="1231831"/>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DEEB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8" name="Google Shape;1188;p26"/>
            <p:cNvSpPr/>
            <p:nvPr/>
          </p:nvSpPr>
          <p:spPr>
            <a:xfrm>
              <a:off x="9842760" y="1231831"/>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5B9B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9" name="Google Shape;1189;p26"/>
            <p:cNvSpPr/>
            <p:nvPr/>
          </p:nvSpPr>
          <p:spPr>
            <a:xfrm>
              <a:off x="9869976" y="1661599"/>
              <a:ext cx="76200" cy="434975"/>
            </a:xfrm>
            <a:custGeom>
              <a:avLst/>
              <a:gdLst/>
              <a:ahLst/>
              <a:cxnLst/>
              <a:rect l="l" t="t" r="r" b="b"/>
              <a:pathLst>
                <a:path w="76200" h="434975" extrusionOk="0">
                  <a:moveTo>
                    <a:pt x="50800" y="63500"/>
                  </a:moveTo>
                  <a:lnTo>
                    <a:pt x="25400" y="63500"/>
                  </a:lnTo>
                  <a:lnTo>
                    <a:pt x="25400" y="434559"/>
                  </a:lnTo>
                  <a:lnTo>
                    <a:pt x="50800" y="434559"/>
                  </a:lnTo>
                  <a:lnTo>
                    <a:pt x="50800" y="63500"/>
                  </a:lnTo>
                  <a:close/>
                </a:path>
                <a:path w="76200" h="434975" extrusionOk="0">
                  <a:moveTo>
                    <a:pt x="38100" y="0"/>
                  </a:moveTo>
                  <a:lnTo>
                    <a:pt x="0" y="76200"/>
                  </a:lnTo>
                  <a:lnTo>
                    <a:pt x="25400" y="76200"/>
                  </a:lnTo>
                  <a:lnTo>
                    <a:pt x="25400" y="63500"/>
                  </a:lnTo>
                  <a:lnTo>
                    <a:pt x="69850" y="63500"/>
                  </a:lnTo>
                  <a:lnTo>
                    <a:pt x="38100" y="0"/>
                  </a:lnTo>
                  <a:close/>
                </a:path>
                <a:path w="76200" h="434975" extrusionOk="0">
                  <a:moveTo>
                    <a:pt x="69850" y="63500"/>
                  </a:moveTo>
                  <a:lnTo>
                    <a:pt x="50800" y="63500"/>
                  </a:lnTo>
                  <a:lnTo>
                    <a:pt x="50800" y="76200"/>
                  </a:lnTo>
                  <a:lnTo>
                    <a:pt x="76200" y="76200"/>
                  </a:lnTo>
                  <a:lnTo>
                    <a:pt x="69850" y="6350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190" name="Google Shape;1190;p26"/>
          <p:cNvSpPr txBox="1"/>
          <p:nvPr/>
        </p:nvSpPr>
        <p:spPr>
          <a:xfrm>
            <a:off x="10220266" y="3498595"/>
            <a:ext cx="1830070" cy="845819"/>
          </a:xfrm>
          <a:prstGeom prst="rect">
            <a:avLst/>
          </a:prstGeom>
          <a:noFill/>
          <a:ln>
            <a:noFill/>
          </a:ln>
        </p:spPr>
        <p:txBody>
          <a:bodyPr spcFirstLastPara="1" wrap="square" lIns="0" tIns="13950" rIns="0" bIns="0" anchor="t" anchorCtr="0">
            <a:spAutoFit/>
          </a:bodyPr>
          <a:lstStyle/>
          <a:p>
            <a:pPr marL="12700" marR="5080" lvl="0" indent="0" algn="just"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Special extra input: </a:t>
            </a:r>
            <a:r>
              <a:rPr lang="en-US" sz="1800" b="1" i="0" u="none" strike="noStrike" cap="none">
                <a:solidFill>
                  <a:srgbClr val="000000"/>
                </a:solidFill>
                <a:latin typeface="Calibri"/>
                <a:ea typeface="Calibri"/>
                <a:cs typeface="Calibri"/>
                <a:sym typeface="Calibri"/>
              </a:rPr>
              <a:t>classification token </a:t>
            </a:r>
            <a:r>
              <a:rPr lang="en-US" sz="1800" b="0" i="0" u="none" strike="noStrike" cap="none">
                <a:solidFill>
                  <a:srgbClr val="000000"/>
                </a:solidFill>
                <a:latin typeface="Calibri"/>
                <a:ea typeface="Calibri"/>
                <a:cs typeface="Calibri"/>
                <a:sym typeface="Calibri"/>
              </a:rPr>
              <a:t>(D dims, learned)</a:t>
            </a:r>
            <a:endParaRPr sz="1800" b="0" i="0" u="none" strike="noStrike" cap="none">
              <a:solidFill>
                <a:srgbClr val="000000"/>
              </a:solidFill>
              <a:latin typeface="Calibri"/>
              <a:ea typeface="Calibri"/>
              <a:cs typeface="Calibri"/>
              <a:sym typeface="Calibri"/>
            </a:endParaRPr>
          </a:p>
        </p:txBody>
      </p:sp>
      <p:grpSp>
        <p:nvGrpSpPr>
          <p:cNvPr id="1191" name="Google Shape;1191;p26"/>
          <p:cNvGrpSpPr/>
          <p:nvPr/>
        </p:nvGrpSpPr>
        <p:grpSpPr>
          <a:xfrm>
            <a:off x="2959741" y="3627475"/>
            <a:ext cx="130175" cy="431165"/>
            <a:chOff x="2959741" y="3627475"/>
            <a:chExt cx="130175" cy="431165"/>
          </a:xfrm>
        </p:grpSpPr>
        <p:sp>
          <p:nvSpPr>
            <p:cNvPr id="1192" name="Google Shape;1192;p26"/>
            <p:cNvSpPr/>
            <p:nvPr/>
          </p:nvSpPr>
          <p:spPr>
            <a:xfrm>
              <a:off x="2959741"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3" name="Google Shape;1193;p26"/>
            <p:cNvSpPr/>
            <p:nvPr/>
          </p:nvSpPr>
          <p:spPr>
            <a:xfrm>
              <a:off x="295974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94" name="Google Shape;1194;p26"/>
          <p:cNvGrpSpPr/>
          <p:nvPr/>
        </p:nvGrpSpPr>
        <p:grpSpPr>
          <a:xfrm>
            <a:off x="3735962" y="3631266"/>
            <a:ext cx="130175" cy="431165"/>
            <a:chOff x="3735962" y="3631266"/>
            <a:chExt cx="130175" cy="431165"/>
          </a:xfrm>
        </p:grpSpPr>
        <p:sp>
          <p:nvSpPr>
            <p:cNvPr id="1195" name="Google Shape;1195;p26"/>
            <p:cNvSpPr/>
            <p:nvPr/>
          </p:nvSpPr>
          <p:spPr>
            <a:xfrm>
              <a:off x="3735962"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6" name="Google Shape;1196;p26"/>
            <p:cNvSpPr/>
            <p:nvPr/>
          </p:nvSpPr>
          <p:spPr>
            <a:xfrm>
              <a:off x="3735962"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97" name="Google Shape;1197;p26"/>
          <p:cNvGrpSpPr/>
          <p:nvPr/>
        </p:nvGrpSpPr>
        <p:grpSpPr>
          <a:xfrm>
            <a:off x="4512184" y="3627475"/>
            <a:ext cx="130175" cy="431165"/>
            <a:chOff x="4512184" y="3627475"/>
            <a:chExt cx="130175" cy="431165"/>
          </a:xfrm>
        </p:grpSpPr>
        <p:sp>
          <p:nvSpPr>
            <p:cNvPr id="1198" name="Google Shape;1198;p26"/>
            <p:cNvSpPr/>
            <p:nvPr/>
          </p:nvSpPr>
          <p:spPr>
            <a:xfrm>
              <a:off x="4512184"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9" name="Google Shape;1199;p26"/>
            <p:cNvSpPr/>
            <p:nvPr/>
          </p:nvSpPr>
          <p:spPr>
            <a:xfrm>
              <a:off x="4512184"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200" name="Google Shape;1200;p26"/>
          <p:cNvGrpSpPr/>
          <p:nvPr/>
        </p:nvGrpSpPr>
        <p:grpSpPr>
          <a:xfrm>
            <a:off x="5289456" y="3631266"/>
            <a:ext cx="130175" cy="431165"/>
            <a:chOff x="5289456" y="3631266"/>
            <a:chExt cx="130175" cy="431165"/>
          </a:xfrm>
        </p:grpSpPr>
        <p:sp>
          <p:nvSpPr>
            <p:cNvPr id="1201" name="Google Shape;1201;p26"/>
            <p:cNvSpPr/>
            <p:nvPr/>
          </p:nvSpPr>
          <p:spPr>
            <a:xfrm>
              <a:off x="5289456"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2" name="Google Shape;1202;p26"/>
            <p:cNvSpPr/>
            <p:nvPr/>
          </p:nvSpPr>
          <p:spPr>
            <a:xfrm>
              <a:off x="5289456"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203" name="Google Shape;1203;p26"/>
          <p:cNvGrpSpPr/>
          <p:nvPr/>
        </p:nvGrpSpPr>
        <p:grpSpPr>
          <a:xfrm>
            <a:off x="6061671" y="3627475"/>
            <a:ext cx="130175" cy="431165"/>
            <a:chOff x="6061671" y="3627475"/>
            <a:chExt cx="130175" cy="431165"/>
          </a:xfrm>
        </p:grpSpPr>
        <p:sp>
          <p:nvSpPr>
            <p:cNvPr id="1204" name="Google Shape;1204;p26"/>
            <p:cNvSpPr/>
            <p:nvPr/>
          </p:nvSpPr>
          <p:spPr>
            <a:xfrm>
              <a:off x="6061671"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5" name="Google Shape;1205;p26"/>
            <p:cNvSpPr/>
            <p:nvPr/>
          </p:nvSpPr>
          <p:spPr>
            <a:xfrm>
              <a:off x="606167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206" name="Google Shape;1206;p26"/>
          <p:cNvGrpSpPr/>
          <p:nvPr/>
        </p:nvGrpSpPr>
        <p:grpSpPr>
          <a:xfrm>
            <a:off x="6848395" y="3627475"/>
            <a:ext cx="130175" cy="431165"/>
            <a:chOff x="6848395" y="3627475"/>
            <a:chExt cx="130175" cy="431165"/>
          </a:xfrm>
        </p:grpSpPr>
        <p:sp>
          <p:nvSpPr>
            <p:cNvPr id="1207" name="Google Shape;1207;p26"/>
            <p:cNvSpPr/>
            <p:nvPr/>
          </p:nvSpPr>
          <p:spPr>
            <a:xfrm>
              <a:off x="6848395"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8" name="Google Shape;1208;p26"/>
            <p:cNvSpPr/>
            <p:nvPr/>
          </p:nvSpPr>
          <p:spPr>
            <a:xfrm>
              <a:off x="684839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209" name="Google Shape;1209;p26"/>
          <p:cNvGrpSpPr/>
          <p:nvPr/>
        </p:nvGrpSpPr>
        <p:grpSpPr>
          <a:xfrm>
            <a:off x="7615777" y="3627475"/>
            <a:ext cx="130175" cy="431165"/>
            <a:chOff x="7615777" y="3627475"/>
            <a:chExt cx="130175" cy="431165"/>
          </a:xfrm>
        </p:grpSpPr>
        <p:sp>
          <p:nvSpPr>
            <p:cNvPr id="1210" name="Google Shape;1210;p26"/>
            <p:cNvSpPr/>
            <p:nvPr/>
          </p:nvSpPr>
          <p:spPr>
            <a:xfrm>
              <a:off x="7615777"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1" name="Google Shape;1211;p26"/>
            <p:cNvSpPr/>
            <p:nvPr/>
          </p:nvSpPr>
          <p:spPr>
            <a:xfrm>
              <a:off x="7615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212" name="Google Shape;1212;p26"/>
          <p:cNvGrpSpPr/>
          <p:nvPr/>
        </p:nvGrpSpPr>
        <p:grpSpPr>
          <a:xfrm>
            <a:off x="8391777" y="3627475"/>
            <a:ext cx="130175" cy="431165"/>
            <a:chOff x="8391777" y="3627475"/>
            <a:chExt cx="130175" cy="431165"/>
          </a:xfrm>
        </p:grpSpPr>
        <p:sp>
          <p:nvSpPr>
            <p:cNvPr id="1213" name="Google Shape;1213;p26"/>
            <p:cNvSpPr/>
            <p:nvPr/>
          </p:nvSpPr>
          <p:spPr>
            <a:xfrm>
              <a:off x="8391777"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4" name="Google Shape;1214;p26"/>
            <p:cNvSpPr/>
            <p:nvPr/>
          </p:nvSpPr>
          <p:spPr>
            <a:xfrm>
              <a:off x="8391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215" name="Google Shape;1215;p26"/>
          <p:cNvGrpSpPr/>
          <p:nvPr/>
        </p:nvGrpSpPr>
        <p:grpSpPr>
          <a:xfrm>
            <a:off x="9168528" y="3627475"/>
            <a:ext cx="130175" cy="431165"/>
            <a:chOff x="9168528" y="3627475"/>
            <a:chExt cx="130175" cy="431165"/>
          </a:xfrm>
        </p:grpSpPr>
        <p:sp>
          <p:nvSpPr>
            <p:cNvPr id="1216" name="Google Shape;1216;p26"/>
            <p:cNvSpPr/>
            <p:nvPr/>
          </p:nvSpPr>
          <p:spPr>
            <a:xfrm>
              <a:off x="9168528"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7" name="Google Shape;1217;p26"/>
            <p:cNvSpPr/>
            <p:nvPr/>
          </p:nvSpPr>
          <p:spPr>
            <a:xfrm>
              <a:off x="9168528"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218" name="Google Shape;1218;p26"/>
          <p:cNvSpPr txBox="1"/>
          <p:nvPr/>
        </p:nvSpPr>
        <p:spPr>
          <a:xfrm>
            <a:off x="2936516" y="4004564"/>
            <a:ext cx="638429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	+	+	+	+	+	+	+	+</a:t>
            </a:r>
            <a:endParaRPr sz="2400" b="0" i="0" u="none" strike="noStrike" cap="none">
              <a:solidFill>
                <a:srgbClr val="000000"/>
              </a:solidFill>
              <a:latin typeface="Calibri"/>
              <a:ea typeface="Calibri"/>
              <a:cs typeface="Calibri"/>
              <a:sym typeface="Calibri"/>
            </a:endParaRPr>
          </a:p>
        </p:txBody>
      </p:sp>
      <p:sp>
        <p:nvSpPr>
          <p:cNvPr id="1219" name="Google Shape;1219;p26"/>
          <p:cNvSpPr txBox="1"/>
          <p:nvPr/>
        </p:nvSpPr>
        <p:spPr>
          <a:xfrm>
            <a:off x="10345797" y="1160779"/>
            <a:ext cx="1602740" cy="1125855"/>
          </a:xfrm>
          <a:prstGeom prst="rect">
            <a:avLst/>
          </a:prstGeom>
          <a:noFill/>
          <a:ln>
            <a:noFill/>
          </a:ln>
        </p:spPr>
        <p:txBody>
          <a:bodyPr spcFirstLastPara="1" wrap="square" lIns="0" tIns="11425" rIns="0" bIns="0" anchor="t" anchorCtr="0">
            <a:spAutoFit/>
          </a:bodyPr>
          <a:lstStyle/>
          <a:p>
            <a:pPr marL="12700" marR="5080" lvl="0" indent="0" algn="l" rtl="0">
              <a:lnSpc>
                <a:spcPct val="100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 C-dim vector of predicted class scores</a:t>
            </a:r>
            <a:endParaRPr sz="1800" b="0" i="0" u="none" strike="noStrike" cap="none">
              <a:solidFill>
                <a:srgbClr val="000000"/>
              </a:solidFill>
              <a:latin typeface="Calibri"/>
              <a:ea typeface="Calibri"/>
              <a:cs typeface="Calibri"/>
              <a:sym typeface="Calibri"/>
            </a:endParaRPr>
          </a:p>
        </p:txBody>
      </p:sp>
      <p:grpSp>
        <p:nvGrpSpPr>
          <p:cNvPr id="1220" name="Google Shape;1220;p26"/>
          <p:cNvGrpSpPr/>
          <p:nvPr/>
        </p:nvGrpSpPr>
        <p:grpSpPr>
          <a:xfrm>
            <a:off x="2535941" y="2675707"/>
            <a:ext cx="7881620" cy="769620"/>
            <a:chOff x="2535941" y="2675707"/>
            <a:chExt cx="7881620" cy="769620"/>
          </a:xfrm>
        </p:grpSpPr>
        <p:sp>
          <p:nvSpPr>
            <p:cNvPr id="1221" name="Google Shape;1221;p26"/>
            <p:cNvSpPr/>
            <p:nvPr/>
          </p:nvSpPr>
          <p:spPr>
            <a:xfrm>
              <a:off x="2535941" y="2675707"/>
              <a:ext cx="7881620" cy="769620"/>
            </a:xfrm>
            <a:custGeom>
              <a:avLst/>
              <a:gdLst/>
              <a:ahLst/>
              <a:cxnLst/>
              <a:rect l="l" t="t" r="r" b="b"/>
              <a:pathLst>
                <a:path w="7881620" h="769620" extrusionOk="0">
                  <a:moveTo>
                    <a:pt x="7753038" y="0"/>
                  </a:moveTo>
                  <a:lnTo>
                    <a:pt x="128234" y="0"/>
                  </a:lnTo>
                  <a:lnTo>
                    <a:pt x="78319" y="10077"/>
                  </a:lnTo>
                  <a:lnTo>
                    <a:pt x="37559" y="37559"/>
                  </a:lnTo>
                  <a:lnTo>
                    <a:pt x="10077" y="78319"/>
                  </a:lnTo>
                  <a:lnTo>
                    <a:pt x="0" y="128234"/>
                  </a:lnTo>
                  <a:lnTo>
                    <a:pt x="0" y="641184"/>
                  </a:lnTo>
                  <a:lnTo>
                    <a:pt x="10077" y="691099"/>
                  </a:lnTo>
                  <a:lnTo>
                    <a:pt x="37559" y="731860"/>
                  </a:lnTo>
                  <a:lnTo>
                    <a:pt x="78319" y="759341"/>
                  </a:lnTo>
                  <a:lnTo>
                    <a:pt x="128234" y="769419"/>
                  </a:lnTo>
                  <a:lnTo>
                    <a:pt x="7753038" y="769419"/>
                  </a:lnTo>
                  <a:lnTo>
                    <a:pt x="7802953" y="759341"/>
                  </a:lnTo>
                  <a:lnTo>
                    <a:pt x="7843714" y="731860"/>
                  </a:lnTo>
                  <a:lnTo>
                    <a:pt x="7871196" y="691099"/>
                  </a:lnTo>
                  <a:lnTo>
                    <a:pt x="7881273" y="641184"/>
                  </a:lnTo>
                  <a:lnTo>
                    <a:pt x="7881273" y="128234"/>
                  </a:lnTo>
                  <a:lnTo>
                    <a:pt x="7871196" y="78319"/>
                  </a:lnTo>
                  <a:lnTo>
                    <a:pt x="7843714" y="37559"/>
                  </a:lnTo>
                  <a:lnTo>
                    <a:pt x="7802953" y="10077"/>
                  </a:lnTo>
                  <a:lnTo>
                    <a:pt x="7753038" y="0"/>
                  </a:lnTo>
                  <a:close/>
                </a:path>
              </a:pathLst>
            </a:custGeom>
            <a:solidFill>
              <a:srgbClr val="E2F0D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22" name="Google Shape;1222;p26"/>
            <p:cNvSpPr/>
            <p:nvPr/>
          </p:nvSpPr>
          <p:spPr>
            <a:xfrm>
              <a:off x="2535941" y="2675707"/>
              <a:ext cx="7881620" cy="769620"/>
            </a:xfrm>
            <a:custGeom>
              <a:avLst/>
              <a:gdLst/>
              <a:ahLst/>
              <a:cxnLst/>
              <a:rect l="l" t="t" r="r" b="b"/>
              <a:pathLst>
                <a:path w="7881620" h="769620" extrusionOk="0">
                  <a:moveTo>
                    <a:pt x="0" y="128235"/>
                  </a:moveTo>
                  <a:lnTo>
                    <a:pt x="10077" y="78320"/>
                  </a:lnTo>
                  <a:lnTo>
                    <a:pt x="37559" y="37559"/>
                  </a:lnTo>
                  <a:lnTo>
                    <a:pt x="78319" y="10077"/>
                  </a:lnTo>
                  <a:lnTo>
                    <a:pt x="128234" y="0"/>
                  </a:lnTo>
                  <a:lnTo>
                    <a:pt x="7753040" y="0"/>
                  </a:lnTo>
                  <a:lnTo>
                    <a:pt x="7802954" y="10077"/>
                  </a:lnTo>
                  <a:lnTo>
                    <a:pt x="7843714" y="37559"/>
                  </a:lnTo>
                  <a:lnTo>
                    <a:pt x="7871196" y="78320"/>
                  </a:lnTo>
                  <a:lnTo>
                    <a:pt x="7881274" y="128235"/>
                  </a:lnTo>
                  <a:lnTo>
                    <a:pt x="7881274" y="641184"/>
                  </a:lnTo>
                  <a:lnTo>
                    <a:pt x="7871196" y="691099"/>
                  </a:lnTo>
                  <a:lnTo>
                    <a:pt x="7843714" y="731860"/>
                  </a:lnTo>
                  <a:lnTo>
                    <a:pt x="7802954" y="759342"/>
                  </a:lnTo>
                  <a:lnTo>
                    <a:pt x="7753040" y="769420"/>
                  </a:lnTo>
                  <a:lnTo>
                    <a:pt x="128234" y="769420"/>
                  </a:lnTo>
                  <a:lnTo>
                    <a:pt x="78319" y="759342"/>
                  </a:lnTo>
                  <a:lnTo>
                    <a:pt x="37559" y="731860"/>
                  </a:lnTo>
                  <a:lnTo>
                    <a:pt x="10077" y="691099"/>
                  </a:lnTo>
                  <a:lnTo>
                    <a:pt x="0" y="641184"/>
                  </a:lnTo>
                  <a:lnTo>
                    <a:pt x="0" y="128235"/>
                  </a:lnTo>
                  <a:close/>
                </a:path>
              </a:pathLst>
            </a:custGeom>
            <a:noFill/>
            <a:ln w="12700" cap="flat" cmpd="sng">
              <a:solidFill>
                <a:srgbClr val="70AD47"/>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223" name="Google Shape;1223;p26"/>
          <p:cNvSpPr txBox="1"/>
          <p:nvPr/>
        </p:nvSpPr>
        <p:spPr>
          <a:xfrm>
            <a:off x="5585417" y="2807715"/>
            <a:ext cx="178308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Transformer</a:t>
            </a:r>
            <a:endParaRPr sz="2800" b="0" i="0" u="none" strike="noStrike" cap="none">
              <a:solidFill>
                <a:srgbClr val="000000"/>
              </a:solidFill>
              <a:latin typeface="Calibri"/>
              <a:ea typeface="Calibri"/>
              <a:cs typeface="Calibri"/>
              <a:sym typeface="Calibri"/>
            </a:endParaRPr>
          </a:p>
        </p:txBody>
      </p:sp>
      <p:sp>
        <p:nvSpPr>
          <p:cNvPr id="1224" name="Google Shape;1224;p26"/>
          <p:cNvSpPr txBox="1"/>
          <p:nvPr/>
        </p:nvSpPr>
        <p:spPr>
          <a:xfrm>
            <a:off x="276038" y="4817126"/>
            <a:ext cx="2040889" cy="1021080"/>
          </a:xfrm>
          <a:prstGeom prst="rect">
            <a:avLst/>
          </a:prstGeom>
          <a:noFill/>
          <a:ln>
            <a:noFill/>
          </a:ln>
        </p:spPr>
        <p:txBody>
          <a:bodyPr spcFirstLastPara="1" wrap="square" lIns="0" tIns="1250" rIns="0" bIns="0" anchor="t" anchorCtr="0">
            <a:spAutoFit/>
          </a:bodyPr>
          <a:lstStyle/>
          <a:p>
            <a:pPr marL="17145"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D-dimensional vector</a:t>
            </a:r>
            <a:endParaRPr sz="1800" b="0" i="0" u="none" strike="noStrike" cap="none">
              <a:solidFill>
                <a:srgbClr val="000000"/>
              </a:solidFill>
              <a:latin typeface="Calibri"/>
              <a:ea typeface="Calibri"/>
              <a:cs typeface="Calibri"/>
              <a:sym typeface="Calibri"/>
            </a:endParaRPr>
          </a:p>
          <a:p>
            <a:pPr marL="12700" marR="5080" lvl="0" indent="0" algn="l" rtl="0">
              <a:lnSpc>
                <a:spcPct val="117222"/>
              </a:lnSpc>
              <a:spcBef>
                <a:spcPts val="148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N input patches, each of shape 3x16x16</a:t>
            </a:r>
            <a:endParaRPr sz="1800" b="0" i="0" u="none" strike="noStrike" cap="none">
              <a:solidFill>
                <a:srgbClr val="000000"/>
              </a:solidFill>
              <a:latin typeface="Calibri"/>
              <a:ea typeface="Calibri"/>
              <a:cs typeface="Calibri"/>
              <a:sym typeface="Calibri"/>
            </a:endParaRPr>
          </a:p>
        </p:txBody>
      </p:sp>
      <p:sp>
        <p:nvSpPr>
          <p:cNvPr id="1225" name="Google Shape;1225;p26"/>
          <p:cNvSpPr txBox="1"/>
          <p:nvPr/>
        </p:nvSpPr>
        <p:spPr>
          <a:xfrm>
            <a:off x="10251213" y="5962476"/>
            <a:ext cx="1861185" cy="375920"/>
          </a:xfrm>
          <a:prstGeom prst="rect">
            <a:avLst/>
          </a:prstGeom>
          <a:noFill/>
          <a:ln>
            <a:noFill/>
          </a:ln>
        </p:spPr>
        <p:txBody>
          <a:bodyPr spcFirstLastPara="1" wrap="square" lIns="0" tIns="1250" rIns="0" bIns="0" anchor="t" anchorCtr="0">
            <a:spAutoFit/>
          </a:bodyPr>
          <a:lstStyle/>
          <a:p>
            <a:pPr marL="296545" marR="5080" lvl="0" indent="-284480" algn="l" rtl="0">
              <a:lnSpc>
                <a:spcPct val="129090"/>
              </a:lnSpc>
              <a:spcBef>
                <a:spcPts val="0"/>
              </a:spcBef>
              <a:spcAft>
                <a:spcPts val="0"/>
              </a:spcAft>
              <a:buClr>
                <a:srgbClr val="0563C1"/>
              </a:buClr>
              <a:buSzPts val="1100"/>
              <a:buFont typeface="Arial"/>
              <a:buNone/>
            </a:pPr>
            <a:r>
              <a:rPr lang="en-US" sz="1100" b="0" i="0" u="sng" strike="noStrike" cap="none">
                <a:solidFill>
                  <a:srgbClr val="0563C1"/>
                </a:solidFill>
                <a:latin typeface="Calibri"/>
                <a:ea typeface="Calibri"/>
                <a:cs typeface="Calibri"/>
                <a:sym typeface="Calibri"/>
              </a:rPr>
              <a:t>Cat image</a:t>
            </a:r>
            <a:r>
              <a:rPr lang="en-US" sz="1100" b="0" i="0" u="none" strike="noStrike" cap="none">
                <a:solidFill>
                  <a:srgbClr val="0563C1"/>
                </a:solidFill>
                <a:latin typeface="Calibri"/>
                <a:ea typeface="Calibri"/>
                <a:cs typeface="Calibri"/>
                <a:sym typeface="Calibri"/>
              </a:rPr>
              <a:t> </a:t>
            </a:r>
            <a:r>
              <a:rPr lang="en-US" sz="1100" b="0" i="0" u="none" strike="noStrike" cap="none">
                <a:solidFill>
                  <a:srgbClr val="000000"/>
                </a:solidFill>
                <a:latin typeface="Calibri"/>
                <a:ea typeface="Calibri"/>
                <a:cs typeface="Calibri"/>
                <a:sym typeface="Calibri"/>
              </a:rPr>
              <a:t>is free for commercial use under a </a:t>
            </a:r>
            <a:r>
              <a:rPr lang="en-US" sz="1100" b="0" i="0" u="sng" strike="noStrike" cap="none">
                <a:solidFill>
                  <a:srgbClr val="0563C1"/>
                </a:solidFill>
                <a:latin typeface="Calibri"/>
                <a:ea typeface="Calibri"/>
                <a:cs typeface="Calibri"/>
                <a:sym typeface="Calibri"/>
              </a:rPr>
              <a:t>Pixabay license</a:t>
            </a:r>
            <a:endParaRPr sz="1100" b="0" i="0" u="none" strike="noStrike" cap="none">
              <a:solidFill>
                <a:srgbClr val="000000"/>
              </a:solidFill>
              <a:latin typeface="Calibri"/>
              <a:ea typeface="Calibri"/>
              <a:cs typeface="Calibri"/>
              <a:sym typeface="Calibri"/>
            </a:endParaRPr>
          </a:p>
        </p:txBody>
      </p:sp>
      <p:sp>
        <p:nvSpPr>
          <p:cNvPr id="1226" name="Google Shape;1226;p26"/>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1227" name="Google Shape;1227;p26"/>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31"/>
        <p:cNvGrpSpPr/>
        <p:nvPr/>
      </p:nvGrpSpPr>
      <p:grpSpPr>
        <a:xfrm>
          <a:off x="0" y="0"/>
          <a:ext cx="0" cy="0"/>
          <a:chOff x="0" y="0"/>
          <a:chExt cx="0" cy="0"/>
        </a:xfrm>
      </p:grpSpPr>
      <p:sp>
        <p:nvSpPr>
          <p:cNvPr id="1232" name="Google Shape;1232;p27"/>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a:t>
            </a:r>
            <a:endParaRPr/>
          </a:p>
        </p:txBody>
      </p:sp>
      <p:grpSp>
        <p:nvGrpSpPr>
          <p:cNvPr id="1233" name="Google Shape;1233;p27"/>
          <p:cNvGrpSpPr/>
          <p:nvPr/>
        </p:nvGrpSpPr>
        <p:grpSpPr>
          <a:xfrm>
            <a:off x="2535941" y="4400222"/>
            <a:ext cx="683958" cy="1475057"/>
            <a:chOff x="2535941" y="4400222"/>
            <a:chExt cx="683958" cy="1475057"/>
          </a:xfrm>
        </p:grpSpPr>
        <p:sp>
          <p:nvSpPr>
            <p:cNvPr id="1234" name="Google Shape;1234;p27"/>
            <p:cNvSpPr/>
            <p:nvPr/>
          </p:nvSpPr>
          <p:spPr>
            <a:xfrm>
              <a:off x="2802577"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35" name="Google Shape;1235;p27"/>
            <p:cNvSpPr/>
            <p:nvPr/>
          </p:nvSpPr>
          <p:spPr>
            <a:xfrm>
              <a:off x="2802577"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36" name="Google Shape;1236;p27"/>
            <p:cNvSpPr/>
            <p:nvPr/>
          </p:nvSpPr>
          <p:spPr>
            <a:xfrm>
              <a:off x="2829572" y="4831110"/>
              <a:ext cx="76200" cy="404495"/>
            </a:xfrm>
            <a:custGeom>
              <a:avLst/>
              <a:gdLst/>
              <a:ahLst/>
              <a:cxnLst/>
              <a:rect l="l" t="t" r="r" b="b"/>
              <a:pathLst>
                <a:path w="76200" h="404495" extrusionOk="0">
                  <a:moveTo>
                    <a:pt x="50799" y="76183"/>
                  </a:moveTo>
                  <a:lnTo>
                    <a:pt x="25399" y="76217"/>
                  </a:lnTo>
                  <a:lnTo>
                    <a:pt x="25840" y="404106"/>
                  </a:lnTo>
                  <a:lnTo>
                    <a:pt x="51240" y="404072"/>
                  </a:lnTo>
                  <a:lnTo>
                    <a:pt x="50799" y="76183"/>
                  </a:lnTo>
                  <a:close/>
                </a:path>
                <a:path w="76200" h="404495" extrusionOk="0">
                  <a:moveTo>
                    <a:pt x="37997" y="0"/>
                  </a:moveTo>
                  <a:lnTo>
                    <a:pt x="0" y="76252"/>
                  </a:lnTo>
                  <a:lnTo>
                    <a:pt x="25399" y="76217"/>
                  </a:lnTo>
                  <a:lnTo>
                    <a:pt x="25382" y="63517"/>
                  </a:lnTo>
                  <a:lnTo>
                    <a:pt x="69845" y="63483"/>
                  </a:lnTo>
                  <a:lnTo>
                    <a:pt x="37997" y="0"/>
                  </a:lnTo>
                  <a:close/>
                </a:path>
                <a:path w="76200" h="404495" extrusionOk="0">
                  <a:moveTo>
                    <a:pt x="50782" y="63483"/>
                  </a:moveTo>
                  <a:lnTo>
                    <a:pt x="25382" y="63517"/>
                  </a:lnTo>
                  <a:lnTo>
                    <a:pt x="25399" y="76217"/>
                  </a:lnTo>
                  <a:lnTo>
                    <a:pt x="50799" y="76183"/>
                  </a:lnTo>
                  <a:lnTo>
                    <a:pt x="50782" y="63483"/>
                  </a:lnTo>
                  <a:close/>
                </a:path>
                <a:path w="76200" h="404495" extrusionOk="0">
                  <a:moveTo>
                    <a:pt x="69845" y="63483"/>
                  </a:moveTo>
                  <a:lnTo>
                    <a:pt x="50782" y="63483"/>
                  </a:lnTo>
                  <a:lnTo>
                    <a:pt x="50799" y="76183"/>
                  </a:lnTo>
                  <a:lnTo>
                    <a:pt x="76200" y="76149"/>
                  </a:lnTo>
                  <a:lnTo>
                    <a:pt x="69845" y="6348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37" name="Google Shape;1237;p27"/>
            <p:cNvPicPr preferRelativeResize="0"/>
            <p:nvPr/>
          </p:nvPicPr>
          <p:blipFill rotWithShape="1">
            <a:blip r:embed="rId3">
              <a:alphaModFix/>
            </a:blip>
            <a:srcRect/>
            <a:stretch/>
          </p:blipFill>
          <p:spPr>
            <a:xfrm>
              <a:off x="2535941" y="5235200"/>
              <a:ext cx="639705" cy="640079"/>
            </a:xfrm>
            <a:prstGeom prst="rect">
              <a:avLst/>
            </a:prstGeom>
            <a:noFill/>
            <a:ln>
              <a:noFill/>
            </a:ln>
          </p:spPr>
        </p:pic>
        <p:sp>
          <p:nvSpPr>
            <p:cNvPr id="1238" name="Google Shape;1238;p27"/>
            <p:cNvSpPr/>
            <p:nvPr/>
          </p:nvSpPr>
          <p:spPr>
            <a:xfrm>
              <a:off x="3089724"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39" name="Google Shape;1239;p27"/>
            <p:cNvSpPr/>
            <p:nvPr/>
          </p:nvSpPr>
          <p:spPr>
            <a:xfrm>
              <a:off x="3089724"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240" name="Google Shape;1240;p27"/>
          <p:cNvGrpSpPr/>
          <p:nvPr/>
        </p:nvGrpSpPr>
        <p:grpSpPr>
          <a:xfrm>
            <a:off x="3312686" y="4404013"/>
            <a:ext cx="683436" cy="1471266"/>
            <a:chOff x="3312686" y="4404013"/>
            <a:chExt cx="683436" cy="1471266"/>
          </a:xfrm>
        </p:grpSpPr>
        <p:sp>
          <p:nvSpPr>
            <p:cNvPr id="1241" name="Google Shape;1241;p27"/>
            <p:cNvSpPr/>
            <p:nvPr/>
          </p:nvSpPr>
          <p:spPr>
            <a:xfrm>
              <a:off x="3578800" y="4404013"/>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2" name="Google Shape;1242;p27"/>
            <p:cNvSpPr/>
            <p:nvPr/>
          </p:nvSpPr>
          <p:spPr>
            <a:xfrm>
              <a:off x="3578800"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3" name="Google Shape;1243;p27"/>
            <p:cNvSpPr/>
            <p:nvPr/>
          </p:nvSpPr>
          <p:spPr>
            <a:xfrm>
              <a:off x="3605753" y="4834901"/>
              <a:ext cx="76200" cy="400685"/>
            </a:xfrm>
            <a:custGeom>
              <a:avLst/>
              <a:gdLst/>
              <a:ahLst/>
              <a:cxnLst/>
              <a:rect l="l" t="t" r="r" b="b"/>
              <a:pathLst>
                <a:path w="76200" h="400685" extrusionOk="0">
                  <a:moveTo>
                    <a:pt x="50800" y="76190"/>
                  </a:moveTo>
                  <a:lnTo>
                    <a:pt x="25400" y="76211"/>
                  </a:lnTo>
                  <a:lnTo>
                    <a:pt x="25660" y="400309"/>
                  </a:lnTo>
                  <a:lnTo>
                    <a:pt x="51060" y="400288"/>
                  </a:lnTo>
                  <a:lnTo>
                    <a:pt x="50800" y="76190"/>
                  </a:lnTo>
                  <a:close/>
                </a:path>
                <a:path w="76200" h="400685" extrusionOk="0">
                  <a:moveTo>
                    <a:pt x="38037" y="0"/>
                  </a:moveTo>
                  <a:lnTo>
                    <a:pt x="0" y="76231"/>
                  </a:lnTo>
                  <a:lnTo>
                    <a:pt x="25400" y="76211"/>
                  </a:lnTo>
                  <a:lnTo>
                    <a:pt x="25389" y="63510"/>
                  </a:lnTo>
                  <a:lnTo>
                    <a:pt x="69847" y="63489"/>
                  </a:lnTo>
                  <a:lnTo>
                    <a:pt x="38037"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44" name="Google Shape;1244;p27"/>
            <p:cNvPicPr preferRelativeResize="0"/>
            <p:nvPr/>
          </p:nvPicPr>
          <p:blipFill rotWithShape="1">
            <a:blip r:embed="rId4">
              <a:alphaModFix/>
            </a:blip>
            <a:srcRect/>
            <a:stretch/>
          </p:blipFill>
          <p:spPr>
            <a:xfrm>
              <a:off x="3312686" y="5235200"/>
              <a:ext cx="639705" cy="640079"/>
            </a:xfrm>
            <a:prstGeom prst="rect">
              <a:avLst/>
            </a:prstGeom>
            <a:noFill/>
            <a:ln>
              <a:noFill/>
            </a:ln>
          </p:spPr>
        </p:pic>
        <p:sp>
          <p:nvSpPr>
            <p:cNvPr id="1245" name="Google Shape;1245;p27"/>
            <p:cNvSpPr/>
            <p:nvPr/>
          </p:nvSpPr>
          <p:spPr>
            <a:xfrm>
              <a:off x="3865947" y="440599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6" name="Google Shape;1246;p27"/>
            <p:cNvSpPr/>
            <p:nvPr/>
          </p:nvSpPr>
          <p:spPr>
            <a:xfrm>
              <a:off x="3865947"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247" name="Google Shape;1247;p27"/>
          <p:cNvGrpSpPr/>
          <p:nvPr/>
        </p:nvGrpSpPr>
        <p:grpSpPr>
          <a:xfrm>
            <a:off x="4089432" y="4400222"/>
            <a:ext cx="682911" cy="1475057"/>
            <a:chOff x="4089432" y="4400222"/>
            <a:chExt cx="682911" cy="1475057"/>
          </a:xfrm>
        </p:grpSpPr>
        <p:sp>
          <p:nvSpPr>
            <p:cNvPr id="1248" name="Google Shape;1248;p27"/>
            <p:cNvSpPr/>
            <p:nvPr/>
          </p:nvSpPr>
          <p:spPr>
            <a:xfrm>
              <a:off x="4355021"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9" name="Google Shape;1249;p27"/>
            <p:cNvSpPr/>
            <p:nvPr/>
          </p:nvSpPr>
          <p:spPr>
            <a:xfrm>
              <a:off x="4355021"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50" name="Google Shape;1250;p27"/>
            <p:cNvSpPr/>
            <p:nvPr/>
          </p:nvSpPr>
          <p:spPr>
            <a:xfrm>
              <a:off x="4382073" y="4831110"/>
              <a:ext cx="76200" cy="404495"/>
            </a:xfrm>
            <a:custGeom>
              <a:avLst/>
              <a:gdLst/>
              <a:ahLst/>
              <a:cxnLst/>
              <a:rect l="l" t="t" r="r" b="b"/>
              <a:pathLst>
                <a:path w="76200" h="404495" extrusionOk="0">
                  <a:moveTo>
                    <a:pt x="50799" y="76173"/>
                  </a:moveTo>
                  <a:lnTo>
                    <a:pt x="25399" y="76226"/>
                  </a:lnTo>
                  <a:lnTo>
                    <a:pt x="26087" y="404116"/>
                  </a:lnTo>
                  <a:lnTo>
                    <a:pt x="51487" y="404063"/>
                  </a:lnTo>
                  <a:lnTo>
                    <a:pt x="50799" y="76173"/>
                  </a:lnTo>
                  <a:close/>
                </a:path>
                <a:path w="76200" h="404495" extrusionOk="0">
                  <a:moveTo>
                    <a:pt x="37939" y="0"/>
                  </a:moveTo>
                  <a:lnTo>
                    <a:pt x="0" y="76280"/>
                  </a:lnTo>
                  <a:lnTo>
                    <a:pt x="25399" y="76226"/>
                  </a:lnTo>
                  <a:lnTo>
                    <a:pt x="25373" y="63526"/>
                  </a:lnTo>
                  <a:lnTo>
                    <a:pt x="69843" y="63473"/>
                  </a:lnTo>
                  <a:lnTo>
                    <a:pt x="37939" y="0"/>
                  </a:lnTo>
                  <a:close/>
                </a:path>
                <a:path w="76200" h="404495" extrusionOk="0">
                  <a:moveTo>
                    <a:pt x="50773" y="63473"/>
                  </a:moveTo>
                  <a:lnTo>
                    <a:pt x="25373" y="63526"/>
                  </a:lnTo>
                  <a:lnTo>
                    <a:pt x="25399" y="76226"/>
                  </a:lnTo>
                  <a:lnTo>
                    <a:pt x="50799" y="76173"/>
                  </a:lnTo>
                  <a:lnTo>
                    <a:pt x="50773" y="63473"/>
                  </a:lnTo>
                  <a:close/>
                </a:path>
                <a:path w="76200" h="404495" extrusionOk="0">
                  <a:moveTo>
                    <a:pt x="69843" y="63473"/>
                  </a:moveTo>
                  <a:lnTo>
                    <a:pt x="50773" y="63473"/>
                  </a:lnTo>
                  <a:lnTo>
                    <a:pt x="50799" y="76173"/>
                  </a:lnTo>
                  <a:lnTo>
                    <a:pt x="76200" y="76119"/>
                  </a:lnTo>
                  <a:lnTo>
                    <a:pt x="69843" y="6347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51" name="Google Shape;1251;p27"/>
            <p:cNvPicPr preferRelativeResize="0"/>
            <p:nvPr/>
          </p:nvPicPr>
          <p:blipFill rotWithShape="1">
            <a:blip r:embed="rId5">
              <a:alphaModFix/>
            </a:blip>
            <a:srcRect/>
            <a:stretch/>
          </p:blipFill>
          <p:spPr>
            <a:xfrm>
              <a:off x="4089432" y="5235200"/>
              <a:ext cx="639705" cy="640079"/>
            </a:xfrm>
            <a:prstGeom prst="rect">
              <a:avLst/>
            </a:prstGeom>
            <a:noFill/>
            <a:ln>
              <a:noFill/>
            </a:ln>
          </p:spPr>
        </p:pic>
        <p:sp>
          <p:nvSpPr>
            <p:cNvPr id="1252" name="Google Shape;1252;p27"/>
            <p:cNvSpPr/>
            <p:nvPr/>
          </p:nvSpPr>
          <p:spPr>
            <a:xfrm>
              <a:off x="4642168"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53" name="Google Shape;1253;p27"/>
            <p:cNvSpPr/>
            <p:nvPr/>
          </p:nvSpPr>
          <p:spPr>
            <a:xfrm>
              <a:off x="4642168"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254" name="Google Shape;1254;p27"/>
          <p:cNvGrpSpPr/>
          <p:nvPr/>
        </p:nvGrpSpPr>
        <p:grpSpPr>
          <a:xfrm>
            <a:off x="4866180" y="4404013"/>
            <a:ext cx="683434" cy="1471266"/>
            <a:chOff x="4866180" y="4404013"/>
            <a:chExt cx="683434" cy="1471266"/>
          </a:xfrm>
        </p:grpSpPr>
        <p:sp>
          <p:nvSpPr>
            <p:cNvPr id="1255" name="Google Shape;1255;p27"/>
            <p:cNvSpPr/>
            <p:nvPr/>
          </p:nvSpPr>
          <p:spPr>
            <a:xfrm>
              <a:off x="5132292" y="4404013"/>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56" name="Google Shape;1256;p27"/>
            <p:cNvSpPr/>
            <p:nvPr/>
          </p:nvSpPr>
          <p:spPr>
            <a:xfrm>
              <a:off x="5132292"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57" name="Google Shape;1257;p27"/>
            <p:cNvSpPr/>
            <p:nvPr/>
          </p:nvSpPr>
          <p:spPr>
            <a:xfrm>
              <a:off x="5159245" y="4834901"/>
              <a:ext cx="76200" cy="400685"/>
            </a:xfrm>
            <a:custGeom>
              <a:avLst/>
              <a:gdLst/>
              <a:ahLst/>
              <a:cxnLst/>
              <a:rect l="l" t="t" r="r" b="b"/>
              <a:pathLst>
                <a:path w="76200" h="400685" extrusionOk="0">
                  <a:moveTo>
                    <a:pt x="50800" y="76190"/>
                  </a:moveTo>
                  <a:lnTo>
                    <a:pt x="25400" y="76211"/>
                  </a:lnTo>
                  <a:lnTo>
                    <a:pt x="25661" y="400319"/>
                  </a:lnTo>
                  <a:lnTo>
                    <a:pt x="51061" y="400298"/>
                  </a:lnTo>
                  <a:lnTo>
                    <a:pt x="50800" y="76190"/>
                  </a:lnTo>
                  <a:close/>
                </a:path>
                <a:path w="76200" h="400685" extrusionOk="0">
                  <a:moveTo>
                    <a:pt x="38039" y="0"/>
                  </a:moveTo>
                  <a:lnTo>
                    <a:pt x="0" y="76231"/>
                  </a:lnTo>
                  <a:lnTo>
                    <a:pt x="25400" y="76211"/>
                  </a:lnTo>
                  <a:lnTo>
                    <a:pt x="25389" y="63510"/>
                  </a:lnTo>
                  <a:lnTo>
                    <a:pt x="69847" y="63489"/>
                  </a:lnTo>
                  <a:lnTo>
                    <a:pt x="38039"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58" name="Google Shape;1258;p27"/>
            <p:cNvPicPr preferRelativeResize="0"/>
            <p:nvPr/>
          </p:nvPicPr>
          <p:blipFill rotWithShape="1">
            <a:blip r:embed="rId6">
              <a:alphaModFix/>
            </a:blip>
            <a:srcRect/>
            <a:stretch/>
          </p:blipFill>
          <p:spPr>
            <a:xfrm>
              <a:off x="4866180" y="5235200"/>
              <a:ext cx="639705" cy="640079"/>
            </a:xfrm>
            <a:prstGeom prst="rect">
              <a:avLst/>
            </a:prstGeom>
            <a:noFill/>
            <a:ln>
              <a:noFill/>
            </a:ln>
          </p:spPr>
        </p:pic>
        <p:sp>
          <p:nvSpPr>
            <p:cNvPr id="1259" name="Google Shape;1259;p27"/>
            <p:cNvSpPr/>
            <p:nvPr/>
          </p:nvSpPr>
          <p:spPr>
            <a:xfrm>
              <a:off x="5419439" y="440599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60" name="Google Shape;1260;p27"/>
            <p:cNvSpPr/>
            <p:nvPr/>
          </p:nvSpPr>
          <p:spPr>
            <a:xfrm>
              <a:off x="5419439"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261" name="Google Shape;1261;p27"/>
          <p:cNvGrpSpPr/>
          <p:nvPr/>
        </p:nvGrpSpPr>
        <p:grpSpPr>
          <a:xfrm>
            <a:off x="5645272" y="4400222"/>
            <a:ext cx="676559" cy="1475057"/>
            <a:chOff x="5645272" y="4400222"/>
            <a:chExt cx="676559" cy="1475057"/>
          </a:xfrm>
        </p:grpSpPr>
        <p:sp>
          <p:nvSpPr>
            <p:cNvPr id="1262" name="Google Shape;1262;p27"/>
            <p:cNvSpPr/>
            <p:nvPr/>
          </p:nvSpPr>
          <p:spPr>
            <a:xfrm>
              <a:off x="5904509"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63" name="Google Shape;1263;p27"/>
            <p:cNvSpPr/>
            <p:nvPr/>
          </p:nvSpPr>
          <p:spPr>
            <a:xfrm>
              <a:off x="5904509"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64" name="Google Shape;1264;p27"/>
            <p:cNvSpPr/>
            <p:nvPr/>
          </p:nvSpPr>
          <p:spPr>
            <a:xfrm>
              <a:off x="5932177" y="4831110"/>
              <a:ext cx="76200" cy="404495"/>
            </a:xfrm>
            <a:custGeom>
              <a:avLst/>
              <a:gdLst/>
              <a:ahLst/>
              <a:cxnLst/>
              <a:rect l="l" t="t" r="r" b="b"/>
              <a:pathLst>
                <a:path w="76200" h="404495" extrusionOk="0">
                  <a:moveTo>
                    <a:pt x="50796" y="76067"/>
                  </a:moveTo>
                  <a:lnTo>
                    <a:pt x="25398" y="76325"/>
                  </a:lnTo>
                  <a:lnTo>
                    <a:pt x="28731" y="404228"/>
                  </a:lnTo>
                  <a:lnTo>
                    <a:pt x="54129" y="403970"/>
                  </a:lnTo>
                  <a:lnTo>
                    <a:pt x="50796" y="76067"/>
                  </a:lnTo>
                  <a:close/>
                </a:path>
                <a:path w="76200" h="404495" extrusionOk="0">
                  <a:moveTo>
                    <a:pt x="37322" y="0"/>
                  </a:moveTo>
                  <a:lnTo>
                    <a:pt x="0" y="76583"/>
                  </a:lnTo>
                  <a:lnTo>
                    <a:pt x="25398" y="76325"/>
                  </a:lnTo>
                  <a:lnTo>
                    <a:pt x="25269" y="63626"/>
                  </a:lnTo>
                  <a:lnTo>
                    <a:pt x="50667" y="63367"/>
                  </a:lnTo>
                  <a:lnTo>
                    <a:pt x="69815" y="63367"/>
                  </a:lnTo>
                  <a:lnTo>
                    <a:pt x="37322" y="0"/>
                  </a:lnTo>
                  <a:close/>
                </a:path>
                <a:path w="76200" h="404495" extrusionOk="0">
                  <a:moveTo>
                    <a:pt x="50667" y="63367"/>
                  </a:moveTo>
                  <a:lnTo>
                    <a:pt x="25269" y="63626"/>
                  </a:lnTo>
                  <a:lnTo>
                    <a:pt x="25398" y="76325"/>
                  </a:lnTo>
                  <a:lnTo>
                    <a:pt x="50796" y="76067"/>
                  </a:lnTo>
                  <a:lnTo>
                    <a:pt x="50667" y="63367"/>
                  </a:lnTo>
                  <a:close/>
                </a:path>
                <a:path w="76200" h="404495" extrusionOk="0">
                  <a:moveTo>
                    <a:pt x="69815" y="63367"/>
                  </a:moveTo>
                  <a:lnTo>
                    <a:pt x="50667" y="63367"/>
                  </a:lnTo>
                  <a:lnTo>
                    <a:pt x="50796" y="76067"/>
                  </a:lnTo>
                  <a:lnTo>
                    <a:pt x="76194" y="75808"/>
                  </a:lnTo>
                  <a:lnTo>
                    <a:pt x="69815" y="6336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65" name="Google Shape;1265;p27"/>
            <p:cNvPicPr preferRelativeResize="0"/>
            <p:nvPr/>
          </p:nvPicPr>
          <p:blipFill rotWithShape="1">
            <a:blip r:embed="rId7">
              <a:alphaModFix/>
            </a:blip>
            <a:srcRect/>
            <a:stretch/>
          </p:blipFill>
          <p:spPr>
            <a:xfrm>
              <a:off x="5645272" y="5235200"/>
              <a:ext cx="639705" cy="640079"/>
            </a:xfrm>
            <a:prstGeom prst="rect">
              <a:avLst/>
            </a:prstGeom>
            <a:noFill/>
            <a:ln>
              <a:noFill/>
            </a:ln>
          </p:spPr>
        </p:pic>
        <p:sp>
          <p:nvSpPr>
            <p:cNvPr id="1266" name="Google Shape;1266;p27"/>
            <p:cNvSpPr/>
            <p:nvPr/>
          </p:nvSpPr>
          <p:spPr>
            <a:xfrm>
              <a:off x="6191656"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67" name="Google Shape;1267;p27"/>
            <p:cNvSpPr/>
            <p:nvPr/>
          </p:nvSpPr>
          <p:spPr>
            <a:xfrm>
              <a:off x="6191656"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268" name="Google Shape;1268;p27"/>
          <p:cNvGrpSpPr/>
          <p:nvPr/>
        </p:nvGrpSpPr>
        <p:grpSpPr>
          <a:xfrm>
            <a:off x="6419682" y="4400222"/>
            <a:ext cx="688872" cy="1475057"/>
            <a:chOff x="6419682" y="4400222"/>
            <a:chExt cx="688872" cy="1475057"/>
          </a:xfrm>
        </p:grpSpPr>
        <p:sp>
          <p:nvSpPr>
            <p:cNvPr id="1269" name="Google Shape;1269;p27"/>
            <p:cNvSpPr/>
            <p:nvPr/>
          </p:nvSpPr>
          <p:spPr>
            <a:xfrm>
              <a:off x="6691232"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0" name="Google Shape;1270;p27"/>
            <p:cNvSpPr/>
            <p:nvPr/>
          </p:nvSpPr>
          <p:spPr>
            <a:xfrm>
              <a:off x="6691232"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1" name="Google Shape;1271;p27"/>
            <p:cNvSpPr/>
            <p:nvPr/>
          </p:nvSpPr>
          <p:spPr>
            <a:xfrm>
              <a:off x="6717023" y="4831110"/>
              <a:ext cx="76200" cy="404495"/>
            </a:xfrm>
            <a:custGeom>
              <a:avLst/>
              <a:gdLst/>
              <a:ahLst/>
              <a:cxnLst/>
              <a:rect l="l" t="t" r="r" b="b"/>
              <a:pathLst>
                <a:path w="76200" h="404495" extrusionOk="0">
                  <a:moveTo>
                    <a:pt x="25397" y="76008"/>
                  </a:moveTo>
                  <a:lnTo>
                    <a:pt x="20636" y="403914"/>
                  </a:lnTo>
                  <a:lnTo>
                    <a:pt x="46033" y="404284"/>
                  </a:lnTo>
                  <a:lnTo>
                    <a:pt x="50794" y="76377"/>
                  </a:lnTo>
                  <a:lnTo>
                    <a:pt x="25397" y="76008"/>
                  </a:lnTo>
                  <a:close/>
                </a:path>
                <a:path w="76200" h="404495" extrusionOk="0">
                  <a:moveTo>
                    <a:pt x="69714" y="63309"/>
                  </a:moveTo>
                  <a:lnTo>
                    <a:pt x="25581" y="63309"/>
                  </a:lnTo>
                  <a:lnTo>
                    <a:pt x="50979" y="63677"/>
                  </a:lnTo>
                  <a:lnTo>
                    <a:pt x="50794" y="76377"/>
                  </a:lnTo>
                  <a:lnTo>
                    <a:pt x="76191" y="76746"/>
                  </a:lnTo>
                  <a:lnTo>
                    <a:pt x="69714" y="63309"/>
                  </a:lnTo>
                  <a:close/>
                </a:path>
                <a:path w="76200" h="404495" extrusionOk="0">
                  <a:moveTo>
                    <a:pt x="25581" y="63309"/>
                  </a:moveTo>
                  <a:lnTo>
                    <a:pt x="25397" y="76008"/>
                  </a:lnTo>
                  <a:lnTo>
                    <a:pt x="50794" y="76377"/>
                  </a:lnTo>
                  <a:lnTo>
                    <a:pt x="50979" y="63677"/>
                  </a:lnTo>
                  <a:lnTo>
                    <a:pt x="25581" y="63309"/>
                  </a:lnTo>
                  <a:close/>
                </a:path>
                <a:path w="76200" h="404495" extrusionOk="0">
                  <a:moveTo>
                    <a:pt x="39201" y="0"/>
                  </a:moveTo>
                  <a:lnTo>
                    <a:pt x="0" y="75639"/>
                  </a:lnTo>
                  <a:lnTo>
                    <a:pt x="25397" y="76008"/>
                  </a:lnTo>
                  <a:lnTo>
                    <a:pt x="25581" y="63309"/>
                  </a:lnTo>
                  <a:lnTo>
                    <a:pt x="69714" y="63309"/>
                  </a:lnTo>
                  <a:lnTo>
                    <a:pt x="3920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72" name="Google Shape;1272;p27"/>
            <p:cNvPicPr preferRelativeResize="0"/>
            <p:nvPr/>
          </p:nvPicPr>
          <p:blipFill rotWithShape="1">
            <a:blip r:embed="rId8">
              <a:alphaModFix/>
            </a:blip>
            <a:srcRect/>
            <a:stretch/>
          </p:blipFill>
          <p:spPr>
            <a:xfrm>
              <a:off x="6419682" y="5235200"/>
              <a:ext cx="639705" cy="640079"/>
            </a:xfrm>
            <a:prstGeom prst="rect">
              <a:avLst/>
            </a:prstGeom>
            <a:noFill/>
            <a:ln>
              <a:noFill/>
            </a:ln>
          </p:spPr>
        </p:pic>
        <p:sp>
          <p:nvSpPr>
            <p:cNvPr id="1273" name="Google Shape;1273;p27"/>
            <p:cNvSpPr/>
            <p:nvPr/>
          </p:nvSpPr>
          <p:spPr>
            <a:xfrm>
              <a:off x="6978379"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4" name="Google Shape;1274;p27"/>
            <p:cNvSpPr/>
            <p:nvPr/>
          </p:nvSpPr>
          <p:spPr>
            <a:xfrm>
              <a:off x="6978379"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275" name="Google Shape;1275;p27"/>
          <p:cNvGrpSpPr/>
          <p:nvPr/>
        </p:nvGrpSpPr>
        <p:grpSpPr>
          <a:xfrm>
            <a:off x="7207347" y="4400222"/>
            <a:ext cx="668588" cy="1475057"/>
            <a:chOff x="7207347" y="4400222"/>
            <a:chExt cx="668588" cy="1475057"/>
          </a:xfrm>
        </p:grpSpPr>
        <p:sp>
          <p:nvSpPr>
            <p:cNvPr id="1276" name="Google Shape;1276;p27"/>
            <p:cNvSpPr/>
            <p:nvPr/>
          </p:nvSpPr>
          <p:spPr>
            <a:xfrm>
              <a:off x="7458613"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7" name="Google Shape;1277;p27"/>
            <p:cNvSpPr/>
            <p:nvPr/>
          </p:nvSpPr>
          <p:spPr>
            <a:xfrm>
              <a:off x="7458613"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8" name="Google Shape;1278;p27"/>
            <p:cNvSpPr/>
            <p:nvPr/>
          </p:nvSpPr>
          <p:spPr>
            <a:xfrm>
              <a:off x="7485566" y="4831110"/>
              <a:ext cx="76200" cy="404495"/>
            </a:xfrm>
            <a:custGeom>
              <a:avLst/>
              <a:gdLst/>
              <a:ahLst/>
              <a:cxnLst/>
              <a:rect l="l" t="t" r="r" b="b"/>
              <a:pathLst>
                <a:path w="76200" h="404495" extrusionOk="0">
                  <a:moveTo>
                    <a:pt x="50799" y="76190"/>
                  </a:moveTo>
                  <a:lnTo>
                    <a:pt x="25399" y="76210"/>
                  </a:lnTo>
                  <a:lnTo>
                    <a:pt x="25660" y="404110"/>
                  </a:lnTo>
                  <a:lnTo>
                    <a:pt x="51060" y="404089"/>
                  </a:lnTo>
                  <a:lnTo>
                    <a:pt x="50799" y="76190"/>
                  </a:lnTo>
                  <a:close/>
                </a:path>
                <a:path w="76200" h="404495" extrusionOk="0">
                  <a:moveTo>
                    <a:pt x="38039" y="0"/>
                  </a:moveTo>
                  <a:lnTo>
                    <a:pt x="0" y="76230"/>
                  </a:lnTo>
                  <a:lnTo>
                    <a:pt x="25399" y="76210"/>
                  </a:lnTo>
                  <a:lnTo>
                    <a:pt x="25389" y="63510"/>
                  </a:lnTo>
                  <a:lnTo>
                    <a:pt x="69846" y="63489"/>
                  </a:lnTo>
                  <a:lnTo>
                    <a:pt x="38039" y="0"/>
                  </a:lnTo>
                  <a:close/>
                </a:path>
                <a:path w="76200" h="404495" extrusionOk="0">
                  <a:moveTo>
                    <a:pt x="50789" y="63489"/>
                  </a:moveTo>
                  <a:lnTo>
                    <a:pt x="25389" y="63510"/>
                  </a:lnTo>
                  <a:lnTo>
                    <a:pt x="25399" y="76210"/>
                  </a:lnTo>
                  <a:lnTo>
                    <a:pt x="50799" y="76190"/>
                  </a:lnTo>
                  <a:lnTo>
                    <a:pt x="50789" y="63489"/>
                  </a:lnTo>
                  <a:close/>
                </a:path>
                <a:path w="76200" h="404495" extrusionOk="0">
                  <a:moveTo>
                    <a:pt x="69846" y="63489"/>
                  </a:moveTo>
                  <a:lnTo>
                    <a:pt x="50789" y="63489"/>
                  </a:lnTo>
                  <a:lnTo>
                    <a:pt x="50799" y="76190"/>
                  </a:lnTo>
                  <a:lnTo>
                    <a:pt x="76200" y="76170"/>
                  </a:lnTo>
                  <a:lnTo>
                    <a:pt x="69846"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79" name="Google Shape;1279;p27"/>
            <p:cNvPicPr preferRelativeResize="0"/>
            <p:nvPr/>
          </p:nvPicPr>
          <p:blipFill rotWithShape="1">
            <a:blip r:embed="rId9">
              <a:alphaModFix/>
            </a:blip>
            <a:srcRect/>
            <a:stretch/>
          </p:blipFill>
          <p:spPr>
            <a:xfrm>
              <a:off x="7207347" y="5235200"/>
              <a:ext cx="641197" cy="640079"/>
            </a:xfrm>
            <a:prstGeom prst="rect">
              <a:avLst/>
            </a:prstGeom>
            <a:noFill/>
            <a:ln>
              <a:noFill/>
            </a:ln>
          </p:spPr>
        </p:pic>
        <p:sp>
          <p:nvSpPr>
            <p:cNvPr id="1280" name="Google Shape;1280;p27"/>
            <p:cNvSpPr/>
            <p:nvPr/>
          </p:nvSpPr>
          <p:spPr>
            <a:xfrm>
              <a:off x="7745760"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81" name="Google Shape;1281;p27"/>
            <p:cNvSpPr/>
            <p:nvPr/>
          </p:nvSpPr>
          <p:spPr>
            <a:xfrm>
              <a:off x="7745760"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282" name="Google Shape;1282;p27"/>
          <p:cNvGrpSpPr/>
          <p:nvPr/>
        </p:nvGrpSpPr>
        <p:grpSpPr>
          <a:xfrm>
            <a:off x="7970093" y="4400222"/>
            <a:ext cx="681844" cy="1475057"/>
            <a:chOff x="7970093" y="4400222"/>
            <a:chExt cx="681844" cy="1475057"/>
          </a:xfrm>
        </p:grpSpPr>
        <p:sp>
          <p:nvSpPr>
            <p:cNvPr id="1283" name="Google Shape;1283;p27"/>
            <p:cNvSpPr/>
            <p:nvPr/>
          </p:nvSpPr>
          <p:spPr>
            <a:xfrm>
              <a:off x="8234614"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84" name="Google Shape;1284;p27"/>
            <p:cNvSpPr/>
            <p:nvPr/>
          </p:nvSpPr>
          <p:spPr>
            <a:xfrm>
              <a:off x="8234614"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85" name="Google Shape;1285;p27"/>
            <p:cNvSpPr/>
            <p:nvPr/>
          </p:nvSpPr>
          <p:spPr>
            <a:xfrm>
              <a:off x="8261567"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86" name="Google Shape;1286;p27"/>
            <p:cNvPicPr preferRelativeResize="0"/>
            <p:nvPr/>
          </p:nvPicPr>
          <p:blipFill rotWithShape="1">
            <a:blip r:embed="rId10">
              <a:alphaModFix/>
            </a:blip>
            <a:srcRect/>
            <a:stretch/>
          </p:blipFill>
          <p:spPr>
            <a:xfrm>
              <a:off x="7970093" y="5235200"/>
              <a:ext cx="641205" cy="640079"/>
            </a:xfrm>
            <a:prstGeom prst="rect">
              <a:avLst/>
            </a:prstGeom>
            <a:noFill/>
            <a:ln>
              <a:noFill/>
            </a:ln>
          </p:spPr>
        </p:pic>
        <p:sp>
          <p:nvSpPr>
            <p:cNvPr id="1287" name="Google Shape;1287;p27"/>
            <p:cNvSpPr/>
            <p:nvPr/>
          </p:nvSpPr>
          <p:spPr>
            <a:xfrm>
              <a:off x="8521762"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88" name="Google Shape;1288;p27"/>
            <p:cNvSpPr/>
            <p:nvPr/>
          </p:nvSpPr>
          <p:spPr>
            <a:xfrm>
              <a:off x="8521762"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289" name="Google Shape;1289;p27"/>
          <p:cNvGrpSpPr/>
          <p:nvPr/>
        </p:nvGrpSpPr>
        <p:grpSpPr>
          <a:xfrm>
            <a:off x="8744502" y="4400222"/>
            <a:ext cx="684186" cy="1475057"/>
            <a:chOff x="8744502" y="4400222"/>
            <a:chExt cx="684186" cy="1475057"/>
          </a:xfrm>
        </p:grpSpPr>
        <p:sp>
          <p:nvSpPr>
            <p:cNvPr id="1290" name="Google Shape;1290;p27"/>
            <p:cNvSpPr/>
            <p:nvPr/>
          </p:nvSpPr>
          <p:spPr>
            <a:xfrm>
              <a:off x="9011366"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1" name="Google Shape;1291;p27"/>
            <p:cNvSpPr/>
            <p:nvPr/>
          </p:nvSpPr>
          <p:spPr>
            <a:xfrm>
              <a:off x="9011366"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2" name="Google Shape;1292;p27"/>
            <p:cNvSpPr/>
            <p:nvPr/>
          </p:nvSpPr>
          <p:spPr>
            <a:xfrm>
              <a:off x="9038318"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293" name="Google Shape;1293;p27"/>
            <p:cNvPicPr preferRelativeResize="0"/>
            <p:nvPr/>
          </p:nvPicPr>
          <p:blipFill rotWithShape="1">
            <a:blip r:embed="rId11">
              <a:alphaModFix/>
            </a:blip>
            <a:srcRect/>
            <a:stretch/>
          </p:blipFill>
          <p:spPr>
            <a:xfrm>
              <a:off x="8744502" y="5235200"/>
              <a:ext cx="641206" cy="640079"/>
            </a:xfrm>
            <a:prstGeom prst="rect">
              <a:avLst/>
            </a:prstGeom>
            <a:noFill/>
            <a:ln>
              <a:noFill/>
            </a:ln>
          </p:spPr>
        </p:pic>
        <p:sp>
          <p:nvSpPr>
            <p:cNvPr id="1294" name="Google Shape;1294;p27"/>
            <p:cNvSpPr/>
            <p:nvPr/>
          </p:nvSpPr>
          <p:spPr>
            <a:xfrm>
              <a:off x="9298513"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5" name="Google Shape;1295;p27"/>
            <p:cNvSpPr/>
            <p:nvPr/>
          </p:nvSpPr>
          <p:spPr>
            <a:xfrm>
              <a:off x="9298513"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296" name="Google Shape;1296;p27"/>
          <p:cNvSpPr txBox="1"/>
          <p:nvPr/>
        </p:nvSpPr>
        <p:spPr>
          <a:xfrm>
            <a:off x="273194" y="3559555"/>
            <a:ext cx="2190115" cy="1278255"/>
          </a:xfrm>
          <a:prstGeom prst="rect">
            <a:avLst/>
          </a:prstGeom>
          <a:noFill/>
          <a:ln>
            <a:noFill/>
          </a:ln>
        </p:spPr>
        <p:txBody>
          <a:bodyPr spcFirstLastPara="1" wrap="square" lIns="0" tIns="13950" rIns="0" bIns="0" anchor="t" anchorCtr="0">
            <a:spAutoFit/>
          </a:bodyPr>
          <a:lstStyle/>
          <a:p>
            <a:pPr marL="12700" marR="5080" lvl="0" indent="0" algn="l"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Add positional embedding: learned D- dim vector per position</a:t>
            </a:r>
            <a:endParaRPr sz="1800" b="0" i="0" u="none" strike="noStrike" cap="none">
              <a:solidFill>
                <a:srgbClr val="000000"/>
              </a:solidFill>
              <a:latin typeface="Calibri"/>
              <a:ea typeface="Calibri"/>
              <a:cs typeface="Calibri"/>
              <a:sym typeface="Calibri"/>
            </a:endParaRPr>
          </a:p>
          <a:p>
            <a:pPr marL="19685" marR="0" lvl="0" indent="0" algn="l" rtl="0">
              <a:lnSpc>
                <a:spcPct val="100000"/>
              </a:lnSpc>
              <a:spcBef>
                <a:spcPts val="125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a:t>
            </a:r>
            <a:endParaRPr sz="1800" b="0" i="0" u="none" strike="noStrike" cap="none">
              <a:solidFill>
                <a:srgbClr val="000000"/>
              </a:solidFill>
              <a:latin typeface="Calibri"/>
              <a:ea typeface="Calibri"/>
              <a:cs typeface="Calibri"/>
              <a:sym typeface="Calibri"/>
            </a:endParaRPr>
          </a:p>
        </p:txBody>
      </p:sp>
      <p:grpSp>
        <p:nvGrpSpPr>
          <p:cNvPr id="1297" name="Google Shape;1297;p27"/>
          <p:cNvGrpSpPr/>
          <p:nvPr/>
        </p:nvGrpSpPr>
        <p:grpSpPr>
          <a:xfrm>
            <a:off x="2961547" y="2096159"/>
            <a:ext cx="130810" cy="429895"/>
            <a:chOff x="2961547" y="2096159"/>
            <a:chExt cx="130810" cy="429895"/>
          </a:xfrm>
        </p:grpSpPr>
        <p:sp>
          <p:nvSpPr>
            <p:cNvPr id="1298" name="Google Shape;1298;p27"/>
            <p:cNvSpPr/>
            <p:nvPr/>
          </p:nvSpPr>
          <p:spPr>
            <a:xfrm>
              <a:off x="2961547" y="2096159"/>
              <a:ext cx="130810" cy="429895"/>
            </a:xfrm>
            <a:custGeom>
              <a:avLst/>
              <a:gdLst/>
              <a:ahLst/>
              <a:cxnLst/>
              <a:rect l="l" t="t" r="r" b="b"/>
              <a:pathLst>
                <a:path w="130810"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9" name="Google Shape;1299;p27"/>
            <p:cNvSpPr/>
            <p:nvPr/>
          </p:nvSpPr>
          <p:spPr>
            <a:xfrm>
              <a:off x="296154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00" name="Google Shape;1300;p27"/>
          <p:cNvGrpSpPr/>
          <p:nvPr/>
        </p:nvGrpSpPr>
        <p:grpSpPr>
          <a:xfrm>
            <a:off x="3737768" y="2099950"/>
            <a:ext cx="130810" cy="429895"/>
            <a:chOff x="3737768" y="2099950"/>
            <a:chExt cx="130810" cy="429895"/>
          </a:xfrm>
        </p:grpSpPr>
        <p:sp>
          <p:nvSpPr>
            <p:cNvPr id="1301" name="Google Shape;1301;p27"/>
            <p:cNvSpPr/>
            <p:nvPr/>
          </p:nvSpPr>
          <p:spPr>
            <a:xfrm>
              <a:off x="3737768"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02" name="Google Shape;1302;p27"/>
            <p:cNvSpPr/>
            <p:nvPr/>
          </p:nvSpPr>
          <p:spPr>
            <a:xfrm>
              <a:off x="3737768"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03" name="Google Shape;1303;p27"/>
          <p:cNvGrpSpPr/>
          <p:nvPr/>
        </p:nvGrpSpPr>
        <p:grpSpPr>
          <a:xfrm>
            <a:off x="4513990" y="2096159"/>
            <a:ext cx="130810" cy="429895"/>
            <a:chOff x="4513990" y="2096159"/>
            <a:chExt cx="130810" cy="429895"/>
          </a:xfrm>
        </p:grpSpPr>
        <p:sp>
          <p:nvSpPr>
            <p:cNvPr id="1304" name="Google Shape;1304;p27"/>
            <p:cNvSpPr/>
            <p:nvPr/>
          </p:nvSpPr>
          <p:spPr>
            <a:xfrm>
              <a:off x="4513990"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05" name="Google Shape;1305;p27"/>
            <p:cNvSpPr/>
            <p:nvPr/>
          </p:nvSpPr>
          <p:spPr>
            <a:xfrm>
              <a:off x="4513990"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06" name="Google Shape;1306;p27"/>
          <p:cNvGrpSpPr/>
          <p:nvPr/>
        </p:nvGrpSpPr>
        <p:grpSpPr>
          <a:xfrm>
            <a:off x="5291261" y="2099950"/>
            <a:ext cx="130810" cy="429895"/>
            <a:chOff x="5291261" y="2099950"/>
            <a:chExt cx="130810" cy="429895"/>
          </a:xfrm>
        </p:grpSpPr>
        <p:sp>
          <p:nvSpPr>
            <p:cNvPr id="1307" name="Google Shape;1307;p27"/>
            <p:cNvSpPr/>
            <p:nvPr/>
          </p:nvSpPr>
          <p:spPr>
            <a:xfrm>
              <a:off x="5291261"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08" name="Google Shape;1308;p27"/>
            <p:cNvSpPr/>
            <p:nvPr/>
          </p:nvSpPr>
          <p:spPr>
            <a:xfrm>
              <a:off x="5291261"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09" name="Google Shape;1309;p27"/>
          <p:cNvGrpSpPr/>
          <p:nvPr/>
        </p:nvGrpSpPr>
        <p:grpSpPr>
          <a:xfrm>
            <a:off x="6063477" y="2096159"/>
            <a:ext cx="130810" cy="429895"/>
            <a:chOff x="6063477" y="2096159"/>
            <a:chExt cx="130810" cy="429895"/>
          </a:xfrm>
        </p:grpSpPr>
        <p:sp>
          <p:nvSpPr>
            <p:cNvPr id="1310" name="Google Shape;1310;p27"/>
            <p:cNvSpPr/>
            <p:nvPr/>
          </p:nvSpPr>
          <p:spPr>
            <a:xfrm>
              <a:off x="6063477"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11" name="Google Shape;1311;p27"/>
            <p:cNvSpPr/>
            <p:nvPr/>
          </p:nvSpPr>
          <p:spPr>
            <a:xfrm>
              <a:off x="606347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12" name="Google Shape;1312;p27"/>
          <p:cNvGrpSpPr/>
          <p:nvPr/>
        </p:nvGrpSpPr>
        <p:grpSpPr>
          <a:xfrm>
            <a:off x="6850202" y="2096159"/>
            <a:ext cx="130810" cy="429895"/>
            <a:chOff x="6850202" y="2096159"/>
            <a:chExt cx="130810" cy="429895"/>
          </a:xfrm>
        </p:grpSpPr>
        <p:sp>
          <p:nvSpPr>
            <p:cNvPr id="1313" name="Google Shape;1313;p27"/>
            <p:cNvSpPr/>
            <p:nvPr/>
          </p:nvSpPr>
          <p:spPr>
            <a:xfrm>
              <a:off x="6850202"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14" name="Google Shape;1314;p27"/>
            <p:cNvSpPr/>
            <p:nvPr/>
          </p:nvSpPr>
          <p:spPr>
            <a:xfrm>
              <a:off x="6850202"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15" name="Google Shape;1315;p27"/>
          <p:cNvGrpSpPr/>
          <p:nvPr/>
        </p:nvGrpSpPr>
        <p:grpSpPr>
          <a:xfrm>
            <a:off x="7617583" y="2096159"/>
            <a:ext cx="130810" cy="429895"/>
            <a:chOff x="7617583" y="2096159"/>
            <a:chExt cx="130810" cy="429895"/>
          </a:xfrm>
        </p:grpSpPr>
        <p:sp>
          <p:nvSpPr>
            <p:cNvPr id="1316" name="Google Shape;1316;p27"/>
            <p:cNvSpPr/>
            <p:nvPr/>
          </p:nvSpPr>
          <p:spPr>
            <a:xfrm>
              <a:off x="7617583"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17" name="Google Shape;1317;p27"/>
            <p:cNvSpPr/>
            <p:nvPr/>
          </p:nvSpPr>
          <p:spPr>
            <a:xfrm>
              <a:off x="7617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18" name="Google Shape;1318;p27"/>
          <p:cNvGrpSpPr/>
          <p:nvPr/>
        </p:nvGrpSpPr>
        <p:grpSpPr>
          <a:xfrm>
            <a:off x="8393583" y="2096159"/>
            <a:ext cx="130810" cy="429895"/>
            <a:chOff x="8393583" y="2096159"/>
            <a:chExt cx="130810" cy="429895"/>
          </a:xfrm>
        </p:grpSpPr>
        <p:sp>
          <p:nvSpPr>
            <p:cNvPr id="1319" name="Google Shape;1319;p27"/>
            <p:cNvSpPr/>
            <p:nvPr/>
          </p:nvSpPr>
          <p:spPr>
            <a:xfrm>
              <a:off x="8393583"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0" name="Google Shape;1320;p27"/>
            <p:cNvSpPr/>
            <p:nvPr/>
          </p:nvSpPr>
          <p:spPr>
            <a:xfrm>
              <a:off x="8393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21" name="Google Shape;1321;p27"/>
          <p:cNvGrpSpPr/>
          <p:nvPr/>
        </p:nvGrpSpPr>
        <p:grpSpPr>
          <a:xfrm>
            <a:off x="9170334" y="2096159"/>
            <a:ext cx="130810" cy="429895"/>
            <a:chOff x="9170334" y="2096159"/>
            <a:chExt cx="130810" cy="429895"/>
          </a:xfrm>
        </p:grpSpPr>
        <p:sp>
          <p:nvSpPr>
            <p:cNvPr id="1322" name="Google Shape;1322;p27"/>
            <p:cNvSpPr/>
            <p:nvPr/>
          </p:nvSpPr>
          <p:spPr>
            <a:xfrm>
              <a:off x="9170334"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3" name="Google Shape;1323;p27"/>
            <p:cNvSpPr/>
            <p:nvPr/>
          </p:nvSpPr>
          <p:spPr>
            <a:xfrm>
              <a:off x="9170334"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324" name="Google Shape;1324;p27"/>
          <p:cNvSpPr txBox="1"/>
          <p:nvPr/>
        </p:nvSpPr>
        <p:spPr>
          <a:xfrm>
            <a:off x="451943" y="2038603"/>
            <a:ext cx="141478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Output vectors</a:t>
            </a:r>
            <a:endParaRPr sz="1800" b="0" i="0" u="none" strike="noStrike" cap="none">
              <a:solidFill>
                <a:srgbClr val="000000"/>
              </a:solidFill>
              <a:latin typeface="Calibri"/>
              <a:ea typeface="Calibri"/>
              <a:cs typeface="Calibri"/>
              <a:sym typeface="Calibri"/>
            </a:endParaRPr>
          </a:p>
        </p:txBody>
      </p:sp>
      <p:sp>
        <p:nvSpPr>
          <p:cNvPr id="1325" name="Google Shape;1325;p27"/>
          <p:cNvSpPr txBox="1"/>
          <p:nvPr/>
        </p:nvSpPr>
        <p:spPr>
          <a:xfrm>
            <a:off x="282081" y="2757932"/>
            <a:ext cx="1644014" cy="565150"/>
          </a:xfrm>
          <a:prstGeom prst="rect">
            <a:avLst/>
          </a:prstGeom>
          <a:noFill/>
          <a:ln>
            <a:noFill/>
          </a:ln>
        </p:spPr>
        <p:txBody>
          <a:bodyPr spcFirstLastPara="1" wrap="square" lIns="0" tIns="28575" rIns="0" bIns="0" anchor="t" anchorCtr="0">
            <a:spAutoFit/>
          </a:bodyPr>
          <a:lstStyle/>
          <a:p>
            <a:pPr marL="12700" marR="5080" lvl="0" indent="165735" algn="l" rtl="0">
              <a:lnSpc>
                <a:spcPct val="116111"/>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Exact same as NLP Transformer!</a:t>
            </a:r>
            <a:endParaRPr sz="1800" b="0" i="0" u="none" strike="noStrike" cap="none">
              <a:solidFill>
                <a:srgbClr val="000000"/>
              </a:solidFill>
              <a:latin typeface="Calibri"/>
              <a:ea typeface="Calibri"/>
              <a:cs typeface="Calibri"/>
              <a:sym typeface="Calibri"/>
            </a:endParaRPr>
          </a:p>
        </p:txBody>
      </p:sp>
      <p:grpSp>
        <p:nvGrpSpPr>
          <p:cNvPr id="1326" name="Google Shape;1326;p27"/>
          <p:cNvGrpSpPr/>
          <p:nvPr/>
        </p:nvGrpSpPr>
        <p:grpSpPr>
          <a:xfrm>
            <a:off x="9843405" y="3627475"/>
            <a:ext cx="130175" cy="431165"/>
            <a:chOff x="9843405" y="3627475"/>
            <a:chExt cx="130175" cy="431165"/>
          </a:xfrm>
        </p:grpSpPr>
        <p:sp>
          <p:nvSpPr>
            <p:cNvPr id="1327" name="Google Shape;1327;p27"/>
            <p:cNvSpPr/>
            <p:nvPr/>
          </p:nvSpPr>
          <p:spPr>
            <a:xfrm>
              <a:off x="9843405"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8FAAD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8" name="Google Shape;1328;p27"/>
            <p:cNvSpPr/>
            <p:nvPr/>
          </p:nvSpPr>
          <p:spPr>
            <a:xfrm>
              <a:off x="984340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29" name="Google Shape;1329;p27"/>
          <p:cNvGrpSpPr/>
          <p:nvPr/>
        </p:nvGrpSpPr>
        <p:grpSpPr>
          <a:xfrm>
            <a:off x="9842760" y="1231831"/>
            <a:ext cx="130810" cy="1294223"/>
            <a:chOff x="9842760" y="1231831"/>
            <a:chExt cx="130810" cy="1294223"/>
          </a:xfrm>
        </p:grpSpPr>
        <p:sp>
          <p:nvSpPr>
            <p:cNvPr id="1330" name="Google Shape;1330;p27"/>
            <p:cNvSpPr/>
            <p:nvPr/>
          </p:nvSpPr>
          <p:spPr>
            <a:xfrm>
              <a:off x="9842760"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D96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1" name="Google Shape;1331;p27"/>
            <p:cNvSpPr/>
            <p:nvPr/>
          </p:nvSpPr>
          <p:spPr>
            <a:xfrm>
              <a:off x="9842760"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2" name="Google Shape;1332;p27"/>
            <p:cNvSpPr/>
            <p:nvPr/>
          </p:nvSpPr>
          <p:spPr>
            <a:xfrm>
              <a:off x="9842760" y="1231831"/>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DEEB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3" name="Google Shape;1333;p27"/>
            <p:cNvSpPr/>
            <p:nvPr/>
          </p:nvSpPr>
          <p:spPr>
            <a:xfrm>
              <a:off x="9842760" y="1231831"/>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5B9B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4" name="Google Shape;1334;p27"/>
            <p:cNvSpPr/>
            <p:nvPr/>
          </p:nvSpPr>
          <p:spPr>
            <a:xfrm>
              <a:off x="9869976" y="1661599"/>
              <a:ext cx="76200" cy="434975"/>
            </a:xfrm>
            <a:custGeom>
              <a:avLst/>
              <a:gdLst/>
              <a:ahLst/>
              <a:cxnLst/>
              <a:rect l="l" t="t" r="r" b="b"/>
              <a:pathLst>
                <a:path w="76200" h="434975" extrusionOk="0">
                  <a:moveTo>
                    <a:pt x="50800" y="63500"/>
                  </a:moveTo>
                  <a:lnTo>
                    <a:pt x="25400" y="63500"/>
                  </a:lnTo>
                  <a:lnTo>
                    <a:pt x="25400" y="434559"/>
                  </a:lnTo>
                  <a:lnTo>
                    <a:pt x="50800" y="434559"/>
                  </a:lnTo>
                  <a:lnTo>
                    <a:pt x="50800" y="63500"/>
                  </a:lnTo>
                  <a:close/>
                </a:path>
                <a:path w="76200" h="434975" extrusionOk="0">
                  <a:moveTo>
                    <a:pt x="38100" y="0"/>
                  </a:moveTo>
                  <a:lnTo>
                    <a:pt x="0" y="76200"/>
                  </a:lnTo>
                  <a:lnTo>
                    <a:pt x="25400" y="76200"/>
                  </a:lnTo>
                  <a:lnTo>
                    <a:pt x="25400" y="63500"/>
                  </a:lnTo>
                  <a:lnTo>
                    <a:pt x="69850" y="63500"/>
                  </a:lnTo>
                  <a:lnTo>
                    <a:pt x="38100" y="0"/>
                  </a:lnTo>
                  <a:close/>
                </a:path>
                <a:path w="76200" h="434975" extrusionOk="0">
                  <a:moveTo>
                    <a:pt x="69850" y="63500"/>
                  </a:moveTo>
                  <a:lnTo>
                    <a:pt x="50800" y="63500"/>
                  </a:lnTo>
                  <a:lnTo>
                    <a:pt x="50800" y="76200"/>
                  </a:lnTo>
                  <a:lnTo>
                    <a:pt x="76200" y="76200"/>
                  </a:lnTo>
                  <a:lnTo>
                    <a:pt x="69850" y="6350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335" name="Google Shape;1335;p27"/>
          <p:cNvSpPr txBox="1"/>
          <p:nvPr/>
        </p:nvSpPr>
        <p:spPr>
          <a:xfrm>
            <a:off x="10220266" y="3498595"/>
            <a:ext cx="1830070" cy="845819"/>
          </a:xfrm>
          <a:prstGeom prst="rect">
            <a:avLst/>
          </a:prstGeom>
          <a:noFill/>
          <a:ln>
            <a:noFill/>
          </a:ln>
        </p:spPr>
        <p:txBody>
          <a:bodyPr spcFirstLastPara="1" wrap="square" lIns="0" tIns="13950" rIns="0" bIns="0" anchor="t" anchorCtr="0">
            <a:spAutoFit/>
          </a:bodyPr>
          <a:lstStyle/>
          <a:p>
            <a:pPr marL="12700" marR="5080" lvl="0" indent="0" algn="just"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Special extra input: </a:t>
            </a:r>
            <a:r>
              <a:rPr lang="en-US" sz="1800" b="1" i="0" u="none" strike="noStrike" cap="none">
                <a:solidFill>
                  <a:srgbClr val="000000"/>
                </a:solidFill>
                <a:latin typeface="Calibri"/>
                <a:ea typeface="Calibri"/>
                <a:cs typeface="Calibri"/>
                <a:sym typeface="Calibri"/>
              </a:rPr>
              <a:t>classification token </a:t>
            </a:r>
            <a:r>
              <a:rPr lang="en-US" sz="1800" b="0" i="0" u="none" strike="noStrike" cap="none">
                <a:solidFill>
                  <a:srgbClr val="000000"/>
                </a:solidFill>
                <a:latin typeface="Calibri"/>
                <a:ea typeface="Calibri"/>
                <a:cs typeface="Calibri"/>
                <a:sym typeface="Calibri"/>
              </a:rPr>
              <a:t>(D dims, learned)</a:t>
            </a:r>
            <a:endParaRPr sz="1800" b="0" i="0" u="none" strike="noStrike" cap="none">
              <a:solidFill>
                <a:srgbClr val="000000"/>
              </a:solidFill>
              <a:latin typeface="Calibri"/>
              <a:ea typeface="Calibri"/>
              <a:cs typeface="Calibri"/>
              <a:sym typeface="Calibri"/>
            </a:endParaRPr>
          </a:p>
        </p:txBody>
      </p:sp>
      <p:grpSp>
        <p:nvGrpSpPr>
          <p:cNvPr id="1336" name="Google Shape;1336;p27"/>
          <p:cNvGrpSpPr/>
          <p:nvPr/>
        </p:nvGrpSpPr>
        <p:grpSpPr>
          <a:xfrm>
            <a:off x="2959741" y="3627475"/>
            <a:ext cx="130175" cy="431165"/>
            <a:chOff x="2959741" y="3627475"/>
            <a:chExt cx="130175" cy="431165"/>
          </a:xfrm>
        </p:grpSpPr>
        <p:sp>
          <p:nvSpPr>
            <p:cNvPr id="1337" name="Google Shape;1337;p27"/>
            <p:cNvSpPr/>
            <p:nvPr/>
          </p:nvSpPr>
          <p:spPr>
            <a:xfrm>
              <a:off x="2959741"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8" name="Google Shape;1338;p27"/>
            <p:cNvSpPr/>
            <p:nvPr/>
          </p:nvSpPr>
          <p:spPr>
            <a:xfrm>
              <a:off x="295974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39" name="Google Shape;1339;p27"/>
          <p:cNvGrpSpPr/>
          <p:nvPr/>
        </p:nvGrpSpPr>
        <p:grpSpPr>
          <a:xfrm>
            <a:off x="3735962" y="3631266"/>
            <a:ext cx="130175" cy="431165"/>
            <a:chOff x="3735962" y="3631266"/>
            <a:chExt cx="130175" cy="431165"/>
          </a:xfrm>
        </p:grpSpPr>
        <p:sp>
          <p:nvSpPr>
            <p:cNvPr id="1340" name="Google Shape;1340;p27"/>
            <p:cNvSpPr/>
            <p:nvPr/>
          </p:nvSpPr>
          <p:spPr>
            <a:xfrm>
              <a:off x="3735962"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1" name="Google Shape;1341;p27"/>
            <p:cNvSpPr/>
            <p:nvPr/>
          </p:nvSpPr>
          <p:spPr>
            <a:xfrm>
              <a:off x="3735962"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42" name="Google Shape;1342;p27"/>
          <p:cNvGrpSpPr/>
          <p:nvPr/>
        </p:nvGrpSpPr>
        <p:grpSpPr>
          <a:xfrm>
            <a:off x="4512184" y="3627475"/>
            <a:ext cx="130175" cy="431165"/>
            <a:chOff x="4512184" y="3627475"/>
            <a:chExt cx="130175" cy="431165"/>
          </a:xfrm>
        </p:grpSpPr>
        <p:sp>
          <p:nvSpPr>
            <p:cNvPr id="1343" name="Google Shape;1343;p27"/>
            <p:cNvSpPr/>
            <p:nvPr/>
          </p:nvSpPr>
          <p:spPr>
            <a:xfrm>
              <a:off x="4512184"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4" name="Google Shape;1344;p27"/>
            <p:cNvSpPr/>
            <p:nvPr/>
          </p:nvSpPr>
          <p:spPr>
            <a:xfrm>
              <a:off x="4512184"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45" name="Google Shape;1345;p27"/>
          <p:cNvGrpSpPr/>
          <p:nvPr/>
        </p:nvGrpSpPr>
        <p:grpSpPr>
          <a:xfrm>
            <a:off x="5289456" y="3631266"/>
            <a:ext cx="130175" cy="431165"/>
            <a:chOff x="5289456" y="3631266"/>
            <a:chExt cx="130175" cy="431165"/>
          </a:xfrm>
        </p:grpSpPr>
        <p:sp>
          <p:nvSpPr>
            <p:cNvPr id="1346" name="Google Shape;1346;p27"/>
            <p:cNvSpPr/>
            <p:nvPr/>
          </p:nvSpPr>
          <p:spPr>
            <a:xfrm>
              <a:off x="5289456"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7" name="Google Shape;1347;p27"/>
            <p:cNvSpPr/>
            <p:nvPr/>
          </p:nvSpPr>
          <p:spPr>
            <a:xfrm>
              <a:off x="5289456"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48" name="Google Shape;1348;p27"/>
          <p:cNvGrpSpPr/>
          <p:nvPr/>
        </p:nvGrpSpPr>
        <p:grpSpPr>
          <a:xfrm>
            <a:off x="6061671" y="3627475"/>
            <a:ext cx="130175" cy="431165"/>
            <a:chOff x="6061671" y="3627475"/>
            <a:chExt cx="130175" cy="431165"/>
          </a:xfrm>
        </p:grpSpPr>
        <p:sp>
          <p:nvSpPr>
            <p:cNvPr id="1349" name="Google Shape;1349;p27"/>
            <p:cNvSpPr/>
            <p:nvPr/>
          </p:nvSpPr>
          <p:spPr>
            <a:xfrm>
              <a:off x="6061671"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0" name="Google Shape;1350;p27"/>
            <p:cNvSpPr/>
            <p:nvPr/>
          </p:nvSpPr>
          <p:spPr>
            <a:xfrm>
              <a:off x="606167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51" name="Google Shape;1351;p27"/>
          <p:cNvGrpSpPr/>
          <p:nvPr/>
        </p:nvGrpSpPr>
        <p:grpSpPr>
          <a:xfrm>
            <a:off x="6848395" y="3627475"/>
            <a:ext cx="130175" cy="431165"/>
            <a:chOff x="6848395" y="3627475"/>
            <a:chExt cx="130175" cy="431165"/>
          </a:xfrm>
        </p:grpSpPr>
        <p:sp>
          <p:nvSpPr>
            <p:cNvPr id="1352" name="Google Shape;1352;p27"/>
            <p:cNvSpPr/>
            <p:nvPr/>
          </p:nvSpPr>
          <p:spPr>
            <a:xfrm>
              <a:off x="6848395"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3" name="Google Shape;1353;p27"/>
            <p:cNvSpPr/>
            <p:nvPr/>
          </p:nvSpPr>
          <p:spPr>
            <a:xfrm>
              <a:off x="684839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54" name="Google Shape;1354;p27"/>
          <p:cNvGrpSpPr/>
          <p:nvPr/>
        </p:nvGrpSpPr>
        <p:grpSpPr>
          <a:xfrm>
            <a:off x="7615777" y="3627475"/>
            <a:ext cx="130175" cy="431165"/>
            <a:chOff x="7615777" y="3627475"/>
            <a:chExt cx="130175" cy="431165"/>
          </a:xfrm>
        </p:grpSpPr>
        <p:sp>
          <p:nvSpPr>
            <p:cNvPr id="1355" name="Google Shape;1355;p27"/>
            <p:cNvSpPr/>
            <p:nvPr/>
          </p:nvSpPr>
          <p:spPr>
            <a:xfrm>
              <a:off x="7615777"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6" name="Google Shape;1356;p27"/>
            <p:cNvSpPr/>
            <p:nvPr/>
          </p:nvSpPr>
          <p:spPr>
            <a:xfrm>
              <a:off x="7615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57" name="Google Shape;1357;p27"/>
          <p:cNvGrpSpPr/>
          <p:nvPr/>
        </p:nvGrpSpPr>
        <p:grpSpPr>
          <a:xfrm>
            <a:off x="8391777" y="3627475"/>
            <a:ext cx="130175" cy="431165"/>
            <a:chOff x="8391777" y="3627475"/>
            <a:chExt cx="130175" cy="431165"/>
          </a:xfrm>
        </p:grpSpPr>
        <p:sp>
          <p:nvSpPr>
            <p:cNvPr id="1358" name="Google Shape;1358;p27"/>
            <p:cNvSpPr/>
            <p:nvPr/>
          </p:nvSpPr>
          <p:spPr>
            <a:xfrm>
              <a:off x="8391777"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9" name="Google Shape;1359;p27"/>
            <p:cNvSpPr/>
            <p:nvPr/>
          </p:nvSpPr>
          <p:spPr>
            <a:xfrm>
              <a:off x="8391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60" name="Google Shape;1360;p27"/>
          <p:cNvGrpSpPr/>
          <p:nvPr/>
        </p:nvGrpSpPr>
        <p:grpSpPr>
          <a:xfrm>
            <a:off x="9168528" y="3627475"/>
            <a:ext cx="130175" cy="431165"/>
            <a:chOff x="9168528" y="3627475"/>
            <a:chExt cx="130175" cy="431165"/>
          </a:xfrm>
        </p:grpSpPr>
        <p:sp>
          <p:nvSpPr>
            <p:cNvPr id="1361" name="Google Shape;1361;p27"/>
            <p:cNvSpPr/>
            <p:nvPr/>
          </p:nvSpPr>
          <p:spPr>
            <a:xfrm>
              <a:off x="9168528"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2" name="Google Shape;1362;p27"/>
            <p:cNvSpPr/>
            <p:nvPr/>
          </p:nvSpPr>
          <p:spPr>
            <a:xfrm>
              <a:off x="9168528"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363" name="Google Shape;1363;p27"/>
          <p:cNvSpPr txBox="1"/>
          <p:nvPr/>
        </p:nvSpPr>
        <p:spPr>
          <a:xfrm>
            <a:off x="2936516" y="4004564"/>
            <a:ext cx="638429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	+	+	+	+	+	+	+	+</a:t>
            </a:r>
            <a:endParaRPr sz="2400" b="0" i="0" u="none" strike="noStrike" cap="none">
              <a:solidFill>
                <a:srgbClr val="000000"/>
              </a:solidFill>
              <a:latin typeface="Calibri"/>
              <a:ea typeface="Calibri"/>
              <a:cs typeface="Calibri"/>
              <a:sym typeface="Calibri"/>
            </a:endParaRPr>
          </a:p>
        </p:txBody>
      </p:sp>
      <p:sp>
        <p:nvSpPr>
          <p:cNvPr id="1364" name="Google Shape;1364;p27"/>
          <p:cNvSpPr txBox="1"/>
          <p:nvPr/>
        </p:nvSpPr>
        <p:spPr>
          <a:xfrm>
            <a:off x="10345797" y="1160779"/>
            <a:ext cx="1602740" cy="1125855"/>
          </a:xfrm>
          <a:prstGeom prst="rect">
            <a:avLst/>
          </a:prstGeom>
          <a:noFill/>
          <a:ln>
            <a:noFill/>
          </a:ln>
        </p:spPr>
        <p:txBody>
          <a:bodyPr spcFirstLastPara="1" wrap="square" lIns="0" tIns="11425" rIns="0" bIns="0" anchor="t" anchorCtr="0">
            <a:spAutoFit/>
          </a:bodyPr>
          <a:lstStyle/>
          <a:p>
            <a:pPr marL="12700" marR="5080" lvl="0" indent="0" algn="l" rtl="0">
              <a:lnSpc>
                <a:spcPct val="100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 C-dim vector of predicted class scores</a:t>
            </a:r>
            <a:endParaRPr sz="1800" b="0" i="0" u="none" strike="noStrike" cap="none">
              <a:solidFill>
                <a:srgbClr val="000000"/>
              </a:solidFill>
              <a:latin typeface="Calibri"/>
              <a:ea typeface="Calibri"/>
              <a:cs typeface="Calibri"/>
              <a:sym typeface="Calibri"/>
            </a:endParaRPr>
          </a:p>
        </p:txBody>
      </p:sp>
      <p:grpSp>
        <p:nvGrpSpPr>
          <p:cNvPr id="1365" name="Google Shape;1365;p27"/>
          <p:cNvGrpSpPr/>
          <p:nvPr/>
        </p:nvGrpSpPr>
        <p:grpSpPr>
          <a:xfrm>
            <a:off x="2535941" y="2675707"/>
            <a:ext cx="7881620" cy="769620"/>
            <a:chOff x="2535941" y="2675707"/>
            <a:chExt cx="7881620" cy="769620"/>
          </a:xfrm>
        </p:grpSpPr>
        <p:sp>
          <p:nvSpPr>
            <p:cNvPr id="1366" name="Google Shape;1366;p27"/>
            <p:cNvSpPr/>
            <p:nvPr/>
          </p:nvSpPr>
          <p:spPr>
            <a:xfrm>
              <a:off x="2535941" y="2675707"/>
              <a:ext cx="7881620" cy="769620"/>
            </a:xfrm>
            <a:custGeom>
              <a:avLst/>
              <a:gdLst/>
              <a:ahLst/>
              <a:cxnLst/>
              <a:rect l="l" t="t" r="r" b="b"/>
              <a:pathLst>
                <a:path w="7881620" h="769620" extrusionOk="0">
                  <a:moveTo>
                    <a:pt x="7753038" y="0"/>
                  </a:moveTo>
                  <a:lnTo>
                    <a:pt x="128234" y="0"/>
                  </a:lnTo>
                  <a:lnTo>
                    <a:pt x="78319" y="10077"/>
                  </a:lnTo>
                  <a:lnTo>
                    <a:pt x="37559" y="37559"/>
                  </a:lnTo>
                  <a:lnTo>
                    <a:pt x="10077" y="78319"/>
                  </a:lnTo>
                  <a:lnTo>
                    <a:pt x="0" y="128234"/>
                  </a:lnTo>
                  <a:lnTo>
                    <a:pt x="0" y="641184"/>
                  </a:lnTo>
                  <a:lnTo>
                    <a:pt x="10077" y="691099"/>
                  </a:lnTo>
                  <a:lnTo>
                    <a:pt x="37559" y="731860"/>
                  </a:lnTo>
                  <a:lnTo>
                    <a:pt x="78319" y="759341"/>
                  </a:lnTo>
                  <a:lnTo>
                    <a:pt x="128234" y="769419"/>
                  </a:lnTo>
                  <a:lnTo>
                    <a:pt x="7753038" y="769419"/>
                  </a:lnTo>
                  <a:lnTo>
                    <a:pt x="7802953" y="759341"/>
                  </a:lnTo>
                  <a:lnTo>
                    <a:pt x="7843714" y="731860"/>
                  </a:lnTo>
                  <a:lnTo>
                    <a:pt x="7871196" y="691099"/>
                  </a:lnTo>
                  <a:lnTo>
                    <a:pt x="7881273" y="641184"/>
                  </a:lnTo>
                  <a:lnTo>
                    <a:pt x="7881273" y="128234"/>
                  </a:lnTo>
                  <a:lnTo>
                    <a:pt x="7871196" y="78319"/>
                  </a:lnTo>
                  <a:lnTo>
                    <a:pt x="7843714" y="37559"/>
                  </a:lnTo>
                  <a:lnTo>
                    <a:pt x="7802953" y="10077"/>
                  </a:lnTo>
                  <a:lnTo>
                    <a:pt x="7753038" y="0"/>
                  </a:lnTo>
                  <a:close/>
                </a:path>
              </a:pathLst>
            </a:custGeom>
            <a:solidFill>
              <a:srgbClr val="E2F0D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7" name="Google Shape;1367;p27"/>
            <p:cNvSpPr/>
            <p:nvPr/>
          </p:nvSpPr>
          <p:spPr>
            <a:xfrm>
              <a:off x="2535941" y="2675707"/>
              <a:ext cx="7881620" cy="769620"/>
            </a:xfrm>
            <a:custGeom>
              <a:avLst/>
              <a:gdLst/>
              <a:ahLst/>
              <a:cxnLst/>
              <a:rect l="l" t="t" r="r" b="b"/>
              <a:pathLst>
                <a:path w="7881620" h="769620" extrusionOk="0">
                  <a:moveTo>
                    <a:pt x="0" y="128235"/>
                  </a:moveTo>
                  <a:lnTo>
                    <a:pt x="10077" y="78320"/>
                  </a:lnTo>
                  <a:lnTo>
                    <a:pt x="37559" y="37559"/>
                  </a:lnTo>
                  <a:lnTo>
                    <a:pt x="78319" y="10077"/>
                  </a:lnTo>
                  <a:lnTo>
                    <a:pt x="128234" y="0"/>
                  </a:lnTo>
                  <a:lnTo>
                    <a:pt x="7753040" y="0"/>
                  </a:lnTo>
                  <a:lnTo>
                    <a:pt x="7802954" y="10077"/>
                  </a:lnTo>
                  <a:lnTo>
                    <a:pt x="7843714" y="37559"/>
                  </a:lnTo>
                  <a:lnTo>
                    <a:pt x="7871196" y="78320"/>
                  </a:lnTo>
                  <a:lnTo>
                    <a:pt x="7881274" y="128235"/>
                  </a:lnTo>
                  <a:lnTo>
                    <a:pt x="7881274" y="641184"/>
                  </a:lnTo>
                  <a:lnTo>
                    <a:pt x="7871196" y="691099"/>
                  </a:lnTo>
                  <a:lnTo>
                    <a:pt x="7843714" y="731860"/>
                  </a:lnTo>
                  <a:lnTo>
                    <a:pt x="7802954" y="759342"/>
                  </a:lnTo>
                  <a:lnTo>
                    <a:pt x="7753040" y="769420"/>
                  </a:lnTo>
                  <a:lnTo>
                    <a:pt x="128234" y="769420"/>
                  </a:lnTo>
                  <a:lnTo>
                    <a:pt x="78319" y="759342"/>
                  </a:lnTo>
                  <a:lnTo>
                    <a:pt x="37559" y="731860"/>
                  </a:lnTo>
                  <a:lnTo>
                    <a:pt x="10077" y="691099"/>
                  </a:lnTo>
                  <a:lnTo>
                    <a:pt x="0" y="641184"/>
                  </a:lnTo>
                  <a:lnTo>
                    <a:pt x="0" y="128235"/>
                  </a:lnTo>
                  <a:close/>
                </a:path>
              </a:pathLst>
            </a:custGeom>
            <a:noFill/>
            <a:ln w="12700" cap="flat" cmpd="sng">
              <a:solidFill>
                <a:srgbClr val="70AD47"/>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368" name="Google Shape;1368;p27"/>
          <p:cNvSpPr txBox="1"/>
          <p:nvPr/>
        </p:nvSpPr>
        <p:spPr>
          <a:xfrm>
            <a:off x="5585417" y="2807715"/>
            <a:ext cx="178308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Transformer</a:t>
            </a:r>
            <a:endParaRPr sz="2800" b="0" i="0" u="none" strike="noStrike" cap="none">
              <a:solidFill>
                <a:srgbClr val="000000"/>
              </a:solidFill>
              <a:latin typeface="Calibri"/>
              <a:ea typeface="Calibri"/>
              <a:cs typeface="Calibri"/>
              <a:sym typeface="Calibri"/>
            </a:endParaRPr>
          </a:p>
        </p:txBody>
      </p:sp>
      <p:sp>
        <p:nvSpPr>
          <p:cNvPr id="1369" name="Google Shape;1369;p27"/>
          <p:cNvSpPr txBox="1"/>
          <p:nvPr/>
        </p:nvSpPr>
        <p:spPr>
          <a:xfrm>
            <a:off x="276038" y="4817126"/>
            <a:ext cx="2040889" cy="1021080"/>
          </a:xfrm>
          <a:prstGeom prst="rect">
            <a:avLst/>
          </a:prstGeom>
          <a:noFill/>
          <a:ln>
            <a:noFill/>
          </a:ln>
        </p:spPr>
        <p:txBody>
          <a:bodyPr spcFirstLastPara="1" wrap="square" lIns="0" tIns="1250" rIns="0" bIns="0" anchor="t" anchorCtr="0">
            <a:spAutoFit/>
          </a:bodyPr>
          <a:lstStyle/>
          <a:p>
            <a:pPr marL="17145"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D-dimensional vector</a:t>
            </a:r>
            <a:endParaRPr sz="1800" b="0" i="0" u="none" strike="noStrike" cap="none">
              <a:solidFill>
                <a:srgbClr val="000000"/>
              </a:solidFill>
              <a:latin typeface="Calibri"/>
              <a:ea typeface="Calibri"/>
              <a:cs typeface="Calibri"/>
              <a:sym typeface="Calibri"/>
            </a:endParaRPr>
          </a:p>
          <a:p>
            <a:pPr marL="12700" marR="5080" lvl="0" indent="0" algn="l" rtl="0">
              <a:lnSpc>
                <a:spcPct val="117222"/>
              </a:lnSpc>
              <a:spcBef>
                <a:spcPts val="148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N input patches, each of shape 3x16x16</a:t>
            </a:r>
            <a:endParaRPr sz="1800" b="0" i="0" u="none" strike="noStrike" cap="none">
              <a:solidFill>
                <a:srgbClr val="000000"/>
              </a:solidFill>
              <a:latin typeface="Calibri"/>
              <a:ea typeface="Calibri"/>
              <a:cs typeface="Calibri"/>
              <a:sym typeface="Calibri"/>
            </a:endParaRPr>
          </a:p>
        </p:txBody>
      </p:sp>
      <p:sp>
        <p:nvSpPr>
          <p:cNvPr id="1370" name="Google Shape;1370;p27"/>
          <p:cNvSpPr txBox="1"/>
          <p:nvPr/>
        </p:nvSpPr>
        <p:spPr>
          <a:xfrm>
            <a:off x="10251213" y="5962476"/>
            <a:ext cx="1861185" cy="375920"/>
          </a:xfrm>
          <a:prstGeom prst="rect">
            <a:avLst/>
          </a:prstGeom>
          <a:noFill/>
          <a:ln>
            <a:noFill/>
          </a:ln>
        </p:spPr>
        <p:txBody>
          <a:bodyPr spcFirstLastPara="1" wrap="square" lIns="0" tIns="1250" rIns="0" bIns="0" anchor="t" anchorCtr="0">
            <a:spAutoFit/>
          </a:bodyPr>
          <a:lstStyle/>
          <a:p>
            <a:pPr marL="296545" marR="5080" lvl="0" indent="-284480" algn="l" rtl="0">
              <a:lnSpc>
                <a:spcPct val="129090"/>
              </a:lnSpc>
              <a:spcBef>
                <a:spcPts val="0"/>
              </a:spcBef>
              <a:spcAft>
                <a:spcPts val="0"/>
              </a:spcAft>
              <a:buClr>
                <a:srgbClr val="0563C1"/>
              </a:buClr>
              <a:buSzPts val="1100"/>
              <a:buFont typeface="Arial"/>
              <a:buNone/>
            </a:pPr>
            <a:r>
              <a:rPr lang="en-US" sz="1100" b="0" i="0" u="sng" strike="noStrike" cap="none">
                <a:solidFill>
                  <a:srgbClr val="0563C1"/>
                </a:solidFill>
                <a:latin typeface="Calibri"/>
                <a:ea typeface="Calibri"/>
                <a:cs typeface="Calibri"/>
                <a:sym typeface="Calibri"/>
              </a:rPr>
              <a:t>Cat image</a:t>
            </a:r>
            <a:r>
              <a:rPr lang="en-US" sz="1100" b="0" i="0" u="none" strike="noStrike" cap="none">
                <a:solidFill>
                  <a:srgbClr val="0563C1"/>
                </a:solidFill>
                <a:latin typeface="Calibri"/>
                <a:ea typeface="Calibri"/>
                <a:cs typeface="Calibri"/>
                <a:sym typeface="Calibri"/>
              </a:rPr>
              <a:t> </a:t>
            </a:r>
            <a:r>
              <a:rPr lang="en-US" sz="1100" b="0" i="0" u="none" strike="noStrike" cap="none">
                <a:solidFill>
                  <a:srgbClr val="000000"/>
                </a:solidFill>
                <a:latin typeface="Calibri"/>
                <a:ea typeface="Calibri"/>
                <a:cs typeface="Calibri"/>
                <a:sym typeface="Calibri"/>
              </a:rPr>
              <a:t>is free for commercial use under a </a:t>
            </a:r>
            <a:r>
              <a:rPr lang="en-US" sz="1100" b="0" i="0" u="sng" strike="noStrike" cap="none">
                <a:solidFill>
                  <a:srgbClr val="0563C1"/>
                </a:solidFill>
                <a:latin typeface="Calibri"/>
                <a:ea typeface="Calibri"/>
                <a:cs typeface="Calibri"/>
                <a:sym typeface="Calibri"/>
              </a:rPr>
              <a:t>Pixabay license</a:t>
            </a:r>
            <a:endParaRPr sz="1100" b="0" i="0" u="none" strike="noStrike" cap="none">
              <a:solidFill>
                <a:srgbClr val="000000"/>
              </a:solidFill>
              <a:latin typeface="Calibri"/>
              <a:ea typeface="Calibri"/>
              <a:cs typeface="Calibri"/>
              <a:sym typeface="Calibri"/>
            </a:endParaRPr>
          </a:p>
        </p:txBody>
      </p:sp>
      <p:sp>
        <p:nvSpPr>
          <p:cNvPr id="1371" name="Google Shape;1371;p27"/>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1372" name="Google Shape;1372;p27"/>
          <p:cNvSpPr txBox="1"/>
          <p:nvPr/>
        </p:nvSpPr>
        <p:spPr>
          <a:xfrm>
            <a:off x="1182955" y="1048003"/>
            <a:ext cx="2908300" cy="760095"/>
          </a:xfrm>
          <a:prstGeom prst="rect">
            <a:avLst/>
          </a:prstGeom>
          <a:noFill/>
          <a:ln>
            <a:noFill/>
          </a:ln>
        </p:spPr>
        <p:txBody>
          <a:bodyPr spcFirstLastPara="1" wrap="square" lIns="0" tIns="9525" rIns="0" bIns="0" anchor="t" anchorCtr="0">
            <a:spAutoFit/>
          </a:bodyPr>
          <a:lstStyle/>
          <a:p>
            <a:pPr marL="12700" marR="5080" lvl="0" indent="0" algn="l" rtl="0">
              <a:lnSpc>
                <a:spcPct val="100800"/>
              </a:lnSpc>
              <a:spcBef>
                <a:spcPts val="0"/>
              </a:spcBef>
              <a:spcAft>
                <a:spcPts val="0"/>
              </a:spcAft>
              <a:buClr>
                <a:srgbClr val="70AD47"/>
              </a:buClr>
              <a:buSzPts val="2400"/>
              <a:buFont typeface="Arial"/>
              <a:buNone/>
            </a:pPr>
            <a:r>
              <a:rPr lang="en-US" sz="2400" b="0" i="0" u="none" strike="noStrike" cap="none">
                <a:solidFill>
                  <a:srgbClr val="70AD47"/>
                </a:solidFill>
                <a:latin typeface="Calibri"/>
                <a:ea typeface="Calibri"/>
                <a:cs typeface="Calibri"/>
                <a:sym typeface="Calibri"/>
              </a:rPr>
              <a:t>Computer vision model with no convolutions!</a:t>
            </a: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376"/>
        <p:cNvGrpSpPr/>
        <p:nvPr/>
      </p:nvGrpSpPr>
      <p:grpSpPr>
        <a:xfrm>
          <a:off x="0" y="0"/>
          <a:ext cx="0" cy="0"/>
          <a:chOff x="0" y="0"/>
          <a:chExt cx="0" cy="0"/>
        </a:xfrm>
      </p:grpSpPr>
      <p:sp>
        <p:nvSpPr>
          <p:cNvPr id="1377" name="Google Shape;1377;p28"/>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a:t>
            </a:r>
            <a:endParaRPr/>
          </a:p>
        </p:txBody>
      </p:sp>
      <p:grpSp>
        <p:nvGrpSpPr>
          <p:cNvPr id="1378" name="Google Shape;1378;p28"/>
          <p:cNvGrpSpPr/>
          <p:nvPr/>
        </p:nvGrpSpPr>
        <p:grpSpPr>
          <a:xfrm>
            <a:off x="2535941" y="4400222"/>
            <a:ext cx="683958" cy="1475057"/>
            <a:chOff x="2535941" y="4400222"/>
            <a:chExt cx="683958" cy="1475057"/>
          </a:xfrm>
        </p:grpSpPr>
        <p:sp>
          <p:nvSpPr>
            <p:cNvPr id="1379" name="Google Shape;1379;p28"/>
            <p:cNvSpPr/>
            <p:nvPr/>
          </p:nvSpPr>
          <p:spPr>
            <a:xfrm>
              <a:off x="2802577"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80" name="Google Shape;1380;p28"/>
            <p:cNvSpPr/>
            <p:nvPr/>
          </p:nvSpPr>
          <p:spPr>
            <a:xfrm>
              <a:off x="2802577"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81" name="Google Shape;1381;p28"/>
            <p:cNvSpPr/>
            <p:nvPr/>
          </p:nvSpPr>
          <p:spPr>
            <a:xfrm>
              <a:off x="2829572" y="4831110"/>
              <a:ext cx="76200" cy="404495"/>
            </a:xfrm>
            <a:custGeom>
              <a:avLst/>
              <a:gdLst/>
              <a:ahLst/>
              <a:cxnLst/>
              <a:rect l="l" t="t" r="r" b="b"/>
              <a:pathLst>
                <a:path w="76200" h="404495" extrusionOk="0">
                  <a:moveTo>
                    <a:pt x="50799" y="76183"/>
                  </a:moveTo>
                  <a:lnTo>
                    <a:pt x="25399" y="76217"/>
                  </a:lnTo>
                  <a:lnTo>
                    <a:pt x="25840" y="404106"/>
                  </a:lnTo>
                  <a:lnTo>
                    <a:pt x="51240" y="404072"/>
                  </a:lnTo>
                  <a:lnTo>
                    <a:pt x="50799" y="76183"/>
                  </a:lnTo>
                  <a:close/>
                </a:path>
                <a:path w="76200" h="404495" extrusionOk="0">
                  <a:moveTo>
                    <a:pt x="37997" y="0"/>
                  </a:moveTo>
                  <a:lnTo>
                    <a:pt x="0" y="76252"/>
                  </a:lnTo>
                  <a:lnTo>
                    <a:pt x="25399" y="76217"/>
                  </a:lnTo>
                  <a:lnTo>
                    <a:pt x="25382" y="63517"/>
                  </a:lnTo>
                  <a:lnTo>
                    <a:pt x="69845" y="63483"/>
                  </a:lnTo>
                  <a:lnTo>
                    <a:pt x="37997" y="0"/>
                  </a:lnTo>
                  <a:close/>
                </a:path>
                <a:path w="76200" h="404495" extrusionOk="0">
                  <a:moveTo>
                    <a:pt x="50782" y="63483"/>
                  </a:moveTo>
                  <a:lnTo>
                    <a:pt x="25382" y="63517"/>
                  </a:lnTo>
                  <a:lnTo>
                    <a:pt x="25399" y="76217"/>
                  </a:lnTo>
                  <a:lnTo>
                    <a:pt x="50799" y="76183"/>
                  </a:lnTo>
                  <a:lnTo>
                    <a:pt x="50782" y="63483"/>
                  </a:lnTo>
                  <a:close/>
                </a:path>
                <a:path w="76200" h="404495" extrusionOk="0">
                  <a:moveTo>
                    <a:pt x="69845" y="63483"/>
                  </a:moveTo>
                  <a:lnTo>
                    <a:pt x="50782" y="63483"/>
                  </a:lnTo>
                  <a:lnTo>
                    <a:pt x="50799" y="76183"/>
                  </a:lnTo>
                  <a:lnTo>
                    <a:pt x="76200" y="76149"/>
                  </a:lnTo>
                  <a:lnTo>
                    <a:pt x="69845" y="6348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382" name="Google Shape;1382;p28"/>
            <p:cNvPicPr preferRelativeResize="0"/>
            <p:nvPr/>
          </p:nvPicPr>
          <p:blipFill rotWithShape="1">
            <a:blip r:embed="rId3">
              <a:alphaModFix/>
            </a:blip>
            <a:srcRect/>
            <a:stretch/>
          </p:blipFill>
          <p:spPr>
            <a:xfrm>
              <a:off x="2535941" y="5235200"/>
              <a:ext cx="639705" cy="640079"/>
            </a:xfrm>
            <a:prstGeom prst="rect">
              <a:avLst/>
            </a:prstGeom>
            <a:noFill/>
            <a:ln>
              <a:noFill/>
            </a:ln>
          </p:spPr>
        </p:pic>
        <p:sp>
          <p:nvSpPr>
            <p:cNvPr id="1383" name="Google Shape;1383;p28"/>
            <p:cNvSpPr/>
            <p:nvPr/>
          </p:nvSpPr>
          <p:spPr>
            <a:xfrm>
              <a:off x="3089724"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84" name="Google Shape;1384;p28"/>
            <p:cNvSpPr/>
            <p:nvPr/>
          </p:nvSpPr>
          <p:spPr>
            <a:xfrm>
              <a:off x="3089724"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85" name="Google Shape;1385;p28"/>
          <p:cNvGrpSpPr/>
          <p:nvPr/>
        </p:nvGrpSpPr>
        <p:grpSpPr>
          <a:xfrm>
            <a:off x="3312686" y="4404013"/>
            <a:ext cx="683436" cy="1471266"/>
            <a:chOff x="3312686" y="4404013"/>
            <a:chExt cx="683436" cy="1471266"/>
          </a:xfrm>
        </p:grpSpPr>
        <p:sp>
          <p:nvSpPr>
            <p:cNvPr id="1386" name="Google Shape;1386;p28"/>
            <p:cNvSpPr/>
            <p:nvPr/>
          </p:nvSpPr>
          <p:spPr>
            <a:xfrm>
              <a:off x="3578800" y="4404013"/>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87" name="Google Shape;1387;p28"/>
            <p:cNvSpPr/>
            <p:nvPr/>
          </p:nvSpPr>
          <p:spPr>
            <a:xfrm>
              <a:off x="3578800"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88" name="Google Shape;1388;p28"/>
            <p:cNvSpPr/>
            <p:nvPr/>
          </p:nvSpPr>
          <p:spPr>
            <a:xfrm>
              <a:off x="3605753" y="4834901"/>
              <a:ext cx="76200" cy="400685"/>
            </a:xfrm>
            <a:custGeom>
              <a:avLst/>
              <a:gdLst/>
              <a:ahLst/>
              <a:cxnLst/>
              <a:rect l="l" t="t" r="r" b="b"/>
              <a:pathLst>
                <a:path w="76200" h="400685" extrusionOk="0">
                  <a:moveTo>
                    <a:pt x="50800" y="76190"/>
                  </a:moveTo>
                  <a:lnTo>
                    <a:pt x="25400" y="76211"/>
                  </a:lnTo>
                  <a:lnTo>
                    <a:pt x="25660" y="400309"/>
                  </a:lnTo>
                  <a:lnTo>
                    <a:pt x="51060" y="400288"/>
                  </a:lnTo>
                  <a:lnTo>
                    <a:pt x="50800" y="76190"/>
                  </a:lnTo>
                  <a:close/>
                </a:path>
                <a:path w="76200" h="400685" extrusionOk="0">
                  <a:moveTo>
                    <a:pt x="38037" y="0"/>
                  </a:moveTo>
                  <a:lnTo>
                    <a:pt x="0" y="76231"/>
                  </a:lnTo>
                  <a:lnTo>
                    <a:pt x="25400" y="76211"/>
                  </a:lnTo>
                  <a:lnTo>
                    <a:pt x="25389" y="63510"/>
                  </a:lnTo>
                  <a:lnTo>
                    <a:pt x="69847" y="63489"/>
                  </a:lnTo>
                  <a:lnTo>
                    <a:pt x="38037"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389" name="Google Shape;1389;p28"/>
            <p:cNvPicPr preferRelativeResize="0"/>
            <p:nvPr/>
          </p:nvPicPr>
          <p:blipFill rotWithShape="1">
            <a:blip r:embed="rId4">
              <a:alphaModFix/>
            </a:blip>
            <a:srcRect/>
            <a:stretch/>
          </p:blipFill>
          <p:spPr>
            <a:xfrm>
              <a:off x="3312686" y="5235200"/>
              <a:ext cx="639705" cy="640079"/>
            </a:xfrm>
            <a:prstGeom prst="rect">
              <a:avLst/>
            </a:prstGeom>
            <a:noFill/>
            <a:ln>
              <a:noFill/>
            </a:ln>
          </p:spPr>
        </p:pic>
        <p:sp>
          <p:nvSpPr>
            <p:cNvPr id="1390" name="Google Shape;1390;p28"/>
            <p:cNvSpPr/>
            <p:nvPr/>
          </p:nvSpPr>
          <p:spPr>
            <a:xfrm>
              <a:off x="3865947" y="440599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91" name="Google Shape;1391;p28"/>
            <p:cNvSpPr/>
            <p:nvPr/>
          </p:nvSpPr>
          <p:spPr>
            <a:xfrm>
              <a:off x="3865947"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92" name="Google Shape;1392;p28"/>
          <p:cNvGrpSpPr/>
          <p:nvPr/>
        </p:nvGrpSpPr>
        <p:grpSpPr>
          <a:xfrm>
            <a:off x="4089432" y="4400222"/>
            <a:ext cx="682911" cy="1475057"/>
            <a:chOff x="4089432" y="4400222"/>
            <a:chExt cx="682911" cy="1475057"/>
          </a:xfrm>
        </p:grpSpPr>
        <p:sp>
          <p:nvSpPr>
            <p:cNvPr id="1393" name="Google Shape;1393;p28"/>
            <p:cNvSpPr/>
            <p:nvPr/>
          </p:nvSpPr>
          <p:spPr>
            <a:xfrm>
              <a:off x="4355021"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94" name="Google Shape;1394;p28"/>
            <p:cNvSpPr/>
            <p:nvPr/>
          </p:nvSpPr>
          <p:spPr>
            <a:xfrm>
              <a:off x="4355021"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95" name="Google Shape;1395;p28"/>
            <p:cNvSpPr/>
            <p:nvPr/>
          </p:nvSpPr>
          <p:spPr>
            <a:xfrm>
              <a:off x="4382073" y="4831110"/>
              <a:ext cx="76200" cy="404495"/>
            </a:xfrm>
            <a:custGeom>
              <a:avLst/>
              <a:gdLst/>
              <a:ahLst/>
              <a:cxnLst/>
              <a:rect l="l" t="t" r="r" b="b"/>
              <a:pathLst>
                <a:path w="76200" h="404495" extrusionOk="0">
                  <a:moveTo>
                    <a:pt x="50799" y="76173"/>
                  </a:moveTo>
                  <a:lnTo>
                    <a:pt x="25399" y="76226"/>
                  </a:lnTo>
                  <a:lnTo>
                    <a:pt x="26087" y="404116"/>
                  </a:lnTo>
                  <a:lnTo>
                    <a:pt x="51487" y="404063"/>
                  </a:lnTo>
                  <a:lnTo>
                    <a:pt x="50799" y="76173"/>
                  </a:lnTo>
                  <a:close/>
                </a:path>
                <a:path w="76200" h="404495" extrusionOk="0">
                  <a:moveTo>
                    <a:pt x="37939" y="0"/>
                  </a:moveTo>
                  <a:lnTo>
                    <a:pt x="0" y="76280"/>
                  </a:lnTo>
                  <a:lnTo>
                    <a:pt x="25399" y="76226"/>
                  </a:lnTo>
                  <a:lnTo>
                    <a:pt x="25373" y="63526"/>
                  </a:lnTo>
                  <a:lnTo>
                    <a:pt x="69843" y="63473"/>
                  </a:lnTo>
                  <a:lnTo>
                    <a:pt x="37939" y="0"/>
                  </a:lnTo>
                  <a:close/>
                </a:path>
                <a:path w="76200" h="404495" extrusionOk="0">
                  <a:moveTo>
                    <a:pt x="50773" y="63473"/>
                  </a:moveTo>
                  <a:lnTo>
                    <a:pt x="25373" y="63526"/>
                  </a:lnTo>
                  <a:lnTo>
                    <a:pt x="25399" y="76226"/>
                  </a:lnTo>
                  <a:lnTo>
                    <a:pt x="50799" y="76173"/>
                  </a:lnTo>
                  <a:lnTo>
                    <a:pt x="50773" y="63473"/>
                  </a:lnTo>
                  <a:close/>
                </a:path>
                <a:path w="76200" h="404495" extrusionOk="0">
                  <a:moveTo>
                    <a:pt x="69843" y="63473"/>
                  </a:moveTo>
                  <a:lnTo>
                    <a:pt x="50773" y="63473"/>
                  </a:lnTo>
                  <a:lnTo>
                    <a:pt x="50799" y="76173"/>
                  </a:lnTo>
                  <a:lnTo>
                    <a:pt x="76200" y="76119"/>
                  </a:lnTo>
                  <a:lnTo>
                    <a:pt x="69843" y="6347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396" name="Google Shape;1396;p28"/>
            <p:cNvPicPr preferRelativeResize="0"/>
            <p:nvPr/>
          </p:nvPicPr>
          <p:blipFill rotWithShape="1">
            <a:blip r:embed="rId5">
              <a:alphaModFix/>
            </a:blip>
            <a:srcRect/>
            <a:stretch/>
          </p:blipFill>
          <p:spPr>
            <a:xfrm>
              <a:off x="4089432" y="5235200"/>
              <a:ext cx="639705" cy="640079"/>
            </a:xfrm>
            <a:prstGeom prst="rect">
              <a:avLst/>
            </a:prstGeom>
            <a:noFill/>
            <a:ln>
              <a:noFill/>
            </a:ln>
          </p:spPr>
        </p:pic>
        <p:sp>
          <p:nvSpPr>
            <p:cNvPr id="1397" name="Google Shape;1397;p28"/>
            <p:cNvSpPr/>
            <p:nvPr/>
          </p:nvSpPr>
          <p:spPr>
            <a:xfrm>
              <a:off x="4642168"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98" name="Google Shape;1398;p28"/>
            <p:cNvSpPr/>
            <p:nvPr/>
          </p:nvSpPr>
          <p:spPr>
            <a:xfrm>
              <a:off x="4642168"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99" name="Google Shape;1399;p28"/>
          <p:cNvGrpSpPr/>
          <p:nvPr/>
        </p:nvGrpSpPr>
        <p:grpSpPr>
          <a:xfrm>
            <a:off x="4866180" y="4404013"/>
            <a:ext cx="683434" cy="1471266"/>
            <a:chOff x="4866180" y="4404013"/>
            <a:chExt cx="683434" cy="1471266"/>
          </a:xfrm>
        </p:grpSpPr>
        <p:sp>
          <p:nvSpPr>
            <p:cNvPr id="1400" name="Google Shape;1400;p28"/>
            <p:cNvSpPr/>
            <p:nvPr/>
          </p:nvSpPr>
          <p:spPr>
            <a:xfrm>
              <a:off x="5132292" y="4404013"/>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1" name="Google Shape;1401;p28"/>
            <p:cNvSpPr/>
            <p:nvPr/>
          </p:nvSpPr>
          <p:spPr>
            <a:xfrm>
              <a:off x="5132292"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2" name="Google Shape;1402;p28"/>
            <p:cNvSpPr/>
            <p:nvPr/>
          </p:nvSpPr>
          <p:spPr>
            <a:xfrm>
              <a:off x="5159245" y="4834901"/>
              <a:ext cx="76200" cy="400685"/>
            </a:xfrm>
            <a:custGeom>
              <a:avLst/>
              <a:gdLst/>
              <a:ahLst/>
              <a:cxnLst/>
              <a:rect l="l" t="t" r="r" b="b"/>
              <a:pathLst>
                <a:path w="76200" h="400685" extrusionOk="0">
                  <a:moveTo>
                    <a:pt x="50800" y="76190"/>
                  </a:moveTo>
                  <a:lnTo>
                    <a:pt x="25400" y="76211"/>
                  </a:lnTo>
                  <a:lnTo>
                    <a:pt x="25661" y="400319"/>
                  </a:lnTo>
                  <a:lnTo>
                    <a:pt x="51061" y="400298"/>
                  </a:lnTo>
                  <a:lnTo>
                    <a:pt x="50800" y="76190"/>
                  </a:lnTo>
                  <a:close/>
                </a:path>
                <a:path w="76200" h="400685" extrusionOk="0">
                  <a:moveTo>
                    <a:pt x="38039" y="0"/>
                  </a:moveTo>
                  <a:lnTo>
                    <a:pt x="0" y="76231"/>
                  </a:lnTo>
                  <a:lnTo>
                    <a:pt x="25400" y="76211"/>
                  </a:lnTo>
                  <a:lnTo>
                    <a:pt x="25389" y="63510"/>
                  </a:lnTo>
                  <a:lnTo>
                    <a:pt x="69847" y="63489"/>
                  </a:lnTo>
                  <a:lnTo>
                    <a:pt x="38039"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403" name="Google Shape;1403;p28"/>
            <p:cNvPicPr preferRelativeResize="0"/>
            <p:nvPr/>
          </p:nvPicPr>
          <p:blipFill rotWithShape="1">
            <a:blip r:embed="rId6">
              <a:alphaModFix/>
            </a:blip>
            <a:srcRect/>
            <a:stretch/>
          </p:blipFill>
          <p:spPr>
            <a:xfrm>
              <a:off x="4866180" y="5235200"/>
              <a:ext cx="639705" cy="640079"/>
            </a:xfrm>
            <a:prstGeom prst="rect">
              <a:avLst/>
            </a:prstGeom>
            <a:noFill/>
            <a:ln>
              <a:noFill/>
            </a:ln>
          </p:spPr>
        </p:pic>
        <p:sp>
          <p:nvSpPr>
            <p:cNvPr id="1404" name="Google Shape;1404;p28"/>
            <p:cNvSpPr/>
            <p:nvPr/>
          </p:nvSpPr>
          <p:spPr>
            <a:xfrm>
              <a:off x="5419439" y="440599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5" name="Google Shape;1405;p28"/>
            <p:cNvSpPr/>
            <p:nvPr/>
          </p:nvSpPr>
          <p:spPr>
            <a:xfrm>
              <a:off x="5419439"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06" name="Google Shape;1406;p28"/>
          <p:cNvGrpSpPr/>
          <p:nvPr/>
        </p:nvGrpSpPr>
        <p:grpSpPr>
          <a:xfrm>
            <a:off x="5645272" y="4400222"/>
            <a:ext cx="676559" cy="1475057"/>
            <a:chOff x="5645272" y="4400222"/>
            <a:chExt cx="676559" cy="1475057"/>
          </a:xfrm>
        </p:grpSpPr>
        <p:sp>
          <p:nvSpPr>
            <p:cNvPr id="1407" name="Google Shape;1407;p28"/>
            <p:cNvSpPr/>
            <p:nvPr/>
          </p:nvSpPr>
          <p:spPr>
            <a:xfrm>
              <a:off x="5904509"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8" name="Google Shape;1408;p28"/>
            <p:cNvSpPr/>
            <p:nvPr/>
          </p:nvSpPr>
          <p:spPr>
            <a:xfrm>
              <a:off x="5904509"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9" name="Google Shape;1409;p28"/>
            <p:cNvSpPr/>
            <p:nvPr/>
          </p:nvSpPr>
          <p:spPr>
            <a:xfrm>
              <a:off x="5932177" y="4831110"/>
              <a:ext cx="76200" cy="404495"/>
            </a:xfrm>
            <a:custGeom>
              <a:avLst/>
              <a:gdLst/>
              <a:ahLst/>
              <a:cxnLst/>
              <a:rect l="l" t="t" r="r" b="b"/>
              <a:pathLst>
                <a:path w="76200" h="404495" extrusionOk="0">
                  <a:moveTo>
                    <a:pt x="50796" y="76067"/>
                  </a:moveTo>
                  <a:lnTo>
                    <a:pt x="25398" y="76325"/>
                  </a:lnTo>
                  <a:lnTo>
                    <a:pt x="28731" y="404228"/>
                  </a:lnTo>
                  <a:lnTo>
                    <a:pt x="54129" y="403970"/>
                  </a:lnTo>
                  <a:lnTo>
                    <a:pt x="50796" y="76067"/>
                  </a:lnTo>
                  <a:close/>
                </a:path>
                <a:path w="76200" h="404495" extrusionOk="0">
                  <a:moveTo>
                    <a:pt x="37322" y="0"/>
                  </a:moveTo>
                  <a:lnTo>
                    <a:pt x="0" y="76583"/>
                  </a:lnTo>
                  <a:lnTo>
                    <a:pt x="25398" y="76325"/>
                  </a:lnTo>
                  <a:lnTo>
                    <a:pt x="25269" y="63626"/>
                  </a:lnTo>
                  <a:lnTo>
                    <a:pt x="50667" y="63367"/>
                  </a:lnTo>
                  <a:lnTo>
                    <a:pt x="69815" y="63367"/>
                  </a:lnTo>
                  <a:lnTo>
                    <a:pt x="37322" y="0"/>
                  </a:lnTo>
                  <a:close/>
                </a:path>
                <a:path w="76200" h="404495" extrusionOk="0">
                  <a:moveTo>
                    <a:pt x="50667" y="63367"/>
                  </a:moveTo>
                  <a:lnTo>
                    <a:pt x="25269" y="63626"/>
                  </a:lnTo>
                  <a:lnTo>
                    <a:pt x="25398" y="76325"/>
                  </a:lnTo>
                  <a:lnTo>
                    <a:pt x="50796" y="76067"/>
                  </a:lnTo>
                  <a:lnTo>
                    <a:pt x="50667" y="63367"/>
                  </a:lnTo>
                  <a:close/>
                </a:path>
                <a:path w="76200" h="404495" extrusionOk="0">
                  <a:moveTo>
                    <a:pt x="69815" y="63367"/>
                  </a:moveTo>
                  <a:lnTo>
                    <a:pt x="50667" y="63367"/>
                  </a:lnTo>
                  <a:lnTo>
                    <a:pt x="50796" y="76067"/>
                  </a:lnTo>
                  <a:lnTo>
                    <a:pt x="76194" y="75808"/>
                  </a:lnTo>
                  <a:lnTo>
                    <a:pt x="69815" y="6336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410" name="Google Shape;1410;p28"/>
            <p:cNvPicPr preferRelativeResize="0"/>
            <p:nvPr/>
          </p:nvPicPr>
          <p:blipFill rotWithShape="1">
            <a:blip r:embed="rId7">
              <a:alphaModFix/>
            </a:blip>
            <a:srcRect/>
            <a:stretch/>
          </p:blipFill>
          <p:spPr>
            <a:xfrm>
              <a:off x="5645272" y="5235200"/>
              <a:ext cx="639705" cy="640079"/>
            </a:xfrm>
            <a:prstGeom prst="rect">
              <a:avLst/>
            </a:prstGeom>
            <a:noFill/>
            <a:ln>
              <a:noFill/>
            </a:ln>
          </p:spPr>
        </p:pic>
        <p:sp>
          <p:nvSpPr>
            <p:cNvPr id="1411" name="Google Shape;1411;p28"/>
            <p:cNvSpPr/>
            <p:nvPr/>
          </p:nvSpPr>
          <p:spPr>
            <a:xfrm>
              <a:off x="6191656"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12" name="Google Shape;1412;p28"/>
            <p:cNvSpPr/>
            <p:nvPr/>
          </p:nvSpPr>
          <p:spPr>
            <a:xfrm>
              <a:off x="6191656"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13" name="Google Shape;1413;p28"/>
          <p:cNvGrpSpPr/>
          <p:nvPr/>
        </p:nvGrpSpPr>
        <p:grpSpPr>
          <a:xfrm>
            <a:off x="6419682" y="4400222"/>
            <a:ext cx="688872" cy="1475057"/>
            <a:chOff x="6419682" y="4400222"/>
            <a:chExt cx="688872" cy="1475057"/>
          </a:xfrm>
        </p:grpSpPr>
        <p:sp>
          <p:nvSpPr>
            <p:cNvPr id="1414" name="Google Shape;1414;p28"/>
            <p:cNvSpPr/>
            <p:nvPr/>
          </p:nvSpPr>
          <p:spPr>
            <a:xfrm>
              <a:off x="6691232"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15" name="Google Shape;1415;p28"/>
            <p:cNvSpPr/>
            <p:nvPr/>
          </p:nvSpPr>
          <p:spPr>
            <a:xfrm>
              <a:off x="6691232"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16" name="Google Shape;1416;p28"/>
            <p:cNvSpPr/>
            <p:nvPr/>
          </p:nvSpPr>
          <p:spPr>
            <a:xfrm>
              <a:off x="6717023" y="4831110"/>
              <a:ext cx="76200" cy="404495"/>
            </a:xfrm>
            <a:custGeom>
              <a:avLst/>
              <a:gdLst/>
              <a:ahLst/>
              <a:cxnLst/>
              <a:rect l="l" t="t" r="r" b="b"/>
              <a:pathLst>
                <a:path w="76200" h="404495" extrusionOk="0">
                  <a:moveTo>
                    <a:pt x="25397" y="76008"/>
                  </a:moveTo>
                  <a:lnTo>
                    <a:pt x="20636" y="403914"/>
                  </a:lnTo>
                  <a:lnTo>
                    <a:pt x="46033" y="404284"/>
                  </a:lnTo>
                  <a:lnTo>
                    <a:pt x="50794" y="76377"/>
                  </a:lnTo>
                  <a:lnTo>
                    <a:pt x="25397" y="76008"/>
                  </a:lnTo>
                  <a:close/>
                </a:path>
                <a:path w="76200" h="404495" extrusionOk="0">
                  <a:moveTo>
                    <a:pt x="69714" y="63309"/>
                  </a:moveTo>
                  <a:lnTo>
                    <a:pt x="25581" y="63309"/>
                  </a:lnTo>
                  <a:lnTo>
                    <a:pt x="50979" y="63677"/>
                  </a:lnTo>
                  <a:lnTo>
                    <a:pt x="50794" y="76377"/>
                  </a:lnTo>
                  <a:lnTo>
                    <a:pt x="76191" y="76746"/>
                  </a:lnTo>
                  <a:lnTo>
                    <a:pt x="69714" y="63309"/>
                  </a:lnTo>
                  <a:close/>
                </a:path>
                <a:path w="76200" h="404495" extrusionOk="0">
                  <a:moveTo>
                    <a:pt x="25581" y="63309"/>
                  </a:moveTo>
                  <a:lnTo>
                    <a:pt x="25397" y="76008"/>
                  </a:lnTo>
                  <a:lnTo>
                    <a:pt x="50794" y="76377"/>
                  </a:lnTo>
                  <a:lnTo>
                    <a:pt x="50979" y="63677"/>
                  </a:lnTo>
                  <a:lnTo>
                    <a:pt x="25581" y="63309"/>
                  </a:lnTo>
                  <a:close/>
                </a:path>
                <a:path w="76200" h="404495" extrusionOk="0">
                  <a:moveTo>
                    <a:pt x="39201" y="0"/>
                  </a:moveTo>
                  <a:lnTo>
                    <a:pt x="0" y="75639"/>
                  </a:lnTo>
                  <a:lnTo>
                    <a:pt x="25397" y="76008"/>
                  </a:lnTo>
                  <a:lnTo>
                    <a:pt x="25581" y="63309"/>
                  </a:lnTo>
                  <a:lnTo>
                    <a:pt x="69714" y="63309"/>
                  </a:lnTo>
                  <a:lnTo>
                    <a:pt x="3920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417" name="Google Shape;1417;p28"/>
            <p:cNvPicPr preferRelativeResize="0"/>
            <p:nvPr/>
          </p:nvPicPr>
          <p:blipFill rotWithShape="1">
            <a:blip r:embed="rId8">
              <a:alphaModFix/>
            </a:blip>
            <a:srcRect/>
            <a:stretch/>
          </p:blipFill>
          <p:spPr>
            <a:xfrm>
              <a:off x="6419682" y="5235200"/>
              <a:ext cx="639705" cy="640079"/>
            </a:xfrm>
            <a:prstGeom prst="rect">
              <a:avLst/>
            </a:prstGeom>
            <a:noFill/>
            <a:ln>
              <a:noFill/>
            </a:ln>
          </p:spPr>
        </p:pic>
        <p:sp>
          <p:nvSpPr>
            <p:cNvPr id="1418" name="Google Shape;1418;p28"/>
            <p:cNvSpPr/>
            <p:nvPr/>
          </p:nvSpPr>
          <p:spPr>
            <a:xfrm>
              <a:off x="6978379"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19" name="Google Shape;1419;p28"/>
            <p:cNvSpPr/>
            <p:nvPr/>
          </p:nvSpPr>
          <p:spPr>
            <a:xfrm>
              <a:off x="6978379"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20" name="Google Shape;1420;p28"/>
          <p:cNvGrpSpPr/>
          <p:nvPr/>
        </p:nvGrpSpPr>
        <p:grpSpPr>
          <a:xfrm>
            <a:off x="7207347" y="4400222"/>
            <a:ext cx="668588" cy="1475057"/>
            <a:chOff x="7207347" y="4400222"/>
            <a:chExt cx="668588" cy="1475057"/>
          </a:xfrm>
        </p:grpSpPr>
        <p:sp>
          <p:nvSpPr>
            <p:cNvPr id="1421" name="Google Shape;1421;p28"/>
            <p:cNvSpPr/>
            <p:nvPr/>
          </p:nvSpPr>
          <p:spPr>
            <a:xfrm>
              <a:off x="7458613"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22" name="Google Shape;1422;p28"/>
            <p:cNvSpPr/>
            <p:nvPr/>
          </p:nvSpPr>
          <p:spPr>
            <a:xfrm>
              <a:off x="7458613"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23" name="Google Shape;1423;p28"/>
            <p:cNvSpPr/>
            <p:nvPr/>
          </p:nvSpPr>
          <p:spPr>
            <a:xfrm>
              <a:off x="7485566" y="4831110"/>
              <a:ext cx="76200" cy="404495"/>
            </a:xfrm>
            <a:custGeom>
              <a:avLst/>
              <a:gdLst/>
              <a:ahLst/>
              <a:cxnLst/>
              <a:rect l="l" t="t" r="r" b="b"/>
              <a:pathLst>
                <a:path w="76200" h="404495" extrusionOk="0">
                  <a:moveTo>
                    <a:pt x="50799" y="76190"/>
                  </a:moveTo>
                  <a:lnTo>
                    <a:pt x="25399" y="76210"/>
                  </a:lnTo>
                  <a:lnTo>
                    <a:pt x="25660" y="404110"/>
                  </a:lnTo>
                  <a:lnTo>
                    <a:pt x="51060" y="404089"/>
                  </a:lnTo>
                  <a:lnTo>
                    <a:pt x="50799" y="76190"/>
                  </a:lnTo>
                  <a:close/>
                </a:path>
                <a:path w="76200" h="404495" extrusionOk="0">
                  <a:moveTo>
                    <a:pt x="38039" y="0"/>
                  </a:moveTo>
                  <a:lnTo>
                    <a:pt x="0" y="76230"/>
                  </a:lnTo>
                  <a:lnTo>
                    <a:pt x="25399" y="76210"/>
                  </a:lnTo>
                  <a:lnTo>
                    <a:pt x="25389" y="63510"/>
                  </a:lnTo>
                  <a:lnTo>
                    <a:pt x="69846" y="63489"/>
                  </a:lnTo>
                  <a:lnTo>
                    <a:pt x="38039" y="0"/>
                  </a:lnTo>
                  <a:close/>
                </a:path>
                <a:path w="76200" h="404495" extrusionOk="0">
                  <a:moveTo>
                    <a:pt x="50789" y="63489"/>
                  </a:moveTo>
                  <a:lnTo>
                    <a:pt x="25389" y="63510"/>
                  </a:lnTo>
                  <a:lnTo>
                    <a:pt x="25399" y="76210"/>
                  </a:lnTo>
                  <a:lnTo>
                    <a:pt x="50799" y="76190"/>
                  </a:lnTo>
                  <a:lnTo>
                    <a:pt x="50789" y="63489"/>
                  </a:lnTo>
                  <a:close/>
                </a:path>
                <a:path w="76200" h="404495" extrusionOk="0">
                  <a:moveTo>
                    <a:pt x="69846" y="63489"/>
                  </a:moveTo>
                  <a:lnTo>
                    <a:pt x="50789" y="63489"/>
                  </a:lnTo>
                  <a:lnTo>
                    <a:pt x="50799" y="76190"/>
                  </a:lnTo>
                  <a:lnTo>
                    <a:pt x="76200" y="76170"/>
                  </a:lnTo>
                  <a:lnTo>
                    <a:pt x="69846"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424" name="Google Shape;1424;p28"/>
            <p:cNvPicPr preferRelativeResize="0"/>
            <p:nvPr/>
          </p:nvPicPr>
          <p:blipFill rotWithShape="1">
            <a:blip r:embed="rId9">
              <a:alphaModFix/>
            </a:blip>
            <a:srcRect/>
            <a:stretch/>
          </p:blipFill>
          <p:spPr>
            <a:xfrm>
              <a:off x="7207347" y="5235200"/>
              <a:ext cx="641197" cy="640079"/>
            </a:xfrm>
            <a:prstGeom prst="rect">
              <a:avLst/>
            </a:prstGeom>
            <a:noFill/>
            <a:ln>
              <a:noFill/>
            </a:ln>
          </p:spPr>
        </p:pic>
        <p:sp>
          <p:nvSpPr>
            <p:cNvPr id="1425" name="Google Shape;1425;p28"/>
            <p:cNvSpPr/>
            <p:nvPr/>
          </p:nvSpPr>
          <p:spPr>
            <a:xfrm>
              <a:off x="7745760"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26" name="Google Shape;1426;p28"/>
            <p:cNvSpPr/>
            <p:nvPr/>
          </p:nvSpPr>
          <p:spPr>
            <a:xfrm>
              <a:off x="7745760"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27" name="Google Shape;1427;p28"/>
          <p:cNvGrpSpPr/>
          <p:nvPr/>
        </p:nvGrpSpPr>
        <p:grpSpPr>
          <a:xfrm>
            <a:off x="7970093" y="4400222"/>
            <a:ext cx="681844" cy="1475057"/>
            <a:chOff x="7970093" y="4400222"/>
            <a:chExt cx="681844" cy="1475057"/>
          </a:xfrm>
        </p:grpSpPr>
        <p:sp>
          <p:nvSpPr>
            <p:cNvPr id="1428" name="Google Shape;1428;p28"/>
            <p:cNvSpPr/>
            <p:nvPr/>
          </p:nvSpPr>
          <p:spPr>
            <a:xfrm>
              <a:off x="8234614"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29" name="Google Shape;1429;p28"/>
            <p:cNvSpPr/>
            <p:nvPr/>
          </p:nvSpPr>
          <p:spPr>
            <a:xfrm>
              <a:off x="8234614"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30" name="Google Shape;1430;p28"/>
            <p:cNvSpPr/>
            <p:nvPr/>
          </p:nvSpPr>
          <p:spPr>
            <a:xfrm>
              <a:off x="8261567"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431" name="Google Shape;1431;p28"/>
            <p:cNvPicPr preferRelativeResize="0"/>
            <p:nvPr/>
          </p:nvPicPr>
          <p:blipFill rotWithShape="1">
            <a:blip r:embed="rId10">
              <a:alphaModFix/>
            </a:blip>
            <a:srcRect/>
            <a:stretch/>
          </p:blipFill>
          <p:spPr>
            <a:xfrm>
              <a:off x="7970093" y="5235200"/>
              <a:ext cx="641205" cy="640079"/>
            </a:xfrm>
            <a:prstGeom prst="rect">
              <a:avLst/>
            </a:prstGeom>
            <a:noFill/>
            <a:ln>
              <a:noFill/>
            </a:ln>
          </p:spPr>
        </p:pic>
        <p:sp>
          <p:nvSpPr>
            <p:cNvPr id="1432" name="Google Shape;1432;p28"/>
            <p:cNvSpPr/>
            <p:nvPr/>
          </p:nvSpPr>
          <p:spPr>
            <a:xfrm>
              <a:off x="8521762"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33" name="Google Shape;1433;p28"/>
            <p:cNvSpPr/>
            <p:nvPr/>
          </p:nvSpPr>
          <p:spPr>
            <a:xfrm>
              <a:off x="8521762"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34" name="Google Shape;1434;p28"/>
          <p:cNvGrpSpPr/>
          <p:nvPr/>
        </p:nvGrpSpPr>
        <p:grpSpPr>
          <a:xfrm>
            <a:off x="8744502" y="4400222"/>
            <a:ext cx="684186" cy="1475057"/>
            <a:chOff x="8744502" y="4400222"/>
            <a:chExt cx="684186" cy="1475057"/>
          </a:xfrm>
        </p:grpSpPr>
        <p:sp>
          <p:nvSpPr>
            <p:cNvPr id="1435" name="Google Shape;1435;p28"/>
            <p:cNvSpPr/>
            <p:nvPr/>
          </p:nvSpPr>
          <p:spPr>
            <a:xfrm>
              <a:off x="9011366"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36" name="Google Shape;1436;p28"/>
            <p:cNvSpPr/>
            <p:nvPr/>
          </p:nvSpPr>
          <p:spPr>
            <a:xfrm>
              <a:off x="9011366"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37" name="Google Shape;1437;p28"/>
            <p:cNvSpPr/>
            <p:nvPr/>
          </p:nvSpPr>
          <p:spPr>
            <a:xfrm>
              <a:off x="9038318"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438" name="Google Shape;1438;p28"/>
            <p:cNvPicPr preferRelativeResize="0"/>
            <p:nvPr/>
          </p:nvPicPr>
          <p:blipFill rotWithShape="1">
            <a:blip r:embed="rId11">
              <a:alphaModFix/>
            </a:blip>
            <a:srcRect/>
            <a:stretch/>
          </p:blipFill>
          <p:spPr>
            <a:xfrm>
              <a:off x="8744502" y="5235200"/>
              <a:ext cx="641206" cy="640079"/>
            </a:xfrm>
            <a:prstGeom prst="rect">
              <a:avLst/>
            </a:prstGeom>
            <a:noFill/>
            <a:ln>
              <a:noFill/>
            </a:ln>
          </p:spPr>
        </p:pic>
        <p:sp>
          <p:nvSpPr>
            <p:cNvPr id="1439" name="Google Shape;1439;p28"/>
            <p:cNvSpPr/>
            <p:nvPr/>
          </p:nvSpPr>
          <p:spPr>
            <a:xfrm>
              <a:off x="9298513"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40" name="Google Shape;1440;p28"/>
            <p:cNvSpPr/>
            <p:nvPr/>
          </p:nvSpPr>
          <p:spPr>
            <a:xfrm>
              <a:off x="9298513"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441" name="Google Shape;1441;p28"/>
          <p:cNvSpPr txBox="1"/>
          <p:nvPr/>
        </p:nvSpPr>
        <p:spPr>
          <a:xfrm>
            <a:off x="273194" y="3559555"/>
            <a:ext cx="2190115" cy="1278255"/>
          </a:xfrm>
          <a:prstGeom prst="rect">
            <a:avLst/>
          </a:prstGeom>
          <a:noFill/>
          <a:ln>
            <a:noFill/>
          </a:ln>
        </p:spPr>
        <p:txBody>
          <a:bodyPr spcFirstLastPara="1" wrap="square" lIns="0" tIns="13950" rIns="0" bIns="0" anchor="t" anchorCtr="0">
            <a:spAutoFit/>
          </a:bodyPr>
          <a:lstStyle/>
          <a:p>
            <a:pPr marL="12700" marR="5080" lvl="0" indent="0" algn="l"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Add positional embedding: learned D- dim vector per position</a:t>
            </a:r>
            <a:endParaRPr sz="1800" b="0" i="0" u="none" strike="noStrike" cap="none">
              <a:solidFill>
                <a:srgbClr val="000000"/>
              </a:solidFill>
              <a:latin typeface="Calibri"/>
              <a:ea typeface="Calibri"/>
              <a:cs typeface="Calibri"/>
              <a:sym typeface="Calibri"/>
            </a:endParaRPr>
          </a:p>
          <a:p>
            <a:pPr marL="19685" marR="0" lvl="0" indent="0" algn="l" rtl="0">
              <a:lnSpc>
                <a:spcPct val="100000"/>
              </a:lnSpc>
              <a:spcBef>
                <a:spcPts val="125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a:t>
            </a:r>
            <a:endParaRPr sz="1800" b="0" i="0" u="none" strike="noStrike" cap="none">
              <a:solidFill>
                <a:srgbClr val="000000"/>
              </a:solidFill>
              <a:latin typeface="Calibri"/>
              <a:ea typeface="Calibri"/>
              <a:cs typeface="Calibri"/>
              <a:sym typeface="Calibri"/>
            </a:endParaRPr>
          </a:p>
        </p:txBody>
      </p:sp>
      <p:grpSp>
        <p:nvGrpSpPr>
          <p:cNvPr id="1442" name="Google Shape;1442;p28"/>
          <p:cNvGrpSpPr/>
          <p:nvPr/>
        </p:nvGrpSpPr>
        <p:grpSpPr>
          <a:xfrm>
            <a:off x="2961547" y="2096159"/>
            <a:ext cx="130810" cy="429895"/>
            <a:chOff x="2961547" y="2096159"/>
            <a:chExt cx="130810" cy="429895"/>
          </a:xfrm>
        </p:grpSpPr>
        <p:sp>
          <p:nvSpPr>
            <p:cNvPr id="1443" name="Google Shape;1443;p28"/>
            <p:cNvSpPr/>
            <p:nvPr/>
          </p:nvSpPr>
          <p:spPr>
            <a:xfrm>
              <a:off x="2961547" y="2096159"/>
              <a:ext cx="130810" cy="429895"/>
            </a:xfrm>
            <a:custGeom>
              <a:avLst/>
              <a:gdLst/>
              <a:ahLst/>
              <a:cxnLst/>
              <a:rect l="l" t="t" r="r" b="b"/>
              <a:pathLst>
                <a:path w="130810"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44" name="Google Shape;1444;p28"/>
            <p:cNvSpPr/>
            <p:nvPr/>
          </p:nvSpPr>
          <p:spPr>
            <a:xfrm>
              <a:off x="296154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45" name="Google Shape;1445;p28"/>
          <p:cNvGrpSpPr/>
          <p:nvPr/>
        </p:nvGrpSpPr>
        <p:grpSpPr>
          <a:xfrm>
            <a:off x="3737768" y="2099950"/>
            <a:ext cx="130810" cy="429895"/>
            <a:chOff x="3737768" y="2099950"/>
            <a:chExt cx="130810" cy="429895"/>
          </a:xfrm>
        </p:grpSpPr>
        <p:sp>
          <p:nvSpPr>
            <p:cNvPr id="1446" name="Google Shape;1446;p28"/>
            <p:cNvSpPr/>
            <p:nvPr/>
          </p:nvSpPr>
          <p:spPr>
            <a:xfrm>
              <a:off x="3737768"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47" name="Google Shape;1447;p28"/>
            <p:cNvSpPr/>
            <p:nvPr/>
          </p:nvSpPr>
          <p:spPr>
            <a:xfrm>
              <a:off x="3737768"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48" name="Google Shape;1448;p28"/>
          <p:cNvGrpSpPr/>
          <p:nvPr/>
        </p:nvGrpSpPr>
        <p:grpSpPr>
          <a:xfrm>
            <a:off x="4513990" y="2096159"/>
            <a:ext cx="130810" cy="429895"/>
            <a:chOff x="4513990" y="2096159"/>
            <a:chExt cx="130810" cy="429895"/>
          </a:xfrm>
        </p:grpSpPr>
        <p:sp>
          <p:nvSpPr>
            <p:cNvPr id="1449" name="Google Shape;1449;p28"/>
            <p:cNvSpPr/>
            <p:nvPr/>
          </p:nvSpPr>
          <p:spPr>
            <a:xfrm>
              <a:off x="4513990"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50" name="Google Shape;1450;p28"/>
            <p:cNvSpPr/>
            <p:nvPr/>
          </p:nvSpPr>
          <p:spPr>
            <a:xfrm>
              <a:off x="4513990"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51" name="Google Shape;1451;p28"/>
          <p:cNvGrpSpPr/>
          <p:nvPr/>
        </p:nvGrpSpPr>
        <p:grpSpPr>
          <a:xfrm>
            <a:off x="5291261" y="2099950"/>
            <a:ext cx="130810" cy="429895"/>
            <a:chOff x="5291261" y="2099950"/>
            <a:chExt cx="130810" cy="429895"/>
          </a:xfrm>
        </p:grpSpPr>
        <p:sp>
          <p:nvSpPr>
            <p:cNvPr id="1452" name="Google Shape;1452;p28"/>
            <p:cNvSpPr/>
            <p:nvPr/>
          </p:nvSpPr>
          <p:spPr>
            <a:xfrm>
              <a:off x="5291261"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53" name="Google Shape;1453;p28"/>
            <p:cNvSpPr/>
            <p:nvPr/>
          </p:nvSpPr>
          <p:spPr>
            <a:xfrm>
              <a:off x="5291261"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54" name="Google Shape;1454;p28"/>
          <p:cNvGrpSpPr/>
          <p:nvPr/>
        </p:nvGrpSpPr>
        <p:grpSpPr>
          <a:xfrm>
            <a:off x="6063477" y="2096159"/>
            <a:ext cx="130810" cy="429895"/>
            <a:chOff x="6063477" y="2096159"/>
            <a:chExt cx="130810" cy="429895"/>
          </a:xfrm>
        </p:grpSpPr>
        <p:sp>
          <p:nvSpPr>
            <p:cNvPr id="1455" name="Google Shape;1455;p28"/>
            <p:cNvSpPr/>
            <p:nvPr/>
          </p:nvSpPr>
          <p:spPr>
            <a:xfrm>
              <a:off x="6063477"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56" name="Google Shape;1456;p28"/>
            <p:cNvSpPr/>
            <p:nvPr/>
          </p:nvSpPr>
          <p:spPr>
            <a:xfrm>
              <a:off x="606347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57" name="Google Shape;1457;p28"/>
          <p:cNvGrpSpPr/>
          <p:nvPr/>
        </p:nvGrpSpPr>
        <p:grpSpPr>
          <a:xfrm>
            <a:off x="6850202" y="2096159"/>
            <a:ext cx="130810" cy="429895"/>
            <a:chOff x="6850202" y="2096159"/>
            <a:chExt cx="130810" cy="429895"/>
          </a:xfrm>
        </p:grpSpPr>
        <p:sp>
          <p:nvSpPr>
            <p:cNvPr id="1458" name="Google Shape;1458;p28"/>
            <p:cNvSpPr/>
            <p:nvPr/>
          </p:nvSpPr>
          <p:spPr>
            <a:xfrm>
              <a:off x="6850202"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59" name="Google Shape;1459;p28"/>
            <p:cNvSpPr/>
            <p:nvPr/>
          </p:nvSpPr>
          <p:spPr>
            <a:xfrm>
              <a:off x="6850202"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60" name="Google Shape;1460;p28"/>
          <p:cNvGrpSpPr/>
          <p:nvPr/>
        </p:nvGrpSpPr>
        <p:grpSpPr>
          <a:xfrm>
            <a:off x="7617583" y="2096159"/>
            <a:ext cx="130810" cy="429895"/>
            <a:chOff x="7617583" y="2096159"/>
            <a:chExt cx="130810" cy="429895"/>
          </a:xfrm>
        </p:grpSpPr>
        <p:sp>
          <p:nvSpPr>
            <p:cNvPr id="1461" name="Google Shape;1461;p28"/>
            <p:cNvSpPr/>
            <p:nvPr/>
          </p:nvSpPr>
          <p:spPr>
            <a:xfrm>
              <a:off x="7617583"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62" name="Google Shape;1462;p28"/>
            <p:cNvSpPr/>
            <p:nvPr/>
          </p:nvSpPr>
          <p:spPr>
            <a:xfrm>
              <a:off x="7617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63" name="Google Shape;1463;p28"/>
          <p:cNvGrpSpPr/>
          <p:nvPr/>
        </p:nvGrpSpPr>
        <p:grpSpPr>
          <a:xfrm>
            <a:off x="8393583" y="2096159"/>
            <a:ext cx="130810" cy="429895"/>
            <a:chOff x="8393583" y="2096159"/>
            <a:chExt cx="130810" cy="429895"/>
          </a:xfrm>
        </p:grpSpPr>
        <p:sp>
          <p:nvSpPr>
            <p:cNvPr id="1464" name="Google Shape;1464;p28"/>
            <p:cNvSpPr/>
            <p:nvPr/>
          </p:nvSpPr>
          <p:spPr>
            <a:xfrm>
              <a:off x="8393583"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65" name="Google Shape;1465;p28"/>
            <p:cNvSpPr/>
            <p:nvPr/>
          </p:nvSpPr>
          <p:spPr>
            <a:xfrm>
              <a:off x="8393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66" name="Google Shape;1466;p28"/>
          <p:cNvGrpSpPr/>
          <p:nvPr/>
        </p:nvGrpSpPr>
        <p:grpSpPr>
          <a:xfrm>
            <a:off x="9170334" y="2096159"/>
            <a:ext cx="130810" cy="429895"/>
            <a:chOff x="9170334" y="2096159"/>
            <a:chExt cx="130810" cy="429895"/>
          </a:xfrm>
        </p:grpSpPr>
        <p:sp>
          <p:nvSpPr>
            <p:cNvPr id="1467" name="Google Shape;1467;p28"/>
            <p:cNvSpPr/>
            <p:nvPr/>
          </p:nvSpPr>
          <p:spPr>
            <a:xfrm>
              <a:off x="9170334"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68" name="Google Shape;1468;p28"/>
            <p:cNvSpPr/>
            <p:nvPr/>
          </p:nvSpPr>
          <p:spPr>
            <a:xfrm>
              <a:off x="9170334"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469" name="Google Shape;1469;p28"/>
          <p:cNvSpPr txBox="1"/>
          <p:nvPr/>
        </p:nvSpPr>
        <p:spPr>
          <a:xfrm>
            <a:off x="451943" y="2038603"/>
            <a:ext cx="141478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Output vectors</a:t>
            </a:r>
            <a:endParaRPr sz="1800" b="0" i="0" u="none" strike="noStrike" cap="none">
              <a:solidFill>
                <a:srgbClr val="000000"/>
              </a:solidFill>
              <a:latin typeface="Calibri"/>
              <a:ea typeface="Calibri"/>
              <a:cs typeface="Calibri"/>
              <a:sym typeface="Calibri"/>
            </a:endParaRPr>
          </a:p>
        </p:txBody>
      </p:sp>
      <p:sp>
        <p:nvSpPr>
          <p:cNvPr id="1470" name="Google Shape;1470;p28"/>
          <p:cNvSpPr txBox="1"/>
          <p:nvPr/>
        </p:nvSpPr>
        <p:spPr>
          <a:xfrm>
            <a:off x="282081" y="2757932"/>
            <a:ext cx="1644014" cy="565150"/>
          </a:xfrm>
          <a:prstGeom prst="rect">
            <a:avLst/>
          </a:prstGeom>
          <a:noFill/>
          <a:ln>
            <a:noFill/>
          </a:ln>
        </p:spPr>
        <p:txBody>
          <a:bodyPr spcFirstLastPara="1" wrap="square" lIns="0" tIns="28575" rIns="0" bIns="0" anchor="t" anchorCtr="0">
            <a:spAutoFit/>
          </a:bodyPr>
          <a:lstStyle/>
          <a:p>
            <a:pPr marL="12700" marR="5080" lvl="0" indent="165735" algn="l" rtl="0">
              <a:lnSpc>
                <a:spcPct val="116111"/>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Exact same as NLP Transformer!</a:t>
            </a:r>
            <a:endParaRPr sz="1800" b="0" i="0" u="none" strike="noStrike" cap="none">
              <a:solidFill>
                <a:srgbClr val="000000"/>
              </a:solidFill>
              <a:latin typeface="Calibri"/>
              <a:ea typeface="Calibri"/>
              <a:cs typeface="Calibri"/>
              <a:sym typeface="Calibri"/>
            </a:endParaRPr>
          </a:p>
        </p:txBody>
      </p:sp>
      <p:grpSp>
        <p:nvGrpSpPr>
          <p:cNvPr id="1471" name="Google Shape;1471;p28"/>
          <p:cNvGrpSpPr/>
          <p:nvPr/>
        </p:nvGrpSpPr>
        <p:grpSpPr>
          <a:xfrm>
            <a:off x="9843405" y="3627475"/>
            <a:ext cx="130175" cy="431165"/>
            <a:chOff x="9843405" y="3627475"/>
            <a:chExt cx="130175" cy="431165"/>
          </a:xfrm>
        </p:grpSpPr>
        <p:sp>
          <p:nvSpPr>
            <p:cNvPr id="1472" name="Google Shape;1472;p28"/>
            <p:cNvSpPr/>
            <p:nvPr/>
          </p:nvSpPr>
          <p:spPr>
            <a:xfrm>
              <a:off x="9843405"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8FAAD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73" name="Google Shape;1473;p28"/>
            <p:cNvSpPr/>
            <p:nvPr/>
          </p:nvSpPr>
          <p:spPr>
            <a:xfrm>
              <a:off x="984340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74" name="Google Shape;1474;p28"/>
          <p:cNvGrpSpPr/>
          <p:nvPr/>
        </p:nvGrpSpPr>
        <p:grpSpPr>
          <a:xfrm>
            <a:off x="9842760" y="1231831"/>
            <a:ext cx="130810" cy="1294223"/>
            <a:chOff x="9842760" y="1231831"/>
            <a:chExt cx="130810" cy="1294223"/>
          </a:xfrm>
        </p:grpSpPr>
        <p:sp>
          <p:nvSpPr>
            <p:cNvPr id="1475" name="Google Shape;1475;p28"/>
            <p:cNvSpPr/>
            <p:nvPr/>
          </p:nvSpPr>
          <p:spPr>
            <a:xfrm>
              <a:off x="9842760"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D96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76" name="Google Shape;1476;p28"/>
            <p:cNvSpPr/>
            <p:nvPr/>
          </p:nvSpPr>
          <p:spPr>
            <a:xfrm>
              <a:off x="9842760"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77" name="Google Shape;1477;p28"/>
            <p:cNvSpPr/>
            <p:nvPr/>
          </p:nvSpPr>
          <p:spPr>
            <a:xfrm>
              <a:off x="9842760" y="1231831"/>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DEEB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78" name="Google Shape;1478;p28"/>
            <p:cNvSpPr/>
            <p:nvPr/>
          </p:nvSpPr>
          <p:spPr>
            <a:xfrm>
              <a:off x="9842760" y="1231831"/>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5B9B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79" name="Google Shape;1479;p28"/>
            <p:cNvSpPr/>
            <p:nvPr/>
          </p:nvSpPr>
          <p:spPr>
            <a:xfrm>
              <a:off x="9869976" y="1661599"/>
              <a:ext cx="76200" cy="434975"/>
            </a:xfrm>
            <a:custGeom>
              <a:avLst/>
              <a:gdLst/>
              <a:ahLst/>
              <a:cxnLst/>
              <a:rect l="l" t="t" r="r" b="b"/>
              <a:pathLst>
                <a:path w="76200" h="434975" extrusionOk="0">
                  <a:moveTo>
                    <a:pt x="50800" y="63500"/>
                  </a:moveTo>
                  <a:lnTo>
                    <a:pt x="25400" y="63500"/>
                  </a:lnTo>
                  <a:lnTo>
                    <a:pt x="25400" y="434559"/>
                  </a:lnTo>
                  <a:lnTo>
                    <a:pt x="50800" y="434559"/>
                  </a:lnTo>
                  <a:lnTo>
                    <a:pt x="50800" y="63500"/>
                  </a:lnTo>
                  <a:close/>
                </a:path>
                <a:path w="76200" h="434975" extrusionOk="0">
                  <a:moveTo>
                    <a:pt x="38100" y="0"/>
                  </a:moveTo>
                  <a:lnTo>
                    <a:pt x="0" y="76200"/>
                  </a:lnTo>
                  <a:lnTo>
                    <a:pt x="25400" y="76200"/>
                  </a:lnTo>
                  <a:lnTo>
                    <a:pt x="25400" y="63500"/>
                  </a:lnTo>
                  <a:lnTo>
                    <a:pt x="69850" y="63500"/>
                  </a:lnTo>
                  <a:lnTo>
                    <a:pt x="38100" y="0"/>
                  </a:lnTo>
                  <a:close/>
                </a:path>
                <a:path w="76200" h="434975" extrusionOk="0">
                  <a:moveTo>
                    <a:pt x="69850" y="63500"/>
                  </a:moveTo>
                  <a:lnTo>
                    <a:pt x="50800" y="63500"/>
                  </a:lnTo>
                  <a:lnTo>
                    <a:pt x="50800" y="76200"/>
                  </a:lnTo>
                  <a:lnTo>
                    <a:pt x="76200" y="76200"/>
                  </a:lnTo>
                  <a:lnTo>
                    <a:pt x="69850" y="6350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480" name="Google Shape;1480;p28"/>
          <p:cNvSpPr txBox="1"/>
          <p:nvPr/>
        </p:nvSpPr>
        <p:spPr>
          <a:xfrm>
            <a:off x="10220266" y="3498595"/>
            <a:ext cx="1830070" cy="845819"/>
          </a:xfrm>
          <a:prstGeom prst="rect">
            <a:avLst/>
          </a:prstGeom>
          <a:noFill/>
          <a:ln>
            <a:noFill/>
          </a:ln>
        </p:spPr>
        <p:txBody>
          <a:bodyPr spcFirstLastPara="1" wrap="square" lIns="0" tIns="13950" rIns="0" bIns="0" anchor="t" anchorCtr="0">
            <a:spAutoFit/>
          </a:bodyPr>
          <a:lstStyle/>
          <a:p>
            <a:pPr marL="12700" marR="5080" lvl="0" indent="0" algn="just"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Special extra input: </a:t>
            </a:r>
            <a:r>
              <a:rPr lang="en-US" sz="1800" b="1" i="0" u="none" strike="noStrike" cap="none">
                <a:solidFill>
                  <a:srgbClr val="000000"/>
                </a:solidFill>
                <a:latin typeface="Calibri"/>
                <a:ea typeface="Calibri"/>
                <a:cs typeface="Calibri"/>
                <a:sym typeface="Calibri"/>
              </a:rPr>
              <a:t>classification token </a:t>
            </a:r>
            <a:r>
              <a:rPr lang="en-US" sz="1800" b="0" i="0" u="none" strike="noStrike" cap="none">
                <a:solidFill>
                  <a:srgbClr val="000000"/>
                </a:solidFill>
                <a:latin typeface="Calibri"/>
                <a:ea typeface="Calibri"/>
                <a:cs typeface="Calibri"/>
                <a:sym typeface="Calibri"/>
              </a:rPr>
              <a:t>(D dims, learned)</a:t>
            </a:r>
            <a:endParaRPr sz="1800" b="0" i="0" u="none" strike="noStrike" cap="none">
              <a:solidFill>
                <a:srgbClr val="000000"/>
              </a:solidFill>
              <a:latin typeface="Calibri"/>
              <a:ea typeface="Calibri"/>
              <a:cs typeface="Calibri"/>
              <a:sym typeface="Calibri"/>
            </a:endParaRPr>
          </a:p>
        </p:txBody>
      </p:sp>
      <p:grpSp>
        <p:nvGrpSpPr>
          <p:cNvPr id="1481" name="Google Shape;1481;p28"/>
          <p:cNvGrpSpPr/>
          <p:nvPr/>
        </p:nvGrpSpPr>
        <p:grpSpPr>
          <a:xfrm>
            <a:off x="2959741" y="3627475"/>
            <a:ext cx="130175" cy="431165"/>
            <a:chOff x="2959741" y="3627475"/>
            <a:chExt cx="130175" cy="431165"/>
          </a:xfrm>
        </p:grpSpPr>
        <p:sp>
          <p:nvSpPr>
            <p:cNvPr id="1482" name="Google Shape;1482;p28"/>
            <p:cNvSpPr/>
            <p:nvPr/>
          </p:nvSpPr>
          <p:spPr>
            <a:xfrm>
              <a:off x="2959741"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83" name="Google Shape;1483;p28"/>
            <p:cNvSpPr/>
            <p:nvPr/>
          </p:nvSpPr>
          <p:spPr>
            <a:xfrm>
              <a:off x="295974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84" name="Google Shape;1484;p28"/>
          <p:cNvGrpSpPr/>
          <p:nvPr/>
        </p:nvGrpSpPr>
        <p:grpSpPr>
          <a:xfrm>
            <a:off x="3735962" y="3631266"/>
            <a:ext cx="130175" cy="431165"/>
            <a:chOff x="3735962" y="3631266"/>
            <a:chExt cx="130175" cy="431165"/>
          </a:xfrm>
        </p:grpSpPr>
        <p:sp>
          <p:nvSpPr>
            <p:cNvPr id="1485" name="Google Shape;1485;p28"/>
            <p:cNvSpPr/>
            <p:nvPr/>
          </p:nvSpPr>
          <p:spPr>
            <a:xfrm>
              <a:off x="3735962"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86" name="Google Shape;1486;p28"/>
            <p:cNvSpPr/>
            <p:nvPr/>
          </p:nvSpPr>
          <p:spPr>
            <a:xfrm>
              <a:off x="3735962"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87" name="Google Shape;1487;p28"/>
          <p:cNvGrpSpPr/>
          <p:nvPr/>
        </p:nvGrpSpPr>
        <p:grpSpPr>
          <a:xfrm>
            <a:off x="4512184" y="3627475"/>
            <a:ext cx="130175" cy="431165"/>
            <a:chOff x="4512184" y="3627475"/>
            <a:chExt cx="130175" cy="431165"/>
          </a:xfrm>
        </p:grpSpPr>
        <p:sp>
          <p:nvSpPr>
            <p:cNvPr id="1488" name="Google Shape;1488;p28"/>
            <p:cNvSpPr/>
            <p:nvPr/>
          </p:nvSpPr>
          <p:spPr>
            <a:xfrm>
              <a:off x="4512184"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89" name="Google Shape;1489;p28"/>
            <p:cNvSpPr/>
            <p:nvPr/>
          </p:nvSpPr>
          <p:spPr>
            <a:xfrm>
              <a:off x="4512184"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90" name="Google Shape;1490;p28"/>
          <p:cNvGrpSpPr/>
          <p:nvPr/>
        </p:nvGrpSpPr>
        <p:grpSpPr>
          <a:xfrm>
            <a:off x="5289456" y="3631266"/>
            <a:ext cx="130175" cy="431165"/>
            <a:chOff x="5289456" y="3631266"/>
            <a:chExt cx="130175" cy="431165"/>
          </a:xfrm>
        </p:grpSpPr>
        <p:sp>
          <p:nvSpPr>
            <p:cNvPr id="1491" name="Google Shape;1491;p28"/>
            <p:cNvSpPr/>
            <p:nvPr/>
          </p:nvSpPr>
          <p:spPr>
            <a:xfrm>
              <a:off x="5289456"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92" name="Google Shape;1492;p28"/>
            <p:cNvSpPr/>
            <p:nvPr/>
          </p:nvSpPr>
          <p:spPr>
            <a:xfrm>
              <a:off x="5289456"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93" name="Google Shape;1493;p28"/>
          <p:cNvGrpSpPr/>
          <p:nvPr/>
        </p:nvGrpSpPr>
        <p:grpSpPr>
          <a:xfrm>
            <a:off x="6061671" y="3627475"/>
            <a:ext cx="130175" cy="431165"/>
            <a:chOff x="6061671" y="3627475"/>
            <a:chExt cx="130175" cy="431165"/>
          </a:xfrm>
        </p:grpSpPr>
        <p:sp>
          <p:nvSpPr>
            <p:cNvPr id="1494" name="Google Shape;1494;p28"/>
            <p:cNvSpPr/>
            <p:nvPr/>
          </p:nvSpPr>
          <p:spPr>
            <a:xfrm>
              <a:off x="6061671"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95" name="Google Shape;1495;p28"/>
            <p:cNvSpPr/>
            <p:nvPr/>
          </p:nvSpPr>
          <p:spPr>
            <a:xfrm>
              <a:off x="606167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96" name="Google Shape;1496;p28"/>
          <p:cNvGrpSpPr/>
          <p:nvPr/>
        </p:nvGrpSpPr>
        <p:grpSpPr>
          <a:xfrm>
            <a:off x="6848395" y="3627475"/>
            <a:ext cx="130175" cy="431165"/>
            <a:chOff x="6848395" y="3627475"/>
            <a:chExt cx="130175" cy="431165"/>
          </a:xfrm>
        </p:grpSpPr>
        <p:sp>
          <p:nvSpPr>
            <p:cNvPr id="1497" name="Google Shape;1497;p28"/>
            <p:cNvSpPr/>
            <p:nvPr/>
          </p:nvSpPr>
          <p:spPr>
            <a:xfrm>
              <a:off x="6848395"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98" name="Google Shape;1498;p28"/>
            <p:cNvSpPr/>
            <p:nvPr/>
          </p:nvSpPr>
          <p:spPr>
            <a:xfrm>
              <a:off x="684839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99" name="Google Shape;1499;p28"/>
          <p:cNvGrpSpPr/>
          <p:nvPr/>
        </p:nvGrpSpPr>
        <p:grpSpPr>
          <a:xfrm>
            <a:off x="7615777" y="3627475"/>
            <a:ext cx="130175" cy="431165"/>
            <a:chOff x="7615777" y="3627475"/>
            <a:chExt cx="130175" cy="431165"/>
          </a:xfrm>
        </p:grpSpPr>
        <p:sp>
          <p:nvSpPr>
            <p:cNvPr id="1500" name="Google Shape;1500;p28"/>
            <p:cNvSpPr/>
            <p:nvPr/>
          </p:nvSpPr>
          <p:spPr>
            <a:xfrm>
              <a:off x="7615777"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01" name="Google Shape;1501;p28"/>
            <p:cNvSpPr/>
            <p:nvPr/>
          </p:nvSpPr>
          <p:spPr>
            <a:xfrm>
              <a:off x="7615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502" name="Google Shape;1502;p28"/>
          <p:cNvGrpSpPr/>
          <p:nvPr/>
        </p:nvGrpSpPr>
        <p:grpSpPr>
          <a:xfrm>
            <a:off x="8391777" y="3627475"/>
            <a:ext cx="130175" cy="431165"/>
            <a:chOff x="8391777" y="3627475"/>
            <a:chExt cx="130175" cy="431165"/>
          </a:xfrm>
        </p:grpSpPr>
        <p:sp>
          <p:nvSpPr>
            <p:cNvPr id="1503" name="Google Shape;1503;p28"/>
            <p:cNvSpPr/>
            <p:nvPr/>
          </p:nvSpPr>
          <p:spPr>
            <a:xfrm>
              <a:off x="8391777"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04" name="Google Shape;1504;p28"/>
            <p:cNvSpPr/>
            <p:nvPr/>
          </p:nvSpPr>
          <p:spPr>
            <a:xfrm>
              <a:off x="8391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505" name="Google Shape;1505;p28"/>
          <p:cNvGrpSpPr/>
          <p:nvPr/>
        </p:nvGrpSpPr>
        <p:grpSpPr>
          <a:xfrm>
            <a:off x="9168528" y="3627475"/>
            <a:ext cx="130175" cy="431165"/>
            <a:chOff x="9168528" y="3627475"/>
            <a:chExt cx="130175" cy="431165"/>
          </a:xfrm>
        </p:grpSpPr>
        <p:sp>
          <p:nvSpPr>
            <p:cNvPr id="1506" name="Google Shape;1506;p28"/>
            <p:cNvSpPr/>
            <p:nvPr/>
          </p:nvSpPr>
          <p:spPr>
            <a:xfrm>
              <a:off x="9168528"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07" name="Google Shape;1507;p28"/>
            <p:cNvSpPr/>
            <p:nvPr/>
          </p:nvSpPr>
          <p:spPr>
            <a:xfrm>
              <a:off x="9168528"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508" name="Google Shape;1508;p28"/>
          <p:cNvSpPr txBox="1"/>
          <p:nvPr/>
        </p:nvSpPr>
        <p:spPr>
          <a:xfrm>
            <a:off x="2936516" y="4004564"/>
            <a:ext cx="638429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	+	+	+	+	+	+	+	+</a:t>
            </a:r>
            <a:endParaRPr sz="2400" b="0" i="0" u="none" strike="noStrike" cap="none">
              <a:solidFill>
                <a:srgbClr val="000000"/>
              </a:solidFill>
              <a:latin typeface="Calibri"/>
              <a:ea typeface="Calibri"/>
              <a:cs typeface="Calibri"/>
              <a:sym typeface="Calibri"/>
            </a:endParaRPr>
          </a:p>
        </p:txBody>
      </p:sp>
      <p:sp>
        <p:nvSpPr>
          <p:cNvPr id="1509" name="Google Shape;1509;p28"/>
          <p:cNvSpPr txBox="1"/>
          <p:nvPr/>
        </p:nvSpPr>
        <p:spPr>
          <a:xfrm>
            <a:off x="10345797" y="1160779"/>
            <a:ext cx="1602740" cy="1125855"/>
          </a:xfrm>
          <a:prstGeom prst="rect">
            <a:avLst/>
          </a:prstGeom>
          <a:noFill/>
          <a:ln>
            <a:noFill/>
          </a:ln>
        </p:spPr>
        <p:txBody>
          <a:bodyPr spcFirstLastPara="1" wrap="square" lIns="0" tIns="11425" rIns="0" bIns="0" anchor="t" anchorCtr="0">
            <a:spAutoFit/>
          </a:bodyPr>
          <a:lstStyle/>
          <a:p>
            <a:pPr marL="12700" marR="5080" lvl="0" indent="0" algn="l" rtl="0">
              <a:lnSpc>
                <a:spcPct val="100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 C-dim vector of predicted class scores</a:t>
            </a:r>
            <a:endParaRPr sz="1800" b="0" i="0" u="none" strike="noStrike" cap="none">
              <a:solidFill>
                <a:srgbClr val="000000"/>
              </a:solidFill>
              <a:latin typeface="Calibri"/>
              <a:ea typeface="Calibri"/>
              <a:cs typeface="Calibri"/>
              <a:sym typeface="Calibri"/>
            </a:endParaRPr>
          </a:p>
        </p:txBody>
      </p:sp>
      <p:grpSp>
        <p:nvGrpSpPr>
          <p:cNvPr id="1510" name="Google Shape;1510;p28"/>
          <p:cNvGrpSpPr/>
          <p:nvPr/>
        </p:nvGrpSpPr>
        <p:grpSpPr>
          <a:xfrm>
            <a:off x="2535941" y="2675707"/>
            <a:ext cx="7881620" cy="769620"/>
            <a:chOff x="2535941" y="2675707"/>
            <a:chExt cx="7881620" cy="769620"/>
          </a:xfrm>
        </p:grpSpPr>
        <p:sp>
          <p:nvSpPr>
            <p:cNvPr id="1511" name="Google Shape;1511;p28"/>
            <p:cNvSpPr/>
            <p:nvPr/>
          </p:nvSpPr>
          <p:spPr>
            <a:xfrm>
              <a:off x="2535941" y="2675707"/>
              <a:ext cx="7881620" cy="769620"/>
            </a:xfrm>
            <a:custGeom>
              <a:avLst/>
              <a:gdLst/>
              <a:ahLst/>
              <a:cxnLst/>
              <a:rect l="l" t="t" r="r" b="b"/>
              <a:pathLst>
                <a:path w="7881620" h="769620" extrusionOk="0">
                  <a:moveTo>
                    <a:pt x="7753038" y="0"/>
                  </a:moveTo>
                  <a:lnTo>
                    <a:pt x="128234" y="0"/>
                  </a:lnTo>
                  <a:lnTo>
                    <a:pt x="78319" y="10077"/>
                  </a:lnTo>
                  <a:lnTo>
                    <a:pt x="37559" y="37559"/>
                  </a:lnTo>
                  <a:lnTo>
                    <a:pt x="10077" y="78319"/>
                  </a:lnTo>
                  <a:lnTo>
                    <a:pt x="0" y="128234"/>
                  </a:lnTo>
                  <a:lnTo>
                    <a:pt x="0" y="641184"/>
                  </a:lnTo>
                  <a:lnTo>
                    <a:pt x="10077" y="691099"/>
                  </a:lnTo>
                  <a:lnTo>
                    <a:pt x="37559" y="731860"/>
                  </a:lnTo>
                  <a:lnTo>
                    <a:pt x="78319" y="759341"/>
                  </a:lnTo>
                  <a:lnTo>
                    <a:pt x="128234" y="769419"/>
                  </a:lnTo>
                  <a:lnTo>
                    <a:pt x="7753038" y="769419"/>
                  </a:lnTo>
                  <a:lnTo>
                    <a:pt x="7802953" y="759341"/>
                  </a:lnTo>
                  <a:lnTo>
                    <a:pt x="7843714" y="731860"/>
                  </a:lnTo>
                  <a:lnTo>
                    <a:pt x="7871196" y="691099"/>
                  </a:lnTo>
                  <a:lnTo>
                    <a:pt x="7881273" y="641184"/>
                  </a:lnTo>
                  <a:lnTo>
                    <a:pt x="7881273" y="128234"/>
                  </a:lnTo>
                  <a:lnTo>
                    <a:pt x="7871196" y="78319"/>
                  </a:lnTo>
                  <a:lnTo>
                    <a:pt x="7843714" y="37559"/>
                  </a:lnTo>
                  <a:lnTo>
                    <a:pt x="7802953" y="10077"/>
                  </a:lnTo>
                  <a:lnTo>
                    <a:pt x="7753038" y="0"/>
                  </a:lnTo>
                  <a:close/>
                </a:path>
              </a:pathLst>
            </a:custGeom>
            <a:solidFill>
              <a:srgbClr val="E2F0D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12" name="Google Shape;1512;p28"/>
            <p:cNvSpPr/>
            <p:nvPr/>
          </p:nvSpPr>
          <p:spPr>
            <a:xfrm>
              <a:off x="2535941" y="2675707"/>
              <a:ext cx="7881620" cy="769620"/>
            </a:xfrm>
            <a:custGeom>
              <a:avLst/>
              <a:gdLst/>
              <a:ahLst/>
              <a:cxnLst/>
              <a:rect l="l" t="t" r="r" b="b"/>
              <a:pathLst>
                <a:path w="7881620" h="769620" extrusionOk="0">
                  <a:moveTo>
                    <a:pt x="0" y="128235"/>
                  </a:moveTo>
                  <a:lnTo>
                    <a:pt x="10077" y="78320"/>
                  </a:lnTo>
                  <a:lnTo>
                    <a:pt x="37559" y="37559"/>
                  </a:lnTo>
                  <a:lnTo>
                    <a:pt x="78319" y="10077"/>
                  </a:lnTo>
                  <a:lnTo>
                    <a:pt x="128234" y="0"/>
                  </a:lnTo>
                  <a:lnTo>
                    <a:pt x="7753040" y="0"/>
                  </a:lnTo>
                  <a:lnTo>
                    <a:pt x="7802954" y="10077"/>
                  </a:lnTo>
                  <a:lnTo>
                    <a:pt x="7843714" y="37559"/>
                  </a:lnTo>
                  <a:lnTo>
                    <a:pt x="7871196" y="78320"/>
                  </a:lnTo>
                  <a:lnTo>
                    <a:pt x="7881274" y="128235"/>
                  </a:lnTo>
                  <a:lnTo>
                    <a:pt x="7881274" y="641184"/>
                  </a:lnTo>
                  <a:lnTo>
                    <a:pt x="7871196" y="691099"/>
                  </a:lnTo>
                  <a:lnTo>
                    <a:pt x="7843714" y="731860"/>
                  </a:lnTo>
                  <a:lnTo>
                    <a:pt x="7802954" y="759342"/>
                  </a:lnTo>
                  <a:lnTo>
                    <a:pt x="7753040" y="769420"/>
                  </a:lnTo>
                  <a:lnTo>
                    <a:pt x="128234" y="769420"/>
                  </a:lnTo>
                  <a:lnTo>
                    <a:pt x="78319" y="759342"/>
                  </a:lnTo>
                  <a:lnTo>
                    <a:pt x="37559" y="731860"/>
                  </a:lnTo>
                  <a:lnTo>
                    <a:pt x="10077" y="691099"/>
                  </a:lnTo>
                  <a:lnTo>
                    <a:pt x="0" y="641184"/>
                  </a:lnTo>
                  <a:lnTo>
                    <a:pt x="0" y="128235"/>
                  </a:lnTo>
                  <a:close/>
                </a:path>
              </a:pathLst>
            </a:custGeom>
            <a:noFill/>
            <a:ln w="12700" cap="flat" cmpd="sng">
              <a:solidFill>
                <a:srgbClr val="70AD47"/>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513" name="Google Shape;1513;p28"/>
          <p:cNvSpPr txBox="1"/>
          <p:nvPr/>
        </p:nvSpPr>
        <p:spPr>
          <a:xfrm>
            <a:off x="5585417" y="2807715"/>
            <a:ext cx="178308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Transformer</a:t>
            </a:r>
            <a:endParaRPr sz="2800" b="0" i="0" u="none" strike="noStrike" cap="none">
              <a:solidFill>
                <a:srgbClr val="000000"/>
              </a:solidFill>
              <a:latin typeface="Calibri"/>
              <a:ea typeface="Calibri"/>
              <a:cs typeface="Calibri"/>
              <a:sym typeface="Calibri"/>
            </a:endParaRPr>
          </a:p>
        </p:txBody>
      </p:sp>
      <p:sp>
        <p:nvSpPr>
          <p:cNvPr id="1514" name="Google Shape;1514;p28"/>
          <p:cNvSpPr txBox="1"/>
          <p:nvPr/>
        </p:nvSpPr>
        <p:spPr>
          <a:xfrm>
            <a:off x="276038" y="4817126"/>
            <a:ext cx="2040889" cy="1021080"/>
          </a:xfrm>
          <a:prstGeom prst="rect">
            <a:avLst/>
          </a:prstGeom>
          <a:noFill/>
          <a:ln>
            <a:noFill/>
          </a:ln>
        </p:spPr>
        <p:txBody>
          <a:bodyPr spcFirstLastPara="1" wrap="square" lIns="0" tIns="1250" rIns="0" bIns="0" anchor="t" anchorCtr="0">
            <a:spAutoFit/>
          </a:bodyPr>
          <a:lstStyle/>
          <a:p>
            <a:pPr marL="17145"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D-dimensional vector</a:t>
            </a:r>
            <a:endParaRPr sz="1800" b="0" i="0" u="none" strike="noStrike" cap="none">
              <a:solidFill>
                <a:srgbClr val="000000"/>
              </a:solidFill>
              <a:latin typeface="Calibri"/>
              <a:ea typeface="Calibri"/>
              <a:cs typeface="Calibri"/>
              <a:sym typeface="Calibri"/>
            </a:endParaRPr>
          </a:p>
          <a:p>
            <a:pPr marL="12700" marR="5080" lvl="0" indent="0" algn="l" rtl="0">
              <a:lnSpc>
                <a:spcPct val="117222"/>
              </a:lnSpc>
              <a:spcBef>
                <a:spcPts val="148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N input patches, each of shape 3x16x16</a:t>
            </a:r>
            <a:endParaRPr sz="1800" b="0" i="0" u="none" strike="noStrike" cap="none">
              <a:solidFill>
                <a:srgbClr val="000000"/>
              </a:solidFill>
              <a:latin typeface="Calibri"/>
              <a:ea typeface="Calibri"/>
              <a:cs typeface="Calibri"/>
              <a:sym typeface="Calibri"/>
            </a:endParaRPr>
          </a:p>
        </p:txBody>
      </p:sp>
      <p:sp>
        <p:nvSpPr>
          <p:cNvPr id="1515" name="Google Shape;1515;p28"/>
          <p:cNvSpPr txBox="1"/>
          <p:nvPr/>
        </p:nvSpPr>
        <p:spPr>
          <a:xfrm>
            <a:off x="10251213" y="5962476"/>
            <a:ext cx="1861185" cy="375920"/>
          </a:xfrm>
          <a:prstGeom prst="rect">
            <a:avLst/>
          </a:prstGeom>
          <a:noFill/>
          <a:ln>
            <a:noFill/>
          </a:ln>
        </p:spPr>
        <p:txBody>
          <a:bodyPr spcFirstLastPara="1" wrap="square" lIns="0" tIns="1250" rIns="0" bIns="0" anchor="t" anchorCtr="0">
            <a:spAutoFit/>
          </a:bodyPr>
          <a:lstStyle/>
          <a:p>
            <a:pPr marL="296545" marR="5080" lvl="0" indent="-284480" algn="l" rtl="0">
              <a:lnSpc>
                <a:spcPct val="129090"/>
              </a:lnSpc>
              <a:spcBef>
                <a:spcPts val="0"/>
              </a:spcBef>
              <a:spcAft>
                <a:spcPts val="0"/>
              </a:spcAft>
              <a:buClr>
                <a:srgbClr val="0563C1"/>
              </a:buClr>
              <a:buSzPts val="1100"/>
              <a:buFont typeface="Arial"/>
              <a:buNone/>
            </a:pPr>
            <a:r>
              <a:rPr lang="en-US" sz="1100" b="0" i="0" u="sng" strike="noStrike" cap="none">
                <a:solidFill>
                  <a:srgbClr val="0563C1"/>
                </a:solidFill>
                <a:latin typeface="Calibri"/>
                <a:ea typeface="Calibri"/>
                <a:cs typeface="Calibri"/>
                <a:sym typeface="Calibri"/>
              </a:rPr>
              <a:t>Cat image</a:t>
            </a:r>
            <a:r>
              <a:rPr lang="en-US" sz="1100" b="0" i="0" u="none" strike="noStrike" cap="none">
                <a:solidFill>
                  <a:srgbClr val="0563C1"/>
                </a:solidFill>
                <a:latin typeface="Calibri"/>
                <a:ea typeface="Calibri"/>
                <a:cs typeface="Calibri"/>
                <a:sym typeface="Calibri"/>
              </a:rPr>
              <a:t> </a:t>
            </a:r>
            <a:r>
              <a:rPr lang="en-US" sz="1100" b="0" i="0" u="none" strike="noStrike" cap="none">
                <a:solidFill>
                  <a:srgbClr val="000000"/>
                </a:solidFill>
                <a:latin typeface="Calibri"/>
                <a:ea typeface="Calibri"/>
                <a:cs typeface="Calibri"/>
                <a:sym typeface="Calibri"/>
              </a:rPr>
              <a:t>is free for commercial use under a </a:t>
            </a:r>
            <a:r>
              <a:rPr lang="en-US" sz="1100" b="0" i="0" u="sng" strike="noStrike" cap="none">
                <a:solidFill>
                  <a:srgbClr val="0563C1"/>
                </a:solidFill>
                <a:latin typeface="Calibri"/>
                <a:ea typeface="Calibri"/>
                <a:cs typeface="Calibri"/>
                <a:sym typeface="Calibri"/>
              </a:rPr>
              <a:t>Pixabay license</a:t>
            </a:r>
            <a:endParaRPr sz="1100" b="0" i="0" u="none" strike="noStrike" cap="none">
              <a:solidFill>
                <a:srgbClr val="000000"/>
              </a:solidFill>
              <a:latin typeface="Calibri"/>
              <a:ea typeface="Calibri"/>
              <a:cs typeface="Calibri"/>
              <a:sym typeface="Calibri"/>
            </a:endParaRPr>
          </a:p>
        </p:txBody>
      </p:sp>
      <p:sp>
        <p:nvSpPr>
          <p:cNvPr id="1516" name="Google Shape;1516;p28"/>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1517" name="Google Shape;1517;p28"/>
          <p:cNvSpPr txBox="1"/>
          <p:nvPr/>
        </p:nvSpPr>
        <p:spPr>
          <a:xfrm>
            <a:off x="1182955" y="1048003"/>
            <a:ext cx="2908300" cy="760095"/>
          </a:xfrm>
          <a:prstGeom prst="rect">
            <a:avLst/>
          </a:prstGeom>
          <a:noFill/>
          <a:ln>
            <a:noFill/>
          </a:ln>
        </p:spPr>
        <p:txBody>
          <a:bodyPr spcFirstLastPara="1" wrap="square" lIns="0" tIns="9525" rIns="0" bIns="0" anchor="t" anchorCtr="0">
            <a:spAutoFit/>
          </a:bodyPr>
          <a:lstStyle/>
          <a:p>
            <a:pPr marL="12700" marR="5080" lvl="0" indent="0" algn="l" rtl="0">
              <a:lnSpc>
                <a:spcPct val="100800"/>
              </a:lnSpc>
              <a:spcBef>
                <a:spcPts val="0"/>
              </a:spcBef>
              <a:spcAft>
                <a:spcPts val="0"/>
              </a:spcAft>
              <a:buClr>
                <a:srgbClr val="70AD47"/>
              </a:buClr>
              <a:buSzPts val="2400"/>
              <a:buFont typeface="Arial"/>
              <a:buNone/>
            </a:pPr>
            <a:r>
              <a:rPr lang="en-US" sz="2400" b="0" i="0" u="none" strike="noStrike" cap="none">
                <a:solidFill>
                  <a:srgbClr val="70AD47"/>
                </a:solidFill>
                <a:latin typeface="Calibri"/>
                <a:ea typeface="Calibri"/>
                <a:cs typeface="Calibri"/>
                <a:sym typeface="Calibri"/>
              </a:rPr>
              <a:t>Computer vision model with no convolutions!</a:t>
            </a:r>
            <a:endParaRPr sz="2400" b="0" i="0" u="none" strike="noStrike" cap="none">
              <a:solidFill>
                <a:srgbClr val="000000"/>
              </a:solidFill>
              <a:latin typeface="Calibri"/>
              <a:ea typeface="Calibri"/>
              <a:cs typeface="Calibri"/>
              <a:sym typeface="Calibri"/>
            </a:endParaRPr>
          </a:p>
        </p:txBody>
      </p:sp>
      <p:sp>
        <p:nvSpPr>
          <p:cNvPr id="1518" name="Google Shape;1518;p28"/>
          <p:cNvSpPr txBox="1"/>
          <p:nvPr/>
        </p:nvSpPr>
        <p:spPr>
          <a:xfrm>
            <a:off x="4544828" y="1041908"/>
            <a:ext cx="4429125" cy="760095"/>
          </a:xfrm>
          <a:prstGeom prst="rect">
            <a:avLst/>
          </a:prstGeom>
          <a:noFill/>
          <a:ln>
            <a:noFill/>
          </a:ln>
        </p:spPr>
        <p:txBody>
          <a:bodyPr spcFirstLastPara="1" wrap="square" lIns="0" tIns="9525" rIns="0" bIns="0" anchor="t" anchorCtr="0">
            <a:spAutoFit/>
          </a:bodyPr>
          <a:lstStyle/>
          <a:p>
            <a:pPr marL="12700" marR="5080" lvl="0" indent="0" algn="l" rtl="0">
              <a:lnSpc>
                <a:spcPct val="100800"/>
              </a:lnSpc>
              <a:spcBef>
                <a:spcPts val="0"/>
              </a:spcBef>
              <a:spcAft>
                <a:spcPts val="0"/>
              </a:spcAft>
              <a:buClr>
                <a:srgbClr val="C00000"/>
              </a:buClr>
              <a:buSzPts val="2400"/>
              <a:buFont typeface="Arial"/>
              <a:buNone/>
            </a:pPr>
            <a:r>
              <a:rPr lang="en-US" sz="2400" b="0" i="0" u="none" strike="noStrike" cap="none">
                <a:solidFill>
                  <a:srgbClr val="C00000"/>
                </a:solidFill>
                <a:latin typeface="Calibri"/>
                <a:ea typeface="Calibri"/>
                <a:cs typeface="Calibri"/>
                <a:sym typeface="Calibri"/>
              </a:rPr>
              <a:t>Not quite: With patch size p, first layer is Conv2D(pxp, 3-&gt;D, stride=p)</a:t>
            </a: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22"/>
        <p:cNvGrpSpPr/>
        <p:nvPr/>
      </p:nvGrpSpPr>
      <p:grpSpPr>
        <a:xfrm>
          <a:off x="0" y="0"/>
          <a:ext cx="0" cy="0"/>
          <a:chOff x="0" y="0"/>
          <a:chExt cx="0" cy="0"/>
        </a:xfrm>
      </p:grpSpPr>
      <p:sp>
        <p:nvSpPr>
          <p:cNvPr id="1523" name="Google Shape;1523;p29"/>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a:t>
            </a:r>
            <a:endParaRPr/>
          </a:p>
        </p:txBody>
      </p:sp>
      <p:grpSp>
        <p:nvGrpSpPr>
          <p:cNvPr id="1524" name="Google Shape;1524;p29"/>
          <p:cNvGrpSpPr/>
          <p:nvPr/>
        </p:nvGrpSpPr>
        <p:grpSpPr>
          <a:xfrm>
            <a:off x="2535941" y="4400222"/>
            <a:ext cx="683958" cy="1475057"/>
            <a:chOff x="2535941" y="4400222"/>
            <a:chExt cx="683958" cy="1475057"/>
          </a:xfrm>
        </p:grpSpPr>
        <p:sp>
          <p:nvSpPr>
            <p:cNvPr id="1525" name="Google Shape;1525;p29"/>
            <p:cNvSpPr/>
            <p:nvPr/>
          </p:nvSpPr>
          <p:spPr>
            <a:xfrm>
              <a:off x="2802577"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26" name="Google Shape;1526;p29"/>
            <p:cNvSpPr/>
            <p:nvPr/>
          </p:nvSpPr>
          <p:spPr>
            <a:xfrm>
              <a:off x="2802577"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27" name="Google Shape;1527;p29"/>
            <p:cNvSpPr/>
            <p:nvPr/>
          </p:nvSpPr>
          <p:spPr>
            <a:xfrm>
              <a:off x="2829572" y="4831110"/>
              <a:ext cx="76200" cy="404495"/>
            </a:xfrm>
            <a:custGeom>
              <a:avLst/>
              <a:gdLst/>
              <a:ahLst/>
              <a:cxnLst/>
              <a:rect l="l" t="t" r="r" b="b"/>
              <a:pathLst>
                <a:path w="76200" h="404495" extrusionOk="0">
                  <a:moveTo>
                    <a:pt x="50799" y="76183"/>
                  </a:moveTo>
                  <a:lnTo>
                    <a:pt x="25399" y="76217"/>
                  </a:lnTo>
                  <a:lnTo>
                    <a:pt x="25840" y="404106"/>
                  </a:lnTo>
                  <a:lnTo>
                    <a:pt x="51240" y="404072"/>
                  </a:lnTo>
                  <a:lnTo>
                    <a:pt x="50799" y="76183"/>
                  </a:lnTo>
                  <a:close/>
                </a:path>
                <a:path w="76200" h="404495" extrusionOk="0">
                  <a:moveTo>
                    <a:pt x="37997" y="0"/>
                  </a:moveTo>
                  <a:lnTo>
                    <a:pt x="0" y="76252"/>
                  </a:lnTo>
                  <a:lnTo>
                    <a:pt x="25399" y="76217"/>
                  </a:lnTo>
                  <a:lnTo>
                    <a:pt x="25382" y="63517"/>
                  </a:lnTo>
                  <a:lnTo>
                    <a:pt x="69845" y="63483"/>
                  </a:lnTo>
                  <a:lnTo>
                    <a:pt x="37997" y="0"/>
                  </a:lnTo>
                  <a:close/>
                </a:path>
                <a:path w="76200" h="404495" extrusionOk="0">
                  <a:moveTo>
                    <a:pt x="50782" y="63483"/>
                  </a:moveTo>
                  <a:lnTo>
                    <a:pt x="25382" y="63517"/>
                  </a:lnTo>
                  <a:lnTo>
                    <a:pt x="25399" y="76217"/>
                  </a:lnTo>
                  <a:lnTo>
                    <a:pt x="50799" y="76183"/>
                  </a:lnTo>
                  <a:lnTo>
                    <a:pt x="50782" y="63483"/>
                  </a:lnTo>
                  <a:close/>
                </a:path>
                <a:path w="76200" h="404495" extrusionOk="0">
                  <a:moveTo>
                    <a:pt x="69845" y="63483"/>
                  </a:moveTo>
                  <a:lnTo>
                    <a:pt x="50782" y="63483"/>
                  </a:lnTo>
                  <a:lnTo>
                    <a:pt x="50799" y="76183"/>
                  </a:lnTo>
                  <a:lnTo>
                    <a:pt x="76200" y="76149"/>
                  </a:lnTo>
                  <a:lnTo>
                    <a:pt x="69845" y="6348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528" name="Google Shape;1528;p29"/>
            <p:cNvPicPr preferRelativeResize="0"/>
            <p:nvPr/>
          </p:nvPicPr>
          <p:blipFill rotWithShape="1">
            <a:blip r:embed="rId3">
              <a:alphaModFix/>
            </a:blip>
            <a:srcRect/>
            <a:stretch/>
          </p:blipFill>
          <p:spPr>
            <a:xfrm>
              <a:off x="2535941" y="5235200"/>
              <a:ext cx="639705" cy="640079"/>
            </a:xfrm>
            <a:prstGeom prst="rect">
              <a:avLst/>
            </a:prstGeom>
            <a:noFill/>
            <a:ln>
              <a:noFill/>
            </a:ln>
          </p:spPr>
        </p:pic>
        <p:sp>
          <p:nvSpPr>
            <p:cNvPr id="1529" name="Google Shape;1529;p29"/>
            <p:cNvSpPr/>
            <p:nvPr/>
          </p:nvSpPr>
          <p:spPr>
            <a:xfrm>
              <a:off x="3089724"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30" name="Google Shape;1530;p29"/>
            <p:cNvSpPr/>
            <p:nvPr/>
          </p:nvSpPr>
          <p:spPr>
            <a:xfrm>
              <a:off x="3089724"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531" name="Google Shape;1531;p29"/>
          <p:cNvGrpSpPr/>
          <p:nvPr/>
        </p:nvGrpSpPr>
        <p:grpSpPr>
          <a:xfrm>
            <a:off x="3312686" y="4404013"/>
            <a:ext cx="683436" cy="1471266"/>
            <a:chOff x="3312686" y="4404013"/>
            <a:chExt cx="683436" cy="1471266"/>
          </a:xfrm>
        </p:grpSpPr>
        <p:sp>
          <p:nvSpPr>
            <p:cNvPr id="1532" name="Google Shape;1532;p29"/>
            <p:cNvSpPr/>
            <p:nvPr/>
          </p:nvSpPr>
          <p:spPr>
            <a:xfrm>
              <a:off x="3578800" y="4404013"/>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33" name="Google Shape;1533;p29"/>
            <p:cNvSpPr/>
            <p:nvPr/>
          </p:nvSpPr>
          <p:spPr>
            <a:xfrm>
              <a:off x="3578800"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34" name="Google Shape;1534;p29"/>
            <p:cNvSpPr/>
            <p:nvPr/>
          </p:nvSpPr>
          <p:spPr>
            <a:xfrm>
              <a:off x="3605753" y="4834901"/>
              <a:ext cx="76200" cy="400685"/>
            </a:xfrm>
            <a:custGeom>
              <a:avLst/>
              <a:gdLst/>
              <a:ahLst/>
              <a:cxnLst/>
              <a:rect l="l" t="t" r="r" b="b"/>
              <a:pathLst>
                <a:path w="76200" h="400685" extrusionOk="0">
                  <a:moveTo>
                    <a:pt x="50800" y="76190"/>
                  </a:moveTo>
                  <a:lnTo>
                    <a:pt x="25400" y="76211"/>
                  </a:lnTo>
                  <a:lnTo>
                    <a:pt x="25660" y="400309"/>
                  </a:lnTo>
                  <a:lnTo>
                    <a:pt x="51060" y="400288"/>
                  </a:lnTo>
                  <a:lnTo>
                    <a:pt x="50800" y="76190"/>
                  </a:lnTo>
                  <a:close/>
                </a:path>
                <a:path w="76200" h="400685" extrusionOk="0">
                  <a:moveTo>
                    <a:pt x="38037" y="0"/>
                  </a:moveTo>
                  <a:lnTo>
                    <a:pt x="0" y="76231"/>
                  </a:lnTo>
                  <a:lnTo>
                    <a:pt x="25400" y="76211"/>
                  </a:lnTo>
                  <a:lnTo>
                    <a:pt x="25389" y="63510"/>
                  </a:lnTo>
                  <a:lnTo>
                    <a:pt x="69847" y="63489"/>
                  </a:lnTo>
                  <a:lnTo>
                    <a:pt x="38037"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535" name="Google Shape;1535;p29"/>
            <p:cNvPicPr preferRelativeResize="0"/>
            <p:nvPr/>
          </p:nvPicPr>
          <p:blipFill rotWithShape="1">
            <a:blip r:embed="rId4">
              <a:alphaModFix/>
            </a:blip>
            <a:srcRect/>
            <a:stretch/>
          </p:blipFill>
          <p:spPr>
            <a:xfrm>
              <a:off x="3312686" y="5235200"/>
              <a:ext cx="639705" cy="640079"/>
            </a:xfrm>
            <a:prstGeom prst="rect">
              <a:avLst/>
            </a:prstGeom>
            <a:noFill/>
            <a:ln>
              <a:noFill/>
            </a:ln>
          </p:spPr>
        </p:pic>
        <p:sp>
          <p:nvSpPr>
            <p:cNvPr id="1536" name="Google Shape;1536;p29"/>
            <p:cNvSpPr/>
            <p:nvPr/>
          </p:nvSpPr>
          <p:spPr>
            <a:xfrm>
              <a:off x="3865947" y="440599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37" name="Google Shape;1537;p29"/>
            <p:cNvSpPr/>
            <p:nvPr/>
          </p:nvSpPr>
          <p:spPr>
            <a:xfrm>
              <a:off x="3865947"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538" name="Google Shape;1538;p29"/>
          <p:cNvGrpSpPr/>
          <p:nvPr/>
        </p:nvGrpSpPr>
        <p:grpSpPr>
          <a:xfrm>
            <a:off x="4089432" y="4400222"/>
            <a:ext cx="682911" cy="1475057"/>
            <a:chOff x="4089432" y="4400222"/>
            <a:chExt cx="682911" cy="1475057"/>
          </a:xfrm>
        </p:grpSpPr>
        <p:sp>
          <p:nvSpPr>
            <p:cNvPr id="1539" name="Google Shape;1539;p29"/>
            <p:cNvSpPr/>
            <p:nvPr/>
          </p:nvSpPr>
          <p:spPr>
            <a:xfrm>
              <a:off x="4355021"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40" name="Google Shape;1540;p29"/>
            <p:cNvSpPr/>
            <p:nvPr/>
          </p:nvSpPr>
          <p:spPr>
            <a:xfrm>
              <a:off x="4355021"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41" name="Google Shape;1541;p29"/>
            <p:cNvSpPr/>
            <p:nvPr/>
          </p:nvSpPr>
          <p:spPr>
            <a:xfrm>
              <a:off x="4382073" y="4831110"/>
              <a:ext cx="76200" cy="404495"/>
            </a:xfrm>
            <a:custGeom>
              <a:avLst/>
              <a:gdLst/>
              <a:ahLst/>
              <a:cxnLst/>
              <a:rect l="l" t="t" r="r" b="b"/>
              <a:pathLst>
                <a:path w="76200" h="404495" extrusionOk="0">
                  <a:moveTo>
                    <a:pt x="50799" y="76173"/>
                  </a:moveTo>
                  <a:lnTo>
                    <a:pt x="25399" y="76226"/>
                  </a:lnTo>
                  <a:lnTo>
                    <a:pt x="26087" y="404116"/>
                  </a:lnTo>
                  <a:lnTo>
                    <a:pt x="51487" y="404063"/>
                  </a:lnTo>
                  <a:lnTo>
                    <a:pt x="50799" y="76173"/>
                  </a:lnTo>
                  <a:close/>
                </a:path>
                <a:path w="76200" h="404495" extrusionOk="0">
                  <a:moveTo>
                    <a:pt x="37939" y="0"/>
                  </a:moveTo>
                  <a:lnTo>
                    <a:pt x="0" y="76280"/>
                  </a:lnTo>
                  <a:lnTo>
                    <a:pt x="25399" y="76226"/>
                  </a:lnTo>
                  <a:lnTo>
                    <a:pt x="25373" y="63526"/>
                  </a:lnTo>
                  <a:lnTo>
                    <a:pt x="69843" y="63473"/>
                  </a:lnTo>
                  <a:lnTo>
                    <a:pt x="37939" y="0"/>
                  </a:lnTo>
                  <a:close/>
                </a:path>
                <a:path w="76200" h="404495" extrusionOk="0">
                  <a:moveTo>
                    <a:pt x="50773" y="63473"/>
                  </a:moveTo>
                  <a:lnTo>
                    <a:pt x="25373" y="63526"/>
                  </a:lnTo>
                  <a:lnTo>
                    <a:pt x="25399" y="76226"/>
                  </a:lnTo>
                  <a:lnTo>
                    <a:pt x="50799" y="76173"/>
                  </a:lnTo>
                  <a:lnTo>
                    <a:pt x="50773" y="63473"/>
                  </a:lnTo>
                  <a:close/>
                </a:path>
                <a:path w="76200" h="404495" extrusionOk="0">
                  <a:moveTo>
                    <a:pt x="69843" y="63473"/>
                  </a:moveTo>
                  <a:lnTo>
                    <a:pt x="50773" y="63473"/>
                  </a:lnTo>
                  <a:lnTo>
                    <a:pt x="50799" y="76173"/>
                  </a:lnTo>
                  <a:lnTo>
                    <a:pt x="76200" y="76119"/>
                  </a:lnTo>
                  <a:lnTo>
                    <a:pt x="69843" y="6347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542" name="Google Shape;1542;p29"/>
            <p:cNvPicPr preferRelativeResize="0"/>
            <p:nvPr/>
          </p:nvPicPr>
          <p:blipFill rotWithShape="1">
            <a:blip r:embed="rId5">
              <a:alphaModFix/>
            </a:blip>
            <a:srcRect/>
            <a:stretch/>
          </p:blipFill>
          <p:spPr>
            <a:xfrm>
              <a:off x="4089432" y="5235200"/>
              <a:ext cx="639705" cy="640079"/>
            </a:xfrm>
            <a:prstGeom prst="rect">
              <a:avLst/>
            </a:prstGeom>
            <a:noFill/>
            <a:ln>
              <a:noFill/>
            </a:ln>
          </p:spPr>
        </p:pic>
        <p:sp>
          <p:nvSpPr>
            <p:cNvPr id="1543" name="Google Shape;1543;p29"/>
            <p:cNvSpPr/>
            <p:nvPr/>
          </p:nvSpPr>
          <p:spPr>
            <a:xfrm>
              <a:off x="4642168"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44" name="Google Shape;1544;p29"/>
            <p:cNvSpPr/>
            <p:nvPr/>
          </p:nvSpPr>
          <p:spPr>
            <a:xfrm>
              <a:off x="4642168"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545" name="Google Shape;1545;p29"/>
          <p:cNvGrpSpPr/>
          <p:nvPr/>
        </p:nvGrpSpPr>
        <p:grpSpPr>
          <a:xfrm>
            <a:off x="4866180" y="4404013"/>
            <a:ext cx="683434" cy="1471266"/>
            <a:chOff x="4866180" y="4404013"/>
            <a:chExt cx="683434" cy="1471266"/>
          </a:xfrm>
        </p:grpSpPr>
        <p:sp>
          <p:nvSpPr>
            <p:cNvPr id="1546" name="Google Shape;1546;p29"/>
            <p:cNvSpPr/>
            <p:nvPr/>
          </p:nvSpPr>
          <p:spPr>
            <a:xfrm>
              <a:off x="5132292" y="4404013"/>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47" name="Google Shape;1547;p29"/>
            <p:cNvSpPr/>
            <p:nvPr/>
          </p:nvSpPr>
          <p:spPr>
            <a:xfrm>
              <a:off x="5132292"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48" name="Google Shape;1548;p29"/>
            <p:cNvSpPr/>
            <p:nvPr/>
          </p:nvSpPr>
          <p:spPr>
            <a:xfrm>
              <a:off x="5159245" y="4834901"/>
              <a:ext cx="76200" cy="400685"/>
            </a:xfrm>
            <a:custGeom>
              <a:avLst/>
              <a:gdLst/>
              <a:ahLst/>
              <a:cxnLst/>
              <a:rect l="l" t="t" r="r" b="b"/>
              <a:pathLst>
                <a:path w="76200" h="400685" extrusionOk="0">
                  <a:moveTo>
                    <a:pt x="50800" y="76190"/>
                  </a:moveTo>
                  <a:lnTo>
                    <a:pt x="25400" y="76211"/>
                  </a:lnTo>
                  <a:lnTo>
                    <a:pt x="25661" y="400319"/>
                  </a:lnTo>
                  <a:lnTo>
                    <a:pt x="51061" y="400298"/>
                  </a:lnTo>
                  <a:lnTo>
                    <a:pt x="50800" y="76190"/>
                  </a:lnTo>
                  <a:close/>
                </a:path>
                <a:path w="76200" h="400685" extrusionOk="0">
                  <a:moveTo>
                    <a:pt x="38039" y="0"/>
                  </a:moveTo>
                  <a:lnTo>
                    <a:pt x="0" y="76231"/>
                  </a:lnTo>
                  <a:lnTo>
                    <a:pt x="25400" y="76211"/>
                  </a:lnTo>
                  <a:lnTo>
                    <a:pt x="25389" y="63510"/>
                  </a:lnTo>
                  <a:lnTo>
                    <a:pt x="69847" y="63489"/>
                  </a:lnTo>
                  <a:lnTo>
                    <a:pt x="38039"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549" name="Google Shape;1549;p29"/>
            <p:cNvPicPr preferRelativeResize="0"/>
            <p:nvPr/>
          </p:nvPicPr>
          <p:blipFill rotWithShape="1">
            <a:blip r:embed="rId6">
              <a:alphaModFix/>
            </a:blip>
            <a:srcRect/>
            <a:stretch/>
          </p:blipFill>
          <p:spPr>
            <a:xfrm>
              <a:off x="4866180" y="5235200"/>
              <a:ext cx="639705" cy="640079"/>
            </a:xfrm>
            <a:prstGeom prst="rect">
              <a:avLst/>
            </a:prstGeom>
            <a:noFill/>
            <a:ln>
              <a:noFill/>
            </a:ln>
          </p:spPr>
        </p:pic>
        <p:sp>
          <p:nvSpPr>
            <p:cNvPr id="1550" name="Google Shape;1550;p29"/>
            <p:cNvSpPr/>
            <p:nvPr/>
          </p:nvSpPr>
          <p:spPr>
            <a:xfrm>
              <a:off x="5419439" y="440599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51" name="Google Shape;1551;p29"/>
            <p:cNvSpPr/>
            <p:nvPr/>
          </p:nvSpPr>
          <p:spPr>
            <a:xfrm>
              <a:off x="5419439"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552" name="Google Shape;1552;p29"/>
          <p:cNvGrpSpPr/>
          <p:nvPr/>
        </p:nvGrpSpPr>
        <p:grpSpPr>
          <a:xfrm>
            <a:off x="5645272" y="4400222"/>
            <a:ext cx="676559" cy="1475057"/>
            <a:chOff x="5645272" y="4400222"/>
            <a:chExt cx="676559" cy="1475057"/>
          </a:xfrm>
        </p:grpSpPr>
        <p:sp>
          <p:nvSpPr>
            <p:cNvPr id="1553" name="Google Shape;1553;p29"/>
            <p:cNvSpPr/>
            <p:nvPr/>
          </p:nvSpPr>
          <p:spPr>
            <a:xfrm>
              <a:off x="5904509"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54" name="Google Shape;1554;p29"/>
            <p:cNvSpPr/>
            <p:nvPr/>
          </p:nvSpPr>
          <p:spPr>
            <a:xfrm>
              <a:off x="5904509"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55" name="Google Shape;1555;p29"/>
            <p:cNvSpPr/>
            <p:nvPr/>
          </p:nvSpPr>
          <p:spPr>
            <a:xfrm>
              <a:off x="5932177" y="4831110"/>
              <a:ext cx="76200" cy="404495"/>
            </a:xfrm>
            <a:custGeom>
              <a:avLst/>
              <a:gdLst/>
              <a:ahLst/>
              <a:cxnLst/>
              <a:rect l="l" t="t" r="r" b="b"/>
              <a:pathLst>
                <a:path w="76200" h="404495" extrusionOk="0">
                  <a:moveTo>
                    <a:pt x="50796" y="76067"/>
                  </a:moveTo>
                  <a:lnTo>
                    <a:pt x="25398" y="76325"/>
                  </a:lnTo>
                  <a:lnTo>
                    <a:pt x="28731" y="404228"/>
                  </a:lnTo>
                  <a:lnTo>
                    <a:pt x="54129" y="403970"/>
                  </a:lnTo>
                  <a:lnTo>
                    <a:pt x="50796" y="76067"/>
                  </a:lnTo>
                  <a:close/>
                </a:path>
                <a:path w="76200" h="404495" extrusionOk="0">
                  <a:moveTo>
                    <a:pt x="37322" y="0"/>
                  </a:moveTo>
                  <a:lnTo>
                    <a:pt x="0" y="76583"/>
                  </a:lnTo>
                  <a:lnTo>
                    <a:pt x="25398" y="76325"/>
                  </a:lnTo>
                  <a:lnTo>
                    <a:pt x="25269" y="63626"/>
                  </a:lnTo>
                  <a:lnTo>
                    <a:pt x="50667" y="63367"/>
                  </a:lnTo>
                  <a:lnTo>
                    <a:pt x="69815" y="63367"/>
                  </a:lnTo>
                  <a:lnTo>
                    <a:pt x="37322" y="0"/>
                  </a:lnTo>
                  <a:close/>
                </a:path>
                <a:path w="76200" h="404495" extrusionOk="0">
                  <a:moveTo>
                    <a:pt x="50667" y="63367"/>
                  </a:moveTo>
                  <a:lnTo>
                    <a:pt x="25269" y="63626"/>
                  </a:lnTo>
                  <a:lnTo>
                    <a:pt x="25398" y="76325"/>
                  </a:lnTo>
                  <a:lnTo>
                    <a:pt x="50796" y="76067"/>
                  </a:lnTo>
                  <a:lnTo>
                    <a:pt x="50667" y="63367"/>
                  </a:lnTo>
                  <a:close/>
                </a:path>
                <a:path w="76200" h="404495" extrusionOk="0">
                  <a:moveTo>
                    <a:pt x="69815" y="63367"/>
                  </a:moveTo>
                  <a:lnTo>
                    <a:pt x="50667" y="63367"/>
                  </a:lnTo>
                  <a:lnTo>
                    <a:pt x="50796" y="76067"/>
                  </a:lnTo>
                  <a:lnTo>
                    <a:pt x="76194" y="75808"/>
                  </a:lnTo>
                  <a:lnTo>
                    <a:pt x="69815" y="6336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556" name="Google Shape;1556;p29"/>
            <p:cNvPicPr preferRelativeResize="0"/>
            <p:nvPr/>
          </p:nvPicPr>
          <p:blipFill rotWithShape="1">
            <a:blip r:embed="rId7">
              <a:alphaModFix/>
            </a:blip>
            <a:srcRect/>
            <a:stretch/>
          </p:blipFill>
          <p:spPr>
            <a:xfrm>
              <a:off x="5645272" y="5235200"/>
              <a:ext cx="639705" cy="640079"/>
            </a:xfrm>
            <a:prstGeom prst="rect">
              <a:avLst/>
            </a:prstGeom>
            <a:noFill/>
            <a:ln>
              <a:noFill/>
            </a:ln>
          </p:spPr>
        </p:pic>
        <p:sp>
          <p:nvSpPr>
            <p:cNvPr id="1557" name="Google Shape;1557;p29"/>
            <p:cNvSpPr/>
            <p:nvPr/>
          </p:nvSpPr>
          <p:spPr>
            <a:xfrm>
              <a:off x="6191656"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58" name="Google Shape;1558;p29"/>
            <p:cNvSpPr/>
            <p:nvPr/>
          </p:nvSpPr>
          <p:spPr>
            <a:xfrm>
              <a:off x="6191656"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559" name="Google Shape;1559;p29"/>
          <p:cNvGrpSpPr/>
          <p:nvPr/>
        </p:nvGrpSpPr>
        <p:grpSpPr>
          <a:xfrm>
            <a:off x="6419682" y="4400222"/>
            <a:ext cx="688872" cy="1475057"/>
            <a:chOff x="6419682" y="4400222"/>
            <a:chExt cx="688872" cy="1475057"/>
          </a:xfrm>
        </p:grpSpPr>
        <p:sp>
          <p:nvSpPr>
            <p:cNvPr id="1560" name="Google Shape;1560;p29"/>
            <p:cNvSpPr/>
            <p:nvPr/>
          </p:nvSpPr>
          <p:spPr>
            <a:xfrm>
              <a:off x="6691232"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61" name="Google Shape;1561;p29"/>
            <p:cNvSpPr/>
            <p:nvPr/>
          </p:nvSpPr>
          <p:spPr>
            <a:xfrm>
              <a:off x="6691232"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62" name="Google Shape;1562;p29"/>
            <p:cNvSpPr/>
            <p:nvPr/>
          </p:nvSpPr>
          <p:spPr>
            <a:xfrm>
              <a:off x="6717023" y="4831110"/>
              <a:ext cx="76200" cy="404495"/>
            </a:xfrm>
            <a:custGeom>
              <a:avLst/>
              <a:gdLst/>
              <a:ahLst/>
              <a:cxnLst/>
              <a:rect l="l" t="t" r="r" b="b"/>
              <a:pathLst>
                <a:path w="76200" h="404495" extrusionOk="0">
                  <a:moveTo>
                    <a:pt x="25397" y="76008"/>
                  </a:moveTo>
                  <a:lnTo>
                    <a:pt x="20636" y="403914"/>
                  </a:lnTo>
                  <a:lnTo>
                    <a:pt x="46033" y="404284"/>
                  </a:lnTo>
                  <a:lnTo>
                    <a:pt x="50794" y="76377"/>
                  </a:lnTo>
                  <a:lnTo>
                    <a:pt x="25397" y="76008"/>
                  </a:lnTo>
                  <a:close/>
                </a:path>
                <a:path w="76200" h="404495" extrusionOk="0">
                  <a:moveTo>
                    <a:pt x="69714" y="63309"/>
                  </a:moveTo>
                  <a:lnTo>
                    <a:pt x="25581" y="63309"/>
                  </a:lnTo>
                  <a:lnTo>
                    <a:pt x="50979" y="63677"/>
                  </a:lnTo>
                  <a:lnTo>
                    <a:pt x="50794" y="76377"/>
                  </a:lnTo>
                  <a:lnTo>
                    <a:pt x="76191" y="76746"/>
                  </a:lnTo>
                  <a:lnTo>
                    <a:pt x="69714" y="63309"/>
                  </a:lnTo>
                  <a:close/>
                </a:path>
                <a:path w="76200" h="404495" extrusionOk="0">
                  <a:moveTo>
                    <a:pt x="25581" y="63309"/>
                  </a:moveTo>
                  <a:lnTo>
                    <a:pt x="25397" y="76008"/>
                  </a:lnTo>
                  <a:lnTo>
                    <a:pt x="50794" y="76377"/>
                  </a:lnTo>
                  <a:lnTo>
                    <a:pt x="50979" y="63677"/>
                  </a:lnTo>
                  <a:lnTo>
                    <a:pt x="25581" y="63309"/>
                  </a:lnTo>
                  <a:close/>
                </a:path>
                <a:path w="76200" h="404495" extrusionOk="0">
                  <a:moveTo>
                    <a:pt x="39201" y="0"/>
                  </a:moveTo>
                  <a:lnTo>
                    <a:pt x="0" y="75639"/>
                  </a:lnTo>
                  <a:lnTo>
                    <a:pt x="25397" y="76008"/>
                  </a:lnTo>
                  <a:lnTo>
                    <a:pt x="25581" y="63309"/>
                  </a:lnTo>
                  <a:lnTo>
                    <a:pt x="69714" y="63309"/>
                  </a:lnTo>
                  <a:lnTo>
                    <a:pt x="3920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563" name="Google Shape;1563;p29"/>
            <p:cNvPicPr preferRelativeResize="0"/>
            <p:nvPr/>
          </p:nvPicPr>
          <p:blipFill rotWithShape="1">
            <a:blip r:embed="rId8">
              <a:alphaModFix/>
            </a:blip>
            <a:srcRect/>
            <a:stretch/>
          </p:blipFill>
          <p:spPr>
            <a:xfrm>
              <a:off x="6419682" y="5235200"/>
              <a:ext cx="639705" cy="640079"/>
            </a:xfrm>
            <a:prstGeom prst="rect">
              <a:avLst/>
            </a:prstGeom>
            <a:noFill/>
            <a:ln>
              <a:noFill/>
            </a:ln>
          </p:spPr>
        </p:pic>
        <p:sp>
          <p:nvSpPr>
            <p:cNvPr id="1564" name="Google Shape;1564;p29"/>
            <p:cNvSpPr/>
            <p:nvPr/>
          </p:nvSpPr>
          <p:spPr>
            <a:xfrm>
              <a:off x="6978379"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65" name="Google Shape;1565;p29"/>
            <p:cNvSpPr/>
            <p:nvPr/>
          </p:nvSpPr>
          <p:spPr>
            <a:xfrm>
              <a:off x="6978379"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566" name="Google Shape;1566;p29"/>
          <p:cNvGrpSpPr/>
          <p:nvPr/>
        </p:nvGrpSpPr>
        <p:grpSpPr>
          <a:xfrm>
            <a:off x="7207347" y="4400222"/>
            <a:ext cx="668588" cy="1475057"/>
            <a:chOff x="7207347" y="4400222"/>
            <a:chExt cx="668588" cy="1475057"/>
          </a:xfrm>
        </p:grpSpPr>
        <p:sp>
          <p:nvSpPr>
            <p:cNvPr id="1567" name="Google Shape;1567;p29"/>
            <p:cNvSpPr/>
            <p:nvPr/>
          </p:nvSpPr>
          <p:spPr>
            <a:xfrm>
              <a:off x="7458613"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68" name="Google Shape;1568;p29"/>
            <p:cNvSpPr/>
            <p:nvPr/>
          </p:nvSpPr>
          <p:spPr>
            <a:xfrm>
              <a:off x="7458613"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69" name="Google Shape;1569;p29"/>
            <p:cNvSpPr/>
            <p:nvPr/>
          </p:nvSpPr>
          <p:spPr>
            <a:xfrm>
              <a:off x="7485566" y="4831110"/>
              <a:ext cx="76200" cy="404495"/>
            </a:xfrm>
            <a:custGeom>
              <a:avLst/>
              <a:gdLst/>
              <a:ahLst/>
              <a:cxnLst/>
              <a:rect l="l" t="t" r="r" b="b"/>
              <a:pathLst>
                <a:path w="76200" h="404495" extrusionOk="0">
                  <a:moveTo>
                    <a:pt x="50799" y="76190"/>
                  </a:moveTo>
                  <a:lnTo>
                    <a:pt x="25399" y="76210"/>
                  </a:lnTo>
                  <a:lnTo>
                    <a:pt x="25660" y="404110"/>
                  </a:lnTo>
                  <a:lnTo>
                    <a:pt x="51060" y="404089"/>
                  </a:lnTo>
                  <a:lnTo>
                    <a:pt x="50799" y="76190"/>
                  </a:lnTo>
                  <a:close/>
                </a:path>
                <a:path w="76200" h="404495" extrusionOk="0">
                  <a:moveTo>
                    <a:pt x="38039" y="0"/>
                  </a:moveTo>
                  <a:lnTo>
                    <a:pt x="0" y="76230"/>
                  </a:lnTo>
                  <a:lnTo>
                    <a:pt x="25399" y="76210"/>
                  </a:lnTo>
                  <a:lnTo>
                    <a:pt x="25389" y="63510"/>
                  </a:lnTo>
                  <a:lnTo>
                    <a:pt x="69846" y="63489"/>
                  </a:lnTo>
                  <a:lnTo>
                    <a:pt x="38039" y="0"/>
                  </a:lnTo>
                  <a:close/>
                </a:path>
                <a:path w="76200" h="404495" extrusionOk="0">
                  <a:moveTo>
                    <a:pt x="50789" y="63489"/>
                  </a:moveTo>
                  <a:lnTo>
                    <a:pt x="25389" y="63510"/>
                  </a:lnTo>
                  <a:lnTo>
                    <a:pt x="25399" y="76210"/>
                  </a:lnTo>
                  <a:lnTo>
                    <a:pt x="50799" y="76190"/>
                  </a:lnTo>
                  <a:lnTo>
                    <a:pt x="50789" y="63489"/>
                  </a:lnTo>
                  <a:close/>
                </a:path>
                <a:path w="76200" h="404495" extrusionOk="0">
                  <a:moveTo>
                    <a:pt x="69846" y="63489"/>
                  </a:moveTo>
                  <a:lnTo>
                    <a:pt x="50789" y="63489"/>
                  </a:lnTo>
                  <a:lnTo>
                    <a:pt x="50799" y="76190"/>
                  </a:lnTo>
                  <a:lnTo>
                    <a:pt x="76200" y="76170"/>
                  </a:lnTo>
                  <a:lnTo>
                    <a:pt x="69846"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570" name="Google Shape;1570;p29"/>
            <p:cNvPicPr preferRelativeResize="0"/>
            <p:nvPr/>
          </p:nvPicPr>
          <p:blipFill rotWithShape="1">
            <a:blip r:embed="rId9">
              <a:alphaModFix/>
            </a:blip>
            <a:srcRect/>
            <a:stretch/>
          </p:blipFill>
          <p:spPr>
            <a:xfrm>
              <a:off x="7207347" y="5235200"/>
              <a:ext cx="641197" cy="640079"/>
            </a:xfrm>
            <a:prstGeom prst="rect">
              <a:avLst/>
            </a:prstGeom>
            <a:noFill/>
            <a:ln>
              <a:noFill/>
            </a:ln>
          </p:spPr>
        </p:pic>
        <p:sp>
          <p:nvSpPr>
            <p:cNvPr id="1571" name="Google Shape;1571;p29"/>
            <p:cNvSpPr/>
            <p:nvPr/>
          </p:nvSpPr>
          <p:spPr>
            <a:xfrm>
              <a:off x="7745760"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72" name="Google Shape;1572;p29"/>
            <p:cNvSpPr/>
            <p:nvPr/>
          </p:nvSpPr>
          <p:spPr>
            <a:xfrm>
              <a:off x="7745760"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573" name="Google Shape;1573;p29"/>
          <p:cNvGrpSpPr/>
          <p:nvPr/>
        </p:nvGrpSpPr>
        <p:grpSpPr>
          <a:xfrm>
            <a:off x="7970093" y="4400222"/>
            <a:ext cx="681844" cy="1475057"/>
            <a:chOff x="7970093" y="4400222"/>
            <a:chExt cx="681844" cy="1475057"/>
          </a:xfrm>
        </p:grpSpPr>
        <p:sp>
          <p:nvSpPr>
            <p:cNvPr id="1574" name="Google Shape;1574;p29"/>
            <p:cNvSpPr/>
            <p:nvPr/>
          </p:nvSpPr>
          <p:spPr>
            <a:xfrm>
              <a:off x="8234614"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75" name="Google Shape;1575;p29"/>
            <p:cNvSpPr/>
            <p:nvPr/>
          </p:nvSpPr>
          <p:spPr>
            <a:xfrm>
              <a:off x="8234614"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76" name="Google Shape;1576;p29"/>
            <p:cNvSpPr/>
            <p:nvPr/>
          </p:nvSpPr>
          <p:spPr>
            <a:xfrm>
              <a:off x="8261567"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577" name="Google Shape;1577;p29"/>
            <p:cNvPicPr preferRelativeResize="0"/>
            <p:nvPr/>
          </p:nvPicPr>
          <p:blipFill rotWithShape="1">
            <a:blip r:embed="rId10">
              <a:alphaModFix/>
            </a:blip>
            <a:srcRect/>
            <a:stretch/>
          </p:blipFill>
          <p:spPr>
            <a:xfrm>
              <a:off x="7970093" y="5235200"/>
              <a:ext cx="641205" cy="640079"/>
            </a:xfrm>
            <a:prstGeom prst="rect">
              <a:avLst/>
            </a:prstGeom>
            <a:noFill/>
            <a:ln>
              <a:noFill/>
            </a:ln>
          </p:spPr>
        </p:pic>
        <p:sp>
          <p:nvSpPr>
            <p:cNvPr id="1578" name="Google Shape;1578;p29"/>
            <p:cNvSpPr/>
            <p:nvPr/>
          </p:nvSpPr>
          <p:spPr>
            <a:xfrm>
              <a:off x="8521762"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79" name="Google Shape;1579;p29"/>
            <p:cNvSpPr/>
            <p:nvPr/>
          </p:nvSpPr>
          <p:spPr>
            <a:xfrm>
              <a:off x="8521762"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580" name="Google Shape;1580;p29"/>
          <p:cNvGrpSpPr/>
          <p:nvPr/>
        </p:nvGrpSpPr>
        <p:grpSpPr>
          <a:xfrm>
            <a:off x="8744502" y="4400222"/>
            <a:ext cx="684186" cy="1475057"/>
            <a:chOff x="8744502" y="4400222"/>
            <a:chExt cx="684186" cy="1475057"/>
          </a:xfrm>
        </p:grpSpPr>
        <p:sp>
          <p:nvSpPr>
            <p:cNvPr id="1581" name="Google Shape;1581;p29"/>
            <p:cNvSpPr/>
            <p:nvPr/>
          </p:nvSpPr>
          <p:spPr>
            <a:xfrm>
              <a:off x="9011366"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82" name="Google Shape;1582;p29"/>
            <p:cNvSpPr/>
            <p:nvPr/>
          </p:nvSpPr>
          <p:spPr>
            <a:xfrm>
              <a:off x="9011366"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83" name="Google Shape;1583;p29"/>
            <p:cNvSpPr/>
            <p:nvPr/>
          </p:nvSpPr>
          <p:spPr>
            <a:xfrm>
              <a:off x="9038318"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584" name="Google Shape;1584;p29"/>
            <p:cNvPicPr preferRelativeResize="0"/>
            <p:nvPr/>
          </p:nvPicPr>
          <p:blipFill rotWithShape="1">
            <a:blip r:embed="rId11">
              <a:alphaModFix/>
            </a:blip>
            <a:srcRect/>
            <a:stretch/>
          </p:blipFill>
          <p:spPr>
            <a:xfrm>
              <a:off x="8744502" y="5235200"/>
              <a:ext cx="641206" cy="640079"/>
            </a:xfrm>
            <a:prstGeom prst="rect">
              <a:avLst/>
            </a:prstGeom>
            <a:noFill/>
            <a:ln>
              <a:noFill/>
            </a:ln>
          </p:spPr>
        </p:pic>
        <p:sp>
          <p:nvSpPr>
            <p:cNvPr id="1585" name="Google Shape;1585;p29"/>
            <p:cNvSpPr/>
            <p:nvPr/>
          </p:nvSpPr>
          <p:spPr>
            <a:xfrm>
              <a:off x="9298513"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86" name="Google Shape;1586;p29"/>
            <p:cNvSpPr/>
            <p:nvPr/>
          </p:nvSpPr>
          <p:spPr>
            <a:xfrm>
              <a:off x="9298513"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587" name="Google Shape;1587;p29"/>
          <p:cNvSpPr txBox="1"/>
          <p:nvPr/>
        </p:nvSpPr>
        <p:spPr>
          <a:xfrm>
            <a:off x="273194" y="3559555"/>
            <a:ext cx="2190115" cy="1278255"/>
          </a:xfrm>
          <a:prstGeom prst="rect">
            <a:avLst/>
          </a:prstGeom>
          <a:noFill/>
          <a:ln>
            <a:noFill/>
          </a:ln>
        </p:spPr>
        <p:txBody>
          <a:bodyPr spcFirstLastPara="1" wrap="square" lIns="0" tIns="13950" rIns="0" bIns="0" anchor="t" anchorCtr="0">
            <a:spAutoFit/>
          </a:bodyPr>
          <a:lstStyle/>
          <a:p>
            <a:pPr marL="12700" marR="5080" lvl="0" indent="0" algn="l"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Add positional embedding: learned D- dim vector per position</a:t>
            </a:r>
            <a:endParaRPr sz="1800" b="0" i="0" u="none" strike="noStrike" cap="none">
              <a:solidFill>
                <a:srgbClr val="000000"/>
              </a:solidFill>
              <a:latin typeface="Calibri"/>
              <a:ea typeface="Calibri"/>
              <a:cs typeface="Calibri"/>
              <a:sym typeface="Calibri"/>
            </a:endParaRPr>
          </a:p>
          <a:p>
            <a:pPr marL="19685" marR="0" lvl="0" indent="0" algn="l" rtl="0">
              <a:lnSpc>
                <a:spcPct val="100000"/>
              </a:lnSpc>
              <a:spcBef>
                <a:spcPts val="125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a:t>
            </a:r>
            <a:endParaRPr sz="1800" b="0" i="0" u="none" strike="noStrike" cap="none">
              <a:solidFill>
                <a:srgbClr val="000000"/>
              </a:solidFill>
              <a:latin typeface="Calibri"/>
              <a:ea typeface="Calibri"/>
              <a:cs typeface="Calibri"/>
              <a:sym typeface="Calibri"/>
            </a:endParaRPr>
          </a:p>
        </p:txBody>
      </p:sp>
      <p:grpSp>
        <p:nvGrpSpPr>
          <p:cNvPr id="1588" name="Google Shape;1588;p29"/>
          <p:cNvGrpSpPr/>
          <p:nvPr/>
        </p:nvGrpSpPr>
        <p:grpSpPr>
          <a:xfrm>
            <a:off x="2961547" y="2096159"/>
            <a:ext cx="130810" cy="429895"/>
            <a:chOff x="2961547" y="2096159"/>
            <a:chExt cx="130810" cy="429895"/>
          </a:xfrm>
        </p:grpSpPr>
        <p:sp>
          <p:nvSpPr>
            <p:cNvPr id="1589" name="Google Shape;1589;p29"/>
            <p:cNvSpPr/>
            <p:nvPr/>
          </p:nvSpPr>
          <p:spPr>
            <a:xfrm>
              <a:off x="2961547" y="2096159"/>
              <a:ext cx="130810" cy="429895"/>
            </a:xfrm>
            <a:custGeom>
              <a:avLst/>
              <a:gdLst/>
              <a:ahLst/>
              <a:cxnLst/>
              <a:rect l="l" t="t" r="r" b="b"/>
              <a:pathLst>
                <a:path w="130810"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90" name="Google Shape;1590;p29"/>
            <p:cNvSpPr/>
            <p:nvPr/>
          </p:nvSpPr>
          <p:spPr>
            <a:xfrm>
              <a:off x="296154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591" name="Google Shape;1591;p29"/>
          <p:cNvGrpSpPr/>
          <p:nvPr/>
        </p:nvGrpSpPr>
        <p:grpSpPr>
          <a:xfrm>
            <a:off x="3737768" y="2099950"/>
            <a:ext cx="130810" cy="429895"/>
            <a:chOff x="3737768" y="2099950"/>
            <a:chExt cx="130810" cy="429895"/>
          </a:xfrm>
        </p:grpSpPr>
        <p:sp>
          <p:nvSpPr>
            <p:cNvPr id="1592" name="Google Shape;1592;p29"/>
            <p:cNvSpPr/>
            <p:nvPr/>
          </p:nvSpPr>
          <p:spPr>
            <a:xfrm>
              <a:off x="3737768"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93" name="Google Shape;1593;p29"/>
            <p:cNvSpPr/>
            <p:nvPr/>
          </p:nvSpPr>
          <p:spPr>
            <a:xfrm>
              <a:off x="3737768"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594" name="Google Shape;1594;p29"/>
          <p:cNvGrpSpPr/>
          <p:nvPr/>
        </p:nvGrpSpPr>
        <p:grpSpPr>
          <a:xfrm>
            <a:off x="4513990" y="2096159"/>
            <a:ext cx="130810" cy="429895"/>
            <a:chOff x="4513990" y="2096159"/>
            <a:chExt cx="130810" cy="429895"/>
          </a:xfrm>
        </p:grpSpPr>
        <p:sp>
          <p:nvSpPr>
            <p:cNvPr id="1595" name="Google Shape;1595;p29"/>
            <p:cNvSpPr/>
            <p:nvPr/>
          </p:nvSpPr>
          <p:spPr>
            <a:xfrm>
              <a:off x="4513990"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96" name="Google Shape;1596;p29"/>
            <p:cNvSpPr/>
            <p:nvPr/>
          </p:nvSpPr>
          <p:spPr>
            <a:xfrm>
              <a:off x="4513990"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597" name="Google Shape;1597;p29"/>
          <p:cNvGrpSpPr/>
          <p:nvPr/>
        </p:nvGrpSpPr>
        <p:grpSpPr>
          <a:xfrm>
            <a:off x="5291261" y="2099950"/>
            <a:ext cx="130810" cy="429895"/>
            <a:chOff x="5291261" y="2099950"/>
            <a:chExt cx="130810" cy="429895"/>
          </a:xfrm>
        </p:grpSpPr>
        <p:sp>
          <p:nvSpPr>
            <p:cNvPr id="1598" name="Google Shape;1598;p29"/>
            <p:cNvSpPr/>
            <p:nvPr/>
          </p:nvSpPr>
          <p:spPr>
            <a:xfrm>
              <a:off x="5291261"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99" name="Google Shape;1599;p29"/>
            <p:cNvSpPr/>
            <p:nvPr/>
          </p:nvSpPr>
          <p:spPr>
            <a:xfrm>
              <a:off x="5291261"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00" name="Google Shape;1600;p29"/>
          <p:cNvGrpSpPr/>
          <p:nvPr/>
        </p:nvGrpSpPr>
        <p:grpSpPr>
          <a:xfrm>
            <a:off x="6063477" y="2096159"/>
            <a:ext cx="130810" cy="429895"/>
            <a:chOff x="6063477" y="2096159"/>
            <a:chExt cx="130810" cy="429895"/>
          </a:xfrm>
        </p:grpSpPr>
        <p:sp>
          <p:nvSpPr>
            <p:cNvPr id="1601" name="Google Shape;1601;p29"/>
            <p:cNvSpPr/>
            <p:nvPr/>
          </p:nvSpPr>
          <p:spPr>
            <a:xfrm>
              <a:off x="6063477"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02" name="Google Shape;1602;p29"/>
            <p:cNvSpPr/>
            <p:nvPr/>
          </p:nvSpPr>
          <p:spPr>
            <a:xfrm>
              <a:off x="606347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03" name="Google Shape;1603;p29"/>
          <p:cNvGrpSpPr/>
          <p:nvPr/>
        </p:nvGrpSpPr>
        <p:grpSpPr>
          <a:xfrm>
            <a:off x="6850202" y="2096159"/>
            <a:ext cx="130810" cy="429895"/>
            <a:chOff x="6850202" y="2096159"/>
            <a:chExt cx="130810" cy="429895"/>
          </a:xfrm>
        </p:grpSpPr>
        <p:sp>
          <p:nvSpPr>
            <p:cNvPr id="1604" name="Google Shape;1604;p29"/>
            <p:cNvSpPr/>
            <p:nvPr/>
          </p:nvSpPr>
          <p:spPr>
            <a:xfrm>
              <a:off x="6850202"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05" name="Google Shape;1605;p29"/>
            <p:cNvSpPr/>
            <p:nvPr/>
          </p:nvSpPr>
          <p:spPr>
            <a:xfrm>
              <a:off x="6850202"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06" name="Google Shape;1606;p29"/>
          <p:cNvGrpSpPr/>
          <p:nvPr/>
        </p:nvGrpSpPr>
        <p:grpSpPr>
          <a:xfrm>
            <a:off x="7617583" y="2096159"/>
            <a:ext cx="130810" cy="429895"/>
            <a:chOff x="7617583" y="2096159"/>
            <a:chExt cx="130810" cy="429895"/>
          </a:xfrm>
        </p:grpSpPr>
        <p:sp>
          <p:nvSpPr>
            <p:cNvPr id="1607" name="Google Shape;1607;p29"/>
            <p:cNvSpPr/>
            <p:nvPr/>
          </p:nvSpPr>
          <p:spPr>
            <a:xfrm>
              <a:off x="7617583"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08" name="Google Shape;1608;p29"/>
            <p:cNvSpPr/>
            <p:nvPr/>
          </p:nvSpPr>
          <p:spPr>
            <a:xfrm>
              <a:off x="7617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09" name="Google Shape;1609;p29"/>
          <p:cNvGrpSpPr/>
          <p:nvPr/>
        </p:nvGrpSpPr>
        <p:grpSpPr>
          <a:xfrm>
            <a:off x="8393583" y="2096159"/>
            <a:ext cx="130810" cy="429895"/>
            <a:chOff x="8393583" y="2096159"/>
            <a:chExt cx="130810" cy="429895"/>
          </a:xfrm>
        </p:grpSpPr>
        <p:sp>
          <p:nvSpPr>
            <p:cNvPr id="1610" name="Google Shape;1610;p29"/>
            <p:cNvSpPr/>
            <p:nvPr/>
          </p:nvSpPr>
          <p:spPr>
            <a:xfrm>
              <a:off x="8393583"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11" name="Google Shape;1611;p29"/>
            <p:cNvSpPr/>
            <p:nvPr/>
          </p:nvSpPr>
          <p:spPr>
            <a:xfrm>
              <a:off x="8393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12" name="Google Shape;1612;p29"/>
          <p:cNvGrpSpPr/>
          <p:nvPr/>
        </p:nvGrpSpPr>
        <p:grpSpPr>
          <a:xfrm>
            <a:off x="9170334" y="2096159"/>
            <a:ext cx="130810" cy="429895"/>
            <a:chOff x="9170334" y="2096159"/>
            <a:chExt cx="130810" cy="429895"/>
          </a:xfrm>
        </p:grpSpPr>
        <p:sp>
          <p:nvSpPr>
            <p:cNvPr id="1613" name="Google Shape;1613;p29"/>
            <p:cNvSpPr/>
            <p:nvPr/>
          </p:nvSpPr>
          <p:spPr>
            <a:xfrm>
              <a:off x="9170334"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14" name="Google Shape;1614;p29"/>
            <p:cNvSpPr/>
            <p:nvPr/>
          </p:nvSpPr>
          <p:spPr>
            <a:xfrm>
              <a:off x="9170334"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615" name="Google Shape;1615;p29"/>
          <p:cNvSpPr txBox="1"/>
          <p:nvPr/>
        </p:nvSpPr>
        <p:spPr>
          <a:xfrm>
            <a:off x="451943" y="2038603"/>
            <a:ext cx="141478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Output vectors</a:t>
            </a:r>
            <a:endParaRPr sz="1800" b="0" i="0" u="none" strike="noStrike" cap="none">
              <a:solidFill>
                <a:srgbClr val="000000"/>
              </a:solidFill>
              <a:latin typeface="Calibri"/>
              <a:ea typeface="Calibri"/>
              <a:cs typeface="Calibri"/>
              <a:sym typeface="Calibri"/>
            </a:endParaRPr>
          </a:p>
        </p:txBody>
      </p:sp>
      <p:sp>
        <p:nvSpPr>
          <p:cNvPr id="1616" name="Google Shape;1616;p29"/>
          <p:cNvSpPr txBox="1"/>
          <p:nvPr/>
        </p:nvSpPr>
        <p:spPr>
          <a:xfrm>
            <a:off x="282081" y="2757932"/>
            <a:ext cx="1644014" cy="565150"/>
          </a:xfrm>
          <a:prstGeom prst="rect">
            <a:avLst/>
          </a:prstGeom>
          <a:noFill/>
          <a:ln>
            <a:noFill/>
          </a:ln>
        </p:spPr>
        <p:txBody>
          <a:bodyPr spcFirstLastPara="1" wrap="square" lIns="0" tIns="28575" rIns="0" bIns="0" anchor="t" anchorCtr="0">
            <a:spAutoFit/>
          </a:bodyPr>
          <a:lstStyle/>
          <a:p>
            <a:pPr marL="12700" marR="5080" lvl="0" indent="165735" algn="l" rtl="0">
              <a:lnSpc>
                <a:spcPct val="116111"/>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Exact same as NLP Transformer!</a:t>
            </a:r>
            <a:endParaRPr sz="1800" b="0" i="0" u="none" strike="noStrike" cap="none">
              <a:solidFill>
                <a:srgbClr val="000000"/>
              </a:solidFill>
              <a:latin typeface="Calibri"/>
              <a:ea typeface="Calibri"/>
              <a:cs typeface="Calibri"/>
              <a:sym typeface="Calibri"/>
            </a:endParaRPr>
          </a:p>
        </p:txBody>
      </p:sp>
      <p:grpSp>
        <p:nvGrpSpPr>
          <p:cNvPr id="1617" name="Google Shape;1617;p29"/>
          <p:cNvGrpSpPr/>
          <p:nvPr/>
        </p:nvGrpSpPr>
        <p:grpSpPr>
          <a:xfrm>
            <a:off x="9843405" y="3627475"/>
            <a:ext cx="130175" cy="431165"/>
            <a:chOff x="9843405" y="3627475"/>
            <a:chExt cx="130175" cy="431165"/>
          </a:xfrm>
        </p:grpSpPr>
        <p:sp>
          <p:nvSpPr>
            <p:cNvPr id="1618" name="Google Shape;1618;p29"/>
            <p:cNvSpPr/>
            <p:nvPr/>
          </p:nvSpPr>
          <p:spPr>
            <a:xfrm>
              <a:off x="9843405"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8FAAD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19" name="Google Shape;1619;p29"/>
            <p:cNvSpPr/>
            <p:nvPr/>
          </p:nvSpPr>
          <p:spPr>
            <a:xfrm>
              <a:off x="984340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20" name="Google Shape;1620;p29"/>
          <p:cNvGrpSpPr/>
          <p:nvPr/>
        </p:nvGrpSpPr>
        <p:grpSpPr>
          <a:xfrm>
            <a:off x="9842760" y="1231831"/>
            <a:ext cx="130810" cy="1294223"/>
            <a:chOff x="9842760" y="1231831"/>
            <a:chExt cx="130810" cy="1294223"/>
          </a:xfrm>
        </p:grpSpPr>
        <p:sp>
          <p:nvSpPr>
            <p:cNvPr id="1621" name="Google Shape;1621;p29"/>
            <p:cNvSpPr/>
            <p:nvPr/>
          </p:nvSpPr>
          <p:spPr>
            <a:xfrm>
              <a:off x="9842760"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D96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22" name="Google Shape;1622;p29"/>
            <p:cNvSpPr/>
            <p:nvPr/>
          </p:nvSpPr>
          <p:spPr>
            <a:xfrm>
              <a:off x="9842760"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23" name="Google Shape;1623;p29"/>
            <p:cNvSpPr/>
            <p:nvPr/>
          </p:nvSpPr>
          <p:spPr>
            <a:xfrm>
              <a:off x="9842760" y="1231831"/>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DEEB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24" name="Google Shape;1624;p29"/>
            <p:cNvSpPr/>
            <p:nvPr/>
          </p:nvSpPr>
          <p:spPr>
            <a:xfrm>
              <a:off x="9842760" y="1231831"/>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5B9B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25" name="Google Shape;1625;p29"/>
            <p:cNvSpPr/>
            <p:nvPr/>
          </p:nvSpPr>
          <p:spPr>
            <a:xfrm>
              <a:off x="9869976" y="1661599"/>
              <a:ext cx="76200" cy="434975"/>
            </a:xfrm>
            <a:custGeom>
              <a:avLst/>
              <a:gdLst/>
              <a:ahLst/>
              <a:cxnLst/>
              <a:rect l="l" t="t" r="r" b="b"/>
              <a:pathLst>
                <a:path w="76200" h="434975" extrusionOk="0">
                  <a:moveTo>
                    <a:pt x="50800" y="63500"/>
                  </a:moveTo>
                  <a:lnTo>
                    <a:pt x="25400" y="63500"/>
                  </a:lnTo>
                  <a:lnTo>
                    <a:pt x="25400" y="434559"/>
                  </a:lnTo>
                  <a:lnTo>
                    <a:pt x="50800" y="434559"/>
                  </a:lnTo>
                  <a:lnTo>
                    <a:pt x="50800" y="63500"/>
                  </a:lnTo>
                  <a:close/>
                </a:path>
                <a:path w="76200" h="434975" extrusionOk="0">
                  <a:moveTo>
                    <a:pt x="38100" y="0"/>
                  </a:moveTo>
                  <a:lnTo>
                    <a:pt x="0" y="76200"/>
                  </a:lnTo>
                  <a:lnTo>
                    <a:pt x="25400" y="76200"/>
                  </a:lnTo>
                  <a:lnTo>
                    <a:pt x="25400" y="63500"/>
                  </a:lnTo>
                  <a:lnTo>
                    <a:pt x="69850" y="63500"/>
                  </a:lnTo>
                  <a:lnTo>
                    <a:pt x="38100" y="0"/>
                  </a:lnTo>
                  <a:close/>
                </a:path>
                <a:path w="76200" h="434975" extrusionOk="0">
                  <a:moveTo>
                    <a:pt x="69850" y="63500"/>
                  </a:moveTo>
                  <a:lnTo>
                    <a:pt x="50800" y="63500"/>
                  </a:lnTo>
                  <a:lnTo>
                    <a:pt x="50800" y="76200"/>
                  </a:lnTo>
                  <a:lnTo>
                    <a:pt x="76200" y="76200"/>
                  </a:lnTo>
                  <a:lnTo>
                    <a:pt x="69850" y="6350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626" name="Google Shape;1626;p29"/>
          <p:cNvSpPr txBox="1"/>
          <p:nvPr/>
        </p:nvSpPr>
        <p:spPr>
          <a:xfrm>
            <a:off x="10220266" y="3498595"/>
            <a:ext cx="1830070" cy="845819"/>
          </a:xfrm>
          <a:prstGeom prst="rect">
            <a:avLst/>
          </a:prstGeom>
          <a:noFill/>
          <a:ln>
            <a:noFill/>
          </a:ln>
        </p:spPr>
        <p:txBody>
          <a:bodyPr spcFirstLastPara="1" wrap="square" lIns="0" tIns="13950" rIns="0" bIns="0" anchor="t" anchorCtr="0">
            <a:spAutoFit/>
          </a:bodyPr>
          <a:lstStyle/>
          <a:p>
            <a:pPr marL="12700" marR="5080" lvl="0" indent="0" algn="just"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Special extra input: </a:t>
            </a:r>
            <a:r>
              <a:rPr lang="en-US" sz="1800" b="1" i="0" u="none" strike="noStrike" cap="none">
                <a:solidFill>
                  <a:srgbClr val="000000"/>
                </a:solidFill>
                <a:latin typeface="Calibri"/>
                <a:ea typeface="Calibri"/>
                <a:cs typeface="Calibri"/>
                <a:sym typeface="Calibri"/>
              </a:rPr>
              <a:t>classification token </a:t>
            </a:r>
            <a:r>
              <a:rPr lang="en-US" sz="1800" b="0" i="0" u="none" strike="noStrike" cap="none">
                <a:solidFill>
                  <a:srgbClr val="000000"/>
                </a:solidFill>
                <a:latin typeface="Calibri"/>
                <a:ea typeface="Calibri"/>
                <a:cs typeface="Calibri"/>
                <a:sym typeface="Calibri"/>
              </a:rPr>
              <a:t>(D dims, learned)</a:t>
            </a:r>
            <a:endParaRPr sz="1800" b="0" i="0" u="none" strike="noStrike" cap="none">
              <a:solidFill>
                <a:srgbClr val="000000"/>
              </a:solidFill>
              <a:latin typeface="Calibri"/>
              <a:ea typeface="Calibri"/>
              <a:cs typeface="Calibri"/>
              <a:sym typeface="Calibri"/>
            </a:endParaRPr>
          </a:p>
        </p:txBody>
      </p:sp>
      <p:grpSp>
        <p:nvGrpSpPr>
          <p:cNvPr id="1627" name="Google Shape;1627;p29"/>
          <p:cNvGrpSpPr/>
          <p:nvPr/>
        </p:nvGrpSpPr>
        <p:grpSpPr>
          <a:xfrm>
            <a:off x="2959741" y="3627475"/>
            <a:ext cx="130175" cy="431165"/>
            <a:chOff x="2959741" y="3627475"/>
            <a:chExt cx="130175" cy="431165"/>
          </a:xfrm>
        </p:grpSpPr>
        <p:sp>
          <p:nvSpPr>
            <p:cNvPr id="1628" name="Google Shape;1628;p29"/>
            <p:cNvSpPr/>
            <p:nvPr/>
          </p:nvSpPr>
          <p:spPr>
            <a:xfrm>
              <a:off x="2959741"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29" name="Google Shape;1629;p29"/>
            <p:cNvSpPr/>
            <p:nvPr/>
          </p:nvSpPr>
          <p:spPr>
            <a:xfrm>
              <a:off x="295974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30" name="Google Shape;1630;p29"/>
          <p:cNvGrpSpPr/>
          <p:nvPr/>
        </p:nvGrpSpPr>
        <p:grpSpPr>
          <a:xfrm>
            <a:off x="3735962" y="3631266"/>
            <a:ext cx="130175" cy="431165"/>
            <a:chOff x="3735962" y="3631266"/>
            <a:chExt cx="130175" cy="431165"/>
          </a:xfrm>
        </p:grpSpPr>
        <p:sp>
          <p:nvSpPr>
            <p:cNvPr id="1631" name="Google Shape;1631;p29"/>
            <p:cNvSpPr/>
            <p:nvPr/>
          </p:nvSpPr>
          <p:spPr>
            <a:xfrm>
              <a:off x="3735962"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32" name="Google Shape;1632;p29"/>
            <p:cNvSpPr/>
            <p:nvPr/>
          </p:nvSpPr>
          <p:spPr>
            <a:xfrm>
              <a:off x="3735962"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33" name="Google Shape;1633;p29"/>
          <p:cNvGrpSpPr/>
          <p:nvPr/>
        </p:nvGrpSpPr>
        <p:grpSpPr>
          <a:xfrm>
            <a:off x="4512184" y="3627475"/>
            <a:ext cx="130175" cy="431165"/>
            <a:chOff x="4512184" y="3627475"/>
            <a:chExt cx="130175" cy="431165"/>
          </a:xfrm>
        </p:grpSpPr>
        <p:sp>
          <p:nvSpPr>
            <p:cNvPr id="1634" name="Google Shape;1634;p29"/>
            <p:cNvSpPr/>
            <p:nvPr/>
          </p:nvSpPr>
          <p:spPr>
            <a:xfrm>
              <a:off x="4512184"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35" name="Google Shape;1635;p29"/>
            <p:cNvSpPr/>
            <p:nvPr/>
          </p:nvSpPr>
          <p:spPr>
            <a:xfrm>
              <a:off x="4512184"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36" name="Google Shape;1636;p29"/>
          <p:cNvGrpSpPr/>
          <p:nvPr/>
        </p:nvGrpSpPr>
        <p:grpSpPr>
          <a:xfrm>
            <a:off x="5289456" y="3631266"/>
            <a:ext cx="130175" cy="431165"/>
            <a:chOff x="5289456" y="3631266"/>
            <a:chExt cx="130175" cy="431165"/>
          </a:xfrm>
        </p:grpSpPr>
        <p:sp>
          <p:nvSpPr>
            <p:cNvPr id="1637" name="Google Shape;1637;p29"/>
            <p:cNvSpPr/>
            <p:nvPr/>
          </p:nvSpPr>
          <p:spPr>
            <a:xfrm>
              <a:off x="5289456"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38" name="Google Shape;1638;p29"/>
            <p:cNvSpPr/>
            <p:nvPr/>
          </p:nvSpPr>
          <p:spPr>
            <a:xfrm>
              <a:off x="5289456"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39" name="Google Shape;1639;p29"/>
          <p:cNvGrpSpPr/>
          <p:nvPr/>
        </p:nvGrpSpPr>
        <p:grpSpPr>
          <a:xfrm>
            <a:off x="6061671" y="3627475"/>
            <a:ext cx="130175" cy="431165"/>
            <a:chOff x="6061671" y="3627475"/>
            <a:chExt cx="130175" cy="431165"/>
          </a:xfrm>
        </p:grpSpPr>
        <p:sp>
          <p:nvSpPr>
            <p:cNvPr id="1640" name="Google Shape;1640;p29"/>
            <p:cNvSpPr/>
            <p:nvPr/>
          </p:nvSpPr>
          <p:spPr>
            <a:xfrm>
              <a:off x="6061671"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41" name="Google Shape;1641;p29"/>
            <p:cNvSpPr/>
            <p:nvPr/>
          </p:nvSpPr>
          <p:spPr>
            <a:xfrm>
              <a:off x="606167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42" name="Google Shape;1642;p29"/>
          <p:cNvGrpSpPr/>
          <p:nvPr/>
        </p:nvGrpSpPr>
        <p:grpSpPr>
          <a:xfrm>
            <a:off x="6848395" y="3627475"/>
            <a:ext cx="130175" cy="431165"/>
            <a:chOff x="6848395" y="3627475"/>
            <a:chExt cx="130175" cy="431165"/>
          </a:xfrm>
        </p:grpSpPr>
        <p:sp>
          <p:nvSpPr>
            <p:cNvPr id="1643" name="Google Shape;1643;p29"/>
            <p:cNvSpPr/>
            <p:nvPr/>
          </p:nvSpPr>
          <p:spPr>
            <a:xfrm>
              <a:off x="6848395"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44" name="Google Shape;1644;p29"/>
            <p:cNvSpPr/>
            <p:nvPr/>
          </p:nvSpPr>
          <p:spPr>
            <a:xfrm>
              <a:off x="684839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45" name="Google Shape;1645;p29"/>
          <p:cNvGrpSpPr/>
          <p:nvPr/>
        </p:nvGrpSpPr>
        <p:grpSpPr>
          <a:xfrm>
            <a:off x="7615777" y="3627475"/>
            <a:ext cx="130175" cy="431165"/>
            <a:chOff x="7615777" y="3627475"/>
            <a:chExt cx="130175" cy="431165"/>
          </a:xfrm>
        </p:grpSpPr>
        <p:sp>
          <p:nvSpPr>
            <p:cNvPr id="1646" name="Google Shape;1646;p29"/>
            <p:cNvSpPr/>
            <p:nvPr/>
          </p:nvSpPr>
          <p:spPr>
            <a:xfrm>
              <a:off x="7615777"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47" name="Google Shape;1647;p29"/>
            <p:cNvSpPr/>
            <p:nvPr/>
          </p:nvSpPr>
          <p:spPr>
            <a:xfrm>
              <a:off x="7615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48" name="Google Shape;1648;p29"/>
          <p:cNvGrpSpPr/>
          <p:nvPr/>
        </p:nvGrpSpPr>
        <p:grpSpPr>
          <a:xfrm>
            <a:off x="8391777" y="3627475"/>
            <a:ext cx="130175" cy="431165"/>
            <a:chOff x="8391777" y="3627475"/>
            <a:chExt cx="130175" cy="431165"/>
          </a:xfrm>
        </p:grpSpPr>
        <p:sp>
          <p:nvSpPr>
            <p:cNvPr id="1649" name="Google Shape;1649;p29"/>
            <p:cNvSpPr/>
            <p:nvPr/>
          </p:nvSpPr>
          <p:spPr>
            <a:xfrm>
              <a:off x="8391777"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50" name="Google Shape;1650;p29"/>
            <p:cNvSpPr/>
            <p:nvPr/>
          </p:nvSpPr>
          <p:spPr>
            <a:xfrm>
              <a:off x="8391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51" name="Google Shape;1651;p29"/>
          <p:cNvGrpSpPr/>
          <p:nvPr/>
        </p:nvGrpSpPr>
        <p:grpSpPr>
          <a:xfrm>
            <a:off x="9168528" y="3627475"/>
            <a:ext cx="130175" cy="431165"/>
            <a:chOff x="9168528" y="3627475"/>
            <a:chExt cx="130175" cy="431165"/>
          </a:xfrm>
        </p:grpSpPr>
        <p:sp>
          <p:nvSpPr>
            <p:cNvPr id="1652" name="Google Shape;1652;p29"/>
            <p:cNvSpPr/>
            <p:nvPr/>
          </p:nvSpPr>
          <p:spPr>
            <a:xfrm>
              <a:off x="9168528"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53" name="Google Shape;1653;p29"/>
            <p:cNvSpPr/>
            <p:nvPr/>
          </p:nvSpPr>
          <p:spPr>
            <a:xfrm>
              <a:off x="9168528"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654" name="Google Shape;1654;p29"/>
          <p:cNvSpPr txBox="1"/>
          <p:nvPr/>
        </p:nvSpPr>
        <p:spPr>
          <a:xfrm>
            <a:off x="2936516" y="4004564"/>
            <a:ext cx="638429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	+	+	+	+	+	+	+	+</a:t>
            </a:r>
            <a:endParaRPr sz="2400" b="0" i="0" u="none" strike="noStrike" cap="none">
              <a:solidFill>
                <a:srgbClr val="000000"/>
              </a:solidFill>
              <a:latin typeface="Calibri"/>
              <a:ea typeface="Calibri"/>
              <a:cs typeface="Calibri"/>
              <a:sym typeface="Calibri"/>
            </a:endParaRPr>
          </a:p>
        </p:txBody>
      </p:sp>
      <p:sp>
        <p:nvSpPr>
          <p:cNvPr id="1655" name="Google Shape;1655;p29"/>
          <p:cNvSpPr txBox="1"/>
          <p:nvPr/>
        </p:nvSpPr>
        <p:spPr>
          <a:xfrm>
            <a:off x="10345797" y="1160779"/>
            <a:ext cx="1602740" cy="1125855"/>
          </a:xfrm>
          <a:prstGeom prst="rect">
            <a:avLst/>
          </a:prstGeom>
          <a:noFill/>
          <a:ln>
            <a:noFill/>
          </a:ln>
        </p:spPr>
        <p:txBody>
          <a:bodyPr spcFirstLastPara="1" wrap="square" lIns="0" tIns="11425" rIns="0" bIns="0" anchor="t" anchorCtr="0">
            <a:spAutoFit/>
          </a:bodyPr>
          <a:lstStyle/>
          <a:p>
            <a:pPr marL="12700" marR="5080" lvl="0" indent="0" algn="l" rtl="0">
              <a:lnSpc>
                <a:spcPct val="100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 C-dim vector of predicted class scores</a:t>
            </a:r>
            <a:endParaRPr sz="1800" b="0" i="0" u="none" strike="noStrike" cap="none">
              <a:solidFill>
                <a:srgbClr val="000000"/>
              </a:solidFill>
              <a:latin typeface="Calibri"/>
              <a:ea typeface="Calibri"/>
              <a:cs typeface="Calibri"/>
              <a:sym typeface="Calibri"/>
            </a:endParaRPr>
          </a:p>
        </p:txBody>
      </p:sp>
      <p:grpSp>
        <p:nvGrpSpPr>
          <p:cNvPr id="1656" name="Google Shape;1656;p29"/>
          <p:cNvGrpSpPr/>
          <p:nvPr/>
        </p:nvGrpSpPr>
        <p:grpSpPr>
          <a:xfrm>
            <a:off x="2535941" y="2675707"/>
            <a:ext cx="7881620" cy="769620"/>
            <a:chOff x="2535941" y="2675707"/>
            <a:chExt cx="7881620" cy="769620"/>
          </a:xfrm>
        </p:grpSpPr>
        <p:sp>
          <p:nvSpPr>
            <p:cNvPr id="1657" name="Google Shape;1657;p29"/>
            <p:cNvSpPr/>
            <p:nvPr/>
          </p:nvSpPr>
          <p:spPr>
            <a:xfrm>
              <a:off x="2535941" y="2675707"/>
              <a:ext cx="7881620" cy="769620"/>
            </a:xfrm>
            <a:custGeom>
              <a:avLst/>
              <a:gdLst/>
              <a:ahLst/>
              <a:cxnLst/>
              <a:rect l="l" t="t" r="r" b="b"/>
              <a:pathLst>
                <a:path w="7881620" h="769620" extrusionOk="0">
                  <a:moveTo>
                    <a:pt x="7753038" y="0"/>
                  </a:moveTo>
                  <a:lnTo>
                    <a:pt x="128234" y="0"/>
                  </a:lnTo>
                  <a:lnTo>
                    <a:pt x="78319" y="10077"/>
                  </a:lnTo>
                  <a:lnTo>
                    <a:pt x="37559" y="37559"/>
                  </a:lnTo>
                  <a:lnTo>
                    <a:pt x="10077" y="78319"/>
                  </a:lnTo>
                  <a:lnTo>
                    <a:pt x="0" y="128234"/>
                  </a:lnTo>
                  <a:lnTo>
                    <a:pt x="0" y="641184"/>
                  </a:lnTo>
                  <a:lnTo>
                    <a:pt x="10077" y="691099"/>
                  </a:lnTo>
                  <a:lnTo>
                    <a:pt x="37559" y="731860"/>
                  </a:lnTo>
                  <a:lnTo>
                    <a:pt x="78319" y="759341"/>
                  </a:lnTo>
                  <a:lnTo>
                    <a:pt x="128234" y="769419"/>
                  </a:lnTo>
                  <a:lnTo>
                    <a:pt x="7753038" y="769419"/>
                  </a:lnTo>
                  <a:lnTo>
                    <a:pt x="7802953" y="759341"/>
                  </a:lnTo>
                  <a:lnTo>
                    <a:pt x="7843714" y="731860"/>
                  </a:lnTo>
                  <a:lnTo>
                    <a:pt x="7871196" y="691099"/>
                  </a:lnTo>
                  <a:lnTo>
                    <a:pt x="7881273" y="641184"/>
                  </a:lnTo>
                  <a:lnTo>
                    <a:pt x="7881273" y="128234"/>
                  </a:lnTo>
                  <a:lnTo>
                    <a:pt x="7871196" y="78319"/>
                  </a:lnTo>
                  <a:lnTo>
                    <a:pt x="7843714" y="37559"/>
                  </a:lnTo>
                  <a:lnTo>
                    <a:pt x="7802953" y="10077"/>
                  </a:lnTo>
                  <a:lnTo>
                    <a:pt x="7753038" y="0"/>
                  </a:lnTo>
                  <a:close/>
                </a:path>
              </a:pathLst>
            </a:custGeom>
            <a:solidFill>
              <a:srgbClr val="E2F0D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58" name="Google Shape;1658;p29"/>
            <p:cNvSpPr/>
            <p:nvPr/>
          </p:nvSpPr>
          <p:spPr>
            <a:xfrm>
              <a:off x="2535941" y="2675707"/>
              <a:ext cx="7881620" cy="769620"/>
            </a:xfrm>
            <a:custGeom>
              <a:avLst/>
              <a:gdLst/>
              <a:ahLst/>
              <a:cxnLst/>
              <a:rect l="l" t="t" r="r" b="b"/>
              <a:pathLst>
                <a:path w="7881620" h="769620" extrusionOk="0">
                  <a:moveTo>
                    <a:pt x="0" y="128235"/>
                  </a:moveTo>
                  <a:lnTo>
                    <a:pt x="10077" y="78320"/>
                  </a:lnTo>
                  <a:lnTo>
                    <a:pt x="37559" y="37559"/>
                  </a:lnTo>
                  <a:lnTo>
                    <a:pt x="78319" y="10077"/>
                  </a:lnTo>
                  <a:lnTo>
                    <a:pt x="128234" y="0"/>
                  </a:lnTo>
                  <a:lnTo>
                    <a:pt x="7753040" y="0"/>
                  </a:lnTo>
                  <a:lnTo>
                    <a:pt x="7802954" y="10077"/>
                  </a:lnTo>
                  <a:lnTo>
                    <a:pt x="7843714" y="37559"/>
                  </a:lnTo>
                  <a:lnTo>
                    <a:pt x="7871196" y="78320"/>
                  </a:lnTo>
                  <a:lnTo>
                    <a:pt x="7881274" y="128235"/>
                  </a:lnTo>
                  <a:lnTo>
                    <a:pt x="7881274" y="641184"/>
                  </a:lnTo>
                  <a:lnTo>
                    <a:pt x="7871196" y="691099"/>
                  </a:lnTo>
                  <a:lnTo>
                    <a:pt x="7843714" y="731860"/>
                  </a:lnTo>
                  <a:lnTo>
                    <a:pt x="7802954" y="759342"/>
                  </a:lnTo>
                  <a:lnTo>
                    <a:pt x="7753040" y="769420"/>
                  </a:lnTo>
                  <a:lnTo>
                    <a:pt x="128234" y="769420"/>
                  </a:lnTo>
                  <a:lnTo>
                    <a:pt x="78319" y="759342"/>
                  </a:lnTo>
                  <a:lnTo>
                    <a:pt x="37559" y="731860"/>
                  </a:lnTo>
                  <a:lnTo>
                    <a:pt x="10077" y="691099"/>
                  </a:lnTo>
                  <a:lnTo>
                    <a:pt x="0" y="641184"/>
                  </a:lnTo>
                  <a:lnTo>
                    <a:pt x="0" y="128235"/>
                  </a:lnTo>
                  <a:close/>
                </a:path>
              </a:pathLst>
            </a:custGeom>
            <a:noFill/>
            <a:ln w="12700" cap="flat" cmpd="sng">
              <a:solidFill>
                <a:srgbClr val="70AD47"/>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659" name="Google Shape;1659;p29"/>
          <p:cNvSpPr txBox="1"/>
          <p:nvPr/>
        </p:nvSpPr>
        <p:spPr>
          <a:xfrm>
            <a:off x="5585417" y="2807715"/>
            <a:ext cx="178308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Transformer</a:t>
            </a:r>
            <a:endParaRPr sz="2800" b="0" i="0" u="none" strike="noStrike" cap="none">
              <a:solidFill>
                <a:srgbClr val="000000"/>
              </a:solidFill>
              <a:latin typeface="Calibri"/>
              <a:ea typeface="Calibri"/>
              <a:cs typeface="Calibri"/>
              <a:sym typeface="Calibri"/>
            </a:endParaRPr>
          </a:p>
        </p:txBody>
      </p:sp>
      <p:sp>
        <p:nvSpPr>
          <p:cNvPr id="1660" name="Google Shape;1660;p29"/>
          <p:cNvSpPr txBox="1"/>
          <p:nvPr/>
        </p:nvSpPr>
        <p:spPr>
          <a:xfrm>
            <a:off x="276038" y="4817126"/>
            <a:ext cx="2040889" cy="1021080"/>
          </a:xfrm>
          <a:prstGeom prst="rect">
            <a:avLst/>
          </a:prstGeom>
          <a:noFill/>
          <a:ln>
            <a:noFill/>
          </a:ln>
        </p:spPr>
        <p:txBody>
          <a:bodyPr spcFirstLastPara="1" wrap="square" lIns="0" tIns="1250" rIns="0" bIns="0" anchor="t" anchorCtr="0">
            <a:spAutoFit/>
          </a:bodyPr>
          <a:lstStyle/>
          <a:p>
            <a:pPr marL="17145"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D-dimensional vector</a:t>
            </a:r>
            <a:endParaRPr sz="1800" b="0" i="0" u="none" strike="noStrike" cap="none">
              <a:solidFill>
                <a:srgbClr val="000000"/>
              </a:solidFill>
              <a:latin typeface="Calibri"/>
              <a:ea typeface="Calibri"/>
              <a:cs typeface="Calibri"/>
              <a:sym typeface="Calibri"/>
            </a:endParaRPr>
          </a:p>
          <a:p>
            <a:pPr marL="12700" marR="5080" lvl="0" indent="0" algn="l" rtl="0">
              <a:lnSpc>
                <a:spcPct val="117222"/>
              </a:lnSpc>
              <a:spcBef>
                <a:spcPts val="148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N input patches, each of shape 3x16x16</a:t>
            </a:r>
            <a:endParaRPr sz="1800" b="0" i="0" u="none" strike="noStrike" cap="none">
              <a:solidFill>
                <a:srgbClr val="000000"/>
              </a:solidFill>
              <a:latin typeface="Calibri"/>
              <a:ea typeface="Calibri"/>
              <a:cs typeface="Calibri"/>
              <a:sym typeface="Calibri"/>
            </a:endParaRPr>
          </a:p>
        </p:txBody>
      </p:sp>
      <p:sp>
        <p:nvSpPr>
          <p:cNvPr id="1661" name="Google Shape;1661;p29"/>
          <p:cNvSpPr txBox="1"/>
          <p:nvPr/>
        </p:nvSpPr>
        <p:spPr>
          <a:xfrm>
            <a:off x="10251213" y="5962476"/>
            <a:ext cx="1861185" cy="375920"/>
          </a:xfrm>
          <a:prstGeom prst="rect">
            <a:avLst/>
          </a:prstGeom>
          <a:noFill/>
          <a:ln>
            <a:noFill/>
          </a:ln>
        </p:spPr>
        <p:txBody>
          <a:bodyPr spcFirstLastPara="1" wrap="square" lIns="0" tIns="1250" rIns="0" bIns="0" anchor="t" anchorCtr="0">
            <a:spAutoFit/>
          </a:bodyPr>
          <a:lstStyle/>
          <a:p>
            <a:pPr marL="296545" marR="5080" lvl="0" indent="-284480" algn="l" rtl="0">
              <a:lnSpc>
                <a:spcPct val="129090"/>
              </a:lnSpc>
              <a:spcBef>
                <a:spcPts val="0"/>
              </a:spcBef>
              <a:spcAft>
                <a:spcPts val="0"/>
              </a:spcAft>
              <a:buClr>
                <a:srgbClr val="0563C1"/>
              </a:buClr>
              <a:buSzPts val="1100"/>
              <a:buFont typeface="Arial"/>
              <a:buNone/>
            </a:pPr>
            <a:r>
              <a:rPr lang="en-US" sz="1100" b="0" i="0" u="sng" strike="noStrike" cap="none">
                <a:solidFill>
                  <a:srgbClr val="0563C1"/>
                </a:solidFill>
                <a:latin typeface="Calibri"/>
                <a:ea typeface="Calibri"/>
                <a:cs typeface="Calibri"/>
                <a:sym typeface="Calibri"/>
              </a:rPr>
              <a:t>Cat image</a:t>
            </a:r>
            <a:r>
              <a:rPr lang="en-US" sz="1100" b="0" i="0" u="none" strike="noStrike" cap="none">
                <a:solidFill>
                  <a:srgbClr val="0563C1"/>
                </a:solidFill>
                <a:latin typeface="Calibri"/>
                <a:ea typeface="Calibri"/>
                <a:cs typeface="Calibri"/>
                <a:sym typeface="Calibri"/>
              </a:rPr>
              <a:t> </a:t>
            </a:r>
            <a:r>
              <a:rPr lang="en-US" sz="1100" b="0" i="0" u="none" strike="noStrike" cap="none">
                <a:solidFill>
                  <a:srgbClr val="000000"/>
                </a:solidFill>
                <a:latin typeface="Calibri"/>
                <a:ea typeface="Calibri"/>
                <a:cs typeface="Calibri"/>
                <a:sym typeface="Calibri"/>
              </a:rPr>
              <a:t>is free for commercial use under a </a:t>
            </a:r>
            <a:r>
              <a:rPr lang="en-US" sz="1100" b="0" i="0" u="sng" strike="noStrike" cap="none">
                <a:solidFill>
                  <a:srgbClr val="0563C1"/>
                </a:solidFill>
                <a:latin typeface="Calibri"/>
                <a:ea typeface="Calibri"/>
                <a:cs typeface="Calibri"/>
                <a:sym typeface="Calibri"/>
              </a:rPr>
              <a:t>Pixabay license</a:t>
            </a:r>
            <a:endParaRPr sz="1100" b="0" i="0" u="none" strike="noStrike" cap="none">
              <a:solidFill>
                <a:srgbClr val="000000"/>
              </a:solidFill>
              <a:latin typeface="Calibri"/>
              <a:ea typeface="Calibri"/>
              <a:cs typeface="Calibri"/>
              <a:sym typeface="Calibri"/>
            </a:endParaRPr>
          </a:p>
        </p:txBody>
      </p:sp>
      <p:sp>
        <p:nvSpPr>
          <p:cNvPr id="1662" name="Google Shape;1662;p29"/>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1663" name="Google Shape;1663;p29"/>
          <p:cNvSpPr txBox="1"/>
          <p:nvPr/>
        </p:nvSpPr>
        <p:spPr>
          <a:xfrm>
            <a:off x="1182955" y="1048003"/>
            <a:ext cx="2908300" cy="760095"/>
          </a:xfrm>
          <a:prstGeom prst="rect">
            <a:avLst/>
          </a:prstGeom>
          <a:noFill/>
          <a:ln>
            <a:noFill/>
          </a:ln>
        </p:spPr>
        <p:txBody>
          <a:bodyPr spcFirstLastPara="1" wrap="square" lIns="0" tIns="9525" rIns="0" bIns="0" anchor="t" anchorCtr="0">
            <a:spAutoFit/>
          </a:bodyPr>
          <a:lstStyle/>
          <a:p>
            <a:pPr marL="12700" marR="5080" lvl="0" indent="0" algn="l" rtl="0">
              <a:lnSpc>
                <a:spcPct val="100800"/>
              </a:lnSpc>
              <a:spcBef>
                <a:spcPts val="0"/>
              </a:spcBef>
              <a:spcAft>
                <a:spcPts val="0"/>
              </a:spcAft>
              <a:buClr>
                <a:srgbClr val="70AD47"/>
              </a:buClr>
              <a:buSzPts val="2400"/>
              <a:buFont typeface="Arial"/>
              <a:buNone/>
            </a:pPr>
            <a:r>
              <a:rPr lang="en-US" sz="2400" b="0" i="0" u="none" strike="noStrike" cap="none">
                <a:solidFill>
                  <a:srgbClr val="70AD47"/>
                </a:solidFill>
                <a:latin typeface="Calibri"/>
                <a:ea typeface="Calibri"/>
                <a:cs typeface="Calibri"/>
                <a:sym typeface="Calibri"/>
              </a:rPr>
              <a:t>Computer vision model with no convolutions!</a:t>
            </a:r>
            <a:endParaRPr sz="2400" b="0" i="0" u="none" strike="noStrike" cap="none">
              <a:solidFill>
                <a:srgbClr val="000000"/>
              </a:solidFill>
              <a:latin typeface="Calibri"/>
              <a:ea typeface="Calibri"/>
              <a:cs typeface="Calibri"/>
              <a:sym typeface="Calibri"/>
            </a:endParaRPr>
          </a:p>
        </p:txBody>
      </p:sp>
      <p:sp>
        <p:nvSpPr>
          <p:cNvPr id="1664" name="Google Shape;1664;p29"/>
          <p:cNvSpPr txBox="1"/>
          <p:nvPr/>
        </p:nvSpPr>
        <p:spPr>
          <a:xfrm>
            <a:off x="4544829" y="1041908"/>
            <a:ext cx="3878579" cy="760095"/>
          </a:xfrm>
          <a:prstGeom prst="rect">
            <a:avLst/>
          </a:prstGeom>
          <a:noFill/>
          <a:ln>
            <a:noFill/>
          </a:ln>
        </p:spPr>
        <p:txBody>
          <a:bodyPr spcFirstLastPara="1" wrap="square" lIns="0" tIns="9525" rIns="0" bIns="0" anchor="t" anchorCtr="0">
            <a:spAutoFit/>
          </a:bodyPr>
          <a:lstStyle/>
          <a:p>
            <a:pPr marL="12700" marR="5080" lvl="0" indent="0" algn="l" rtl="0">
              <a:lnSpc>
                <a:spcPct val="100800"/>
              </a:lnSpc>
              <a:spcBef>
                <a:spcPts val="0"/>
              </a:spcBef>
              <a:spcAft>
                <a:spcPts val="0"/>
              </a:spcAft>
              <a:buClr>
                <a:srgbClr val="C00000"/>
              </a:buClr>
              <a:buSzPts val="2400"/>
              <a:buFont typeface="Arial"/>
              <a:buNone/>
            </a:pPr>
            <a:r>
              <a:rPr lang="en-US" sz="2400" b="0" i="0" u="none" strike="noStrike" cap="none">
                <a:solidFill>
                  <a:srgbClr val="C00000"/>
                </a:solidFill>
                <a:latin typeface="Calibri"/>
                <a:ea typeface="Calibri"/>
                <a:cs typeface="Calibri"/>
                <a:sym typeface="Calibri"/>
              </a:rPr>
              <a:t>Not quite: MLPs in Transformer are stacks of 1x1 convolution</a:t>
            </a:r>
            <a:endParaRPr sz="2400" b="0" i="0" u="none" strike="noStrike" cap="none">
              <a:solidFill>
                <a:srgbClr val="000000"/>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668"/>
        <p:cNvGrpSpPr/>
        <p:nvPr/>
      </p:nvGrpSpPr>
      <p:grpSpPr>
        <a:xfrm>
          <a:off x="0" y="0"/>
          <a:ext cx="0" cy="0"/>
          <a:chOff x="0" y="0"/>
          <a:chExt cx="0" cy="0"/>
        </a:xfrm>
      </p:grpSpPr>
      <p:sp>
        <p:nvSpPr>
          <p:cNvPr id="1669" name="Google Shape;1669;p30"/>
          <p:cNvSpPr txBox="1">
            <a:spLocks noGrp="1"/>
          </p:cNvSpPr>
          <p:nvPr>
            <p:ph type="title"/>
          </p:nvPr>
        </p:nvSpPr>
        <p:spPr>
          <a:xfrm>
            <a:off x="978290" y="332739"/>
            <a:ext cx="10493100" cy="628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a:t>
            </a:r>
            <a:endParaRPr/>
          </a:p>
        </p:txBody>
      </p:sp>
      <p:grpSp>
        <p:nvGrpSpPr>
          <p:cNvPr id="1670" name="Google Shape;1670;p30"/>
          <p:cNvGrpSpPr/>
          <p:nvPr/>
        </p:nvGrpSpPr>
        <p:grpSpPr>
          <a:xfrm>
            <a:off x="2535941" y="4400222"/>
            <a:ext cx="683958" cy="1475057"/>
            <a:chOff x="2535941" y="4400222"/>
            <a:chExt cx="683958" cy="1475057"/>
          </a:xfrm>
        </p:grpSpPr>
        <p:sp>
          <p:nvSpPr>
            <p:cNvPr id="1671" name="Google Shape;1671;p30"/>
            <p:cNvSpPr/>
            <p:nvPr/>
          </p:nvSpPr>
          <p:spPr>
            <a:xfrm>
              <a:off x="2802577"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72" name="Google Shape;1672;p30"/>
            <p:cNvSpPr/>
            <p:nvPr/>
          </p:nvSpPr>
          <p:spPr>
            <a:xfrm>
              <a:off x="2802577"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73" name="Google Shape;1673;p30"/>
            <p:cNvSpPr/>
            <p:nvPr/>
          </p:nvSpPr>
          <p:spPr>
            <a:xfrm>
              <a:off x="2829572" y="4831110"/>
              <a:ext cx="76200" cy="404495"/>
            </a:xfrm>
            <a:custGeom>
              <a:avLst/>
              <a:gdLst/>
              <a:ahLst/>
              <a:cxnLst/>
              <a:rect l="l" t="t" r="r" b="b"/>
              <a:pathLst>
                <a:path w="76200" h="404495" extrusionOk="0">
                  <a:moveTo>
                    <a:pt x="50799" y="76183"/>
                  </a:moveTo>
                  <a:lnTo>
                    <a:pt x="25399" y="76217"/>
                  </a:lnTo>
                  <a:lnTo>
                    <a:pt x="25840" y="404106"/>
                  </a:lnTo>
                  <a:lnTo>
                    <a:pt x="51240" y="404072"/>
                  </a:lnTo>
                  <a:lnTo>
                    <a:pt x="50799" y="76183"/>
                  </a:lnTo>
                  <a:close/>
                </a:path>
                <a:path w="76200" h="404495" extrusionOk="0">
                  <a:moveTo>
                    <a:pt x="37997" y="0"/>
                  </a:moveTo>
                  <a:lnTo>
                    <a:pt x="0" y="76252"/>
                  </a:lnTo>
                  <a:lnTo>
                    <a:pt x="25399" y="76217"/>
                  </a:lnTo>
                  <a:lnTo>
                    <a:pt x="25382" y="63517"/>
                  </a:lnTo>
                  <a:lnTo>
                    <a:pt x="69845" y="63483"/>
                  </a:lnTo>
                  <a:lnTo>
                    <a:pt x="37997" y="0"/>
                  </a:lnTo>
                  <a:close/>
                </a:path>
                <a:path w="76200" h="404495" extrusionOk="0">
                  <a:moveTo>
                    <a:pt x="50782" y="63483"/>
                  </a:moveTo>
                  <a:lnTo>
                    <a:pt x="25382" y="63517"/>
                  </a:lnTo>
                  <a:lnTo>
                    <a:pt x="25399" y="76217"/>
                  </a:lnTo>
                  <a:lnTo>
                    <a:pt x="50799" y="76183"/>
                  </a:lnTo>
                  <a:lnTo>
                    <a:pt x="50782" y="63483"/>
                  </a:lnTo>
                  <a:close/>
                </a:path>
                <a:path w="76200" h="404495" extrusionOk="0">
                  <a:moveTo>
                    <a:pt x="69845" y="63483"/>
                  </a:moveTo>
                  <a:lnTo>
                    <a:pt x="50782" y="63483"/>
                  </a:lnTo>
                  <a:lnTo>
                    <a:pt x="50799" y="76183"/>
                  </a:lnTo>
                  <a:lnTo>
                    <a:pt x="76200" y="76149"/>
                  </a:lnTo>
                  <a:lnTo>
                    <a:pt x="69845" y="6348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674" name="Google Shape;1674;p30"/>
            <p:cNvPicPr preferRelativeResize="0"/>
            <p:nvPr/>
          </p:nvPicPr>
          <p:blipFill rotWithShape="1">
            <a:blip r:embed="rId3">
              <a:alphaModFix/>
            </a:blip>
            <a:srcRect/>
            <a:stretch/>
          </p:blipFill>
          <p:spPr>
            <a:xfrm>
              <a:off x="2535941" y="5235200"/>
              <a:ext cx="639705" cy="640079"/>
            </a:xfrm>
            <a:prstGeom prst="rect">
              <a:avLst/>
            </a:prstGeom>
            <a:noFill/>
            <a:ln>
              <a:noFill/>
            </a:ln>
          </p:spPr>
        </p:pic>
        <p:sp>
          <p:nvSpPr>
            <p:cNvPr id="1675" name="Google Shape;1675;p30"/>
            <p:cNvSpPr/>
            <p:nvPr/>
          </p:nvSpPr>
          <p:spPr>
            <a:xfrm>
              <a:off x="3089724"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76" name="Google Shape;1676;p30"/>
            <p:cNvSpPr/>
            <p:nvPr/>
          </p:nvSpPr>
          <p:spPr>
            <a:xfrm>
              <a:off x="3089724"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77" name="Google Shape;1677;p30"/>
          <p:cNvGrpSpPr/>
          <p:nvPr/>
        </p:nvGrpSpPr>
        <p:grpSpPr>
          <a:xfrm>
            <a:off x="3312686" y="4404013"/>
            <a:ext cx="683436" cy="1471266"/>
            <a:chOff x="3312686" y="4404013"/>
            <a:chExt cx="683436" cy="1471266"/>
          </a:xfrm>
        </p:grpSpPr>
        <p:sp>
          <p:nvSpPr>
            <p:cNvPr id="1678" name="Google Shape;1678;p30"/>
            <p:cNvSpPr/>
            <p:nvPr/>
          </p:nvSpPr>
          <p:spPr>
            <a:xfrm>
              <a:off x="3578800" y="4404013"/>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79" name="Google Shape;1679;p30"/>
            <p:cNvSpPr/>
            <p:nvPr/>
          </p:nvSpPr>
          <p:spPr>
            <a:xfrm>
              <a:off x="3578800"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80" name="Google Shape;1680;p30"/>
            <p:cNvSpPr/>
            <p:nvPr/>
          </p:nvSpPr>
          <p:spPr>
            <a:xfrm>
              <a:off x="3605753" y="4834901"/>
              <a:ext cx="76200" cy="400685"/>
            </a:xfrm>
            <a:custGeom>
              <a:avLst/>
              <a:gdLst/>
              <a:ahLst/>
              <a:cxnLst/>
              <a:rect l="l" t="t" r="r" b="b"/>
              <a:pathLst>
                <a:path w="76200" h="400685" extrusionOk="0">
                  <a:moveTo>
                    <a:pt x="50800" y="76190"/>
                  </a:moveTo>
                  <a:lnTo>
                    <a:pt x="25400" y="76211"/>
                  </a:lnTo>
                  <a:lnTo>
                    <a:pt x="25660" y="400309"/>
                  </a:lnTo>
                  <a:lnTo>
                    <a:pt x="51060" y="400288"/>
                  </a:lnTo>
                  <a:lnTo>
                    <a:pt x="50800" y="76190"/>
                  </a:lnTo>
                  <a:close/>
                </a:path>
                <a:path w="76200" h="400685" extrusionOk="0">
                  <a:moveTo>
                    <a:pt x="38037" y="0"/>
                  </a:moveTo>
                  <a:lnTo>
                    <a:pt x="0" y="76231"/>
                  </a:lnTo>
                  <a:lnTo>
                    <a:pt x="25400" y="76211"/>
                  </a:lnTo>
                  <a:lnTo>
                    <a:pt x="25389" y="63510"/>
                  </a:lnTo>
                  <a:lnTo>
                    <a:pt x="69847" y="63489"/>
                  </a:lnTo>
                  <a:lnTo>
                    <a:pt x="38037"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681" name="Google Shape;1681;p30"/>
            <p:cNvPicPr preferRelativeResize="0"/>
            <p:nvPr/>
          </p:nvPicPr>
          <p:blipFill rotWithShape="1">
            <a:blip r:embed="rId4">
              <a:alphaModFix/>
            </a:blip>
            <a:srcRect/>
            <a:stretch/>
          </p:blipFill>
          <p:spPr>
            <a:xfrm>
              <a:off x="3312686" y="5235200"/>
              <a:ext cx="639705" cy="640079"/>
            </a:xfrm>
            <a:prstGeom prst="rect">
              <a:avLst/>
            </a:prstGeom>
            <a:noFill/>
            <a:ln>
              <a:noFill/>
            </a:ln>
          </p:spPr>
        </p:pic>
        <p:sp>
          <p:nvSpPr>
            <p:cNvPr id="1682" name="Google Shape;1682;p30"/>
            <p:cNvSpPr/>
            <p:nvPr/>
          </p:nvSpPr>
          <p:spPr>
            <a:xfrm>
              <a:off x="3865947" y="440599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83" name="Google Shape;1683;p30"/>
            <p:cNvSpPr/>
            <p:nvPr/>
          </p:nvSpPr>
          <p:spPr>
            <a:xfrm>
              <a:off x="3865947"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84" name="Google Shape;1684;p30"/>
          <p:cNvGrpSpPr/>
          <p:nvPr/>
        </p:nvGrpSpPr>
        <p:grpSpPr>
          <a:xfrm>
            <a:off x="4089432" y="4400222"/>
            <a:ext cx="682911" cy="1475057"/>
            <a:chOff x="4089432" y="4400222"/>
            <a:chExt cx="682911" cy="1475057"/>
          </a:xfrm>
        </p:grpSpPr>
        <p:sp>
          <p:nvSpPr>
            <p:cNvPr id="1685" name="Google Shape;1685;p30"/>
            <p:cNvSpPr/>
            <p:nvPr/>
          </p:nvSpPr>
          <p:spPr>
            <a:xfrm>
              <a:off x="4355021"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86" name="Google Shape;1686;p30"/>
            <p:cNvSpPr/>
            <p:nvPr/>
          </p:nvSpPr>
          <p:spPr>
            <a:xfrm>
              <a:off x="4355021"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87" name="Google Shape;1687;p30"/>
            <p:cNvSpPr/>
            <p:nvPr/>
          </p:nvSpPr>
          <p:spPr>
            <a:xfrm>
              <a:off x="4382073" y="4831110"/>
              <a:ext cx="76200" cy="404495"/>
            </a:xfrm>
            <a:custGeom>
              <a:avLst/>
              <a:gdLst/>
              <a:ahLst/>
              <a:cxnLst/>
              <a:rect l="l" t="t" r="r" b="b"/>
              <a:pathLst>
                <a:path w="76200" h="404495" extrusionOk="0">
                  <a:moveTo>
                    <a:pt x="50799" y="76173"/>
                  </a:moveTo>
                  <a:lnTo>
                    <a:pt x="25399" y="76226"/>
                  </a:lnTo>
                  <a:lnTo>
                    <a:pt x="26087" y="404116"/>
                  </a:lnTo>
                  <a:lnTo>
                    <a:pt x="51487" y="404063"/>
                  </a:lnTo>
                  <a:lnTo>
                    <a:pt x="50799" y="76173"/>
                  </a:lnTo>
                  <a:close/>
                </a:path>
                <a:path w="76200" h="404495" extrusionOk="0">
                  <a:moveTo>
                    <a:pt x="37939" y="0"/>
                  </a:moveTo>
                  <a:lnTo>
                    <a:pt x="0" y="76280"/>
                  </a:lnTo>
                  <a:lnTo>
                    <a:pt x="25399" y="76226"/>
                  </a:lnTo>
                  <a:lnTo>
                    <a:pt x="25373" y="63526"/>
                  </a:lnTo>
                  <a:lnTo>
                    <a:pt x="69843" y="63473"/>
                  </a:lnTo>
                  <a:lnTo>
                    <a:pt x="37939" y="0"/>
                  </a:lnTo>
                  <a:close/>
                </a:path>
                <a:path w="76200" h="404495" extrusionOk="0">
                  <a:moveTo>
                    <a:pt x="50773" y="63473"/>
                  </a:moveTo>
                  <a:lnTo>
                    <a:pt x="25373" y="63526"/>
                  </a:lnTo>
                  <a:lnTo>
                    <a:pt x="25399" y="76226"/>
                  </a:lnTo>
                  <a:lnTo>
                    <a:pt x="50799" y="76173"/>
                  </a:lnTo>
                  <a:lnTo>
                    <a:pt x="50773" y="63473"/>
                  </a:lnTo>
                  <a:close/>
                </a:path>
                <a:path w="76200" h="404495" extrusionOk="0">
                  <a:moveTo>
                    <a:pt x="69843" y="63473"/>
                  </a:moveTo>
                  <a:lnTo>
                    <a:pt x="50773" y="63473"/>
                  </a:lnTo>
                  <a:lnTo>
                    <a:pt x="50799" y="76173"/>
                  </a:lnTo>
                  <a:lnTo>
                    <a:pt x="76200" y="76119"/>
                  </a:lnTo>
                  <a:lnTo>
                    <a:pt x="69843" y="6347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688" name="Google Shape;1688;p30"/>
            <p:cNvPicPr preferRelativeResize="0"/>
            <p:nvPr/>
          </p:nvPicPr>
          <p:blipFill rotWithShape="1">
            <a:blip r:embed="rId5">
              <a:alphaModFix/>
            </a:blip>
            <a:srcRect/>
            <a:stretch/>
          </p:blipFill>
          <p:spPr>
            <a:xfrm>
              <a:off x="4089432" y="5235200"/>
              <a:ext cx="639705" cy="640079"/>
            </a:xfrm>
            <a:prstGeom prst="rect">
              <a:avLst/>
            </a:prstGeom>
            <a:noFill/>
            <a:ln>
              <a:noFill/>
            </a:ln>
          </p:spPr>
        </p:pic>
        <p:sp>
          <p:nvSpPr>
            <p:cNvPr id="1689" name="Google Shape;1689;p30"/>
            <p:cNvSpPr/>
            <p:nvPr/>
          </p:nvSpPr>
          <p:spPr>
            <a:xfrm>
              <a:off x="4642168"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90" name="Google Shape;1690;p30"/>
            <p:cNvSpPr/>
            <p:nvPr/>
          </p:nvSpPr>
          <p:spPr>
            <a:xfrm>
              <a:off x="4642168"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91" name="Google Shape;1691;p30"/>
          <p:cNvGrpSpPr/>
          <p:nvPr/>
        </p:nvGrpSpPr>
        <p:grpSpPr>
          <a:xfrm>
            <a:off x="4866180" y="4404013"/>
            <a:ext cx="683434" cy="1471266"/>
            <a:chOff x="4866180" y="4404013"/>
            <a:chExt cx="683434" cy="1471266"/>
          </a:xfrm>
        </p:grpSpPr>
        <p:sp>
          <p:nvSpPr>
            <p:cNvPr id="1692" name="Google Shape;1692;p30"/>
            <p:cNvSpPr/>
            <p:nvPr/>
          </p:nvSpPr>
          <p:spPr>
            <a:xfrm>
              <a:off x="5132292" y="4404013"/>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93" name="Google Shape;1693;p30"/>
            <p:cNvSpPr/>
            <p:nvPr/>
          </p:nvSpPr>
          <p:spPr>
            <a:xfrm>
              <a:off x="5132292"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94" name="Google Shape;1694;p30"/>
            <p:cNvSpPr/>
            <p:nvPr/>
          </p:nvSpPr>
          <p:spPr>
            <a:xfrm>
              <a:off x="5159245" y="4834901"/>
              <a:ext cx="76200" cy="400685"/>
            </a:xfrm>
            <a:custGeom>
              <a:avLst/>
              <a:gdLst/>
              <a:ahLst/>
              <a:cxnLst/>
              <a:rect l="l" t="t" r="r" b="b"/>
              <a:pathLst>
                <a:path w="76200" h="400685" extrusionOk="0">
                  <a:moveTo>
                    <a:pt x="50800" y="76190"/>
                  </a:moveTo>
                  <a:lnTo>
                    <a:pt x="25400" y="76211"/>
                  </a:lnTo>
                  <a:lnTo>
                    <a:pt x="25661" y="400319"/>
                  </a:lnTo>
                  <a:lnTo>
                    <a:pt x="51061" y="400298"/>
                  </a:lnTo>
                  <a:lnTo>
                    <a:pt x="50800" y="76190"/>
                  </a:lnTo>
                  <a:close/>
                </a:path>
                <a:path w="76200" h="400685" extrusionOk="0">
                  <a:moveTo>
                    <a:pt x="38039" y="0"/>
                  </a:moveTo>
                  <a:lnTo>
                    <a:pt x="0" y="76231"/>
                  </a:lnTo>
                  <a:lnTo>
                    <a:pt x="25400" y="76211"/>
                  </a:lnTo>
                  <a:lnTo>
                    <a:pt x="25389" y="63510"/>
                  </a:lnTo>
                  <a:lnTo>
                    <a:pt x="69847" y="63489"/>
                  </a:lnTo>
                  <a:lnTo>
                    <a:pt x="38039"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695" name="Google Shape;1695;p30"/>
            <p:cNvPicPr preferRelativeResize="0"/>
            <p:nvPr/>
          </p:nvPicPr>
          <p:blipFill rotWithShape="1">
            <a:blip r:embed="rId6">
              <a:alphaModFix/>
            </a:blip>
            <a:srcRect/>
            <a:stretch/>
          </p:blipFill>
          <p:spPr>
            <a:xfrm>
              <a:off x="4866180" y="5235200"/>
              <a:ext cx="639705" cy="640079"/>
            </a:xfrm>
            <a:prstGeom prst="rect">
              <a:avLst/>
            </a:prstGeom>
            <a:noFill/>
            <a:ln>
              <a:noFill/>
            </a:ln>
          </p:spPr>
        </p:pic>
        <p:sp>
          <p:nvSpPr>
            <p:cNvPr id="1696" name="Google Shape;1696;p30"/>
            <p:cNvSpPr/>
            <p:nvPr/>
          </p:nvSpPr>
          <p:spPr>
            <a:xfrm>
              <a:off x="5419439" y="440599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97" name="Google Shape;1697;p30"/>
            <p:cNvSpPr/>
            <p:nvPr/>
          </p:nvSpPr>
          <p:spPr>
            <a:xfrm>
              <a:off x="5419439"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698" name="Google Shape;1698;p30"/>
          <p:cNvGrpSpPr/>
          <p:nvPr/>
        </p:nvGrpSpPr>
        <p:grpSpPr>
          <a:xfrm>
            <a:off x="5645272" y="4400222"/>
            <a:ext cx="676559" cy="1475057"/>
            <a:chOff x="5645272" y="4400222"/>
            <a:chExt cx="676559" cy="1475057"/>
          </a:xfrm>
        </p:grpSpPr>
        <p:sp>
          <p:nvSpPr>
            <p:cNvPr id="1699" name="Google Shape;1699;p30"/>
            <p:cNvSpPr/>
            <p:nvPr/>
          </p:nvSpPr>
          <p:spPr>
            <a:xfrm>
              <a:off x="5904509"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0" name="Google Shape;1700;p30"/>
            <p:cNvSpPr/>
            <p:nvPr/>
          </p:nvSpPr>
          <p:spPr>
            <a:xfrm>
              <a:off x="5904509"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1" name="Google Shape;1701;p30"/>
            <p:cNvSpPr/>
            <p:nvPr/>
          </p:nvSpPr>
          <p:spPr>
            <a:xfrm>
              <a:off x="5932177" y="4831110"/>
              <a:ext cx="76200" cy="404495"/>
            </a:xfrm>
            <a:custGeom>
              <a:avLst/>
              <a:gdLst/>
              <a:ahLst/>
              <a:cxnLst/>
              <a:rect l="l" t="t" r="r" b="b"/>
              <a:pathLst>
                <a:path w="76200" h="404495" extrusionOk="0">
                  <a:moveTo>
                    <a:pt x="50796" y="76067"/>
                  </a:moveTo>
                  <a:lnTo>
                    <a:pt x="25398" y="76325"/>
                  </a:lnTo>
                  <a:lnTo>
                    <a:pt x="28731" y="404228"/>
                  </a:lnTo>
                  <a:lnTo>
                    <a:pt x="54129" y="403970"/>
                  </a:lnTo>
                  <a:lnTo>
                    <a:pt x="50796" y="76067"/>
                  </a:lnTo>
                  <a:close/>
                </a:path>
                <a:path w="76200" h="404495" extrusionOk="0">
                  <a:moveTo>
                    <a:pt x="37322" y="0"/>
                  </a:moveTo>
                  <a:lnTo>
                    <a:pt x="0" y="76583"/>
                  </a:lnTo>
                  <a:lnTo>
                    <a:pt x="25398" y="76325"/>
                  </a:lnTo>
                  <a:lnTo>
                    <a:pt x="25269" y="63626"/>
                  </a:lnTo>
                  <a:lnTo>
                    <a:pt x="50667" y="63367"/>
                  </a:lnTo>
                  <a:lnTo>
                    <a:pt x="69815" y="63367"/>
                  </a:lnTo>
                  <a:lnTo>
                    <a:pt x="37322" y="0"/>
                  </a:lnTo>
                  <a:close/>
                </a:path>
                <a:path w="76200" h="404495" extrusionOk="0">
                  <a:moveTo>
                    <a:pt x="50667" y="63367"/>
                  </a:moveTo>
                  <a:lnTo>
                    <a:pt x="25269" y="63626"/>
                  </a:lnTo>
                  <a:lnTo>
                    <a:pt x="25398" y="76325"/>
                  </a:lnTo>
                  <a:lnTo>
                    <a:pt x="50796" y="76067"/>
                  </a:lnTo>
                  <a:lnTo>
                    <a:pt x="50667" y="63367"/>
                  </a:lnTo>
                  <a:close/>
                </a:path>
                <a:path w="76200" h="404495" extrusionOk="0">
                  <a:moveTo>
                    <a:pt x="69815" y="63367"/>
                  </a:moveTo>
                  <a:lnTo>
                    <a:pt x="50667" y="63367"/>
                  </a:lnTo>
                  <a:lnTo>
                    <a:pt x="50796" y="76067"/>
                  </a:lnTo>
                  <a:lnTo>
                    <a:pt x="76194" y="75808"/>
                  </a:lnTo>
                  <a:lnTo>
                    <a:pt x="69815" y="6336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702" name="Google Shape;1702;p30"/>
            <p:cNvPicPr preferRelativeResize="0"/>
            <p:nvPr/>
          </p:nvPicPr>
          <p:blipFill rotWithShape="1">
            <a:blip r:embed="rId7">
              <a:alphaModFix/>
            </a:blip>
            <a:srcRect/>
            <a:stretch/>
          </p:blipFill>
          <p:spPr>
            <a:xfrm>
              <a:off x="5645272" y="5235200"/>
              <a:ext cx="639705" cy="640079"/>
            </a:xfrm>
            <a:prstGeom prst="rect">
              <a:avLst/>
            </a:prstGeom>
            <a:noFill/>
            <a:ln>
              <a:noFill/>
            </a:ln>
          </p:spPr>
        </p:pic>
        <p:sp>
          <p:nvSpPr>
            <p:cNvPr id="1703" name="Google Shape;1703;p30"/>
            <p:cNvSpPr/>
            <p:nvPr/>
          </p:nvSpPr>
          <p:spPr>
            <a:xfrm>
              <a:off x="6191656"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4" name="Google Shape;1704;p30"/>
            <p:cNvSpPr/>
            <p:nvPr/>
          </p:nvSpPr>
          <p:spPr>
            <a:xfrm>
              <a:off x="6191656"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05" name="Google Shape;1705;p30"/>
          <p:cNvGrpSpPr/>
          <p:nvPr/>
        </p:nvGrpSpPr>
        <p:grpSpPr>
          <a:xfrm>
            <a:off x="6419682" y="4400222"/>
            <a:ext cx="688872" cy="1475057"/>
            <a:chOff x="6419682" y="4400222"/>
            <a:chExt cx="688872" cy="1475057"/>
          </a:xfrm>
        </p:grpSpPr>
        <p:sp>
          <p:nvSpPr>
            <p:cNvPr id="1706" name="Google Shape;1706;p30"/>
            <p:cNvSpPr/>
            <p:nvPr/>
          </p:nvSpPr>
          <p:spPr>
            <a:xfrm>
              <a:off x="6691232"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7" name="Google Shape;1707;p30"/>
            <p:cNvSpPr/>
            <p:nvPr/>
          </p:nvSpPr>
          <p:spPr>
            <a:xfrm>
              <a:off x="6691232"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8" name="Google Shape;1708;p30"/>
            <p:cNvSpPr/>
            <p:nvPr/>
          </p:nvSpPr>
          <p:spPr>
            <a:xfrm>
              <a:off x="6717023" y="4831110"/>
              <a:ext cx="76200" cy="404495"/>
            </a:xfrm>
            <a:custGeom>
              <a:avLst/>
              <a:gdLst/>
              <a:ahLst/>
              <a:cxnLst/>
              <a:rect l="l" t="t" r="r" b="b"/>
              <a:pathLst>
                <a:path w="76200" h="404495" extrusionOk="0">
                  <a:moveTo>
                    <a:pt x="25397" y="76008"/>
                  </a:moveTo>
                  <a:lnTo>
                    <a:pt x="20636" y="403914"/>
                  </a:lnTo>
                  <a:lnTo>
                    <a:pt x="46033" y="404284"/>
                  </a:lnTo>
                  <a:lnTo>
                    <a:pt x="50794" y="76377"/>
                  </a:lnTo>
                  <a:lnTo>
                    <a:pt x="25397" y="76008"/>
                  </a:lnTo>
                  <a:close/>
                </a:path>
                <a:path w="76200" h="404495" extrusionOk="0">
                  <a:moveTo>
                    <a:pt x="69714" y="63309"/>
                  </a:moveTo>
                  <a:lnTo>
                    <a:pt x="25581" y="63309"/>
                  </a:lnTo>
                  <a:lnTo>
                    <a:pt x="50979" y="63677"/>
                  </a:lnTo>
                  <a:lnTo>
                    <a:pt x="50794" y="76377"/>
                  </a:lnTo>
                  <a:lnTo>
                    <a:pt x="76191" y="76746"/>
                  </a:lnTo>
                  <a:lnTo>
                    <a:pt x="69714" y="63309"/>
                  </a:lnTo>
                  <a:close/>
                </a:path>
                <a:path w="76200" h="404495" extrusionOk="0">
                  <a:moveTo>
                    <a:pt x="25581" y="63309"/>
                  </a:moveTo>
                  <a:lnTo>
                    <a:pt x="25397" y="76008"/>
                  </a:lnTo>
                  <a:lnTo>
                    <a:pt x="50794" y="76377"/>
                  </a:lnTo>
                  <a:lnTo>
                    <a:pt x="50979" y="63677"/>
                  </a:lnTo>
                  <a:lnTo>
                    <a:pt x="25581" y="63309"/>
                  </a:lnTo>
                  <a:close/>
                </a:path>
                <a:path w="76200" h="404495" extrusionOk="0">
                  <a:moveTo>
                    <a:pt x="39201" y="0"/>
                  </a:moveTo>
                  <a:lnTo>
                    <a:pt x="0" y="75639"/>
                  </a:lnTo>
                  <a:lnTo>
                    <a:pt x="25397" y="76008"/>
                  </a:lnTo>
                  <a:lnTo>
                    <a:pt x="25581" y="63309"/>
                  </a:lnTo>
                  <a:lnTo>
                    <a:pt x="69714" y="63309"/>
                  </a:lnTo>
                  <a:lnTo>
                    <a:pt x="3920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709" name="Google Shape;1709;p30"/>
            <p:cNvPicPr preferRelativeResize="0"/>
            <p:nvPr/>
          </p:nvPicPr>
          <p:blipFill rotWithShape="1">
            <a:blip r:embed="rId8">
              <a:alphaModFix/>
            </a:blip>
            <a:srcRect/>
            <a:stretch/>
          </p:blipFill>
          <p:spPr>
            <a:xfrm>
              <a:off x="6419682" y="5235200"/>
              <a:ext cx="639705" cy="640079"/>
            </a:xfrm>
            <a:prstGeom prst="rect">
              <a:avLst/>
            </a:prstGeom>
            <a:noFill/>
            <a:ln>
              <a:noFill/>
            </a:ln>
          </p:spPr>
        </p:pic>
        <p:sp>
          <p:nvSpPr>
            <p:cNvPr id="1710" name="Google Shape;1710;p30"/>
            <p:cNvSpPr/>
            <p:nvPr/>
          </p:nvSpPr>
          <p:spPr>
            <a:xfrm>
              <a:off x="6978379"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1" name="Google Shape;1711;p30"/>
            <p:cNvSpPr/>
            <p:nvPr/>
          </p:nvSpPr>
          <p:spPr>
            <a:xfrm>
              <a:off x="6978379"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12" name="Google Shape;1712;p30"/>
          <p:cNvGrpSpPr/>
          <p:nvPr/>
        </p:nvGrpSpPr>
        <p:grpSpPr>
          <a:xfrm>
            <a:off x="7207347" y="4400222"/>
            <a:ext cx="668588" cy="1475057"/>
            <a:chOff x="7207347" y="4400222"/>
            <a:chExt cx="668588" cy="1475057"/>
          </a:xfrm>
        </p:grpSpPr>
        <p:sp>
          <p:nvSpPr>
            <p:cNvPr id="1713" name="Google Shape;1713;p30"/>
            <p:cNvSpPr/>
            <p:nvPr/>
          </p:nvSpPr>
          <p:spPr>
            <a:xfrm>
              <a:off x="7458613"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4" name="Google Shape;1714;p30"/>
            <p:cNvSpPr/>
            <p:nvPr/>
          </p:nvSpPr>
          <p:spPr>
            <a:xfrm>
              <a:off x="7458613"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5" name="Google Shape;1715;p30"/>
            <p:cNvSpPr/>
            <p:nvPr/>
          </p:nvSpPr>
          <p:spPr>
            <a:xfrm>
              <a:off x="7485566" y="4831110"/>
              <a:ext cx="76200" cy="404495"/>
            </a:xfrm>
            <a:custGeom>
              <a:avLst/>
              <a:gdLst/>
              <a:ahLst/>
              <a:cxnLst/>
              <a:rect l="l" t="t" r="r" b="b"/>
              <a:pathLst>
                <a:path w="76200" h="404495" extrusionOk="0">
                  <a:moveTo>
                    <a:pt x="50799" y="76190"/>
                  </a:moveTo>
                  <a:lnTo>
                    <a:pt x="25399" y="76210"/>
                  </a:lnTo>
                  <a:lnTo>
                    <a:pt x="25660" y="404110"/>
                  </a:lnTo>
                  <a:lnTo>
                    <a:pt x="51060" y="404089"/>
                  </a:lnTo>
                  <a:lnTo>
                    <a:pt x="50799" y="76190"/>
                  </a:lnTo>
                  <a:close/>
                </a:path>
                <a:path w="76200" h="404495" extrusionOk="0">
                  <a:moveTo>
                    <a:pt x="38039" y="0"/>
                  </a:moveTo>
                  <a:lnTo>
                    <a:pt x="0" y="76230"/>
                  </a:lnTo>
                  <a:lnTo>
                    <a:pt x="25399" y="76210"/>
                  </a:lnTo>
                  <a:lnTo>
                    <a:pt x="25389" y="63510"/>
                  </a:lnTo>
                  <a:lnTo>
                    <a:pt x="69846" y="63489"/>
                  </a:lnTo>
                  <a:lnTo>
                    <a:pt x="38039" y="0"/>
                  </a:lnTo>
                  <a:close/>
                </a:path>
                <a:path w="76200" h="404495" extrusionOk="0">
                  <a:moveTo>
                    <a:pt x="50789" y="63489"/>
                  </a:moveTo>
                  <a:lnTo>
                    <a:pt x="25389" y="63510"/>
                  </a:lnTo>
                  <a:lnTo>
                    <a:pt x="25399" y="76210"/>
                  </a:lnTo>
                  <a:lnTo>
                    <a:pt x="50799" y="76190"/>
                  </a:lnTo>
                  <a:lnTo>
                    <a:pt x="50789" y="63489"/>
                  </a:lnTo>
                  <a:close/>
                </a:path>
                <a:path w="76200" h="404495" extrusionOk="0">
                  <a:moveTo>
                    <a:pt x="69846" y="63489"/>
                  </a:moveTo>
                  <a:lnTo>
                    <a:pt x="50789" y="63489"/>
                  </a:lnTo>
                  <a:lnTo>
                    <a:pt x="50799" y="76190"/>
                  </a:lnTo>
                  <a:lnTo>
                    <a:pt x="76200" y="76170"/>
                  </a:lnTo>
                  <a:lnTo>
                    <a:pt x="69846"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716" name="Google Shape;1716;p30"/>
            <p:cNvPicPr preferRelativeResize="0"/>
            <p:nvPr/>
          </p:nvPicPr>
          <p:blipFill rotWithShape="1">
            <a:blip r:embed="rId9">
              <a:alphaModFix/>
            </a:blip>
            <a:srcRect/>
            <a:stretch/>
          </p:blipFill>
          <p:spPr>
            <a:xfrm>
              <a:off x="7207347" y="5235200"/>
              <a:ext cx="641197" cy="640079"/>
            </a:xfrm>
            <a:prstGeom prst="rect">
              <a:avLst/>
            </a:prstGeom>
            <a:noFill/>
            <a:ln>
              <a:noFill/>
            </a:ln>
          </p:spPr>
        </p:pic>
        <p:sp>
          <p:nvSpPr>
            <p:cNvPr id="1717" name="Google Shape;1717;p30"/>
            <p:cNvSpPr/>
            <p:nvPr/>
          </p:nvSpPr>
          <p:spPr>
            <a:xfrm>
              <a:off x="7745760"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8" name="Google Shape;1718;p30"/>
            <p:cNvSpPr/>
            <p:nvPr/>
          </p:nvSpPr>
          <p:spPr>
            <a:xfrm>
              <a:off x="7745760"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19" name="Google Shape;1719;p30"/>
          <p:cNvGrpSpPr/>
          <p:nvPr/>
        </p:nvGrpSpPr>
        <p:grpSpPr>
          <a:xfrm>
            <a:off x="7970093" y="4400222"/>
            <a:ext cx="681844" cy="1475057"/>
            <a:chOff x="7970093" y="4400222"/>
            <a:chExt cx="681844" cy="1475057"/>
          </a:xfrm>
        </p:grpSpPr>
        <p:sp>
          <p:nvSpPr>
            <p:cNvPr id="1720" name="Google Shape;1720;p30"/>
            <p:cNvSpPr/>
            <p:nvPr/>
          </p:nvSpPr>
          <p:spPr>
            <a:xfrm>
              <a:off x="8234614"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1" name="Google Shape;1721;p30"/>
            <p:cNvSpPr/>
            <p:nvPr/>
          </p:nvSpPr>
          <p:spPr>
            <a:xfrm>
              <a:off x="8234614"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2" name="Google Shape;1722;p30"/>
            <p:cNvSpPr/>
            <p:nvPr/>
          </p:nvSpPr>
          <p:spPr>
            <a:xfrm>
              <a:off x="8261567"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723" name="Google Shape;1723;p30"/>
            <p:cNvPicPr preferRelativeResize="0"/>
            <p:nvPr/>
          </p:nvPicPr>
          <p:blipFill rotWithShape="1">
            <a:blip r:embed="rId10">
              <a:alphaModFix/>
            </a:blip>
            <a:srcRect/>
            <a:stretch/>
          </p:blipFill>
          <p:spPr>
            <a:xfrm>
              <a:off x="7970093" y="5235200"/>
              <a:ext cx="641205" cy="640079"/>
            </a:xfrm>
            <a:prstGeom prst="rect">
              <a:avLst/>
            </a:prstGeom>
            <a:noFill/>
            <a:ln>
              <a:noFill/>
            </a:ln>
          </p:spPr>
        </p:pic>
        <p:sp>
          <p:nvSpPr>
            <p:cNvPr id="1724" name="Google Shape;1724;p30"/>
            <p:cNvSpPr/>
            <p:nvPr/>
          </p:nvSpPr>
          <p:spPr>
            <a:xfrm>
              <a:off x="8521762"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5" name="Google Shape;1725;p30"/>
            <p:cNvSpPr/>
            <p:nvPr/>
          </p:nvSpPr>
          <p:spPr>
            <a:xfrm>
              <a:off x="8521762"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26" name="Google Shape;1726;p30"/>
          <p:cNvGrpSpPr/>
          <p:nvPr/>
        </p:nvGrpSpPr>
        <p:grpSpPr>
          <a:xfrm>
            <a:off x="8744502" y="4400222"/>
            <a:ext cx="684186" cy="1475057"/>
            <a:chOff x="8744502" y="4400222"/>
            <a:chExt cx="684186" cy="1475057"/>
          </a:xfrm>
        </p:grpSpPr>
        <p:sp>
          <p:nvSpPr>
            <p:cNvPr id="1727" name="Google Shape;1727;p30"/>
            <p:cNvSpPr/>
            <p:nvPr/>
          </p:nvSpPr>
          <p:spPr>
            <a:xfrm>
              <a:off x="9011366"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8" name="Google Shape;1728;p30"/>
            <p:cNvSpPr/>
            <p:nvPr/>
          </p:nvSpPr>
          <p:spPr>
            <a:xfrm>
              <a:off x="9011366"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9" name="Google Shape;1729;p30"/>
            <p:cNvSpPr/>
            <p:nvPr/>
          </p:nvSpPr>
          <p:spPr>
            <a:xfrm>
              <a:off x="9038318"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730" name="Google Shape;1730;p30"/>
            <p:cNvPicPr preferRelativeResize="0"/>
            <p:nvPr/>
          </p:nvPicPr>
          <p:blipFill rotWithShape="1">
            <a:blip r:embed="rId11">
              <a:alphaModFix/>
            </a:blip>
            <a:srcRect/>
            <a:stretch/>
          </p:blipFill>
          <p:spPr>
            <a:xfrm>
              <a:off x="8744502" y="5235200"/>
              <a:ext cx="641206" cy="640079"/>
            </a:xfrm>
            <a:prstGeom prst="rect">
              <a:avLst/>
            </a:prstGeom>
            <a:noFill/>
            <a:ln>
              <a:noFill/>
            </a:ln>
          </p:spPr>
        </p:pic>
        <p:sp>
          <p:nvSpPr>
            <p:cNvPr id="1731" name="Google Shape;1731;p30"/>
            <p:cNvSpPr/>
            <p:nvPr/>
          </p:nvSpPr>
          <p:spPr>
            <a:xfrm>
              <a:off x="9298513"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32" name="Google Shape;1732;p30"/>
            <p:cNvSpPr/>
            <p:nvPr/>
          </p:nvSpPr>
          <p:spPr>
            <a:xfrm>
              <a:off x="9298513"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733" name="Google Shape;1733;p30"/>
          <p:cNvSpPr txBox="1"/>
          <p:nvPr/>
        </p:nvSpPr>
        <p:spPr>
          <a:xfrm>
            <a:off x="273194" y="3559555"/>
            <a:ext cx="2190115" cy="1278255"/>
          </a:xfrm>
          <a:prstGeom prst="rect">
            <a:avLst/>
          </a:prstGeom>
          <a:noFill/>
          <a:ln>
            <a:noFill/>
          </a:ln>
        </p:spPr>
        <p:txBody>
          <a:bodyPr spcFirstLastPara="1" wrap="square" lIns="0" tIns="13950" rIns="0" bIns="0" anchor="t" anchorCtr="0">
            <a:spAutoFit/>
          </a:bodyPr>
          <a:lstStyle/>
          <a:p>
            <a:pPr marL="12700" marR="5080" lvl="0" indent="0" algn="l"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Add positional embedding: learned D- dim vector per position</a:t>
            </a:r>
            <a:endParaRPr sz="1800" b="0" i="0" u="none" strike="noStrike" cap="none">
              <a:solidFill>
                <a:srgbClr val="000000"/>
              </a:solidFill>
              <a:latin typeface="Calibri"/>
              <a:ea typeface="Calibri"/>
              <a:cs typeface="Calibri"/>
              <a:sym typeface="Calibri"/>
            </a:endParaRPr>
          </a:p>
          <a:p>
            <a:pPr marL="19685" marR="0" lvl="0" indent="0" algn="l" rtl="0">
              <a:lnSpc>
                <a:spcPct val="100000"/>
              </a:lnSpc>
              <a:spcBef>
                <a:spcPts val="125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a:t>
            </a:r>
            <a:endParaRPr sz="1800" b="0" i="0" u="none" strike="noStrike" cap="none">
              <a:solidFill>
                <a:srgbClr val="000000"/>
              </a:solidFill>
              <a:latin typeface="Calibri"/>
              <a:ea typeface="Calibri"/>
              <a:cs typeface="Calibri"/>
              <a:sym typeface="Calibri"/>
            </a:endParaRPr>
          </a:p>
        </p:txBody>
      </p:sp>
      <p:grpSp>
        <p:nvGrpSpPr>
          <p:cNvPr id="1734" name="Google Shape;1734;p30"/>
          <p:cNvGrpSpPr/>
          <p:nvPr/>
        </p:nvGrpSpPr>
        <p:grpSpPr>
          <a:xfrm>
            <a:off x="2961547" y="2096159"/>
            <a:ext cx="130810" cy="429895"/>
            <a:chOff x="2961547" y="2096159"/>
            <a:chExt cx="130810" cy="429895"/>
          </a:xfrm>
        </p:grpSpPr>
        <p:sp>
          <p:nvSpPr>
            <p:cNvPr id="1735" name="Google Shape;1735;p30"/>
            <p:cNvSpPr/>
            <p:nvPr/>
          </p:nvSpPr>
          <p:spPr>
            <a:xfrm>
              <a:off x="2961547" y="2096159"/>
              <a:ext cx="130810" cy="429895"/>
            </a:xfrm>
            <a:custGeom>
              <a:avLst/>
              <a:gdLst/>
              <a:ahLst/>
              <a:cxnLst/>
              <a:rect l="l" t="t" r="r" b="b"/>
              <a:pathLst>
                <a:path w="130810"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36" name="Google Shape;1736;p30"/>
            <p:cNvSpPr/>
            <p:nvPr/>
          </p:nvSpPr>
          <p:spPr>
            <a:xfrm>
              <a:off x="296154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37" name="Google Shape;1737;p30"/>
          <p:cNvGrpSpPr/>
          <p:nvPr/>
        </p:nvGrpSpPr>
        <p:grpSpPr>
          <a:xfrm>
            <a:off x="3737768" y="2099950"/>
            <a:ext cx="130810" cy="429895"/>
            <a:chOff x="3737768" y="2099950"/>
            <a:chExt cx="130810" cy="429895"/>
          </a:xfrm>
        </p:grpSpPr>
        <p:sp>
          <p:nvSpPr>
            <p:cNvPr id="1738" name="Google Shape;1738;p30"/>
            <p:cNvSpPr/>
            <p:nvPr/>
          </p:nvSpPr>
          <p:spPr>
            <a:xfrm>
              <a:off x="3737768"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39" name="Google Shape;1739;p30"/>
            <p:cNvSpPr/>
            <p:nvPr/>
          </p:nvSpPr>
          <p:spPr>
            <a:xfrm>
              <a:off x="3737768"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40" name="Google Shape;1740;p30"/>
          <p:cNvGrpSpPr/>
          <p:nvPr/>
        </p:nvGrpSpPr>
        <p:grpSpPr>
          <a:xfrm>
            <a:off x="4513990" y="2096159"/>
            <a:ext cx="130810" cy="429895"/>
            <a:chOff x="4513990" y="2096159"/>
            <a:chExt cx="130810" cy="429895"/>
          </a:xfrm>
        </p:grpSpPr>
        <p:sp>
          <p:nvSpPr>
            <p:cNvPr id="1741" name="Google Shape;1741;p30"/>
            <p:cNvSpPr/>
            <p:nvPr/>
          </p:nvSpPr>
          <p:spPr>
            <a:xfrm>
              <a:off x="4513990"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42" name="Google Shape;1742;p30"/>
            <p:cNvSpPr/>
            <p:nvPr/>
          </p:nvSpPr>
          <p:spPr>
            <a:xfrm>
              <a:off x="4513990"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43" name="Google Shape;1743;p30"/>
          <p:cNvGrpSpPr/>
          <p:nvPr/>
        </p:nvGrpSpPr>
        <p:grpSpPr>
          <a:xfrm>
            <a:off x="5291261" y="2099950"/>
            <a:ext cx="130810" cy="429895"/>
            <a:chOff x="5291261" y="2099950"/>
            <a:chExt cx="130810" cy="429895"/>
          </a:xfrm>
        </p:grpSpPr>
        <p:sp>
          <p:nvSpPr>
            <p:cNvPr id="1744" name="Google Shape;1744;p30"/>
            <p:cNvSpPr/>
            <p:nvPr/>
          </p:nvSpPr>
          <p:spPr>
            <a:xfrm>
              <a:off x="5291261"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45" name="Google Shape;1745;p30"/>
            <p:cNvSpPr/>
            <p:nvPr/>
          </p:nvSpPr>
          <p:spPr>
            <a:xfrm>
              <a:off x="5291261"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46" name="Google Shape;1746;p30"/>
          <p:cNvGrpSpPr/>
          <p:nvPr/>
        </p:nvGrpSpPr>
        <p:grpSpPr>
          <a:xfrm>
            <a:off x="6063477" y="2096159"/>
            <a:ext cx="130810" cy="429895"/>
            <a:chOff x="6063477" y="2096159"/>
            <a:chExt cx="130810" cy="429895"/>
          </a:xfrm>
        </p:grpSpPr>
        <p:sp>
          <p:nvSpPr>
            <p:cNvPr id="1747" name="Google Shape;1747;p30"/>
            <p:cNvSpPr/>
            <p:nvPr/>
          </p:nvSpPr>
          <p:spPr>
            <a:xfrm>
              <a:off x="6063477"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48" name="Google Shape;1748;p30"/>
            <p:cNvSpPr/>
            <p:nvPr/>
          </p:nvSpPr>
          <p:spPr>
            <a:xfrm>
              <a:off x="606347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49" name="Google Shape;1749;p30"/>
          <p:cNvGrpSpPr/>
          <p:nvPr/>
        </p:nvGrpSpPr>
        <p:grpSpPr>
          <a:xfrm>
            <a:off x="6850202" y="2096159"/>
            <a:ext cx="130810" cy="429895"/>
            <a:chOff x="6850202" y="2096159"/>
            <a:chExt cx="130810" cy="429895"/>
          </a:xfrm>
        </p:grpSpPr>
        <p:sp>
          <p:nvSpPr>
            <p:cNvPr id="1750" name="Google Shape;1750;p30"/>
            <p:cNvSpPr/>
            <p:nvPr/>
          </p:nvSpPr>
          <p:spPr>
            <a:xfrm>
              <a:off x="6850202"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51" name="Google Shape;1751;p30"/>
            <p:cNvSpPr/>
            <p:nvPr/>
          </p:nvSpPr>
          <p:spPr>
            <a:xfrm>
              <a:off x="6850202"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52" name="Google Shape;1752;p30"/>
          <p:cNvGrpSpPr/>
          <p:nvPr/>
        </p:nvGrpSpPr>
        <p:grpSpPr>
          <a:xfrm>
            <a:off x="7617583" y="2096159"/>
            <a:ext cx="130810" cy="429895"/>
            <a:chOff x="7617583" y="2096159"/>
            <a:chExt cx="130810" cy="429895"/>
          </a:xfrm>
        </p:grpSpPr>
        <p:sp>
          <p:nvSpPr>
            <p:cNvPr id="1753" name="Google Shape;1753;p30"/>
            <p:cNvSpPr/>
            <p:nvPr/>
          </p:nvSpPr>
          <p:spPr>
            <a:xfrm>
              <a:off x="7617583"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54" name="Google Shape;1754;p30"/>
            <p:cNvSpPr/>
            <p:nvPr/>
          </p:nvSpPr>
          <p:spPr>
            <a:xfrm>
              <a:off x="7617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55" name="Google Shape;1755;p30"/>
          <p:cNvGrpSpPr/>
          <p:nvPr/>
        </p:nvGrpSpPr>
        <p:grpSpPr>
          <a:xfrm>
            <a:off x="8393583" y="2096159"/>
            <a:ext cx="130810" cy="429895"/>
            <a:chOff x="8393583" y="2096159"/>
            <a:chExt cx="130810" cy="429895"/>
          </a:xfrm>
        </p:grpSpPr>
        <p:sp>
          <p:nvSpPr>
            <p:cNvPr id="1756" name="Google Shape;1756;p30"/>
            <p:cNvSpPr/>
            <p:nvPr/>
          </p:nvSpPr>
          <p:spPr>
            <a:xfrm>
              <a:off x="8393583"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57" name="Google Shape;1757;p30"/>
            <p:cNvSpPr/>
            <p:nvPr/>
          </p:nvSpPr>
          <p:spPr>
            <a:xfrm>
              <a:off x="8393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58" name="Google Shape;1758;p30"/>
          <p:cNvGrpSpPr/>
          <p:nvPr/>
        </p:nvGrpSpPr>
        <p:grpSpPr>
          <a:xfrm>
            <a:off x="9170334" y="2096159"/>
            <a:ext cx="130810" cy="429895"/>
            <a:chOff x="9170334" y="2096159"/>
            <a:chExt cx="130810" cy="429895"/>
          </a:xfrm>
        </p:grpSpPr>
        <p:sp>
          <p:nvSpPr>
            <p:cNvPr id="1759" name="Google Shape;1759;p30"/>
            <p:cNvSpPr/>
            <p:nvPr/>
          </p:nvSpPr>
          <p:spPr>
            <a:xfrm>
              <a:off x="9170334"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60" name="Google Shape;1760;p30"/>
            <p:cNvSpPr/>
            <p:nvPr/>
          </p:nvSpPr>
          <p:spPr>
            <a:xfrm>
              <a:off x="9170334"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761" name="Google Shape;1761;p30"/>
          <p:cNvSpPr txBox="1"/>
          <p:nvPr/>
        </p:nvSpPr>
        <p:spPr>
          <a:xfrm>
            <a:off x="451943" y="2038603"/>
            <a:ext cx="141478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Output vectors</a:t>
            </a:r>
            <a:endParaRPr sz="1800" b="0" i="0" u="none" strike="noStrike" cap="none">
              <a:solidFill>
                <a:srgbClr val="000000"/>
              </a:solidFill>
              <a:latin typeface="Calibri"/>
              <a:ea typeface="Calibri"/>
              <a:cs typeface="Calibri"/>
              <a:sym typeface="Calibri"/>
            </a:endParaRPr>
          </a:p>
        </p:txBody>
      </p:sp>
      <p:sp>
        <p:nvSpPr>
          <p:cNvPr id="1762" name="Google Shape;1762;p30"/>
          <p:cNvSpPr txBox="1"/>
          <p:nvPr/>
        </p:nvSpPr>
        <p:spPr>
          <a:xfrm>
            <a:off x="282081" y="2757932"/>
            <a:ext cx="1644014" cy="565150"/>
          </a:xfrm>
          <a:prstGeom prst="rect">
            <a:avLst/>
          </a:prstGeom>
          <a:noFill/>
          <a:ln>
            <a:noFill/>
          </a:ln>
        </p:spPr>
        <p:txBody>
          <a:bodyPr spcFirstLastPara="1" wrap="square" lIns="0" tIns="28575" rIns="0" bIns="0" anchor="t" anchorCtr="0">
            <a:spAutoFit/>
          </a:bodyPr>
          <a:lstStyle/>
          <a:p>
            <a:pPr marL="12700" marR="5080" lvl="0" indent="165735" algn="l" rtl="0">
              <a:lnSpc>
                <a:spcPct val="116111"/>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Exact same as NLP Transformer!</a:t>
            </a:r>
            <a:endParaRPr sz="1800" b="0" i="0" u="none" strike="noStrike" cap="none">
              <a:solidFill>
                <a:srgbClr val="000000"/>
              </a:solidFill>
              <a:latin typeface="Calibri"/>
              <a:ea typeface="Calibri"/>
              <a:cs typeface="Calibri"/>
              <a:sym typeface="Calibri"/>
            </a:endParaRPr>
          </a:p>
        </p:txBody>
      </p:sp>
      <p:grpSp>
        <p:nvGrpSpPr>
          <p:cNvPr id="1763" name="Google Shape;1763;p30"/>
          <p:cNvGrpSpPr/>
          <p:nvPr/>
        </p:nvGrpSpPr>
        <p:grpSpPr>
          <a:xfrm>
            <a:off x="9843405" y="3627475"/>
            <a:ext cx="130175" cy="431165"/>
            <a:chOff x="9843405" y="3627475"/>
            <a:chExt cx="130175" cy="431165"/>
          </a:xfrm>
        </p:grpSpPr>
        <p:sp>
          <p:nvSpPr>
            <p:cNvPr id="1764" name="Google Shape;1764;p30"/>
            <p:cNvSpPr/>
            <p:nvPr/>
          </p:nvSpPr>
          <p:spPr>
            <a:xfrm>
              <a:off x="9843405"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8FAAD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65" name="Google Shape;1765;p30"/>
            <p:cNvSpPr/>
            <p:nvPr/>
          </p:nvSpPr>
          <p:spPr>
            <a:xfrm>
              <a:off x="984340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66" name="Google Shape;1766;p30"/>
          <p:cNvGrpSpPr/>
          <p:nvPr/>
        </p:nvGrpSpPr>
        <p:grpSpPr>
          <a:xfrm>
            <a:off x="9842760" y="1231831"/>
            <a:ext cx="130810" cy="1294223"/>
            <a:chOff x="9842760" y="1231831"/>
            <a:chExt cx="130810" cy="1294223"/>
          </a:xfrm>
        </p:grpSpPr>
        <p:sp>
          <p:nvSpPr>
            <p:cNvPr id="1767" name="Google Shape;1767;p30"/>
            <p:cNvSpPr/>
            <p:nvPr/>
          </p:nvSpPr>
          <p:spPr>
            <a:xfrm>
              <a:off x="9842760"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D96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68" name="Google Shape;1768;p30"/>
            <p:cNvSpPr/>
            <p:nvPr/>
          </p:nvSpPr>
          <p:spPr>
            <a:xfrm>
              <a:off x="9842760"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69" name="Google Shape;1769;p30"/>
            <p:cNvSpPr/>
            <p:nvPr/>
          </p:nvSpPr>
          <p:spPr>
            <a:xfrm>
              <a:off x="9842760" y="1231831"/>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DEEB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0" name="Google Shape;1770;p30"/>
            <p:cNvSpPr/>
            <p:nvPr/>
          </p:nvSpPr>
          <p:spPr>
            <a:xfrm>
              <a:off x="9842760" y="1231831"/>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5B9B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1" name="Google Shape;1771;p30"/>
            <p:cNvSpPr/>
            <p:nvPr/>
          </p:nvSpPr>
          <p:spPr>
            <a:xfrm>
              <a:off x="9869976" y="1661599"/>
              <a:ext cx="76200" cy="434975"/>
            </a:xfrm>
            <a:custGeom>
              <a:avLst/>
              <a:gdLst/>
              <a:ahLst/>
              <a:cxnLst/>
              <a:rect l="l" t="t" r="r" b="b"/>
              <a:pathLst>
                <a:path w="76200" h="434975" extrusionOk="0">
                  <a:moveTo>
                    <a:pt x="50800" y="63500"/>
                  </a:moveTo>
                  <a:lnTo>
                    <a:pt x="25400" y="63500"/>
                  </a:lnTo>
                  <a:lnTo>
                    <a:pt x="25400" y="434559"/>
                  </a:lnTo>
                  <a:lnTo>
                    <a:pt x="50800" y="434559"/>
                  </a:lnTo>
                  <a:lnTo>
                    <a:pt x="50800" y="63500"/>
                  </a:lnTo>
                  <a:close/>
                </a:path>
                <a:path w="76200" h="434975" extrusionOk="0">
                  <a:moveTo>
                    <a:pt x="38100" y="0"/>
                  </a:moveTo>
                  <a:lnTo>
                    <a:pt x="0" y="76200"/>
                  </a:lnTo>
                  <a:lnTo>
                    <a:pt x="25400" y="76200"/>
                  </a:lnTo>
                  <a:lnTo>
                    <a:pt x="25400" y="63500"/>
                  </a:lnTo>
                  <a:lnTo>
                    <a:pt x="69850" y="63500"/>
                  </a:lnTo>
                  <a:lnTo>
                    <a:pt x="38100" y="0"/>
                  </a:lnTo>
                  <a:close/>
                </a:path>
                <a:path w="76200" h="434975" extrusionOk="0">
                  <a:moveTo>
                    <a:pt x="69850" y="63500"/>
                  </a:moveTo>
                  <a:lnTo>
                    <a:pt x="50800" y="63500"/>
                  </a:lnTo>
                  <a:lnTo>
                    <a:pt x="50800" y="76200"/>
                  </a:lnTo>
                  <a:lnTo>
                    <a:pt x="76200" y="76200"/>
                  </a:lnTo>
                  <a:lnTo>
                    <a:pt x="69850" y="6350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772" name="Google Shape;1772;p30"/>
          <p:cNvSpPr txBox="1"/>
          <p:nvPr/>
        </p:nvSpPr>
        <p:spPr>
          <a:xfrm>
            <a:off x="10220266" y="3498595"/>
            <a:ext cx="1830070" cy="845819"/>
          </a:xfrm>
          <a:prstGeom prst="rect">
            <a:avLst/>
          </a:prstGeom>
          <a:noFill/>
          <a:ln>
            <a:noFill/>
          </a:ln>
        </p:spPr>
        <p:txBody>
          <a:bodyPr spcFirstLastPara="1" wrap="square" lIns="0" tIns="13950" rIns="0" bIns="0" anchor="t" anchorCtr="0">
            <a:spAutoFit/>
          </a:bodyPr>
          <a:lstStyle/>
          <a:p>
            <a:pPr marL="12700" marR="5080" lvl="0" indent="0" algn="just"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Special extra input: </a:t>
            </a:r>
            <a:r>
              <a:rPr lang="en-US" sz="1800" b="1" i="0" u="none" strike="noStrike" cap="none">
                <a:solidFill>
                  <a:srgbClr val="000000"/>
                </a:solidFill>
                <a:latin typeface="Calibri"/>
                <a:ea typeface="Calibri"/>
                <a:cs typeface="Calibri"/>
                <a:sym typeface="Calibri"/>
              </a:rPr>
              <a:t>classification token </a:t>
            </a:r>
            <a:r>
              <a:rPr lang="en-US" sz="1800" b="0" i="0" u="none" strike="noStrike" cap="none">
                <a:solidFill>
                  <a:srgbClr val="000000"/>
                </a:solidFill>
                <a:latin typeface="Calibri"/>
                <a:ea typeface="Calibri"/>
                <a:cs typeface="Calibri"/>
                <a:sym typeface="Calibri"/>
              </a:rPr>
              <a:t>(D dims, learned)</a:t>
            </a:r>
            <a:endParaRPr sz="1800" b="0" i="0" u="none" strike="noStrike" cap="none">
              <a:solidFill>
                <a:srgbClr val="000000"/>
              </a:solidFill>
              <a:latin typeface="Calibri"/>
              <a:ea typeface="Calibri"/>
              <a:cs typeface="Calibri"/>
              <a:sym typeface="Calibri"/>
            </a:endParaRPr>
          </a:p>
        </p:txBody>
      </p:sp>
      <p:grpSp>
        <p:nvGrpSpPr>
          <p:cNvPr id="1773" name="Google Shape;1773;p30"/>
          <p:cNvGrpSpPr/>
          <p:nvPr/>
        </p:nvGrpSpPr>
        <p:grpSpPr>
          <a:xfrm>
            <a:off x="2959741" y="3627475"/>
            <a:ext cx="130175" cy="431165"/>
            <a:chOff x="2959741" y="3627475"/>
            <a:chExt cx="130175" cy="431165"/>
          </a:xfrm>
        </p:grpSpPr>
        <p:sp>
          <p:nvSpPr>
            <p:cNvPr id="1774" name="Google Shape;1774;p30"/>
            <p:cNvSpPr/>
            <p:nvPr/>
          </p:nvSpPr>
          <p:spPr>
            <a:xfrm>
              <a:off x="2959741"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5" name="Google Shape;1775;p30"/>
            <p:cNvSpPr/>
            <p:nvPr/>
          </p:nvSpPr>
          <p:spPr>
            <a:xfrm>
              <a:off x="295974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76" name="Google Shape;1776;p30"/>
          <p:cNvGrpSpPr/>
          <p:nvPr/>
        </p:nvGrpSpPr>
        <p:grpSpPr>
          <a:xfrm>
            <a:off x="3735962" y="3631266"/>
            <a:ext cx="130175" cy="431165"/>
            <a:chOff x="3735962" y="3631266"/>
            <a:chExt cx="130175" cy="431165"/>
          </a:xfrm>
        </p:grpSpPr>
        <p:sp>
          <p:nvSpPr>
            <p:cNvPr id="1777" name="Google Shape;1777;p30"/>
            <p:cNvSpPr/>
            <p:nvPr/>
          </p:nvSpPr>
          <p:spPr>
            <a:xfrm>
              <a:off x="3735962"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8" name="Google Shape;1778;p30"/>
            <p:cNvSpPr/>
            <p:nvPr/>
          </p:nvSpPr>
          <p:spPr>
            <a:xfrm>
              <a:off x="3735962"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79" name="Google Shape;1779;p30"/>
          <p:cNvGrpSpPr/>
          <p:nvPr/>
        </p:nvGrpSpPr>
        <p:grpSpPr>
          <a:xfrm>
            <a:off x="4512184" y="3627475"/>
            <a:ext cx="130175" cy="431165"/>
            <a:chOff x="4512184" y="3627475"/>
            <a:chExt cx="130175" cy="431165"/>
          </a:xfrm>
        </p:grpSpPr>
        <p:sp>
          <p:nvSpPr>
            <p:cNvPr id="1780" name="Google Shape;1780;p30"/>
            <p:cNvSpPr/>
            <p:nvPr/>
          </p:nvSpPr>
          <p:spPr>
            <a:xfrm>
              <a:off x="4512184"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81" name="Google Shape;1781;p30"/>
            <p:cNvSpPr/>
            <p:nvPr/>
          </p:nvSpPr>
          <p:spPr>
            <a:xfrm>
              <a:off x="4512184"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82" name="Google Shape;1782;p30"/>
          <p:cNvGrpSpPr/>
          <p:nvPr/>
        </p:nvGrpSpPr>
        <p:grpSpPr>
          <a:xfrm>
            <a:off x="5289456" y="3631266"/>
            <a:ext cx="130175" cy="431165"/>
            <a:chOff x="5289456" y="3631266"/>
            <a:chExt cx="130175" cy="431165"/>
          </a:xfrm>
        </p:grpSpPr>
        <p:sp>
          <p:nvSpPr>
            <p:cNvPr id="1783" name="Google Shape;1783;p30"/>
            <p:cNvSpPr/>
            <p:nvPr/>
          </p:nvSpPr>
          <p:spPr>
            <a:xfrm>
              <a:off x="5289456"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84" name="Google Shape;1784;p30"/>
            <p:cNvSpPr/>
            <p:nvPr/>
          </p:nvSpPr>
          <p:spPr>
            <a:xfrm>
              <a:off x="5289456"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85" name="Google Shape;1785;p30"/>
          <p:cNvGrpSpPr/>
          <p:nvPr/>
        </p:nvGrpSpPr>
        <p:grpSpPr>
          <a:xfrm>
            <a:off x="6061671" y="3627475"/>
            <a:ext cx="130175" cy="431165"/>
            <a:chOff x="6061671" y="3627475"/>
            <a:chExt cx="130175" cy="431165"/>
          </a:xfrm>
        </p:grpSpPr>
        <p:sp>
          <p:nvSpPr>
            <p:cNvPr id="1786" name="Google Shape;1786;p30"/>
            <p:cNvSpPr/>
            <p:nvPr/>
          </p:nvSpPr>
          <p:spPr>
            <a:xfrm>
              <a:off x="6061671"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87" name="Google Shape;1787;p30"/>
            <p:cNvSpPr/>
            <p:nvPr/>
          </p:nvSpPr>
          <p:spPr>
            <a:xfrm>
              <a:off x="606167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88" name="Google Shape;1788;p30"/>
          <p:cNvGrpSpPr/>
          <p:nvPr/>
        </p:nvGrpSpPr>
        <p:grpSpPr>
          <a:xfrm>
            <a:off x="6848395" y="3627475"/>
            <a:ext cx="130175" cy="431165"/>
            <a:chOff x="6848395" y="3627475"/>
            <a:chExt cx="130175" cy="431165"/>
          </a:xfrm>
        </p:grpSpPr>
        <p:sp>
          <p:nvSpPr>
            <p:cNvPr id="1789" name="Google Shape;1789;p30"/>
            <p:cNvSpPr/>
            <p:nvPr/>
          </p:nvSpPr>
          <p:spPr>
            <a:xfrm>
              <a:off x="6848395"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90" name="Google Shape;1790;p30"/>
            <p:cNvSpPr/>
            <p:nvPr/>
          </p:nvSpPr>
          <p:spPr>
            <a:xfrm>
              <a:off x="684839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91" name="Google Shape;1791;p30"/>
          <p:cNvGrpSpPr/>
          <p:nvPr/>
        </p:nvGrpSpPr>
        <p:grpSpPr>
          <a:xfrm>
            <a:off x="7615777" y="3627475"/>
            <a:ext cx="130175" cy="431165"/>
            <a:chOff x="7615777" y="3627475"/>
            <a:chExt cx="130175" cy="431165"/>
          </a:xfrm>
        </p:grpSpPr>
        <p:sp>
          <p:nvSpPr>
            <p:cNvPr id="1792" name="Google Shape;1792;p30"/>
            <p:cNvSpPr/>
            <p:nvPr/>
          </p:nvSpPr>
          <p:spPr>
            <a:xfrm>
              <a:off x="7615777"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93" name="Google Shape;1793;p30"/>
            <p:cNvSpPr/>
            <p:nvPr/>
          </p:nvSpPr>
          <p:spPr>
            <a:xfrm>
              <a:off x="7615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94" name="Google Shape;1794;p30"/>
          <p:cNvGrpSpPr/>
          <p:nvPr/>
        </p:nvGrpSpPr>
        <p:grpSpPr>
          <a:xfrm>
            <a:off x="8391777" y="3627475"/>
            <a:ext cx="130175" cy="431165"/>
            <a:chOff x="8391777" y="3627475"/>
            <a:chExt cx="130175" cy="431165"/>
          </a:xfrm>
        </p:grpSpPr>
        <p:sp>
          <p:nvSpPr>
            <p:cNvPr id="1795" name="Google Shape;1795;p30"/>
            <p:cNvSpPr/>
            <p:nvPr/>
          </p:nvSpPr>
          <p:spPr>
            <a:xfrm>
              <a:off x="8391777"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96" name="Google Shape;1796;p30"/>
            <p:cNvSpPr/>
            <p:nvPr/>
          </p:nvSpPr>
          <p:spPr>
            <a:xfrm>
              <a:off x="8391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97" name="Google Shape;1797;p30"/>
          <p:cNvGrpSpPr/>
          <p:nvPr/>
        </p:nvGrpSpPr>
        <p:grpSpPr>
          <a:xfrm>
            <a:off x="9168528" y="3627475"/>
            <a:ext cx="130175" cy="431165"/>
            <a:chOff x="9168528" y="3627475"/>
            <a:chExt cx="130175" cy="431165"/>
          </a:xfrm>
        </p:grpSpPr>
        <p:sp>
          <p:nvSpPr>
            <p:cNvPr id="1798" name="Google Shape;1798;p30"/>
            <p:cNvSpPr/>
            <p:nvPr/>
          </p:nvSpPr>
          <p:spPr>
            <a:xfrm>
              <a:off x="9168528"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99" name="Google Shape;1799;p30"/>
            <p:cNvSpPr/>
            <p:nvPr/>
          </p:nvSpPr>
          <p:spPr>
            <a:xfrm>
              <a:off x="9168528"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800" name="Google Shape;1800;p30"/>
          <p:cNvSpPr txBox="1"/>
          <p:nvPr/>
        </p:nvSpPr>
        <p:spPr>
          <a:xfrm>
            <a:off x="2936516" y="4004564"/>
            <a:ext cx="638429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	+	+	+	+	+	+	+	+</a:t>
            </a:r>
            <a:endParaRPr sz="2400" b="0" i="0" u="none" strike="noStrike" cap="none">
              <a:solidFill>
                <a:srgbClr val="000000"/>
              </a:solidFill>
              <a:latin typeface="Calibri"/>
              <a:ea typeface="Calibri"/>
              <a:cs typeface="Calibri"/>
              <a:sym typeface="Calibri"/>
            </a:endParaRPr>
          </a:p>
        </p:txBody>
      </p:sp>
      <p:sp>
        <p:nvSpPr>
          <p:cNvPr id="1801" name="Google Shape;1801;p30"/>
          <p:cNvSpPr txBox="1"/>
          <p:nvPr/>
        </p:nvSpPr>
        <p:spPr>
          <a:xfrm>
            <a:off x="10345797" y="1160779"/>
            <a:ext cx="1602740" cy="1125855"/>
          </a:xfrm>
          <a:prstGeom prst="rect">
            <a:avLst/>
          </a:prstGeom>
          <a:noFill/>
          <a:ln>
            <a:noFill/>
          </a:ln>
        </p:spPr>
        <p:txBody>
          <a:bodyPr spcFirstLastPara="1" wrap="square" lIns="0" tIns="11425" rIns="0" bIns="0" anchor="t" anchorCtr="0">
            <a:spAutoFit/>
          </a:bodyPr>
          <a:lstStyle/>
          <a:p>
            <a:pPr marL="12700" marR="5080" lvl="0" indent="0" algn="l" rtl="0">
              <a:lnSpc>
                <a:spcPct val="100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 C-dim vector of predicted class scores</a:t>
            </a:r>
            <a:endParaRPr sz="1800" b="0" i="0" u="none" strike="noStrike" cap="none">
              <a:solidFill>
                <a:srgbClr val="000000"/>
              </a:solidFill>
              <a:latin typeface="Calibri"/>
              <a:ea typeface="Calibri"/>
              <a:cs typeface="Calibri"/>
              <a:sym typeface="Calibri"/>
            </a:endParaRPr>
          </a:p>
        </p:txBody>
      </p:sp>
      <p:grpSp>
        <p:nvGrpSpPr>
          <p:cNvPr id="1802" name="Google Shape;1802;p30"/>
          <p:cNvGrpSpPr/>
          <p:nvPr/>
        </p:nvGrpSpPr>
        <p:grpSpPr>
          <a:xfrm>
            <a:off x="2535941" y="2675707"/>
            <a:ext cx="7881620" cy="769620"/>
            <a:chOff x="2535941" y="2675707"/>
            <a:chExt cx="7881620" cy="769620"/>
          </a:xfrm>
        </p:grpSpPr>
        <p:sp>
          <p:nvSpPr>
            <p:cNvPr id="1803" name="Google Shape;1803;p30"/>
            <p:cNvSpPr/>
            <p:nvPr/>
          </p:nvSpPr>
          <p:spPr>
            <a:xfrm>
              <a:off x="2535941" y="2675707"/>
              <a:ext cx="7881620" cy="769620"/>
            </a:xfrm>
            <a:custGeom>
              <a:avLst/>
              <a:gdLst/>
              <a:ahLst/>
              <a:cxnLst/>
              <a:rect l="l" t="t" r="r" b="b"/>
              <a:pathLst>
                <a:path w="7881620" h="769620" extrusionOk="0">
                  <a:moveTo>
                    <a:pt x="7753038" y="0"/>
                  </a:moveTo>
                  <a:lnTo>
                    <a:pt x="128234" y="0"/>
                  </a:lnTo>
                  <a:lnTo>
                    <a:pt x="78319" y="10077"/>
                  </a:lnTo>
                  <a:lnTo>
                    <a:pt x="37559" y="37559"/>
                  </a:lnTo>
                  <a:lnTo>
                    <a:pt x="10077" y="78319"/>
                  </a:lnTo>
                  <a:lnTo>
                    <a:pt x="0" y="128234"/>
                  </a:lnTo>
                  <a:lnTo>
                    <a:pt x="0" y="641184"/>
                  </a:lnTo>
                  <a:lnTo>
                    <a:pt x="10077" y="691099"/>
                  </a:lnTo>
                  <a:lnTo>
                    <a:pt x="37559" y="731860"/>
                  </a:lnTo>
                  <a:lnTo>
                    <a:pt x="78319" y="759341"/>
                  </a:lnTo>
                  <a:lnTo>
                    <a:pt x="128234" y="769419"/>
                  </a:lnTo>
                  <a:lnTo>
                    <a:pt x="7753038" y="769419"/>
                  </a:lnTo>
                  <a:lnTo>
                    <a:pt x="7802953" y="759341"/>
                  </a:lnTo>
                  <a:lnTo>
                    <a:pt x="7843714" y="731860"/>
                  </a:lnTo>
                  <a:lnTo>
                    <a:pt x="7871196" y="691099"/>
                  </a:lnTo>
                  <a:lnTo>
                    <a:pt x="7881273" y="641184"/>
                  </a:lnTo>
                  <a:lnTo>
                    <a:pt x="7881273" y="128234"/>
                  </a:lnTo>
                  <a:lnTo>
                    <a:pt x="7871196" y="78319"/>
                  </a:lnTo>
                  <a:lnTo>
                    <a:pt x="7843714" y="37559"/>
                  </a:lnTo>
                  <a:lnTo>
                    <a:pt x="7802953" y="10077"/>
                  </a:lnTo>
                  <a:lnTo>
                    <a:pt x="7753038" y="0"/>
                  </a:lnTo>
                  <a:close/>
                </a:path>
              </a:pathLst>
            </a:custGeom>
            <a:solidFill>
              <a:srgbClr val="E2F0D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04" name="Google Shape;1804;p30"/>
            <p:cNvSpPr/>
            <p:nvPr/>
          </p:nvSpPr>
          <p:spPr>
            <a:xfrm>
              <a:off x="2535941" y="2675707"/>
              <a:ext cx="7881620" cy="769620"/>
            </a:xfrm>
            <a:custGeom>
              <a:avLst/>
              <a:gdLst/>
              <a:ahLst/>
              <a:cxnLst/>
              <a:rect l="l" t="t" r="r" b="b"/>
              <a:pathLst>
                <a:path w="7881620" h="769620" extrusionOk="0">
                  <a:moveTo>
                    <a:pt x="0" y="128235"/>
                  </a:moveTo>
                  <a:lnTo>
                    <a:pt x="10077" y="78320"/>
                  </a:lnTo>
                  <a:lnTo>
                    <a:pt x="37559" y="37559"/>
                  </a:lnTo>
                  <a:lnTo>
                    <a:pt x="78319" y="10077"/>
                  </a:lnTo>
                  <a:lnTo>
                    <a:pt x="128234" y="0"/>
                  </a:lnTo>
                  <a:lnTo>
                    <a:pt x="7753040" y="0"/>
                  </a:lnTo>
                  <a:lnTo>
                    <a:pt x="7802954" y="10077"/>
                  </a:lnTo>
                  <a:lnTo>
                    <a:pt x="7843714" y="37559"/>
                  </a:lnTo>
                  <a:lnTo>
                    <a:pt x="7871196" y="78320"/>
                  </a:lnTo>
                  <a:lnTo>
                    <a:pt x="7881274" y="128235"/>
                  </a:lnTo>
                  <a:lnTo>
                    <a:pt x="7881274" y="641184"/>
                  </a:lnTo>
                  <a:lnTo>
                    <a:pt x="7871196" y="691099"/>
                  </a:lnTo>
                  <a:lnTo>
                    <a:pt x="7843714" y="731860"/>
                  </a:lnTo>
                  <a:lnTo>
                    <a:pt x="7802954" y="759342"/>
                  </a:lnTo>
                  <a:lnTo>
                    <a:pt x="7753040" y="769420"/>
                  </a:lnTo>
                  <a:lnTo>
                    <a:pt x="128234" y="769420"/>
                  </a:lnTo>
                  <a:lnTo>
                    <a:pt x="78319" y="759342"/>
                  </a:lnTo>
                  <a:lnTo>
                    <a:pt x="37559" y="731860"/>
                  </a:lnTo>
                  <a:lnTo>
                    <a:pt x="10077" y="691099"/>
                  </a:lnTo>
                  <a:lnTo>
                    <a:pt x="0" y="641184"/>
                  </a:lnTo>
                  <a:lnTo>
                    <a:pt x="0" y="128235"/>
                  </a:lnTo>
                  <a:close/>
                </a:path>
              </a:pathLst>
            </a:custGeom>
            <a:noFill/>
            <a:ln w="12700" cap="flat" cmpd="sng">
              <a:solidFill>
                <a:srgbClr val="70AD47"/>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805" name="Google Shape;1805;p30"/>
          <p:cNvSpPr txBox="1"/>
          <p:nvPr/>
        </p:nvSpPr>
        <p:spPr>
          <a:xfrm>
            <a:off x="5585417" y="2807715"/>
            <a:ext cx="178308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Transformer</a:t>
            </a:r>
            <a:endParaRPr sz="2800" b="0" i="0" u="none" strike="noStrike" cap="none">
              <a:solidFill>
                <a:srgbClr val="000000"/>
              </a:solidFill>
              <a:latin typeface="Calibri"/>
              <a:ea typeface="Calibri"/>
              <a:cs typeface="Calibri"/>
              <a:sym typeface="Calibri"/>
            </a:endParaRPr>
          </a:p>
        </p:txBody>
      </p:sp>
      <p:sp>
        <p:nvSpPr>
          <p:cNvPr id="1806" name="Google Shape;1806;p30"/>
          <p:cNvSpPr txBox="1"/>
          <p:nvPr/>
        </p:nvSpPr>
        <p:spPr>
          <a:xfrm>
            <a:off x="276038" y="4817126"/>
            <a:ext cx="2040889" cy="1021080"/>
          </a:xfrm>
          <a:prstGeom prst="rect">
            <a:avLst/>
          </a:prstGeom>
          <a:noFill/>
          <a:ln>
            <a:noFill/>
          </a:ln>
        </p:spPr>
        <p:txBody>
          <a:bodyPr spcFirstLastPara="1" wrap="square" lIns="0" tIns="1250" rIns="0" bIns="0" anchor="t" anchorCtr="0">
            <a:spAutoFit/>
          </a:bodyPr>
          <a:lstStyle/>
          <a:p>
            <a:pPr marL="17145"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D-dimensional vector</a:t>
            </a:r>
            <a:endParaRPr sz="1800" b="0" i="0" u="none" strike="noStrike" cap="none">
              <a:solidFill>
                <a:srgbClr val="000000"/>
              </a:solidFill>
              <a:latin typeface="Calibri"/>
              <a:ea typeface="Calibri"/>
              <a:cs typeface="Calibri"/>
              <a:sym typeface="Calibri"/>
            </a:endParaRPr>
          </a:p>
          <a:p>
            <a:pPr marL="12700" marR="5080" lvl="0" indent="0" algn="l" rtl="0">
              <a:lnSpc>
                <a:spcPct val="117222"/>
              </a:lnSpc>
              <a:spcBef>
                <a:spcPts val="148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N input patches, each of shape 3x16x16</a:t>
            </a:r>
            <a:endParaRPr sz="1800" b="0" i="0" u="none" strike="noStrike" cap="none">
              <a:solidFill>
                <a:srgbClr val="000000"/>
              </a:solidFill>
              <a:latin typeface="Calibri"/>
              <a:ea typeface="Calibri"/>
              <a:cs typeface="Calibri"/>
              <a:sym typeface="Calibri"/>
            </a:endParaRPr>
          </a:p>
        </p:txBody>
      </p:sp>
      <p:sp>
        <p:nvSpPr>
          <p:cNvPr id="1807" name="Google Shape;1807;p30"/>
          <p:cNvSpPr txBox="1"/>
          <p:nvPr/>
        </p:nvSpPr>
        <p:spPr>
          <a:xfrm>
            <a:off x="10251213" y="5962476"/>
            <a:ext cx="1861185" cy="375920"/>
          </a:xfrm>
          <a:prstGeom prst="rect">
            <a:avLst/>
          </a:prstGeom>
          <a:noFill/>
          <a:ln>
            <a:noFill/>
          </a:ln>
        </p:spPr>
        <p:txBody>
          <a:bodyPr spcFirstLastPara="1" wrap="square" lIns="0" tIns="1250" rIns="0" bIns="0" anchor="t" anchorCtr="0">
            <a:spAutoFit/>
          </a:bodyPr>
          <a:lstStyle/>
          <a:p>
            <a:pPr marL="296545" marR="5080" lvl="0" indent="-284480" algn="l" rtl="0">
              <a:lnSpc>
                <a:spcPct val="129090"/>
              </a:lnSpc>
              <a:spcBef>
                <a:spcPts val="0"/>
              </a:spcBef>
              <a:spcAft>
                <a:spcPts val="0"/>
              </a:spcAft>
              <a:buClr>
                <a:srgbClr val="0563C1"/>
              </a:buClr>
              <a:buSzPts val="1100"/>
              <a:buFont typeface="Arial"/>
              <a:buNone/>
            </a:pPr>
            <a:r>
              <a:rPr lang="en-US" sz="1100" b="0" i="0" u="sng" strike="noStrike" cap="none">
                <a:solidFill>
                  <a:srgbClr val="0563C1"/>
                </a:solidFill>
                <a:latin typeface="Calibri"/>
                <a:ea typeface="Calibri"/>
                <a:cs typeface="Calibri"/>
                <a:sym typeface="Calibri"/>
              </a:rPr>
              <a:t>Cat image</a:t>
            </a:r>
            <a:r>
              <a:rPr lang="en-US" sz="1100" b="0" i="0" u="none" strike="noStrike" cap="none">
                <a:solidFill>
                  <a:srgbClr val="0563C1"/>
                </a:solidFill>
                <a:latin typeface="Calibri"/>
                <a:ea typeface="Calibri"/>
                <a:cs typeface="Calibri"/>
                <a:sym typeface="Calibri"/>
              </a:rPr>
              <a:t> </a:t>
            </a:r>
            <a:r>
              <a:rPr lang="en-US" sz="1100" b="0" i="0" u="none" strike="noStrike" cap="none">
                <a:solidFill>
                  <a:srgbClr val="000000"/>
                </a:solidFill>
                <a:latin typeface="Calibri"/>
                <a:ea typeface="Calibri"/>
                <a:cs typeface="Calibri"/>
                <a:sym typeface="Calibri"/>
              </a:rPr>
              <a:t>is free for commercial use under a </a:t>
            </a:r>
            <a:r>
              <a:rPr lang="en-US" sz="1100" b="0" i="0" u="sng" strike="noStrike" cap="none">
                <a:solidFill>
                  <a:srgbClr val="0563C1"/>
                </a:solidFill>
                <a:latin typeface="Calibri"/>
                <a:ea typeface="Calibri"/>
                <a:cs typeface="Calibri"/>
                <a:sym typeface="Calibri"/>
              </a:rPr>
              <a:t>Pixabay license</a:t>
            </a:r>
            <a:endParaRPr sz="1100" b="0" i="0" u="none" strike="noStrike" cap="none">
              <a:solidFill>
                <a:srgbClr val="000000"/>
              </a:solidFill>
              <a:latin typeface="Calibri"/>
              <a:ea typeface="Calibri"/>
              <a:cs typeface="Calibri"/>
              <a:sym typeface="Calibri"/>
            </a:endParaRPr>
          </a:p>
        </p:txBody>
      </p:sp>
      <p:sp>
        <p:nvSpPr>
          <p:cNvPr id="1808" name="Google Shape;1808;p30"/>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1809" name="Google Shape;1809;p30"/>
          <p:cNvSpPr txBox="1"/>
          <p:nvPr/>
        </p:nvSpPr>
        <p:spPr>
          <a:xfrm>
            <a:off x="449923" y="931163"/>
            <a:ext cx="3960495" cy="330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70AD47"/>
              </a:buClr>
              <a:buSzPts val="2000"/>
              <a:buFont typeface="Arial"/>
              <a:buNone/>
            </a:pPr>
            <a:r>
              <a:rPr lang="en-US" sz="2000" b="0" i="0" u="none" strike="noStrike" cap="none">
                <a:solidFill>
                  <a:srgbClr val="70AD47"/>
                </a:solidFill>
                <a:latin typeface="Calibri"/>
                <a:ea typeface="Calibri"/>
                <a:cs typeface="Calibri"/>
                <a:sym typeface="Calibri"/>
              </a:rPr>
              <a:t>In practice: take 224x224 input image,</a:t>
            </a:r>
            <a:endParaRPr sz="2000" b="0" i="0" u="none" strike="noStrike" cap="none">
              <a:solidFill>
                <a:srgbClr val="000000"/>
              </a:solidFill>
              <a:latin typeface="Calibri"/>
              <a:ea typeface="Calibri"/>
              <a:cs typeface="Calibri"/>
              <a:sym typeface="Calibri"/>
            </a:endParaRPr>
          </a:p>
        </p:txBody>
      </p:sp>
      <p:sp>
        <p:nvSpPr>
          <p:cNvPr id="1810" name="Google Shape;1810;p30"/>
          <p:cNvSpPr txBox="1"/>
          <p:nvPr/>
        </p:nvSpPr>
        <p:spPr>
          <a:xfrm>
            <a:off x="449923" y="1235964"/>
            <a:ext cx="4213860" cy="63500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Clr>
                <a:srgbClr val="70AD47"/>
              </a:buClr>
              <a:buSzPts val="2000"/>
              <a:buFont typeface="Arial"/>
              <a:buNone/>
            </a:pPr>
            <a:r>
              <a:rPr lang="en-US" sz="2000" b="0" i="0" u="none" strike="noStrike" cap="none">
                <a:solidFill>
                  <a:srgbClr val="70AD47"/>
                </a:solidFill>
                <a:latin typeface="Calibri"/>
                <a:ea typeface="Calibri"/>
                <a:cs typeface="Calibri"/>
                <a:sym typeface="Calibri"/>
              </a:rPr>
              <a:t>divide into 14x14 grid of 16x16 pixel patches (or 16x16 grid of 14x14 patches)</a:t>
            </a:r>
            <a:endParaRPr sz="2000" b="0" i="0" u="none" strike="noStrike" cap="none">
              <a:solidFill>
                <a:srgbClr val="000000"/>
              </a:solidFill>
              <a:latin typeface="Calibri"/>
              <a:ea typeface="Calibri"/>
              <a:cs typeface="Calibri"/>
              <a:sym typeface="Calibri"/>
            </a:endParaRPr>
          </a:p>
        </p:txBody>
      </p:sp>
      <p:sp>
        <p:nvSpPr>
          <p:cNvPr id="1811" name="Google Shape;1811;p30"/>
          <p:cNvSpPr txBox="1"/>
          <p:nvPr/>
        </p:nvSpPr>
        <p:spPr>
          <a:xfrm>
            <a:off x="5081060" y="925067"/>
            <a:ext cx="4035425" cy="939800"/>
          </a:xfrm>
          <a:prstGeom prst="rect">
            <a:avLst/>
          </a:prstGeom>
          <a:noFill/>
          <a:ln>
            <a:noFill/>
          </a:ln>
        </p:spPr>
        <p:txBody>
          <a:bodyPr spcFirstLastPara="1" wrap="square" lIns="0" tIns="12700" rIns="0" bIns="0" anchor="t" anchorCtr="0">
            <a:spAutoFit/>
          </a:bodyPr>
          <a:lstStyle/>
          <a:p>
            <a:pPr marL="38100" marR="30480" lvl="0" indent="0" algn="l" rtl="0">
              <a:lnSpc>
                <a:spcPct val="100000"/>
              </a:lnSpc>
              <a:spcBef>
                <a:spcPts val="0"/>
              </a:spcBef>
              <a:spcAft>
                <a:spcPts val="0"/>
              </a:spcAft>
              <a:buClr>
                <a:srgbClr val="70AD47"/>
              </a:buClr>
              <a:buSzPts val="2000"/>
              <a:buFont typeface="Arial"/>
              <a:buNone/>
            </a:pPr>
            <a:r>
              <a:rPr lang="en-US" sz="2000" b="0" i="0" u="none" strike="noStrike" cap="none">
                <a:solidFill>
                  <a:srgbClr val="70AD47"/>
                </a:solidFill>
                <a:latin typeface="Calibri"/>
                <a:ea typeface="Calibri"/>
                <a:cs typeface="Calibri"/>
                <a:sym typeface="Calibri"/>
              </a:rPr>
              <a:t>Each attention matrix has 14</a:t>
            </a:r>
            <a:r>
              <a:rPr lang="en-US" sz="1950" b="0" i="0" u="none" strike="noStrike" cap="none" baseline="30000">
                <a:solidFill>
                  <a:srgbClr val="70AD47"/>
                </a:solidFill>
                <a:latin typeface="Calibri"/>
                <a:ea typeface="Calibri"/>
                <a:cs typeface="Calibri"/>
                <a:sym typeface="Calibri"/>
              </a:rPr>
              <a:t>4 </a:t>
            </a:r>
            <a:r>
              <a:rPr lang="en-US" sz="2000" b="0" i="0" u="none" strike="noStrike" cap="none">
                <a:solidFill>
                  <a:srgbClr val="70AD47"/>
                </a:solidFill>
                <a:latin typeface="Calibri"/>
                <a:ea typeface="Calibri"/>
                <a:cs typeface="Calibri"/>
                <a:sym typeface="Calibri"/>
              </a:rPr>
              <a:t>= 38,416 entries, takes 150 KB</a:t>
            </a:r>
            <a:endParaRPr sz="2000" b="0" i="0" u="none" strike="noStrike" cap="none">
              <a:solidFill>
                <a:srgbClr val="000000"/>
              </a:solidFill>
              <a:latin typeface="Calibri"/>
              <a:ea typeface="Calibri"/>
              <a:cs typeface="Calibri"/>
              <a:sym typeface="Calibri"/>
            </a:endParaRPr>
          </a:p>
          <a:p>
            <a:pPr marL="38100" marR="0" lvl="0" indent="0" algn="l" rtl="0">
              <a:lnSpc>
                <a:spcPct val="100000"/>
              </a:lnSpc>
              <a:spcBef>
                <a:spcPts val="0"/>
              </a:spcBef>
              <a:spcAft>
                <a:spcPts val="0"/>
              </a:spcAft>
              <a:buClr>
                <a:srgbClr val="70AD47"/>
              </a:buClr>
              <a:buSzPts val="2000"/>
              <a:buFont typeface="Arial"/>
              <a:buNone/>
            </a:pPr>
            <a:r>
              <a:rPr lang="en-US" sz="2000" b="0" i="0" u="none" strike="noStrike" cap="none">
                <a:solidFill>
                  <a:srgbClr val="70AD47"/>
                </a:solidFill>
                <a:latin typeface="Calibri"/>
                <a:ea typeface="Calibri"/>
                <a:cs typeface="Calibri"/>
                <a:sym typeface="Calibri"/>
              </a:rPr>
              <a:t>(or 65,536 entries, takes 256 KB)</a:t>
            </a:r>
            <a:endParaRPr sz="2000" b="0" i="0" u="none" strike="noStrike" cap="none">
              <a:solidFill>
                <a:srgbClr val="000000"/>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815"/>
        <p:cNvGrpSpPr/>
        <p:nvPr/>
      </p:nvGrpSpPr>
      <p:grpSpPr>
        <a:xfrm>
          <a:off x="0" y="0"/>
          <a:ext cx="0" cy="0"/>
          <a:chOff x="0" y="0"/>
          <a:chExt cx="0" cy="0"/>
        </a:xfrm>
      </p:grpSpPr>
      <p:sp>
        <p:nvSpPr>
          <p:cNvPr id="1816" name="Google Shape;1816;p31"/>
          <p:cNvSpPr txBox="1">
            <a:spLocks noGrp="1"/>
          </p:cNvSpPr>
          <p:nvPr>
            <p:ph type="title"/>
          </p:nvPr>
        </p:nvSpPr>
        <p:spPr>
          <a:xfrm>
            <a:off x="978290" y="332739"/>
            <a:ext cx="10493100" cy="628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a:t>
            </a:r>
            <a:endParaRPr/>
          </a:p>
        </p:txBody>
      </p:sp>
      <p:grpSp>
        <p:nvGrpSpPr>
          <p:cNvPr id="1817" name="Google Shape;1817;p31"/>
          <p:cNvGrpSpPr/>
          <p:nvPr/>
        </p:nvGrpSpPr>
        <p:grpSpPr>
          <a:xfrm>
            <a:off x="2535941" y="4400222"/>
            <a:ext cx="683958" cy="1475057"/>
            <a:chOff x="2535941" y="4400222"/>
            <a:chExt cx="683958" cy="1475057"/>
          </a:xfrm>
        </p:grpSpPr>
        <p:sp>
          <p:nvSpPr>
            <p:cNvPr id="1818" name="Google Shape;1818;p31"/>
            <p:cNvSpPr/>
            <p:nvPr/>
          </p:nvSpPr>
          <p:spPr>
            <a:xfrm>
              <a:off x="2802577"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19" name="Google Shape;1819;p31"/>
            <p:cNvSpPr/>
            <p:nvPr/>
          </p:nvSpPr>
          <p:spPr>
            <a:xfrm>
              <a:off x="2802577"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20" name="Google Shape;1820;p31"/>
            <p:cNvSpPr/>
            <p:nvPr/>
          </p:nvSpPr>
          <p:spPr>
            <a:xfrm>
              <a:off x="2829572" y="4831110"/>
              <a:ext cx="76200" cy="404495"/>
            </a:xfrm>
            <a:custGeom>
              <a:avLst/>
              <a:gdLst/>
              <a:ahLst/>
              <a:cxnLst/>
              <a:rect l="l" t="t" r="r" b="b"/>
              <a:pathLst>
                <a:path w="76200" h="404495" extrusionOk="0">
                  <a:moveTo>
                    <a:pt x="50799" y="76183"/>
                  </a:moveTo>
                  <a:lnTo>
                    <a:pt x="25399" y="76217"/>
                  </a:lnTo>
                  <a:lnTo>
                    <a:pt x="25840" y="404106"/>
                  </a:lnTo>
                  <a:lnTo>
                    <a:pt x="51240" y="404072"/>
                  </a:lnTo>
                  <a:lnTo>
                    <a:pt x="50799" y="76183"/>
                  </a:lnTo>
                  <a:close/>
                </a:path>
                <a:path w="76200" h="404495" extrusionOk="0">
                  <a:moveTo>
                    <a:pt x="37997" y="0"/>
                  </a:moveTo>
                  <a:lnTo>
                    <a:pt x="0" y="76252"/>
                  </a:lnTo>
                  <a:lnTo>
                    <a:pt x="25399" y="76217"/>
                  </a:lnTo>
                  <a:lnTo>
                    <a:pt x="25382" y="63517"/>
                  </a:lnTo>
                  <a:lnTo>
                    <a:pt x="69845" y="63483"/>
                  </a:lnTo>
                  <a:lnTo>
                    <a:pt x="37997" y="0"/>
                  </a:lnTo>
                  <a:close/>
                </a:path>
                <a:path w="76200" h="404495" extrusionOk="0">
                  <a:moveTo>
                    <a:pt x="50782" y="63483"/>
                  </a:moveTo>
                  <a:lnTo>
                    <a:pt x="25382" y="63517"/>
                  </a:lnTo>
                  <a:lnTo>
                    <a:pt x="25399" y="76217"/>
                  </a:lnTo>
                  <a:lnTo>
                    <a:pt x="50799" y="76183"/>
                  </a:lnTo>
                  <a:lnTo>
                    <a:pt x="50782" y="63483"/>
                  </a:lnTo>
                  <a:close/>
                </a:path>
                <a:path w="76200" h="404495" extrusionOk="0">
                  <a:moveTo>
                    <a:pt x="69845" y="63483"/>
                  </a:moveTo>
                  <a:lnTo>
                    <a:pt x="50782" y="63483"/>
                  </a:lnTo>
                  <a:lnTo>
                    <a:pt x="50799" y="76183"/>
                  </a:lnTo>
                  <a:lnTo>
                    <a:pt x="76200" y="76149"/>
                  </a:lnTo>
                  <a:lnTo>
                    <a:pt x="69845" y="6348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821" name="Google Shape;1821;p31"/>
            <p:cNvPicPr preferRelativeResize="0"/>
            <p:nvPr/>
          </p:nvPicPr>
          <p:blipFill rotWithShape="1">
            <a:blip r:embed="rId3">
              <a:alphaModFix/>
            </a:blip>
            <a:srcRect/>
            <a:stretch/>
          </p:blipFill>
          <p:spPr>
            <a:xfrm>
              <a:off x="2535941" y="5235200"/>
              <a:ext cx="639705" cy="640079"/>
            </a:xfrm>
            <a:prstGeom prst="rect">
              <a:avLst/>
            </a:prstGeom>
            <a:noFill/>
            <a:ln>
              <a:noFill/>
            </a:ln>
          </p:spPr>
        </p:pic>
        <p:sp>
          <p:nvSpPr>
            <p:cNvPr id="1822" name="Google Shape;1822;p31"/>
            <p:cNvSpPr/>
            <p:nvPr/>
          </p:nvSpPr>
          <p:spPr>
            <a:xfrm>
              <a:off x="3089724"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23" name="Google Shape;1823;p31"/>
            <p:cNvSpPr/>
            <p:nvPr/>
          </p:nvSpPr>
          <p:spPr>
            <a:xfrm>
              <a:off x="3089724"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824" name="Google Shape;1824;p31"/>
          <p:cNvGrpSpPr/>
          <p:nvPr/>
        </p:nvGrpSpPr>
        <p:grpSpPr>
          <a:xfrm>
            <a:off x="3312686" y="4404013"/>
            <a:ext cx="683436" cy="1471266"/>
            <a:chOff x="3312686" y="4404013"/>
            <a:chExt cx="683436" cy="1471266"/>
          </a:xfrm>
        </p:grpSpPr>
        <p:sp>
          <p:nvSpPr>
            <p:cNvPr id="1825" name="Google Shape;1825;p31"/>
            <p:cNvSpPr/>
            <p:nvPr/>
          </p:nvSpPr>
          <p:spPr>
            <a:xfrm>
              <a:off x="3578800" y="4404013"/>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26" name="Google Shape;1826;p31"/>
            <p:cNvSpPr/>
            <p:nvPr/>
          </p:nvSpPr>
          <p:spPr>
            <a:xfrm>
              <a:off x="3578800"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27" name="Google Shape;1827;p31"/>
            <p:cNvSpPr/>
            <p:nvPr/>
          </p:nvSpPr>
          <p:spPr>
            <a:xfrm>
              <a:off x="3605753" y="4834901"/>
              <a:ext cx="76200" cy="400685"/>
            </a:xfrm>
            <a:custGeom>
              <a:avLst/>
              <a:gdLst/>
              <a:ahLst/>
              <a:cxnLst/>
              <a:rect l="l" t="t" r="r" b="b"/>
              <a:pathLst>
                <a:path w="76200" h="400685" extrusionOk="0">
                  <a:moveTo>
                    <a:pt x="50800" y="76190"/>
                  </a:moveTo>
                  <a:lnTo>
                    <a:pt x="25400" y="76211"/>
                  </a:lnTo>
                  <a:lnTo>
                    <a:pt x="25660" y="400309"/>
                  </a:lnTo>
                  <a:lnTo>
                    <a:pt x="51060" y="400288"/>
                  </a:lnTo>
                  <a:lnTo>
                    <a:pt x="50800" y="76190"/>
                  </a:lnTo>
                  <a:close/>
                </a:path>
                <a:path w="76200" h="400685" extrusionOk="0">
                  <a:moveTo>
                    <a:pt x="38037" y="0"/>
                  </a:moveTo>
                  <a:lnTo>
                    <a:pt x="0" y="76231"/>
                  </a:lnTo>
                  <a:lnTo>
                    <a:pt x="25400" y="76211"/>
                  </a:lnTo>
                  <a:lnTo>
                    <a:pt x="25389" y="63510"/>
                  </a:lnTo>
                  <a:lnTo>
                    <a:pt x="69847" y="63489"/>
                  </a:lnTo>
                  <a:lnTo>
                    <a:pt x="38037"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828" name="Google Shape;1828;p31"/>
            <p:cNvPicPr preferRelativeResize="0"/>
            <p:nvPr/>
          </p:nvPicPr>
          <p:blipFill rotWithShape="1">
            <a:blip r:embed="rId4">
              <a:alphaModFix/>
            </a:blip>
            <a:srcRect/>
            <a:stretch/>
          </p:blipFill>
          <p:spPr>
            <a:xfrm>
              <a:off x="3312686" y="5235200"/>
              <a:ext cx="639705" cy="640079"/>
            </a:xfrm>
            <a:prstGeom prst="rect">
              <a:avLst/>
            </a:prstGeom>
            <a:noFill/>
            <a:ln>
              <a:noFill/>
            </a:ln>
          </p:spPr>
        </p:pic>
        <p:sp>
          <p:nvSpPr>
            <p:cNvPr id="1829" name="Google Shape;1829;p31"/>
            <p:cNvSpPr/>
            <p:nvPr/>
          </p:nvSpPr>
          <p:spPr>
            <a:xfrm>
              <a:off x="3865947" y="440599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30" name="Google Shape;1830;p31"/>
            <p:cNvSpPr/>
            <p:nvPr/>
          </p:nvSpPr>
          <p:spPr>
            <a:xfrm>
              <a:off x="3865947"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831" name="Google Shape;1831;p31"/>
          <p:cNvGrpSpPr/>
          <p:nvPr/>
        </p:nvGrpSpPr>
        <p:grpSpPr>
          <a:xfrm>
            <a:off x="4089432" y="4400222"/>
            <a:ext cx="682911" cy="1475057"/>
            <a:chOff x="4089432" y="4400222"/>
            <a:chExt cx="682911" cy="1475057"/>
          </a:xfrm>
        </p:grpSpPr>
        <p:sp>
          <p:nvSpPr>
            <p:cNvPr id="1832" name="Google Shape;1832;p31"/>
            <p:cNvSpPr/>
            <p:nvPr/>
          </p:nvSpPr>
          <p:spPr>
            <a:xfrm>
              <a:off x="4355021"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33" name="Google Shape;1833;p31"/>
            <p:cNvSpPr/>
            <p:nvPr/>
          </p:nvSpPr>
          <p:spPr>
            <a:xfrm>
              <a:off x="4355021"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34" name="Google Shape;1834;p31"/>
            <p:cNvSpPr/>
            <p:nvPr/>
          </p:nvSpPr>
          <p:spPr>
            <a:xfrm>
              <a:off x="4382073" y="4831110"/>
              <a:ext cx="76200" cy="404495"/>
            </a:xfrm>
            <a:custGeom>
              <a:avLst/>
              <a:gdLst/>
              <a:ahLst/>
              <a:cxnLst/>
              <a:rect l="l" t="t" r="r" b="b"/>
              <a:pathLst>
                <a:path w="76200" h="404495" extrusionOk="0">
                  <a:moveTo>
                    <a:pt x="50799" y="76173"/>
                  </a:moveTo>
                  <a:lnTo>
                    <a:pt x="25399" y="76226"/>
                  </a:lnTo>
                  <a:lnTo>
                    <a:pt x="26087" y="404116"/>
                  </a:lnTo>
                  <a:lnTo>
                    <a:pt x="51487" y="404063"/>
                  </a:lnTo>
                  <a:lnTo>
                    <a:pt x="50799" y="76173"/>
                  </a:lnTo>
                  <a:close/>
                </a:path>
                <a:path w="76200" h="404495" extrusionOk="0">
                  <a:moveTo>
                    <a:pt x="37939" y="0"/>
                  </a:moveTo>
                  <a:lnTo>
                    <a:pt x="0" y="76280"/>
                  </a:lnTo>
                  <a:lnTo>
                    <a:pt x="25399" y="76226"/>
                  </a:lnTo>
                  <a:lnTo>
                    <a:pt x="25373" y="63526"/>
                  </a:lnTo>
                  <a:lnTo>
                    <a:pt x="69843" y="63473"/>
                  </a:lnTo>
                  <a:lnTo>
                    <a:pt x="37939" y="0"/>
                  </a:lnTo>
                  <a:close/>
                </a:path>
                <a:path w="76200" h="404495" extrusionOk="0">
                  <a:moveTo>
                    <a:pt x="50773" y="63473"/>
                  </a:moveTo>
                  <a:lnTo>
                    <a:pt x="25373" y="63526"/>
                  </a:lnTo>
                  <a:lnTo>
                    <a:pt x="25399" y="76226"/>
                  </a:lnTo>
                  <a:lnTo>
                    <a:pt x="50799" y="76173"/>
                  </a:lnTo>
                  <a:lnTo>
                    <a:pt x="50773" y="63473"/>
                  </a:lnTo>
                  <a:close/>
                </a:path>
                <a:path w="76200" h="404495" extrusionOk="0">
                  <a:moveTo>
                    <a:pt x="69843" y="63473"/>
                  </a:moveTo>
                  <a:lnTo>
                    <a:pt x="50773" y="63473"/>
                  </a:lnTo>
                  <a:lnTo>
                    <a:pt x="50799" y="76173"/>
                  </a:lnTo>
                  <a:lnTo>
                    <a:pt x="76200" y="76119"/>
                  </a:lnTo>
                  <a:lnTo>
                    <a:pt x="69843" y="6347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835" name="Google Shape;1835;p31"/>
            <p:cNvPicPr preferRelativeResize="0"/>
            <p:nvPr/>
          </p:nvPicPr>
          <p:blipFill rotWithShape="1">
            <a:blip r:embed="rId5">
              <a:alphaModFix/>
            </a:blip>
            <a:srcRect/>
            <a:stretch/>
          </p:blipFill>
          <p:spPr>
            <a:xfrm>
              <a:off x="4089432" y="5235200"/>
              <a:ext cx="639705" cy="640079"/>
            </a:xfrm>
            <a:prstGeom prst="rect">
              <a:avLst/>
            </a:prstGeom>
            <a:noFill/>
            <a:ln>
              <a:noFill/>
            </a:ln>
          </p:spPr>
        </p:pic>
        <p:sp>
          <p:nvSpPr>
            <p:cNvPr id="1836" name="Google Shape;1836;p31"/>
            <p:cNvSpPr/>
            <p:nvPr/>
          </p:nvSpPr>
          <p:spPr>
            <a:xfrm>
              <a:off x="4642168"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37" name="Google Shape;1837;p31"/>
            <p:cNvSpPr/>
            <p:nvPr/>
          </p:nvSpPr>
          <p:spPr>
            <a:xfrm>
              <a:off x="4642168"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838" name="Google Shape;1838;p31"/>
          <p:cNvGrpSpPr/>
          <p:nvPr/>
        </p:nvGrpSpPr>
        <p:grpSpPr>
          <a:xfrm>
            <a:off x="4866180" y="4404013"/>
            <a:ext cx="683434" cy="1471266"/>
            <a:chOff x="4866180" y="4404013"/>
            <a:chExt cx="683434" cy="1471266"/>
          </a:xfrm>
        </p:grpSpPr>
        <p:sp>
          <p:nvSpPr>
            <p:cNvPr id="1839" name="Google Shape;1839;p31"/>
            <p:cNvSpPr/>
            <p:nvPr/>
          </p:nvSpPr>
          <p:spPr>
            <a:xfrm>
              <a:off x="5132292" y="4404013"/>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40" name="Google Shape;1840;p31"/>
            <p:cNvSpPr/>
            <p:nvPr/>
          </p:nvSpPr>
          <p:spPr>
            <a:xfrm>
              <a:off x="5132292"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41" name="Google Shape;1841;p31"/>
            <p:cNvSpPr/>
            <p:nvPr/>
          </p:nvSpPr>
          <p:spPr>
            <a:xfrm>
              <a:off x="5159245" y="4834901"/>
              <a:ext cx="76200" cy="400685"/>
            </a:xfrm>
            <a:custGeom>
              <a:avLst/>
              <a:gdLst/>
              <a:ahLst/>
              <a:cxnLst/>
              <a:rect l="l" t="t" r="r" b="b"/>
              <a:pathLst>
                <a:path w="76200" h="400685" extrusionOk="0">
                  <a:moveTo>
                    <a:pt x="50800" y="76190"/>
                  </a:moveTo>
                  <a:lnTo>
                    <a:pt x="25400" y="76211"/>
                  </a:lnTo>
                  <a:lnTo>
                    <a:pt x="25661" y="400319"/>
                  </a:lnTo>
                  <a:lnTo>
                    <a:pt x="51061" y="400298"/>
                  </a:lnTo>
                  <a:lnTo>
                    <a:pt x="50800" y="76190"/>
                  </a:lnTo>
                  <a:close/>
                </a:path>
                <a:path w="76200" h="400685" extrusionOk="0">
                  <a:moveTo>
                    <a:pt x="38039" y="0"/>
                  </a:moveTo>
                  <a:lnTo>
                    <a:pt x="0" y="76231"/>
                  </a:lnTo>
                  <a:lnTo>
                    <a:pt x="25400" y="76211"/>
                  </a:lnTo>
                  <a:lnTo>
                    <a:pt x="25389" y="63510"/>
                  </a:lnTo>
                  <a:lnTo>
                    <a:pt x="69847" y="63489"/>
                  </a:lnTo>
                  <a:lnTo>
                    <a:pt x="38039"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842" name="Google Shape;1842;p31"/>
            <p:cNvPicPr preferRelativeResize="0"/>
            <p:nvPr/>
          </p:nvPicPr>
          <p:blipFill rotWithShape="1">
            <a:blip r:embed="rId6">
              <a:alphaModFix/>
            </a:blip>
            <a:srcRect/>
            <a:stretch/>
          </p:blipFill>
          <p:spPr>
            <a:xfrm>
              <a:off x="4866180" y="5235200"/>
              <a:ext cx="639705" cy="640079"/>
            </a:xfrm>
            <a:prstGeom prst="rect">
              <a:avLst/>
            </a:prstGeom>
            <a:noFill/>
            <a:ln>
              <a:noFill/>
            </a:ln>
          </p:spPr>
        </p:pic>
        <p:sp>
          <p:nvSpPr>
            <p:cNvPr id="1843" name="Google Shape;1843;p31"/>
            <p:cNvSpPr/>
            <p:nvPr/>
          </p:nvSpPr>
          <p:spPr>
            <a:xfrm>
              <a:off x="5419439" y="440599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44" name="Google Shape;1844;p31"/>
            <p:cNvSpPr/>
            <p:nvPr/>
          </p:nvSpPr>
          <p:spPr>
            <a:xfrm>
              <a:off x="5419439"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845" name="Google Shape;1845;p31"/>
          <p:cNvGrpSpPr/>
          <p:nvPr/>
        </p:nvGrpSpPr>
        <p:grpSpPr>
          <a:xfrm>
            <a:off x="5645272" y="4400222"/>
            <a:ext cx="676559" cy="1475057"/>
            <a:chOff x="5645272" y="4400222"/>
            <a:chExt cx="676559" cy="1475057"/>
          </a:xfrm>
        </p:grpSpPr>
        <p:sp>
          <p:nvSpPr>
            <p:cNvPr id="1846" name="Google Shape;1846;p31"/>
            <p:cNvSpPr/>
            <p:nvPr/>
          </p:nvSpPr>
          <p:spPr>
            <a:xfrm>
              <a:off x="5904509"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47" name="Google Shape;1847;p31"/>
            <p:cNvSpPr/>
            <p:nvPr/>
          </p:nvSpPr>
          <p:spPr>
            <a:xfrm>
              <a:off x="5904509"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48" name="Google Shape;1848;p31"/>
            <p:cNvSpPr/>
            <p:nvPr/>
          </p:nvSpPr>
          <p:spPr>
            <a:xfrm>
              <a:off x="5932177" y="4831110"/>
              <a:ext cx="76200" cy="404495"/>
            </a:xfrm>
            <a:custGeom>
              <a:avLst/>
              <a:gdLst/>
              <a:ahLst/>
              <a:cxnLst/>
              <a:rect l="l" t="t" r="r" b="b"/>
              <a:pathLst>
                <a:path w="76200" h="404495" extrusionOk="0">
                  <a:moveTo>
                    <a:pt x="50796" y="76067"/>
                  </a:moveTo>
                  <a:lnTo>
                    <a:pt x="25398" y="76325"/>
                  </a:lnTo>
                  <a:lnTo>
                    <a:pt x="28731" y="404228"/>
                  </a:lnTo>
                  <a:lnTo>
                    <a:pt x="54129" y="403970"/>
                  </a:lnTo>
                  <a:lnTo>
                    <a:pt x="50796" y="76067"/>
                  </a:lnTo>
                  <a:close/>
                </a:path>
                <a:path w="76200" h="404495" extrusionOk="0">
                  <a:moveTo>
                    <a:pt x="37322" y="0"/>
                  </a:moveTo>
                  <a:lnTo>
                    <a:pt x="0" y="76583"/>
                  </a:lnTo>
                  <a:lnTo>
                    <a:pt x="25398" y="76325"/>
                  </a:lnTo>
                  <a:lnTo>
                    <a:pt x="25269" y="63626"/>
                  </a:lnTo>
                  <a:lnTo>
                    <a:pt x="50667" y="63367"/>
                  </a:lnTo>
                  <a:lnTo>
                    <a:pt x="69815" y="63367"/>
                  </a:lnTo>
                  <a:lnTo>
                    <a:pt x="37322" y="0"/>
                  </a:lnTo>
                  <a:close/>
                </a:path>
                <a:path w="76200" h="404495" extrusionOk="0">
                  <a:moveTo>
                    <a:pt x="50667" y="63367"/>
                  </a:moveTo>
                  <a:lnTo>
                    <a:pt x="25269" y="63626"/>
                  </a:lnTo>
                  <a:lnTo>
                    <a:pt x="25398" y="76325"/>
                  </a:lnTo>
                  <a:lnTo>
                    <a:pt x="50796" y="76067"/>
                  </a:lnTo>
                  <a:lnTo>
                    <a:pt x="50667" y="63367"/>
                  </a:lnTo>
                  <a:close/>
                </a:path>
                <a:path w="76200" h="404495" extrusionOk="0">
                  <a:moveTo>
                    <a:pt x="69815" y="63367"/>
                  </a:moveTo>
                  <a:lnTo>
                    <a:pt x="50667" y="63367"/>
                  </a:lnTo>
                  <a:lnTo>
                    <a:pt x="50796" y="76067"/>
                  </a:lnTo>
                  <a:lnTo>
                    <a:pt x="76194" y="75808"/>
                  </a:lnTo>
                  <a:lnTo>
                    <a:pt x="69815" y="6336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849" name="Google Shape;1849;p31"/>
            <p:cNvPicPr preferRelativeResize="0"/>
            <p:nvPr/>
          </p:nvPicPr>
          <p:blipFill rotWithShape="1">
            <a:blip r:embed="rId7">
              <a:alphaModFix/>
            </a:blip>
            <a:srcRect/>
            <a:stretch/>
          </p:blipFill>
          <p:spPr>
            <a:xfrm>
              <a:off x="5645272" y="5235200"/>
              <a:ext cx="639705" cy="640079"/>
            </a:xfrm>
            <a:prstGeom prst="rect">
              <a:avLst/>
            </a:prstGeom>
            <a:noFill/>
            <a:ln>
              <a:noFill/>
            </a:ln>
          </p:spPr>
        </p:pic>
        <p:sp>
          <p:nvSpPr>
            <p:cNvPr id="1850" name="Google Shape;1850;p31"/>
            <p:cNvSpPr/>
            <p:nvPr/>
          </p:nvSpPr>
          <p:spPr>
            <a:xfrm>
              <a:off x="6191656"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51" name="Google Shape;1851;p31"/>
            <p:cNvSpPr/>
            <p:nvPr/>
          </p:nvSpPr>
          <p:spPr>
            <a:xfrm>
              <a:off x="6191656"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852" name="Google Shape;1852;p31"/>
          <p:cNvGrpSpPr/>
          <p:nvPr/>
        </p:nvGrpSpPr>
        <p:grpSpPr>
          <a:xfrm>
            <a:off x="6419682" y="4400222"/>
            <a:ext cx="688872" cy="1475057"/>
            <a:chOff x="6419682" y="4400222"/>
            <a:chExt cx="688872" cy="1475057"/>
          </a:xfrm>
        </p:grpSpPr>
        <p:sp>
          <p:nvSpPr>
            <p:cNvPr id="1853" name="Google Shape;1853;p31"/>
            <p:cNvSpPr/>
            <p:nvPr/>
          </p:nvSpPr>
          <p:spPr>
            <a:xfrm>
              <a:off x="6691232"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54" name="Google Shape;1854;p31"/>
            <p:cNvSpPr/>
            <p:nvPr/>
          </p:nvSpPr>
          <p:spPr>
            <a:xfrm>
              <a:off x="6691232"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55" name="Google Shape;1855;p31"/>
            <p:cNvSpPr/>
            <p:nvPr/>
          </p:nvSpPr>
          <p:spPr>
            <a:xfrm>
              <a:off x="6717023" y="4831110"/>
              <a:ext cx="76200" cy="404495"/>
            </a:xfrm>
            <a:custGeom>
              <a:avLst/>
              <a:gdLst/>
              <a:ahLst/>
              <a:cxnLst/>
              <a:rect l="l" t="t" r="r" b="b"/>
              <a:pathLst>
                <a:path w="76200" h="404495" extrusionOk="0">
                  <a:moveTo>
                    <a:pt x="25397" y="76008"/>
                  </a:moveTo>
                  <a:lnTo>
                    <a:pt x="20636" y="403914"/>
                  </a:lnTo>
                  <a:lnTo>
                    <a:pt x="46033" y="404284"/>
                  </a:lnTo>
                  <a:lnTo>
                    <a:pt x="50794" y="76377"/>
                  </a:lnTo>
                  <a:lnTo>
                    <a:pt x="25397" y="76008"/>
                  </a:lnTo>
                  <a:close/>
                </a:path>
                <a:path w="76200" h="404495" extrusionOk="0">
                  <a:moveTo>
                    <a:pt x="69714" y="63309"/>
                  </a:moveTo>
                  <a:lnTo>
                    <a:pt x="25581" y="63309"/>
                  </a:lnTo>
                  <a:lnTo>
                    <a:pt x="50979" y="63677"/>
                  </a:lnTo>
                  <a:lnTo>
                    <a:pt x="50794" y="76377"/>
                  </a:lnTo>
                  <a:lnTo>
                    <a:pt x="76191" y="76746"/>
                  </a:lnTo>
                  <a:lnTo>
                    <a:pt x="69714" y="63309"/>
                  </a:lnTo>
                  <a:close/>
                </a:path>
                <a:path w="76200" h="404495" extrusionOk="0">
                  <a:moveTo>
                    <a:pt x="25581" y="63309"/>
                  </a:moveTo>
                  <a:lnTo>
                    <a:pt x="25397" y="76008"/>
                  </a:lnTo>
                  <a:lnTo>
                    <a:pt x="50794" y="76377"/>
                  </a:lnTo>
                  <a:lnTo>
                    <a:pt x="50979" y="63677"/>
                  </a:lnTo>
                  <a:lnTo>
                    <a:pt x="25581" y="63309"/>
                  </a:lnTo>
                  <a:close/>
                </a:path>
                <a:path w="76200" h="404495" extrusionOk="0">
                  <a:moveTo>
                    <a:pt x="39201" y="0"/>
                  </a:moveTo>
                  <a:lnTo>
                    <a:pt x="0" y="75639"/>
                  </a:lnTo>
                  <a:lnTo>
                    <a:pt x="25397" y="76008"/>
                  </a:lnTo>
                  <a:lnTo>
                    <a:pt x="25581" y="63309"/>
                  </a:lnTo>
                  <a:lnTo>
                    <a:pt x="69714" y="63309"/>
                  </a:lnTo>
                  <a:lnTo>
                    <a:pt x="3920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856" name="Google Shape;1856;p31"/>
            <p:cNvPicPr preferRelativeResize="0"/>
            <p:nvPr/>
          </p:nvPicPr>
          <p:blipFill rotWithShape="1">
            <a:blip r:embed="rId8">
              <a:alphaModFix/>
            </a:blip>
            <a:srcRect/>
            <a:stretch/>
          </p:blipFill>
          <p:spPr>
            <a:xfrm>
              <a:off x="6419682" y="5235200"/>
              <a:ext cx="639705" cy="640079"/>
            </a:xfrm>
            <a:prstGeom prst="rect">
              <a:avLst/>
            </a:prstGeom>
            <a:noFill/>
            <a:ln>
              <a:noFill/>
            </a:ln>
          </p:spPr>
        </p:pic>
        <p:sp>
          <p:nvSpPr>
            <p:cNvPr id="1857" name="Google Shape;1857;p31"/>
            <p:cNvSpPr/>
            <p:nvPr/>
          </p:nvSpPr>
          <p:spPr>
            <a:xfrm>
              <a:off x="6978379"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58" name="Google Shape;1858;p31"/>
            <p:cNvSpPr/>
            <p:nvPr/>
          </p:nvSpPr>
          <p:spPr>
            <a:xfrm>
              <a:off x="6978379"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859" name="Google Shape;1859;p31"/>
          <p:cNvGrpSpPr/>
          <p:nvPr/>
        </p:nvGrpSpPr>
        <p:grpSpPr>
          <a:xfrm>
            <a:off x="7207347" y="4400222"/>
            <a:ext cx="668588" cy="1475057"/>
            <a:chOff x="7207347" y="4400222"/>
            <a:chExt cx="668588" cy="1475057"/>
          </a:xfrm>
        </p:grpSpPr>
        <p:sp>
          <p:nvSpPr>
            <p:cNvPr id="1860" name="Google Shape;1860;p31"/>
            <p:cNvSpPr/>
            <p:nvPr/>
          </p:nvSpPr>
          <p:spPr>
            <a:xfrm>
              <a:off x="7458613"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61" name="Google Shape;1861;p31"/>
            <p:cNvSpPr/>
            <p:nvPr/>
          </p:nvSpPr>
          <p:spPr>
            <a:xfrm>
              <a:off x="7458613"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62" name="Google Shape;1862;p31"/>
            <p:cNvSpPr/>
            <p:nvPr/>
          </p:nvSpPr>
          <p:spPr>
            <a:xfrm>
              <a:off x="7485566" y="4831110"/>
              <a:ext cx="76200" cy="404495"/>
            </a:xfrm>
            <a:custGeom>
              <a:avLst/>
              <a:gdLst/>
              <a:ahLst/>
              <a:cxnLst/>
              <a:rect l="l" t="t" r="r" b="b"/>
              <a:pathLst>
                <a:path w="76200" h="404495" extrusionOk="0">
                  <a:moveTo>
                    <a:pt x="50799" y="76190"/>
                  </a:moveTo>
                  <a:lnTo>
                    <a:pt x="25399" y="76210"/>
                  </a:lnTo>
                  <a:lnTo>
                    <a:pt x="25660" y="404110"/>
                  </a:lnTo>
                  <a:lnTo>
                    <a:pt x="51060" y="404089"/>
                  </a:lnTo>
                  <a:lnTo>
                    <a:pt x="50799" y="76190"/>
                  </a:lnTo>
                  <a:close/>
                </a:path>
                <a:path w="76200" h="404495" extrusionOk="0">
                  <a:moveTo>
                    <a:pt x="38039" y="0"/>
                  </a:moveTo>
                  <a:lnTo>
                    <a:pt x="0" y="76230"/>
                  </a:lnTo>
                  <a:lnTo>
                    <a:pt x="25399" y="76210"/>
                  </a:lnTo>
                  <a:lnTo>
                    <a:pt x="25389" y="63510"/>
                  </a:lnTo>
                  <a:lnTo>
                    <a:pt x="69846" y="63489"/>
                  </a:lnTo>
                  <a:lnTo>
                    <a:pt x="38039" y="0"/>
                  </a:lnTo>
                  <a:close/>
                </a:path>
                <a:path w="76200" h="404495" extrusionOk="0">
                  <a:moveTo>
                    <a:pt x="50789" y="63489"/>
                  </a:moveTo>
                  <a:lnTo>
                    <a:pt x="25389" y="63510"/>
                  </a:lnTo>
                  <a:lnTo>
                    <a:pt x="25399" y="76210"/>
                  </a:lnTo>
                  <a:lnTo>
                    <a:pt x="50799" y="76190"/>
                  </a:lnTo>
                  <a:lnTo>
                    <a:pt x="50789" y="63489"/>
                  </a:lnTo>
                  <a:close/>
                </a:path>
                <a:path w="76200" h="404495" extrusionOk="0">
                  <a:moveTo>
                    <a:pt x="69846" y="63489"/>
                  </a:moveTo>
                  <a:lnTo>
                    <a:pt x="50789" y="63489"/>
                  </a:lnTo>
                  <a:lnTo>
                    <a:pt x="50799" y="76190"/>
                  </a:lnTo>
                  <a:lnTo>
                    <a:pt x="76200" y="76170"/>
                  </a:lnTo>
                  <a:lnTo>
                    <a:pt x="69846"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863" name="Google Shape;1863;p31"/>
            <p:cNvPicPr preferRelativeResize="0"/>
            <p:nvPr/>
          </p:nvPicPr>
          <p:blipFill rotWithShape="1">
            <a:blip r:embed="rId9">
              <a:alphaModFix/>
            </a:blip>
            <a:srcRect/>
            <a:stretch/>
          </p:blipFill>
          <p:spPr>
            <a:xfrm>
              <a:off x="7207347" y="5235200"/>
              <a:ext cx="641197" cy="640079"/>
            </a:xfrm>
            <a:prstGeom prst="rect">
              <a:avLst/>
            </a:prstGeom>
            <a:noFill/>
            <a:ln>
              <a:noFill/>
            </a:ln>
          </p:spPr>
        </p:pic>
        <p:sp>
          <p:nvSpPr>
            <p:cNvPr id="1864" name="Google Shape;1864;p31"/>
            <p:cNvSpPr/>
            <p:nvPr/>
          </p:nvSpPr>
          <p:spPr>
            <a:xfrm>
              <a:off x="7745760"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65" name="Google Shape;1865;p31"/>
            <p:cNvSpPr/>
            <p:nvPr/>
          </p:nvSpPr>
          <p:spPr>
            <a:xfrm>
              <a:off x="7745760"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866" name="Google Shape;1866;p31"/>
          <p:cNvGrpSpPr/>
          <p:nvPr/>
        </p:nvGrpSpPr>
        <p:grpSpPr>
          <a:xfrm>
            <a:off x="7970093" y="4400222"/>
            <a:ext cx="681844" cy="1475057"/>
            <a:chOff x="7970093" y="4400222"/>
            <a:chExt cx="681844" cy="1475057"/>
          </a:xfrm>
        </p:grpSpPr>
        <p:sp>
          <p:nvSpPr>
            <p:cNvPr id="1867" name="Google Shape;1867;p31"/>
            <p:cNvSpPr/>
            <p:nvPr/>
          </p:nvSpPr>
          <p:spPr>
            <a:xfrm>
              <a:off x="8234614"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68" name="Google Shape;1868;p31"/>
            <p:cNvSpPr/>
            <p:nvPr/>
          </p:nvSpPr>
          <p:spPr>
            <a:xfrm>
              <a:off x="8234614"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69" name="Google Shape;1869;p31"/>
            <p:cNvSpPr/>
            <p:nvPr/>
          </p:nvSpPr>
          <p:spPr>
            <a:xfrm>
              <a:off x="8261567"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870" name="Google Shape;1870;p31"/>
            <p:cNvPicPr preferRelativeResize="0"/>
            <p:nvPr/>
          </p:nvPicPr>
          <p:blipFill rotWithShape="1">
            <a:blip r:embed="rId10">
              <a:alphaModFix/>
            </a:blip>
            <a:srcRect/>
            <a:stretch/>
          </p:blipFill>
          <p:spPr>
            <a:xfrm>
              <a:off x="7970093" y="5235200"/>
              <a:ext cx="641205" cy="640079"/>
            </a:xfrm>
            <a:prstGeom prst="rect">
              <a:avLst/>
            </a:prstGeom>
            <a:noFill/>
            <a:ln>
              <a:noFill/>
            </a:ln>
          </p:spPr>
        </p:pic>
        <p:sp>
          <p:nvSpPr>
            <p:cNvPr id="1871" name="Google Shape;1871;p31"/>
            <p:cNvSpPr/>
            <p:nvPr/>
          </p:nvSpPr>
          <p:spPr>
            <a:xfrm>
              <a:off x="8521762"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72" name="Google Shape;1872;p31"/>
            <p:cNvSpPr/>
            <p:nvPr/>
          </p:nvSpPr>
          <p:spPr>
            <a:xfrm>
              <a:off x="8521762"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873" name="Google Shape;1873;p31"/>
          <p:cNvGrpSpPr/>
          <p:nvPr/>
        </p:nvGrpSpPr>
        <p:grpSpPr>
          <a:xfrm>
            <a:off x="8744502" y="4400222"/>
            <a:ext cx="684186" cy="1475057"/>
            <a:chOff x="8744502" y="4400222"/>
            <a:chExt cx="684186" cy="1475057"/>
          </a:xfrm>
        </p:grpSpPr>
        <p:sp>
          <p:nvSpPr>
            <p:cNvPr id="1874" name="Google Shape;1874;p31"/>
            <p:cNvSpPr/>
            <p:nvPr/>
          </p:nvSpPr>
          <p:spPr>
            <a:xfrm>
              <a:off x="9011366"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75" name="Google Shape;1875;p31"/>
            <p:cNvSpPr/>
            <p:nvPr/>
          </p:nvSpPr>
          <p:spPr>
            <a:xfrm>
              <a:off x="9011366"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76" name="Google Shape;1876;p31"/>
            <p:cNvSpPr/>
            <p:nvPr/>
          </p:nvSpPr>
          <p:spPr>
            <a:xfrm>
              <a:off x="9038318"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877" name="Google Shape;1877;p31"/>
            <p:cNvPicPr preferRelativeResize="0"/>
            <p:nvPr/>
          </p:nvPicPr>
          <p:blipFill rotWithShape="1">
            <a:blip r:embed="rId11">
              <a:alphaModFix/>
            </a:blip>
            <a:srcRect/>
            <a:stretch/>
          </p:blipFill>
          <p:spPr>
            <a:xfrm>
              <a:off x="8744502" y="5235200"/>
              <a:ext cx="641206" cy="640079"/>
            </a:xfrm>
            <a:prstGeom prst="rect">
              <a:avLst/>
            </a:prstGeom>
            <a:noFill/>
            <a:ln>
              <a:noFill/>
            </a:ln>
          </p:spPr>
        </p:pic>
        <p:sp>
          <p:nvSpPr>
            <p:cNvPr id="1878" name="Google Shape;1878;p31"/>
            <p:cNvSpPr/>
            <p:nvPr/>
          </p:nvSpPr>
          <p:spPr>
            <a:xfrm>
              <a:off x="9298513"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79" name="Google Shape;1879;p31"/>
            <p:cNvSpPr/>
            <p:nvPr/>
          </p:nvSpPr>
          <p:spPr>
            <a:xfrm>
              <a:off x="9298513"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880" name="Google Shape;1880;p31"/>
          <p:cNvSpPr txBox="1"/>
          <p:nvPr/>
        </p:nvSpPr>
        <p:spPr>
          <a:xfrm>
            <a:off x="273194" y="3559555"/>
            <a:ext cx="2190115" cy="1278255"/>
          </a:xfrm>
          <a:prstGeom prst="rect">
            <a:avLst/>
          </a:prstGeom>
          <a:noFill/>
          <a:ln>
            <a:noFill/>
          </a:ln>
        </p:spPr>
        <p:txBody>
          <a:bodyPr spcFirstLastPara="1" wrap="square" lIns="0" tIns="13950" rIns="0" bIns="0" anchor="t" anchorCtr="0">
            <a:spAutoFit/>
          </a:bodyPr>
          <a:lstStyle/>
          <a:p>
            <a:pPr marL="12700" marR="5080" lvl="0" indent="0" algn="l"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Add positional embedding: learned D- dim vector per position</a:t>
            </a:r>
            <a:endParaRPr sz="1800" b="0" i="0" u="none" strike="noStrike" cap="none">
              <a:solidFill>
                <a:srgbClr val="000000"/>
              </a:solidFill>
              <a:latin typeface="Calibri"/>
              <a:ea typeface="Calibri"/>
              <a:cs typeface="Calibri"/>
              <a:sym typeface="Calibri"/>
            </a:endParaRPr>
          </a:p>
          <a:p>
            <a:pPr marL="19685" marR="0" lvl="0" indent="0" algn="l" rtl="0">
              <a:lnSpc>
                <a:spcPct val="100000"/>
              </a:lnSpc>
              <a:spcBef>
                <a:spcPts val="125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a:t>
            </a:r>
            <a:endParaRPr sz="1800" b="0" i="0" u="none" strike="noStrike" cap="none">
              <a:solidFill>
                <a:srgbClr val="000000"/>
              </a:solidFill>
              <a:latin typeface="Calibri"/>
              <a:ea typeface="Calibri"/>
              <a:cs typeface="Calibri"/>
              <a:sym typeface="Calibri"/>
            </a:endParaRPr>
          </a:p>
        </p:txBody>
      </p:sp>
      <p:grpSp>
        <p:nvGrpSpPr>
          <p:cNvPr id="1881" name="Google Shape;1881;p31"/>
          <p:cNvGrpSpPr/>
          <p:nvPr/>
        </p:nvGrpSpPr>
        <p:grpSpPr>
          <a:xfrm>
            <a:off x="2961547" y="2096159"/>
            <a:ext cx="130810" cy="429895"/>
            <a:chOff x="2961547" y="2096159"/>
            <a:chExt cx="130810" cy="429895"/>
          </a:xfrm>
        </p:grpSpPr>
        <p:sp>
          <p:nvSpPr>
            <p:cNvPr id="1882" name="Google Shape;1882;p31"/>
            <p:cNvSpPr/>
            <p:nvPr/>
          </p:nvSpPr>
          <p:spPr>
            <a:xfrm>
              <a:off x="2961547" y="2096159"/>
              <a:ext cx="130810" cy="429895"/>
            </a:xfrm>
            <a:custGeom>
              <a:avLst/>
              <a:gdLst/>
              <a:ahLst/>
              <a:cxnLst/>
              <a:rect l="l" t="t" r="r" b="b"/>
              <a:pathLst>
                <a:path w="130810"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83" name="Google Shape;1883;p31"/>
            <p:cNvSpPr/>
            <p:nvPr/>
          </p:nvSpPr>
          <p:spPr>
            <a:xfrm>
              <a:off x="296154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884" name="Google Shape;1884;p31"/>
          <p:cNvGrpSpPr/>
          <p:nvPr/>
        </p:nvGrpSpPr>
        <p:grpSpPr>
          <a:xfrm>
            <a:off x="3737768" y="2099950"/>
            <a:ext cx="130810" cy="429895"/>
            <a:chOff x="3737768" y="2099950"/>
            <a:chExt cx="130810" cy="429895"/>
          </a:xfrm>
        </p:grpSpPr>
        <p:sp>
          <p:nvSpPr>
            <p:cNvPr id="1885" name="Google Shape;1885;p31"/>
            <p:cNvSpPr/>
            <p:nvPr/>
          </p:nvSpPr>
          <p:spPr>
            <a:xfrm>
              <a:off x="3737768"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86" name="Google Shape;1886;p31"/>
            <p:cNvSpPr/>
            <p:nvPr/>
          </p:nvSpPr>
          <p:spPr>
            <a:xfrm>
              <a:off x="3737768"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887" name="Google Shape;1887;p31"/>
          <p:cNvGrpSpPr/>
          <p:nvPr/>
        </p:nvGrpSpPr>
        <p:grpSpPr>
          <a:xfrm>
            <a:off x="4513990" y="2096159"/>
            <a:ext cx="130810" cy="429895"/>
            <a:chOff x="4513990" y="2096159"/>
            <a:chExt cx="130810" cy="429895"/>
          </a:xfrm>
        </p:grpSpPr>
        <p:sp>
          <p:nvSpPr>
            <p:cNvPr id="1888" name="Google Shape;1888;p31"/>
            <p:cNvSpPr/>
            <p:nvPr/>
          </p:nvSpPr>
          <p:spPr>
            <a:xfrm>
              <a:off x="4513990"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89" name="Google Shape;1889;p31"/>
            <p:cNvSpPr/>
            <p:nvPr/>
          </p:nvSpPr>
          <p:spPr>
            <a:xfrm>
              <a:off x="4513990"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890" name="Google Shape;1890;p31"/>
          <p:cNvGrpSpPr/>
          <p:nvPr/>
        </p:nvGrpSpPr>
        <p:grpSpPr>
          <a:xfrm>
            <a:off x="5291261" y="2099950"/>
            <a:ext cx="130810" cy="429895"/>
            <a:chOff x="5291261" y="2099950"/>
            <a:chExt cx="130810" cy="429895"/>
          </a:xfrm>
        </p:grpSpPr>
        <p:sp>
          <p:nvSpPr>
            <p:cNvPr id="1891" name="Google Shape;1891;p31"/>
            <p:cNvSpPr/>
            <p:nvPr/>
          </p:nvSpPr>
          <p:spPr>
            <a:xfrm>
              <a:off x="5291261"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92" name="Google Shape;1892;p31"/>
            <p:cNvSpPr/>
            <p:nvPr/>
          </p:nvSpPr>
          <p:spPr>
            <a:xfrm>
              <a:off x="5291261"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893" name="Google Shape;1893;p31"/>
          <p:cNvGrpSpPr/>
          <p:nvPr/>
        </p:nvGrpSpPr>
        <p:grpSpPr>
          <a:xfrm>
            <a:off x="6063477" y="2096159"/>
            <a:ext cx="130810" cy="429895"/>
            <a:chOff x="6063477" y="2096159"/>
            <a:chExt cx="130810" cy="429895"/>
          </a:xfrm>
        </p:grpSpPr>
        <p:sp>
          <p:nvSpPr>
            <p:cNvPr id="1894" name="Google Shape;1894;p31"/>
            <p:cNvSpPr/>
            <p:nvPr/>
          </p:nvSpPr>
          <p:spPr>
            <a:xfrm>
              <a:off x="6063477"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95" name="Google Shape;1895;p31"/>
            <p:cNvSpPr/>
            <p:nvPr/>
          </p:nvSpPr>
          <p:spPr>
            <a:xfrm>
              <a:off x="606347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896" name="Google Shape;1896;p31"/>
          <p:cNvGrpSpPr/>
          <p:nvPr/>
        </p:nvGrpSpPr>
        <p:grpSpPr>
          <a:xfrm>
            <a:off x="6850202" y="2096159"/>
            <a:ext cx="130810" cy="429895"/>
            <a:chOff x="6850202" y="2096159"/>
            <a:chExt cx="130810" cy="429895"/>
          </a:xfrm>
        </p:grpSpPr>
        <p:sp>
          <p:nvSpPr>
            <p:cNvPr id="1897" name="Google Shape;1897;p31"/>
            <p:cNvSpPr/>
            <p:nvPr/>
          </p:nvSpPr>
          <p:spPr>
            <a:xfrm>
              <a:off x="6850202"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98" name="Google Shape;1898;p31"/>
            <p:cNvSpPr/>
            <p:nvPr/>
          </p:nvSpPr>
          <p:spPr>
            <a:xfrm>
              <a:off x="6850202"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899" name="Google Shape;1899;p31"/>
          <p:cNvGrpSpPr/>
          <p:nvPr/>
        </p:nvGrpSpPr>
        <p:grpSpPr>
          <a:xfrm>
            <a:off x="7617583" y="2096159"/>
            <a:ext cx="130810" cy="429895"/>
            <a:chOff x="7617583" y="2096159"/>
            <a:chExt cx="130810" cy="429895"/>
          </a:xfrm>
        </p:grpSpPr>
        <p:sp>
          <p:nvSpPr>
            <p:cNvPr id="1900" name="Google Shape;1900;p31"/>
            <p:cNvSpPr/>
            <p:nvPr/>
          </p:nvSpPr>
          <p:spPr>
            <a:xfrm>
              <a:off x="7617583"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01" name="Google Shape;1901;p31"/>
            <p:cNvSpPr/>
            <p:nvPr/>
          </p:nvSpPr>
          <p:spPr>
            <a:xfrm>
              <a:off x="7617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902" name="Google Shape;1902;p31"/>
          <p:cNvGrpSpPr/>
          <p:nvPr/>
        </p:nvGrpSpPr>
        <p:grpSpPr>
          <a:xfrm>
            <a:off x="8393583" y="2096159"/>
            <a:ext cx="130810" cy="429895"/>
            <a:chOff x="8393583" y="2096159"/>
            <a:chExt cx="130810" cy="429895"/>
          </a:xfrm>
        </p:grpSpPr>
        <p:sp>
          <p:nvSpPr>
            <p:cNvPr id="1903" name="Google Shape;1903;p31"/>
            <p:cNvSpPr/>
            <p:nvPr/>
          </p:nvSpPr>
          <p:spPr>
            <a:xfrm>
              <a:off x="8393583"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04" name="Google Shape;1904;p31"/>
            <p:cNvSpPr/>
            <p:nvPr/>
          </p:nvSpPr>
          <p:spPr>
            <a:xfrm>
              <a:off x="8393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905" name="Google Shape;1905;p31"/>
          <p:cNvGrpSpPr/>
          <p:nvPr/>
        </p:nvGrpSpPr>
        <p:grpSpPr>
          <a:xfrm>
            <a:off x="9170334" y="2096159"/>
            <a:ext cx="130810" cy="429895"/>
            <a:chOff x="9170334" y="2096159"/>
            <a:chExt cx="130810" cy="429895"/>
          </a:xfrm>
        </p:grpSpPr>
        <p:sp>
          <p:nvSpPr>
            <p:cNvPr id="1906" name="Google Shape;1906;p31"/>
            <p:cNvSpPr/>
            <p:nvPr/>
          </p:nvSpPr>
          <p:spPr>
            <a:xfrm>
              <a:off x="9170334"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07" name="Google Shape;1907;p31"/>
            <p:cNvSpPr/>
            <p:nvPr/>
          </p:nvSpPr>
          <p:spPr>
            <a:xfrm>
              <a:off x="9170334"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908" name="Google Shape;1908;p31"/>
          <p:cNvSpPr txBox="1"/>
          <p:nvPr/>
        </p:nvSpPr>
        <p:spPr>
          <a:xfrm>
            <a:off x="451943" y="2038603"/>
            <a:ext cx="141478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Output vectors</a:t>
            </a:r>
            <a:endParaRPr sz="1800" b="0" i="0" u="none" strike="noStrike" cap="none">
              <a:solidFill>
                <a:srgbClr val="000000"/>
              </a:solidFill>
              <a:latin typeface="Calibri"/>
              <a:ea typeface="Calibri"/>
              <a:cs typeface="Calibri"/>
              <a:sym typeface="Calibri"/>
            </a:endParaRPr>
          </a:p>
        </p:txBody>
      </p:sp>
      <p:sp>
        <p:nvSpPr>
          <p:cNvPr id="1909" name="Google Shape;1909;p31"/>
          <p:cNvSpPr txBox="1"/>
          <p:nvPr/>
        </p:nvSpPr>
        <p:spPr>
          <a:xfrm>
            <a:off x="282081" y="2757932"/>
            <a:ext cx="1644014" cy="565150"/>
          </a:xfrm>
          <a:prstGeom prst="rect">
            <a:avLst/>
          </a:prstGeom>
          <a:noFill/>
          <a:ln>
            <a:noFill/>
          </a:ln>
        </p:spPr>
        <p:txBody>
          <a:bodyPr spcFirstLastPara="1" wrap="square" lIns="0" tIns="28575" rIns="0" bIns="0" anchor="t" anchorCtr="0">
            <a:spAutoFit/>
          </a:bodyPr>
          <a:lstStyle/>
          <a:p>
            <a:pPr marL="12700" marR="5080" lvl="0" indent="165735" algn="l" rtl="0">
              <a:lnSpc>
                <a:spcPct val="116111"/>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Exact same as NLP Transformer!</a:t>
            </a:r>
            <a:endParaRPr sz="1800" b="0" i="0" u="none" strike="noStrike" cap="none">
              <a:solidFill>
                <a:srgbClr val="000000"/>
              </a:solidFill>
              <a:latin typeface="Calibri"/>
              <a:ea typeface="Calibri"/>
              <a:cs typeface="Calibri"/>
              <a:sym typeface="Calibri"/>
            </a:endParaRPr>
          </a:p>
        </p:txBody>
      </p:sp>
      <p:grpSp>
        <p:nvGrpSpPr>
          <p:cNvPr id="1910" name="Google Shape;1910;p31"/>
          <p:cNvGrpSpPr/>
          <p:nvPr/>
        </p:nvGrpSpPr>
        <p:grpSpPr>
          <a:xfrm>
            <a:off x="9843405" y="3627475"/>
            <a:ext cx="130175" cy="431165"/>
            <a:chOff x="9843405" y="3627475"/>
            <a:chExt cx="130175" cy="431165"/>
          </a:xfrm>
        </p:grpSpPr>
        <p:sp>
          <p:nvSpPr>
            <p:cNvPr id="1911" name="Google Shape;1911;p31"/>
            <p:cNvSpPr/>
            <p:nvPr/>
          </p:nvSpPr>
          <p:spPr>
            <a:xfrm>
              <a:off x="9843405"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8FAAD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12" name="Google Shape;1912;p31"/>
            <p:cNvSpPr/>
            <p:nvPr/>
          </p:nvSpPr>
          <p:spPr>
            <a:xfrm>
              <a:off x="984340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913" name="Google Shape;1913;p31"/>
          <p:cNvGrpSpPr/>
          <p:nvPr/>
        </p:nvGrpSpPr>
        <p:grpSpPr>
          <a:xfrm>
            <a:off x="9842760" y="1231831"/>
            <a:ext cx="130810" cy="1294223"/>
            <a:chOff x="9842760" y="1231831"/>
            <a:chExt cx="130810" cy="1294223"/>
          </a:xfrm>
        </p:grpSpPr>
        <p:sp>
          <p:nvSpPr>
            <p:cNvPr id="1914" name="Google Shape;1914;p31"/>
            <p:cNvSpPr/>
            <p:nvPr/>
          </p:nvSpPr>
          <p:spPr>
            <a:xfrm>
              <a:off x="9842760"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D96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15" name="Google Shape;1915;p31"/>
            <p:cNvSpPr/>
            <p:nvPr/>
          </p:nvSpPr>
          <p:spPr>
            <a:xfrm>
              <a:off x="9842760"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16" name="Google Shape;1916;p31"/>
            <p:cNvSpPr/>
            <p:nvPr/>
          </p:nvSpPr>
          <p:spPr>
            <a:xfrm>
              <a:off x="9842760" y="1231831"/>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DEEB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17" name="Google Shape;1917;p31"/>
            <p:cNvSpPr/>
            <p:nvPr/>
          </p:nvSpPr>
          <p:spPr>
            <a:xfrm>
              <a:off x="9842760" y="1231831"/>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5B9B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18" name="Google Shape;1918;p31"/>
            <p:cNvSpPr/>
            <p:nvPr/>
          </p:nvSpPr>
          <p:spPr>
            <a:xfrm>
              <a:off x="9869976" y="1661599"/>
              <a:ext cx="76200" cy="434975"/>
            </a:xfrm>
            <a:custGeom>
              <a:avLst/>
              <a:gdLst/>
              <a:ahLst/>
              <a:cxnLst/>
              <a:rect l="l" t="t" r="r" b="b"/>
              <a:pathLst>
                <a:path w="76200" h="434975" extrusionOk="0">
                  <a:moveTo>
                    <a:pt x="50800" y="63500"/>
                  </a:moveTo>
                  <a:lnTo>
                    <a:pt x="25400" y="63500"/>
                  </a:lnTo>
                  <a:lnTo>
                    <a:pt x="25400" y="434559"/>
                  </a:lnTo>
                  <a:lnTo>
                    <a:pt x="50800" y="434559"/>
                  </a:lnTo>
                  <a:lnTo>
                    <a:pt x="50800" y="63500"/>
                  </a:lnTo>
                  <a:close/>
                </a:path>
                <a:path w="76200" h="434975" extrusionOk="0">
                  <a:moveTo>
                    <a:pt x="38100" y="0"/>
                  </a:moveTo>
                  <a:lnTo>
                    <a:pt x="0" y="76200"/>
                  </a:lnTo>
                  <a:lnTo>
                    <a:pt x="25400" y="76200"/>
                  </a:lnTo>
                  <a:lnTo>
                    <a:pt x="25400" y="63500"/>
                  </a:lnTo>
                  <a:lnTo>
                    <a:pt x="69850" y="63500"/>
                  </a:lnTo>
                  <a:lnTo>
                    <a:pt x="38100" y="0"/>
                  </a:lnTo>
                  <a:close/>
                </a:path>
                <a:path w="76200" h="434975" extrusionOk="0">
                  <a:moveTo>
                    <a:pt x="69850" y="63500"/>
                  </a:moveTo>
                  <a:lnTo>
                    <a:pt x="50800" y="63500"/>
                  </a:lnTo>
                  <a:lnTo>
                    <a:pt x="50800" y="76200"/>
                  </a:lnTo>
                  <a:lnTo>
                    <a:pt x="76200" y="76200"/>
                  </a:lnTo>
                  <a:lnTo>
                    <a:pt x="69850" y="6350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919" name="Google Shape;1919;p31"/>
          <p:cNvSpPr txBox="1"/>
          <p:nvPr/>
        </p:nvSpPr>
        <p:spPr>
          <a:xfrm>
            <a:off x="10220266" y="3498595"/>
            <a:ext cx="1830070" cy="845819"/>
          </a:xfrm>
          <a:prstGeom prst="rect">
            <a:avLst/>
          </a:prstGeom>
          <a:noFill/>
          <a:ln>
            <a:noFill/>
          </a:ln>
        </p:spPr>
        <p:txBody>
          <a:bodyPr spcFirstLastPara="1" wrap="square" lIns="0" tIns="13950" rIns="0" bIns="0" anchor="t" anchorCtr="0">
            <a:spAutoFit/>
          </a:bodyPr>
          <a:lstStyle/>
          <a:p>
            <a:pPr marL="12700" marR="5080" lvl="0" indent="0" algn="just"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Special extra input: </a:t>
            </a:r>
            <a:r>
              <a:rPr lang="en-US" sz="1800" b="1" i="0" u="none" strike="noStrike" cap="none">
                <a:solidFill>
                  <a:srgbClr val="000000"/>
                </a:solidFill>
                <a:latin typeface="Calibri"/>
                <a:ea typeface="Calibri"/>
                <a:cs typeface="Calibri"/>
                <a:sym typeface="Calibri"/>
              </a:rPr>
              <a:t>classification token </a:t>
            </a:r>
            <a:r>
              <a:rPr lang="en-US" sz="1800" b="0" i="0" u="none" strike="noStrike" cap="none">
                <a:solidFill>
                  <a:srgbClr val="000000"/>
                </a:solidFill>
                <a:latin typeface="Calibri"/>
                <a:ea typeface="Calibri"/>
                <a:cs typeface="Calibri"/>
                <a:sym typeface="Calibri"/>
              </a:rPr>
              <a:t>(D dims, learned)</a:t>
            </a:r>
            <a:endParaRPr sz="1800" b="0" i="0" u="none" strike="noStrike" cap="none">
              <a:solidFill>
                <a:srgbClr val="000000"/>
              </a:solidFill>
              <a:latin typeface="Calibri"/>
              <a:ea typeface="Calibri"/>
              <a:cs typeface="Calibri"/>
              <a:sym typeface="Calibri"/>
            </a:endParaRPr>
          </a:p>
        </p:txBody>
      </p:sp>
      <p:grpSp>
        <p:nvGrpSpPr>
          <p:cNvPr id="1920" name="Google Shape;1920;p31"/>
          <p:cNvGrpSpPr/>
          <p:nvPr/>
        </p:nvGrpSpPr>
        <p:grpSpPr>
          <a:xfrm>
            <a:off x="2959741" y="3627475"/>
            <a:ext cx="130175" cy="431165"/>
            <a:chOff x="2959741" y="3627475"/>
            <a:chExt cx="130175" cy="431165"/>
          </a:xfrm>
        </p:grpSpPr>
        <p:sp>
          <p:nvSpPr>
            <p:cNvPr id="1921" name="Google Shape;1921;p31"/>
            <p:cNvSpPr/>
            <p:nvPr/>
          </p:nvSpPr>
          <p:spPr>
            <a:xfrm>
              <a:off x="2959741"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22" name="Google Shape;1922;p31"/>
            <p:cNvSpPr/>
            <p:nvPr/>
          </p:nvSpPr>
          <p:spPr>
            <a:xfrm>
              <a:off x="295974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923" name="Google Shape;1923;p31"/>
          <p:cNvGrpSpPr/>
          <p:nvPr/>
        </p:nvGrpSpPr>
        <p:grpSpPr>
          <a:xfrm>
            <a:off x="3735962" y="3631266"/>
            <a:ext cx="130175" cy="431165"/>
            <a:chOff x="3735962" y="3631266"/>
            <a:chExt cx="130175" cy="431165"/>
          </a:xfrm>
        </p:grpSpPr>
        <p:sp>
          <p:nvSpPr>
            <p:cNvPr id="1924" name="Google Shape;1924;p31"/>
            <p:cNvSpPr/>
            <p:nvPr/>
          </p:nvSpPr>
          <p:spPr>
            <a:xfrm>
              <a:off x="3735962"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25" name="Google Shape;1925;p31"/>
            <p:cNvSpPr/>
            <p:nvPr/>
          </p:nvSpPr>
          <p:spPr>
            <a:xfrm>
              <a:off x="3735962"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926" name="Google Shape;1926;p31"/>
          <p:cNvGrpSpPr/>
          <p:nvPr/>
        </p:nvGrpSpPr>
        <p:grpSpPr>
          <a:xfrm>
            <a:off x="4512184" y="3627475"/>
            <a:ext cx="130175" cy="431165"/>
            <a:chOff x="4512184" y="3627475"/>
            <a:chExt cx="130175" cy="431165"/>
          </a:xfrm>
        </p:grpSpPr>
        <p:sp>
          <p:nvSpPr>
            <p:cNvPr id="1927" name="Google Shape;1927;p31"/>
            <p:cNvSpPr/>
            <p:nvPr/>
          </p:nvSpPr>
          <p:spPr>
            <a:xfrm>
              <a:off x="4512184"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28" name="Google Shape;1928;p31"/>
            <p:cNvSpPr/>
            <p:nvPr/>
          </p:nvSpPr>
          <p:spPr>
            <a:xfrm>
              <a:off x="4512184"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929" name="Google Shape;1929;p31"/>
          <p:cNvGrpSpPr/>
          <p:nvPr/>
        </p:nvGrpSpPr>
        <p:grpSpPr>
          <a:xfrm>
            <a:off x="5289456" y="3631266"/>
            <a:ext cx="130175" cy="431165"/>
            <a:chOff x="5289456" y="3631266"/>
            <a:chExt cx="130175" cy="431165"/>
          </a:xfrm>
        </p:grpSpPr>
        <p:sp>
          <p:nvSpPr>
            <p:cNvPr id="1930" name="Google Shape;1930;p31"/>
            <p:cNvSpPr/>
            <p:nvPr/>
          </p:nvSpPr>
          <p:spPr>
            <a:xfrm>
              <a:off x="5289456"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31" name="Google Shape;1931;p31"/>
            <p:cNvSpPr/>
            <p:nvPr/>
          </p:nvSpPr>
          <p:spPr>
            <a:xfrm>
              <a:off x="5289456"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932" name="Google Shape;1932;p31"/>
          <p:cNvGrpSpPr/>
          <p:nvPr/>
        </p:nvGrpSpPr>
        <p:grpSpPr>
          <a:xfrm>
            <a:off x="6061671" y="3627475"/>
            <a:ext cx="130175" cy="431165"/>
            <a:chOff x="6061671" y="3627475"/>
            <a:chExt cx="130175" cy="431165"/>
          </a:xfrm>
        </p:grpSpPr>
        <p:sp>
          <p:nvSpPr>
            <p:cNvPr id="1933" name="Google Shape;1933;p31"/>
            <p:cNvSpPr/>
            <p:nvPr/>
          </p:nvSpPr>
          <p:spPr>
            <a:xfrm>
              <a:off x="6061671"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34" name="Google Shape;1934;p31"/>
            <p:cNvSpPr/>
            <p:nvPr/>
          </p:nvSpPr>
          <p:spPr>
            <a:xfrm>
              <a:off x="606167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935" name="Google Shape;1935;p31"/>
          <p:cNvGrpSpPr/>
          <p:nvPr/>
        </p:nvGrpSpPr>
        <p:grpSpPr>
          <a:xfrm>
            <a:off x="6848395" y="3627475"/>
            <a:ext cx="130175" cy="431165"/>
            <a:chOff x="6848395" y="3627475"/>
            <a:chExt cx="130175" cy="431165"/>
          </a:xfrm>
        </p:grpSpPr>
        <p:sp>
          <p:nvSpPr>
            <p:cNvPr id="1936" name="Google Shape;1936;p31"/>
            <p:cNvSpPr/>
            <p:nvPr/>
          </p:nvSpPr>
          <p:spPr>
            <a:xfrm>
              <a:off x="6848395"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37" name="Google Shape;1937;p31"/>
            <p:cNvSpPr/>
            <p:nvPr/>
          </p:nvSpPr>
          <p:spPr>
            <a:xfrm>
              <a:off x="684839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938" name="Google Shape;1938;p31"/>
          <p:cNvGrpSpPr/>
          <p:nvPr/>
        </p:nvGrpSpPr>
        <p:grpSpPr>
          <a:xfrm>
            <a:off x="7615777" y="3627475"/>
            <a:ext cx="130175" cy="431165"/>
            <a:chOff x="7615777" y="3627475"/>
            <a:chExt cx="130175" cy="431165"/>
          </a:xfrm>
        </p:grpSpPr>
        <p:sp>
          <p:nvSpPr>
            <p:cNvPr id="1939" name="Google Shape;1939;p31"/>
            <p:cNvSpPr/>
            <p:nvPr/>
          </p:nvSpPr>
          <p:spPr>
            <a:xfrm>
              <a:off x="7615777"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40" name="Google Shape;1940;p31"/>
            <p:cNvSpPr/>
            <p:nvPr/>
          </p:nvSpPr>
          <p:spPr>
            <a:xfrm>
              <a:off x="7615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941" name="Google Shape;1941;p31"/>
          <p:cNvGrpSpPr/>
          <p:nvPr/>
        </p:nvGrpSpPr>
        <p:grpSpPr>
          <a:xfrm>
            <a:off x="8391777" y="3627475"/>
            <a:ext cx="130175" cy="431165"/>
            <a:chOff x="8391777" y="3627475"/>
            <a:chExt cx="130175" cy="431165"/>
          </a:xfrm>
        </p:grpSpPr>
        <p:sp>
          <p:nvSpPr>
            <p:cNvPr id="1942" name="Google Shape;1942;p31"/>
            <p:cNvSpPr/>
            <p:nvPr/>
          </p:nvSpPr>
          <p:spPr>
            <a:xfrm>
              <a:off x="8391777"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43" name="Google Shape;1943;p31"/>
            <p:cNvSpPr/>
            <p:nvPr/>
          </p:nvSpPr>
          <p:spPr>
            <a:xfrm>
              <a:off x="8391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944" name="Google Shape;1944;p31"/>
          <p:cNvGrpSpPr/>
          <p:nvPr/>
        </p:nvGrpSpPr>
        <p:grpSpPr>
          <a:xfrm>
            <a:off x="9168528" y="3627475"/>
            <a:ext cx="130175" cy="431165"/>
            <a:chOff x="9168528" y="3627475"/>
            <a:chExt cx="130175" cy="431165"/>
          </a:xfrm>
        </p:grpSpPr>
        <p:sp>
          <p:nvSpPr>
            <p:cNvPr id="1945" name="Google Shape;1945;p31"/>
            <p:cNvSpPr/>
            <p:nvPr/>
          </p:nvSpPr>
          <p:spPr>
            <a:xfrm>
              <a:off x="9168528"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46" name="Google Shape;1946;p31"/>
            <p:cNvSpPr/>
            <p:nvPr/>
          </p:nvSpPr>
          <p:spPr>
            <a:xfrm>
              <a:off x="9168528"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947" name="Google Shape;1947;p31"/>
          <p:cNvSpPr txBox="1"/>
          <p:nvPr/>
        </p:nvSpPr>
        <p:spPr>
          <a:xfrm>
            <a:off x="2936516" y="4004564"/>
            <a:ext cx="638429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	+	+	+	+	+	+	+	+</a:t>
            </a:r>
            <a:endParaRPr sz="2400" b="0" i="0" u="none" strike="noStrike" cap="none">
              <a:solidFill>
                <a:srgbClr val="000000"/>
              </a:solidFill>
              <a:latin typeface="Calibri"/>
              <a:ea typeface="Calibri"/>
              <a:cs typeface="Calibri"/>
              <a:sym typeface="Calibri"/>
            </a:endParaRPr>
          </a:p>
        </p:txBody>
      </p:sp>
      <p:sp>
        <p:nvSpPr>
          <p:cNvPr id="1948" name="Google Shape;1948;p31"/>
          <p:cNvSpPr txBox="1"/>
          <p:nvPr/>
        </p:nvSpPr>
        <p:spPr>
          <a:xfrm>
            <a:off x="10345797" y="1160779"/>
            <a:ext cx="1602740" cy="1125855"/>
          </a:xfrm>
          <a:prstGeom prst="rect">
            <a:avLst/>
          </a:prstGeom>
          <a:noFill/>
          <a:ln>
            <a:noFill/>
          </a:ln>
        </p:spPr>
        <p:txBody>
          <a:bodyPr spcFirstLastPara="1" wrap="square" lIns="0" tIns="11425" rIns="0" bIns="0" anchor="t" anchorCtr="0">
            <a:spAutoFit/>
          </a:bodyPr>
          <a:lstStyle/>
          <a:p>
            <a:pPr marL="12700" marR="5080" lvl="0" indent="0" algn="l" rtl="0">
              <a:lnSpc>
                <a:spcPct val="100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 C-dim vector of predicted class scores</a:t>
            </a:r>
            <a:endParaRPr sz="1800" b="0" i="0" u="none" strike="noStrike" cap="none">
              <a:solidFill>
                <a:srgbClr val="000000"/>
              </a:solidFill>
              <a:latin typeface="Calibri"/>
              <a:ea typeface="Calibri"/>
              <a:cs typeface="Calibri"/>
              <a:sym typeface="Calibri"/>
            </a:endParaRPr>
          </a:p>
        </p:txBody>
      </p:sp>
      <p:grpSp>
        <p:nvGrpSpPr>
          <p:cNvPr id="1949" name="Google Shape;1949;p31"/>
          <p:cNvGrpSpPr/>
          <p:nvPr/>
        </p:nvGrpSpPr>
        <p:grpSpPr>
          <a:xfrm>
            <a:off x="2535941" y="2675707"/>
            <a:ext cx="7881620" cy="769620"/>
            <a:chOff x="2535941" y="2675707"/>
            <a:chExt cx="7881620" cy="769620"/>
          </a:xfrm>
        </p:grpSpPr>
        <p:sp>
          <p:nvSpPr>
            <p:cNvPr id="1950" name="Google Shape;1950;p31"/>
            <p:cNvSpPr/>
            <p:nvPr/>
          </p:nvSpPr>
          <p:spPr>
            <a:xfrm>
              <a:off x="2535941" y="2675707"/>
              <a:ext cx="7881620" cy="769620"/>
            </a:xfrm>
            <a:custGeom>
              <a:avLst/>
              <a:gdLst/>
              <a:ahLst/>
              <a:cxnLst/>
              <a:rect l="l" t="t" r="r" b="b"/>
              <a:pathLst>
                <a:path w="7881620" h="769620" extrusionOk="0">
                  <a:moveTo>
                    <a:pt x="7753038" y="0"/>
                  </a:moveTo>
                  <a:lnTo>
                    <a:pt x="128234" y="0"/>
                  </a:lnTo>
                  <a:lnTo>
                    <a:pt x="78319" y="10077"/>
                  </a:lnTo>
                  <a:lnTo>
                    <a:pt x="37559" y="37559"/>
                  </a:lnTo>
                  <a:lnTo>
                    <a:pt x="10077" y="78319"/>
                  </a:lnTo>
                  <a:lnTo>
                    <a:pt x="0" y="128234"/>
                  </a:lnTo>
                  <a:lnTo>
                    <a:pt x="0" y="641184"/>
                  </a:lnTo>
                  <a:lnTo>
                    <a:pt x="10077" y="691099"/>
                  </a:lnTo>
                  <a:lnTo>
                    <a:pt x="37559" y="731860"/>
                  </a:lnTo>
                  <a:lnTo>
                    <a:pt x="78319" y="759341"/>
                  </a:lnTo>
                  <a:lnTo>
                    <a:pt x="128234" y="769419"/>
                  </a:lnTo>
                  <a:lnTo>
                    <a:pt x="7753038" y="769419"/>
                  </a:lnTo>
                  <a:lnTo>
                    <a:pt x="7802953" y="759341"/>
                  </a:lnTo>
                  <a:lnTo>
                    <a:pt x="7843714" y="731860"/>
                  </a:lnTo>
                  <a:lnTo>
                    <a:pt x="7871196" y="691099"/>
                  </a:lnTo>
                  <a:lnTo>
                    <a:pt x="7881273" y="641184"/>
                  </a:lnTo>
                  <a:lnTo>
                    <a:pt x="7881273" y="128234"/>
                  </a:lnTo>
                  <a:lnTo>
                    <a:pt x="7871196" y="78319"/>
                  </a:lnTo>
                  <a:lnTo>
                    <a:pt x="7843714" y="37559"/>
                  </a:lnTo>
                  <a:lnTo>
                    <a:pt x="7802953" y="10077"/>
                  </a:lnTo>
                  <a:lnTo>
                    <a:pt x="7753038" y="0"/>
                  </a:lnTo>
                  <a:close/>
                </a:path>
              </a:pathLst>
            </a:custGeom>
            <a:solidFill>
              <a:srgbClr val="E2F0D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51" name="Google Shape;1951;p31"/>
            <p:cNvSpPr/>
            <p:nvPr/>
          </p:nvSpPr>
          <p:spPr>
            <a:xfrm>
              <a:off x="2535941" y="2675707"/>
              <a:ext cx="7881620" cy="769620"/>
            </a:xfrm>
            <a:custGeom>
              <a:avLst/>
              <a:gdLst/>
              <a:ahLst/>
              <a:cxnLst/>
              <a:rect l="l" t="t" r="r" b="b"/>
              <a:pathLst>
                <a:path w="7881620" h="769620" extrusionOk="0">
                  <a:moveTo>
                    <a:pt x="0" y="128235"/>
                  </a:moveTo>
                  <a:lnTo>
                    <a:pt x="10077" y="78320"/>
                  </a:lnTo>
                  <a:lnTo>
                    <a:pt x="37559" y="37559"/>
                  </a:lnTo>
                  <a:lnTo>
                    <a:pt x="78319" y="10077"/>
                  </a:lnTo>
                  <a:lnTo>
                    <a:pt x="128234" y="0"/>
                  </a:lnTo>
                  <a:lnTo>
                    <a:pt x="7753040" y="0"/>
                  </a:lnTo>
                  <a:lnTo>
                    <a:pt x="7802954" y="10077"/>
                  </a:lnTo>
                  <a:lnTo>
                    <a:pt x="7843714" y="37559"/>
                  </a:lnTo>
                  <a:lnTo>
                    <a:pt x="7871196" y="78320"/>
                  </a:lnTo>
                  <a:lnTo>
                    <a:pt x="7881274" y="128235"/>
                  </a:lnTo>
                  <a:lnTo>
                    <a:pt x="7881274" y="641184"/>
                  </a:lnTo>
                  <a:lnTo>
                    <a:pt x="7871196" y="691099"/>
                  </a:lnTo>
                  <a:lnTo>
                    <a:pt x="7843714" y="731860"/>
                  </a:lnTo>
                  <a:lnTo>
                    <a:pt x="7802954" y="759342"/>
                  </a:lnTo>
                  <a:lnTo>
                    <a:pt x="7753040" y="769420"/>
                  </a:lnTo>
                  <a:lnTo>
                    <a:pt x="128234" y="769420"/>
                  </a:lnTo>
                  <a:lnTo>
                    <a:pt x="78319" y="759342"/>
                  </a:lnTo>
                  <a:lnTo>
                    <a:pt x="37559" y="731860"/>
                  </a:lnTo>
                  <a:lnTo>
                    <a:pt x="10077" y="691099"/>
                  </a:lnTo>
                  <a:lnTo>
                    <a:pt x="0" y="641184"/>
                  </a:lnTo>
                  <a:lnTo>
                    <a:pt x="0" y="128235"/>
                  </a:lnTo>
                  <a:close/>
                </a:path>
              </a:pathLst>
            </a:custGeom>
            <a:noFill/>
            <a:ln w="12700" cap="flat" cmpd="sng">
              <a:solidFill>
                <a:srgbClr val="70AD47"/>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952" name="Google Shape;1952;p31"/>
          <p:cNvSpPr txBox="1"/>
          <p:nvPr/>
        </p:nvSpPr>
        <p:spPr>
          <a:xfrm>
            <a:off x="5585417" y="2807715"/>
            <a:ext cx="178308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Transformer</a:t>
            </a:r>
            <a:endParaRPr sz="2800" b="0" i="0" u="none" strike="noStrike" cap="none">
              <a:solidFill>
                <a:srgbClr val="000000"/>
              </a:solidFill>
              <a:latin typeface="Calibri"/>
              <a:ea typeface="Calibri"/>
              <a:cs typeface="Calibri"/>
              <a:sym typeface="Calibri"/>
            </a:endParaRPr>
          </a:p>
        </p:txBody>
      </p:sp>
      <p:sp>
        <p:nvSpPr>
          <p:cNvPr id="1953" name="Google Shape;1953;p31"/>
          <p:cNvSpPr txBox="1"/>
          <p:nvPr/>
        </p:nvSpPr>
        <p:spPr>
          <a:xfrm>
            <a:off x="276038" y="4817126"/>
            <a:ext cx="2040889" cy="1021080"/>
          </a:xfrm>
          <a:prstGeom prst="rect">
            <a:avLst/>
          </a:prstGeom>
          <a:noFill/>
          <a:ln>
            <a:noFill/>
          </a:ln>
        </p:spPr>
        <p:txBody>
          <a:bodyPr spcFirstLastPara="1" wrap="square" lIns="0" tIns="1250" rIns="0" bIns="0" anchor="t" anchorCtr="0">
            <a:spAutoFit/>
          </a:bodyPr>
          <a:lstStyle/>
          <a:p>
            <a:pPr marL="17145"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D-dimensional vector</a:t>
            </a:r>
            <a:endParaRPr sz="1800" b="0" i="0" u="none" strike="noStrike" cap="none">
              <a:solidFill>
                <a:srgbClr val="000000"/>
              </a:solidFill>
              <a:latin typeface="Calibri"/>
              <a:ea typeface="Calibri"/>
              <a:cs typeface="Calibri"/>
              <a:sym typeface="Calibri"/>
            </a:endParaRPr>
          </a:p>
          <a:p>
            <a:pPr marL="12700" marR="5080" lvl="0" indent="0" algn="l" rtl="0">
              <a:lnSpc>
                <a:spcPct val="117222"/>
              </a:lnSpc>
              <a:spcBef>
                <a:spcPts val="148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N input patches, each of shape 3x16x16</a:t>
            </a:r>
            <a:endParaRPr sz="1800" b="0" i="0" u="none" strike="noStrike" cap="none">
              <a:solidFill>
                <a:srgbClr val="000000"/>
              </a:solidFill>
              <a:latin typeface="Calibri"/>
              <a:ea typeface="Calibri"/>
              <a:cs typeface="Calibri"/>
              <a:sym typeface="Calibri"/>
            </a:endParaRPr>
          </a:p>
        </p:txBody>
      </p:sp>
      <p:sp>
        <p:nvSpPr>
          <p:cNvPr id="1954" name="Google Shape;1954;p31"/>
          <p:cNvSpPr txBox="1"/>
          <p:nvPr/>
        </p:nvSpPr>
        <p:spPr>
          <a:xfrm>
            <a:off x="10251213" y="5962476"/>
            <a:ext cx="1861185" cy="375920"/>
          </a:xfrm>
          <a:prstGeom prst="rect">
            <a:avLst/>
          </a:prstGeom>
          <a:noFill/>
          <a:ln>
            <a:noFill/>
          </a:ln>
        </p:spPr>
        <p:txBody>
          <a:bodyPr spcFirstLastPara="1" wrap="square" lIns="0" tIns="1250" rIns="0" bIns="0" anchor="t" anchorCtr="0">
            <a:spAutoFit/>
          </a:bodyPr>
          <a:lstStyle/>
          <a:p>
            <a:pPr marL="296545" marR="5080" lvl="0" indent="-284480" algn="l" rtl="0">
              <a:lnSpc>
                <a:spcPct val="129090"/>
              </a:lnSpc>
              <a:spcBef>
                <a:spcPts val="0"/>
              </a:spcBef>
              <a:spcAft>
                <a:spcPts val="0"/>
              </a:spcAft>
              <a:buClr>
                <a:srgbClr val="0563C1"/>
              </a:buClr>
              <a:buSzPts val="1100"/>
              <a:buFont typeface="Arial"/>
              <a:buNone/>
            </a:pPr>
            <a:r>
              <a:rPr lang="en-US" sz="1100" b="0" i="0" u="sng" strike="noStrike" cap="none">
                <a:solidFill>
                  <a:srgbClr val="0563C1"/>
                </a:solidFill>
                <a:latin typeface="Calibri"/>
                <a:ea typeface="Calibri"/>
                <a:cs typeface="Calibri"/>
                <a:sym typeface="Calibri"/>
              </a:rPr>
              <a:t>Cat image</a:t>
            </a:r>
            <a:r>
              <a:rPr lang="en-US" sz="1100" b="0" i="0" u="none" strike="noStrike" cap="none">
                <a:solidFill>
                  <a:srgbClr val="0563C1"/>
                </a:solidFill>
                <a:latin typeface="Calibri"/>
                <a:ea typeface="Calibri"/>
                <a:cs typeface="Calibri"/>
                <a:sym typeface="Calibri"/>
              </a:rPr>
              <a:t> </a:t>
            </a:r>
            <a:r>
              <a:rPr lang="en-US" sz="1100" b="0" i="0" u="none" strike="noStrike" cap="none">
                <a:solidFill>
                  <a:srgbClr val="000000"/>
                </a:solidFill>
                <a:latin typeface="Calibri"/>
                <a:ea typeface="Calibri"/>
                <a:cs typeface="Calibri"/>
                <a:sym typeface="Calibri"/>
              </a:rPr>
              <a:t>is free for commercial use under a </a:t>
            </a:r>
            <a:r>
              <a:rPr lang="en-US" sz="1100" b="0" i="0" u="sng" strike="noStrike" cap="none">
                <a:solidFill>
                  <a:srgbClr val="0563C1"/>
                </a:solidFill>
                <a:latin typeface="Calibri"/>
                <a:ea typeface="Calibri"/>
                <a:cs typeface="Calibri"/>
                <a:sym typeface="Calibri"/>
              </a:rPr>
              <a:t>Pixabay license</a:t>
            </a:r>
            <a:endParaRPr sz="1100" b="0" i="0" u="none" strike="noStrike" cap="none">
              <a:solidFill>
                <a:srgbClr val="000000"/>
              </a:solidFill>
              <a:latin typeface="Calibri"/>
              <a:ea typeface="Calibri"/>
              <a:cs typeface="Calibri"/>
              <a:sym typeface="Calibri"/>
            </a:endParaRPr>
          </a:p>
        </p:txBody>
      </p:sp>
      <p:sp>
        <p:nvSpPr>
          <p:cNvPr id="1955" name="Google Shape;1955;p31"/>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1956" name="Google Shape;1956;p31"/>
          <p:cNvSpPr txBox="1"/>
          <p:nvPr/>
        </p:nvSpPr>
        <p:spPr>
          <a:xfrm>
            <a:off x="449923" y="931163"/>
            <a:ext cx="4213860" cy="93980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Clr>
                <a:srgbClr val="70AD47"/>
              </a:buClr>
              <a:buSzPts val="2000"/>
              <a:buFont typeface="Arial"/>
              <a:buNone/>
            </a:pPr>
            <a:r>
              <a:rPr lang="en-US" sz="2000" b="0" i="0" u="none" strike="noStrike" cap="none">
                <a:solidFill>
                  <a:srgbClr val="70AD47"/>
                </a:solidFill>
                <a:latin typeface="Calibri"/>
                <a:ea typeface="Calibri"/>
                <a:cs typeface="Calibri"/>
                <a:sym typeface="Calibri"/>
              </a:rPr>
              <a:t>In practice: take 224x224 input image, divide into 14x14 grid of 16x16 pixel patches (or 16x16 grid of 14x14 patches)</a:t>
            </a:r>
            <a:endParaRPr sz="2000" b="0" i="0" u="none" strike="noStrike" cap="none">
              <a:solidFill>
                <a:srgbClr val="000000"/>
              </a:solidFill>
              <a:latin typeface="Calibri"/>
              <a:ea typeface="Calibri"/>
              <a:cs typeface="Calibri"/>
              <a:sym typeface="Calibri"/>
            </a:endParaRPr>
          </a:p>
        </p:txBody>
      </p:sp>
      <p:sp>
        <p:nvSpPr>
          <p:cNvPr id="1957" name="Google Shape;1957;p31"/>
          <p:cNvSpPr txBox="1"/>
          <p:nvPr/>
        </p:nvSpPr>
        <p:spPr>
          <a:xfrm>
            <a:off x="5828268" y="928115"/>
            <a:ext cx="2956560" cy="93980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Clr>
                <a:srgbClr val="70AD47"/>
              </a:buClr>
              <a:buSzPts val="2000"/>
              <a:buFont typeface="Arial"/>
              <a:buNone/>
            </a:pPr>
            <a:r>
              <a:rPr lang="en-US" sz="2000" b="0" i="0" u="none" strike="noStrike" cap="none">
                <a:solidFill>
                  <a:srgbClr val="70AD47"/>
                </a:solidFill>
                <a:latin typeface="Calibri"/>
                <a:ea typeface="Calibri"/>
                <a:cs typeface="Calibri"/>
                <a:sym typeface="Calibri"/>
              </a:rPr>
              <a:t>With 48 layers, 16 heads per layer, all attention matrices take 112 MB (or 192MB)</a:t>
            </a:r>
            <a:endParaRPr sz="2000" b="0" i="0" u="none" strike="noStrike" cap="none">
              <a:solidFill>
                <a:srgbClr val="000000"/>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961"/>
        <p:cNvGrpSpPr/>
        <p:nvPr/>
      </p:nvGrpSpPr>
      <p:grpSpPr>
        <a:xfrm>
          <a:off x="0" y="0"/>
          <a:ext cx="0" cy="0"/>
          <a:chOff x="0" y="0"/>
          <a:chExt cx="0" cy="0"/>
        </a:xfrm>
      </p:grpSpPr>
      <p:sp>
        <p:nvSpPr>
          <p:cNvPr id="1962" name="Google Shape;1962;p32"/>
          <p:cNvSpPr txBox="1">
            <a:spLocks noGrp="1"/>
          </p:cNvSpPr>
          <p:nvPr>
            <p:ph type="title"/>
          </p:nvPr>
        </p:nvSpPr>
        <p:spPr>
          <a:xfrm>
            <a:off x="978290" y="332739"/>
            <a:ext cx="10493100" cy="628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a:t>
            </a:r>
            <a:endParaRPr/>
          </a:p>
        </p:txBody>
      </p:sp>
      <p:grpSp>
        <p:nvGrpSpPr>
          <p:cNvPr id="1963" name="Google Shape;1963;p32"/>
          <p:cNvGrpSpPr/>
          <p:nvPr/>
        </p:nvGrpSpPr>
        <p:grpSpPr>
          <a:xfrm>
            <a:off x="2535941" y="4400222"/>
            <a:ext cx="683958" cy="1475057"/>
            <a:chOff x="2535941" y="4400222"/>
            <a:chExt cx="683958" cy="1475057"/>
          </a:xfrm>
        </p:grpSpPr>
        <p:sp>
          <p:nvSpPr>
            <p:cNvPr id="1964" name="Google Shape;1964;p32"/>
            <p:cNvSpPr/>
            <p:nvPr/>
          </p:nvSpPr>
          <p:spPr>
            <a:xfrm>
              <a:off x="2802577"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5" name="Google Shape;1965;p32"/>
            <p:cNvSpPr/>
            <p:nvPr/>
          </p:nvSpPr>
          <p:spPr>
            <a:xfrm>
              <a:off x="2802577"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6" name="Google Shape;1966;p32"/>
            <p:cNvSpPr/>
            <p:nvPr/>
          </p:nvSpPr>
          <p:spPr>
            <a:xfrm>
              <a:off x="2829572" y="4831110"/>
              <a:ext cx="76200" cy="404495"/>
            </a:xfrm>
            <a:custGeom>
              <a:avLst/>
              <a:gdLst/>
              <a:ahLst/>
              <a:cxnLst/>
              <a:rect l="l" t="t" r="r" b="b"/>
              <a:pathLst>
                <a:path w="76200" h="404495" extrusionOk="0">
                  <a:moveTo>
                    <a:pt x="50799" y="76183"/>
                  </a:moveTo>
                  <a:lnTo>
                    <a:pt x="25399" y="76217"/>
                  </a:lnTo>
                  <a:lnTo>
                    <a:pt x="25840" y="404106"/>
                  </a:lnTo>
                  <a:lnTo>
                    <a:pt x="51240" y="404072"/>
                  </a:lnTo>
                  <a:lnTo>
                    <a:pt x="50799" y="76183"/>
                  </a:lnTo>
                  <a:close/>
                </a:path>
                <a:path w="76200" h="404495" extrusionOk="0">
                  <a:moveTo>
                    <a:pt x="37997" y="0"/>
                  </a:moveTo>
                  <a:lnTo>
                    <a:pt x="0" y="76252"/>
                  </a:lnTo>
                  <a:lnTo>
                    <a:pt x="25399" y="76217"/>
                  </a:lnTo>
                  <a:lnTo>
                    <a:pt x="25382" y="63517"/>
                  </a:lnTo>
                  <a:lnTo>
                    <a:pt x="69845" y="63483"/>
                  </a:lnTo>
                  <a:lnTo>
                    <a:pt x="37997" y="0"/>
                  </a:lnTo>
                  <a:close/>
                </a:path>
                <a:path w="76200" h="404495" extrusionOk="0">
                  <a:moveTo>
                    <a:pt x="50782" y="63483"/>
                  </a:moveTo>
                  <a:lnTo>
                    <a:pt x="25382" y="63517"/>
                  </a:lnTo>
                  <a:lnTo>
                    <a:pt x="25399" y="76217"/>
                  </a:lnTo>
                  <a:lnTo>
                    <a:pt x="50799" y="76183"/>
                  </a:lnTo>
                  <a:lnTo>
                    <a:pt x="50782" y="63483"/>
                  </a:lnTo>
                  <a:close/>
                </a:path>
                <a:path w="76200" h="404495" extrusionOk="0">
                  <a:moveTo>
                    <a:pt x="69845" y="63483"/>
                  </a:moveTo>
                  <a:lnTo>
                    <a:pt x="50782" y="63483"/>
                  </a:lnTo>
                  <a:lnTo>
                    <a:pt x="50799" y="76183"/>
                  </a:lnTo>
                  <a:lnTo>
                    <a:pt x="76200" y="76149"/>
                  </a:lnTo>
                  <a:lnTo>
                    <a:pt x="69845" y="6348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967" name="Google Shape;1967;p32"/>
            <p:cNvPicPr preferRelativeResize="0"/>
            <p:nvPr/>
          </p:nvPicPr>
          <p:blipFill rotWithShape="1">
            <a:blip r:embed="rId3">
              <a:alphaModFix/>
            </a:blip>
            <a:srcRect/>
            <a:stretch/>
          </p:blipFill>
          <p:spPr>
            <a:xfrm>
              <a:off x="2535941" y="5235200"/>
              <a:ext cx="639705" cy="640079"/>
            </a:xfrm>
            <a:prstGeom prst="rect">
              <a:avLst/>
            </a:prstGeom>
            <a:noFill/>
            <a:ln>
              <a:noFill/>
            </a:ln>
          </p:spPr>
        </p:pic>
        <p:sp>
          <p:nvSpPr>
            <p:cNvPr id="1968" name="Google Shape;1968;p32"/>
            <p:cNvSpPr/>
            <p:nvPr/>
          </p:nvSpPr>
          <p:spPr>
            <a:xfrm>
              <a:off x="3089724"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9" name="Google Shape;1969;p32"/>
            <p:cNvSpPr/>
            <p:nvPr/>
          </p:nvSpPr>
          <p:spPr>
            <a:xfrm>
              <a:off x="3089724"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970" name="Google Shape;1970;p32"/>
          <p:cNvGrpSpPr/>
          <p:nvPr/>
        </p:nvGrpSpPr>
        <p:grpSpPr>
          <a:xfrm>
            <a:off x="3312686" y="4404013"/>
            <a:ext cx="683436" cy="1471266"/>
            <a:chOff x="3312686" y="4404013"/>
            <a:chExt cx="683436" cy="1471266"/>
          </a:xfrm>
        </p:grpSpPr>
        <p:sp>
          <p:nvSpPr>
            <p:cNvPr id="1971" name="Google Shape;1971;p32"/>
            <p:cNvSpPr/>
            <p:nvPr/>
          </p:nvSpPr>
          <p:spPr>
            <a:xfrm>
              <a:off x="3578800" y="4404013"/>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2" name="Google Shape;1972;p32"/>
            <p:cNvSpPr/>
            <p:nvPr/>
          </p:nvSpPr>
          <p:spPr>
            <a:xfrm>
              <a:off x="3578800"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3" name="Google Shape;1973;p32"/>
            <p:cNvSpPr/>
            <p:nvPr/>
          </p:nvSpPr>
          <p:spPr>
            <a:xfrm>
              <a:off x="3605753" y="4834901"/>
              <a:ext cx="76200" cy="400685"/>
            </a:xfrm>
            <a:custGeom>
              <a:avLst/>
              <a:gdLst/>
              <a:ahLst/>
              <a:cxnLst/>
              <a:rect l="l" t="t" r="r" b="b"/>
              <a:pathLst>
                <a:path w="76200" h="400685" extrusionOk="0">
                  <a:moveTo>
                    <a:pt x="50800" y="76190"/>
                  </a:moveTo>
                  <a:lnTo>
                    <a:pt x="25400" y="76211"/>
                  </a:lnTo>
                  <a:lnTo>
                    <a:pt x="25660" y="400309"/>
                  </a:lnTo>
                  <a:lnTo>
                    <a:pt x="51060" y="400288"/>
                  </a:lnTo>
                  <a:lnTo>
                    <a:pt x="50800" y="76190"/>
                  </a:lnTo>
                  <a:close/>
                </a:path>
                <a:path w="76200" h="400685" extrusionOk="0">
                  <a:moveTo>
                    <a:pt x="38037" y="0"/>
                  </a:moveTo>
                  <a:lnTo>
                    <a:pt x="0" y="76231"/>
                  </a:lnTo>
                  <a:lnTo>
                    <a:pt x="25400" y="76211"/>
                  </a:lnTo>
                  <a:lnTo>
                    <a:pt x="25389" y="63510"/>
                  </a:lnTo>
                  <a:lnTo>
                    <a:pt x="69847" y="63489"/>
                  </a:lnTo>
                  <a:lnTo>
                    <a:pt x="38037"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974" name="Google Shape;1974;p32"/>
            <p:cNvPicPr preferRelativeResize="0"/>
            <p:nvPr/>
          </p:nvPicPr>
          <p:blipFill rotWithShape="1">
            <a:blip r:embed="rId4">
              <a:alphaModFix/>
            </a:blip>
            <a:srcRect/>
            <a:stretch/>
          </p:blipFill>
          <p:spPr>
            <a:xfrm>
              <a:off x="3312686" y="5235200"/>
              <a:ext cx="639705" cy="640079"/>
            </a:xfrm>
            <a:prstGeom prst="rect">
              <a:avLst/>
            </a:prstGeom>
            <a:noFill/>
            <a:ln>
              <a:noFill/>
            </a:ln>
          </p:spPr>
        </p:pic>
        <p:sp>
          <p:nvSpPr>
            <p:cNvPr id="1975" name="Google Shape;1975;p32"/>
            <p:cNvSpPr/>
            <p:nvPr/>
          </p:nvSpPr>
          <p:spPr>
            <a:xfrm>
              <a:off x="3865947" y="440599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6" name="Google Shape;1976;p32"/>
            <p:cNvSpPr/>
            <p:nvPr/>
          </p:nvSpPr>
          <p:spPr>
            <a:xfrm>
              <a:off x="3865947"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977" name="Google Shape;1977;p32"/>
          <p:cNvGrpSpPr/>
          <p:nvPr/>
        </p:nvGrpSpPr>
        <p:grpSpPr>
          <a:xfrm>
            <a:off x="4089432" y="4400222"/>
            <a:ext cx="682911" cy="1475057"/>
            <a:chOff x="4089432" y="4400222"/>
            <a:chExt cx="682911" cy="1475057"/>
          </a:xfrm>
        </p:grpSpPr>
        <p:sp>
          <p:nvSpPr>
            <p:cNvPr id="1978" name="Google Shape;1978;p32"/>
            <p:cNvSpPr/>
            <p:nvPr/>
          </p:nvSpPr>
          <p:spPr>
            <a:xfrm>
              <a:off x="4355021"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9" name="Google Shape;1979;p32"/>
            <p:cNvSpPr/>
            <p:nvPr/>
          </p:nvSpPr>
          <p:spPr>
            <a:xfrm>
              <a:off x="4355021"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0" name="Google Shape;1980;p32"/>
            <p:cNvSpPr/>
            <p:nvPr/>
          </p:nvSpPr>
          <p:spPr>
            <a:xfrm>
              <a:off x="4382073" y="4831110"/>
              <a:ext cx="76200" cy="404495"/>
            </a:xfrm>
            <a:custGeom>
              <a:avLst/>
              <a:gdLst/>
              <a:ahLst/>
              <a:cxnLst/>
              <a:rect l="l" t="t" r="r" b="b"/>
              <a:pathLst>
                <a:path w="76200" h="404495" extrusionOk="0">
                  <a:moveTo>
                    <a:pt x="50799" y="76173"/>
                  </a:moveTo>
                  <a:lnTo>
                    <a:pt x="25399" y="76226"/>
                  </a:lnTo>
                  <a:lnTo>
                    <a:pt x="26087" y="404116"/>
                  </a:lnTo>
                  <a:lnTo>
                    <a:pt x="51487" y="404063"/>
                  </a:lnTo>
                  <a:lnTo>
                    <a:pt x="50799" y="76173"/>
                  </a:lnTo>
                  <a:close/>
                </a:path>
                <a:path w="76200" h="404495" extrusionOk="0">
                  <a:moveTo>
                    <a:pt x="37939" y="0"/>
                  </a:moveTo>
                  <a:lnTo>
                    <a:pt x="0" y="76280"/>
                  </a:lnTo>
                  <a:lnTo>
                    <a:pt x="25399" y="76226"/>
                  </a:lnTo>
                  <a:lnTo>
                    <a:pt x="25373" y="63526"/>
                  </a:lnTo>
                  <a:lnTo>
                    <a:pt x="69843" y="63473"/>
                  </a:lnTo>
                  <a:lnTo>
                    <a:pt x="37939" y="0"/>
                  </a:lnTo>
                  <a:close/>
                </a:path>
                <a:path w="76200" h="404495" extrusionOk="0">
                  <a:moveTo>
                    <a:pt x="50773" y="63473"/>
                  </a:moveTo>
                  <a:lnTo>
                    <a:pt x="25373" y="63526"/>
                  </a:lnTo>
                  <a:lnTo>
                    <a:pt x="25399" y="76226"/>
                  </a:lnTo>
                  <a:lnTo>
                    <a:pt x="50799" y="76173"/>
                  </a:lnTo>
                  <a:lnTo>
                    <a:pt x="50773" y="63473"/>
                  </a:lnTo>
                  <a:close/>
                </a:path>
                <a:path w="76200" h="404495" extrusionOk="0">
                  <a:moveTo>
                    <a:pt x="69843" y="63473"/>
                  </a:moveTo>
                  <a:lnTo>
                    <a:pt x="50773" y="63473"/>
                  </a:lnTo>
                  <a:lnTo>
                    <a:pt x="50799" y="76173"/>
                  </a:lnTo>
                  <a:lnTo>
                    <a:pt x="76200" y="76119"/>
                  </a:lnTo>
                  <a:lnTo>
                    <a:pt x="69843" y="6347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981" name="Google Shape;1981;p32"/>
            <p:cNvPicPr preferRelativeResize="0"/>
            <p:nvPr/>
          </p:nvPicPr>
          <p:blipFill rotWithShape="1">
            <a:blip r:embed="rId5">
              <a:alphaModFix/>
            </a:blip>
            <a:srcRect/>
            <a:stretch/>
          </p:blipFill>
          <p:spPr>
            <a:xfrm>
              <a:off x="4089432" y="5235200"/>
              <a:ext cx="639705" cy="640079"/>
            </a:xfrm>
            <a:prstGeom prst="rect">
              <a:avLst/>
            </a:prstGeom>
            <a:noFill/>
            <a:ln>
              <a:noFill/>
            </a:ln>
          </p:spPr>
        </p:pic>
        <p:sp>
          <p:nvSpPr>
            <p:cNvPr id="1982" name="Google Shape;1982;p32"/>
            <p:cNvSpPr/>
            <p:nvPr/>
          </p:nvSpPr>
          <p:spPr>
            <a:xfrm>
              <a:off x="4642168"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3" name="Google Shape;1983;p32"/>
            <p:cNvSpPr/>
            <p:nvPr/>
          </p:nvSpPr>
          <p:spPr>
            <a:xfrm>
              <a:off x="4642168"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984" name="Google Shape;1984;p32"/>
          <p:cNvGrpSpPr/>
          <p:nvPr/>
        </p:nvGrpSpPr>
        <p:grpSpPr>
          <a:xfrm>
            <a:off x="4866180" y="4404013"/>
            <a:ext cx="683434" cy="1471266"/>
            <a:chOff x="4866180" y="4404013"/>
            <a:chExt cx="683434" cy="1471266"/>
          </a:xfrm>
        </p:grpSpPr>
        <p:sp>
          <p:nvSpPr>
            <p:cNvPr id="1985" name="Google Shape;1985;p32"/>
            <p:cNvSpPr/>
            <p:nvPr/>
          </p:nvSpPr>
          <p:spPr>
            <a:xfrm>
              <a:off x="5132292" y="4404013"/>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6" name="Google Shape;1986;p32"/>
            <p:cNvSpPr/>
            <p:nvPr/>
          </p:nvSpPr>
          <p:spPr>
            <a:xfrm>
              <a:off x="5132292" y="4404013"/>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7" name="Google Shape;1987;p32"/>
            <p:cNvSpPr/>
            <p:nvPr/>
          </p:nvSpPr>
          <p:spPr>
            <a:xfrm>
              <a:off x="5159245" y="4834901"/>
              <a:ext cx="76200" cy="400685"/>
            </a:xfrm>
            <a:custGeom>
              <a:avLst/>
              <a:gdLst/>
              <a:ahLst/>
              <a:cxnLst/>
              <a:rect l="l" t="t" r="r" b="b"/>
              <a:pathLst>
                <a:path w="76200" h="400685" extrusionOk="0">
                  <a:moveTo>
                    <a:pt x="50800" y="76190"/>
                  </a:moveTo>
                  <a:lnTo>
                    <a:pt x="25400" y="76211"/>
                  </a:lnTo>
                  <a:lnTo>
                    <a:pt x="25661" y="400319"/>
                  </a:lnTo>
                  <a:lnTo>
                    <a:pt x="51061" y="400298"/>
                  </a:lnTo>
                  <a:lnTo>
                    <a:pt x="50800" y="76190"/>
                  </a:lnTo>
                  <a:close/>
                </a:path>
                <a:path w="76200" h="400685" extrusionOk="0">
                  <a:moveTo>
                    <a:pt x="38039" y="0"/>
                  </a:moveTo>
                  <a:lnTo>
                    <a:pt x="0" y="76231"/>
                  </a:lnTo>
                  <a:lnTo>
                    <a:pt x="25400" y="76211"/>
                  </a:lnTo>
                  <a:lnTo>
                    <a:pt x="25389" y="63510"/>
                  </a:lnTo>
                  <a:lnTo>
                    <a:pt x="69847" y="63489"/>
                  </a:lnTo>
                  <a:lnTo>
                    <a:pt x="38039" y="0"/>
                  </a:lnTo>
                  <a:close/>
                </a:path>
                <a:path w="76200" h="400685" extrusionOk="0">
                  <a:moveTo>
                    <a:pt x="50789" y="63489"/>
                  </a:moveTo>
                  <a:lnTo>
                    <a:pt x="25389" y="63510"/>
                  </a:lnTo>
                  <a:lnTo>
                    <a:pt x="25400" y="76211"/>
                  </a:lnTo>
                  <a:lnTo>
                    <a:pt x="50800" y="76190"/>
                  </a:lnTo>
                  <a:lnTo>
                    <a:pt x="50789" y="63489"/>
                  </a:lnTo>
                  <a:close/>
                </a:path>
                <a:path w="76200" h="400685" extrusionOk="0">
                  <a:moveTo>
                    <a:pt x="69847" y="63489"/>
                  </a:moveTo>
                  <a:lnTo>
                    <a:pt x="50789" y="63489"/>
                  </a:lnTo>
                  <a:lnTo>
                    <a:pt x="50800" y="76190"/>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988" name="Google Shape;1988;p32"/>
            <p:cNvPicPr preferRelativeResize="0"/>
            <p:nvPr/>
          </p:nvPicPr>
          <p:blipFill rotWithShape="1">
            <a:blip r:embed="rId6">
              <a:alphaModFix/>
            </a:blip>
            <a:srcRect/>
            <a:stretch/>
          </p:blipFill>
          <p:spPr>
            <a:xfrm>
              <a:off x="4866180" y="5235200"/>
              <a:ext cx="639705" cy="640079"/>
            </a:xfrm>
            <a:prstGeom prst="rect">
              <a:avLst/>
            </a:prstGeom>
            <a:noFill/>
            <a:ln>
              <a:noFill/>
            </a:ln>
          </p:spPr>
        </p:pic>
        <p:sp>
          <p:nvSpPr>
            <p:cNvPr id="1989" name="Google Shape;1989;p32"/>
            <p:cNvSpPr/>
            <p:nvPr/>
          </p:nvSpPr>
          <p:spPr>
            <a:xfrm>
              <a:off x="5419439" y="440599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0" name="Google Shape;1990;p32"/>
            <p:cNvSpPr/>
            <p:nvPr/>
          </p:nvSpPr>
          <p:spPr>
            <a:xfrm>
              <a:off x="5419439" y="440599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991" name="Google Shape;1991;p32"/>
          <p:cNvGrpSpPr/>
          <p:nvPr/>
        </p:nvGrpSpPr>
        <p:grpSpPr>
          <a:xfrm>
            <a:off x="5645272" y="4400222"/>
            <a:ext cx="676559" cy="1475057"/>
            <a:chOff x="5645272" y="4400222"/>
            <a:chExt cx="676559" cy="1475057"/>
          </a:xfrm>
        </p:grpSpPr>
        <p:sp>
          <p:nvSpPr>
            <p:cNvPr id="1992" name="Google Shape;1992;p32"/>
            <p:cNvSpPr/>
            <p:nvPr/>
          </p:nvSpPr>
          <p:spPr>
            <a:xfrm>
              <a:off x="5904509"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3" name="Google Shape;1993;p32"/>
            <p:cNvSpPr/>
            <p:nvPr/>
          </p:nvSpPr>
          <p:spPr>
            <a:xfrm>
              <a:off x="5904509"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4" name="Google Shape;1994;p32"/>
            <p:cNvSpPr/>
            <p:nvPr/>
          </p:nvSpPr>
          <p:spPr>
            <a:xfrm>
              <a:off x="5932177" y="4831110"/>
              <a:ext cx="76200" cy="404495"/>
            </a:xfrm>
            <a:custGeom>
              <a:avLst/>
              <a:gdLst/>
              <a:ahLst/>
              <a:cxnLst/>
              <a:rect l="l" t="t" r="r" b="b"/>
              <a:pathLst>
                <a:path w="76200" h="404495" extrusionOk="0">
                  <a:moveTo>
                    <a:pt x="50796" y="76067"/>
                  </a:moveTo>
                  <a:lnTo>
                    <a:pt x="25398" y="76325"/>
                  </a:lnTo>
                  <a:lnTo>
                    <a:pt x="28731" y="404228"/>
                  </a:lnTo>
                  <a:lnTo>
                    <a:pt x="54129" y="403970"/>
                  </a:lnTo>
                  <a:lnTo>
                    <a:pt x="50796" y="76067"/>
                  </a:lnTo>
                  <a:close/>
                </a:path>
                <a:path w="76200" h="404495" extrusionOk="0">
                  <a:moveTo>
                    <a:pt x="37322" y="0"/>
                  </a:moveTo>
                  <a:lnTo>
                    <a:pt x="0" y="76583"/>
                  </a:lnTo>
                  <a:lnTo>
                    <a:pt x="25398" y="76325"/>
                  </a:lnTo>
                  <a:lnTo>
                    <a:pt x="25269" y="63626"/>
                  </a:lnTo>
                  <a:lnTo>
                    <a:pt x="50667" y="63367"/>
                  </a:lnTo>
                  <a:lnTo>
                    <a:pt x="69815" y="63367"/>
                  </a:lnTo>
                  <a:lnTo>
                    <a:pt x="37322" y="0"/>
                  </a:lnTo>
                  <a:close/>
                </a:path>
                <a:path w="76200" h="404495" extrusionOk="0">
                  <a:moveTo>
                    <a:pt x="50667" y="63367"/>
                  </a:moveTo>
                  <a:lnTo>
                    <a:pt x="25269" y="63626"/>
                  </a:lnTo>
                  <a:lnTo>
                    <a:pt x="25398" y="76325"/>
                  </a:lnTo>
                  <a:lnTo>
                    <a:pt x="50796" y="76067"/>
                  </a:lnTo>
                  <a:lnTo>
                    <a:pt x="50667" y="63367"/>
                  </a:lnTo>
                  <a:close/>
                </a:path>
                <a:path w="76200" h="404495" extrusionOk="0">
                  <a:moveTo>
                    <a:pt x="69815" y="63367"/>
                  </a:moveTo>
                  <a:lnTo>
                    <a:pt x="50667" y="63367"/>
                  </a:lnTo>
                  <a:lnTo>
                    <a:pt x="50796" y="76067"/>
                  </a:lnTo>
                  <a:lnTo>
                    <a:pt x="76194" y="75808"/>
                  </a:lnTo>
                  <a:lnTo>
                    <a:pt x="69815" y="6336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995" name="Google Shape;1995;p32"/>
            <p:cNvPicPr preferRelativeResize="0"/>
            <p:nvPr/>
          </p:nvPicPr>
          <p:blipFill rotWithShape="1">
            <a:blip r:embed="rId7">
              <a:alphaModFix/>
            </a:blip>
            <a:srcRect/>
            <a:stretch/>
          </p:blipFill>
          <p:spPr>
            <a:xfrm>
              <a:off x="5645272" y="5235200"/>
              <a:ext cx="639705" cy="640079"/>
            </a:xfrm>
            <a:prstGeom prst="rect">
              <a:avLst/>
            </a:prstGeom>
            <a:noFill/>
            <a:ln>
              <a:noFill/>
            </a:ln>
          </p:spPr>
        </p:pic>
        <p:sp>
          <p:nvSpPr>
            <p:cNvPr id="1996" name="Google Shape;1996;p32"/>
            <p:cNvSpPr/>
            <p:nvPr/>
          </p:nvSpPr>
          <p:spPr>
            <a:xfrm>
              <a:off x="6191656"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7" name="Google Shape;1997;p32"/>
            <p:cNvSpPr/>
            <p:nvPr/>
          </p:nvSpPr>
          <p:spPr>
            <a:xfrm>
              <a:off x="6191656"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998" name="Google Shape;1998;p32"/>
          <p:cNvGrpSpPr/>
          <p:nvPr/>
        </p:nvGrpSpPr>
        <p:grpSpPr>
          <a:xfrm>
            <a:off x="6419682" y="4400222"/>
            <a:ext cx="688872" cy="1475057"/>
            <a:chOff x="6419682" y="4400222"/>
            <a:chExt cx="688872" cy="1475057"/>
          </a:xfrm>
        </p:grpSpPr>
        <p:sp>
          <p:nvSpPr>
            <p:cNvPr id="1999" name="Google Shape;1999;p32"/>
            <p:cNvSpPr/>
            <p:nvPr/>
          </p:nvSpPr>
          <p:spPr>
            <a:xfrm>
              <a:off x="6691232"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0" name="Google Shape;2000;p32"/>
            <p:cNvSpPr/>
            <p:nvPr/>
          </p:nvSpPr>
          <p:spPr>
            <a:xfrm>
              <a:off x="6691232"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1" name="Google Shape;2001;p32"/>
            <p:cNvSpPr/>
            <p:nvPr/>
          </p:nvSpPr>
          <p:spPr>
            <a:xfrm>
              <a:off x="6717023" y="4831110"/>
              <a:ext cx="76200" cy="404495"/>
            </a:xfrm>
            <a:custGeom>
              <a:avLst/>
              <a:gdLst/>
              <a:ahLst/>
              <a:cxnLst/>
              <a:rect l="l" t="t" r="r" b="b"/>
              <a:pathLst>
                <a:path w="76200" h="404495" extrusionOk="0">
                  <a:moveTo>
                    <a:pt x="25397" y="76008"/>
                  </a:moveTo>
                  <a:lnTo>
                    <a:pt x="20636" y="403914"/>
                  </a:lnTo>
                  <a:lnTo>
                    <a:pt x="46033" y="404284"/>
                  </a:lnTo>
                  <a:lnTo>
                    <a:pt x="50794" y="76377"/>
                  </a:lnTo>
                  <a:lnTo>
                    <a:pt x="25397" y="76008"/>
                  </a:lnTo>
                  <a:close/>
                </a:path>
                <a:path w="76200" h="404495" extrusionOk="0">
                  <a:moveTo>
                    <a:pt x="69714" y="63309"/>
                  </a:moveTo>
                  <a:lnTo>
                    <a:pt x="25581" y="63309"/>
                  </a:lnTo>
                  <a:lnTo>
                    <a:pt x="50979" y="63677"/>
                  </a:lnTo>
                  <a:lnTo>
                    <a:pt x="50794" y="76377"/>
                  </a:lnTo>
                  <a:lnTo>
                    <a:pt x="76191" y="76746"/>
                  </a:lnTo>
                  <a:lnTo>
                    <a:pt x="69714" y="63309"/>
                  </a:lnTo>
                  <a:close/>
                </a:path>
                <a:path w="76200" h="404495" extrusionOk="0">
                  <a:moveTo>
                    <a:pt x="25581" y="63309"/>
                  </a:moveTo>
                  <a:lnTo>
                    <a:pt x="25397" y="76008"/>
                  </a:lnTo>
                  <a:lnTo>
                    <a:pt x="50794" y="76377"/>
                  </a:lnTo>
                  <a:lnTo>
                    <a:pt x="50979" y="63677"/>
                  </a:lnTo>
                  <a:lnTo>
                    <a:pt x="25581" y="63309"/>
                  </a:lnTo>
                  <a:close/>
                </a:path>
                <a:path w="76200" h="404495" extrusionOk="0">
                  <a:moveTo>
                    <a:pt x="39201" y="0"/>
                  </a:moveTo>
                  <a:lnTo>
                    <a:pt x="0" y="75639"/>
                  </a:lnTo>
                  <a:lnTo>
                    <a:pt x="25397" y="76008"/>
                  </a:lnTo>
                  <a:lnTo>
                    <a:pt x="25581" y="63309"/>
                  </a:lnTo>
                  <a:lnTo>
                    <a:pt x="69714" y="63309"/>
                  </a:lnTo>
                  <a:lnTo>
                    <a:pt x="3920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002" name="Google Shape;2002;p32"/>
            <p:cNvPicPr preferRelativeResize="0"/>
            <p:nvPr/>
          </p:nvPicPr>
          <p:blipFill rotWithShape="1">
            <a:blip r:embed="rId8">
              <a:alphaModFix/>
            </a:blip>
            <a:srcRect/>
            <a:stretch/>
          </p:blipFill>
          <p:spPr>
            <a:xfrm>
              <a:off x="6419682" y="5235200"/>
              <a:ext cx="639705" cy="640079"/>
            </a:xfrm>
            <a:prstGeom prst="rect">
              <a:avLst/>
            </a:prstGeom>
            <a:noFill/>
            <a:ln>
              <a:noFill/>
            </a:ln>
          </p:spPr>
        </p:pic>
        <p:sp>
          <p:nvSpPr>
            <p:cNvPr id="2003" name="Google Shape;2003;p32"/>
            <p:cNvSpPr/>
            <p:nvPr/>
          </p:nvSpPr>
          <p:spPr>
            <a:xfrm>
              <a:off x="6978379"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4" name="Google Shape;2004;p32"/>
            <p:cNvSpPr/>
            <p:nvPr/>
          </p:nvSpPr>
          <p:spPr>
            <a:xfrm>
              <a:off x="6978379"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05" name="Google Shape;2005;p32"/>
          <p:cNvGrpSpPr/>
          <p:nvPr/>
        </p:nvGrpSpPr>
        <p:grpSpPr>
          <a:xfrm>
            <a:off x="7207347" y="4400222"/>
            <a:ext cx="668588" cy="1475057"/>
            <a:chOff x="7207347" y="4400222"/>
            <a:chExt cx="668588" cy="1475057"/>
          </a:xfrm>
        </p:grpSpPr>
        <p:sp>
          <p:nvSpPr>
            <p:cNvPr id="2006" name="Google Shape;2006;p32"/>
            <p:cNvSpPr/>
            <p:nvPr/>
          </p:nvSpPr>
          <p:spPr>
            <a:xfrm>
              <a:off x="7458613"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7" name="Google Shape;2007;p32"/>
            <p:cNvSpPr/>
            <p:nvPr/>
          </p:nvSpPr>
          <p:spPr>
            <a:xfrm>
              <a:off x="7458613"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8" name="Google Shape;2008;p32"/>
            <p:cNvSpPr/>
            <p:nvPr/>
          </p:nvSpPr>
          <p:spPr>
            <a:xfrm>
              <a:off x="7485566" y="4831110"/>
              <a:ext cx="76200" cy="404495"/>
            </a:xfrm>
            <a:custGeom>
              <a:avLst/>
              <a:gdLst/>
              <a:ahLst/>
              <a:cxnLst/>
              <a:rect l="l" t="t" r="r" b="b"/>
              <a:pathLst>
                <a:path w="76200" h="404495" extrusionOk="0">
                  <a:moveTo>
                    <a:pt x="50799" y="76190"/>
                  </a:moveTo>
                  <a:lnTo>
                    <a:pt x="25399" y="76210"/>
                  </a:lnTo>
                  <a:lnTo>
                    <a:pt x="25660" y="404110"/>
                  </a:lnTo>
                  <a:lnTo>
                    <a:pt x="51060" y="404089"/>
                  </a:lnTo>
                  <a:lnTo>
                    <a:pt x="50799" y="76190"/>
                  </a:lnTo>
                  <a:close/>
                </a:path>
                <a:path w="76200" h="404495" extrusionOk="0">
                  <a:moveTo>
                    <a:pt x="38039" y="0"/>
                  </a:moveTo>
                  <a:lnTo>
                    <a:pt x="0" y="76230"/>
                  </a:lnTo>
                  <a:lnTo>
                    <a:pt x="25399" y="76210"/>
                  </a:lnTo>
                  <a:lnTo>
                    <a:pt x="25389" y="63510"/>
                  </a:lnTo>
                  <a:lnTo>
                    <a:pt x="69846" y="63489"/>
                  </a:lnTo>
                  <a:lnTo>
                    <a:pt x="38039" y="0"/>
                  </a:lnTo>
                  <a:close/>
                </a:path>
                <a:path w="76200" h="404495" extrusionOk="0">
                  <a:moveTo>
                    <a:pt x="50789" y="63489"/>
                  </a:moveTo>
                  <a:lnTo>
                    <a:pt x="25389" y="63510"/>
                  </a:lnTo>
                  <a:lnTo>
                    <a:pt x="25399" y="76210"/>
                  </a:lnTo>
                  <a:lnTo>
                    <a:pt x="50799" y="76190"/>
                  </a:lnTo>
                  <a:lnTo>
                    <a:pt x="50789" y="63489"/>
                  </a:lnTo>
                  <a:close/>
                </a:path>
                <a:path w="76200" h="404495" extrusionOk="0">
                  <a:moveTo>
                    <a:pt x="69846" y="63489"/>
                  </a:moveTo>
                  <a:lnTo>
                    <a:pt x="50789" y="63489"/>
                  </a:lnTo>
                  <a:lnTo>
                    <a:pt x="50799" y="76190"/>
                  </a:lnTo>
                  <a:lnTo>
                    <a:pt x="76200" y="76170"/>
                  </a:lnTo>
                  <a:lnTo>
                    <a:pt x="69846"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009" name="Google Shape;2009;p32"/>
            <p:cNvPicPr preferRelativeResize="0"/>
            <p:nvPr/>
          </p:nvPicPr>
          <p:blipFill rotWithShape="1">
            <a:blip r:embed="rId9">
              <a:alphaModFix/>
            </a:blip>
            <a:srcRect/>
            <a:stretch/>
          </p:blipFill>
          <p:spPr>
            <a:xfrm>
              <a:off x="7207347" y="5235200"/>
              <a:ext cx="641197" cy="640079"/>
            </a:xfrm>
            <a:prstGeom prst="rect">
              <a:avLst/>
            </a:prstGeom>
            <a:noFill/>
            <a:ln>
              <a:noFill/>
            </a:ln>
          </p:spPr>
        </p:pic>
        <p:sp>
          <p:nvSpPr>
            <p:cNvPr id="2010" name="Google Shape;2010;p32"/>
            <p:cNvSpPr/>
            <p:nvPr/>
          </p:nvSpPr>
          <p:spPr>
            <a:xfrm>
              <a:off x="7745760"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11" name="Google Shape;2011;p32"/>
            <p:cNvSpPr/>
            <p:nvPr/>
          </p:nvSpPr>
          <p:spPr>
            <a:xfrm>
              <a:off x="7745760"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12" name="Google Shape;2012;p32"/>
          <p:cNvGrpSpPr/>
          <p:nvPr/>
        </p:nvGrpSpPr>
        <p:grpSpPr>
          <a:xfrm>
            <a:off x="7970093" y="4400222"/>
            <a:ext cx="681844" cy="1475057"/>
            <a:chOff x="7970093" y="4400222"/>
            <a:chExt cx="681844" cy="1475057"/>
          </a:xfrm>
        </p:grpSpPr>
        <p:sp>
          <p:nvSpPr>
            <p:cNvPr id="2013" name="Google Shape;2013;p32"/>
            <p:cNvSpPr/>
            <p:nvPr/>
          </p:nvSpPr>
          <p:spPr>
            <a:xfrm>
              <a:off x="8234614" y="4400222"/>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14" name="Google Shape;2014;p32"/>
            <p:cNvSpPr/>
            <p:nvPr/>
          </p:nvSpPr>
          <p:spPr>
            <a:xfrm>
              <a:off x="8234614"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15" name="Google Shape;2015;p32"/>
            <p:cNvSpPr/>
            <p:nvPr/>
          </p:nvSpPr>
          <p:spPr>
            <a:xfrm>
              <a:off x="8261567"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016" name="Google Shape;2016;p32"/>
            <p:cNvPicPr preferRelativeResize="0"/>
            <p:nvPr/>
          </p:nvPicPr>
          <p:blipFill rotWithShape="1">
            <a:blip r:embed="rId10">
              <a:alphaModFix/>
            </a:blip>
            <a:srcRect/>
            <a:stretch/>
          </p:blipFill>
          <p:spPr>
            <a:xfrm>
              <a:off x="7970093" y="5235200"/>
              <a:ext cx="641205" cy="640079"/>
            </a:xfrm>
            <a:prstGeom prst="rect">
              <a:avLst/>
            </a:prstGeom>
            <a:noFill/>
            <a:ln>
              <a:noFill/>
            </a:ln>
          </p:spPr>
        </p:pic>
        <p:sp>
          <p:nvSpPr>
            <p:cNvPr id="2017" name="Google Shape;2017;p32"/>
            <p:cNvSpPr/>
            <p:nvPr/>
          </p:nvSpPr>
          <p:spPr>
            <a:xfrm>
              <a:off x="8521762" y="4402204"/>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18" name="Google Shape;2018;p32"/>
            <p:cNvSpPr/>
            <p:nvPr/>
          </p:nvSpPr>
          <p:spPr>
            <a:xfrm>
              <a:off x="8521762"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19" name="Google Shape;2019;p32"/>
          <p:cNvGrpSpPr/>
          <p:nvPr/>
        </p:nvGrpSpPr>
        <p:grpSpPr>
          <a:xfrm>
            <a:off x="8744502" y="4400222"/>
            <a:ext cx="684186" cy="1475057"/>
            <a:chOff x="8744502" y="4400222"/>
            <a:chExt cx="684186" cy="1475057"/>
          </a:xfrm>
        </p:grpSpPr>
        <p:sp>
          <p:nvSpPr>
            <p:cNvPr id="2020" name="Google Shape;2020;p32"/>
            <p:cNvSpPr/>
            <p:nvPr/>
          </p:nvSpPr>
          <p:spPr>
            <a:xfrm>
              <a:off x="9011366" y="4400222"/>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EDEDE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21" name="Google Shape;2021;p32"/>
            <p:cNvSpPr/>
            <p:nvPr/>
          </p:nvSpPr>
          <p:spPr>
            <a:xfrm>
              <a:off x="9011366" y="4400222"/>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A5A5A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22" name="Google Shape;2022;p32"/>
            <p:cNvSpPr/>
            <p:nvPr/>
          </p:nvSpPr>
          <p:spPr>
            <a:xfrm>
              <a:off x="9038318" y="4831110"/>
              <a:ext cx="76200" cy="404495"/>
            </a:xfrm>
            <a:custGeom>
              <a:avLst/>
              <a:gdLst/>
              <a:ahLst/>
              <a:cxnLst/>
              <a:rect l="l" t="t" r="r" b="b"/>
              <a:pathLst>
                <a:path w="76200" h="404495" extrusionOk="0">
                  <a:moveTo>
                    <a:pt x="50799" y="76189"/>
                  </a:moveTo>
                  <a:lnTo>
                    <a:pt x="25399" y="76210"/>
                  </a:lnTo>
                  <a:lnTo>
                    <a:pt x="25661" y="404100"/>
                  </a:lnTo>
                  <a:lnTo>
                    <a:pt x="51061" y="404079"/>
                  </a:lnTo>
                  <a:lnTo>
                    <a:pt x="50799" y="76189"/>
                  </a:lnTo>
                  <a:close/>
                </a:path>
                <a:path w="76200" h="404495" extrusionOk="0">
                  <a:moveTo>
                    <a:pt x="38039" y="0"/>
                  </a:moveTo>
                  <a:lnTo>
                    <a:pt x="0" y="76230"/>
                  </a:lnTo>
                  <a:lnTo>
                    <a:pt x="25399" y="76210"/>
                  </a:lnTo>
                  <a:lnTo>
                    <a:pt x="25389" y="63510"/>
                  </a:lnTo>
                  <a:lnTo>
                    <a:pt x="69847" y="63489"/>
                  </a:lnTo>
                  <a:lnTo>
                    <a:pt x="38039" y="0"/>
                  </a:lnTo>
                  <a:close/>
                </a:path>
                <a:path w="76200" h="404495" extrusionOk="0">
                  <a:moveTo>
                    <a:pt x="50789" y="63489"/>
                  </a:moveTo>
                  <a:lnTo>
                    <a:pt x="25389" y="63510"/>
                  </a:lnTo>
                  <a:lnTo>
                    <a:pt x="25399" y="76210"/>
                  </a:lnTo>
                  <a:lnTo>
                    <a:pt x="50799" y="76189"/>
                  </a:lnTo>
                  <a:lnTo>
                    <a:pt x="50789" y="63489"/>
                  </a:lnTo>
                  <a:close/>
                </a:path>
                <a:path w="76200" h="404495" extrusionOk="0">
                  <a:moveTo>
                    <a:pt x="69847" y="63489"/>
                  </a:moveTo>
                  <a:lnTo>
                    <a:pt x="50789" y="63489"/>
                  </a:lnTo>
                  <a:lnTo>
                    <a:pt x="50799" y="76189"/>
                  </a:lnTo>
                  <a:lnTo>
                    <a:pt x="76200" y="76169"/>
                  </a:lnTo>
                  <a:lnTo>
                    <a:pt x="69847" y="6348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023" name="Google Shape;2023;p32"/>
            <p:cNvPicPr preferRelativeResize="0"/>
            <p:nvPr/>
          </p:nvPicPr>
          <p:blipFill rotWithShape="1">
            <a:blip r:embed="rId11">
              <a:alphaModFix/>
            </a:blip>
            <a:srcRect/>
            <a:stretch/>
          </p:blipFill>
          <p:spPr>
            <a:xfrm>
              <a:off x="8744502" y="5235200"/>
              <a:ext cx="641206" cy="640079"/>
            </a:xfrm>
            <a:prstGeom prst="rect">
              <a:avLst/>
            </a:prstGeom>
            <a:noFill/>
            <a:ln>
              <a:noFill/>
            </a:ln>
          </p:spPr>
        </p:pic>
        <p:sp>
          <p:nvSpPr>
            <p:cNvPr id="2024" name="Google Shape;2024;p32"/>
            <p:cNvSpPr/>
            <p:nvPr/>
          </p:nvSpPr>
          <p:spPr>
            <a:xfrm>
              <a:off x="9298513" y="4402204"/>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FBE5D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25" name="Google Shape;2025;p32"/>
            <p:cNvSpPr/>
            <p:nvPr/>
          </p:nvSpPr>
          <p:spPr>
            <a:xfrm>
              <a:off x="9298513" y="4402204"/>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ED7D3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026" name="Google Shape;2026;p32"/>
          <p:cNvSpPr txBox="1"/>
          <p:nvPr/>
        </p:nvSpPr>
        <p:spPr>
          <a:xfrm>
            <a:off x="273194" y="3559555"/>
            <a:ext cx="2190115" cy="1278255"/>
          </a:xfrm>
          <a:prstGeom prst="rect">
            <a:avLst/>
          </a:prstGeom>
          <a:noFill/>
          <a:ln>
            <a:noFill/>
          </a:ln>
        </p:spPr>
        <p:txBody>
          <a:bodyPr spcFirstLastPara="1" wrap="square" lIns="0" tIns="13950" rIns="0" bIns="0" anchor="t" anchorCtr="0">
            <a:spAutoFit/>
          </a:bodyPr>
          <a:lstStyle/>
          <a:p>
            <a:pPr marL="12700" marR="5080" lvl="0" indent="0" algn="l"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Add positional embedding: learned D- dim vector per position</a:t>
            </a:r>
            <a:endParaRPr sz="1800" b="0" i="0" u="none" strike="noStrike" cap="none">
              <a:solidFill>
                <a:srgbClr val="000000"/>
              </a:solidFill>
              <a:latin typeface="Calibri"/>
              <a:ea typeface="Calibri"/>
              <a:cs typeface="Calibri"/>
              <a:sym typeface="Calibri"/>
            </a:endParaRPr>
          </a:p>
          <a:p>
            <a:pPr marL="19685" marR="0" lvl="0" indent="0" algn="l" rtl="0">
              <a:lnSpc>
                <a:spcPct val="100000"/>
              </a:lnSpc>
              <a:spcBef>
                <a:spcPts val="125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a:t>
            </a:r>
            <a:endParaRPr sz="1800" b="0" i="0" u="none" strike="noStrike" cap="none">
              <a:solidFill>
                <a:srgbClr val="000000"/>
              </a:solidFill>
              <a:latin typeface="Calibri"/>
              <a:ea typeface="Calibri"/>
              <a:cs typeface="Calibri"/>
              <a:sym typeface="Calibri"/>
            </a:endParaRPr>
          </a:p>
        </p:txBody>
      </p:sp>
      <p:grpSp>
        <p:nvGrpSpPr>
          <p:cNvPr id="2027" name="Google Shape;2027;p32"/>
          <p:cNvGrpSpPr/>
          <p:nvPr/>
        </p:nvGrpSpPr>
        <p:grpSpPr>
          <a:xfrm>
            <a:off x="2961547" y="2096159"/>
            <a:ext cx="130810" cy="429895"/>
            <a:chOff x="2961547" y="2096159"/>
            <a:chExt cx="130810" cy="429895"/>
          </a:xfrm>
        </p:grpSpPr>
        <p:sp>
          <p:nvSpPr>
            <p:cNvPr id="2028" name="Google Shape;2028;p32"/>
            <p:cNvSpPr/>
            <p:nvPr/>
          </p:nvSpPr>
          <p:spPr>
            <a:xfrm>
              <a:off x="2961547" y="2096159"/>
              <a:ext cx="130810" cy="429895"/>
            </a:xfrm>
            <a:custGeom>
              <a:avLst/>
              <a:gdLst/>
              <a:ahLst/>
              <a:cxnLst/>
              <a:rect l="l" t="t" r="r" b="b"/>
              <a:pathLst>
                <a:path w="130810"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29" name="Google Shape;2029;p32"/>
            <p:cNvSpPr/>
            <p:nvPr/>
          </p:nvSpPr>
          <p:spPr>
            <a:xfrm>
              <a:off x="296154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30" name="Google Shape;2030;p32"/>
          <p:cNvGrpSpPr/>
          <p:nvPr/>
        </p:nvGrpSpPr>
        <p:grpSpPr>
          <a:xfrm>
            <a:off x="3737768" y="2099950"/>
            <a:ext cx="130810" cy="429895"/>
            <a:chOff x="3737768" y="2099950"/>
            <a:chExt cx="130810" cy="429895"/>
          </a:xfrm>
        </p:grpSpPr>
        <p:sp>
          <p:nvSpPr>
            <p:cNvPr id="2031" name="Google Shape;2031;p32"/>
            <p:cNvSpPr/>
            <p:nvPr/>
          </p:nvSpPr>
          <p:spPr>
            <a:xfrm>
              <a:off x="3737768"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32" name="Google Shape;2032;p32"/>
            <p:cNvSpPr/>
            <p:nvPr/>
          </p:nvSpPr>
          <p:spPr>
            <a:xfrm>
              <a:off x="3737768"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33" name="Google Shape;2033;p32"/>
          <p:cNvGrpSpPr/>
          <p:nvPr/>
        </p:nvGrpSpPr>
        <p:grpSpPr>
          <a:xfrm>
            <a:off x="4513990" y="2096159"/>
            <a:ext cx="130810" cy="429895"/>
            <a:chOff x="4513990" y="2096159"/>
            <a:chExt cx="130810" cy="429895"/>
          </a:xfrm>
        </p:grpSpPr>
        <p:sp>
          <p:nvSpPr>
            <p:cNvPr id="2034" name="Google Shape;2034;p32"/>
            <p:cNvSpPr/>
            <p:nvPr/>
          </p:nvSpPr>
          <p:spPr>
            <a:xfrm>
              <a:off x="4513990"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35" name="Google Shape;2035;p32"/>
            <p:cNvSpPr/>
            <p:nvPr/>
          </p:nvSpPr>
          <p:spPr>
            <a:xfrm>
              <a:off x="4513990"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36" name="Google Shape;2036;p32"/>
          <p:cNvGrpSpPr/>
          <p:nvPr/>
        </p:nvGrpSpPr>
        <p:grpSpPr>
          <a:xfrm>
            <a:off x="5291261" y="2099950"/>
            <a:ext cx="130810" cy="429895"/>
            <a:chOff x="5291261" y="2099950"/>
            <a:chExt cx="130810" cy="429895"/>
          </a:xfrm>
        </p:grpSpPr>
        <p:sp>
          <p:nvSpPr>
            <p:cNvPr id="2037" name="Google Shape;2037;p32"/>
            <p:cNvSpPr/>
            <p:nvPr/>
          </p:nvSpPr>
          <p:spPr>
            <a:xfrm>
              <a:off x="5291261" y="2099950"/>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38" name="Google Shape;2038;p32"/>
            <p:cNvSpPr/>
            <p:nvPr/>
          </p:nvSpPr>
          <p:spPr>
            <a:xfrm>
              <a:off x="5291261" y="2099950"/>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39" name="Google Shape;2039;p32"/>
          <p:cNvGrpSpPr/>
          <p:nvPr/>
        </p:nvGrpSpPr>
        <p:grpSpPr>
          <a:xfrm>
            <a:off x="6063477" y="2096159"/>
            <a:ext cx="130810" cy="429895"/>
            <a:chOff x="6063477" y="2096159"/>
            <a:chExt cx="130810" cy="429895"/>
          </a:xfrm>
        </p:grpSpPr>
        <p:sp>
          <p:nvSpPr>
            <p:cNvPr id="2040" name="Google Shape;2040;p32"/>
            <p:cNvSpPr/>
            <p:nvPr/>
          </p:nvSpPr>
          <p:spPr>
            <a:xfrm>
              <a:off x="6063477" y="2096159"/>
              <a:ext cx="130810" cy="429895"/>
            </a:xfrm>
            <a:custGeom>
              <a:avLst/>
              <a:gdLst/>
              <a:ahLst/>
              <a:cxnLst/>
              <a:rect l="l" t="t" r="r" b="b"/>
              <a:pathLst>
                <a:path w="130810"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41" name="Google Shape;2041;p32"/>
            <p:cNvSpPr/>
            <p:nvPr/>
          </p:nvSpPr>
          <p:spPr>
            <a:xfrm>
              <a:off x="6063477" y="2096159"/>
              <a:ext cx="130810" cy="429895"/>
            </a:xfrm>
            <a:custGeom>
              <a:avLst/>
              <a:gdLst/>
              <a:ahLst/>
              <a:cxnLst/>
              <a:rect l="l" t="t" r="r" b="b"/>
              <a:pathLst>
                <a:path w="130810"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42" name="Google Shape;2042;p32"/>
          <p:cNvGrpSpPr/>
          <p:nvPr/>
        </p:nvGrpSpPr>
        <p:grpSpPr>
          <a:xfrm>
            <a:off x="6850202" y="2096159"/>
            <a:ext cx="130810" cy="429895"/>
            <a:chOff x="6850202" y="2096159"/>
            <a:chExt cx="130810" cy="429895"/>
          </a:xfrm>
        </p:grpSpPr>
        <p:sp>
          <p:nvSpPr>
            <p:cNvPr id="2043" name="Google Shape;2043;p32"/>
            <p:cNvSpPr/>
            <p:nvPr/>
          </p:nvSpPr>
          <p:spPr>
            <a:xfrm>
              <a:off x="6850202"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44" name="Google Shape;2044;p32"/>
            <p:cNvSpPr/>
            <p:nvPr/>
          </p:nvSpPr>
          <p:spPr>
            <a:xfrm>
              <a:off x="6850202"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45" name="Google Shape;2045;p32"/>
          <p:cNvGrpSpPr/>
          <p:nvPr/>
        </p:nvGrpSpPr>
        <p:grpSpPr>
          <a:xfrm>
            <a:off x="7617583" y="2096159"/>
            <a:ext cx="130810" cy="429895"/>
            <a:chOff x="7617583" y="2096159"/>
            <a:chExt cx="130810" cy="429895"/>
          </a:xfrm>
        </p:grpSpPr>
        <p:sp>
          <p:nvSpPr>
            <p:cNvPr id="2046" name="Google Shape;2046;p32"/>
            <p:cNvSpPr/>
            <p:nvPr/>
          </p:nvSpPr>
          <p:spPr>
            <a:xfrm>
              <a:off x="7617583" y="2096159"/>
              <a:ext cx="130810" cy="429895"/>
            </a:xfrm>
            <a:custGeom>
              <a:avLst/>
              <a:gdLst/>
              <a:ahLst/>
              <a:cxnLst/>
              <a:rect l="l" t="t" r="r" b="b"/>
              <a:pathLst>
                <a:path w="130809" h="429894" extrusionOk="0">
                  <a:moveTo>
                    <a:pt x="130628" y="0"/>
                  </a:moveTo>
                  <a:lnTo>
                    <a:pt x="0" y="0"/>
                  </a:lnTo>
                  <a:lnTo>
                    <a:pt x="0" y="429768"/>
                  </a:lnTo>
                  <a:lnTo>
                    <a:pt x="130628" y="429768"/>
                  </a:lnTo>
                  <a:lnTo>
                    <a:pt x="130628"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47" name="Google Shape;2047;p32"/>
            <p:cNvSpPr/>
            <p:nvPr/>
          </p:nvSpPr>
          <p:spPr>
            <a:xfrm>
              <a:off x="7617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48" name="Google Shape;2048;p32"/>
          <p:cNvGrpSpPr/>
          <p:nvPr/>
        </p:nvGrpSpPr>
        <p:grpSpPr>
          <a:xfrm>
            <a:off x="8393583" y="2096159"/>
            <a:ext cx="130810" cy="429895"/>
            <a:chOff x="8393583" y="2096159"/>
            <a:chExt cx="130810" cy="429895"/>
          </a:xfrm>
        </p:grpSpPr>
        <p:sp>
          <p:nvSpPr>
            <p:cNvPr id="2049" name="Google Shape;2049;p32"/>
            <p:cNvSpPr/>
            <p:nvPr/>
          </p:nvSpPr>
          <p:spPr>
            <a:xfrm>
              <a:off x="8393583"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50" name="Google Shape;2050;p32"/>
            <p:cNvSpPr/>
            <p:nvPr/>
          </p:nvSpPr>
          <p:spPr>
            <a:xfrm>
              <a:off x="8393583"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51" name="Google Shape;2051;p32"/>
          <p:cNvGrpSpPr/>
          <p:nvPr/>
        </p:nvGrpSpPr>
        <p:grpSpPr>
          <a:xfrm>
            <a:off x="9170334" y="2096159"/>
            <a:ext cx="130810" cy="429895"/>
            <a:chOff x="9170334" y="2096159"/>
            <a:chExt cx="130810" cy="429895"/>
          </a:xfrm>
        </p:grpSpPr>
        <p:sp>
          <p:nvSpPr>
            <p:cNvPr id="2052" name="Google Shape;2052;p32"/>
            <p:cNvSpPr/>
            <p:nvPr/>
          </p:nvSpPr>
          <p:spPr>
            <a:xfrm>
              <a:off x="9170334"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F2C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53" name="Google Shape;2053;p32"/>
            <p:cNvSpPr/>
            <p:nvPr/>
          </p:nvSpPr>
          <p:spPr>
            <a:xfrm>
              <a:off x="9170334"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054" name="Google Shape;2054;p32"/>
          <p:cNvSpPr txBox="1"/>
          <p:nvPr/>
        </p:nvSpPr>
        <p:spPr>
          <a:xfrm>
            <a:off x="451943" y="2038603"/>
            <a:ext cx="141478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Output vectors</a:t>
            </a:r>
            <a:endParaRPr sz="1800" b="0" i="0" u="none" strike="noStrike" cap="none">
              <a:solidFill>
                <a:srgbClr val="000000"/>
              </a:solidFill>
              <a:latin typeface="Calibri"/>
              <a:ea typeface="Calibri"/>
              <a:cs typeface="Calibri"/>
              <a:sym typeface="Calibri"/>
            </a:endParaRPr>
          </a:p>
        </p:txBody>
      </p:sp>
      <p:sp>
        <p:nvSpPr>
          <p:cNvPr id="2055" name="Google Shape;2055;p32"/>
          <p:cNvSpPr txBox="1"/>
          <p:nvPr/>
        </p:nvSpPr>
        <p:spPr>
          <a:xfrm>
            <a:off x="282081" y="2757932"/>
            <a:ext cx="1644014" cy="565150"/>
          </a:xfrm>
          <a:prstGeom prst="rect">
            <a:avLst/>
          </a:prstGeom>
          <a:noFill/>
          <a:ln>
            <a:noFill/>
          </a:ln>
        </p:spPr>
        <p:txBody>
          <a:bodyPr spcFirstLastPara="1" wrap="square" lIns="0" tIns="28575" rIns="0" bIns="0" anchor="t" anchorCtr="0">
            <a:spAutoFit/>
          </a:bodyPr>
          <a:lstStyle/>
          <a:p>
            <a:pPr marL="12700" marR="5080" lvl="0" indent="165735" algn="l" rtl="0">
              <a:lnSpc>
                <a:spcPct val="116111"/>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Exact same as NLP Transformer!</a:t>
            </a:r>
            <a:endParaRPr sz="1800" b="0" i="0" u="none" strike="noStrike" cap="none">
              <a:solidFill>
                <a:srgbClr val="000000"/>
              </a:solidFill>
              <a:latin typeface="Calibri"/>
              <a:ea typeface="Calibri"/>
              <a:cs typeface="Calibri"/>
              <a:sym typeface="Calibri"/>
            </a:endParaRPr>
          </a:p>
        </p:txBody>
      </p:sp>
      <p:grpSp>
        <p:nvGrpSpPr>
          <p:cNvPr id="2056" name="Google Shape;2056;p32"/>
          <p:cNvGrpSpPr/>
          <p:nvPr/>
        </p:nvGrpSpPr>
        <p:grpSpPr>
          <a:xfrm>
            <a:off x="9843405" y="3627475"/>
            <a:ext cx="130175" cy="431165"/>
            <a:chOff x="9843405" y="3627475"/>
            <a:chExt cx="130175" cy="431165"/>
          </a:xfrm>
        </p:grpSpPr>
        <p:sp>
          <p:nvSpPr>
            <p:cNvPr id="2057" name="Google Shape;2057;p32"/>
            <p:cNvSpPr/>
            <p:nvPr/>
          </p:nvSpPr>
          <p:spPr>
            <a:xfrm>
              <a:off x="9843405"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8FAAD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58" name="Google Shape;2058;p32"/>
            <p:cNvSpPr/>
            <p:nvPr/>
          </p:nvSpPr>
          <p:spPr>
            <a:xfrm>
              <a:off x="984340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59" name="Google Shape;2059;p32"/>
          <p:cNvGrpSpPr/>
          <p:nvPr/>
        </p:nvGrpSpPr>
        <p:grpSpPr>
          <a:xfrm>
            <a:off x="9842760" y="1231831"/>
            <a:ext cx="130810" cy="1294223"/>
            <a:chOff x="9842760" y="1231831"/>
            <a:chExt cx="130810" cy="1294223"/>
          </a:xfrm>
        </p:grpSpPr>
        <p:sp>
          <p:nvSpPr>
            <p:cNvPr id="2060" name="Google Shape;2060;p32"/>
            <p:cNvSpPr/>
            <p:nvPr/>
          </p:nvSpPr>
          <p:spPr>
            <a:xfrm>
              <a:off x="9842760" y="2096159"/>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FFD96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61" name="Google Shape;2061;p32"/>
            <p:cNvSpPr/>
            <p:nvPr/>
          </p:nvSpPr>
          <p:spPr>
            <a:xfrm>
              <a:off x="9842760" y="2096159"/>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62" name="Google Shape;2062;p32"/>
            <p:cNvSpPr/>
            <p:nvPr/>
          </p:nvSpPr>
          <p:spPr>
            <a:xfrm>
              <a:off x="9842760" y="1231831"/>
              <a:ext cx="130810" cy="429895"/>
            </a:xfrm>
            <a:custGeom>
              <a:avLst/>
              <a:gdLst/>
              <a:ahLst/>
              <a:cxnLst/>
              <a:rect l="l" t="t" r="r" b="b"/>
              <a:pathLst>
                <a:path w="130809" h="429894" extrusionOk="0">
                  <a:moveTo>
                    <a:pt x="130629" y="0"/>
                  </a:moveTo>
                  <a:lnTo>
                    <a:pt x="0" y="0"/>
                  </a:lnTo>
                  <a:lnTo>
                    <a:pt x="0" y="429768"/>
                  </a:lnTo>
                  <a:lnTo>
                    <a:pt x="130629" y="429768"/>
                  </a:lnTo>
                  <a:lnTo>
                    <a:pt x="130629" y="0"/>
                  </a:lnTo>
                  <a:close/>
                </a:path>
              </a:pathLst>
            </a:custGeom>
            <a:solidFill>
              <a:srgbClr val="DEEB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63" name="Google Shape;2063;p32"/>
            <p:cNvSpPr/>
            <p:nvPr/>
          </p:nvSpPr>
          <p:spPr>
            <a:xfrm>
              <a:off x="9842760" y="1231831"/>
              <a:ext cx="130810" cy="429895"/>
            </a:xfrm>
            <a:custGeom>
              <a:avLst/>
              <a:gdLst/>
              <a:ahLst/>
              <a:cxnLst/>
              <a:rect l="l" t="t" r="r" b="b"/>
              <a:pathLst>
                <a:path w="130809" h="429894" extrusionOk="0">
                  <a:moveTo>
                    <a:pt x="0" y="0"/>
                  </a:moveTo>
                  <a:lnTo>
                    <a:pt x="130629" y="0"/>
                  </a:lnTo>
                  <a:lnTo>
                    <a:pt x="130629" y="429768"/>
                  </a:lnTo>
                  <a:lnTo>
                    <a:pt x="0" y="429768"/>
                  </a:lnTo>
                  <a:lnTo>
                    <a:pt x="0" y="0"/>
                  </a:lnTo>
                  <a:close/>
                </a:path>
              </a:pathLst>
            </a:custGeom>
            <a:noFill/>
            <a:ln w="12700" cap="flat" cmpd="sng">
              <a:solidFill>
                <a:srgbClr val="5B9B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64" name="Google Shape;2064;p32"/>
            <p:cNvSpPr/>
            <p:nvPr/>
          </p:nvSpPr>
          <p:spPr>
            <a:xfrm>
              <a:off x="9869976" y="1661599"/>
              <a:ext cx="76200" cy="434975"/>
            </a:xfrm>
            <a:custGeom>
              <a:avLst/>
              <a:gdLst/>
              <a:ahLst/>
              <a:cxnLst/>
              <a:rect l="l" t="t" r="r" b="b"/>
              <a:pathLst>
                <a:path w="76200" h="434975" extrusionOk="0">
                  <a:moveTo>
                    <a:pt x="50800" y="63500"/>
                  </a:moveTo>
                  <a:lnTo>
                    <a:pt x="25400" y="63500"/>
                  </a:lnTo>
                  <a:lnTo>
                    <a:pt x="25400" y="434559"/>
                  </a:lnTo>
                  <a:lnTo>
                    <a:pt x="50800" y="434559"/>
                  </a:lnTo>
                  <a:lnTo>
                    <a:pt x="50800" y="63500"/>
                  </a:lnTo>
                  <a:close/>
                </a:path>
                <a:path w="76200" h="434975" extrusionOk="0">
                  <a:moveTo>
                    <a:pt x="38100" y="0"/>
                  </a:moveTo>
                  <a:lnTo>
                    <a:pt x="0" y="76200"/>
                  </a:lnTo>
                  <a:lnTo>
                    <a:pt x="25400" y="76200"/>
                  </a:lnTo>
                  <a:lnTo>
                    <a:pt x="25400" y="63500"/>
                  </a:lnTo>
                  <a:lnTo>
                    <a:pt x="69850" y="63500"/>
                  </a:lnTo>
                  <a:lnTo>
                    <a:pt x="38100" y="0"/>
                  </a:lnTo>
                  <a:close/>
                </a:path>
                <a:path w="76200" h="434975" extrusionOk="0">
                  <a:moveTo>
                    <a:pt x="69850" y="63500"/>
                  </a:moveTo>
                  <a:lnTo>
                    <a:pt x="50800" y="63500"/>
                  </a:lnTo>
                  <a:lnTo>
                    <a:pt x="50800" y="76200"/>
                  </a:lnTo>
                  <a:lnTo>
                    <a:pt x="76200" y="76200"/>
                  </a:lnTo>
                  <a:lnTo>
                    <a:pt x="69850" y="6350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065" name="Google Shape;2065;p32"/>
          <p:cNvSpPr txBox="1"/>
          <p:nvPr/>
        </p:nvSpPr>
        <p:spPr>
          <a:xfrm>
            <a:off x="10220266" y="3498595"/>
            <a:ext cx="1830070" cy="845819"/>
          </a:xfrm>
          <a:prstGeom prst="rect">
            <a:avLst/>
          </a:prstGeom>
          <a:noFill/>
          <a:ln>
            <a:noFill/>
          </a:ln>
        </p:spPr>
        <p:txBody>
          <a:bodyPr spcFirstLastPara="1" wrap="square" lIns="0" tIns="13950" rIns="0" bIns="0" anchor="t" anchorCtr="0">
            <a:spAutoFit/>
          </a:bodyPr>
          <a:lstStyle/>
          <a:p>
            <a:pPr marL="12700" marR="5080" lvl="0" indent="0" algn="just"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Special extra input: </a:t>
            </a:r>
            <a:r>
              <a:rPr lang="en-US" sz="1800" b="1" i="0" u="none" strike="noStrike" cap="none">
                <a:solidFill>
                  <a:srgbClr val="000000"/>
                </a:solidFill>
                <a:latin typeface="Calibri"/>
                <a:ea typeface="Calibri"/>
                <a:cs typeface="Calibri"/>
                <a:sym typeface="Calibri"/>
              </a:rPr>
              <a:t>classification token </a:t>
            </a:r>
            <a:r>
              <a:rPr lang="en-US" sz="1800" b="0" i="0" u="none" strike="noStrike" cap="none">
                <a:solidFill>
                  <a:srgbClr val="000000"/>
                </a:solidFill>
                <a:latin typeface="Calibri"/>
                <a:ea typeface="Calibri"/>
                <a:cs typeface="Calibri"/>
                <a:sym typeface="Calibri"/>
              </a:rPr>
              <a:t>(D dims, learned)</a:t>
            </a:r>
            <a:endParaRPr sz="1800" b="0" i="0" u="none" strike="noStrike" cap="none">
              <a:solidFill>
                <a:srgbClr val="000000"/>
              </a:solidFill>
              <a:latin typeface="Calibri"/>
              <a:ea typeface="Calibri"/>
              <a:cs typeface="Calibri"/>
              <a:sym typeface="Calibri"/>
            </a:endParaRPr>
          </a:p>
        </p:txBody>
      </p:sp>
      <p:grpSp>
        <p:nvGrpSpPr>
          <p:cNvPr id="2066" name="Google Shape;2066;p32"/>
          <p:cNvGrpSpPr/>
          <p:nvPr/>
        </p:nvGrpSpPr>
        <p:grpSpPr>
          <a:xfrm>
            <a:off x="2959741" y="3627475"/>
            <a:ext cx="130175" cy="431165"/>
            <a:chOff x="2959741" y="3627475"/>
            <a:chExt cx="130175" cy="431165"/>
          </a:xfrm>
        </p:grpSpPr>
        <p:sp>
          <p:nvSpPr>
            <p:cNvPr id="2067" name="Google Shape;2067;p32"/>
            <p:cNvSpPr/>
            <p:nvPr/>
          </p:nvSpPr>
          <p:spPr>
            <a:xfrm>
              <a:off x="2959741"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68" name="Google Shape;2068;p32"/>
            <p:cNvSpPr/>
            <p:nvPr/>
          </p:nvSpPr>
          <p:spPr>
            <a:xfrm>
              <a:off x="295974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69" name="Google Shape;2069;p32"/>
          <p:cNvGrpSpPr/>
          <p:nvPr/>
        </p:nvGrpSpPr>
        <p:grpSpPr>
          <a:xfrm>
            <a:off x="3735962" y="3631266"/>
            <a:ext cx="130175" cy="431165"/>
            <a:chOff x="3735962" y="3631266"/>
            <a:chExt cx="130175" cy="431165"/>
          </a:xfrm>
        </p:grpSpPr>
        <p:sp>
          <p:nvSpPr>
            <p:cNvPr id="2070" name="Google Shape;2070;p32"/>
            <p:cNvSpPr/>
            <p:nvPr/>
          </p:nvSpPr>
          <p:spPr>
            <a:xfrm>
              <a:off x="3735962"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71" name="Google Shape;2071;p32"/>
            <p:cNvSpPr/>
            <p:nvPr/>
          </p:nvSpPr>
          <p:spPr>
            <a:xfrm>
              <a:off x="3735962"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72" name="Google Shape;2072;p32"/>
          <p:cNvGrpSpPr/>
          <p:nvPr/>
        </p:nvGrpSpPr>
        <p:grpSpPr>
          <a:xfrm>
            <a:off x="4512184" y="3627475"/>
            <a:ext cx="130175" cy="431165"/>
            <a:chOff x="4512184" y="3627475"/>
            <a:chExt cx="130175" cy="431165"/>
          </a:xfrm>
        </p:grpSpPr>
        <p:sp>
          <p:nvSpPr>
            <p:cNvPr id="2073" name="Google Shape;2073;p32"/>
            <p:cNvSpPr/>
            <p:nvPr/>
          </p:nvSpPr>
          <p:spPr>
            <a:xfrm>
              <a:off x="4512184"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74" name="Google Shape;2074;p32"/>
            <p:cNvSpPr/>
            <p:nvPr/>
          </p:nvSpPr>
          <p:spPr>
            <a:xfrm>
              <a:off x="4512184"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75" name="Google Shape;2075;p32"/>
          <p:cNvGrpSpPr/>
          <p:nvPr/>
        </p:nvGrpSpPr>
        <p:grpSpPr>
          <a:xfrm>
            <a:off x="5289456" y="3631266"/>
            <a:ext cx="130175" cy="431165"/>
            <a:chOff x="5289456" y="3631266"/>
            <a:chExt cx="130175" cy="431165"/>
          </a:xfrm>
        </p:grpSpPr>
        <p:sp>
          <p:nvSpPr>
            <p:cNvPr id="2076" name="Google Shape;2076;p32"/>
            <p:cNvSpPr/>
            <p:nvPr/>
          </p:nvSpPr>
          <p:spPr>
            <a:xfrm>
              <a:off x="5289456" y="3631266"/>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77" name="Google Shape;2077;p32"/>
            <p:cNvSpPr/>
            <p:nvPr/>
          </p:nvSpPr>
          <p:spPr>
            <a:xfrm>
              <a:off x="5289456" y="3631266"/>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78" name="Google Shape;2078;p32"/>
          <p:cNvGrpSpPr/>
          <p:nvPr/>
        </p:nvGrpSpPr>
        <p:grpSpPr>
          <a:xfrm>
            <a:off x="6061671" y="3627475"/>
            <a:ext cx="130175" cy="431165"/>
            <a:chOff x="6061671" y="3627475"/>
            <a:chExt cx="130175" cy="431165"/>
          </a:xfrm>
        </p:grpSpPr>
        <p:sp>
          <p:nvSpPr>
            <p:cNvPr id="2079" name="Google Shape;2079;p32"/>
            <p:cNvSpPr/>
            <p:nvPr/>
          </p:nvSpPr>
          <p:spPr>
            <a:xfrm>
              <a:off x="6061671"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80" name="Google Shape;2080;p32"/>
            <p:cNvSpPr/>
            <p:nvPr/>
          </p:nvSpPr>
          <p:spPr>
            <a:xfrm>
              <a:off x="6061671"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81" name="Google Shape;2081;p32"/>
          <p:cNvGrpSpPr/>
          <p:nvPr/>
        </p:nvGrpSpPr>
        <p:grpSpPr>
          <a:xfrm>
            <a:off x="6848395" y="3627475"/>
            <a:ext cx="130175" cy="431165"/>
            <a:chOff x="6848395" y="3627475"/>
            <a:chExt cx="130175" cy="431165"/>
          </a:xfrm>
        </p:grpSpPr>
        <p:sp>
          <p:nvSpPr>
            <p:cNvPr id="2082" name="Google Shape;2082;p32"/>
            <p:cNvSpPr/>
            <p:nvPr/>
          </p:nvSpPr>
          <p:spPr>
            <a:xfrm>
              <a:off x="6848395"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83" name="Google Shape;2083;p32"/>
            <p:cNvSpPr/>
            <p:nvPr/>
          </p:nvSpPr>
          <p:spPr>
            <a:xfrm>
              <a:off x="6848395"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84" name="Google Shape;2084;p32"/>
          <p:cNvGrpSpPr/>
          <p:nvPr/>
        </p:nvGrpSpPr>
        <p:grpSpPr>
          <a:xfrm>
            <a:off x="7615777" y="3627475"/>
            <a:ext cx="130175" cy="431165"/>
            <a:chOff x="7615777" y="3627475"/>
            <a:chExt cx="130175" cy="431165"/>
          </a:xfrm>
        </p:grpSpPr>
        <p:sp>
          <p:nvSpPr>
            <p:cNvPr id="2085" name="Google Shape;2085;p32"/>
            <p:cNvSpPr/>
            <p:nvPr/>
          </p:nvSpPr>
          <p:spPr>
            <a:xfrm>
              <a:off x="7615777" y="3627475"/>
              <a:ext cx="130175" cy="431165"/>
            </a:xfrm>
            <a:custGeom>
              <a:avLst/>
              <a:gdLst/>
              <a:ahLst/>
              <a:cxnLst/>
              <a:rect l="l" t="t" r="r" b="b"/>
              <a:pathLst>
                <a:path w="130175" h="431164" extrusionOk="0">
                  <a:moveTo>
                    <a:pt x="129983" y="0"/>
                  </a:moveTo>
                  <a:lnTo>
                    <a:pt x="0" y="0"/>
                  </a:lnTo>
                  <a:lnTo>
                    <a:pt x="0" y="430888"/>
                  </a:lnTo>
                  <a:lnTo>
                    <a:pt x="129983" y="430888"/>
                  </a:lnTo>
                  <a:lnTo>
                    <a:pt x="129983"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86" name="Google Shape;2086;p32"/>
            <p:cNvSpPr/>
            <p:nvPr/>
          </p:nvSpPr>
          <p:spPr>
            <a:xfrm>
              <a:off x="7615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87" name="Google Shape;2087;p32"/>
          <p:cNvGrpSpPr/>
          <p:nvPr/>
        </p:nvGrpSpPr>
        <p:grpSpPr>
          <a:xfrm>
            <a:off x="8391777" y="3627475"/>
            <a:ext cx="130175" cy="431165"/>
            <a:chOff x="8391777" y="3627475"/>
            <a:chExt cx="130175" cy="431165"/>
          </a:xfrm>
        </p:grpSpPr>
        <p:sp>
          <p:nvSpPr>
            <p:cNvPr id="2088" name="Google Shape;2088;p32"/>
            <p:cNvSpPr/>
            <p:nvPr/>
          </p:nvSpPr>
          <p:spPr>
            <a:xfrm>
              <a:off x="8391777"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89" name="Google Shape;2089;p32"/>
            <p:cNvSpPr/>
            <p:nvPr/>
          </p:nvSpPr>
          <p:spPr>
            <a:xfrm>
              <a:off x="8391777"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090" name="Google Shape;2090;p32"/>
          <p:cNvGrpSpPr/>
          <p:nvPr/>
        </p:nvGrpSpPr>
        <p:grpSpPr>
          <a:xfrm>
            <a:off x="9168528" y="3627475"/>
            <a:ext cx="130175" cy="431165"/>
            <a:chOff x="9168528" y="3627475"/>
            <a:chExt cx="130175" cy="431165"/>
          </a:xfrm>
        </p:grpSpPr>
        <p:sp>
          <p:nvSpPr>
            <p:cNvPr id="2091" name="Google Shape;2091;p32"/>
            <p:cNvSpPr/>
            <p:nvPr/>
          </p:nvSpPr>
          <p:spPr>
            <a:xfrm>
              <a:off x="9168528" y="3627475"/>
              <a:ext cx="130175" cy="431165"/>
            </a:xfrm>
            <a:custGeom>
              <a:avLst/>
              <a:gdLst/>
              <a:ahLst/>
              <a:cxnLst/>
              <a:rect l="l" t="t" r="r" b="b"/>
              <a:pathLst>
                <a:path w="130175" h="431164" extrusionOk="0">
                  <a:moveTo>
                    <a:pt x="129984" y="0"/>
                  </a:moveTo>
                  <a:lnTo>
                    <a:pt x="0" y="0"/>
                  </a:lnTo>
                  <a:lnTo>
                    <a:pt x="0" y="430888"/>
                  </a:lnTo>
                  <a:lnTo>
                    <a:pt x="129984" y="430888"/>
                  </a:lnTo>
                  <a:lnTo>
                    <a:pt x="129984" y="0"/>
                  </a:lnTo>
                  <a:close/>
                </a:path>
              </a:pathLst>
            </a:custGeom>
            <a:solidFill>
              <a:srgbClr val="DAE3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92" name="Google Shape;2092;p32"/>
            <p:cNvSpPr/>
            <p:nvPr/>
          </p:nvSpPr>
          <p:spPr>
            <a:xfrm>
              <a:off x="9168528" y="3627475"/>
              <a:ext cx="130175" cy="431165"/>
            </a:xfrm>
            <a:custGeom>
              <a:avLst/>
              <a:gdLst/>
              <a:ahLst/>
              <a:cxnLst/>
              <a:rect l="l" t="t" r="r" b="b"/>
              <a:pathLst>
                <a:path w="130175" h="431164" extrusionOk="0">
                  <a:moveTo>
                    <a:pt x="0" y="0"/>
                  </a:moveTo>
                  <a:lnTo>
                    <a:pt x="129984" y="0"/>
                  </a:lnTo>
                  <a:lnTo>
                    <a:pt x="129984" y="430888"/>
                  </a:lnTo>
                  <a:lnTo>
                    <a:pt x="0" y="430888"/>
                  </a:lnTo>
                  <a:lnTo>
                    <a:pt x="0" y="0"/>
                  </a:lnTo>
                  <a:close/>
                </a:path>
              </a:pathLst>
            </a:custGeom>
            <a:noFill/>
            <a:ln w="12700" cap="flat" cmpd="sng">
              <a:solidFill>
                <a:srgbClr val="4472C4"/>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093" name="Google Shape;2093;p32"/>
          <p:cNvSpPr txBox="1"/>
          <p:nvPr/>
        </p:nvSpPr>
        <p:spPr>
          <a:xfrm>
            <a:off x="2936516" y="4004564"/>
            <a:ext cx="638429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	+	+	+	+	+	+	+	+</a:t>
            </a:r>
            <a:endParaRPr sz="2400" b="0" i="0" u="none" strike="noStrike" cap="none">
              <a:solidFill>
                <a:srgbClr val="000000"/>
              </a:solidFill>
              <a:latin typeface="Calibri"/>
              <a:ea typeface="Calibri"/>
              <a:cs typeface="Calibri"/>
              <a:sym typeface="Calibri"/>
            </a:endParaRPr>
          </a:p>
        </p:txBody>
      </p:sp>
      <p:sp>
        <p:nvSpPr>
          <p:cNvPr id="2094" name="Google Shape;2094;p32"/>
          <p:cNvSpPr txBox="1"/>
          <p:nvPr/>
        </p:nvSpPr>
        <p:spPr>
          <a:xfrm>
            <a:off x="10345797" y="1160779"/>
            <a:ext cx="1602740" cy="1125855"/>
          </a:xfrm>
          <a:prstGeom prst="rect">
            <a:avLst/>
          </a:prstGeom>
          <a:noFill/>
          <a:ln>
            <a:noFill/>
          </a:ln>
        </p:spPr>
        <p:txBody>
          <a:bodyPr spcFirstLastPara="1" wrap="square" lIns="0" tIns="11425" rIns="0" bIns="0" anchor="t" anchorCtr="0">
            <a:spAutoFit/>
          </a:bodyPr>
          <a:lstStyle/>
          <a:p>
            <a:pPr marL="12700" marR="5080" lvl="0" indent="0" algn="l" rtl="0">
              <a:lnSpc>
                <a:spcPct val="100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Linear projection to C-dim vector of predicted class scores</a:t>
            </a:r>
            <a:endParaRPr sz="1800" b="0" i="0" u="none" strike="noStrike" cap="none">
              <a:solidFill>
                <a:srgbClr val="000000"/>
              </a:solidFill>
              <a:latin typeface="Calibri"/>
              <a:ea typeface="Calibri"/>
              <a:cs typeface="Calibri"/>
              <a:sym typeface="Calibri"/>
            </a:endParaRPr>
          </a:p>
        </p:txBody>
      </p:sp>
      <p:grpSp>
        <p:nvGrpSpPr>
          <p:cNvPr id="2095" name="Google Shape;2095;p32"/>
          <p:cNvGrpSpPr/>
          <p:nvPr/>
        </p:nvGrpSpPr>
        <p:grpSpPr>
          <a:xfrm>
            <a:off x="2535941" y="2675707"/>
            <a:ext cx="7881620" cy="769620"/>
            <a:chOff x="2535941" y="2675707"/>
            <a:chExt cx="7881620" cy="769620"/>
          </a:xfrm>
        </p:grpSpPr>
        <p:sp>
          <p:nvSpPr>
            <p:cNvPr id="2096" name="Google Shape;2096;p32"/>
            <p:cNvSpPr/>
            <p:nvPr/>
          </p:nvSpPr>
          <p:spPr>
            <a:xfrm>
              <a:off x="2535941" y="2675707"/>
              <a:ext cx="7881620" cy="769620"/>
            </a:xfrm>
            <a:custGeom>
              <a:avLst/>
              <a:gdLst/>
              <a:ahLst/>
              <a:cxnLst/>
              <a:rect l="l" t="t" r="r" b="b"/>
              <a:pathLst>
                <a:path w="7881620" h="769620" extrusionOk="0">
                  <a:moveTo>
                    <a:pt x="7753038" y="0"/>
                  </a:moveTo>
                  <a:lnTo>
                    <a:pt x="128234" y="0"/>
                  </a:lnTo>
                  <a:lnTo>
                    <a:pt x="78319" y="10077"/>
                  </a:lnTo>
                  <a:lnTo>
                    <a:pt x="37559" y="37559"/>
                  </a:lnTo>
                  <a:lnTo>
                    <a:pt x="10077" y="78319"/>
                  </a:lnTo>
                  <a:lnTo>
                    <a:pt x="0" y="128234"/>
                  </a:lnTo>
                  <a:lnTo>
                    <a:pt x="0" y="641184"/>
                  </a:lnTo>
                  <a:lnTo>
                    <a:pt x="10077" y="691099"/>
                  </a:lnTo>
                  <a:lnTo>
                    <a:pt x="37559" y="731860"/>
                  </a:lnTo>
                  <a:lnTo>
                    <a:pt x="78319" y="759341"/>
                  </a:lnTo>
                  <a:lnTo>
                    <a:pt x="128234" y="769419"/>
                  </a:lnTo>
                  <a:lnTo>
                    <a:pt x="7753038" y="769419"/>
                  </a:lnTo>
                  <a:lnTo>
                    <a:pt x="7802953" y="759341"/>
                  </a:lnTo>
                  <a:lnTo>
                    <a:pt x="7843714" y="731860"/>
                  </a:lnTo>
                  <a:lnTo>
                    <a:pt x="7871196" y="691099"/>
                  </a:lnTo>
                  <a:lnTo>
                    <a:pt x="7881273" y="641184"/>
                  </a:lnTo>
                  <a:lnTo>
                    <a:pt x="7881273" y="128234"/>
                  </a:lnTo>
                  <a:lnTo>
                    <a:pt x="7871196" y="78319"/>
                  </a:lnTo>
                  <a:lnTo>
                    <a:pt x="7843714" y="37559"/>
                  </a:lnTo>
                  <a:lnTo>
                    <a:pt x="7802953" y="10077"/>
                  </a:lnTo>
                  <a:lnTo>
                    <a:pt x="7753038" y="0"/>
                  </a:lnTo>
                  <a:close/>
                </a:path>
              </a:pathLst>
            </a:custGeom>
            <a:solidFill>
              <a:srgbClr val="E2F0D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97" name="Google Shape;2097;p32"/>
            <p:cNvSpPr/>
            <p:nvPr/>
          </p:nvSpPr>
          <p:spPr>
            <a:xfrm>
              <a:off x="2535941" y="2675707"/>
              <a:ext cx="7881620" cy="769620"/>
            </a:xfrm>
            <a:custGeom>
              <a:avLst/>
              <a:gdLst/>
              <a:ahLst/>
              <a:cxnLst/>
              <a:rect l="l" t="t" r="r" b="b"/>
              <a:pathLst>
                <a:path w="7881620" h="769620" extrusionOk="0">
                  <a:moveTo>
                    <a:pt x="0" y="128235"/>
                  </a:moveTo>
                  <a:lnTo>
                    <a:pt x="10077" y="78320"/>
                  </a:lnTo>
                  <a:lnTo>
                    <a:pt x="37559" y="37559"/>
                  </a:lnTo>
                  <a:lnTo>
                    <a:pt x="78319" y="10077"/>
                  </a:lnTo>
                  <a:lnTo>
                    <a:pt x="128234" y="0"/>
                  </a:lnTo>
                  <a:lnTo>
                    <a:pt x="7753040" y="0"/>
                  </a:lnTo>
                  <a:lnTo>
                    <a:pt x="7802954" y="10077"/>
                  </a:lnTo>
                  <a:lnTo>
                    <a:pt x="7843714" y="37559"/>
                  </a:lnTo>
                  <a:lnTo>
                    <a:pt x="7871196" y="78320"/>
                  </a:lnTo>
                  <a:lnTo>
                    <a:pt x="7881274" y="128235"/>
                  </a:lnTo>
                  <a:lnTo>
                    <a:pt x="7881274" y="641184"/>
                  </a:lnTo>
                  <a:lnTo>
                    <a:pt x="7871196" y="691099"/>
                  </a:lnTo>
                  <a:lnTo>
                    <a:pt x="7843714" y="731860"/>
                  </a:lnTo>
                  <a:lnTo>
                    <a:pt x="7802954" y="759342"/>
                  </a:lnTo>
                  <a:lnTo>
                    <a:pt x="7753040" y="769420"/>
                  </a:lnTo>
                  <a:lnTo>
                    <a:pt x="128234" y="769420"/>
                  </a:lnTo>
                  <a:lnTo>
                    <a:pt x="78319" y="759342"/>
                  </a:lnTo>
                  <a:lnTo>
                    <a:pt x="37559" y="731860"/>
                  </a:lnTo>
                  <a:lnTo>
                    <a:pt x="10077" y="691099"/>
                  </a:lnTo>
                  <a:lnTo>
                    <a:pt x="0" y="641184"/>
                  </a:lnTo>
                  <a:lnTo>
                    <a:pt x="0" y="128235"/>
                  </a:lnTo>
                  <a:close/>
                </a:path>
              </a:pathLst>
            </a:custGeom>
            <a:noFill/>
            <a:ln w="12700" cap="flat" cmpd="sng">
              <a:solidFill>
                <a:srgbClr val="70AD47"/>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098" name="Google Shape;2098;p32"/>
          <p:cNvSpPr txBox="1"/>
          <p:nvPr/>
        </p:nvSpPr>
        <p:spPr>
          <a:xfrm>
            <a:off x="5585417" y="2807715"/>
            <a:ext cx="178308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Transformer</a:t>
            </a:r>
            <a:endParaRPr sz="2800" b="0" i="0" u="none" strike="noStrike" cap="none">
              <a:solidFill>
                <a:srgbClr val="000000"/>
              </a:solidFill>
              <a:latin typeface="Calibri"/>
              <a:ea typeface="Calibri"/>
              <a:cs typeface="Calibri"/>
              <a:sym typeface="Calibri"/>
            </a:endParaRPr>
          </a:p>
        </p:txBody>
      </p:sp>
      <p:sp>
        <p:nvSpPr>
          <p:cNvPr id="2099" name="Google Shape;2099;p32"/>
          <p:cNvSpPr txBox="1"/>
          <p:nvPr/>
        </p:nvSpPr>
        <p:spPr>
          <a:xfrm>
            <a:off x="276038" y="4817126"/>
            <a:ext cx="2040889" cy="1021080"/>
          </a:xfrm>
          <a:prstGeom prst="rect">
            <a:avLst/>
          </a:prstGeom>
          <a:noFill/>
          <a:ln>
            <a:noFill/>
          </a:ln>
        </p:spPr>
        <p:txBody>
          <a:bodyPr spcFirstLastPara="1" wrap="square" lIns="0" tIns="1250" rIns="0" bIns="0" anchor="t" anchorCtr="0">
            <a:spAutoFit/>
          </a:bodyPr>
          <a:lstStyle/>
          <a:p>
            <a:pPr marL="17145"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D-dimensional vector</a:t>
            </a:r>
            <a:endParaRPr sz="1800" b="0" i="0" u="none" strike="noStrike" cap="none">
              <a:solidFill>
                <a:srgbClr val="000000"/>
              </a:solidFill>
              <a:latin typeface="Calibri"/>
              <a:ea typeface="Calibri"/>
              <a:cs typeface="Calibri"/>
              <a:sym typeface="Calibri"/>
            </a:endParaRPr>
          </a:p>
          <a:p>
            <a:pPr marL="12700" marR="5080" lvl="0" indent="0" algn="l" rtl="0">
              <a:lnSpc>
                <a:spcPct val="117222"/>
              </a:lnSpc>
              <a:spcBef>
                <a:spcPts val="148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N input patches, each of shape 3x16x16</a:t>
            </a:r>
            <a:endParaRPr sz="1800" b="0" i="0" u="none" strike="noStrike" cap="none">
              <a:solidFill>
                <a:srgbClr val="000000"/>
              </a:solidFill>
              <a:latin typeface="Calibri"/>
              <a:ea typeface="Calibri"/>
              <a:cs typeface="Calibri"/>
              <a:sym typeface="Calibri"/>
            </a:endParaRPr>
          </a:p>
        </p:txBody>
      </p:sp>
      <p:sp>
        <p:nvSpPr>
          <p:cNvPr id="2100" name="Google Shape;2100;p32"/>
          <p:cNvSpPr txBox="1"/>
          <p:nvPr/>
        </p:nvSpPr>
        <p:spPr>
          <a:xfrm>
            <a:off x="10251213" y="5962476"/>
            <a:ext cx="1861185" cy="375920"/>
          </a:xfrm>
          <a:prstGeom prst="rect">
            <a:avLst/>
          </a:prstGeom>
          <a:noFill/>
          <a:ln>
            <a:noFill/>
          </a:ln>
        </p:spPr>
        <p:txBody>
          <a:bodyPr spcFirstLastPara="1" wrap="square" lIns="0" tIns="1250" rIns="0" bIns="0" anchor="t" anchorCtr="0">
            <a:spAutoFit/>
          </a:bodyPr>
          <a:lstStyle/>
          <a:p>
            <a:pPr marL="296545" marR="5080" lvl="0" indent="-284480" algn="l" rtl="0">
              <a:lnSpc>
                <a:spcPct val="129090"/>
              </a:lnSpc>
              <a:spcBef>
                <a:spcPts val="0"/>
              </a:spcBef>
              <a:spcAft>
                <a:spcPts val="0"/>
              </a:spcAft>
              <a:buClr>
                <a:srgbClr val="0563C1"/>
              </a:buClr>
              <a:buSzPts val="1100"/>
              <a:buFont typeface="Arial"/>
              <a:buNone/>
            </a:pPr>
            <a:r>
              <a:rPr lang="en-US" sz="1100" b="0" i="0" u="sng" strike="noStrike" cap="none">
                <a:solidFill>
                  <a:srgbClr val="0563C1"/>
                </a:solidFill>
                <a:latin typeface="Calibri"/>
                <a:ea typeface="Calibri"/>
                <a:cs typeface="Calibri"/>
                <a:sym typeface="Calibri"/>
              </a:rPr>
              <a:t>Cat image</a:t>
            </a:r>
            <a:r>
              <a:rPr lang="en-US" sz="1100" b="0" i="0" u="none" strike="noStrike" cap="none">
                <a:solidFill>
                  <a:srgbClr val="0563C1"/>
                </a:solidFill>
                <a:latin typeface="Calibri"/>
                <a:ea typeface="Calibri"/>
                <a:cs typeface="Calibri"/>
                <a:sym typeface="Calibri"/>
              </a:rPr>
              <a:t> </a:t>
            </a:r>
            <a:r>
              <a:rPr lang="en-US" sz="1100" b="0" i="0" u="none" strike="noStrike" cap="none">
                <a:solidFill>
                  <a:srgbClr val="000000"/>
                </a:solidFill>
                <a:latin typeface="Calibri"/>
                <a:ea typeface="Calibri"/>
                <a:cs typeface="Calibri"/>
                <a:sym typeface="Calibri"/>
              </a:rPr>
              <a:t>is free for commercial use under a </a:t>
            </a:r>
            <a:r>
              <a:rPr lang="en-US" sz="1100" b="0" i="0" u="sng" strike="noStrike" cap="none">
                <a:solidFill>
                  <a:srgbClr val="0563C1"/>
                </a:solidFill>
                <a:latin typeface="Calibri"/>
                <a:ea typeface="Calibri"/>
                <a:cs typeface="Calibri"/>
                <a:sym typeface="Calibri"/>
              </a:rPr>
              <a:t>Pixabay license</a:t>
            </a:r>
            <a:endParaRPr sz="1100" b="0" i="0" u="none" strike="noStrike" cap="none">
              <a:solidFill>
                <a:srgbClr val="000000"/>
              </a:solidFill>
              <a:latin typeface="Calibri"/>
              <a:ea typeface="Calibri"/>
              <a:cs typeface="Calibri"/>
              <a:sym typeface="Calibri"/>
            </a:endParaRPr>
          </a:p>
        </p:txBody>
      </p:sp>
      <p:sp>
        <p:nvSpPr>
          <p:cNvPr id="2101" name="Google Shape;2101;p32"/>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2102" name="Google Shape;2102;p32"/>
          <p:cNvSpPr txBox="1"/>
          <p:nvPr/>
        </p:nvSpPr>
        <p:spPr>
          <a:xfrm>
            <a:off x="449923" y="931163"/>
            <a:ext cx="4213860" cy="93980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Clr>
                <a:srgbClr val="70AD47"/>
              </a:buClr>
              <a:buSzPts val="2000"/>
              <a:buFont typeface="Arial"/>
              <a:buNone/>
            </a:pPr>
            <a:r>
              <a:rPr lang="en-US" sz="2000" b="0" i="0" u="none" strike="noStrike" cap="none">
                <a:solidFill>
                  <a:srgbClr val="70AD47"/>
                </a:solidFill>
                <a:latin typeface="Calibri"/>
                <a:ea typeface="Calibri"/>
                <a:cs typeface="Calibri"/>
                <a:sym typeface="Calibri"/>
              </a:rPr>
              <a:t>In practice: take 224x224 input image, divide into 14x14 grid of 16x16 pixel patches (or 16x16 grid of 14x14 patches)</a:t>
            </a:r>
            <a:endParaRPr sz="2000" b="0" i="0" u="none" strike="noStrike" cap="none">
              <a:solidFill>
                <a:srgbClr val="000000"/>
              </a:solidFill>
              <a:latin typeface="Calibri"/>
              <a:ea typeface="Calibri"/>
              <a:cs typeface="Calibri"/>
              <a:sym typeface="Calibri"/>
            </a:endParaRPr>
          </a:p>
        </p:txBody>
      </p:sp>
      <p:sp>
        <p:nvSpPr>
          <p:cNvPr id="2103" name="Google Shape;2103;p32"/>
          <p:cNvSpPr txBox="1"/>
          <p:nvPr/>
        </p:nvSpPr>
        <p:spPr>
          <a:xfrm>
            <a:off x="5828268" y="928115"/>
            <a:ext cx="2956560" cy="93980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Clr>
                <a:srgbClr val="70AD47"/>
              </a:buClr>
              <a:buSzPts val="2000"/>
              <a:buFont typeface="Arial"/>
              <a:buNone/>
            </a:pPr>
            <a:r>
              <a:rPr lang="en-US" sz="2000" b="0" i="0" u="none" strike="noStrike" cap="none">
                <a:solidFill>
                  <a:srgbClr val="70AD47"/>
                </a:solidFill>
                <a:latin typeface="Calibri"/>
                <a:ea typeface="Calibri"/>
                <a:cs typeface="Calibri"/>
                <a:sym typeface="Calibri"/>
              </a:rPr>
              <a:t>With 48 layers, 16 heads per layer, all attention matrices take 112 MB (or 192MB)</a:t>
            </a:r>
            <a:endParaRPr sz="2000" b="0" i="0" u="none" strike="noStrike" cap="none">
              <a:solidFill>
                <a:srgbClr val="000000"/>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107"/>
        <p:cNvGrpSpPr/>
        <p:nvPr/>
      </p:nvGrpSpPr>
      <p:grpSpPr>
        <a:xfrm>
          <a:off x="0" y="0"/>
          <a:ext cx="0" cy="0"/>
          <a:chOff x="0" y="0"/>
          <a:chExt cx="0" cy="0"/>
        </a:xfrm>
      </p:grpSpPr>
      <p:sp>
        <p:nvSpPr>
          <p:cNvPr id="2108" name="Google Shape;2108;p33"/>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 vs ResNets</a:t>
            </a:r>
            <a:endParaRPr/>
          </a:p>
        </p:txBody>
      </p:sp>
      <p:pic>
        <p:nvPicPr>
          <p:cNvPr id="2109" name="Google Shape;2109;p33"/>
          <p:cNvPicPr preferRelativeResize="0"/>
          <p:nvPr/>
        </p:nvPicPr>
        <p:blipFill rotWithShape="1">
          <a:blip r:embed="rId3">
            <a:alphaModFix/>
          </a:blip>
          <a:srcRect/>
          <a:stretch/>
        </p:blipFill>
        <p:spPr>
          <a:xfrm>
            <a:off x="3156118" y="1199402"/>
            <a:ext cx="6763450" cy="4703061"/>
          </a:xfrm>
          <a:prstGeom prst="rect">
            <a:avLst/>
          </a:prstGeom>
          <a:noFill/>
          <a:ln>
            <a:noFill/>
          </a:ln>
        </p:spPr>
      </p:pic>
      <p:sp>
        <p:nvSpPr>
          <p:cNvPr id="2110" name="Google Shape;2110;p33"/>
          <p:cNvSpPr txBox="1"/>
          <p:nvPr/>
        </p:nvSpPr>
        <p:spPr>
          <a:xfrm>
            <a:off x="6623684" y="3464921"/>
            <a:ext cx="2301875" cy="372110"/>
          </a:xfrm>
          <a:prstGeom prst="rect">
            <a:avLst/>
          </a:prstGeom>
          <a:noFill/>
          <a:ln>
            <a:noFill/>
          </a:ln>
        </p:spPr>
        <p:txBody>
          <a:bodyPr spcFirstLastPara="1" wrap="square" lIns="0" tIns="0" rIns="0" bIns="0" anchor="t" anchorCtr="0">
            <a:spAutoFit/>
          </a:bodyPr>
          <a:lstStyle/>
          <a:p>
            <a:pPr marL="0" marR="0" lvl="0" indent="0" algn="l" rtl="0">
              <a:lnSpc>
                <a:spcPct val="115208"/>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BiT = ResNet152x4</a:t>
            </a:r>
            <a:endParaRPr sz="2400" b="0" i="0" u="none" strike="noStrike" cap="none">
              <a:solidFill>
                <a:srgbClr val="000000"/>
              </a:solidFill>
              <a:latin typeface="Calibri"/>
              <a:ea typeface="Calibri"/>
              <a:cs typeface="Calibri"/>
              <a:sym typeface="Calibri"/>
            </a:endParaRPr>
          </a:p>
        </p:txBody>
      </p:sp>
      <p:sp>
        <p:nvSpPr>
          <p:cNvPr id="2111" name="Google Shape;2111;p33"/>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2112" name="Google Shape;2112;p33"/>
          <p:cNvSpPr txBox="1"/>
          <p:nvPr/>
        </p:nvSpPr>
        <p:spPr>
          <a:xfrm>
            <a:off x="3946356" y="1366786"/>
            <a:ext cx="5784850" cy="3687445"/>
          </a:xfrm>
          <a:prstGeom prst="rect">
            <a:avLst/>
          </a:prstGeom>
          <a:solidFill>
            <a:srgbClr val="FFFFFF"/>
          </a:solid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155"/>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2926080" marR="0" lvl="0" indent="0" algn="l" rtl="0">
              <a:lnSpc>
                <a:spcPct val="100000"/>
              </a:lnSpc>
              <a:spcBef>
                <a:spcPts val="5"/>
              </a:spcBef>
              <a:spcAft>
                <a:spcPts val="0"/>
              </a:spcAft>
              <a:buClr>
                <a:srgbClr val="000000"/>
              </a:buClr>
              <a:buSzPts val="1600"/>
              <a:buFont typeface="Arial"/>
              <a:buNone/>
            </a:pPr>
            <a:r>
              <a:rPr lang="en-US" sz="1600" b="0" i="0" u="none" strike="noStrike" cap="none">
                <a:solidFill>
                  <a:srgbClr val="000000"/>
                </a:solidFill>
                <a:latin typeface="Calibri"/>
                <a:ea typeface="Calibri"/>
                <a:cs typeface="Calibri"/>
                <a:sym typeface="Calibri"/>
              </a:rPr>
              <a:t>ResNet-152x4</a:t>
            </a:r>
            <a:endParaRPr sz="1600" b="0" i="0" u="none" strike="noStrike" cap="none">
              <a:solidFill>
                <a:srgbClr val="000000"/>
              </a:solidFill>
              <a:latin typeface="Calibri"/>
              <a:ea typeface="Calibri"/>
              <a:cs typeface="Calibri"/>
              <a:sym typeface="Calibri"/>
            </a:endParaRPr>
          </a:p>
        </p:txBody>
      </p:sp>
      <p:sp>
        <p:nvSpPr>
          <p:cNvPr id="2113" name="Google Shape;2113;p33"/>
          <p:cNvSpPr txBox="1"/>
          <p:nvPr/>
        </p:nvSpPr>
        <p:spPr>
          <a:xfrm>
            <a:off x="9931439" y="2800603"/>
            <a:ext cx="871219" cy="845819"/>
          </a:xfrm>
          <a:prstGeom prst="rect">
            <a:avLst/>
          </a:prstGeom>
          <a:noFill/>
          <a:ln>
            <a:noFill/>
          </a:ln>
        </p:spPr>
        <p:txBody>
          <a:bodyPr spcFirstLastPara="1" wrap="square" lIns="0" tIns="13950" rIns="0" bIns="0" anchor="t" anchorCtr="0">
            <a:spAutoFit/>
          </a:bodyPr>
          <a:lstStyle/>
          <a:p>
            <a:pPr marL="12700" marR="5080" lvl="0" indent="0" algn="just"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B = Base L = Large H = Huge</a:t>
            </a:r>
            <a:endParaRPr sz="1800" b="0" i="0" u="none" strike="noStrike" cap="none">
              <a:solidFill>
                <a:srgbClr val="000000"/>
              </a:solidFill>
              <a:latin typeface="Calibri"/>
              <a:ea typeface="Calibri"/>
              <a:cs typeface="Calibri"/>
              <a:sym typeface="Calibri"/>
            </a:endParaRPr>
          </a:p>
        </p:txBody>
      </p:sp>
      <p:sp>
        <p:nvSpPr>
          <p:cNvPr id="2114" name="Google Shape;2114;p33"/>
          <p:cNvSpPr txBox="1"/>
          <p:nvPr/>
        </p:nvSpPr>
        <p:spPr>
          <a:xfrm>
            <a:off x="9931439" y="3891788"/>
            <a:ext cx="1999614" cy="1125855"/>
          </a:xfrm>
          <a:prstGeom prst="rect">
            <a:avLst/>
          </a:prstGeom>
          <a:noFill/>
          <a:ln>
            <a:noFill/>
          </a:ln>
        </p:spPr>
        <p:txBody>
          <a:bodyPr spcFirstLastPara="1" wrap="square" lIns="0" tIns="11425" rIns="0" bIns="0" anchor="t" anchorCtr="0">
            <a:spAutoFit/>
          </a:bodyPr>
          <a:lstStyle/>
          <a:p>
            <a:pPr marL="12700" marR="5080" lvl="0" indent="0" algn="l" rtl="0">
              <a:lnSpc>
                <a:spcPct val="100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/32, /16, /14 is patch size; smaller patch size is a bigger model (more patches)</a:t>
            </a: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118"/>
        <p:cNvGrpSpPr/>
        <p:nvPr/>
      </p:nvGrpSpPr>
      <p:grpSpPr>
        <a:xfrm>
          <a:off x="0" y="0"/>
          <a:ext cx="0" cy="0"/>
          <a:chOff x="0" y="0"/>
          <a:chExt cx="0" cy="0"/>
        </a:xfrm>
      </p:grpSpPr>
      <p:sp>
        <p:nvSpPr>
          <p:cNvPr id="2119" name="Google Shape;2119;p34"/>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 vs ResNets</a:t>
            </a:r>
            <a:endParaRPr/>
          </a:p>
        </p:txBody>
      </p:sp>
      <p:pic>
        <p:nvPicPr>
          <p:cNvPr id="2120" name="Google Shape;2120;p34"/>
          <p:cNvPicPr preferRelativeResize="0"/>
          <p:nvPr/>
        </p:nvPicPr>
        <p:blipFill rotWithShape="1">
          <a:blip r:embed="rId3">
            <a:alphaModFix/>
          </a:blip>
          <a:srcRect/>
          <a:stretch/>
        </p:blipFill>
        <p:spPr>
          <a:xfrm>
            <a:off x="3156118" y="1199402"/>
            <a:ext cx="6763450" cy="4703061"/>
          </a:xfrm>
          <a:prstGeom prst="rect">
            <a:avLst/>
          </a:prstGeom>
          <a:noFill/>
          <a:ln>
            <a:noFill/>
          </a:ln>
        </p:spPr>
      </p:pic>
      <p:sp>
        <p:nvSpPr>
          <p:cNvPr id="2121" name="Google Shape;2121;p34"/>
          <p:cNvSpPr txBox="1"/>
          <p:nvPr/>
        </p:nvSpPr>
        <p:spPr>
          <a:xfrm>
            <a:off x="6623684" y="3464921"/>
            <a:ext cx="2301875" cy="372110"/>
          </a:xfrm>
          <a:prstGeom prst="rect">
            <a:avLst/>
          </a:prstGeom>
          <a:noFill/>
          <a:ln>
            <a:noFill/>
          </a:ln>
        </p:spPr>
        <p:txBody>
          <a:bodyPr spcFirstLastPara="1" wrap="square" lIns="0" tIns="0" rIns="0" bIns="0" anchor="t" anchorCtr="0">
            <a:spAutoFit/>
          </a:bodyPr>
          <a:lstStyle/>
          <a:p>
            <a:pPr marL="0" marR="0" lvl="0" indent="0" algn="l" rtl="0">
              <a:lnSpc>
                <a:spcPct val="115208"/>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BiT = ResNet152x4</a:t>
            </a:r>
            <a:endParaRPr sz="2400" b="0" i="0" u="none" strike="noStrike" cap="none">
              <a:solidFill>
                <a:srgbClr val="000000"/>
              </a:solidFill>
              <a:latin typeface="Calibri"/>
              <a:ea typeface="Calibri"/>
              <a:cs typeface="Calibri"/>
              <a:sym typeface="Calibri"/>
            </a:endParaRPr>
          </a:p>
        </p:txBody>
      </p:sp>
      <p:sp>
        <p:nvSpPr>
          <p:cNvPr id="2122" name="Google Shape;2122;p34"/>
          <p:cNvSpPr/>
          <p:nvPr/>
        </p:nvSpPr>
        <p:spPr>
          <a:xfrm>
            <a:off x="4456493" y="1366786"/>
            <a:ext cx="5274945" cy="3687445"/>
          </a:xfrm>
          <a:custGeom>
            <a:avLst/>
            <a:gdLst/>
            <a:ahLst/>
            <a:cxnLst/>
            <a:rect l="l" t="t" r="r" b="b"/>
            <a:pathLst>
              <a:path w="5274945" h="3687445" extrusionOk="0">
                <a:moveTo>
                  <a:pt x="5274640" y="0"/>
                </a:moveTo>
                <a:lnTo>
                  <a:pt x="0" y="0"/>
                </a:lnTo>
                <a:lnTo>
                  <a:pt x="0" y="1163053"/>
                </a:lnTo>
                <a:lnTo>
                  <a:pt x="0" y="2523883"/>
                </a:lnTo>
                <a:lnTo>
                  <a:pt x="0" y="3686937"/>
                </a:lnTo>
                <a:lnTo>
                  <a:pt x="1783334" y="3686937"/>
                </a:lnTo>
                <a:lnTo>
                  <a:pt x="1783334" y="2523883"/>
                </a:lnTo>
                <a:lnTo>
                  <a:pt x="5274640" y="2523883"/>
                </a:lnTo>
                <a:lnTo>
                  <a:pt x="52746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23" name="Google Shape;2123;p34"/>
          <p:cNvSpPr txBox="1"/>
          <p:nvPr/>
        </p:nvSpPr>
        <p:spPr>
          <a:xfrm>
            <a:off x="325789" y="1462532"/>
            <a:ext cx="2106930" cy="1494790"/>
          </a:xfrm>
          <a:prstGeom prst="rect">
            <a:avLst/>
          </a:prstGeom>
          <a:noFill/>
          <a:ln>
            <a:noFill/>
          </a:ln>
        </p:spPr>
        <p:txBody>
          <a:bodyPr spcFirstLastPara="1" wrap="square" lIns="0" tIns="10150" rIns="0" bIns="0" anchor="t" anchorCtr="0">
            <a:spAutoFit/>
          </a:bodyPr>
          <a:lstStyle/>
          <a:p>
            <a:pPr marL="12700" marR="5080" lvl="0" indent="0" algn="l" rtl="0">
              <a:lnSpc>
                <a:spcPct val="1006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Recall: ImageNet dataset has 1k categories, 1.2M images</a:t>
            </a:r>
            <a:endParaRPr sz="2400" b="0" i="0" u="none" strike="noStrike" cap="none">
              <a:solidFill>
                <a:srgbClr val="000000"/>
              </a:solidFill>
              <a:latin typeface="Calibri"/>
              <a:ea typeface="Calibri"/>
              <a:cs typeface="Calibri"/>
              <a:sym typeface="Calibri"/>
            </a:endParaRPr>
          </a:p>
        </p:txBody>
      </p:sp>
      <p:sp>
        <p:nvSpPr>
          <p:cNvPr id="2124" name="Google Shape;2124;p34"/>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2125" name="Google Shape;2125;p34"/>
          <p:cNvSpPr txBox="1"/>
          <p:nvPr/>
        </p:nvSpPr>
        <p:spPr>
          <a:xfrm>
            <a:off x="325789" y="3291332"/>
            <a:ext cx="2477770" cy="1494790"/>
          </a:xfrm>
          <a:prstGeom prst="rect">
            <a:avLst/>
          </a:prstGeom>
          <a:noFill/>
          <a:ln>
            <a:noFill/>
          </a:ln>
        </p:spPr>
        <p:txBody>
          <a:bodyPr spcFirstLastPara="1" wrap="square" lIns="0" tIns="10150" rIns="0" bIns="0" anchor="t" anchorCtr="0">
            <a:spAutoFit/>
          </a:bodyPr>
          <a:lstStyle/>
          <a:p>
            <a:pPr marL="12700" marR="5080" lvl="0" indent="0" algn="l" rtl="0">
              <a:lnSpc>
                <a:spcPct val="1006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When trained on ImageNet, ViT models perform worse than ResNets</a:t>
            </a:r>
            <a:endParaRPr sz="2400" b="0" i="0" u="none" strike="noStrike" cap="none">
              <a:solidFill>
                <a:srgbClr val="000000"/>
              </a:solidFill>
              <a:latin typeface="Calibri"/>
              <a:ea typeface="Calibri"/>
              <a:cs typeface="Calibri"/>
              <a:sym typeface="Calibri"/>
            </a:endParaRPr>
          </a:p>
        </p:txBody>
      </p:sp>
      <p:sp>
        <p:nvSpPr>
          <p:cNvPr id="2126" name="Google Shape;2126;p34"/>
          <p:cNvSpPr txBox="1"/>
          <p:nvPr/>
        </p:nvSpPr>
        <p:spPr>
          <a:xfrm>
            <a:off x="6766559" y="3934398"/>
            <a:ext cx="1078230" cy="318135"/>
          </a:xfrm>
          <a:prstGeom prst="rect">
            <a:avLst/>
          </a:prstGeom>
          <a:solidFill>
            <a:srgbClr val="FFFFFF"/>
          </a:solidFill>
          <a:ln>
            <a:noFill/>
          </a:ln>
        </p:spPr>
        <p:txBody>
          <a:bodyPr spcFirstLastPara="1" wrap="square" lIns="0" tIns="0" rIns="0" bIns="0" anchor="t" anchorCtr="0">
            <a:spAutoFit/>
          </a:bodyPr>
          <a:lstStyle/>
          <a:p>
            <a:pPr marL="120650" marR="0" lvl="0" indent="0" algn="l" rtl="0">
              <a:lnSpc>
                <a:spcPct val="117499"/>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ResNets</a:t>
            </a:r>
            <a:endParaRPr sz="2000" b="0" i="0" u="none" strike="noStrike" cap="none">
              <a:solidFill>
                <a:srgbClr val="000000"/>
              </a:solidFill>
              <a:latin typeface="Calibri"/>
              <a:ea typeface="Calibri"/>
              <a:cs typeface="Calibri"/>
              <a:sym typeface="Calibri"/>
            </a:endParaRPr>
          </a:p>
        </p:txBody>
      </p:sp>
      <p:sp>
        <p:nvSpPr>
          <p:cNvPr id="2127" name="Google Shape;2127;p34"/>
          <p:cNvSpPr txBox="1"/>
          <p:nvPr/>
        </p:nvSpPr>
        <p:spPr>
          <a:xfrm>
            <a:off x="9931439" y="2800603"/>
            <a:ext cx="871219" cy="845819"/>
          </a:xfrm>
          <a:prstGeom prst="rect">
            <a:avLst/>
          </a:prstGeom>
          <a:noFill/>
          <a:ln>
            <a:noFill/>
          </a:ln>
        </p:spPr>
        <p:txBody>
          <a:bodyPr spcFirstLastPara="1" wrap="square" lIns="0" tIns="13950" rIns="0" bIns="0" anchor="t" anchorCtr="0">
            <a:spAutoFit/>
          </a:bodyPr>
          <a:lstStyle/>
          <a:p>
            <a:pPr marL="12700" marR="5080" lvl="0" indent="0" algn="just"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B = Base L = Large H = Huge</a:t>
            </a:r>
            <a:endParaRPr sz="1800" b="0" i="0" u="none" strike="noStrike" cap="none">
              <a:solidFill>
                <a:srgbClr val="000000"/>
              </a:solidFill>
              <a:latin typeface="Calibri"/>
              <a:ea typeface="Calibri"/>
              <a:cs typeface="Calibri"/>
              <a:sym typeface="Calibri"/>
            </a:endParaRPr>
          </a:p>
        </p:txBody>
      </p:sp>
      <p:sp>
        <p:nvSpPr>
          <p:cNvPr id="2128" name="Google Shape;2128;p34"/>
          <p:cNvSpPr txBox="1"/>
          <p:nvPr/>
        </p:nvSpPr>
        <p:spPr>
          <a:xfrm>
            <a:off x="9931439" y="3891788"/>
            <a:ext cx="1999614" cy="1125855"/>
          </a:xfrm>
          <a:prstGeom prst="rect">
            <a:avLst/>
          </a:prstGeom>
          <a:noFill/>
          <a:ln>
            <a:noFill/>
          </a:ln>
        </p:spPr>
        <p:txBody>
          <a:bodyPr spcFirstLastPara="1" wrap="square" lIns="0" tIns="11425" rIns="0" bIns="0" anchor="t" anchorCtr="0">
            <a:spAutoFit/>
          </a:bodyPr>
          <a:lstStyle/>
          <a:p>
            <a:pPr marL="12700" marR="5080" lvl="0" indent="0" algn="l" rtl="0">
              <a:lnSpc>
                <a:spcPct val="100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/32, /16, /14 is patch size; smaller patch size is a bigger model (more patches)</a:t>
            </a: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32"/>
        <p:cNvGrpSpPr/>
        <p:nvPr/>
      </p:nvGrpSpPr>
      <p:grpSpPr>
        <a:xfrm>
          <a:off x="0" y="0"/>
          <a:ext cx="0" cy="0"/>
          <a:chOff x="0" y="0"/>
          <a:chExt cx="0" cy="0"/>
        </a:xfrm>
      </p:grpSpPr>
      <p:sp>
        <p:nvSpPr>
          <p:cNvPr id="2133" name="Google Shape;2133;p35"/>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 vs ResNets</a:t>
            </a:r>
            <a:endParaRPr/>
          </a:p>
        </p:txBody>
      </p:sp>
      <p:grpSp>
        <p:nvGrpSpPr>
          <p:cNvPr id="2134" name="Google Shape;2134;p35"/>
          <p:cNvGrpSpPr/>
          <p:nvPr/>
        </p:nvGrpSpPr>
        <p:grpSpPr>
          <a:xfrm>
            <a:off x="3156118" y="1199402"/>
            <a:ext cx="6763450" cy="4703061"/>
            <a:chOff x="3156118" y="1199402"/>
            <a:chExt cx="6763450" cy="4703061"/>
          </a:xfrm>
        </p:grpSpPr>
        <p:pic>
          <p:nvPicPr>
            <p:cNvPr id="2135" name="Google Shape;2135;p35"/>
            <p:cNvPicPr preferRelativeResize="0"/>
            <p:nvPr/>
          </p:nvPicPr>
          <p:blipFill rotWithShape="1">
            <a:blip r:embed="rId3">
              <a:alphaModFix/>
            </a:blip>
            <a:srcRect/>
            <a:stretch/>
          </p:blipFill>
          <p:spPr>
            <a:xfrm>
              <a:off x="3156118" y="1199402"/>
              <a:ext cx="6763450" cy="4703061"/>
            </a:xfrm>
            <a:prstGeom prst="rect">
              <a:avLst/>
            </a:prstGeom>
            <a:noFill/>
            <a:ln>
              <a:noFill/>
            </a:ln>
          </p:spPr>
        </p:pic>
        <p:sp>
          <p:nvSpPr>
            <p:cNvPr id="2136" name="Google Shape;2136;p35"/>
            <p:cNvSpPr/>
            <p:nvPr/>
          </p:nvSpPr>
          <p:spPr>
            <a:xfrm>
              <a:off x="6987941" y="1366786"/>
              <a:ext cx="2743200" cy="2524125"/>
            </a:xfrm>
            <a:custGeom>
              <a:avLst/>
              <a:gdLst/>
              <a:ahLst/>
              <a:cxnLst/>
              <a:rect l="l" t="t" r="r" b="b"/>
              <a:pathLst>
                <a:path w="2743200" h="2524125" extrusionOk="0">
                  <a:moveTo>
                    <a:pt x="2743198" y="0"/>
                  </a:moveTo>
                  <a:lnTo>
                    <a:pt x="0" y="0"/>
                  </a:lnTo>
                  <a:lnTo>
                    <a:pt x="0" y="2523878"/>
                  </a:lnTo>
                  <a:lnTo>
                    <a:pt x="2743198" y="2523878"/>
                  </a:lnTo>
                  <a:lnTo>
                    <a:pt x="2743198"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137" name="Google Shape;2137;p35"/>
          <p:cNvSpPr txBox="1"/>
          <p:nvPr/>
        </p:nvSpPr>
        <p:spPr>
          <a:xfrm>
            <a:off x="300120" y="1496059"/>
            <a:ext cx="2665095" cy="1125855"/>
          </a:xfrm>
          <a:prstGeom prst="rect">
            <a:avLst/>
          </a:prstGeom>
          <a:noFill/>
          <a:ln>
            <a:noFill/>
          </a:ln>
        </p:spPr>
        <p:txBody>
          <a:bodyPr spcFirstLastPara="1" wrap="square" lIns="0" tIns="10775" rIns="0" bIns="0" anchor="t" anchorCtr="0">
            <a:spAutoFit/>
          </a:bodyPr>
          <a:lstStyle/>
          <a:p>
            <a:pPr marL="12700" marR="5080" lvl="0" indent="0" algn="l" rtl="0">
              <a:lnSpc>
                <a:spcPct val="1004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ImageNet-21k has 14M images with 21k categories</a:t>
            </a:r>
            <a:endParaRPr sz="2400" b="0" i="0" u="none" strike="noStrike" cap="none">
              <a:solidFill>
                <a:srgbClr val="000000"/>
              </a:solidFill>
              <a:latin typeface="Calibri"/>
              <a:ea typeface="Calibri"/>
              <a:cs typeface="Calibri"/>
              <a:sym typeface="Calibri"/>
            </a:endParaRPr>
          </a:p>
        </p:txBody>
      </p:sp>
      <p:sp>
        <p:nvSpPr>
          <p:cNvPr id="2138" name="Google Shape;2138;p35"/>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2139" name="Google Shape;2139;p35"/>
          <p:cNvSpPr txBox="1"/>
          <p:nvPr/>
        </p:nvSpPr>
        <p:spPr>
          <a:xfrm>
            <a:off x="300120" y="2968244"/>
            <a:ext cx="2710815" cy="221996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If you pretrain on ImageNet-21k and fine-tune on ImageNet, ViT does better: big ViTs match big ResNets</a:t>
            </a:r>
            <a:endParaRPr sz="2400" b="0" i="0" u="none" strike="noStrike" cap="none">
              <a:solidFill>
                <a:srgbClr val="000000"/>
              </a:solidFill>
              <a:latin typeface="Calibri"/>
              <a:ea typeface="Calibri"/>
              <a:cs typeface="Calibri"/>
              <a:sym typeface="Calibri"/>
            </a:endParaRPr>
          </a:p>
        </p:txBody>
      </p:sp>
      <p:sp>
        <p:nvSpPr>
          <p:cNvPr id="2140" name="Google Shape;2140;p35"/>
          <p:cNvSpPr txBox="1"/>
          <p:nvPr/>
        </p:nvSpPr>
        <p:spPr>
          <a:xfrm>
            <a:off x="6766559" y="3934398"/>
            <a:ext cx="1078230" cy="318135"/>
          </a:xfrm>
          <a:prstGeom prst="rect">
            <a:avLst/>
          </a:prstGeom>
          <a:solidFill>
            <a:srgbClr val="FFFFFF"/>
          </a:solidFill>
          <a:ln>
            <a:noFill/>
          </a:ln>
        </p:spPr>
        <p:txBody>
          <a:bodyPr spcFirstLastPara="1" wrap="square" lIns="0" tIns="0" rIns="0" bIns="0" anchor="t" anchorCtr="0">
            <a:spAutoFit/>
          </a:bodyPr>
          <a:lstStyle/>
          <a:p>
            <a:pPr marL="120650" marR="0" lvl="0" indent="0" algn="l" rtl="0">
              <a:lnSpc>
                <a:spcPct val="117499"/>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ResNets</a:t>
            </a:r>
            <a:endParaRPr sz="2000" b="0" i="0" u="none" strike="noStrike" cap="none">
              <a:solidFill>
                <a:srgbClr val="000000"/>
              </a:solidFill>
              <a:latin typeface="Calibri"/>
              <a:ea typeface="Calibri"/>
              <a:cs typeface="Calibri"/>
              <a:sym typeface="Calibri"/>
            </a:endParaRPr>
          </a:p>
        </p:txBody>
      </p:sp>
      <p:sp>
        <p:nvSpPr>
          <p:cNvPr id="2141" name="Google Shape;2141;p35"/>
          <p:cNvSpPr txBox="1"/>
          <p:nvPr/>
        </p:nvSpPr>
        <p:spPr>
          <a:xfrm>
            <a:off x="9931439" y="2800603"/>
            <a:ext cx="871219" cy="845819"/>
          </a:xfrm>
          <a:prstGeom prst="rect">
            <a:avLst/>
          </a:prstGeom>
          <a:noFill/>
          <a:ln>
            <a:noFill/>
          </a:ln>
        </p:spPr>
        <p:txBody>
          <a:bodyPr spcFirstLastPara="1" wrap="square" lIns="0" tIns="13950" rIns="0" bIns="0" anchor="t" anchorCtr="0">
            <a:spAutoFit/>
          </a:bodyPr>
          <a:lstStyle/>
          <a:p>
            <a:pPr marL="12700" marR="5080" lvl="0" indent="0" algn="just"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B = Base L = Large H = Huge</a:t>
            </a:r>
            <a:endParaRPr sz="1800" b="0" i="0" u="none" strike="noStrike" cap="none">
              <a:solidFill>
                <a:srgbClr val="000000"/>
              </a:solidFill>
              <a:latin typeface="Calibri"/>
              <a:ea typeface="Calibri"/>
              <a:cs typeface="Calibri"/>
              <a:sym typeface="Calibri"/>
            </a:endParaRPr>
          </a:p>
        </p:txBody>
      </p:sp>
      <p:sp>
        <p:nvSpPr>
          <p:cNvPr id="2142" name="Google Shape;2142;p35"/>
          <p:cNvSpPr txBox="1"/>
          <p:nvPr/>
        </p:nvSpPr>
        <p:spPr>
          <a:xfrm>
            <a:off x="9931439" y="3891788"/>
            <a:ext cx="1999614" cy="1125855"/>
          </a:xfrm>
          <a:prstGeom prst="rect">
            <a:avLst/>
          </a:prstGeom>
          <a:noFill/>
          <a:ln>
            <a:noFill/>
          </a:ln>
        </p:spPr>
        <p:txBody>
          <a:bodyPr spcFirstLastPara="1" wrap="square" lIns="0" tIns="11425" rIns="0" bIns="0" anchor="t" anchorCtr="0">
            <a:spAutoFit/>
          </a:bodyPr>
          <a:lstStyle/>
          <a:p>
            <a:pPr marL="12700" marR="5080" lvl="0" indent="0" algn="l" rtl="0">
              <a:lnSpc>
                <a:spcPct val="100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/32, /16, /14 is patch size; smaller patch size is a bigger model (more patches)</a:t>
            </a: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46"/>
        <p:cNvGrpSpPr/>
        <p:nvPr/>
      </p:nvGrpSpPr>
      <p:grpSpPr>
        <a:xfrm>
          <a:off x="0" y="0"/>
          <a:ext cx="0" cy="0"/>
          <a:chOff x="0" y="0"/>
          <a:chExt cx="0" cy="0"/>
        </a:xfrm>
      </p:grpSpPr>
      <p:sp>
        <p:nvSpPr>
          <p:cNvPr id="2147" name="Google Shape;2147;p36"/>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 vs ResNets</a:t>
            </a:r>
            <a:endParaRPr/>
          </a:p>
        </p:txBody>
      </p:sp>
      <p:pic>
        <p:nvPicPr>
          <p:cNvPr id="2148" name="Google Shape;2148;p36"/>
          <p:cNvPicPr preferRelativeResize="0"/>
          <p:nvPr/>
        </p:nvPicPr>
        <p:blipFill rotWithShape="1">
          <a:blip r:embed="rId3">
            <a:alphaModFix/>
          </a:blip>
          <a:srcRect/>
          <a:stretch/>
        </p:blipFill>
        <p:spPr>
          <a:xfrm>
            <a:off x="3156118" y="1199402"/>
            <a:ext cx="6763450" cy="4703061"/>
          </a:xfrm>
          <a:prstGeom prst="rect">
            <a:avLst/>
          </a:prstGeom>
          <a:noFill/>
          <a:ln>
            <a:noFill/>
          </a:ln>
        </p:spPr>
      </p:pic>
      <p:sp>
        <p:nvSpPr>
          <p:cNvPr id="2149" name="Google Shape;2149;p36"/>
          <p:cNvSpPr txBox="1"/>
          <p:nvPr/>
        </p:nvSpPr>
        <p:spPr>
          <a:xfrm>
            <a:off x="6766559" y="3934398"/>
            <a:ext cx="1078230" cy="318135"/>
          </a:xfrm>
          <a:prstGeom prst="rect">
            <a:avLst/>
          </a:prstGeom>
          <a:solidFill>
            <a:srgbClr val="FFFFFF"/>
          </a:solidFill>
          <a:ln>
            <a:noFill/>
          </a:ln>
        </p:spPr>
        <p:txBody>
          <a:bodyPr spcFirstLastPara="1" wrap="square" lIns="0" tIns="0" rIns="0" bIns="0" anchor="t" anchorCtr="0">
            <a:spAutoFit/>
          </a:bodyPr>
          <a:lstStyle/>
          <a:p>
            <a:pPr marL="120650" marR="0" lvl="0" indent="0" algn="l" rtl="0">
              <a:lnSpc>
                <a:spcPct val="117499"/>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ResNets</a:t>
            </a:r>
            <a:endParaRPr sz="2000" b="0" i="0" u="none" strike="noStrike" cap="none">
              <a:solidFill>
                <a:srgbClr val="000000"/>
              </a:solidFill>
              <a:latin typeface="Calibri"/>
              <a:ea typeface="Calibri"/>
              <a:cs typeface="Calibri"/>
              <a:sym typeface="Calibri"/>
            </a:endParaRPr>
          </a:p>
        </p:txBody>
      </p:sp>
      <p:sp>
        <p:nvSpPr>
          <p:cNvPr id="2150" name="Google Shape;2150;p36"/>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2151" name="Google Shape;2151;p36"/>
          <p:cNvSpPr txBox="1"/>
          <p:nvPr/>
        </p:nvSpPr>
        <p:spPr>
          <a:xfrm>
            <a:off x="434287" y="1291844"/>
            <a:ext cx="2352675" cy="1497965"/>
          </a:xfrm>
          <a:prstGeom prst="rect">
            <a:avLst/>
          </a:prstGeom>
          <a:noFill/>
          <a:ln>
            <a:noFill/>
          </a:ln>
        </p:spPr>
        <p:txBody>
          <a:bodyPr spcFirstLastPara="1" wrap="square" lIns="0" tIns="9525" rIns="0" bIns="0" anchor="t" anchorCtr="0">
            <a:spAutoFit/>
          </a:bodyPr>
          <a:lstStyle/>
          <a:p>
            <a:pPr marL="12700" marR="5080" lvl="0" indent="0" algn="l" rtl="0">
              <a:lnSpc>
                <a:spcPct val="1008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JFT-300M is an internal Google dataset with 300M labeled images</a:t>
            </a:r>
            <a:endParaRPr sz="2400" b="0" i="0" u="none" strike="noStrike" cap="none">
              <a:solidFill>
                <a:srgbClr val="000000"/>
              </a:solidFill>
              <a:latin typeface="Calibri"/>
              <a:ea typeface="Calibri"/>
              <a:cs typeface="Calibri"/>
              <a:sym typeface="Calibri"/>
            </a:endParaRPr>
          </a:p>
        </p:txBody>
      </p:sp>
      <p:sp>
        <p:nvSpPr>
          <p:cNvPr id="2152" name="Google Shape;2152;p36"/>
          <p:cNvSpPr txBox="1"/>
          <p:nvPr/>
        </p:nvSpPr>
        <p:spPr>
          <a:xfrm>
            <a:off x="434287" y="3120644"/>
            <a:ext cx="2451735" cy="1866900"/>
          </a:xfrm>
          <a:prstGeom prst="rect">
            <a:avLst/>
          </a:prstGeom>
          <a:noFill/>
          <a:ln>
            <a:noFill/>
          </a:ln>
        </p:spPr>
        <p:txBody>
          <a:bodyPr spcFirstLastPara="1" wrap="square" lIns="0" tIns="9525" rIns="0" bIns="0" anchor="t" anchorCtr="0">
            <a:spAutoFit/>
          </a:bodyPr>
          <a:lstStyle/>
          <a:p>
            <a:pPr marL="12700" marR="5080" lvl="0" indent="0" algn="l" rtl="0">
              <a:lnSpc>
                <a:spcPct val="1008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If you pretrain on JFT and finetune on ImageNet, large ViTs outperform large ResNets</a:t>
            </a:r>
            <a:endParaRPr sz="2400" b="0" i="0" u="none" strike="noStrike" cap="none">
              <a:solidFill>
                <a:srgbClr val="000000"/>
              </a:solidFill>
              <a:latin typeface="Calibri"/>
              <a:ea typeface="Calibri"/>
              <a:cs typeface="Calibri"/>
              <a:sym typeface="Calibri"/>
            </a:endParaRPr>
          </a:p>
        </p:txBody>
      </p:sp>
      <p:sp>
        <p:nvSpPr>
          <p:cNvPr id="2153" name="Google Shape;2153;p36"/>
          <p:cNvSpPr txBox="1"/>
          <p:nvPr/>
        </p:nvSpPr>
        <p:spPr>
          <a:xfrm>
            <a:off x="9931439" y="2800603"/>
            <a:ext cx="871219" cy="845819"/>
          </a:xfrm>
          <a:prstGeom prst="rect">
            <a:avLst/>
          </a:prstGeom>
          <a:noFill/>
          <a:ln>
            <a:noFill/>
          </a:ln>
        </p:spPr>
        <p:txBody>
          <a:bodyPr spcFirstLastPara="1" wrap="square" lIns="0" tIns="13950" rIns="0" bIns="0" anchor="t" anchorCtr="0">
            <a:spAutoFit/>
          </a:bodyPr>
          <a:lstStyle/>
          <a:p>
            <a:pPr marL="12700" marR="5080" lvl="0" indent="0" algn="just"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B = Base L = Large H = Huge</a:t>
            </a:r>
            <a:endParaRPr sz="1800" b="0" i="0" u="none" strike="noStrike" cap="none">
              <a:solidFill>
                <a:srgbClr val="000000"/>
              </a:solidFill>
              <a:latin typeface="Calibri"/>
              <a:ea typeface="Calibri"/>
              <a:cs typeface="Calibri"/>
              <a:sym typeface="Calibri"/>
            </a:endParaRPr>
          </a:p>
        </p:txBody>
      </p:sp>
      <p:sp>
        <p:nvSpPr>
          <p:cNvPr id="2154" name="Google Shape;2154;p36"/>
          <p:cNvSpPr txBox="1"/>
          <p:nvPr/>
        </p:nvSpPr>
        <p:spPr>
          <a:xfrm>
            <a:off x="9931439" y="3891788"/>
            <a:ext cx="1999614" cy="1125855"/>
          </a:xfrm>
          <a:prstGeom prst="rect">
            <a:avLst/>
          </a:prstGeom>
          <a:noFill/>
          <a:ln>
            <a:noFill/>
          </a:ln>
        </p:spPr>
        <p:txBody>
          <a:bodyPr spcFirstLastPara="1" wrap="square" lIns="0" tIns="11425" rIns="0" bIns="0" anchor="t" anchorCtr="0">
            <a:spAutoFit/>
          </a:bodyPr>
          <a:lstStyle/>
          <a:p>
            <a:pPr marL="12700" marR="5080" lvl="0" indent="0" algn="l" rtl="0">
              <a:lnSpc>
                <a:spcPct val="100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/32, /16, /14 is patch size; smaller patch size is a bigger model (more patches)</a:t>
            </a: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58"/>
        <p:cNvGrpSpPr/>
        <p:nvPr/>
      </p:nvGrpSpPr>
      <p:grpSpPr>
        <a:xfrm>
          <a:off x="0" y="0"/>
          <a:ext cx="0" cy="0"/>
          <a:chOff x="0" y="0"/>
          <a:chExt cx="0" cy="0"/>
        </a:xfrm>
      </p:grpSpPr>
      <p:sp>
        <p:nvSpPr>
          <p:cNvPr id="2159" name="Google Shape;2159;p37"/>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 vs ResNets</a:t>
            </a:r>
            <a:endParaRPr/>
          </a:p>
        </p:txBody>
      </p:sp>
      <p:pic>
        <p:nvPicPr>
          <p:cNvPr id="2160" name="Google Shape;2160;p37"/>
          <p:cNvPicPr preferRelativeResize="0"/>
          <p:nvPr/>
        </p:nvPicPr>
        <p:blipFill rotWithShape="1">
          <a:blip r:embed="rId3">
            <a:alphaModFix/>
          </a:blip>
          <a:srcRect/>
          <a:stretch/>
        </p:blipFill>
        <p:spPr>
          <a:xfrm>
            <a:off x="3156118" y="1199402"/>
            <a:ext cx="6763450" cy="4703061"/>
          </a:xfrm>
          <a:prstGeom prst="rect">
            <a:avLst/>
          </a:prstGeom>
          <a:noFill/>
          <a:ln>
            <a:noFill/>
          </a:ln>
        </p:spPr>
      </p:pic>
      <p:sp>
        <p:nvSpPr>
          <p:cNvPr id="2161" name="Google Shape;2161;p37"/>
          <p:cNvSpPr txBox="1"/>
          <p:nvPr/>
        </p:nvSpPr>
        <p:spPr>
          <a:xfrm>
            <a:off x="6766559" y="3934398"/>
            <a:ext cx="1078230" cy="318135"/>
          </a:xfrm>
          <a:prstGeom prst="rect">
            <a:avLst/>
          </a:prstGeom>
          <a:solidFill>
            <a:srgbClr val="FFFFFF"/>
          </a:solidFill>
          <a:ln>
            <a:noFill/>
          </a:ln>
        </p:spPr>
        <p:txBody>
          <a:bodyPr spcFirstLastPara="1" wrap="square" lIns="0" tIns="0" rIns="0" bIns="0" anchor="t" anchorCtr="0">
            <a:spAutoFit/>
          </a:bodyPr>
          <a:lstStyle/>
          <a:p>
            <a:pPr marL="120650" marR="0" lvl="0" indent="0" algn="l" rtl="0">
              <a:lnSpc>
                <a:spcPct val="117499"/>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ResNets</a:t>
            </a:r>
            <a:endParaRPr sz="2000" b="0" i="0" u="none" strike="noStrike" cap="none">
              <a:solidFill>
                <a:srgbClr val="000000"/>
              </a:solidFill>
              <a:latin typeface="Calibri"/>
              <a:ea typeface="Calibri"/>
              <a:cs typeface="Calibri"/>
              <a:sym typeface="Calibri"/>
            </a:endParaRPr>
          </a:p>
        </p:txBody>
      </p:sp>
      <p:sp>
        <p:nvSpPr>
          <p:cNvPr id="2162" name="Google Shape;2162;p37"/>
          <p:cNvSpPr txBox="1"/>
          <p:nvPr/>
        </p:nvSpPr>
        <p:spPr>
          <a:xfrm>
            <a:off x="434287" y="1291844"/>
            <a:ext cx="2352675" cy="1497965"/>
          </a:xfrm>
          <a:prstGeom prst="rect">
            <a:avLst/>
          </a:prstGeom>
          <a:noFill/>
          <a:ln>
            <a:noFill/>
          </a:ln>
        </p:spPr>
        <p:txBody>
          <a:bodyPr spcFirstLastPara="1" wrap="square" lIns="0" tIns="9525" rIns="0" bIns="0" anchor="t" anchorCtr="0">
            <a:spAutoFit/>
          </a:bodyPr>
          <a:lstStyle/>
          <a:p>
            <a:pPr marL="12700" marR="5080" lvl="0" indent="0" algn="l" rtl="0">
              <a:lnSpc>
                <a:spcPct val="1008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JFT-300M is an internal Google dataset with 300M labeled images</a:t>
            </a:r>
            <a:endParaRPr sz="2400" b="0" i="0" u="none" strike="noStrike" cap="none">
              <a:solidFill>
                <a:srgbClr val="000000"/>
              </a:solidFill>
              <a:latin typeface="Calibri"/>
              <a:ea typeface="Calibri"/>
              <a:cs typeface="Calibri"/>
              <a:sym typeface="Calibri"/>
            </a:endParaRPr>
          </a:p>
        </p:txBody>
      </p:sp>
      <p:sp>
        <p:nvSpPr>
          <p:cNvPr id="2163" name="Google Shape;2163;p37"/>
          <p:cNvSpPr txBox="1"/>
          <p:nvPr/>
        </p:nvSpPr>
        <p:spPr>
          <a:xfrm>
            <a:off x="434287" y="3120644"/>
            <a:ext cx="2451735" cy="1866900"/>
          </a:xfrm>
          <a:prstGeom prst="rect">
            <a:avLst/>
          </a:prstGeom>
          <a:noFill/>
          <a:ln>
            <a:noFill/>
          </a:ln>
        </p:spPr>
        <p:txBody>
          <a:bodyPr spcFirstLastPara="1" wrap="square" lIns="0" tIns="9525" rIns="0" bIns="0" anchor="t" anchorCtr="0">
            <a:spAutoFit/>
          </a:bodyPr>
          <a:lstStyle/>
          <a:p>
            <a:pPr marL="12700" marR="5080" lvl="0" indent="0" algn="l" rtl="0">
              <a:lnSpc>
                <a:spcPct val="1008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If you pretrain on JFT and finetune on ImageNet, large ViTs outperform large ResNets</a:t>
            </a:r>
            <a:endParaRPr sz="2400" b="0" i="0" u="none" strike="noStrike" cap="none">
              <a:solidFill>
                <a:srgbClr val="000000"/>
              </a:solidFill>
              <a:latin typeface="Calibri"/>
              <a:ea typeface="Calibri"/>
              <a:cs typeface="Calibri"/>
              <a:sym typeface="Calibri"/>
            </a:endParaRPr>
          </a:p>
        </p:txBody>
      </p:sp>
      <p:grpSp>
        <p:nvGrpSpPr>
          <p:cNvPr id="2164" name="Google Shape;2164;p37"/>
          <p:cNvGrpSpPr/>
          <p:nvPr/>
        </p:nvGrpSpPr>
        <p:grpSpPr>
          <a:xfrm>
            <a:off x="9594066" y="1434966"/>
            <a:ext cx="381635" cy="574180"/>
            <a:chOff x="9594066" y="1434966"/>
            <a:chExt cx="381635" cy="574180"/>
          </a:xfrm>
        </p:grpSpPr>
        <p:sp>
          <p:nvSpPr>
            <p:cNvPr id="2165" name="Google Shape;2165;p37"/>
            <p:cNvSpPr/>
            <p:nvPr/>
          </p:nvSpPr>
          <p:spPr>
            <a:xfrm>
              <a:off x="9606013" y="1434966"/>
              <a:ext cx="369570" cy="152400"/>
            </a:xfrm>
            <a:custGeom>
              <a:avLst/>
              <a:gdLst/>
              <a:ahLst/>
              <a:cxnLst/>
              <a:rect l="l" t="t" r="r" b="b"/>
              <a:pathLst>
                <a:path w="369570" h="152400" extrusionOk="0">
                  <a:moveTo>
                    <a:pt x="216953" y="101599"/>
                  </a:moveTo>
                  <a:lnTo>
                    <a:pt x="216952" y="152400"/>
                  </a:lnTo>
                  <a:lnTo>
                    <a:pt x="318553" y="101600"/>
                  </a:lnTo>
                  <a:lnTo>
                    <a:pt x="216953" y="101599"/>
                  </a:lnTo>
                  <a:close/>
                </a:path>
                <a:path w="369570" h="152400" extrusionOk="0">
                  <a:moveTo>
                    <a:pt x="216953" y="50799"/>
                  </a:moveTo>
                  <a:lnTo>
                    <a:pt x="216953" y="101599"/>
                  </a:lnTo>
                  <a:lnTo>
                    <a:pt x="242354" y="101600"/>
                  </a:lnTo>
                  <a:lnTo>
                    <a:pt x="242354" y="50800"/>
                  </a:lnTo>
                  <a:lnTo>
                    <a:pt x="216953" y="50799"/>
                  </a:lnTo>
                  <a:close/>
                </a:path>
                <a:path w="369570" h="152400" extrusionOk="0">
                  <a:moveTo>
                    <a:pt x="216954" y="0"/>
                  </a:moveTo>
                  <a:lnTo>
                    <a:pt x="216953" y="50799"/>
                  </a:lnTo>
                  <a:lnTo>
                    <a:pt x="242354" y="50800"/>
                  </a:lnTo>
                  <a:lnTo>
                    <a:pt x="242354" y="101600"/>
                  </a:lnTo>
                  <a:lnTo>
                    <a:pt x="318556" y="101598"/>
                  </a:lnTo>
                  <a:lnTo>
                    <a:pt x="369354" y="76200"/>
                  </a:lnTo>
                  <a:lnTo>
                    <a:pt x="216954" y="0"/>
                  </a:lnTo>
                  <a:close/>
                </a:path>
                <a:path w="369570" h="152400" extrusionOk="0">
                  <a:moveTo>
                    <a:pt x="0" y="50798"/>
                  </a:moveTo>
                  <a:lnTo>
                    <a:pt x="0" y="101598"/>
                  </a:lnTo>
                  <a:lnTo>
                    <a:pt x="216953" y="101599"/>
                  </a:lnTo>
                  <a:lnTo>
                    <a:pt x="216953" y="50799"/>
                  </a:lnTo>
                  <a:lnTo>
                    <a:pt x="0" y="50798"/>
                  </a:lnTo>
                  <a:close/>
                </a:path>
              </a:pathLst>
            </a:custGeom>
            <a:solidFill>
              <a:srgbClr val="ED7D3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66" name="Google Shape;2166;p37"/>
            <p:cNvSpPr/>
            <p:nvPr/>
          </p:nvSpPr>
          <p:spPr>
            <a:xfrm>
              <a:off x="9594066" y="1750701"/>
              <a:ext cx="381635" cy="258445"/>
            </a:xfrm>
            <a:custGeom>
              <a:avLst/>
              <a:gdLst/>
              <a:ahLst/>
              <a:cxnLst/>
              <a:rect l="l" t="t" r="r" b="b"/>
              <a:pathLst>
                <a:path w="381634" h="258444" extrusionOk="0">
                  <a:moveTo>
                    <a:pt x="239398" y="196781"/>
                  </a:moveTo>
                  <a:lnTo>
                    <a:pt x="211907" y="239500"/>
                  </a:lnTo>
                  <a:lnTo>
                    <a:pt x="381298" y="257895"/>
                  </a:lnTo>
                  <a:lnTo>
                    <a:pt x="353204" y="210526"/>
                  </a:lnTo>
                  <a:lnTo>
                    <a:pt x="260756" y="210526"/>
                  </a:lnTo>
                  <a:lnTo>
                    <a:pt x="239398" y="196781"/>
                  </a:lnTo>
                  <a:close/>
                </a:path>
                <a:path w="381634" h="258444" extrusionOk="0">
                  <a:moveTo>
                    <a:pt x="266888" y="154063"/>
                  </a:moveTo>
                  <a:lnTo>
                    <a:pt x="239398" y="196781"/>
                  </a:lnTo>
                  <a:lnTo>
                    <a:pt x="260756" y="210526"/>
                  </a:lnTo>
                  <a:lnTo>
                    <a:pt x="288248" y="167808"/>
                  </a:lnTo>
                  <a:lnTo>
                    <a:pt x="266888" y="154063"/>
                  </a:lnTo>
                  <a:close/>
                </a:path>
                <a:path w="381634" h="258444" extrusionOk="0">
                  <a:moveTo>
                    <a:pt x="294379" y="111344"/>
                  </a:moveTo>
                  <a:lnTo>
                    <a:pt x="266888" y="154063"/>
                  </a:lnTo>
                  <a:lnTo>
                    <a:pt x="288248" y="167808"/>
                  </a:lnTo>
                  <a:lnTo>
                    <a:pt x="260756" y="210526"/>
                  </a:lnTo>
                  <a:lnTo>
                    <a:pt x="353204" y="210526"/>
                  </a:lnTo>
                  <a:lnTo>
                    <a:pt x="294379" y="111344"/>
                  </a:lnTo>
                  <a:close/>
                </a:path>
                <a:path w="381634" h="258444" extrusionOk="0">
                  <a:moveTo>
                    <a:pt x="27490" y="0"/>
                  </a:moveTo>
                  <a:lnTo>
                    <a:pt x="0" y="42718"/>
                  </a:lnTo>
                  <a:lnTo>
                    <a:pt x="239398" y="196781"/>
                  </a:lnTo>
                  <a:lnTo>
                    <a:pt x="266888" y="154063"/>
                  </a:lnTo>
                  <a:lnTo>
                    <a:pt x="27490" y="0"/>
                  </a:lnTo>
                  <a:close/>
                </a:path>
              </a:pathLst>
            </a:custGeom>
            <a:solidFill>
              <a:srgbClr val="A5A5A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167" name="Google Shape;2167;p37"/>
          <p:cNvSpPr txBox="1"/>
          <p:nvPr/>
        </p:nvSpPr>
        <p:spPr>
          <a:xfrm>
            <a:off x="10054107" y="1115059"/>
            <a:ext cx="1983105" cy="565150"/>
          </a:xfrm>
          <a:prstGeom prst="rect">
            <a:avLst/>
          </a:prstGeom>
          <a:noFill/>
          <a:ln>
            <a:noFill/>
          </a:ln>
        </p:spPr>
        <p:txBody>
          <a:bodyPr spcFirstLastPara="1" wrap="square" lIns="0" tIns="28575" rIns="0" bIns="0" anchor="t" anchorCtr="0">
            <a:spAutoFit/>
          </a:bodyPr>
          <a:lstStyle/>
          <a:p>
            <a:pPr marL="12700" marR="5080" lvl="0" indent="0" algn="l" rtl="0">
              <a:lnSpc>
                <a:spcPct val="116111"/>
              </a:lnSpc>
              <a:spcBef>
                <a:spcPts val="0"/>
              </a:spcBef>
              <a:spcAft>
                <a:spcPts val="0"/>
              </a:spcAft>
              <a:buClr>
                <a:srgbClr val="ED7D31"/>
              </a:buClr>
              <a:buSzPts val="1800"/>
              <a:buFont typeface="Arial"/>
              <a:buNone/>
            </a:pPr>
            <a:r>
              <a:rPr lang="en-US" sz="1800" b="0" i="0" u="none" strike="noStrike" cap="none">
                <a:solidFill>
                  <a:srgbClr val="ED7D31"/>
                </a:solidFill>
                <a:latin typeface="Calibri"/>
                <a:ea typeface="Calibri"/>
                <a:cs typeface="Calibri"/>
                <a:sym typeface="Calibri"/>
              </a:rPr>
              <a:t>ViT: 2.5k TPU-v3 core days of training</a:t>
            </a:r>
            <a:endParaRPr sz="1800" b="0" i="0" u="none" strike="noStrike" cap="none">
              <a:solidFill>
                <a:srgbClr val="000000"/>
              </a:solidFill>
              <a:latin typeface="Calibri"/>
              <a:ea typeface="Calibri"/>
              <a:cs typeface="Calibri"/>
              <a:sym typeface="Calibri"/>
            </a:endParaRPr>
          </a:p>
        </p:txBody>
      </p:sp>
      <p:sp>
        <p:nvSpPr>
          <p:cNvPr id="2168" name="Google Shape;2168;p37"/>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2169" name="Google Shape;2169;p37"/>
          <p:cNvSpPr txBox="1"/>
          <p:nvPr/>
        </p:nvSpPr>
        <p:spPr>
          <a:xfrm>
            <a:off x="10054106" y="1928876"/>
            <a:ext cx="1910080" cy="565150"/>
          </a:xfrm>
          <a:prstGeom prst="rect">
            <a:avLst/>
          </a:prstGeom>
          <a:noFill/>
          <a:ln>
            <a:noFill/>
          </a:ln>
        </p:spPr>
        <p:txBody>
          <a:bodyPr spcFirstLastPara="1" wrap="square" lIns="0" tIns="28575" rIns="0" bIns="0" anchor="t" anchorCtr="0">
            <a:spAutoFit/>
          </a:bodyPr>
          <a:lstStyle/>
          <a:p>
            <a:pPr marL="12700" marR="5080" lvl="0" indent="0" algn="l" rtl="0">
              <a:lnSpc>
                <a:spcPct val="116111"/>
              </a:lnSpc>
              <a:spcBef>
                <a:spcPts val="0"/>
              </a:spcBef>
              <a:spcAft>
                <a:spcPts val="0"/>
              </a:spcAft>
              <a:buClr>
                <a:srgbClr val="A5A5A5"/>
              </a:buClr>
              <a:buSzPts val="1800"/>
              <a:buFont typeface="Arial"/>
              <a:buNone/>
            </a:pPr>
            <a:r>
              <a:rPr lang="en-US" sz="1800" b="0" i="0" u="none" strike="noStrike" cap="none">
                <a:solidFill>
                  <a:srgbClr val="A5A5A5"/>
                </a:solidFill>
                <a:latin typeface="Calibri"/>
                <a:ea typeface="Calibri"/>
                <a:cs typeface="Calibri"/>
                <a:sym typeface="Calibri"/>
              </a:rPr>
              <a:t>ResNet: 9.9k TPU-v3 core days of training</a:t>
            </a:r>
            <a:endParaRPr sz="1800" b="0" i="0" u="none" strike="noStrike" cap="none">
              <a:solidFill>
                <a:srgbClr val="000000"/>
              </a:solidFill>
              <a:latin typeface="Calibri"/>
              <a:ea typeface="Calibri"/>
              <a:cs typeface="Calibri"/>
              <a:sym typeface="Calibri"/>
            </a:endParaRPr>
          </a:p>
        </p:txBody>
      </p:sp>
      <p:sp>
        <p:nvSpPr>
          <p:cNvPr id="2170" name="Google Shape;2170;p37"/>
          <p:cNvSpPr txBox="1"/>
          <p:nvPr/>
        </p:nvSpPr>
        <p:spPr>
          <a:xfrm>
            <a:off x="10054104" y="3108452"/>
            <a:ext cx="1866900" cy="1671320"/>
          </a:xfrm>
          <a:prstGeom prst="rect">
            <a:avLst/>
          </a:prstGeom>
          <a:noFill/>
          <a:ln>
            <a:noFill/>
          </a:ln>
        </p:spPr>
        <p:txBody>
          <a:bodyPr spcFirstLastPara="1" wrap="square" lIns="0" tIns="26650" rIns="0" bIns="0" anchor="t" anchorCtr="0">
            <a:spAutoFit/>
          </a:bodyPr>
          <a:lstStyle/>
          <a:p>
            <a:pPr marL="12700" marR="5080" lvl="0" indent="0" algn="l" rtl="0">
              <a:lnSpc>
                <a:spcPct val="117222"/>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ViTs make more efficient use of GPU</a:t>
            </a:r>
            <a:endParaRPr sz="1800" b="0" i="0" u="none" strike="noStrike" cap="none">
              <a:solidFill>
                <a:srgbClr val="000000"/>
              </a:solidFill>
              <a:latin typeface="Calibri"/>
              <a:ea typeface="Calibri"/>
              <a:cs typeface="Calibri"/>
              <a:sym typeface="Calibri"/>
            </a:endParaRPr>
          </a:p>
          <a:p>
            <a:pPr marL="12700" marR="172085" lvl="0" indent="0" algn="l"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TPU hardware (matrix multiply is more hardware-</a:t>
            </a:r>
            <a:endParaRPr sz="1800" b="0" i="0" u="none" strike="noStrike" cap="none">
              <a:solidFill>
                <a:srgbClr val="000000"/>
              </a:solidFill>
              <a:latin typeface="Calibri"/>
              <a:ea typeface="Calibri"/>
              <a:cs typeface="Calibri"/>
              <a:sym typeface="Calibri"/>
            </a:endParaRPr>
          </a:p>
          <a:p>
            <a:pPr marL="12700" marR="0" lvl="0" indent="0" algn="l" rtl="0">
              <a:lnSpc>
                <a:spcPct val="100000"/>
              </a:lnSpc>
              <a:spcBef>
                <a:spcPts val="25"/>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friendly than conv)</a:t>
            </a: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174"/>
        <p:cNvGrpSpPr/>
        <p:nvPr/>
      </p:nvGrpSpPr>
      <p:grpSpPr>
        <a:xfrm>
          <a:off x="0" y="0"/>
          <a:ext cx="0" cy="0"/>
          <a:chOff x="0" y="0"/>
          <a:chExt cx="0" cy="0"/>
        </a:xfrm>
      </p:grpSpPr>
      <p:sp>
        <p:nvSpPr>
          <p:cNvPr id="2175" name="Google Shape;2175;p38"/>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 vs ResNets</a:t>
            </a:r>
            <a:endParaRPr/>
          </a:p>
        </p:txBody>
      </p:sp>
      <p:pic>
        <p:nvPicPr>
          <p:cNvPr id="2176" name="Google Shape;2176;p38"/>
          <p:cNvPicPr preferRelativeResize="0"/>
          <p:nvPr/>
        </p:nvPicPr>
        <p:blipFill rotWithShape="1">
          <a:blip r:embed="rId3">
            <a:alphaModFix/>
          </a:blip>
          <a:srcRect/>
          <a:stretch/>
        </p:blipFill>
        <p:spPr>
          <a:xfrm>
            <a:off x="3156118" y="1199402"/>
            <a:ext cx="6763450" cy="4703061"/>
          </a:xfrm>
          <a:prstGeom prst="rect">
            <a:avLst/>
          </a:prstGeom>
          <a:noFill/>
          <a:ln>
            <a:noFill/>
          </a:ln>
        </p:spPr>
      </p:pic>
      <p:sp>
        <p:nvSpPr>
          <p:cNvPr id="2177" name="Google Shape;2177;p38"/>
          <p:cNvSpPr txBox="1"/>
          <p:nvPr/>
        </p:nvSpPr>
        <p:spPr>
          <a:xfrm>
            <a:off x="6766559" y="3934398"/>
            <a:ext cx="1078230" cy="318135"/>
          </a:xfrm>
          <a:prstGeom prst="rect">
            <a:avLst/>
          </a:prstGeom>
          <a:solidFill>
            <a:srgbClr val="FFFFFF"/>
          </a:solidFill>
          <a:ln>
            <a:noFill/>
          </a:ln>
        </p:spPr>
        <p:txBody>
          <a:bodyPr spcFirstLastPara="1" wrap="square" lIns="0" tIns="0" rIns="0" bIns="0" anchor="t" anchorCtr="0">
            <a:spAutoFit/>
          </a:bodyPr>
          <a:lstStyle/>
          <a:p>
            <a:pPr marL="120650" marR="0" lvl="0" indent="0" algn="l" rtl="0">
              <a:lnSpc>
                <a:spcPct val="117499"/>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ResNets</a:t>
            </a:r>
            <a:endParaRPr sz="2000" b="0" i="0" u="none" strike="noStrike" cap="none">
              <a:solidFill>
                <a:srgbClr val="000000"/>
              </a:solidFill>
              <a:latin typeface="Calibri"/>
              <a:ea typeface="Calibri"/>
              <a:cs typeface="Calibri"/>
              <a:sym typeface="Calibri"/>
            </a:endParaRPr>
          </a:p>
        </p:txBody>
      </p:sp>
      <p:sp>
        <p:nvSpPr>
          <p:cNvPr id="2178" name="Google Shape;2178;p38"/>
          <p:cNvSpPr txBox="1"/>
          <p:nvPr/>
        </p:nvSpPr>
        <p:spPr>
          <a:xfrm>
            <a:off x="146117" y="1291844"/>
            <a:ext cx="2886710" cy="1866900"/>
          </a:xfrm>
          <a:prstGeom prst="rect">
            <a:avLst/>
          </a:prstGeom>
          <a:noFill/>
          <a:ln>
            <a:noFill/>
          </a:ln>
        </p:spPr>
        <p:txBody>
          <a:bodyPr spcFirstLastPara="1" wrap="square" lIns="0" tIns="9525" rIns="0" bIns="0" anchor="t" anchorCtr="0">
            <a:spAutoFit/>
          </a:bodyPr>
          <a:lstStyle/>
          <a:p>
            <a:pPr marL="12700" marR="5080" lvl="0" indent="0" algn="l" rtl="0">
              <a:lnSpc>
                <a:spcPct val="1008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Claim: ViT models have “less inductive bias” than ResNets, so need more pretraining data to learn good features</a:t>
            </a:r>
            <a:endParaRPr sz="2400" b="0" i="0" u="none" strike="noStrike" cap="none">
              <a:solidFill>
                <a:srgbClr val="000000"/>
              </a:solidFill>
              <a:latin typeface="Calibri"/>
              <a:ea typeface="Calibri"/>
              <a:cs typeface="Calibri"/>
              <a:sym typeface="Calibri"/>
            </a:endParaRPr>
          </a:p>
        </p:txBody>
      </p:sp>
      <p:sp>
        <p:nvSpPr>
          <p:cNvPr id="2179" name="Google Shape;2179;p38"/>
          <p:cNvSpPr txBox="1"/>
          <p:nvPr/>
        </p:nvSpPr>
        <p:spPr>
          <a:xfrm>
            <a:off x="146117" y="3489452"/>
            <a:ext cx="2890520" cy="1851660"/>
          </a:xfrm>
          <a:prstGeom prst="rect">
            <a:avLst/>
          </a:prstGeom>
          <a:noFill/>
          <a:ln>
            <a:noFill/>
          </a:ln>
        </p:spPr>
        <p:txBody>
          <a:bodyPr spcFirstLastPara="1" wrap="square" lIns="0" tIns="13325" rIns="0" bIns="0" anchor="t" anchorCtr="0">
            <a:spAutoFit/>
          </a:bodyPr>
          <a:lstStyle/>
          <a:p>
            <a:pPr marL="12700" marR="5080" lvl="0" indent="0" algn="l" rtl="0">
              <a:lnSpc>
                <a:spcPct val="998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(Not sure I buy this explanation: “inductive bias” is not a well- defined concept we can measure!)</a:t>
            </a:r>
            <a:endParaRPr sz="2400" b="0" i="0" u="none" strike="noStrike" cap="none">
              <a:solidFill>
                <a:srgbClr val="000000"/>
              </a:solidFill>
              <a:latin typeface="Calibri"/>
              <a:ea typeface="Calibri"/>
              <a:cs typeface="Calibri"/>
              <a:sym typeface="Calibri"/>
            </a:endParaRPr>
          </a:p>
        </p:txBody>
      </p:sp>
      <p:grpSp>
        <p:nvGrpSpPr>
          <p:cNvPr id="2180" name="Google Shape;2180;p38"/>
          <p:cNvGrpSpPr/>
          <p:nvPr/>
        </p:nvGrpSpPr>
        <p:grpSpPr>
          <a:xfrm>
            <a:off x="9594066" y="1434966"/>
            <a:ext cx="381635" cy="574180"/>
            <a:chOff x="9594066" y="1434966"/>
            <a:chExt cx="381635" cy="574180"/>
          </a:xfrm>
        </p:grpSpPr>
        <p:sp>
          <p:nvSpPr>
            <p:cNvPr id="2181" name="Google Shape;2181;p38"/>
            <p:cNvSpPr/>
            <p:nvPr/>
          </p:nvSpPr>
          <p:spPr>
            <a:xfrm>
              <a:off x="9606013" y="1434966"/>
              <a:ext cx="369570" cy="152400"/>
            </a:xfrm>
            <a:custGeom>
              <a:avLst/>
              <a:gdLst/>
              <a:ahLst/>
              <a:cxnLst/>
              <a:rect l="l" t="t" r="r" b="b"/>
              <a:pathLst>
                <a:path w="369570" h="152400" extrusionOk="0">
                  <a:moveTo>
                    <a:pt x="216953" y="101599"/>
                  </a:moveTo>
                  <a:lnTo>
                    <a:pt x="216952" y="152400"/>
                  </a:lnTo>
                  <a:lnTo>
                    <a:pt x="318553" y="101600"/>
                  </a:lnTo>
                  <a:lnTo>
                    <a:pt x="216953" y="101599"/>
                  </a:lnTo>
                  <a:close/>
                </a:path>
                <a:path w="369570" h="152400" extrusionOk="0">
                  <a:moveTo>
                    <a:pt x="216953" y="50799"/>
                  </a:moveTo>
                  <a:lnTo>
                    <a:pt x="216953" y="101599"/>
                  </a:lnTo>
                  <a:lnTo>
                    <a:pt x="242354" y="101600"/>
                  </a:lnTo>
                  <a:lnTo>
                    <a:pt x="242354" y="50800"/>
                  </a:lnTo>
                  <a:lnTo>
                    <a:pt x="216953" y="50799"/>
                  </a:lnTo>
                  <a:close/>
                </a:path>
                <a:path w="369570" h="152400" extrusionOk="0">
                  <a:moveTo>
                    <a:pt x="216954" y="0"/>
                  </a:moveTo>
                  <a:lnTo>
                    <a:pt x="216953" y="50799"/>
                  </a:lnTo>
                  <a:lnTo>
                    <a:pt x="242354" y="50800"/>
                  </a:lnTo>
                  <a:lnTo>
                    <a:pt x="242354" y="101600"/>
                  </a:lnTo>
                  <a:lnTo>
                    <a:pt x="318556" y="101598"/>
                  </a:lnTo>
                  <a:lnTo>
                    <a:pt x="369354" y="76200"/>
                  </a:lnTo>
                  <a:lnTo>
                    <a:pt x="216954" y="0"/>
                  </a:lnTo>
                  <a:close/>
                </a:path>
                <a:path w="369570" h="152400" extrusionOk="0">
                  <a:moveTo>
                    <a:pt x="0" y="50798"/>
                  </a:moveTo>
                  <a:lnTo>
                    <a:pt x="0" y="101598"/>
                  </a:lnTo>
                  <a:lnTo>
                    <a:pt x="216953" y="101599"/>
                  </a:lnTo>
                  <a:lnTo>
                    <a:pt x="216953" y="50799"/>
                  </a:lnTo>
                  <a:lnTo>
                    <a:pt x="0" y="50798"/>
                  </a:lnTo>
                  <a:close/>
                </a:path>
              </a:pathLst>
            </a:custGeom>
            <a:solidFill>
              <a:srgbClr val="ED7D3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82" name="Google Shape;2182;p38"/>
            <p:cNvSpPr/>
            <p:nvPr/>
          </p:nvSpPr>
          <p:spPr>
            <a:xfrm>
              <a:off x="9594066" y="1750701"/>
              <a:ext cx="381635" cy="258445"/>
            </a:xfrm>
            <a:custGeom>
              <a:avLst/>
              <a:gdLst/>
              <a:ahLst/>
              <a:cxnLst/>
              <a:rect l="l" t="t" r="r" b="b"/>
              <a:pathLst>
                <a:path w="381634" h="258444" extrusionOk="0">
                  <a:moveTo>
                    <a:pt x="239398" y="196781"/>
                  </a:moveTo>
                  <a:lnTo>
                    <a:pt x="211907" y="239500"/>
                  </a:lnTo>
                  <a:lnTo>
                    <a:pt x="381298" y="257895"/>
                  </a:lnTo>
                  <a:lnTo>
                    <a:pt x="353204" y="210526"/>
                  </a:lnTo>
                  <a:lnTo>
                    <a:pt x="260756" y="210526"/>
                  </a:lnTo>
                  <a:lnTo>
                    <a:pt x="239398" y="196781"/>
                  </a:lnTo>
                  <a:close/>
                </a:path>
                <a:path w="381634" h="258444" extrusionOk="0">
                  <a:moveTo>
                    <a:pt x="266888" y="154063"/>
                  </a:moveTo>
                  <a:lnTo>
                    <a:pt x="239398" y="196781"/>
                  </a:lnTo>
                  <a:lnTo>
                    <a:pt x="260756" y="210526"/>
                  </a:lnTo>
                  <a:lnTo>
                    <a:pt x="288248" y="167808"/>
                  </a:lnTo>
                  <a:lnTo>
                    <a:pt x="266888" y="154063"/>
                  </a:lnTo>
                  <a:close/>
                </a:path>
                <a:path w="381634" h="258444" extrusionOk="0">
                  <a:moveTo>
                    <a:pt x="294379" y="111344"/>
                  </a:moveTo>
                  <a:lnTo>
                    <a:pt x="266888" y="154063"/>
                  </a:lnTo>
                  <a:lnTo>
                    <a:pt x="288248" y="167808"/>
                  </a:lnTo>
                  <a:lnTo>
                    <a:pt x="260756" y="210526"/>
                  </a:lnTo>
                  <a:lnTo>
                    <a:pt x="353204" y="210526"/>
                  </a:lnTo>
                  <a:lnTo>
                    <a:pt x="294379" y="111344"/>
                  </a:lnTo>
                  <a:close/>
                </a:path>
                <a:path w="381634" h="258444" extrusionOk="0">
                  <a:moveTo>
                    <a:pt x="27490" y="0"/>
                  </a:moveTo>
                  <a:lnTo>
                    <a:pt x="0" y="42718"/>
                  </a:lnTo>
                  <a:lnTo>
                    <a:pt x="239398" y="196781"/>
                  </a:lnTo>
                  <a:lnTo>
                    <a:pt x="266888" y="154063"/>
                  </a:lnTo>
                  <a:lnTo>
                    <a:pt x="27490" y="0"/>
                  </a:lnTo>
                  <a:close/>
                </a:path>
              </a:pathLst>
            </a:custGeom>
            <a:solidFill>
              <a:srgbClr val="A5A5A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183" name="Google Shape;2183;p38"/>
          <p:cNvSpPr txBox="1"/>
          <p:nvPr/>
        </p:nvSpPr>
        <p:spPr>
          <a:xfrm>
            <a:off x="10054107" y="1115059"/>
            <a:ext cx="1983105" cy="565150"/>
          </a:xfrm>
          <a:prstGeom prst="rect">
            <a:avLst/>
          </a:prstGeom>
          <a:noFill/>
          <a:ln>
            <a:noFill/>
          </a:ln>
        </p:spPr>
        <p:txBody>
          <a:bodyPr spcFirstLastPara="1" wrap="square" lIns="0" tIns="28575" rIns="0" bIns="0" anchor="t" anchorCtr="0">
            <a:spAutoFit/>
          </a:bodyPr>
          <a:lstStyle/>
          <a:p>
            <a:pPr marL="12700" marR="5080" lvl="0" indent="0" algn="l" rtl="0">
              <a:lnSpc>
                <a:spcPct val="116111"/>
              </a:lnSpc>
              <a:spcBef>
                <a:spcPts val="0"/>
              </a:spcBef>
              <a:spcAft>
                <a:spcPts val="0"/>
              </a:spcAft>
              <a:buClr>
                <a:srgbClr val="ED7D31"/>
              </a:buClr>
              <a:buSzPts val="1800"/>
              <a:buFont typeface="Arial"/>
              <a:buNone/>
            </a:pPr>
            <a:r>
              <a:rPr lang="en-US" sz="1800" b="0" i="0" u="none" strike="noStrike" cap="none">
                <a:solidFill>
                  <a:srgbClr val="ED7D31"/>
                </a:solidFill>
                <a:latin typeface="Calibri"/>
                <a:ea typeface="Calibri"/>
                <a:cs typeface="Calibri"/>
                <a:sym typeface="Calibri"/>
              </a:rPr>
              <a:t>ViT: 2.5k TPU-v3 core days of training</a:t>
            </a:r>
            <a:endParaRPr sz="1800" b="0" i="0" u="none" strike="noStrike" cap="none">
              <a:solidFill>
                <a:srgbClr val="000000"/>
              </a:solidFill>
              <a:latin typeface="Calibri"/>
              <a:ea typeface="Calibri"/>
              <a:cs typeface="Calibri"/>
              <a:sym typeface="Calibri"/>
            </a:endParaRPr>
          </a:p>
        </p:txBody>
      </p:sp>
      <p:sp>
        <p:nvSpPr>
          <p:cNvPr id="2184" name="Google Shape;2184;p38"/>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2185" name="Google Shape;2185;p38"/>
          <p:cNvSpPr txBox="1"/>
          <p:nvPr/>
        </p:nvSpPr>
        <p:spPr>
          <a:xfrm>
            <a:off x="10054106" y="1928876"/>
            <a:ext cx="1910080" cy="565150"/>
          </a:xfrm>
          <a:prstGeom prst="rect">
            <a:avLst/>
          </a:prstGeom>
          <a:noFill/>
          <a:ln>
            <a:noFill/>
          </a:ln>
        </p:spPr>
        <p:txBody>
          <a:bodyPr spcFirstLastPara="1" wrap="square" lIns="0" tIns="28575" rIns="0" bIns="0" anchor="t" anchorCtr="0">
            <a:spAutoFit/>
          </a:bodyPr>
          <a:lstStyle/>
          <a:p>
            <a:pPr marL="12700" marR="5080" lvl="0" indent="0" algn="l" rtl="0">
              <a:lnSpc>
                <a:spcPct val="116111"/>
              </a:lnSpc>
              <a:spcBef>
                <a:spcPts val="0"/>
              </a:spcBef>
              <a:spcAft>
                <a:spcPts val="0"/>
              </a:spcAft>
              <a:buClr>
                <a:srgbClr val="A5A5A5"/>
              </a:buClr>
              <a:buSzPts val="1800"/>
              <a:buFont typeface="Arial"/>
              <a:buNone/>
            </a:pPr>
            <a:r>
              <a:rPr lang="en-US" sz="1800" b="0" i="0" u="none" strike="noStrike" cap="none">
                <a:solidFill>
                  <a:srgbClr val="A5A5A5"/>
                </a:solidFill>
                <a:latin typeface="Calibri"/>
                <a:ea typeface="Calibri"/>
                <a:cs typeface="Calibri"/>
                <a:sym typeface="Calibri"/>
              </a:rPr>
              <a:t>ResNet: 9.9k TPU-v3 core days of training</a:t>
            </a:r>
            <a:endParaRPr sz="1800" b="0" i="0" u="none" strike="noStrike" cap="none">
              <a:solidFill>
                <a:srgbClr val="000000"/>
              </a:solidFill>
              <a:latin typeface="Calibri"/>
              <a:ea typeface="Calibri"/>
              <a:cs typeface="Calibri"/>
              <a:sym typeface="Calibri"/>
            </a:endParaRPr>
          </a:p>
        </p:txBody>
      </p:sp>
      <p:sp>
        <p:nvSpPr>
          <p:cNvPr id="2186" name="Google Shape;2186;p38"/>
          <p:cNvSpPr txBox="1"/>
          <p:nvPr/>
        </p:nvSpPr>
        <p:spPr>
          <a:xfrm>
            <a:off x="10054104" y="3108452"/>
            <a:ext cx="1866900" cy="1671320"/>
          </a:xfrm>
          <a:prstGeom prst="rect">
            <a:avLst/>
          </a:prstGeom>
          <a:noFill/>
          <a:ln>
            <a:noFill/>
          </a:ln>
        </p:spPr>
        <p:txBody>
          <a:bodyPr spcFirstLastPara="1" wrap="square" lIns="0" tIns="26650" rIns="0" bIns="0" anchor="t" anchorCtr="0">
            <a:spAutoFit/>
          </a:bodyPr>
          <a:lstStyle/>
          <a:p>
            <a:pPr marL="12700" marR="5080" lvl="0" indent="0" algn="l" rtl="0">
              <a:lnSpc>
                <a:spcPct val="117222"/>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ViTs make more efficient use of GPU</a:t>
            </a:r>
            <a:endParaRPr sz="1800" b="0" i="0" u="none" strike="noStrike" cap="none">
              <a:solidFill>
                <a:srgbClr val="000000"/>
              </a:solidFill>
              <a:latin typeface="Calibri"/>
              <a:ea typeface="Calibri"/>
              <a:cs typeface="Calibri"/>
              <a:sym typeface="Calibri"/>
            </a:endParaRPr>
          </a:p>
          <a:p>
            <a:pPr marL="12700" marR="172085" lvl="0" indent="0" algn="l"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TPU hardware (matrix multiply is more hardware-</a:t>
            </a:r>
            <a:endParaRPr sz="1800" b="0" i="0" u="none" strike="noStrike" cap="none">
              <a:solidFill>
                <a:srgbClr val="000000"/>
              </a:solidFill>
              <a:latin typeface="Calibri"/>
              <a:ea typeface="Calibri"/>
              <a:cs typeface="Calibri"/>
              <a:sym typeface="Calibri"/>
            </a:endParaRPr>
          </a:p>
          <a:p>
            <a:pPr marL="12700" marR="0" lvl="0" indent="0" algn="l" rtl="0">
              <a:lnSpc>
                <a:spcPct val="100000"/>
              </a:lnSpc>
              <a:spcBef>
                <a:spcPts val="25"/>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friendly than conv)</a:t>
            </a: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190"/>
        <p:cNvGrpSpPr/>
        <p:nvPr/>
      </p:nvGrpSpPr>
      <p:grpSpPr>
        <a:xfrm>
          <a:off x="0" y="0"/>
          <a:ext cx="0" cy="0"/>
          <a:chOff x="0" y="0"/>
          <a:chExt cx="0" cy="0"/>
        </a:xfrm>
      </p:grpSpPr>
      <p:sp>
        <p:nvSpPr>
          <p:cNvPr id="2191" name="Google Shape;2191;p39"/>
          <p:cNvSpPr txBox="1">
            <a:spLocks noGrp="1"/>
          </p:cNvSpPr>
          <p:nvPr>
            <p:ph type="title"/>
          </p:nvPr>
        </p:nvSpPr>
        <p:spPr>
          <a:xfrm>
            <a:off x="978290" y="332739"/>
            <a:ext cx="10492983"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Vision Transformer (ViT) vs ResNets</a:t>
            </a:r>
            <a:endParaRPr/>
          </a:p>
        </p:txBody>
      </p:sp>
      <p:pic>
        <p:nvPicPr>
          <p:cNvPr id="2192" name="Google Shape;2192;p39"/>
          <p:cNvPicPr preferRelativeResize="0"/>
          <p:nvPr/>
        </p:nvPicPr>
        <p:blipFill rotWithShape="1">
          <a:blip r:embed="rId3">
            <a:alphaModFix/>
          </a:blip>
          <a:srcRect/>
          <a:stretch/>
        </p:blipFill>
        <p:spPr>
          <a:xfrm>
            <a:off x="3156118" y="1199402"/>
            <a:ext cx="6763450" cy="4703061"/>
          </a:xfrm>
          <a:prstGeom prst="rect">
            <a:avLst/>
          </a:prstGeom>
          <a:noFill/>
          <a:ln>
            <a:noFill/>
          </a:ln>
        </p:spPr>
      </p:pic>
      <p:sp>
        <p:nvSpPr>
          <p:cNvPr id="2193" name="Google Shape;2193;p39"/>
          <p:cNvSpPr txBox="1"/>
          <p:nvPr/>
        </p:nvSpPr>
        <p:spPr>
          <a:xfrm>
            <a:off x="6766559" y="3934398"/>
            <a:ext cx="1078230" cy="318135"/>
          </a:xfrm>
          <a:prstGeom prst="rect">
            <a:avLst/>
          </a:prstGeom>
          <a:solidFill>
            <a:srgbClr val="FFFFFF"/>
          </a:solidFill>
          <a:ln>
            <a:noFill/>
          </a:ln>
        </p:spPr>
        <p:txBody>
          <a:bodyPr spcFirstLastPara="1" wrap="square" lIns="0" tIns="0" rIns="0" bIns="0" anchor="t" anchorCtr="0">
            <a:spAutoFit/>
          </a:bodyPr>
          <a:lstStyle/>
          <a:p>
            <a:pPr marL="120650" marR="0" lvl="0" indent="0" algn="l" rtl="0">
              <a:lnSpc>
                <a:spcPct val="117499"/>
              </a:lnSpc>
              <a:spcBef>
                <a:spcPts val="0"/>
              </a:spcBef>
              <a:spcAft>
                <a:spcPts val="0"/>
              </a:spcAft>
              <a:buClr>
                <a:srgbClr val="000000"/>
              </a:buClr>
              <a:buSzPts val="2000"/>
              <a:buFont typeface="Arial"/>
              <a:buNone/>
            </a:pPr>
            <a:r>
              <a:rPr lang="en-US" sz="2000" b="0" i="0" u="none" strike="noStrike" cap="none">
                <a:solidFill>
                  <a:srgbClr val="000000"/>
                </a:solidFill>
                <a:latin typeface="Calibri"/>
                <a:ea typeface="Calibri"/>
                <a:cs typeface="Calibri"/>
                <a:sym typeface="Calibri"/>
              </a:rPr>
              <a:t>ResNets</a:t>
            </a:r>
            <a:endParaRPr sz="2000" b="0" i="0" u="none" strike="noStrike" cap="none">
              <a:solidFill>
                <a:srgbClr val="000000"/>
              </a:solidFill>
              <a:latin typeface="Calibri"/>
              <a:ea typeface="Calibri"/>
              <a:cs typeface="Calibri"/>
              <a:sym typeface="Calibri"/>
            </a:endParaRPr>
          </a:p>
        </p:txBody>
      </p:sp>
      <p:sp>
        <p:nvSpPr>
          <p:cNvPr id="2194" name="Google Shape;2194;p39"/>
          <p:cNvSpPr txBox="1"/>
          <p:nvPr/>
        </p:nvSpPr>
        <p:spPr>
          <a:xfrm>
            <a:off x="1115589" y="3132835"/>
            <a:ext cx="1762760" cy="1863725"/>
          </a:xfrm>
          <a:prstGeom prst="rect">
            <a:avLst/>
          </a:prstGeom>
          <a:noFill/>
          <a:ln>
            <a:noFill/>
          </a:ln>
        </p:spPr>
        <p:txBody>
          <a:bodyPr spcFirstLastPara="1" wrap="square" lIns="0" tIns="10150" rIns="0" bIns="0" anchor="t" anchorCtr="0">
            <a:spAutoFit/>
          </a:bodyPr>
          <a:lstStyle/>
          <a:p>
            <a:pPr marL="12700" marR="5080" lvl="0" indent="0" algn="l" rtl="0">
              <a:lnSpc>
                <a:spcPct val="1006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How can we improve the performance of ViT models on ImageNet?</a:t>
            </a:r>
            <a:endParaRPr sz="2400" b="0" i="0" u="none" strike="noStrike" cap="none">
              <a:solidFill>
                <a:srgbClr val="000000"/>
              </a:solidFill>
              <a:latin typeface="Calibri"/>
              <a:ea typeface="Calibri"/>
              <a:cs typeface="Calibri"/>
              <a:sym typeface="Calibri"/>
            </a:endParaRPr>
          </a:p>
        </p:txBody>
      </p:sp>
      <p:grpSp>
        <p:nvGrpSpPr>
          <p:cNvPr id="2195" name="Google Shape;2195;p39"/>
          <p:cNvGrpSpPr/>
          <p:nvPr/>
        </p:nvGrpSpPr>
        <p:grpSpPr>
          <a:xfrm>
            <a:off x="3484345" y="1434966"/>
            <a:ext cx="6491356" cy="4099593"/>
            <a:chOff x="3484345" y="1434966"/>
            <a:chExt cx="6491356" cy="4099593"/>
          </a:xfrm>
        </p:grpSpPr>
        <p:sp>
          <p:nvSpPr>
            <p:cNvPr id="2196" name="Google Shape;2196;p39"/>
            <p:cNvSpPr/>
            <p:nvPr/>
          </p:nvSpPr>
          <p:spPr>
            <a:xfrm>
              <a:off x="9606013" y="1434966"/>
              <a:ext cx="369570" cy="152400"/>
            </a:xfrm>
            <a:custGeom>
              <a:avLst/>
              <a:gdLst/>
              <a:ahLst/>
              <a:cxnLst/>
              <a:rect l="l" t="t" r="r" b="b"/>
              <a:pathLst>
                <a:path w="369570" h="152400" extrusionOk="0">
                  <a:moveTo>
                    <a:pt x="216953" y="101599"/>
                  </a:moveTo>
                  <a:lnTo>
                    <a:pt x="216952" y="152400"/>
                  </a:lnTo>
                  <a:lnTo>
                    <a:pt x="318553" y="101600"/>
                  </a:lnTo>
                  <a:lnTo>
                    <a:pt x="216953" y="101599"/>
                  </a:lnTo>
                  <a:close/>
                </a:path>
                <a:path w="369570" h="152400" extrusionOk="0">
                  <a:moveTo>
                    <a:pt x="216953" y="50799"/>
                  </a:moveTo>
                  <a:lnTo>
                    <a:pt x="216953" y="101599"/>
                  </a:lnTo>
                  <a:lnTo>
                    <a:pt x="242354" y="101600"/>
                  </a:lnTo>
                  <a:lnTo>
                    <a:pt x="242354" y="50800"/>
                  </a:lnTo>
                  <a:lnTo>
                    <a:pt x="216953" y="50799"/>
                  </a:lnTo>
                  <a:close/>
                </a:path>
                <a:path w="369570" h="152400" extrusionOk="0">
                  <a:moveTo>
                    <a:pt x="216954" y="0"/>
                  </a:moveTo>
                  <a:lnTo>
                    <a:pt x="216953" y="50799"/>
                  </a:lnTo>
                  <a:lnTo>
                    <a:pt x="242354" y="50800"/>
                  </a:lnTo>
                  <a:lnTo>
                    <a:pt x="242354" y="101600"/>
                  </a:lnTo>
                  <a:lnTo>
                    <a:pt x="318556" y="101598"/>
                  </a:lnTo>
                  <a:lnTo>
                    <a:pt x="369354" y="76200"/>
                  </a:lnTo>
                  <a:lnTo>
                    <a:pt x="216954" y="0"/>
                  </a:lnTo>
                  <a:close/>
                </a:path>
                <a:path w="369570" h="152400" extrusionOk="0">
                  <a:moveTo>
                    <a:pt x="0" y="50798"/>
                  </a:moveTo>
                  <a:lnTo>
                    <a:pt x="0" y="101598"/>
                  </a:lnTo>
                  <a:lnTo>
                    <a:pt x="216953" y="101599"/>
                  </a:lnTo>
                  <a:lnTo>
                    <a:pt x="216953" y="50799"/>
                  </a:lnTo>
                  <a:lnTo>
                    <a:pt x="0" y="50798"/>
                  </a:lnTo>
                  <a:close/>
                </a:path>
              </a:pathLst>
            </a:custGeom>
            <a:solidFill>
              <a:srgbClr val="ED7D3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97" name="Google Shape;2197;p39"/>
            <p:cNvSpPr/>
            <p:nvPr/>
          </p:nvSpPr>
          <p:spPr>
            <a:xfrm>
              <a:off x="9594066" y="1750701"/>
              <a:ext cx="381635" cy="258445"/>
            </a:xfrm>
            <a:custGeom>
              <a:avLst/>
              <a:gdLst/>
              <a:ahLst/>
              <a:cxnLst/>
              <a:rect l="l" t="t" r="r" b="b"/>
              <a:pathLst>
                <a:path w="381634" h="258444" extrusionOk="0">
                  <a:moveTo>
                    <a:pt x="239398" y="196781"/>
                  </a:moveTo>
                  <a:lnTo>
                    <a:pt x="211907" y="239500"/>
                  </a:lnTo>
                  <a:lnTo>
                    <a:pt x="381298" y="257895"/>
                  </a:lnTo>
                  <a:lnTo>
                    <a:pt x="353204" y="210526"/>
                  </a:lnTo>
                  <a:lnTo>
                    <a:pt x="260756" y="210526"/>
                  </a:lnTo>
                  <a:lnTo>
                    <a:pt x="239398" y="196781"/>
                  </a:lnTo>
                  <a:close/>
                </a:path>
                <a:path w="381634" h="258444" extrusionOk="0">
                  <a:moveTo>
                    <a:pt x="266888" y="154063"/>
                  </a:moveTo>
                  <a:lnTo>
                    <a:pt x="239398" y="196781"/>
                  </a:lnTo>
                  <a:lnTo>
                    <a:pt x="260756" y="210526"/>
                  </a:lnTo>
                  <a:lnTo>
                    <a:pt x="288248" y="167808"/>
                  </a:lnTo>
                  <a:lnTo>
                    <a:pt x="266888" y="154063"/>
                  </a:lnTo>
                  <a:close/>
                </a:path>
                <a:path w="381634" h="258444" extrusionOk="0">
                  <a:moveTo>
                    <a:pt x="294379" y="111344"/>
                  </a:moveTo>
                  <a:lnTo>
                    <a:pt x="266888" y="154063"/>
                  </a:lnTo>
                  <a:lnTo>
                    <a:pt x="288248" y="167808"/>
                  </a:lnTo>
                  <a:lnTo>
                    <a:pt x="260756" y="210526"/>
                  </a:lnTo>
                  <a:lnTo>
                    <a:pt x="353204" y="210526"/>
                  </a:lnTo>
                  <a:lnTo>
                    <a:pt x="294379" y="111344"/>
                  </a:lnTo>
                  <a:close/>
                </a:path>
                <a:path w="381634" h="258444" extrusionOk="0">
                  <a:moveTo>
                    <a:pt x="27490" y="0"/>
                  </a:moveTo>
                  <a:lnTo>
                    <a:pt x="0" y="42718"/>
                  </a:lnTo>
                  <a:lnTo>
                    <a:pt x="239398" y="196781"/>
                  </a:lnTo>
                  <a:lnTo>
                    <a:pt x="266888" y="154063"/>
                  </a:lnTo>
                  <a:lnTo>
                    <a:pt x="27490" y="0"/>
                  </a:lnTo>
                  <a:close/>
                </a:path>
              </a:pathLst>
            </a:custGeom>
            <a:solidFill>
              <a:srgbClr val="A5A5A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98" name="Google Shape;2198;p39"/>
            <p:cNvSpPr/>
            <p:nvPr/>
          </p:nvSpPr>
          <p:spPr>
            <a:xfrm>
              <a:off x="3484345" y="2733574"/>
              <a:ext cx="1511300" cy="2800985"/>
            </a:xfrm>
            <a:custGeom>
              <a:avLst/>
              <a:gdLst/>
              <a:ahLst/>
              <a:cxnLst/>
              <a:rect l="l" t="t" r="r" b="b"/>
              <a:pathLst>
                <a:path w="1511300" h="2800985" extrusionOk="0">
                  <a:moveTo>
                    <a:pt x="0" y="0"/>
                  </a:moveTo>
                  <a:lnTo>
                    <a:pt x="1511167" y="0"/>
                  </a:lnTo>
                  <a:lnTo>
                    <a:pt x="1511167" y="2800951"/>
                  </a:lnTo>
                  <a:lnTo>
                    <a:pt x="0" y="2800951"/>
                  </a:lnTo>
                  <a:lnTo>
                    <a:pt x="0" y="0"/>
                  </a:lnTo>
                  <a:close/>
                </a:path>
              </a:pathLst>
            </a:custGeom>
            <a:noFill/>
            <a:ln w="63500" cap="flat" cmpd="sng">
              <a:solidFill>
                <a:srgbClr val="70AD47"/>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199" name="Google Shape;2199;p39"/>
          <p:cNvSpPr txBox="1"/>
          <p:nvPr/>
        </p:nvSpPr>
        <p:spPr>
          <a:xfrm>
            <a:off x="10054106" y="1115059"/>
            <a:ext cx="1983105" cy="1379220"/>
          </a:xfrm>
          <a:prstGeom prst="rect">
            <a:avLst/>
          </a:prstGeom>
          <a:noFill/>
          <a:ln>
            <a:noFill/>
          </a:ln>
        </p:spPr>
        <p:txBody>
          <a:bodyPr spcFirstLastPara="1" wrap="square" lIns="0" tIns="28575" rIns="0" bIns="0" anchor="t" anchorCtr="0">
            <a:spAutoFit/>
          </a:bodyPr>
          <a:lstStyle/>
          <a:p>
            <a:pPr marL="12700" marR="5080" lvl="0" indent="0" algn="l" rtl="0">
              <a:lnSpc>
                <a:spcPct val="116111"/>
              </a:lnSpc>
              <a:spcBef>
                <a:spcPts val="0"/>
              </a:spcBef>
              <a:spcAft>
                <a:spcPts val="0"/>
              </a:spcAft>
              <a:buClr>
                <a:srgbClr val="ED7D31"/>
              </a:buClr>
              <a:buSzPts val="1800"/>
              <a:buFont typeface="Arial"/>
              <a:buNone/>
            </a:pPr>
            <a:r>
              <a:rPr lang="en-US" sz="1800" b="0" i="0" u="none" strike="noStrike" cap="none">
                <a:solidFill>
                  <a:srgbClr val="ED7D31"/>
                </a:solidFill>
                <a:latin typeface="Calibri"/>
                <a:ea typeface="Calibri"/>
                <a:cs typeface="Calibri"/>
                <a:sym typeface="Calibri"/>
              </a:rPr>
              <a:t>ViT: 2.5k TPU-v3 core days of training</a:t>
            </a: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3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a:p>
            <a:pPr marL="12700" marR="77470" lvl="0" indent="0" algn="l" rtl="0">
              <a:lnSpc>
                <a:spcPct val="116111"/>
              </a:lnSpc>
              <a:spcBef>
                <a:spcPts val="0"/>
              </a:spcBef>
              <a:spcAft>
                <a:spcPts val="0"/>
              </a:spcAft>
              <a:buClr>
                <a:srgbClr val="A5A5A5"/>
              </a:buClr>
              <a:buSzPts val="1800"/>
              <a:buFont typeface="Arial"/>
              <a:buNone/>
            </a:pPr>
            <a:r>
              <a:rPr lang="en-US" sz="1800" b="0" i="0" u="none" strike="noStrike" cap="none">
                <a:solidFill>
                  <a:srgbClr val="A5A5A5"/>
                </a:solidFill>
                <a:latin typeface="Calibri"/>
                <a:ea typeface="Calibri"/>
                <a:cs typeface="Calibri"/>
                <a:sym typeface="Calibri"/>
              </a:rPr>
              <a:t>ResNet: 9.9k TPU-v3 core days of training</a:t>
            </a:r>
            <a:endParaRPr sz="1800" b="0" i="0" u="none" strike="noStrike" cap="none">
              <a:solidFill>
                <a:srgbClr val="000000"/>
              </a:solidFill>
              <a:latin typeface="Calibri"/>
              <a:ea typeface="Calibri"/>
              <a:cs typeface="Calibri"/>
              <a:sym typeface="Calibri"/>
            </a:endParaRPr>
          </a:p>
        </p:txBody>
      </p:sp>
      <p:sp>
        <p:nvSpPr>
          <p:cNvPr id="2200" name="Google Shape;2200;p39"/>
          <p:cNvSpPr txBox="1"/>
          <p:nvPr/>
        </p:nvSpPr>
        <p:spPr>
          <a:xfrm>
            <a:off x="78739" y="6070036"/>
            <a:ext cx="9896475" cy="252729"/>
          </a:xfrm>
          <a:prstGeom prst="rect">
            <a:avLst/>
          </a:prstGeom>
          <a:noFill/>
          <a:ln>
            <a:noFill/>
          </a:ln>
        </p:spPr>
        <p:txBody>
          <a:bodyPr spcFirstLastPara="1" wrap="square" lIns="0" tIns="0" rIns="0" bIns="0" anchor="t" anchorCtr="0">
            <a:spAutoFit/>
          </a:bodyPr>
          <a:lstStyle/>
          <a:p>
            <a:pPr marL="12700" marR="0" lvl="0" indent="0" algn="l" rtl="0">
              <a:lnSpc>
                <a:spcPct val="116875"/>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Dosovitskiy et al, “An Image is Worth 16x16 Words: Transformers for Image Recognition at Scale”, ICLR 2021</a:t>
            </a:r>
            <a:endParaRPr sz="1600" b="0" i="0" u="none" strike="noStrike" cap="none">
              <a:solidFill>
                <a:srgbClr val="000000"/>
              </a:solidFill>
              <a:latin typeface="Arial"/>
              <a:ea typeface="Arial"/>
              <a:cs typeface="Arial"/>
              <a:sym typeface="Arial"/>
            </a:endParaRPr>
          </a:p>
        </p:txBody>
      </p:sp>
      <p:sp>
        <p:nvSpPr>
          <p:cNvPr id="2201" name="Google Shape;2201;p39"/>
          <p:cNvSpPr txBox="1"/>
          <p:nvPr/>
        </p:nvSpPr>
        <p:spPr>
          <a:xfrm>
            <a:off x="10054104" y="3108452"/>
            <a:ext cx="1866900" cy="1671320"/>
          </a:xfrm>
          <a:prstGeom prst="rect">
            <a:avLst/>
          </a:prstGeom>
          <a:noFill/>
          <a:ln>
            <a:noFill/>
          </a:ln>
        </p:spPr>
        <p:txBody>
          <a:bodyPr spcFirstLastPara="1" wrap="square" lIns="0" tIns="26650" rIns="0" bIns="0" anchor="t" anchorCtr="0">
            <a:spAutoFit/>
          </a:bodyPr>
          <a:lstStyle/>
          <a:p>
            <a:pPr marL="12700" marR="5080" lvl="0" indent="0" algn="l" rtl="0">
              <a:lnSpc>
                <a:spcPct val="117222"/>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ViTs make more efficient use of GPU</a:t>
            </a:r>
            <a:endParaRPr sz="1800" b="0" i="0" u="none" strike="noStrike" cap="none">
              <a:solidFill>
                <a:srgbClr val="000000"/>
              </a:solidFill>
              <a:latin typeface="Calibri"/>
              <a:ea typeface="Calibri"/>
              <a:cs typeface="Calibri"/>
              <a:sym typeface="Calibri"/>
            </a:endParaRPr>
          </a:p>
          <a:p>
            <a:pPr marL="12700" marR="172085" lvl="0" indent="0" algn="l" rtl="0">
              <a:lnSpc>
                <a:spcPct val="994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 TPU hardware (matrix multiply is more hardware-</a:t>
            </a:r>
            <a:endParaRPr sz="1800" b="0" i="0" u="none" strike="noStrike" cap="none">
              <a:solidFill>
                <a:srgbClr val="000000"/>
              </a:solidFill>
              <a:latin typeface="Calibri"/>
              <a:ea typeface="Calibri"/>
              <a:cs typeface="Calibri"/>
              <a:sym typeface="Calibri"/>
            </a:endParaRPr>
          </a:p>
          <a:p>
            <a:pPr marL="12700" marR="0" lvl="0" indent="0" algn="l" rtl="0">
              <a:lnSpc>
                <a:spcPct val="100000"/>
              </a:lnSpc>
              <a:spcBef>
                <a:spcPts val="25"/>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friendly than conv)</a:t>
            </a: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205"/>
        <p:cNvGrpSpPr/>
        <p:nvPr/>
      </p:nvGrpSpPr>
      <p:grpSpPr>
        <a:xfrm>
          <a:off x="0" y="0"/>
          <a:ext cx="0" cy="0"/>
          <a:chOff x="0" y="0"/>
          <a:chExt cx="0" cy="0"/>
        </a:xfrm>
      </p:grpSpPr>
      <p:sp>
        <p:nvSpPr>
          <p:cNvPr id="2206" name="Google Shape;2206;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56</a:t>
            </a:fld>
            <a:endParaRPr/>
          </a:p>
        </p:txBody>
      </p:sp>
      <p:sp>
        <p:nvSpPr>
          <p:cNvPr id="2207" name="Google Shape;2207;p67"/>
          <p:cNvSpPr txBox="1">
            <a:spLocks noGrp="1"/>
          </p:cNvSpPr>
          <p:nvPr>
            <p:ph type="body" idx="1"/>
          </p:nvPr>
        </p:nvSpPr>
        <p:spPr>
          <a:xfrm>
            <a:off x="282100" y="1186775"/>
            <a:ext cx="11455500" cy="4845600"/>
          </a:xfrm>
          <a:prstGeom prst="rect">
            <a:avLst/>
          </a:prstGeom>
          <a:noFill/>
          <a:ln>
            <a:noFill/>
          </a:ln>
        </p:spPr>
        <p:txBody>
          <a:bodyPr spcFirstLastPara="1" wrap="square" lIns="91425" tIns="45700" rIns="91425" bIns="45700" anchor="t" anchorCtr="0">
            <a:normAutofit/>
          </a:bodyPr>
          <a:lstStyle/>
          <a:p>
            <a:pPr marL="457200" lvl="0" indent="-400050" algn="l" rtl="0">
              <a:lnSpc>
                <a:spcPct val="100000"/>
              </a:lnSpc>
              <a:spcBef>
                <a:spcPts val="1000"/>
              </a:spcBef>
              <a:spcAft>
                <a:spcPts val="0"/>
              </a:spcAft>
              <a:buClr>
                <a:schemeClr val="dk1"/>
              </a:buClr>
              <a:buSzPts val="2700"/>
              <a:buFont typeface="Proxima Nova"/>
              <a:buChar char="•"/>
            </a:pPr>
            <a:r>
              <a:rPr lang="en-US" sz="2700" i="1" u="sng">
                <a:highlight>
                  <a:srgbClr val="93C47D"/>
                </a:highlight>
                <a:latin typeface="Proxima Nova"/>
                <a:ea typeface="Proxima Nova"/>
                <a:cs typeface="Proxima Nova"/>
                <a:sym typeface="Proxima Nova"/>
              </a:rPr>
              <a:t>Additional Readings</a:t>
            </a:r>
            <a:r>
              <a:rPr lang="en-US" sz="2700" i="1" u="sng">
                <a:latin typeface="Proxima Nova"/>
                <a:ea typeface="Proxima Nova"/>
                <a:cs typeface="Proxima Nova"/>
                <a:sym typeface="Proxima Nova"/>
              </a:rPr>
              <a:t>: </a:t>
            </a:r>
            <a:endParaRPr sz="2700" i="1" u="sng">
              <a:latin typeface="Proxima Nova"/>
              <a:ea typeface="Proxima Nova"/>
              <a:cs typeface="Proxima Nova"/>
              <a:sym typeface="Proxima Nova"/>
            </a:endParaRPr>
          </a:p>
          <a:p>
            <a:pPr marL="1371600" lvl="0" indent="-228600" algn="l" rtl="0">
              <a:lnSpc>
                <a:spcPct val="90000"/>
              </a:lnSpc>
              <a:spcBef>
                <a:spcPts val="0"/>
              </a:spcBef>
              <a:spcAft>
                <a:spcPts val="0"/>
              </a:spcAft>
              <a:buSzPts val="2000"/>
              <a:buFont typeface="Proxima Nova"/>
              <a:buNone/>
            </a:pPr>
            <a:endParaRPr sz="2000">
              <a:latin typeface="Proxima Nova"/>
              <a:ea typeface="Proxima Nova"/>
              <a:cs typeface="Proxima Nova"/>
              <a:sym typeface="Proxima Nova"/>
            </a:endParaRPr>
          </a:p>
          <a:p>
            <a:pPr marL="1371600" lvl="0" indent="-355600" algn="l" rtl="0">
              <a:lnSpc>
                <a:spcPct val="90000"/>
              </a:lnSpc>
              <a:spcBef>
                <a:spcPts val="0"/>
              </a:spcBef>
              <a:spcAft>
                <a:spcPts val="0"/>
              </a:spcAft>
              <a:buSzPts val="2000"/>
              <a:buFont typeface="Proxima Nova"/>
              <a:buChar char="●"/>
            </a:pPr>
            <a:r>
              <a:rPr lang="en-US" sz="2000">
                <a:latin typeface="Proxima Nova"/>
                <a:ea typeface="Proxima Nova"/>
                <a:cs typeface="Proxima Nova"/>
                <a:sym typeface="Proxima Nova"/>
              </a:rPr>
              <a:t>[</a:t>
            </a:r>
            <a:r>
              <a:rPr lang="en-US" sz="2000" i="1" u="sng">
                <a:highlight>
                  <a:srgbClr val="FFFF00"/>
                </a:highlight>
                <a:latin typeface="Proxima Nova"/>
                <a:ea typeface="Proxima Nova"/>
                <a:cs typeface="Proxima Nova"/>
                <a:sym typeface="Proxima Nova"/>
              </a:rPr>
              <a:t>Recommended</a:t>
            </a:r>
            <a:r>
              <a:rPr lang="en-US" sz="2000">
                <a:latin typeface="Proxima Nova"/>
                <a:ea typeface="Proxima Nova"/>
                <a:cs typeface="Proxima Nova"/>
                <a:sym typeface="Proxima Nova"/>
              </a:rPr>
              <a:t>] </a:t>
            </a:r>
            <a:r>
              <a:rPr lang="en-US" sz="2000" u="sng">
                <a:solidFill>
                  <a:schemeClr val="hlink"/>
                </a:solidFill>
                <a:latin typeface="Proxima Nova"/>
                <a:ea typeface="Proxima Nova"/>
                <a:cs typeface="Proxima Nova"/>
                <a:sym typeface="Proxima Nova"/>
                <a:hlinkClick r:id="rId3"/>
              </a:rPr>
              <a:t>An Image is Worth 16x16 Words: Transformers for Image Recognition at Scale </a:t>
            </a:r>
            <a:r>
              <a:rPr lang="en-US" sz="2000">
                <a:latin typeface="Proxima Nova"/>
                <a:ea typeface="Proxima Nova"/>
                <a:cs typeface="Proxima Nova"/>
                <a:sym typeface="Proxima Nova"/>
              </a:rPr>
              <a:t>- Alexey Dosovitskiy, ……  2020, CVPR </a:t>
            </a:r>
            <a:endParaRPr sz="2000">
              <a:latin typeface="Proxima Nova"/>
              <a:ea typeface="Proxima Nova"/>
              <a:cs typeface="Proxima Nova"/>
              <a:sym typeface="Proxima Nova"/>
            </a:endParaRPr>
          </a:p>
          <a:p>
            <a:pPr marL="1371600" lvl="0" indent="-355600" algn="l" rtl="0">
              <a:lnSpc>
                <a:spcPct val="90000"/>
              </a:lnSpc>
              <a:spcBef>
                <a:spcPts val="0"/>
              </a:spcBef>
              <a:spcAft>
                <a:spcPts val="0"/>
              </a:spcAft>
              <a:buSzPts val="2000"/>
              <a:buFont typeface="Proxima Nova"/>
              <a:buChar char="●"/>
            </a:pPr>
            <a:r>
              <a:rPr lang="en-US" sz="2000" u="sng">
                <a:solidFill>
                  <a:schemeClr val="hlink"/>
                </a:solidFill>
                <a:latin typeface="Proxima Nova"/>
                <a:ea typeface="Proxima Nova"/>
                <a:cs typeface="Proxima Nova"/>
                <a:sym typeface="Proxima Nova"/>
                <a:hlinkClick r:id="rId4"/>
              </a:rPr>
              <a:t>https://web.stanford.edu/~jurafsky/slp3/</a:t>
            </a:r>
            <a:r>
              <a:rPr lang="en-US" sz="2000">
                <a:latin typeface="Proxima Nova"/>
                <a:ea typeface="Proxima Nova"/>
                <a:cs typeface="Proxima Nova"/>
                <a:sym typeface="Proxima Nova"/>
              </a:rPr>
              <a:t> Ch 9 and 10</a:t>
            </a:r>
            <a:endParaRPr sz="2000">
              <a:latin typeface="Proxima Nova"/>
              <a:ea typeface="Proxima Nova"/>
              <a:cs typeface="Proxima Nova"/>
              <a:sym typeface="Proxima Nova"/>
            </a:endParaRPr>
          </a:p>
          <a:p>
            <a:pPr marL="1371600" lvl="0" indent="-355600" algn="l" rtl="0">
              <a:lnSpc>
                <a:spcPct val="90000"/>
              </a:lnSpc>
              <a:spcBef>
                <a:spcPts val="0"/>
              </a:spcBef>
              <a:spcAft>
                <a:spcPts val="0"/>
              </a:spcAft>
              <a:buSzPts val="2000"/>
              <a:buFont typeface="Proxima Nova"/>
              <a:buChar char="●"/>
            </a:pPr>
            <a:r>
              <a:rPr lang="en-US" sz="2000" u="sng">
                <a:solidFill>
                  <a:schemeClr val="hlink"/>
                </a:solidFill>
                <a:latin typeface="Proxima Nova"/>
                <a:ea typeface="Proxima Nova"/>
                <a:cs typeface="Proxima Nova"/>
                <a:sym typeface="Proxima Nova"/>
                <a:hlinkClick r:id="rId5"/>
              </a:rPr>
              <a:t>https://colab.research.google.com/drive/1P9TPRWsDdqJC6IvOxjG2_3QlgCt59P0w?usp=sharing#scrollTo=KVVWmPso4eGf</a:t>
            </a:r>
            <a:r>
              <a:rPr lang="en-US" sz="2000">
                <a:latin typeface="Proxima Nova"/>
                <a:ea typeface="Proxima Nova"/>
                <a:cs typeface="Proxima Nova"/>
                <a:sym typeface="Proxima Nova"/>
              </a:rPr>
              <a:t> </a:t>
            </a:r>
            <a:endParaRPr sz="2000">
              <a:latin typeface="Proxima Nova"/>
              <a:ea typeface="Proxima Nova"/>
              <a:cs typeface="Proxima Nova"/>
              <a:sym typeface="Proxima Nova"/>
            </a:endParaRPr>
          </a:p>
          <a:p>
            <a:pPr marL="1016000" lvl="0" indent="0" algn="l" rtl="0">
              <a:lnSpc>
                <a:spcPct val="90000"/>
              </a:lnSpc>
              <a:spcBef>
                <a:spcPts val="0"/>
              </a:spcBef>
              <a:spcAft>
                <a:spcPts val="0"/>
              </a:spcAft>
              <a:buSzPts val="2000"/>
              <a:buNone/>
            </a:pPr>
            <a:endParaRPr sz="2000">
              <a:latin typeface="Proxima Nova"/>
              <a:ea typeface="Proxima Nova"/>
              <a:cs typeface="Proxima Nova"/>
              <a:sym typeface="Proxima Nova"/>
            </a:endParaRPr>
          </a:p>
          <a:p>
            <a:pPr marL="1371600" lvl="0" indent="-228600" algn="l" rtl="0">
              <a:lnSpc>
                <a:spcPct val="90000"/>
              </a:lnSpc>
              <a:spcBef>
                <a:spcPts val="0"/>
              </a:spcBef>
              <a:spcAft>
                <a:spcPts val="0"/>
              </a:spcAft>
              <a:buSzPts val="2000"/>
              <a:buFont typeface="Proxima Nova"/>
              <a:buNone/>
            </a:pPr>
            <a:endParaRPr sz="2000">
              <a:latin typeface="Proxima Nova"/>
              <a:ea typeface="Proxima Nova"/>
              <a:cs typeface="Proxima Nova"/>
              <a:sym typeface="Proxima Nova"/>
            </a:endParaRPr>
          </a:p>
          <a:p>
            <a:pPr marL="50800" lvl="0" indent="0" algn="l" rtl="0">
              <a:lnSpc>
                <a:spcPct val="100000"/>
              </a:lnSpc>
              <a:spcBef>
                <a:spcPts val="1000"/>
              </a:spcBef>
              <a:spcAft>
                <a:spcPts val="0"/>
              </a:spcAft>
              <a:buSzPts val="2800"/>
              <a:buNone/>
            </a:pPr>
            <a:endParaRPr sz="2000">
              <a:latin typeface="Proxima Nova"/>
              <a:ea typeface="Proxima Nova"/>
              <a:cs typeface="Proxima Nova"/>
              <a:sym typeface="Proxima Nov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211"/>
        <p:cNvGrpSpPr/>
        <p:nvPr/>
      </p:nvGrpSpPr>
      <p:grpSpPr>
        <a:xfrm>
          <a:off x="0" y="0"/>
          <a:ext cx="0" cy="0"/>
          <a:chOff x="0" y="0"/>
          <a:chExt cx="0" cy="0"/>
        </a:xfrm>
      </p:grpSpPr>
      <p:sp>
        <p:nvSpPr>
          <p:cNvPr id="2212" name="Google Shape;2212;g24320ba2c05_0_0"/>
          <p:cNvSpPr txBox="1">
            <a:spLocks noGrp="1"/>
          </p:cNvSpPr>
          <p:nvPr>
            <p:ph type="title"/>
          </p:nvPr>
        </p:nvSpPr>
        <p:spPr>
          <a:xfrm>
            <a:off x="4657724" y="2809875"/>
            <a:ext cx="6696000" cy="1909800"/>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chemeClr val="dk1"/>
              </a:buClr>
              <a:buSzPts val="3600"/>
              <a:buFont typeface="Calibri"/>
              <a:buNone/>
            </a:pPr>
            <a:br>
              <a:rPr lang="en-US" sz="3600"/>
            </a:br>
            <a:r>
              <a:rPr lang="en-US" sz="3600"/>
              <a:t>Thank you</a:t>
            </a:r>
            <a:endParaRPr sz="3600"/>
          </a:p>
        </p:txBody>
      </p:sp>
      <p:sp>
        <p:nvSpPr>
          <p:cNvPr id="2213" name="Google Shape;2213;g24320ba2c05_0_0"/>
          <p:cNvSpPr txBox="1">
            <a:spLocks noGrp="1"/>
          </p:cNvSpPr>
          <p:nvPr>
            <p:ph type="sldNum" idx="12"/>
          </p:nvPr>
        </p:nvSpPr>
        <p:spPr>
          <a:xfrm>
            <a:off x="9658350" y="6356350"/>
            <a:ext cx="1695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57</a:t>
            </a:fld>
            <a:endParaRPr/>
          </a:p>
        </p:txBody>
      </p:sp>
    </p:spTree>
  </p:cSld>
  <p:clrMapOvr>
    <a:masterClrMapping/>
  </p:clrMapOvr>
</p:sld>
</file>

<file path=ppt/theme/theme1.xml><?xml version="1.0" encoding="utf-8"?>
<a:theme xmlns:a="http://schemas.openxmlformats.org/drawingml/2006/main" name="Office Theme">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89</TotalTime>
  <Words>16494</Words>
  <Application>Microsoft Office PowerPoint</Application>
  <PresentationFormat>Widescreen</PresentationFormat>
  <Paragraphs>1175</Paragraphs>
  <Slides>57</Slides>
  <Notes>56</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57</vt:i4>
      </vt:variant>
    </vt:vector>
  </HeadingPairs>
  <TitlesOfParts>
    <vt:vector size="66" baseType="lpstr">
      <vt:lpstr>Calibri</vt:lpstr>
      <vt:lpstr>Cambria Math</vt:lpstr>
      <vt:lpstr>Roboto</vt:lpstr>
      <vt:lpstr>Proxima Nova</vt:lpstr>
      <vt:lpstr>Arial</vt:lpstr>
      <vt:lpstr>Times New Roman</vt:lpstr>
      <vt:lpstr>Office Theme</vt:lpstr>
      <vt:lpstr>Office Theme</vt:lpstr>
      <vt:lpstr>1_Office Theme</vt:lpstr>
      <vt:lpstr>Aakash Goel https://www.linkedin.com/in/goelaakash123/</vt:lpstr>
      <vt:lpstr> Topics</vt:lpstr>
      <vt:lpstr>(Review) Encoder - Decoder Arch for Seq. to Seq. Translation </vt:lpstr>
      <vt:lpstr>(Review) Encoder - Decoder Arch for Seq. to Seq. Translation </vt:lpstr>
      <vt:lpstr>(Review) Encoder - Decoder Arch for Seq. to Seq. Translation </vt:lpstr>
      <vt:lpstr>(Review) Encoder - Decoder Arch for Seq. to Seq. Translation </vt:lpstr>
      <vt:lpstr>(Review) Encoder - Decoder Arch for Seq. to Seq. Translation </vt:lpstr>
      <vt:lpstr>(Review) Attention !</vt:lpstr>
      <vt:lpstr>(Review) Attention !</vt:lpstr>
      <vt:lpstr>(Review) Attention !</vt:lpstr>
      <vt:lpstr>(Review) Attention !</vt:lpstr>
      <vt:lpstr>(Review) Attention !</vt:lpstr>
      <vt:lpstr>(Review) Attention !</vt:lpstr>
      <vt:lpstr>(Review) Attention !</vt:lpstr>
      <vt:lpstr>(Review) Transformers </vt:lpstr>
      <vt:lpstr>(Review)  Self-Attention  | Transformers</vt:lpstr>
      <vt:lpstr>(Review)  Self-Attention  | Transformers</vt:lpstr>
      <vt:lpstr>(Review)  Self-Attention  | Transformers</vt:lpstr>
      <vt:lpstr>(Review)  Self-Attention  | Transformers</vt:lpstr>
      <vt:lpstr>(Review)  Self-Attention  | Transformers</vt:lpstr>
      <vt:lpstr>(Review)  Self-Attention  | Transformers</vt:lpstr>
      <vt:lpstr>(Review)  Self-Attention  | Transformers</vt:lpstr>
      <vt:lpstr>(Review)  Self-Attention  | Transformers</vt:lpstr>
      <vt:lpstr>(Review)  Self-Attention  | Transformers</vt:lpstr>
      <vt:lpstr>(Review)  Self-Attention  | Transformers</vt:lpstr>
      <vt:lpstr>(Review)  Transformer Blocks  | Transformers</vt:lpstr>
      <vt:lpstr>Summary</vt:lpstr>
      <vt:lpstr>(Review)  Transformer Blocks  | Transformers</vt:lpstr>
      <vt:lpstr>(Review) Multihead-Attention  | Transformers</vt:lpstr>
      <vt:lpstr>(Review) Multihead-Attention  | Transformers</vt:lpstr>
      <vt:lpstr>(Review) Multihead-Attention  | Transformers</vt:lpstr>
      <vt:lpstr>(Review)  Positional Embeddings | Transformers</vt:lpstr>
      <vt:lpstr>(Review) Transformers as Language Models</vt:lpstr>
      <vt:lpstr>Vision Transformers </vt:lpstr>
      <vt:lpstr>Vision Transformer (ViT)</vt:lpstr>
      <vt:lpstr>Vision Transformer (ViT)</vt:lpstr>
      <vt:lpstr>Vision Transformer (ViT)</vt:lpstr>
      <vt:lpstr>Vision Transformer (ViT)</vt:lpstr>
      <vt:lpstr>Vision Transformer (ViT)</vt:lpstr>
      <vt:lpstr>Vision Transformer (ViT)</vt:lpstr>
      <vt:lpstr>Vision Transformer (ViT)</vt:lpstr>
      <vt:lpstr>Vision Transformer (ViT)</vt:lpstr>
      <vt:lpstr>Vision Transformer (ViT)</vt:lpstr>
      <vt:lpstr>Vision Transformer (ViT)</vt:lpstr>
      <vt:lpstr>Vision Transformer (ViT)</vt:lpstr>
      <vt:lpstr>Vision Transformer (ViT)</vt:lpstr>
      <vt:lpstr>Vision Transformer (ViT)</vt:lpstr>
      <vt:lpstr>Vision Transformer (ViT)</vt:lpstr>
      <vt:lpstr>Vision Transformer (ViT) vs ResNets</vt:lpstr>
      <vt:lpstr>Vision Transformer (ViT) vs ResNets</vt:lpstr>
      <vt:lpstr>Vision Transformer (ViT) vs ResNets</vt:lpstr>
      <vt:lpstr>Vision Transformer (ViT) vs ResNets</vt:lpstr>
      <vt:lpstr>Vision Transformer (ViT) vs ResNets</vt:lpstr>
      <vt:lpstr>Vision Transformer (ViT) vs ResNets</vt:lpstr>
      <vt:lpstr>Vision Transformer (ViT) vs ResNets</vt:lpstr>
      <vt:lpstr>PowerPoint Presentation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Vimal S P</dc:creator>
  <cp:lastModifiedBy>Aakash Goel (MSTIC DS&amp;AI)</cp:lastModifiedBy>
  <cp:revision>33</cp:revision>
  <dcterms:created xsi:type="dcterms:W3CDTF">2023-01-18T09:26:06Z</dcterms:created>
  <dcterms:modified xsi:type="dcterms:W3CDTF">2025-08-09T21:59:17Z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